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352" r:id="rId6"/>
    <p:sldId id="353" r:id="rId7"/>
    <p:sldId id="374" r:id="rId8"/>
    <p:sldId id="368" r:id="rId9"/>
    <p:sldId id="369" r:id="rId10"/>
    <p:sldId id="371" r:id="rId12"/>
    <p:sldId id="370" r:id="rId13"/>
    <p:sldId id="354" r:id="rId14"/>
    <p:sldId id="372" r:id="rId15"/>
    <p:sldId id="364" r:id="rId16"/>
    <p:sldId id="365" r:id="rId17"/>
    <p:sldId id="366" r:id="rId18"/>
    <p:sldId id="373" r:id="rId19"/>
    <p:sldId id="272" r:id="rId20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45"/>
    <a:srgbClr val="FF0000"/>
    <a:srgbClr val="000000"/>
    <a:srgbClr val="00336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4"/>
    <p:restoredTop sz="94585"/>
  </p:normalViewPr>
  <p:slideViewPr>
    <p:cSldViewPr showGuides="1">
      <p:cViewPr varScale="1">
        <p:scale>
          <a:sx n="81" d="100"/>
          <a:sy n="81" d="100"/>
        </p:scale>
        <p:origin x="-11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0A39C1-E27E-4173-9ADB-2EA7C469B09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1" name="Group 8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2058" name="Oval 9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59" name="Oval 10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0" name="Oval 11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1" name="Oval 12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2" name="Oval 13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3" name="Oval 14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4" name="Oval 15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5" name="Oval 16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6" name="Oval 17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7" name="Oval 18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8" name="Oval 19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9" name="Oval 20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0" name="Oval 21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1" name="Oval 22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2" name="Oval 23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3" name="Oval 24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4" name="Oval 25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5" name="Oval 26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6" name="Oval 27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7" name="Oval 28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8" name="Oval 29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9" name="Oval 30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0" name="Oval 31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1" name="Oval 32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2" name="Oval 33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3" name="Oval 34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4" name="Oval 35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5" name="Oval 36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6" name="Oval 37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7" name="Oval 38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8" name="Oval 39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52" name="Line 40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Line 2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32" name="Group 8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4" name="Oval 10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5" name="Oval 11"/>
            <p:cNvSpPr/>
            <p:nvPr/>
          </p:nvSpPr>
          <p:spPr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6" name="Oval 12"/>
            <p:cNvSpPr/>
            <p:nvPr/>
          </p:nvSpPr>
          <p:spPr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7" name="Oval 13"/>
            <p:cNvSpPr/>
            <p:nvPr/>
          </p:nvSpPr>
          <p:spPr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8" name="Oval 14"/>
            <p:cNvSpPr/>
            <p:nvPr/>
          </p:nvSpPr>
          <p:spPr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9" name="Oval 15"/>
            <p:cNvSpPr/>
            <p:nvPr/>
          </p:nvSpPr>
          <p:spPr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0" name="Oval 16"/>
            <p:cNvSpPr/>
            <p:nvPr/>
          </p:nvSpPr>
          <p:spPr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1" name="Oval 17"/>
            <p:cNvSpPr/>
            <p:nvPr/>
          </p:nvSpPr>
          <p:spPr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2" name="Oval 18"/>
            <p:cNvSpPr/>
            <p:nvPr/>
          </p:nvSpPr>
          <p:spPr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3" name="Oval 19"/>
            <p:cNvSpPr/>
            <p:nvPr/>
          </p:nvSpPr>
          <p:spPr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4" name="Oval 20"/>
            <p:cNvSpPr/>
            <p:nvPr/>
          </p:nvSpPr>
          <p:spPr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5" name="Oval 21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6" name="Oval 22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7" name="Oval 23"/>
            <p:cNvSpPr/>
            <p:nvPr/>
          </p:nvSpPr>
          <p:spPr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8" name="Oval 24"/>
            <p:cNvSpPr/>
            <p:nvPr/>
          </p:nvSpPr>
          <p:spPr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9" name="Oval 25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0" name="Oval 26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1" name="Oval 27"/>
            <p:cNvSpPr/>
            <p:nvPr/>
          </p:nvSpPr>
          <p:spPr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2" name="Oval 28"/>
            <p:cNvSpPr/>
            <p:nvPr/>
          </p:nvSpPr>
          <p:spPr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3" name="Oval 29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4" name="Oval 30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5" name="Oval 31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6" name="Oval 32"/>
            <p:cNvSpPr/>
            <p:nvPr/>
          </p:nvSpPr>
          <p:spPr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7" name="Oval 33"/>
            <p:cNvSpPr/>
            <p:nvPr/>
          </p:nvSpPr>
          <p:spPr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8" name="Oval 34"/>
            <p:cNvSpPr/>
            <p:nvPr/>
          </p:nvSpPr>
          <p:spPr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9" name="Oval 35"/>
            <p:cNvSpPr/>
            <p:nvPr/>
          </p:nvSpPr>
          <p:spPr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0" name="Oval 36"/>
            <p:cNvSpPr/>
            <p:nvPr/>
          </p:nvSpPr>
          <p:spPr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1" name="Oval 37"/>
            <p:cNvSpPr/>
            <p:nvPr/>
          </p:nvSpPr>
          <p:spPr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2" name="Oval 38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3" name="Oval 39"/>
            <p:cNvSpPr/>
            <p:nvPr/>
          </p:nvSpPr>
          <p:spPr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SQL Server 2012 </a:t>
            </a:r>
            <a:r>
              <a:rPr lang="zh-CN" altLang="en-US" sz="4000" dirty="0">
                <a:latin typeface="+mj-lt"/>
                <a:ea typeface="+mj-ea"/>
                <a:cs typeface="+mj-cs"/>
              </a:rPr>
              <a:t>案例教程</a:t>
            </a:r>
            <a:endParaRPr lang="zh-CN" alt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838200" y="3048000"/>
            <a:ext cx="6248400" cy="2362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0000"/>
            </a:pPr>
            <a:r>
              <a:rPr lang="zh-CN" altLang="en-US" dirty="0">
                <a:latin typeface="+mn-lt"/>
                <a:ea typeface="+mn-ea"/>
                <a:cs typeface="+mn-cs"/>
              </a:rPr>
              <a:t>第</a:t>
            </a:r>
            <a:r>
              <a:rPr lang="en-US" altLang="zh-CN" dirty="0">
                <a:latin typeface="+mn-lt"/>
                <a:ea typeface="+mn-ea"/>
                <a:cs typeface="+mn-cs"/>
              </a:rPr>
              <a:t>11</a:t>
            </a:r>
            <a:r>
              <a:rPr lang="zh-CN" altLang="en-US" dirty="0">
                <a:latin typeface="+mn-lt"/>
                <a:ea typeface="+mn-ea"/>
                <a:cs typeface="+mn-cs"/>
              </a:rPr>
              <a:t>章 触发器和游标 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zh-CN" altLang="en-US" dirty="0"/>
              <a:t>本章要点 </a:t>
            </a:r>
            <a:endParaRPr lang="zh-CN" altLang="en-US" dirty="0"/>
          </a:p>
        </p:txBody>
      </p:sp>
      <p:sp>
        <p:nvSpPr>
          <p:cNvPr id="10244" name="AutoShape 4"/>
          <p:cNvSpPr/>
          <p:nvPr/>
        </p:nvSpPr>
        <p:spPr>
          <a:xfrm>
            <a:off x="2649538" y="1752600"/>
            <a:ext cx="3598862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触发器的概念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5" name="AutoShape 5"/>
          <p:cNvSpPr/>
          <p:nvPr/>
        </p:nvSpPr>
        <p:spPr>
          <a:xfrm>
            <a:off x="2649538" y="2514600"/>
            <a:ext cx="3598862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触发器分类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6" name="AutoShape 6"/>
          <p:cNvSpPr/>
          <p:nvPr/>
        </p:nvSpPr>
        <p:spPr>
          <a:xfrm>
            <a:off x="2667000" y="3276600"/>
            <a:ext cx="3598863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触发器的创建与管理</a:t>
            </a: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47" name="AutoShape 7"/>
          <p:cNvSpPr/>
          <p:nvPr/>
        </p:nvSpPr>
        <p:spPr>
          <a:xfrm>
            <a:off x="2644775" y="4038600"/>
            <a:ext cx="3598863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游标的概念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52" name="AutoShape 12"/>
          <p:cNvSpPr/>
          <p:nvPr/>
        </p:nvSpPr>
        <p:spPr>
          <a:xfrm>
            <a:off x="2667000" y="4800600"/>
            <a:ext cx="3598863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游标的分类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53" name="AutoShape 13"/>
          <p:cNvSpPr/>
          <p:nvPr/>
        </p:nvSpPr>
        <p:spPr>
          <a:xfrm>
            <a:off x="2667000" y="5562600"/>
            <a:ext cx="3598863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游标的使用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  <p:bldP spid="10245" grpId="0" animBg="1"/>
      <p:bldP spid="10246" grpId="0" animBg="1"/>
      <p:bldP spid="10247" grpId="0" animBg="1"/>
      <p:bldP spid="10252" grpId="0" animBg="1"/>
      <p:bldP spid="102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11.1</a:t>
            </a:r>
            <a:r>
              <a:rPr lang="zh-CN" altLang="en-US" dirty="0"/>
              <a:t>触发器 </a:t>
            </a:r>
            <a:br>
              <a:rPr lang="zh-CN" altLang="en-US" dirty="0"/>
            </a:br>
            <a:r>
              <a:rPr lang="en-US" altLang="zh-CN" sz="3200" dirty="0"/>
              <a:t>11.1.1</a:t>
            </a:r>
            <a:r>
              <a:rPr lang="zh-CN" altLang="en-US" sz="3200" dirty="0"/>
              <a:t>触发器概述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51226" name="Text Box 26"/>
          <p:cNvSpPr txBox="1"/>
          <p:nvPr/>
        </p:nvSpPr>
        <p:spPr>
          <a:xfrm>
            <a:off x="762000" y="1676400"/>
            <a:ext cx="7620000" cy="779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触发器（</a:t>
            </a:r>
            <a:r>
              <a:rPr lang="en-US" altLang="zh-CN" dirty="0">
                <a:latin typeface="宋体" panose="02010600030101010101" pitchFamily="2" charset="-122"/>
              </a:rPr>
              <a:t>TRIGGER</a:t>
            </a:r>
            <a:r>
              <a:rPr lang="zh-CN" altLang="en-US" dirty="0">
                <a:latin typeface="宋体" panose="02010600030101010101" pitchFamily="2" charset="-122"/>
              </a:rPr>
              <a:t>）是一种特殊类型的存储过程，它主要通过事件进行触发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而被执行 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51230" name="Rectangle 30"/>
          <p:cNvSpPr/>
          <p:nvPr/>
        </p:nvSpPr>
        <p:spPr>
          <a:xfrm>
            <a:off x="685800" y="2971800"/>
            <a:ext cx="3009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触发器与存储过程的区别：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31" name="Text Box 31"/>
          <p:cNvSpPr txBox="1"/>
          <p:nvPr/>
        </p:nvSpPr>
        <p:spPr>
          <a:xfrm>
            <a:off x="762000" y="3505200"/>
            <a:ext cx="7239000" cy="2024063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触发器主要通过事件（如对数据表的增删改）进行触发而被执行；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  存储过程可以通过存储过程名称被直接调用。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触发器的执行不需要使用</a:t>
            </a:r>
            <a:r>
              <a:rPr lang="en-US" altLang="zh-CN" dirty="0">
                <a:latin typeface="Arial" panose="020B0604020202020204" pitchFamily="34" charset="0"/>
              </a:rPr>
              <a:t>EXEC</a:t>
            </a:r>
            <a:r>
              <a:rPr lang="zh-CN" altLang="en-US" dirty="0">
                <a:latin typeface="Arial" panose="020B0604020202020204" pitchFamily="34" charset="0"/>
              </a:rPr>
              <a:t>语句来调用；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  存储过程要使用</a:t>
            </a:r>
            <a:r>
              <a:rPr lang="en-US" altLang="zh-CN" dirty="0">
                <a:latin typeface="Arial" panose="020B0604020202020204" pitchFamily="34" charset="0"/>
              </a:rPr>
              <a:t>EXEC</a:t>
            </a:r>
            <a:r>
              <a:rPr lang="zh-CN" altLang="en-US" dirty="0">
                <a:latin typeface="Arial" panose="020B0604020202020204" pitchFamily="34" charset="0"/>
              </a:rPr>
              <a:t>语句来调用。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charRg st="3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26">
                                            <p:txEl>
                                              <p:charRg st="37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0" grpId="0"/>
      <p:bldP spid="512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11.1.2</a:t>
            </a:r>
            <a:r>
              <a:rPr lang="zh-CN" altLang="en-US" dirty="0"/>
              <a:t>触发器分类 </a:t>
            </a:r>
            <a:endParaRPr lang="zh-CN" altLang="en-US" dirty="0"/>
          </a:p>
        </p:txBody>
      </p:sp>
      <p:sp>
        <p:nvSpPr>
          <p:cNvPr id="179204" name="Rectangle 4"/>
          <p:cNvSpPr/>
          <p:nvPr/>
        </p:nvSpPr>
        <p:spPr>
          <a:xfrm>
            <a:off x="990600" y="2449513"/>
            <a:ext cx="3238500" cy="827087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 anchor="ctr" anchorCtr="0"/>
          <a:p>
            <a:pPr algn="ctr"/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DML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触发器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宋体" panose="02010600030101010101" pitchFamily="2" charset="-122"/>
              </a:rPr>
              <a:t>Data Manipulation Language</a:t>
            </a: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  <a:endParaRPr lang="zh-CN" altLang="en-US" sz="1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79205" name="Rectangle 5"/>
          <p:cNvSpPr/>
          <p:nvPr/>
        </p:nvSpPr>
        <p:spPr>
          <a:xfrm>
            <a:off x="952500" y="4572000"/>
            <a:ext cx="3238500" cy="82708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DDL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触发器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zh-CN" altLang="en-US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宋体" panose="02010600030101010101" pitchFamily="2" charset="-122"/>
              </a:rPr>
              <a:t>Data Definition Language</a:t>
            </a:r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  <a:endParaRPr lang="zh-CN" altLang="en-US" sz="1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79208" name="Rectangle 8"/>
          <p:cNvSpPr/>
          <p:nvPr/>
        </p:nvSpPr>
        <p:spPr>
          <a:xfrm>
            <a:off x="4343400" y="2514600"/>
            <a:ext cx="39814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数据库中发生</a:t>
            </a:r>
            <a:r>
              <a:rPr lang="en-US" altLang="zh-CN" dirty="0">
                <a:latin typeface="Arial" panose="020B0604020202020204" pitchFamily="34" charset="0"/>
              </a:rPr>
              <a:t>DML</a:t>
            </a:r>
            <a:r>
              <a:rPr lang="zh-CN" altLang="en-US" dirty="0">
                <a:latin typeface="Arial" panose="020B0604020202020204" pitchFamily="34" charset="0"/>
              </a:rPr>
              <a:t>事件时调用。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（如</a:t>
            </a:r>
            <a:r>
              <a:rPr lang="en-US" altLang="zh-CN" dirty="0">
                <a:latin typeface="Arial" panose="020B0604020202020204" pitchFamily="34" charset="0"/>
              </a:rPr>
              <a:t>INSERT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UPDATE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DELETE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9209" name="Rectangle 9"/>
          <p:cNvSpPr/>
          <p:nvPr/>
        </p:nvSpPr>
        <p:spPr>
          <a:xfrm>
            <a:off x="4286250" y="4649788"/>
            <a:ext cx="37147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数据库中发生</a:t>
            </a:r>
            <a:r>
              <a:rPr lang="en-US" altLang="zh-CN" dirty="0">
                <a:latin typeface="Arial" panose="020B0604020202020204" pitchFamily="34" charset="0"/>
              </a:rPr>
              <a:t>DDL</a:t>
            </a:r>
            <a:r>
              <a:rPr lang="zh-CN" altLang="en-US" dirty="0">
                <a:latin typeface="Arial" panose="020B0604020202020204" pitchFamily="34" charset="0"/>
              </a:rPr>
              <a:t>事件时调用。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（如</a:t>
            </a:r>
            <a:r>
              <a:rPr lang="en-US" altLang="zh-CN" dirty="0">
                <a:latin typeface="Arial" panose="020B0604020202020204" pitchFamily="34" charset="0"/>
              </a:rPr>
              <a:t>CREATE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ALTER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DROP</a:t>
            </a:r>
            <a:r>
              <a:rPr lang="zh-CN" altLang="en-US" dirty="0">
                <a:latin typeface="Arial" panose="020B0604020202020204" pitchFamily="34" charset="0"/>
              </a:rPr>
              <a:t>）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4" grpId="0" animBg="1"/>
      <p:bldP spid="179205" grpId="0" animBg="1"/>
      <p:bldP spid="179208" grpId="0"/>
      <p:bldP spid="1792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11.1.3</a:t>
            </a:r>
            <a:r>
              <a:rPr lang="zh-CN" altLang="en-US" dirty="0"/>
              <a:t>创建触发器 </a:t>
            </a:r>
            <a:endParaRPr lang="zh-CN" altLang="en-US" dirty="0"/>
          </a:p>
        </p:txBody>
      </p:sp>
      <p:sp>
        <p:nvSpPr>
          <p:cNvPr id="180229" name="Rectangle 5"/>
          <p:cNvSpPr/>
          <p:nvPr/>
        </p:nvSpPr>
        <p:spPr>
          <a:xfrm>
            <a:off x="762000" y="1752600"/>
            <a:ext cx="267017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T-SQL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创建触发器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914400" y="2208213"/>
            <a:ext cx="7467600" cy="1754188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T-SQL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语句创建触发器的语法如下。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CREATE TRIGGER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触发器名称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ON {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表名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|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视图名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{FOR | AFTER | INSTEAD OF} {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事件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触发条件和操作的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SQL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语句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31" name="Rectangle 7"/>
          <p:cNvSpPr>
            <a:spLocks noChangeArrowheads="1"/>
          </p:cNvSpPr>
          <p:nvPr/>
        </p:nvSpPr>
        <p:spPr bwMode="auto">
          <a:xfrm>
            <a:off x="838200" y="4038600"/>
            <a:ext cx="7620000" cy="1323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C094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FOR/AFTER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：只有执行某一操作（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之后，才被触发；只能在表上定义；对同一操作，可以定义多个触发器。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 OF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仅执行触发器本身；不执行其所定义的触发操作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语句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DELETE）；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既可在表上定义，也可以在视图上定义；对同一操作，只能定义一个触发器。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9" grpId="0"/>
      <p:bldP spid="180230" grpId="0" animBg="1"/>
      <p:bldP spid="1802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04800" y="1944688"/>
            <a:ext cx="8763000" cy="3770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182880" marR="0" lvl="0" indent="-18288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5475" marR="0" lvl="1" indent="-168275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语句所影响的行的副本。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5475" marR="0" lvl="1" indent="-168275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在执行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语句的过程中，行从触发器表中删除，并传输到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5475" marR="0" lvl="1" indent="-168275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表和触发器表通常没有相同的行。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" marR="0" lvl="0" indent="-18288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插入表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inserted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5475" marR="0" lvl="1" indent="-168275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用于存储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语句所影响的行的副本。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5475" marR="0" lvl="1" indent="-168275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在插入或更新事务期间，新行将同时被添加到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inserted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表和触发器表。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5475" marR="0" lvl="1" indent="-168275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inserted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表中的行是触发器表中的新行的副本。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类似于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操作之后执行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" marR="0" lvl="0" indent="-18288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 Server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自动创建和管理这两种表。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5" name="矩形 4"/>
          <p:cNvSpPr/>
          <p:nvPr/>
        </p:nvSpPr>
        <p:spPr>
          <a:xfrm>
            <a:off x="533400" y="685800"/>
            <a:ext cx="6934200" cy="9969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marL="182880" indent="-182880">
              <a:lnSpc>
                <a:spcPct val="95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DML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触发器语句使用两种特殊的表：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82880" indent="-182880">
              <a:lnSpc>
                <a:spcPct val="95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插入表</a:t>
            </a:r>
            <a:r>
              <a:rPr lang="en-US" altLang="zh-CN" sz="2800" b="1" dirty="0">
                <a:solidFill>
                  <a:srgbClr val="FF3300"/>
                </a:solidFill>
                <a:latin typeface="Arial" panose="020B0604020202020204" pitchFamily="34" charset="0"/>
              </a:rPr>
              <a:t>(inserted)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、删除表</a:t>
            </a:r>
            <a:r>
              <a:rPr lang="en-US" altLang="zh-CN" sz="2800" b="1" dirty="0">
                <a:solidFill>
                  <a:srgbClr val="FF3300"/>
                </a:solidFill>
                <a:latin typeface="Arial" panose="020B0604020202020204" pitchFamily="34" charset="0"/>
              </a:rPr>
              <a:t>(deleted)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7"/>
          <p:cNvSpPr/>
          <p:nvPr/>
        </p:nvSpPr>
        <p:spPr>
          <a:xfrm>
            <a:off x="304800" y="381000"/>
            <a:ext cx="7570788" cy="584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任务一：使用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语句创建触发器，当向</a:t>
            </a:r>
            <a:r>
              <a:rPr lang="en-US" altLang="zh-CN" sz="1600" dirty="0">
                <a:latin typeface="宋体" panose="02010600030101010101" pitchFamily="2" charset="-122"/>
              </a:rPr>
              <a:t>Teacher</a:t>
            </a:r>
            <a:r>
              <a:rPr lang="zh-CN" altLang="en-US" sz="1600" dirty="0">
                <a:latin typeface="宋体" panose="02010600030101010101" pitchFamily="2" charset="-122"/>
              </a:rPr>
              <a:t>表中插入数据时触发该触发器。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</a:rPr>
              <a:t>        并插入测试数据。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066800"/>
            <a:ext cx="4572000" cy="17541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创建触发器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Trigger_TeacherInsert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CREATE TRIGGER Trigger_TeacherInsert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ON Teacher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AFTER  INSERT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AS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 PRINT '</a:t>
            </a:r>
            <a:r>
              <a:rPr lang="zh-CN" altLang="en-US" dirty="0">
                <a:latin typeface="Arial" panose="020B0604020202020204" pitchFamily="34" charset="0"/>
              </a:rPr>
              <a:t>插入新的教师</a:t>
            </a:r>
            <a:r>
              <a:rPr lang="en-US" altLang="zh-CN" dirty="0">
                <a:latin typeface="Arial" panose="020B0604020202020204" pitchFamily="34" charset="0"/>
              </a:rPr>
              <a:t>'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2560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400425"/>
            <a:ext cx="4695825" cy="22383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560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066800"/>
            <a:ext cx="2981325" cy="52197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560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191000"/>
            <a:ext cx="6115050" cy="17335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" name="矩形 9"/>
          <p:cNvSpPr/>
          <p:nvPr/>
        </p:nvSpPr>
        <p:spPr>
          <a:xfrm>
            <a:off x="381000" y="2919413"/>
            <a:ext cx="990600" cy="3698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执行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76400" y="2919413"/>
            <a:ext cx="990600" cy="3698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测试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1000" y="3429000"/>
            <a:ext cx="6705600" cy="6461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插入测试数据，测试触发器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Trigger_TeacherInsert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INSERT INTO Teacher VALUES('200605','</a:t>
            </a:r>
            <a:r>
              <a:rPr lang="zh-CN" altLang="en-US" dirty="0">
                <a:latin typeface="Arial" panose="020B0604020202020204" pitchFamily="34" charset="0"/>
              </a:rPr>
              <a:t>林林</a:t>
            </a:r>
            <a:r>
              <a:rPr lang="en-US" altLang="zh-CN" dirty="0">
                <a:latin typeface="Arial" panose="020B0604020202020204" pitchFamily="34" charset="0"/>
              </a:rPr>
              <a:t>','jsj01‘)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7"/>
          <p:cNvSpPr/>
          <p:nvPr/>
        </p:nvSpPr>
        <p:spPr>
          <a:xfrm>
            <a:off x="304800" y="381000"/>
            <a:ext cx="7570788" cy="6159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任务二：使用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语句创建触发器，当向</a:t>
            </a:r>
            <a:r>
              <a:rPr lang="en-US" altLang="zh-CN" sz="1600" dirty="0">
                <a:latin typeface="宋体" panose="02010600030101010101" pitchFamily="2" charset="-122"/>
              </a:rPr>
              <a:t>Teacher</a:t>
            </a:r>
            <a:r>
              <a:rPr lang="zh-CN" altLang="en-US" sz="1600" dirty="0">
                <a:latin typeface="宋体" panose="02010600030101010101" pitchFamily="2" charset="-122"/>
              </a:rPr>
              <a:t>表中插入数据时触发该触发器，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Arial" panose="020B0604020202020204" pitchFamily="34" charset="0"/>
              </a:rPr>
              <a:t>改写部门表</a:t>
            </a:r>
            <a:r>
              <a:rPr lang="en-US" altLang="zh-CN" sz="1600" dirty="0">
                <a:latin typeface="Arial" panose="020B0604020202020204" pitchFamily="34" charset="0"/>
              </a:rPr>
              <a:t>Department</a:t>
            </a:r>
            <a:r>
              <a:rPr lang="zh-CN" altLang="en-US" sz="1600" dirty="0">
                <a:latin typeface="Arial" panose="020B0604020202020204" pitchFamily="34" charset="0"/>
              </a:rPr>
              <a:t>中教师所属部门人数</a:t>
            </a:r>
            <a:r>
              <a:rPr lang="en-US" altLang="zh-CN" sz="1600" dirty="0">
                <a:latin typeface="Arial" panose="020B0604020202020204" pitchFamily="34" charset="0"/>
              </a:rPr>
              <a:t>TeacherNum</a:t>
            </a:r>
            <a:r>
              <a:rPr lang="zh-CN" altLang="en-US" sz="1600" dirty="0">
                <a:latin typeface="宋体" panose="02010600030101010101" pitchFamily="2" charset="-122"/>
              </a:rPr>
              <a:t>。并插入测试数据。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4800" y="1066800"/>
            <a:ext cx="7543800" cy="6461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部门表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Department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增加一个列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teacher_num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Alter TABLE Department  ADD teacher_num INT ;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4800" y="1752600"/>
            <a:ext cx="8686800" cy="37861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创建触发器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Trigger_TeacherInsert2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CREATE TRIGGER Trigger_TeacherInsert2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ON Teacher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AFTER INSERT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AS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BEGIN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   DECLARE @teaNum INT,@tea_departmentid VARCHAR(10);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zh-CN" altLang="en-US" sz="1600" dirty="0">
                <a:latin typeface="Arial" panose="020B0604020202020204" pitchFamily="34" charset="0"/>
              </a:rPr>
              <a:t>  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从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inserted</a:t>
            </a:r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表读取所插入教师记录的教师所属部门编号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tea_departmentid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   SELECT @tea_departmentid=tea_departmentid FROM inserted;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统计教师表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Teacher</a:t>
            </a:r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中该教师所属部门的教师人数</a:t>
            </a:r>
            <a:endParaRPr lang="zh-CN" altLang="en-US" sz="16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   SELECT @teaNum=COUNT(*) FROM Teacher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           WHERE tea_departmentid=@tea_departmentid;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更新部门表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Department</a:t>
            </a:r>
            <a:r>
              <a:rPr lang="zh-CN" altLang="en-US" sz="1600" dirty="0">
                <a:solidFill>
                  <a:srgbClr val="00B050"/>
                </a:solidFill>
                <a:latin typeface="Arial" panose="020B0604020202020204" pitchFamily="34" charset="0"/>
              </a:rPr>
              <a:t>中该教师所属部门人数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</a:rPr>
              <a:t>TeacherNum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   UPDATE Department SET teacher_num=@teaNum WHERE dep_id=@tea_departmentid;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</a:rPr>
              <a:t>END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4800" y="5629275"/>
            <a:ext cx="8382000" cy="9239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插入测试数据，测试触发器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Trigger_TeacherInsert2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INSERT INTO Teacher(tea_no,tea_name,tea_departmentid) VALUES(‘200606’,‘</a:t>
            </a:r>
            <a:r>
              <a:rPr lang="zh-CN" altLang="en-US" dirty="0">
                <a:latin typeface="Arial" panose="020B0604020202020204" pitchFamily="34" charset="0"/>
              </a:rPr>
              <a:t>高兰</a:t>
            </a:r>
            <a:r>
              <a:rPr lang="en-US" altLang="zh-CN" dirty="0">
                <a:latin typeface="Arial" panose="020B0604020202020204" pitchFamily="34" charset="0"/>
              </a:rPr>
              <a:t>’,‘jsj01’);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7"/>
          <p:cNvSpPr/>
          <p:nvPr/>
        </p:nvSpPr>
        <p:spPr>
          <a:xfrm>
            <a:off x="304800" y="381000"/>
            <a:ext cx="863600" cy="3698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教师表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4419600" y="381000"/>
            <a:ext cx="863600" cy="3698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部门表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762000"/>
            <a:ext cx="3686175" cy="8953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55650"/>
            <a:ext cx="3695700" cy="1295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33600"/>
            <a:ext cx="8534400" cy="20383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5162550"/>
            <a:ext cx="3248025" cy="847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5162550"/>
            <a:ext cx="3686175" cy="14668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2" name="Rectangle 7"/>
          <p:cNvSpPr/>
          <p:nvPr/>
        </p:nvSpPr>
        <p:spPr>
          <a:xfrm>
            <a:off x="304800" y="4791075"/>
            <a:ext cx="863600" cy="3683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教师表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" name="Rectangle 7"/>
          <p:cNvSpPr/>
          <p:nvPr/>
        </p:nvSpPr>
        <p:spPr>
          <a:xfrm>
            <a:off x="4876800" y="4791075"/>
            <a:ext cx="863600" cy="3683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部门表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" name="Rectangle 7"/>
          <p:cNvSpPr/>
          <p:nvPr/>
        </p:nvSpPr>
        <p:spPr>
          <a:xfrm>
            <a:off x="304800" y="4343400"/>
            <a:ext cx="8534400" cy="3698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执行上述</a:t>
            </a:r>
            <a:r>
              <a:rPr lang="en-US" altLang="zh-CN" sz="1600" dirty="0">
                <a:latin typeface="宋体" panose="02010600030101010101" pitchFamily="2" charset="-122"/>
              </a:rPr>
              <a:t>INSERT</a:t>
            </a:r>
            <a:r>
              <a:rPr lang="zh-CN" altLang="en-US" sz="1600" dirty="0">
                <a:latin typeface="宋体" panose="02010600030101010101" pitchFamily="2" charset="-122"/>
              </a:rPr>
              <a:t>语句之后，自动执行触发器</a:t>
            </a:r>
            <a:r>
              <a:rPr lang="zh-CN" altLang="en-US" dirty="0">
                <a:latin typeface="Arial" panose="020B0604020202020204" pitchFamily="34" charset="0"/>
              </a:rPr>
              <a:t>，教师表和部门表数据如下：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>
                <a:solidFill>
                  <a:srgbClr val="003366"/>
                </a:solidFill>
                <a:latin typeface="宋体" panose="02010600030101010101" pitchFamily="2" charset="-122"/>
              </a:rPr>
              <a:t>2.</a:t>
            </a:r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dirty="0">
                <a:solidFill>
                  <a:srgbClr val="003366"/>
                </a:solidFill>
                <a:latin typeface="宋体" panose="02010600030101010101" pitchFamily="2" charset="-122"/>
              </a:rPr>
              <a:t>SSMS</a:t>
            </a:r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图形界面创建触发器</a:t>
            </a:r>
            <a:r>
              <a:rPr lang="zh-CN" altLang="en-US" dirty="0"/>
              <a:t> </a:t>
            </a:r>
            <a:endParaRPr lang="zh-CN" altLang="en-US" dirty="0"/>
          </a:p>
        </p:txBody>
      </p:sp>
      <p:pic>
        <p:nvPicPr>
          <p:cNvPr id="1126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0"/>
            <a:ext cx="3419475" cy="5029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126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9144000" cy="64230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11.1.4</a:t>
            </a:r>
            <a:r>
              <a:rPr lang="zh-CN" altLang="en-US" dirty="0"/>
              <a:t>管理触发器 </a:t>
            </a:r>
            <a:endParaRPr lang="zh-CN" altLang="en-US" dirty="0"/>
          </a:p>
        </p:txBody>
      </p:sp>
      <p:sp>
        <p:nvSpPr>
          <p:cNvPr id="181254" name="Rectangle 6"/>
          <p:cNvSpPr/>
          <p:nvPr/>
        </p:nvSpPr>
        <p:spPr>
          <a:xfrm>
            <a:off x="1295400" y="2133600"/>
            <a:ext cx="4184650" cy="1465263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宋体" panose="02010600030101010101" pitchFamily="2" charset="-122"/>
              </a:rPr>
              <a:t>使用</a:t>
            </a:r>
            <a:r>
              <a:rPr lang="en-US" altLang="zh-CN" dirty="0">
                <a:latin typeface="宋体" panose="02010600030101010101" pitchFamily="2" charset="-122"/>
              </a:rPr>
              <a:t>T-SQL</a:t>
            </a:r>
            <a:r>
              <a:rPr lang="zh-CN" altLang="en-US" dirty="0">
                <a:latin typeface="宋体" panose="02010600030101010101" pitchFamily="2" charset="-122"/>
              </a:rPr>
              <a:t>语句修改触发器的语法如下。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ALTER TRIGGER </a:t>
            </a:r>
            <a:r>
              <a:rPr lang="zh-CN" altLang="en-US" dirty="0">
                <a:latin typeface="宋体" panose="02010600030101010101" pitchFamily="2" charset="-122"/>
              </a:rPr>
              <a:t>触发器名称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ON {</a:t>
            </a:r>
            <a:r>
              <a:rPr lang="zh-CN" altLang="en-US" dirty="0">
                <a:latin typeface="宋体" panose="02010600030101010101" pitchFamily="2" charset="-122"/>
              </a:rPr>
              <a:t>表名 </a:t>
            </a:r>
            <a:r>
              <a:rPr lang="en-US" altLang="zh-CN" dirty="0">
                <a:latin typeface="宋体" panose="02010600030101010101" pitchFamily="2" charset="-122"/>
              </a:rPr>
              <a:t>| </a:t>
            </a:r>
            <a:r>
              <a:rPr lang="zh-CN" altLang="en-US" dirty="0">
                <a:latin typeface="宋体" panose="02010600030101010101" pitchFamily="2" charset="-122"/>
              </a:rPr>
              <a:t>视图名</a:t>
            </a:r>
            <a:r>
              <a:rPr lang="en-US" altLang="zh-CN" dirty="0">
                <a:latin typeface="宋体" panose="02010600030101010101" pitchFamily="2" charset="-122"/>
              </a:rPr>
              <a:t>}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{FOR | AFTER | INSTEAD OF} {</a:t>
            </a:r>
            <a:r>
              <a:rPr lang="zh-CN" altLang="en-US" dirty="0">
                <a:latin typeface="宋体" panose="02010600030101010101" pitchFamily="2" charset="-122"/>
              </a:rPr>
              <a:t>事件</a:t>
            </a:r>
            <a:r>
              <a:rPr lang="en-US" altLang="zh-CN" dirty="0">
                <a:latin typeface="宋体" panose="02010600030101010101" pitchFamily="2" charset="-122"/>
              </a:rPr>
              <a:t>}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AS </a:t>
            </a:r>
            <a:r>
              <a:rPr lang="zh-CN" altLang="en-US" dirty="0">
                <a:latin typeface="宋体" panose="02010600030101010101" pitchFamily="2" charset="-122"/>
              </a:rPr>
              <a:t>触发条件和操作的</a:t>
            </a:r>
            <a:r>
              <a:rPr lang="en-US" altLang="zh-CN" dirty="0">
                <a:latin typeface="宋体" panose="02010600030101010101" pitchFamily="2" charset="-122"/>
              </a:rPr>
              <a:t>SQL</a:t>
            </a:r>
            <a:r>
              <a:rPr lang="zh-CN" altLang="en-US" dirty="0">
                <a:latin typeface="宋体" panose="02010600030101010101" pitchFamily="2" charset="-122"/>
              </a:rPr>
              <a:t>语句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1255" name="Rectangle 7"/>
          <p:cNvSpPr/>
          <p:nvPr/>
        </p:nvSpPr>
        <p:spPr>
          <a:xfrm>
            <a:off x="1295400" y="4038600"/>
            <a:ext cx="4286250" cy="641350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使用</a:t>
            </a:r>
            <a:r>
              <a:rPr lang="en-US" altLang="zh-CN" dirty="0">
                <a:latin typeface="Arial" panose="020B0604020202020204" pitchFamily="34" charset="0"/>
              </a:rPr>
              <a:t>T-SQL</a:t>
            </a:r>
            <a:r>
              <a:rPr lang="zh-CN" altLang="en-US" dirty="0">
                <a:latin typeface="Arial" panose="020B0604020202020204" pitchFamily="34" charset="0"/>
              </a:rPr>
              <a:t>语句删除触发器的语法如下。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DROP TRIGGER </a:t>
            </a:r>
            <a:r>
              <a:rPr lang="zh-CN" altLang="en-US" dirty="0">
                <a:latin typeface="Arial" panose="020B0604020202020204" pitchFamily="34" charset="0"/>
              </a:rPr>
              <a:t>触发器名称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1256" name="Text Box 8"/>
          <p:cNvSpPr txBox="1"/>
          <p:nvPr/>
        </p:nvSpPr>
        <p:spPr>
          <a:xfrm>
            <a:off x="1371600" y="5257800"/>
            <a:ext cx="5029200" cy="12001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</a:rPr>
              <a:t>注意：</a:t>
            </a:r>
            <a:endParaRPr lang="zh-CN" altLang="en-US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触发器要适量使用。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要与软件开发人员进行详细沟通说明。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4" grpId="0" animBg="1"/>
      <p:bldP spid="181255" grpId="0" animBg="1"/>
      <p:bldP spid="1812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dirty="0">
                <a:solidFill>
                  <a:srgbClr val="003366"/>
                </a:solidFill>
                <a:latin typeface="宋体" panose="02010600030101010101" pitchFamily="2" charset="-122"/>
              </a:rPr>
              <a:t>SSMS</a:t>
            </a:r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图形界面修改触发器</a:t>
            </a:r>
            <a:endParaRPr lang="zh-CN" altLang="en-US" dirty="0"/>
          </a:p>
        </p:txBody>
      </p:sp>
      <p:pic>
        <p:nvPicPr>
          <p:cNvPr id="317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625475"/>
            <a:ext cx="3352800" cy="62325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174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23950"/>
            <a:ext cx="8991600" cy="55816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11.2</a:t>
            </a:r>
            <a:r>
              <a:rPr lang="zh-CN" altLang="en-US" dirty="0"/>
              <a:t>游标</a:t>
            </a:r>
            <a:br>
              <a:rPr lang="zh-CN" altLang="en-US" dirty="0"/>
            </a:br>
            <a:r>
              <a:rPr lang="en-US" altLang="zh-CN" sz="3200" dirty="0"/>
              <a:t>11.2.1</a:t>
            </a:r>
            <a:r>
              <a:rPr lang="zh-CN" altLang="en-US" sz="3200" dirty="0"/>
              <a:t>游标概述</a:t>
            </a:r>
            <a:r>
              <a:rPr lang="zh-CN" altLang="en-US" dirty="0"/>
              <a:t>  </a:t>
            </a:r>
            <a:endParaRPr lang="zh-CN" altLang="en-US" dirty="0"/>
          </a:p>
        </p:txBody>
      </p:sp>
      <p:sp>
        <p:nvSpPr>
          <p:cNvPr id="195588" name="Rectangle 4"/>
          <p:cNvSpPr/>
          <p:nvPr/>
        </p:nvSpPr>
        <p:spPr>
          <a:xfrm>
            <a:off x="228600" y="2405063"/>
            <a:ext cx="8686800" cy="20145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</a:rPr>
              <a:t>游标（</a:t>
            </a:r>
            <a:r>
              <a:rPr lang="en-US" altLang="zh-CN" dirty="0">
                <a:latin typeface="宋体" panose="02010600030101010101" pitchFamily="2" charset="-122"/>
              </a:rPr>
              <a:t>CURSOR</a:t>
            </a:r>
            <a:r>
              <a:rPr lang="zh-CN" altLang="en-US" dirty="0">
                <a:latin typeface="宋体" panose="02010600030101010101" pitchFamily="2" charset="-122"/>
              </a:rPr>
              <a:t>）是系统为用户开设的一个数据缓冲区，存放</a:t>
            </a:r>
            <a:r>
              <a:rPr lang="en-US" altLang="zh-CN" dirty="0">
                <a:latin typeface="宋体" panose="02010600030101010101" pitchFamily="2" charset="-122"/>
              </a:rPr>
              <a:t>SQL</a:t>
            </a:r>
            <a:r>
              <a:rPr lang="zh-CN" altLang="en-US" dirty="0">
                <a:latin typeface="宋体" panose="02010600030101010101" pitchFamily="2" charset="-122"/>
              </a:rPr>
              <a:t>语句的执行结果。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CN" altLang="en-US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</a:rPr>
              <a:t>游标能从包括多条数据记录的结果集中每次提取一条记录。 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CN" altLang="en-US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</a:rPr>
              <a:t>游标使用之前必须先声明然后才能使用，同时，游标使用完之后必须关闭并释放。</a:t>
            </a:r>
            <a:endParaRPr lang="zh-CN" altLang="en-US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CN" altLang="en-US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</a:rPr>
              <a:t>游标的典型操作过程包括：声明游标、打开游标、提取游标、关闭游标和释放游标。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5588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charRg st="4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5588">
                                            <p:txEl>
                                              <p:charRg st="42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charRg st="71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5588">
                                            <p:txEl>
                                              <p:charRg st="71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charRg st="10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5588">
                                            <p:txEl>
                                              <p:charRg st="109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11.2.2</a:t>
            </a:r>
            <a:r>
              <a:rPr lang="zh-CN" altLang="en-US" dirty="0"/>
              <a:t>游标分类 </a:t>
            </a:r>
            <a:endParaRPr lang="zh-CN" altLang="en-US" dirty="0"/>
          </a:p>
        </p:txBody>
      </p:sp>
      <p:sp>
        <p:nvSpPr>
          <p:cNvPr id="196612" name="AutoShape 4"/>
          <p:cNvSpPr/>
          <p:nvPr/>
        </p:nvSpPr>
        <p:spPr>
          <a:xfrm>
            <a:off x="1608138" y="2971800"/>
            <a:ext cx="1439862" cy="1800225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T-SQL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游标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6613" name="AutoShape 5"/>
          <p:cNvSpPr/>
          <p:nvPr/>
        </p:nvSpPr>
        <p:spPr>
          <a:xfrm>
            <a:off x="3817938" y="2971800"/>
            <a:ext cx="1439862" cy="1800225"/>
          </a:xfrm>
          <a:prstGeom prst="flowChartAlternateProces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API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游标</a:t>
            </a:r>
            <a:endParaRPr lang="zh-CN" altLang="en-US" sz="1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96614" name="AutoShape 6"/>
          <p:cNvSpPr/>
          <p:nvPr/>
        </p:nvSpPr>
        <p:spPr>
          <a:xfrm>
            <a:off x="5943600" y="2971800"/>
            <a:ext cx="1439863" cy="1800225"/>
          </a:xfrm>
          <a:prstGeom prst="flowChartAlternateProcess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客户端游标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animBg="1"/>
      <p:bldP spid="196613" grpId="0" animBg="1"/>
      <p:bldP spid="1966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11.2.3</a:t>
            </a:r>
            <a:r>
              <a:rPr lang="zh-CN" altLang="en-US" dirty="0"/>
              <a:t>游标的使用 </a:t>
            </a:r>
            <a:endParaRPr lang="zh-CN" altLang="en-US" dirty="0"/>
          </a:p>
        </p:txBody>
      </p:sp>
      <p:sp>
        <p:nvSpPr>
          <p:cNvPr id="197636" name="Rectangle 4"/>
          <p:cNvSpPr/>
          <p:nvPr/>
        </p:nvSpPr>
        <p:spPr>
          <a:xfrm>
            <a:off x="234950" y="1600200"/>
            <a:ext cx="140017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声明游标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37" name="Rectangle 5"/>
          <p:cNvSpPr/>
          <p:nvPr/>
        </p:nvSpPr>
        <p:spPr>
          <a:xfrm>
            <a:off x="234950" y="2011363"/>
            <a:ext cx="3448050" cy="855662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语句声明游标的语法如下。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DECLARE </a:t>
            </a:r>
            <a:r>
              <a:rPr lang="zh-CN" altLang="en-US" sz="1600" dirty="0">
                <a:latin typeface="宋体" panose="02010600030101010101" pitchFamily="2" charset="-122"/>
              </a:rPr>
              <a:t>游标名称 </a:t>
            </a:r>
            <a:r>
              <a:rPr lang="en-US" altLang="zh-CN" sz="1600" dirty="0">
                <a:latin typeface="宋体" panose="02010600030101010101" pitchFamily="2" charset="-122"/>
              </a:rPr>
              <a:t>CURSOR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FOR </a:t>
            </a:r>
            <a:r>
              <a:rPr lang="zh-CN" altLang="en-US" sz="1600" dirty="0">
                <a:latin typeface="宋体" panose="02010600030101010101" pitchFamily="2" charset="-122"/>
              </a:rPr>
              <a:t>标准</a:t>
            </a:r>
            <a:r>
              <a:rPr lang="en-US" altLang="zh-CN" sz="1600" dirty="0">
                <a:latin typeface="宋体" panose="02010600030101010101" pitchFamily="2" charset="-122"/>
              </a:rPr>
              <a:t>SELECT</a:t>
            </a:r>
            <a:r>
              <a:rPr lang="zh-CN" altLang="en-US" sz="1600" dirty="0">
                <a:latin typeface="宋体" panose="02010600030101010101" pitchFamily="2" charset="-122"/>
              </a:rPr>
              <a:t>语句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38" name="Rectangle 6"/>
          <p:cNvSpPr/>
          <p:nvPr/>
        </p:nvSpPr>
        <p:spPr>
          <a:xfrm>
            <a:off x="280988" y="3092450"/>
            <a:ext cx="37401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打开游标</a:t>
            </a:r>
            <a:endParaRPr lang="zh-CN" altLang="en-US" b="1" dirty="0">
              <a:solidFill>
                <a:srgbClr val="003366"/>
              </a:solidFill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在使用游标前，必须先打开游标。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39" name="Rectangle 7"/>
          <p:cNvSpPr/>
          <p:nvPr/>
        </p:nvSpPr>
        <p:spPr>
          <a:xfrm>
            <a:off x="228600" y="3810000"/>
            <a:ext cx="3429000" cy="611188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语句打开游标的语法如下。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OPEN </a:t>
            </a:r>
            <a:r>
              <a:rPr lang="zh-CN" altLang="en-US" sz="1600" dirty="0">
                <a:latin typeface="宋体" panose="02010600030101010101" pitchFamily="2" charset="-122"/>
              </a:rPr>
              <a:t>游标名称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40" name="Rectangle 8"/>
          <p:cNvSpPr/>
          <p:nvPr/>
        </p:nvSpPr>
        <p:spPr>
          <a:xfrm>
            <a:off x="273050" y="4616450"/>
            <a:ext cx="414655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读取游标中的数据</a:t>
            </a:r>
            <a:endParaRPr lang="zh-CN" altLang="en-US" b="1" dirty="0">
              <a:solidFill>
                <a:srgbClr val="003366"/>
              </a:solidFill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Arial" panose="020B0604020202020204" pitchFamily="34" charset="0"/>
              </a:rPr>
              <a:t>打开游标之后，便可以读取游标中的数据了。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41" name="Rectangle 9"/>
          <p:cNvSpPr/>
          <p:nvPr/>
        </p:nvSpPr>
        <p:spPr>
          <a:xfrm>
            <a:off x="228600" y="5334000"/>
            <a:ext cx="3962400" cy="1069975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语句读取游标中数据的语法如下。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FETCH [NEXT | PRIOR | FIRST | LAST]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FROM </a:t>
            </a:r>
            <a:r>
              <a:rPr lang="zh-CN" altLang="en-US" sz="1600" dirty="0">
                <a:latin typeface="宋体" panose="02010600030101010101" pitchFamily="2" charset="-122"/>
              </a:rPr>
              <a:t>游标名称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[INTO </a:t>
            </a:r>
            <a:r>
              <a:rPr lang="zh-CN" altLang="en-US" sz="1600" dirty="0">
                <a:latin typeface="宋体" panose="02010600030101010101" pitchFamily="2" charset="-122"/>
              </a:rPr>
              <a:t>变量名称列表</a:t>
            </a:r>
            <a:r>
              <a:rPr lang="en-US" altLang="zh-CN" sz="1600" dirty="0">
                <a:latin typeface="宋体" panose="02010600030101010101" pitchFamily="2" charset="-122"/>
              </a:rPr>
              <a:t>] </a:t>
            </a:r>
            <a:endParaRPr lang="en-US" altLang="zh-CN" sz="1600" dirty="0">
              <a:latin typeface="宋体" panose="02010600030101010101" pitchFamily="2" charset="-122"/>
            </a:endParaRPr>
          </a:p>
        </p:txBody>
      </p:sp>
      <p:sp>
        <p:nvSpPr>
          <p:cNvPr id="197642" name="Rectangle 10"/>
          <p:cNvSpPr/>
          <p:nvPr/>
        </p:nvSpPr>
        <p:spPr>
          <a:xfrm>
            <a:off x="5105400" y="1614488"/>
            <a:ext cx="1358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Arial" panose="020B0604020202020204" pitchFamily="34" charset="0"/>
              </a:rPr>
              <a:t>4.</a:t>
            </a: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关闭游标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43" name="Rectangle 11"/>
          <p:cNvSpPr/>
          <p:nvPr/>
        </p:nvSpPr>
        <p:spPr>
          <a:xfrm>
            <a:off x="5181600" y="2057400"/>
            <a:ext cx="3536950" cy="611188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语句关闭游标的语法如下。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CLOSE </a:t>
            </a:r>
            <a:r>
              <a:rPr lang="zh-CN" altLang="en-US" sz="1600" dirty="0">
                <a:latin typeface="宋体" panose="02010600030101010101" pitchFamily="2" charset="-122"/>
              </a:rPr>
              <a:t>游标名称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44" name="Rectangle 12"/>
          <p:cNvSpPr/>
          <p:nvPr/>
        </p:nvSpPr>
        <p:spPr>
          <a:xfrm>
            <a:off x="5153025" y="3062288"/>
            <a:ext cx="140017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5.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释放游标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45" name="Rectangle 13"/>
          <p:cNvSpPr/>
          <p:nvPr/>
        </p:nvSpPr>
        <p:spPr>
          <a:xfrm>
            <a:off x="5181600" y="3505200"/>
            <a:ext cx="3536950" cy="611188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语句释放游标的语法如下。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DEALLOCATE </a:t>
            </a:r>
            <a:r>
              <a:rPr lang="zh-CN" altLang="en-US" sz="1600" dirty="0">
                <a:latin typeface="宋体" panose="02010600030101010101" pitchFamily="2" charset="-122"/>
              </a:rPr>
              <a:t>游标名称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7647" name="Line 15"/>
          <p:cNvSpPr/>
          <p:nvPr/>
        </p:nvSpPr>
        <p:spPr>
          <a:xfrm>
            <a:off x="4648200" y="1676400"/>
            <a:ext cx="0" cy="487680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/>
      <p:bldP spid="197637" grpId="0" animBg="1"/>
      <p:bldP spid="197638" grpId="0"/>
      <p:bldP spid="197639" grpId="0" animBg="1"/>
      <p:bldP spid="197640" grpId="0"/>
      <p:bldP spid="197641" grpId="0" animBg="1"/>
      <p:bldP spid="197642" grpId="0"/>
      <p:bldP spid="197643" grpId="0" animBg="1"/>
      <p:bldP spid="197644" grpId="0"/>
      <p:bldP spid="1976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14"/>
          <p:cNvSpPr txBox="1"/>
          <p:nvPr/>
        </p:nvSpPr>
        <p:spPr>
          <a:xfrm>
            <a:off x="304800" y="228600"/>
            <a:ext cx="7620000" cy="6159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1600" dirty="0">
                <a:latin typeface="宋体" panose="02010600030101010101" pitchFamily="2" charset="-122"/>
              </a:rPr>
              <a:t>任务：定义一个游标</a:t>
            </a:r>
            <a:r>
              <a:rPr lang="en-US" altLang="zh-CN" sz="1600" dirty="0">
                <a:latin typeface="宋体" panose="02010600030101010101" pitchFamily="2" charset="-122"/>
              </a:rPr>
              <a:t>Cursor_Student</a:t>
            </a:r>
            <a:r>
              <a:rPr lang="zh-CN" altLang="en-US" sz="1600" dirty="0">
                <a:latin typeface="宋体" panose="02010600030101010101" pitchFamily="2" charset="-122"/>
              </a:rPr>
              <a:t>，并利用游标逐行输出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表中学生姓名、邮箱、手机，使用完游标后立即关闭并释放该资源。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200" y="949325"/>
            <a:ext cx="8991600" cy="5632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定义游标</a:t>
            </a:r>
            <a:endParaRPr lang="zh-CN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DECLARE Cursor_Student CURSOR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FOR SELECT stu_name,stu_email,stu_phone FROM Student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OPEN Cursor_Student 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打开游标</a:t>
            </a:r>
            <a:endParaRPr lang="zh-CN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定义变量，存放从游标读取的</a:t>
            </a:r>
            <a:r>
              <a:rPr lang="zh-CN" altLang="en-US" dirty="0">
                <a:latin typeface="Arial" panose="020B0604020202020204" pitchFamily="34" charset="0"/>
              </a:rPr>
              <a:t>信息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DECLARE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@stuname VARCHAR(10),@stuemail VARCHAR(10),@stuphone VARCHAR(10)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从游标读取一行值</a:t>
            </a:r>
            <a:endParaRPr lang="zh-CN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FETCH NEXT FROM Cursor_Student INTO @stuname,@stuemail,@stuphone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从游标结果集循环读取记录</a:t>
            </a:r>
            <a:endParaRPr lang="zh-CN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WHILE @@FETCH_STATUS=0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BEGIN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显示从游标中读取的信息</a:t>
            </a:r>
            <a:endParaRPr lang="zh-CN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SELECT '</a:t>
            </a:r>
            <a:r>
              <a:rPr lang="zh-CN" altLang="en-US" dirty="0">
                <a:latin typeface="Arial" panose="020B0604020202020204" pitchFamily="34" charset="0"/>
              </a:rPr>
              <a:t>姓名</a:t>
            </a:r>
            <a:r>
              <a:rPr lang="en-US" altLang="zh-CN" dirty="0">
                <a:latin typeface="Arial" panose="020B0604020202020204" pitchFamily="34" charset="0"/>
              </a:rPr>
              <a:t>'=@stuname,'</a:t>
            </a:r>
            <a:r>
              <a:rPr lang="zh-CN" altLang="en-US" dirty="0">
                <a:latin typeface="Arial" panose="020B0604020202020204" pitchFamily="34" charset="0"/>
              </a:rPr>
              <a:t>邮箱</a:t>
            </a:r>
            <a:r>
              <a:rPr lang="en-US" altLang="zh-CN" dirty="0">
                <a:latin typeface="Arial" panose="020B0604020202020204" pitchFamily="34" charset="0"/>
              </a:rPr>
              <a:t>'=@stuemail,'</a:t>
            </a:r>
            <a:r>
              <a:rPr lang="zh-CN" altLang="en-US" dirty="0">
                <a:latin typeface="Arial" panose="020B0604020202020204" pitchFamily="34" charset="0"/>
              </a:rPr>
              <a:t>手机</a:t>
            </a:r>
            <a:r>
              <a:rPr lang="en-US" altLang="zh-CN" dirty="0">
                <a:latin typeface="Arial" panose="020B0604020202020204" pitchFamily="34" charset="0"/>
              </a:rPr>
              <a:t>'=@stuphone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从游标读取一行值 </a:t>
            </a:r>
            <a:endParaRPr lang="zh-CN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FETCH NEXT FROM Cursor_Student INTO @stuname,@stuemail,@stuphone 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END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CLOSE Cursor_Student 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关闭游标</a:t>
            </a:r>
            <a:endParaRPr lang="zh-CN" altLang="en-US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DEALLOCATE Cursor_Student 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释放游</a:t>
            </a:r>
            <a:r>
              <a:rPr lang="zh-CN" altLang="en-US" dirty="0">
                <a:latin typeface="Arial" panose="020B0604020202020204" pitchFamily="34" charset="0"/>
              </a:rPr>
              <a:t>标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277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152400"/>
            <a:ext cx="8686800" cy="6553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11.3</a:t>
            </a:r>
            <a:r>
              <a:rPr lang="zh-CN" altLang="en-US" dirty="0"/>
              <a:t>本章总结 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xfrm>
            <a:off x="762000" y="1524000"/>
            <a:ext cx="7772400" cy="5029200"/>
          </a:xfrm>
          <a:solidFill>
            <a:schemeClr val="accent2">
              <a:alpha val="49019"/>
            </a:schemeClr>
          </a:solidFill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100" dirty="0"/>
              <a:t>1.  </a:t>
            </a:r>
            <a:r>
              <a:rPr lang="zh-CN" altLang="en-US" sz="2100" dirty="0"/>
              <a:t>触发器（</a:t>
            </a:r>
            <a:r>
              <a:rPr lang="en-US" altLang="zh-CN" sz="2100" dirty="0"/>
              <a:t>TRIGGER</a:t>
            </a:r>
            <a:r>
              <a:rPr lang="zh-CN" altLang="en-US" sz="2100" dirty="0"/>
              <a:t>）是一种特殊类型的存储过程，它主要通过事件进行触发而被执行。</a:t>
            </a:r>
            <a:endParaRPr lang="zh-CN" altLang="en-US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100" dirty="0"/>
              <a:t>2.  </a:t>
            </a:r>
            <a:r>
              <a:rPr lang="zh-CN" altLang="en-US" sz="2100" dirty="0"/>
              <a:t>触发器分为两类：数据操作语言（</a:t>
            </a:r>
            <a:r>
              <a:rPr lang="en-US" altLang="zh-CN" sz="2100" dirty="0"/>
              <a:t>DML</a:t>
            </a:r>
            <a:r>
              <a:rPr lang="zh-CN" altLang="en-US" sz="2100" dirty="0"/>
              <a:t>）触发器和数据定义语言（</a:t>
            </a:r>
            <a:r>
              <a:rPr lang="en-US" altLang="zh-CN" sz="2100" dirty="0"/>
              <a:t>DDL</a:t>
            </a:r>
            <a:r>
              <a:rPr lang="zh-CN" altLang="en-US" sz="2100" dirty="0"/>
              <a:t>）触发器。</a:t>
            </a:r>
            <a:endParaRPr lang="zh-CN" altLang="en-US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100" dirty="0"/>
              <a:t>3.  </a:t>
            </a:r>
            <a:r>
              <a:rPr lang="zh-CN" altLang="en-US" sz="2100" dirty="0"/>
              <a:t>使用</a:t>
            </a:r>
            <a:r>
              <a:rPr lang="en-US" altLang="zh-CN" sz="2100" dirty="0"/>
              <a:t>CREATE TRIGGER</a:t>
            </a:r>
            <a:r>
              <a:rPr lang="zh-CN" altLang="en-US" sz="2100" dirty="0"/>
              <a:t>语句创建触发器。</a:t>
            </a:r>
            <a:endParaRPr lang="zh-CN" altLang="en-US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100" dirty="0"/>
              <a:t>4.  </a:t>
            </a:r>
            <a:r>
              <a:rPr lang="zh-CN" altLang="en-US" sz="2100" dirty="0"/>
              <a:t>使用</a:t>
            </a:r>
            <a:r>
              <a:rPr lang="en-US" altLang="zh-CN" sz="2100" dirty="0"/>
              <a:t>DROP TRIGGER</a:t>
            </a:r>
            <a:r>
              <a:rPr lang="zh-CN" altLang="en-US" sz="2100" dirty="0"/>
              <a:t>语句删除触发器。</a:t>
            </a:r>
            <a:endParaRPr lang="zh-CN" altLang="en-US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100" dirty="0"/>
              <a:t>5.  </a:t>
            </a:r>
            <a:r>
              <a:rPr lang="zh-CN" altLang="en-US" sz="2100" dirty="0"/>
              <a:t>游标是系统为用户开设的一个数据缓冲区，存放</a:t>
            </a:r>
            <a:r>
              <a:rPr lang="en-US" altLang="zh-CN" sz="2100" dirty="0"/>
              <a:t>SQL</a:t>
            </a:r>
            <a:r>
              <a:rPr lang="zh-CN" altLang="en-US" sz="2100" dirty="0"/>
              <a:t>语句的执行结果。游标能从包括多条数据记录的结果集中每次提取一条记录。</a:t>
            </a:r>
            <a:endParaRPr lang="zh-CN" altLang="en-US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100" dirty="0"/>
              <a:t>6. </a:t>
            </a:r>
            <a:r>
              <a:rPr lang="zh-CN" altLang="en-US" sz="2100" dirty="0"/>
              <a:t>在</a:t>
            </a:r>
            <a:r>
              <a:rPr lang="en-US" altLang="zh-CN" sz="2100" dirty="0"/>
              <a:t>SQL Server</a:t>
            </a:r>
            <a:r>
              <a:rPr lang="zh-CN" altLang="en-US" sz="2100" dirty="0"/>
              <a:t>中使用游标，需要声明游标、打开游标、读取游标中的数据、关闭游标、释放游标。</a:t>
            </a:r>
            <a:endParaRPr lang="zh-CN" altLang="en-US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100" dirty="0"/>
              <a:t>7. </a:t>
            </a:r>
            <a:r>
              <a:rPr lang="zh-CN" altLang="en-US" sz="2100" dirty="0"/>
              <a:t>使用</a:t>
            </a:r>
            <a:r>
              <a:rPr lang="en-US" altLang="zh-CN" sz="2100" dirty="0"/>
              <a:t>DECLARE CURSOR</a:t>
            </a:r>
            <a:r>
              <a:rPr lang="zh-CN" altLang="en-US" sz="2100" dirty="0"/>
              <a:t>语句声明游标；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100" dirty="0"/>
              <a:t>    使用</a:t>
            </a:r>
            <a:r>
              <a:rPr lang="en-US" altLang="zh-CN" sz="2100" dirty="0"/>
              <a:t>OPEN</a:t>
            </a:r>
            <a:r>
              <a:rPr lang="zh-CN" altLang="en-US" sz="2100" dirty="0"/>
              <a:t>语句打开游标；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100" dirty="0"/>
              <a:t>    使用</a:t>
            </a:r>
            <a:r>
              <a:rPr lang="en-US" altLang="zh-CN" sz="2100" dirty="0"/>
              <a:t>FETCH</a:t>
            </a:r>
            <a:r>
              <a:rPr lang="zh-CN" altLang="en-US" sz="2100" dirty="0"/>
              <a:t>语句读取游标中的数据；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100" dirty="0"/>
              <a:t>    使用</a:t>
            </a:r>
            <a:r>
              <a:rPr lang="en-US" altLang="zh-CN" sz="2100" dirty="0"/>
              <a:t>CLOSE</a:t>
            </a:r>
            <a:r>
              <a:rPr lang="zh-CN" altLang="en-US" sz="2100" dirty="0"/>
              <a:t>语句关闭游标；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100" dirty="0"/>
              <a:t>    使用</a:t>
            </a:r>
            <a:r>
              <a:rPr lang="en-US" altLang="zh-CN" sz="2100" dirty="0"/>
              <a:t>DEALLOCATE</a:t>
            </a:r>
            <a:r>
              <a:rPr lang="zh-CN" altLang="en-US" sz="2100" dirty="0"/>
              <a:t>语句释放游标。</a:t>
            </a:r>
            <a:endParaRPr lang="zh-CN" alt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46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charRg st="46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89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charRg st="89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145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587">
                                            <p:txEl>
                                              <p:charRg st="145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208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7587">
                                            <p:txEl>
                                              <p:charRg st="208" end="2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260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7587">
                                            <p:txEl>
                                              <p:charRg st="260" end="2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287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7587">
                                            <p:txEl>
                                              <p:charRg st="287" end="3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305" end="3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7587">
                                            <p:txEl>
                                              <p:charRg st="305" end="3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328" end="3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7587">
                                            <p:txEl>
                                              <p:charRg st="328" end="3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347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7587">
                                            <p:txEl>
                                              <p:charRg st="347" end="3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nimBg="1" build="p"/>
    </p:bldLst>
  </p:timing>
</p:sld>
</file>

<file path=ppt/tags/tag1.xml><?xml version="1.0" encoding="utf-8"?>
<p:tagLst xmlns:p="http://schemas.openxmlformats.org/presentationml/2006/main">
  <p:tag name="KSO_WPP_MARK_KEY" val="3d60948b-32c5-4866-88bf-8270a246fc4b"/>
</p:tagLst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3799</Words>
  <Application>WPS 演示</Application>
  <PresentationFormat>全屏显示(4:3)</PresentationFormat>
  <Paragraphs>234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黑体</vt:lpstr>
      <vt:lpstr>Times New Roman</vt:lpstr>
      <vt:lpstr>微软雅黑</vt:lpstr>
      <vt:lpstr>Arial Unicode MS</vt:lpstr>
      <vt:lpstr>Network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微信用户</cp:lastModifiedBy>
  <cp:revision>150</cp:revision>
  <dcterms:created xsi:type="dcterms:W3CDTF">2014-01-17T03:00:17Z</dcterms:created>
  <dcterms:modified xsi:type="dcterms:W3CDTF">2023-09-11T07:26:01Z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D96F7936DF274F5A9662DC909AE526C0_13</vt:lpwstr>
  </property>
  <property fmtid="{D5CDD505-2E9C-101B-9397-08002B2CF9AE}" pid="4" name="KSOProductBuildVer">
    <vt:lpwstr>2052-11.1.0.14309</vt:lpwstr>
  </property>
</Properties>
</file>