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3"/>
  </p:notesMasterIdLst>
  <p:handoutMasterIdLst>
    <p:handoutMasterId r:id="rId88"/>
  </p:handout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81" r:id="rId26"/>
    <p:sldId id="279" r:id="rId27"/>
    <p:sldId id="280"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Lst>
  <p:sldSz cx="9144000" cy="6858000" type="screen4x3"/>
  <p:notesSz cx="6858000" cy="9144000"/>
  <p:custDataLst>
    <p:tags r:id="rId92"/>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9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9" autoAdjust="0"/>
    <p:restoredTop sz="86344" autoAdjust="0"/>
  </p:normalViewPr>
  <p:slideViewPr>
    <p:cSldViewPr showGuides="1">
      <p:cViewPr>
        <p:scale>
          <a:sx n="70" d="100"/>
          <a:sy n="70" d="100"/>
        </p:scale>
        <p:origin x="-1290" y="-168"/>
      </p:cViewPr>
      <p:guideLst>
        <p:guide orient="horz" pos="2160"/>
        <p:guide pos="2903"/>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2" Type="http://schemas.openxmlformats.org/officeDocument/2006/relationships/tags" Target="tags/tag3.xml"/><Relationship Id="rId91" Type="http://schemas.openxmlformats.org/officeDocument/2006/relationships/tableStyles" Target="tableStyles.xml"/><Relationship Id="rId90" Type="http://schemas.openxmlformats.org/officeDocument/2006/relationships/viewProps" Target="viewProps.xml"/><Relationship Id="rId9" Type="http://schemas.openxmlformats.org/officeDocument/2006/relationships/slide" Target="slides/slide7.xml"/><Relationship Id="rId89" Type="http://schemas.openxmlformats.org/officeDocument/2006/relationships/presProps" Target="presProps.xml"/><Relationship Id="rId88" Type="http://schemas.openxmlformats.org/officeDocument/2006/relationships/handoutMaster" Target="handoutMasters/handoutMaster1.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notesMaster" Target="notesMasters/notesMaster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3C062657-9E5F-4110-B55C-2FF06F397A94}" type="datetimeFigureOut">
              <a:rPr lang="zh-CN" altLang="en-US"/>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C957D365-FE3A-46CF-A070-A049D70EFB68}"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318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90116" name="灯片编号占位符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4C4691BC-06DA-40EE-A64C-7D187573567C}" type="slidenum">
              <a:rPr lang="zh-CN" altLang="en-US" smtClean="0"/>
            </a:fld>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pPr>
              <a:defRPr/>
            </a:pPr>
            <a:fld id="{3635D0A8-9D19-455B-85C5-01AB1196FCD4}"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F4F591D0-C525-4F56-81D2-CFEB0261CCC5}"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pPr>
              <a:defRPr/>
            </a:pPr>
            <a:fld id="{81EEFA2C-0A6C-4B06-8901-BEC057F01E18}"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5FEFFA5B-3BAF-46A9-B28E-D215CFE0B982}" type="slidenum">
              <a:rPr lang="zh-CN" altLang="en-US" smtClean="0"/>
            </a:fld>
            <a:endParaRPr lang="zh-CN" altLang="en-US"/>
          </a:p>
        </p:txBody>
      </p:sp>
      <p:sp>
        <p:nvSpPr>
          <p:cNvPr id="7" name="Title 6"/>
          <p:cNvSpPr>
            <a:spLocks noGrp="1"/>
          </p:cNvSpPr>
          <p:nvPr>
            <p:ph type="title"/>
          </p:nvPr>
        </p:nvSpPr>
        <p:spPr/>
        <p:txBody>
          <a:bodyPr/>
          <a:lstStyle/>
          <a:p>
            <a:r>
              <a:rPr lang="zh-CN" altLang="en-US" smtClean="0"/>
              <a:t>单击此处编辑母版标题样式</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0" name="Freeform 18"/>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1" name="Freeform 22"/>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2" name="Freeform 26"/>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3" name="Freeform 10"/>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pPr>
              <a:defRPr/>
            </a:pPr>
            <a:fld id="{0D0E0129-1E7C-47EF-B273-9BF04C9B9D79}"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6CEB25D7-5A2B-4E2A-A5D1-A9CC284D67D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5" name="Date Placeholder 4"/>
          <p:cNvSpPr>
            <a:spLocks noGrp="1"/>
          </p:cNvSpPr>
          <p:nvPr>
            <p:ph type="dt" sz="half" idx="10"/>
          </p:nvPr>
        </p:nvSpPr>
        <p:spPr/>
        <p:txBody>
          <a:bodyPr/>
          <a:lstStyle/>
          <a:p>
            <a:pPr>
              <a:defRPr/>
            </a:pPr>
            <a:fld id="{5BD0F31E-6499-469A-B1AC-7AC8D57BA36A}" type="datetimeFigureOut">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FAABEE9A-50CF-46EC-8EF9-24F6511E6677}" type="slidenum">
              <a:rPr lang="zh-CN" altLang="en-US" smtClean="0"/>
            </a:fld>
            <a:endParaRPr lang="zh-CN" altLang="en-US"/>
          </a:p>
        </p:txBody>
      </p:sp>
      <p:sp>
        <p:nvSpPr>
          <p:cNvPr id="9" name="Content Placeholder 8"/>
          <p:cNvSpPr>
            <a:spLocks noGrp="1"/>
          </p:cNvSpPr>
          <p:nvPr>
            <p:ph sz="quarter" idx="13"/>
          </p:nvPr>
        </p:nvSpPr>
        <p:spPr>
          <a:xfrm>
            <a:off x="676655" y="2679192"/>
            <a:ext cx="3822192" cy="34472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a:defRPr/>
            </a:pPr>
            <a:fld id="{60D90E69-6390-427E-BD8A-94561E45B025}" type="datetimeFigureOut">
              <a:rPr lang="zh-CN" altLang="en-US" smtClean="0"/>
            </a:fld>
            <a:endParaRPr lang="zh-CN" altLang="en-US"/>
          </a:p>
        </p:txBody>
      </p:sp>
      <p:sp>
        <p:nvSpPr>
          <p:cNvPr id="8" name="Footer Placeholder 7"/>
          <p:cNvSpPr>
            <a:spLocks noGrp="1"/>
          </p:cNvSpPr>
          <p:nvPr>
            <p:ph type="ftr" sz="quarter" idx="11"/>
          </p:nvPr>
        </p:nvSpPr>
        <p:spPr/>
        <p:txBody>
          <a:bodyPr/>
          <a:lstStyle/>
          <a:p>
            <a:pPr>
              <a:defRPr/>
            </a:pPr>
            <a:endParaRPr lang="zh-CN" altLang="en-US"/>
          </a:p>
        </p:txBody>
      </p:sp>
      <p:sp>
        <p:nvSpPr>
          <p:cNvPr id="9" name="Slide Number Placeholder 8"/>
          <p:cNvSpPr>
            <a:spLocks noGrp="1"/>
          </p:cNvSpPr>
          <p:nvPr>
            <p:ph type="sldNum" sz="quarter" idx="12"/>
          </p:nvPr>
        </p:nvSpPr>
        <p:spPr/>
        <p:txBody>
          <a:bodyPr/>
          <a:lstStyle/>
          <a:p>
            <a:pPr>
              <a:defRPr/>
            </a:pPr>
            <a:fld id="{DF981FB7-0783-40CC-81E7-4675AC8CBA0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pPr>
              <a:defRPr/>
            </a:pPr>
            <a:fld id="{98BD046C-9D0D-4BD5-9F23-54009565B62B}" type="datetimeFigureOut">
              <a:rPr lang="en-US" smtClean="0"/>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9A9C58C3-A7AD-434E-AC3E-EF1DD7B9FA3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Date Placeholder 1"/>
          <p:cNvSpPr>
            <a:spLocks noGrp="1"/>
          </p:cNvSpPr>
          <p:nvPr>
            <p:ph type="dt" sz="half" idx="10"/>
          </p:nvPr>
        </p:nvSpPr>
        <p:spPr/>
        <p:txBody>
          <a:bodyPr/>
          <a:lstStyle/>
          <a:p>
            <a:pPr>
              <a:defRPr/>
            </a:pPr>
            <a:fld id="{CFF7ACA7-B88B-4108-88F4-019F8528AA45}" type="datetimeFigureOut">
              <a:rPr lang="zh-CN" altLang="en-US" smtClean="0"/>
            </a:fld>
            <a:endParaRPr lang="zh-CN" altLang="en-US"/>
          </a:p>
        </p:txBody>
      </p:sp>
      <p:sp>
        <p:nvSpPr>
          <p:cNvPr id="3" name="Footer Placeholder 2"/>
          <p:cNvSpPr>
            <a:spLocks noGrp="1"/>
          </p:cNvSpPr>
          <p:nvPr>
            <p:ph type="ftr" sz="quarter" idx="11"/>
          </p:nvPr>
        </p:nvSpPr>
        <p:spPr/>
        <p:txBody>
          <a:bodyPr/>
          <a:lstStyle/>
          <a:p>
            <a:pPr>
              <a:defRPr/>
            </a:pPr>
            <a:endParaRPr lang="zh-CN" altLang="en-US"/>
          </a:p>
        </p:txBody>
      </p:sp>
      <p:sp>
        <p:nvSpPr>
          <p:cNvPr id="4" name="Slide Number Placeholder 3"/>
          <p:cNvSpPr>
            <a:spLocks noGrp="1"/>
          </p:cNvSpPr>
          <p:nvPr>
            <p:ph type="sldNum" sz="quarter" idx="12"/>
          </p:nvPr>
        </p:nvSpPr>
        <p:spPr/>
        <p:txBody>
          <a:bodyPr/>
          <a:lstStyle/>
          <a:p>
            <a:pPr>
              <a:defRPr/>
            </a:pPr>
            <a:fld id="{68224FA4-9A38-4D3A-84FE-5C02A9B8FF5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pPr>
              <a:defRPr/>
            </a:pPr>
            <a:fld id="{66BD7940-FB5E-481D-B262-2FCA8D96E950}" type="datetimeFigureOut">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D8F14784-6353-46AE-A5B4-9FF03BB4DEF6}" type="slidenum">
              <a:rPr lang="zh-CN" altLang="en-US" smtClean="0"/>
            </a:fld>
            <a:endParaRPr lang="zh-CN" alt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26"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27"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8"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9" name="Freeform 28"/>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1"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2"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3"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4"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pPr>
              <a:defRPr/>
            </a:pPr>
            <a:fld id="{2FC41705-7665-4A58-AB45-DC9AED91E3F6}" type="datetimeFigureOut">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C5F36055-D940-45B9-A4A9-59BF2C08A5A7}" type="slidenum">
              <a:rPr lang="zh-CN" altLang="en-US" smtClean="0"/>
            </a:fld>
            <a:endParaRPr lang="zh-CN" alt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pPr>
              <a:defRPr/>
            </a:pPr>
            <a:fld id="{D92CED6D-2D06-4C14-B892-BEEC575F593E}"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9EF9A875-040F-4568-AA2D-DCDC6E5683DD}"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pPr>
              <a:defRPr/>
            </a:pPr>
            <a:fld id="{A5BCCEC2-3F92-4D72-913E-873A31066F23}"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9E8BC19E-3945-4102-9E3A-A9F55AB8EEE4}" type="slidenum">
              <a:rPr lang="zh-CN" altLang="en-US" smtClean="0"/>
            </a:fld>
            <a:endParaRPr lang="zh-CN" alt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7"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8"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9"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0" name="Freeform 19"/>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pPr>
              <a:defRPr/>
            </a:pPr>
            <a:fld id="{8A13836F-2DE8-4E92-9EF3-5D330B523369}" type="datetimeFigureOut">
              <a:rPr lang="zh-CN" altLang="en-US" smtClean="0"/>
            </a:fld>
            <a:endParaRPr lang="zh-CN" alt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pPr>
              <a:defRPr/>
            </a:pPr>
            <a:endParaRPr lang="zh-CN" alt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pPr>
              <a:defRPr/>
            </a:pPr>
            <a:fld id="{DE4EA437-7C02-4DB7-8923-42A17E49EA97}" type="slidenum">
              <a:rPr lang="zh-CN" altLang="en-US" smtClean="0"/>
            </a:fld>
            <a:endParaRPr lang="zh-CN" alt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6.xml"/><Relationship Id="rId6" Type="http://schemas.openxmlformats.org/officeDocument/2006/relationships/slide" Target="slide72.xml"/><Relationship Id="rId5" Type="http://schemas.openxmlformats.org/officeDocument/2006/relationships/slide" Target="slide52.xml"/><Relationship Id="rId4" Type="http://schemas.openxmlformats.org/officeDocument/2006/relationships/slide" Target="slide37.xml"/><Relationship Id="rId3" Type="http://schemas.openxmlformats.org/officeDocument/2006/relationships/slide" Target="slide24.xml"/><Relationship Id="rId2" Type="http://schemas.openxmlformats.org/officeDocument/2006/relationships/slide" Target="slide5.xml"/><Relationship Id="rId1" Type="http://schemas.openxmlformats.org/officeDocument/2006/relationships/slide" Target="slide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file:///D:\&#31649;&#29702;&#25991;&#20214;\ppt&#25991;&#20214;\ppt&#35838;&#20214;\&#20154;&#37038;\Application%20Data\Microsoft\DOCUME~1\ADMINI~1\LOCALS~1\Temp\ts_operator_1zy1.htm" TargetMode="Externa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34920;5.10-5.12.rtf"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image" Target="../media/image1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zh-CN" altLang="zh-CN" dirty="0">
                <a:solidFill>
                  <a:srgbClr val="000000"/>
                </a:solidFill>
                <a:effectLst/>
              </a:rPr>
              <a:t>第</a:t>
            </a:r>
            <a:r>
              <a:rPr lang="en-US" altLang="zh-CN" dirty="0">
                <a:solidFill>
                  <a:srgbClr val="000000"/>
                </a:solidFill>
                <a:effectLst/>
              </a:rPr>
              <a:t>5</a:t>
            </a:r>
            <a:r>
              <a:rPr lang="zh-CN" altLang="zh-CN" dirty="0" smtClean="0">
                <a:solidFill>
                  <a:srgbClr val="000000"/>
                </a:solidFill>
                <a:effectLst/>
              </a:rPr>
              <a:t>章</a:t>
            </a:r>
            <a:r>
              <a:rPr lang="en-US" altLang="zh-CN" dirty="0" smtClean="0">
                <a:solidFill>
                  <a:srgbClr val="000000"/>
                </a:solidFill>
                <a:effectLst/>
              </a:rPr>
              <a:t>  T-SQL</a:t>
            </a:r>
            <a:r>
              <a:rPr lang="zh-CN" altLang="zh-CN" dirty="0" smtClean="0">
                <a:solidFill>
                  <a:srgbClr val="000000"/>
                </a:solidFill>
                <a:effectLst/>
              </a:rPr>
              <a:t>语言</a:t>
            </a:r>
            <a:endParaRPr lang="zh-CN" altLang="en-US" dirty="0">
              <a:solidFill>
                <a:srgbClr val="000000"/>
              </a:solidFill>
            </a:endParaRPr>
          </a:p>
        </p:txBody>
      </p:sp>
      <p:sp>
        <p:nvSpPr>
          <p:cNvPr id="6147" name="TextBox 4"/>
          <p:cNvSpPr txBox="1">
            <a:spLocks noChangeArrowheads="1"/>
          </p:cNvSpPr>
          <p:nvPr/>
        </p:nvSpPr>
        <p:spPr bwMode="auto">
          <a:xfrm>
            <a:off x="900113" y="1700213"/>
            <a:ext cx="4967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a:hlinkClick r:id="rId1" action="ppaction://hlinksldjump"/>
              </a:rPr>
              <a:t>5.1  T-SQL</a:t>
            </a:r>
            <a:r>
              <a:rPr lang="zh-CN" altLang="zh-CN" sz="2400" b="1">
                <a:hlinkClick r:id="rId1" action="ppaction://hlinksldjump"/>
              </a:rPr>
              <a:t>语言</a:t>
            </a:r>
            <a:endParaRPr lang="zh-CN" altLang="zh-CN" sz="2400" b="1"/>
          </a:p>
        </p:txBody>
      </p:sp>
      <p:sp>
        <p:nvSpPr>
          <p:cNvPr id="6148" name="TextBox 5"/>
          <p:cNvSpPr txBox="1">
            <a:spLocks noChangeArrowheads="1"/>
          </p:cNvSpPr>
          <p:nvPr/>
        </p:nvSpPr>
        <p:spPr bwMode="auto">
          <a:xfrm>
            <a:off x="900113" y="2395538"/>
            <a:ext cx="4967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a:hlinkClick r:id="rId2" action="ppaction://hlinksldjump"/>
              </a:rPr>
              <a:t>5.2  </a:t>
            </a:r>
            <a:r>
              <a:rPr lang="zh-CN" altLang="zh-CN" sz="2400" b="1">
                <a:hlinkClick r:id="rId2" action="ppaction://hlinksldjump"/>
              </a:rPr>
              <a:t>常量、变量与自定义数据类型</a:t>
            </a:r>
            <a:endParaRPr lang="zh-CN" altLang="zh-CN" sz="2400" b="1"/>
          </a:p>
        </p:txBody>
      </p:sp>
      <p:sp>
        <p:nvSpPr>
          <p:cNvPr id="6149" name="TextBox 6"/>
          <p:cNvSpPr txBox="1">
            <a:spLocks noChangeArrowheads="1"/>
          </p:cNvSpPr>
          <p:nvPr/>
        </p:nvSpPr>
        <p:spPr bwMode="auto">
          <a:xfrm>
            <a:off x="900113" y="3090863"/>
            <a:ext cx="49672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a:hlinkClick r:id="rId3" action="ppaction://hlinksldjump"/>
              </a:rPr>
              <a:t>5.3  </a:t>
            </a:r>
            <a:r>
              <a:rPr lang="zh-CN" altLang="zh-CN" sz="2400" b="1">
                <a:hlinkClick r:id="rId3" action="ppaction://hlinksldjump"/>
              </a:rPr>
              <a:t>运算符与表达式</a:t>
            </a:r>
            <a:endParaRPr lang="zh-CN" altLang="zh-CN" sz="2400" b="1"/>
          </a:p>
        </p:txBody>
      </p:sp>
      <p:sp>
        <p:nvSpPr>
          <p:cNvPr id="6150" name="TextBox 7"/>
          <p:cNvSpPr txBox="1">
            <a:spLocks noChangeArrowheads="1"/>
          </p:cNvSpPr>
          <p:nvPr/>
        </p:nvSpPr>
        <p:spPr bwMode="auto">
          <a:xfrm>
            <a:off x="900113" y="3789363"/>
            <a:ext cx="4967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a:hlinkClick r:id="rId4" action="ppaction://hlinksldjump"/>
              </a:rPr>
              <a:t>5.4  </a:t>
            </a:r>
            <a:r>
              <a:rPr lang="zh-CN" altLang="zh-CN" sz="2400" b="1">
                <a:hlinkClick r:id="rId4" action="ppaction://hlinksldjump"/>
              </a:rPr>
              <a:t>流程控制语句</a:t>
            </a:r>
            <a:endParaRPr lang="zh-CN" altLang="zh-CN" sz="2400" b="1"/>
          </a:p>
        </p:txBody>
      </p:sp>
      <p:sp>
        <p:nvSpPr>
          <p:cNvPr id="6151" name="TextBox 8"/>
          <p:cNvSpPr txBox="1">
            <a:spLocks noChangeArrowheads="1"/>
          </p:cNvSpPr>
          <p:nvPr/>
        </p:nvSpPr>
        <p:spPr bwMode="auto">
          <a:xfrm>
            <a:off x="900113" y="4483100"/>
            <a:ext cx="49672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a:hlinkClick r:id="rId5" action="ppaction://hlinksldjump"/>
              </a:rPr>
              <a:t>5.5  </a:t>
            </a:r>
            <a:r>
              <a:rPr lang="zh-CN" altLang="zh-CN" sz="2400" b="1">
                <a:hlinkClick r:id="rId5" action="ppaction://hlinksldjump"/>
              </a:rPr>
              <a:t>系统内置函数</a:t>
            </a:r>
            <a:endParaRPr lang="zh-CN" altLang="zh-CN" sz="2400" b="1"/>
          </a:p>
        </p:txBody>
      </p:sp>
      <p:sp>
        <p:nvSpPr>
          <p:cNvPr id="6152" name="TextBox 9"/>
          <p:cNvSpPr txBox="1">
            <a:spLocks noChangeArrowheads="1"/>
          </p:cNvSpPr>
          <p:nvPr/>
        </p:nvSpPr>
        <p:spPr bwMode="auto">
          <a:xfrm>
            <a:off x="900113" y="5178425"/>
            <a:ext cx="79200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a:hlinkClick r:id="rId6" action="ppaction://hlinksldjump"/>
              </a:rPr>
              <a:t>5.6  </a:t>
            </a:r>
            <a:r>
              <a:rPr lang="zh-CN" altLang="zh-CN" sz="2400" b="1">
                <a:hlinkClick r:id="rId6" action="ppaction://hlinksldjump"/>
              </a:rPr>
              <a:t>用户定义函数：</a:t>
            </a:r>
            <a:r>
              <a:rPr lang="en-US" altLang="zh-CN" sz="2400" b="1">
                <a:hlinkClick r:id="rId6" action="ppaction://hlinksldjump"/>
              </a:rPr>
              <a:t>CREATE/ALTER/DROP FUNCTION</a:t>
            </a:r>
            <a:endParaRPr lang="zh-CN" altLang="zh-CN" sz="2400" b="1"/>
          </a:p>
        </p:txBody>
      </p:sp>
    </p:spTree>
  </p:cSld>
  <p:clrMapOvr>
    <a:masterClrMapping/>
  </p:clrMapOvr>
  <p:transition spd="slow">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5.1  T-SQL</a:t>
            </a:r>
            <a:r>
              <a:rPr lang="zh-CN" altLang="zh-CN" dirty="0">
                <a:effectLst/>
              </a:rPr>
              <a:t>语言</a:t>
            </a:r>
            <a:endParaRPr lang="zh-CN" altLang="zh-CN" dirty="0">
              <a:effectLst/>
            </a:endParaRPr>
          </a:p>
        </p:txBody>
      </p:sp>
      <p:sp>
        <p:nvSpPr>
          <p:cNvPr id="3" name="TextBox 2"/>
          <p:cNvSpPr txBox="1"/>
          <p:nvPr/>
        </p:nvSpPr>
        <p:spPr>
          <a:xfrm>
            <a:off x="395288" y="1412875"/>
            <a:ext cx="8280400" cy="1477963"/>
          </a:xfrm>
          <a:prstGeom prst="rect">
            <a:avLst/>
          </a:prstGeom>
          <a:noFill/>
        </p:spPr>
        <p:txBody>
          <a:bodyPr>
            <a:spAutoFit/>
          </a:bodyPr>
          <a:lstStyle/>
          <a:p>
            <a:pPr indent="446405" fontAlgn="auto">
              <a:spcBef>
                <a:spcPts val="0"/>
              </a:spcBef>
              <a:spcAft>
                <a:spcPts val="0"/>
              </a:spcAft>
              <a:defRPr/>
            </a:pPr>
            <a:r>
              <a:rPr lang="zh-CN" altLang="zh-CN" dirty="0">
                <a:latin typeface="+mn-lt"/>
                <a:ea typeface="+mn-ea"/>
              </a:rPr>
              <a:t>（</a:t>
            </a:r>
            <a:r>
              <a:rPr lang="en-US" altLang="zh-CN" dirty="0">
                <a:latin typeface="+mn-lt"/>
                <a:ea typeface="+mn-ea"/>
              </a:rPr>
              <a:t>1</a:t>
            </a:r>
            <a:r>
              <a:rPr lang="zh-CN" altLang="zh-CN" dirty="0">
                <a:latin typeface="+mn-lt"/>
                <a:ea typeface="+mn-ea"/>
              </a:rPr>
              <a:t>）数据定义语言（</a:t>
            </a:r>
            <a:r>
              <a:rPr lang="en-US" altLang="zh-CN" dirty="0">
                <a:latin typeface="+mn-lt"/>
                <a:ea typeface="+mn-ea"/>
              </a:rPr>
              <a:t>DDL</a:t>
            </a:r>
            <a:r>
              <a:rPr lang="zh-CN" altLang="zh-CN" dirty="0">
                <a:latin typeface="+mn-lt"/>
                <a:ea typeface="+mn-ea"/>
              </a:rPr>
              <a:t>）。</a:t>
            </a:r>
            <a:r>
              <a:rPr lang="en-US" altLang="zh-CN" dirty="0">
                <a:latin typeface="+mn-lt"/>
                <a:ea typeface="+mn-ea"/>
              </a:rPr>
              <a:t>DDL</a:t>
            </a:r>
            <a:r>
              <a:rPr lang="zh-CN" altLang="zh-CN" dirty="0">
                <a:latin typeface="+mn-lt"/>
                <a:ea typeface="+mn-ea"/>
              </a:rPr>
              <a:t>用于执行数据库的任务，对数据库以及数据库中的各种对象进行创建、删除、修改等操作。如前所述，数据库对象主要包括表、默认约束、规则、视图、触发器、存储过程。</a:t>
            </a:r>
            <a:r>
              <a:rPr lang="en-US" altLang="zh-CN" dirty="0">
                <a:latin typeface="+mn-lt"/>
                <a:ea typeface="+mn-ea"/>
              </a:rPr>
              <a:t>DDL</a:t>
            </a:r>
            <a:r>
              <a:rPr lang="zh-CN" altLang="zh-CN" dirty="0">
                <a:latin typeface="+mn-lt"/>
                <a:ea typeface="+mn-ea"/>
              </a:rPr>
              <a:t>包括的主要语句及功能如表</a:t>
            </a:r>
            <a:r>
              <a:rPr lang="en-US" altLang="zh-CN" dirty="0">
                <a:latin typeface="+mn-lt"/>
                <a:ea typeface="+mn-ea"/>
              </a:rPr>
              <a:t>5.1</a:t>
            </a:r>
            <a:r>
              <a:rPr lang="zh-CN" altLang="zh-CN" dirty="0">
                <a:latin typeface="+mn-lt"/>
                <a:ea typeface="+mn-ea"/>
              </a:rPr>
              <a:t>所示。</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graphicFrame>
        <p:nvGraphicFramePr>
          <p:cNvPr id="4" name="表格 3"/>
          <p:cNvGraphicFramePr>
            <a:graphicFrameLocks noGrp="1"/>
          </p:cNvGraphicFramePr>
          <p:nvPr>
            <p:custDataLst>
              <p:tags r:id="rId1"/>
            </p:custDataLst>
          </p:nvPr>
        </p:nvGraphicFramePr>
        <p:xfrm>
          <a:off x="652463" y="2781300"/>
          <a:ext cx="8023225" cy="2799715"/>
        </p:xfrm>
        <a:graphic>
          <a:graphicData uri="http://schemas.openxmlformats.org/drawingml/2006/table">
            <a:tbl>
              <a:tblPr firstRow="1" firstCol="1" bandRow="1" bandCol="1"/>
              <a:tblGrid>
                <a:gridCol w="1261503"/>
                <a:gridCol w="2596835"/>
                <a:gridCol w="4164887"/>
              </a:tblGrid>
              <a:tr h="1445260">
                <a:tc>
                  <a:txBody>
                    <a:bodyPr/>
                    <a:lstStyle/>
                    <a:p>
                      <a:pPr indent="254000" algn="ctr">
                        <a:spcBef>
                          <a:spcPts val="120"/>
                        </a:spcBef>
                        <a:spcAft>
                          <a:spcPts val="120"/>
                        </a:spcAft>
                      </a:pPr>
                      <a:r>
                        <a:rPr lang="zh-CN" sz="1400" kern="1000">
                          <a:effectLst/>
                          <a:latin typeface="Times New Roman" panose="02020603050405020304"/>
                          <a:ea typeface="方正书宋简体"/>
                        </a:rPr>
                        <a:t>语句</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功能</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说明</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1867">
                <a:tc>
                  <a:txBody>
                    <a:bodyPr/>
                    <a:lstStyle/>
                    <a:p>
                      <a:pPr indent="254000" algn="ctr">
                        <a:spcBef>
                          <a:spcPts val="120"/>
                        </a:spcBef>
                        <a:spcAft>
                          <a:spcPts val="120"/>
                        </a:spcAft>
                      </a:pPr>
                      <a:r>
                        <a:rPr lang="en-US" sz="1400" kern="1000">
                          <a:effectLst/>
                          <a:latin typeface="Times New Roman" panose="02020603050405020304"/>
                          <a:ea typeface="方正书宋简体"/>
                        </a:rPr>
                        <a:t>CREATE</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创建数据库或数据库对象</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不同数据库对象，其</a:t>
                      </a:r>
                      <a:r>
                        <a:rPr lang="en-US" sz="1400" kern="1000">
                          <a:effectLst/>
                          <a:latin typeface="Times New Roman" panose="02020603050405020304"/>
                          <a:ea typeface="方正书宋简体"/>
                        </a:rPr>
                        <a:t>CREATE</a:t>
                      </a:r>
                      <a:r>
                        <a:rPr lang="zh-CN" sz="1400" kern="1000">
                          <a:effectLst/>
                          <a:latin typeface="Times New Roman" panose="02020603050405020304"/>
                          <a:ea typeface="方正书宋简体"/>
                        </a:rPr>
                        <a:t>语句的语法形式不同</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1867">
                <a:tc>
                  <a:txBody>
                    <a:bodyPr/>
                    <a:lstStyle/>
                    <a:p>
                      <a:pPr indent="254000" algn="ctr">
                        <a:spcBef>
                          <a:spcPts val="120"/>
                        </a:spcBef>
                        <a:spcAft>
                          <a:spcPts val="120"/>
                        </a:spcAft>
                      </a:pPr>
                      <a:r>
                        <a:rPr lang="en-US" sz="1400" kern="1000">
                          <a:effectLst/>
                          <a:latin typeface="Times New Roman" panose="02020603050405020304"/>
                          <a:ea typeface="方正书宋简体"/>
                        </a:rPr>
                        <a:t>ALTER</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对数据库或数据库对象进行修改</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不同数据库对象，其</a:t>
                      </a:r>
                      <a:r>
                        <a:rPr lang="en-US" sz="1400" kern="1000">
                          <a:effectLst/>
                          <a:latin typeface="Times New Roman" panose="02020603050405020304"/>
                          <a:ea typeface="方正书宋简体"/>
                        </a:rPr>
                        <a:t>ALTER</a:t>
                      </a:r>
                      <a:r>
                        <a:rPr lang="zh-CN" sz="1400" kern="1000">
                          <a:effectLst/>
                          <a:latin typeface="Times New Roman" panose="02020603050405020304"/>
                          <a:ea typeface="方正书宋简体"/>
                        </a:rPr>
                        <a:t>语句的语法形式不同</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0933">
                <a:tc>
                  <a:txBody>
                    <a:bodyPr/>
                    <a:lstStyle/>
                    <a:p>
                      <a:pPr indent="254000" algn="ctr">
                        <a:spcBef>
                          <a:spcPts val="120"/>
                        </a:spcBef>
                        <a:spcAft>
                          <a:spcPts val="120"/>
                        </a:spcAft>
                      </a:pPr>
                      <a:r>
                        <a:rPr lang="en-US" sz="1400" kern="1000">
                          <a:effectLst/>
                          <a:latin typeface="Times New Roman" panose="02020603050405020304"/>
                          <a:ea typeface="方正书宋简体"/>
                        </a:rPr>
                        <a:t>DROP</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删除数据库或数据库对象</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dirty="0">
                          <a:effectLst/>
                          <a:latin typeface="Times New Roman" panose="02020603050405020304"/>
                          <a:ea typeface="方正书宋简体"/>
                        </a:rPr>
                        <a:t>不同数据库对象，其</a:t>
                      </a:r>
                      <a:r>
                        <a:rPr lang="en-US" sz="1400" kern="1000" dirty="0">
                          <a:effectLst/>
                          <a:latin typeface="Times New Roman" panose="02020603050405020304"/>
                          <a:ea typeface="方正书宋简体"/>
                        </a:rPr>
                        <a:t>DROP</a:t>
                      </a:r>
                      <a:r>
                        <a:rPr lang="zh-CN" sz="1400" kern="1000" dirty="0">
                          <a:effectLst/>
                          <a:latin typeface="Times New Roman" panose="02020603050405020304"/>
                          <a:ea typeface="方正书宋简体"/>
                        </a:rPr>
                        <a:t>语句的语法形式不同</a:t>
                      </a:r>
                      <a:endParaRPr lang="zh-CN" sz="1400" kern="1000" dirty="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5.1  T-SQL</a:t>
            </a:r>
            <a:r>
              <a:rPr lang="zh-CN" altLang="zh-CN" dirty="0">
                <a:effectLst/>
              </a:rPr>
              <a:t>语言</a:t>
            </a:r>
            <a:endParaRPr lang="zh-CN" altLang="en-US" dirty="0"/>
          </a:p>
        </p:txBody>
      </p:sp>
      <p:sp>
        <p:nvSpPr>
          <p:cNvPr id="3" name="TextBox 2"/>
          <p:cNvSpPr txBox="1"/>
          <p:nvPr/>
        </p:nvSpPr>
        <p:spPr>
          <a:xfrm>
            <a:off x="468313" y="1484313"/>
            <a:ext cx="8207375" cy="923925"/>
          </a:xfrm>
          <a:prstGeom prst="rect">
            <a:avLst/>
          </a:prstGeom>
          <a:noFill/>
        </p:spPr>
        <p:txBody>
          <a:bodyPr>
            <a:spAutoFit/>
          </a:bodyPr>
          <a:lstStyle/>
          <a:p>
            <a:pPr indent="539750" fontAlgn="auto">
              <a:spcBef>
                <a:spcPts val="0"/>
              </a:spcBef>
              <a:spcAft>
                <a:spcPts val="0"/>
              </a:spcAft>
              <a:defRPr/>
            </a:pPr>
            <a:r>
              <a:rPr lang="zh-CN" altLang="zh-CN" dirty="0">
                <a:latin typeface="+mn-lt"/>
                <a:ea typeface="+mn-ea"/>
              </a:rPr>
              <a:t>（</a:t>
            </a:r>
            <a:r>
              <a:rPr lang="en-US" altLang="zh-CN" dirty="0">
                <a:latin typeface="+mn-lt"/>
                <a:ea typeface="+mn-ea"/>
              </a:rPr>
              <a:t>2</a:t>
            </a:r>
            <a:r>
              <a:rPr lang="zh-CN" altLang="zh-CN" dirty="0">
                <a:latin typeface="+mn-lt"/>
                <a:ea typeface="+mn-ea"/>
              </a:rPr>
              <a:t>）数据操纵语言（</a:t>
            </a:r>
            <a:r>
              <a:rPr lang="en-US" altLang="zh-CN" dirty="0">
                <a:latin typeface="+mn-lt"/>
                <a:ea typeface="+mn-ea"/>
              </a:rPr>
              <a:t>DML</a:t>
            </a:r>
            <a:r>
              <a:rPr lang="zh-CN" altLang="zh-CN" dirty="0">
                <a:latin typeface="+mn-lt"/>
                <a:ea typeface="+mn-ea"/>
              </a:rPr>
              <a:t>）。</a:t>
            </a:r>
            <a:r>
              <a:rPr lang="en-US" altLang="zh-CN" dirty="0">
                <a:latin typeface="+mn-lt"/>
                <a:ea typeface="+mn-ea"/>
              </a:rPr>
              <a:t>DML</a:t>
            </a:r>
            <a:r>
              <a:rPr lang="zh-CN" altLang="zh-CN" dirty="0">
                <a:latin typeface="+mn-lt"/>
                <a:ea typeface="+mn-ea"/>
              </a:rPr>
              <a:t>用于操纵数据库中的各种对象，检索和修改数据。</a:t>
            </a:r>
            <a:r>
              <a:rPr lang="en-US" altLang="zh-CN" dirty="0">
                <a:latin typeface="+mn-lt"/>
                <a:ea typeface="+mn-ea"/>
              </a:rPr>
              <a:t>DML</a:t>
            </a:r>
            <a:r>
              <a:rPr lang="zh-CN" altLang="zh-CN" dirty="0">
                <a:latin typeface="+mn-lt"/>
                <a:ea typeface="+mn-ea"/>
              </a:rPr>
              <a:t>包括的主要语句及功能如表</a:t>
            </a:r>
            <a:r>
              <a:rPr lang="en-US" altLang="zh-CN" dirty="0">
                <a:latin typeface="+mn-lt"/>
                <a:ea typeface="+mn-ea"/>
              </a:rPr>
              <a:t>5.2</a:t>
            </a:r>
            <a:r>
              <a:rPr lang="zh-CN" altLang="zh-CN" dirty="0">
                <a:latin typeface="+mn-lt"/>
                <a:ea typeface="+mn-ea"/>
              </a:rPr>
              <a:t>所示。</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graphicFrame>
        <p:nvGraphicFramePr>
          <p:cNvPr id="5" name="表格 4"/>
          <p:cNvGraphicFramePr>
            <a:graphicFrameLocks noGrp="1"/>
          </p:cNvGraphicFramePr>
          <p:nvPr/>
        </p:nvGraphicFramePr>
        <p:xfrm>
          <a:off x="652463" y="2205038"/>
          <a:ext cx="8023225" cy="1906588"/>
        </p:xfrm>
        <a:graphic>
          <a:graphicData uri="http://schemas.openxmlformats.org/drawingml/2006/table">
            <a:tbl>
              <a:tblPr firstRow="1" firstCol="1" bandRow="1" bandCol="1"/>
              <a:tblGrid>
                <a:gridCol w="1317414"/>
                <a:gridCol w="2455107"/>
                <a:gridCol w="4250704"/>
              </a:tblGrid>
              <a:tr h="317765">
                <a:tc>
                  <a:txBody>
                    <a:bodyPr/>
                    <a:lstStyle/>
                    <a:p>
                      <a:pPr indent="254000" algn="ctr">
                        <a:spcBef>
                          <a:spcPts val="120"/>
                        </a:spcBef>
                        <a:spcAft>
                          <a:spcPts val="120"/>
                        </a:spcAft>
                      </a:pPr>
                      <a:r>
                        <a:rPr lang="zh-CN" sz="1400" kern="1000">
                          <a:effectLst/>
                          <a:latin typeface="Times New Roman" panose="02020603050405020304"/>
                          <a:ea typeface="方正书宋简体"/>
                        </a:rPr>
                        <a:t>语句</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功能</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说明</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7765">
                <a:tc>
                  <a:txBody>
                    <a:bodyPr/>
                    <a:lstStyle/>
                    <a:p>
                      <a:pPr indent="254000" algn="ctr">
                        <a:spcBef>
                          <a:spcPts val="120"/>
                        </a:spcBef>
                        <a:spcAft>
                          <a:spcPts val="120"/>
                        </a:spcAft>
                      </a:pPr>
                      <a:r>
                        <a:rPr lang="en-US" sz="1400" kern="1000">
                          <a:effectLst/>
                          <a:latin typeface="Times New Roman" panose="02020603050405020304"/>
                          <a:ea typeface="方正书宋简体"/>
                        </a:rPr>
                        <a:t>SELECT</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从表或视图中检索数据</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是使用最频繁的</a:t>
                      </a:r>
                      <a:r>
                        <a:rPr lang="en-US" sz="1400" kern="1000">
                          <a:effectLst/>
                          <a:latin typeface="Times New Roman" panose="02020603050405020304"/>
                          <a:ea typeface="方正书宋简体"/>
                        </a:rPr>
                        <a:t>SQL</a:t>
                      </a:r>
                      <a:r>
                        <a:rPr lang="zh-CN" sz="1400" kern="1000">
                          <a:effectLst/>
                          <a:latin typeface="Times New Roman" panose="02020603050405020304"/>
                          <a:ea typeface="方正书宋简体"/>
                        </a:rPr>
                        <a:t>语句之一</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7765">
                <a:tc>
                  <a:txBody>
                    <a:bodyPr/>
                    <a:lstStyle/>
                    <a:p>
                      <a:pPr indent="254000" algn="ctr">
                        <a:spcBef>
                          <a:spcPts val="120"/>
                        </a:spcBef>
                        <a:spcAft>
                          <a:spcPts val="120"/>
                        </a:spcAft>
                      </a:pPr>
                      <a:r>
                        <a:rPr lang="en-US" sz="1400" kern="1000">
                          <a:effectLst/>
                          <a:latin typeface="Times New Roman" panose="02020603050405020304"/>
                          <a:ea typeface="方正书宋简体"/>
                        </a:rPr>
                        <a:t>INSERT</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将数据插入到表或视图中</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en-US" sz="1400" kern="1000">
                          <a:effectLst/>
                          <a:latin typeface="Times New Roman" panose="02020603050405020304"/>
                          <a:ea typeface="方正书宋简体"/>
                        </a:rPr>
                        <a:t> </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5528">
                <a:tc>
                  <a:txBody>
                    <a:bodyPr/>
                    <a:lstStyle/>
                    <a:p>
                      <a:pPr indent="254000" algn="ctr">
                        <a:spcBef>
                          <a:spcPts val="120"/>
                        </a:spcBef>
                        <a:spcAft>
                          <a:spcPts val="120"/>
                        </a:spcAft>
                      </a:pPr>
                      <a:r>
                        <a:rPr lang="en-US" sz="1400" kern="1000">
                          <a:effectLst/>
                          <a:latin typeface="Times New Roman" panose="02020603050405020304"/>
                          <a:ea typeface="方正书宋简体"/>
                        </a:rPr>
                        <a:t>UPDATE</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修改表或视图中的数据</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既可修改表或视图的一行数据，也可修改一组或全部数据</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7765">
                <a:tc>
                  <a:txBody>
                    <a:bodyPr/>
                    <a:lstStyle/>
                    <a:p>
                      <a:pPr indent="254000" algn="ctr">
                        <a:spcBef>
                          <a:spcPts val="120"/>
                        </a:spcBef>
                        <a:spcAft>
                          <a:spcPts val="120"/>
                        </a:spcAft>
                      </a:pPr>
                      <a:r>
                        <a:rPr lang="en-US" sz="1400" kern="1000">
                          <a:effectLst/>
                          <a:latin typeface="Times New Roman" panose="02020603050405020304"/>
                          <a:ea typeface="方正书宋简体"/>
                        </a:rPr>
                        <a:t>DELETE</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从表或视图中删除数据</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dirty="0">
                          <a:effectLst/>
                          <a:latin typeface="Times New Roman" panose="02020603050405020304"/>
                          <a:ea typeface="方正书宋简体"/>
                        </a:rPr>
                        <a:t>可根据条件删除指定的数据</a:t>
                      </a:r>
                      <a:endParaRPr lang="zh-CN" sz="1400" kern="1000" dirty="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spd="slow">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5.1  T-SQL</a:t>
            </a:r>
            <a:r>
              <a:rPr lang="zh-CN" altLang="zh-CN" dirty="0">
                <a:effectLst/>
              </a:rPr>
              <a:t>语言</a:t>
            </a:r>
            <a:endParaRPr lang="zh-CN" altLang="en-US" dirty="0"/>
          </a:p>
        </p:txBody>
      </p:sp>
      <p:sp>
        <p:nvSpPr>
          <p:cNvPr id="3" name="TextBox 2"/>
          <p:cNvSpPr txBox="1"/>
          <p:nvPr/>
        </p:nvSpPr>
        <p:spPr>
          <a:xfrm>
            <a:off x="395288" y="1484313"/>
            <a:ext cx="8280400" cy="923925"/>
          </a:xfrm>
          <a:prstGeom prst="rect">
            <a:avLst/>
          </a:prstGeom>
          <a:noFill/>
        </p:spPr>
        <p:txBody>
          <a:bodyPr>
            <a:spAutoFit/>
          </a:bodyPr>
          <a:lstStyle/>
          <a:p>
            <a:pPr indent="446405" fontAlgn="auto">
              <a:spcBef>
                <a:spcPts val="0"/>
              </a:spcBef>
              <a:spcAft>
                <a:spcPts val="0"/>
              </a:spcAft>
              <a:defRPr/>
            </a:pPr>
            <a:r>
              <a:rPr lang="zh-CN" altLang="zh-CN" dirty="0">
                <a:latin typeface="+mn-lt"/>
                <a:ea typeface="+mn-ea"/>
              </a:rPr>
              <a:t>（</a:t>
            </a:r>
            <a:r>
              <a:rPr lang="en-US" altLang="zh-CN" dirty="0">
                <a:latin typeface="+mn-lt"/>
                <a:ea typeface="+mn-ea"/>
              </a:rPr>
              <a:t>3</a:t>
            </a:r>
            <a:r>
              <a:rPr lang="zh-CN" altLang="zh-CN" dirty="0">
                <a:latin typeface="+mn-lt"/>
                <a:ea typeface="+mn-ea"/>
              </a:rPr>
              <a:t>）数据控制语言（</a:t>
            </a:r>
            <a:r>
              <a:rPr lang="en-US" altLang="zh-CN" dirty="0">
                <a:latin typeface="+mn-lt"/>
                <a:ea typeface="+mn-ea"/>
              </a:rPr>
              <a:t>DCL</a:t>
            </a:r>
            <a:r>
              <a:rPr lang="zh-CN" altLang="zh-CN" dirty="0">
                <a:latin typeface="+mn-lt"/>
                <a:ea typeface="+mn-ea"/>
              </a:rPr>
              <a:t>）。</a:t>
            </a:r>
            <a:r>
              <a:rPr lang="en-US" altLang="zh-CN" dirty="0">
                <a:latin typeface="+mn-lt"/>
                <a:ea typeface="+mn-ea"/>
              </a:rPr>
              <a:t>DCL</a:t>
            </a:r>
            <a:r>
              <a:rPr lang="zh-CN" altLang="zh-CN" dirty="0">
                <a:latin typeface="+mn-lt"/>
                <a:ea typeface="+mn-ea"/>
              </a:rPr>
              <a:t>用于安全管理，确定哪些用户可以查看或修改数据库中的数据。</a:t>
            </a:r>
            <a:r>
              <a:rPr lang="en-US" altLang="zh-CN" dirty="0">
                <a:latin typeface="+mn-lt"/>
                <a:ea typeface="+mn-ea"/>
              </a:rPr>
              <a:t>DCL</a:t>
            </a:r>
            <a:r>
              <a:rPr lang="zh-CN" altLang="zh-CN" dirty="0">
                <a:latin typeface="+mn-lt"/>
                <a:ea typeface="+mn-ea"/>
              </a:rPr>
              <a:t>包括的主要语句及功能如表</a:t>
            </a:r>
            <a:r>
              <a:rPr lang="en-US" altLang="zh-CN" dirty="0">
                <a:latin typeface="+mn-lt"/>
                <a:ea typeface="+mn-ea"/>
              </a:rPr>
              <a:t>5.3</a:t>
            </a:r>
            <a:r>
              <a:rPr lang="zh-CN" altLang="zh-CN" dirty="0">
                <a:latin typeface="+mn-lt"/>
                <a:ea typeface="+mn-ea"/>
              </a:rPr>
              <a:t>所示。</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graphicFrame>
        <p:nvGraphicFramePr>
          <p:cNvPr id="4" name="表格 3"/>
          <p:cNvGraphicFramePr>
            <a:graphicFrameLocks noGrp="1"/>
          </p:cNvGraphicFramePr>
          <p:nvPr/>
        </p:nvGraphicFramePr>
        <p:xfrm>
          <a:off x="652463" y="2205038"/>
          <a:ext cx="8023225" cy="2114550"/>
        </p:xfrm>
        <a:graphic>
          <a:graphicData uri="http://schemas.openxmlformats.org/drawingml/2006/table">
            <a:tbl>
              <a:tblPr firstRow="1" firstCol="1" bandRow="1" bandCol="1"/>
              <a:tblGrid>
                <a:gridCol w="1327249"/>
                <a:gridCol w="2088232"/>
                <a:gridCol w="4607744"/>
              </a:tblGrid>
              <a:tr h="302079">
                <a:tc>
                  <a:txBody>
                    <a:bodyPr/>
                    <a:lstStyle/>
                    <a:p>
                      <a:pPr indent="254000" algn="ctr">
                        <a:spcBef>
                          <a:spcPts val="120"/>
                        </a:spcBef>
                        <a:spcAft>
                          <a:spcPts val="120"/>
                        </a:spcAft>
                      </a:pPr>
                      <a:r>
                        <a:rPr lang="zh-CN" sz="1400" kern="1000">
                          <a:effectLst/>
                          <a:latin typeface="Times New Roman" panose="02020603050405020304"/>
                          <a:ea typeface="方正书宋简体"/>
                        </a:rPr>
                        <a:t>语句</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功能</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说明</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4157">
                <a:tc>
                  <a:txBody>
                    <a:bodyPr/>
                    <a:lstStyle/>
                    <a:p>
                      <a:pPr indent="254000" algn="ctr">
                        <a:spcBef>
                          <a:spcPts val="120"/>
                        </a:spcBef>
                        <a:spcAft>
                          <a:spcPts val="120"/>
                        </a:spcAft>
                      </a:pPr>
                      <a:r>
                        <a:rPr lang="en-US" sz="1400" kern="1000">
                          <a:effectLst/>
                          <a:latin typeface="Times New Roman" panose="02020603050405020304"/>
                          <a:ea typeface="方正书宋简体"/>
                        </a:rPr>
                        <a:t>GRANT</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授予权限</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可把语句许可或对象许可的权限授予其他用户和角色</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4157">
                <a:tc>
                  <a:txBody>
                    <a:bodyPr/>
                    <a:lstStyle/>
                    <a:p>
                      <a:pPr indent="254000" algn="ctr">
                        <a:spcBef>
                          <a:spcPts val="120"/>
                        </a:spcBef>
                        <a:spcAft>
                          <a:spcPts val="120"/>
                        </a:spcAft>
                      </a:pPr>
                      <a:r>
                        <a:rPr lang="en-US" sz="1400" kern="1000">
                          <a:effectLst/>
                          <a:latin typeface="Times New Roman" panose="02020603050405020304"/>
                          <a:ea typeface="方正书宋简体"/>
                        </a:rPr>
                        <a:t>REVOKE</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收回权限</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与</a:t>
                      </a:r>
                      <a:r>
                        <a:rPr lang="en-US" sz="1400" kern="1000">
                          <a:effectLst/>
                          <a:latin typeface="Times New Roman" panose="02020603050405020304"/>
                          <a:ea typeface="方正书宋简体"/>
                        </a:rPr>
                        <a:t>GRANT</a:t>
                      </a:r>
                      <a:r>
                        <a:rPr lang="zh-CN" sz="1400" kern="1000">
                          <a:effectLst/>
                          <a:latin typeface="Times New Roman" panose="02020603050405020304"/>
                          <a:ea typeface="方正书宋简体"/>
                        </a:rPr>
                        <a:t>的功能相反，但不影响该用户或角色从其他角色中作为成员继承许可权限</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4157">
                <a:tc>
                  <a:txBody>
                    <a:bodyPr/>
                    <a:lstStyle/>
                    <a:p>
                      <a:pPr indent="254000" algn="ctr">
                        <a:spcBef>
                          <a:spcPts val="120"/>
                        </a:spcBef>
                        <a:spcAft>
                          <a:spcPts val="120"/>
                        </a:spcAft>
                      </a:pPr>
                      <a:r>
                        <a:rPr lang="en-US" sz="1400" kern="1000">
                          <a:effectLst/>
                          <a:latin typeface="Times New Roman" panose="02020603050405020304"/>
                          <a:ea typeface="方正书宋简体"/>
                        </a:rPr>
                        <a:t>DENY</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收回权限，并禁止从其他角色继承许可权限</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dirty="0">
                          <a:effectLst/>
                          <a:latin typeface="Times New Roman" panose="02020603050405020304"/>
                          <a:ea typeface="方正书宋简体"/>
                        </a:rPr>
                        <a:t>功能与</a:t>
                      </a:r>
                      <a:r>
                        <a:rPr lang="en-US" sz="1400" kern="1000" dirty="0">
                          <a:effectLst/>
                          <a:latin typeface="Times New Roman" panose="02020603050405020304"/>
                          <a:ea typeface="方正书宋简体"/>
                        </a:rPr>
                        <a:t>REVOKE</a:t>
                      </a:r>
                      <a:r>
                        <a:rPr lang="zh-CN" sz="1400" kern="1000" dirty="0">
                          <a:effectLst/>
                          <a:latin typeface="Times New Roman" panose="02020603050405020304"/>
                          <a:ea typeface="方正书宋简体"/>
                        </a:rPr>
                        <a:t>相似，不同之处：除收回权限外，还禁止从其他角色继承许可权限</a:t>
                      </a:r>
                      <a:endParaRPr lang="zh-CN" sz="1400" kern="1000" dirty="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9240" name="TextBox 4"/>
          <p:cNvSpPr txBox="1">
            <a:spLocks noChangeArrowheads="1"/>
          </p:cNvSpPr>
          <p:nvPr/>
        </p:nvSpPr>
        <p:spPr bwMode="auto">
          <a:xfrm>
            <a:off x="395288" y="4508500"/>
            <a:ext cx="82804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zh-CN"/>
              <a:t>（</a:t>
            </a:r>
            <a:r>
              <a:rPr lang="en-US" altLang="zh-CN"/>
              <a:t>4</a:t>
            </a:r>
            <a:r>
              <a:rPr lang="zh-CN" altLang="zh-CN"/>
              <a:t>）</a:t>
            </a:r>
            <a:r>
              <a:rPr lang="en-US" altLang="zh-CN"/>
              <a:t>T-SQL</a:t>
            </a:r>
            <a:r>
              <a:rPr lang="zh-CN" altLang="zh-CN"/>
              <a:t>增加的语言元素。这部分不是</a:t>
            </a:r>
            <a:r>
              <a:rPr lang="en-US" altLang="zh-CN"/>
              <a:t>ANSI SQL</a:t>
            </a:r>
            <a:r>
              <a:rPr lang="zh-CN" altLang="zh-CN"/>
              <a:t>所包含的内容，而是微软为了用户编程的方便而增加的语言元素。这些语言元素包括变量、运算符、流程控制语句、函数等。</a:t>
            </a:r>
            <a:endParaRPr lang="zh-CN" altLang="en-US"/>
          </a:p>
        </p:txBody>
      </p:sp>
    </p:spTree>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5222875"/>
            <a:ext cx="7848600" cy="6540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3141663"/>
            <a:ext cx="7848600" cy="9350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5.2  </a:t>
            </a:r>
            <a:r>
              <a:rPr lang="zh-CN" altLang="zh-CN" dirty="0">
                <a:effectLst/>
              </a:rPr>
              <a:t>常量、变量与自定义数据类型</a:t>
            </a:r>
            <a:endParaRPr lang="zh-CN" altLang="zh-CN" dirty="0">
              <a:effectLst/>
            </a:endParaRPr>
          </a:p>
        </p:txBody>
      </p:sp>
      <p:sp>
        <p:nvSpPr>
          <p:cNvPr id="3" name="TextBox 2"/>
          <p:cNvSpPr txBox="1"/>
          <p:nvPr/>
        </p:nvSpPr>
        <p:spPr>
          <a:xfrm>
            <a:off x="539750" y="1412875"/>
            <a:ext cx="8208963" cy="4678363"/>
          </a:xfrm>
          <a:prstGeom prst="rect">
            <a:avLst/>
          </a:prstGeom>
          <a:noFill/>
        </p:spPr>
        <p:txBody>
          <a:bodyPr>
            <a:spAutoFit/>
          </a:bodyPr>
          <a:lstStyle/>
          <a:p>
            <a:pPr indent="446405" fontAlgn="auto">
              <a:spcBef>
                <a:spcPts val="0"/>
              </a:spcBef>
              <a:spcAft>
                <a:spcPts val="0"/>
              </a:spcAft>
              <a:defRPr/>
            </a:pPr>
            <a:r>
              <a:rPr lang="en-US" altLang="zh-CN" sz="2000" b="1" dirty="0">
                <a:solidFill>
                  <a:srgbClr val="FFFF00"/>
                </a:solidFill>
                <a:latin typeface="+mn-lt"/>
                <a:ea typeface="+mn-ea"/>
              </a:rPr>
              <a:t>5.2.1  </a:t>
            </a:r>
            <a:r>
              <a:rPr lang="zh-CN" altLang="zh-CN" sz="2000" b="1" dirty="0">
                <a:solidFill>
                  <a:srgbClr val="FFFF00"/>
                </a:solidFill>
                <a:latin typeface="+mn-lt"/>
                <a:ea typeface="+mn-ea"/>
              </a:rPr>
              <a:t>常量</a:t>
            </a:r>
            <a:endParaRPr lang="zh-CN" altLang="zh-CN" sz="2000" b="1" dirty="0">
              <a:solidFill>
                <a:srgbClr val="FFFF00"/>
              </a:solidFill>
              <a:latin typeface="+mn-lt"/>
              <a:ea typeface="+mn-ea"/>
            </a:endParaRPr>
          </a:p>
          <a:p>
            <a:pPr indent="446405" fontAlgn="auto">
              <a:spcBef>
                <a:spcPts val="0"/>
              </a:spcBef>
              <a:spcAft>
                <a:spcPts val="0"/>
              </a:spcAft>
              <a:defRPr/>
            </a:pPr>
            <a:r>
              <a:rPr lang="en-US" altLang="zh-CN" b="1" dirty="0">
                <a:solidFill>
                  <a:srgbClr val="C00000"/>
                </a:solidFill>
                <a:latin typeface="+mn-lt"/>
                <a:ea typeface="+mn-ea"/>
              </a:rPr>
              <a:t>1</a:t>
            </a:r>
            <a:r>
              <a:rPr lang="zh-CN" altLang="zh-CN" b="1" dirty="0">
                <a:solidFill>
                  <a:srgbClr val="C00000"/>
                </a:solidFill>
                <a:latin typeface="+mn-lt"/>
                <a:ea typeface="+mn-ea"/>
              </a:rPr>
              <a:t>．字符串常量</a:t>
            </a:r>
            <a:endParaRPr lang="zh-CN" altLang="zh-CN" b="1" dirty="0">
              <a:solidFill>
                <a:srgbClr val="C00000"/>
              </a:solidFill>
              <a:latin typeface="+mn-lt"/>
              <a:ea typeface="+mn-ea"/>
            </a:endParaRPr>
          </a:p>
          <a:p>
            <a:pPr indent="446405" fontAlgn="ctr">
              <a:spcBef>
                <a:spcPts val="0"/>
              </a:spcBef>
              <a:spcAft>
                <a:spcPts val="0"/>
              </a:spcAft>
              <a:defRPr/>
            </a:pPr>
            <a:r>
              <a:rPr lang="zh-CN" altLang="zh-CN" dirty="0">
                <a:latin typeface="+mn-lt"/>
                <a:ea typeface="+mn-ea"/>
              </a:rPr>
              <a:t>字符串常量分为</a:t>
            </a:r>
            <a:r>
              <a:rPr lang="en-US" altLang="zh-CN" dirty="0">
                <a:latin typeface="+mn-lt"/>
                <a:ea typeface="+mn-ea"/>
              </a:rPr>
              <a:t>ASCII</a:t>
            </a:r>
            <a:r>
              <a:rPr lang="zh-CN" altLang="zh-CN" dirty="0">
                <a:latin typeface="+mn-lt"/>
                <a:ea typeface="+mn-ea"/>
              </a:rPr>
              <a:t>字符串常量和</a:t>
            </a:r>
            <a:r>
              <a:rPr lang="en-US" altLang="zh-CN" dirty="0">
                <a:latin typeface="+mn-lt"/>
                <a:ea typeface="+mn-ea"/>
              </a:rPr>
              <a:t>Unicode</a:t>
            </a:r>
            <a:r>
              <a:rPr lang="zh-CN" altLang="zh-CN" dirty="0">
                <a:latin typeface="+mn-lt"/>
                <a:ea typeface="+mn-ea"/>
              </a:rPr>
              <a:t>字符串常量。</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a:t>
            </a:r>
            <a:r>
              <a:rPr lang="en-US" altLang="zh-CN" dirty="0">
                <a:latin typeface="+mn-lt"/>
                <a:ea typeface="+mn-ea"/>
              </a:rPr>
              <a:t>1</a:t>
            </a:r>
            <a:r>
              <a:rPr lang="zh-CN" altLang="zh-CN" dirty="0">
                <a:latin typeface="+mn-lt"/>
                <a:ea typeface="+mn-ea"/>
              </a:rPr>
              <a:t>）</a:t>
            </a:r>
            <a:r>
              <a:rPr lang="en-US" altLang="zh-CN" dirty="0">
                <a:latin typeface="+mn-lt"/>
                <a:ea typeface="+mn-ea"/>
              </a:rPr>
              <a:t>ASCII</a:t>
            </a:r>
            <a:r>
              <a:rPr lang="zh-CN" altLang="zh-CN" dirty="0">
                <a:latin typeface="+mn-lt"/>
                <a:ea typeface="+mn-ea"/>
              </a:rPr>
              <a:t>字符串常量。</a:t>
            </a:r>
            <a:r>
              <a:rPr lang="en-US" altLang="zh-CN" dirty="0">
                <a:latin typeface="+mn-lt"/>
                <a:ea typeface="+mn-ea"/>
              </a:rPr>
              <a:t>ASCII</a:t>
            </a:r>
            <a:r>
              <a:rPr lang="zh-CN" altLang="zh-CN" dirty="0">
                <a:latin typeface="+mn-lt"/>
                <a:ea typeface="+mn-ea"/>
              </a:rPr>
              <a:t>字符串常量是用单引号括起来，由</a:t>
            </a:r>
            <a:r>
              <a:rPr lang="en-US" altLang="zh-CN" dirty="0">
                <a:latin typeface="+mn-lt"/>
                <a:ea typeface="+mn-ea"/>
              </a:rPr>
              <a:t>ASCII</a:t>
            </a:r>
            <a:r>
              <a:rPr lang="zh-CN" altLang="zh-CN" dirty="0">
                <a:latin typeface="+mn-lt"/>
                <a:ea typeface="+mn-ea"/>
              </a:rPr>
              <a:t>字符构成的符号串。</a:t>
            </a:r>
            <a:endParaRPr lang="zh-CN" altLang="zh-CN" dirty="0">
              <a:latin typeface="+mn-lt"/>
              <a:ea typeface="+mn-ea"/>
            </a:endParaRPr>
          </a:p>
          <a:p>
            <a:pPr indent="446405" fontAlgn="ctr">
              <a:spcBef>
                <a:spcPts val="0"/>
              </a:spcBef>
              <a:spcAft>
                <a:spcPts val="0"/>
              </a:spcAft>
              <a:defRPr/>
            </a:pPr>
            <a:r>
              <a:rPr lang="en-US" altLang="zh-CN" dirty="0">
                <a:latin typeface="+mn-lt"/>
                <a:ea typeface="+mn-ea"/>
              </a:rPr>
              <a:t>ASCII</a:t>
            </a:r>
            <a:r>
              <a:rPr lang="zh-CN" altLang="zh-CN" dirty="0">
                <a:latin typeface="+mn-lt"/>
                <a:ea typeface="+mn-ea"/>
              </a:rPr>
              <a:t>字符串常量举例：</a:t>
            </a:r>
            <a:endParaRPr lang="zh-CN" altLang="zh-CN" dirty="0">
              <a:latin typeface="+mn-lt"/>
              <a:ea typeface="+mn-ea"/>
            </a:endParaRPr>
          </a:p>
          <a:p>
            <a:pPr indent="446405" fontAlgn="auto">
              <a:spcBef>
                <a:spcPts val="0"/>
              </a:spcBef>
              <a:spcAft>
                <a:spcPts val="0"/>
              </a:spcAft>
              <a:defRPr/>
            </a:pPr>
            <a:r>
              <a:rPr lang="en-US" altLang="zh-CN" sz="1600" dirty="0">
                <a:latin typeface="+mn-lt"/>
                <a:ea typeface="+mn-ea"/>
              </a:rPr>
              <a:t>'China'</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'How do you!'</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'O''</a:t>
            </a:r>
            <a:r>
              <a:rPr lang="en-US" altLang="zh-CN" sz="1600" dirty="0" err="1">
                <a:latin typeface="+mn-lt"/>
                <a:ea typeface="+mn-ea"/>
              </a:rPr>
              <a:t>Bbaar</a:t>
            </a:r>
            <a:r>
              <a:rPr lang="en-US" altLang="zh-CN" sz="1600" dirty="0">
                <a:latin typeface="+mn-lt"/>
                <a:ea typeface="+mn-ea"/>
              </a:rPr>
              <a:t>'</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a:t>
            </a:r>
            <a:r>
              <a:rPr lang="zh-CN" altLang="zh-CN" sz="1600" dirty="0">
                <a:latin typeface="+mn-lt"/>
                <a:ea typeface="+mn-ea"/>
              </a:rPr>
              <a:t>如果单引号中的字符串包含引号，可以使用两个单引号来表示嵌入的单引号。</a:t>
            </a:r>
            <a:r>
              <a:rPr lang="en-US" altLang="zh-CN" sz="1600" dirty="0">
                <a:latin typeface="+mn-lt"/>
                <a:ea typeface="+mn-ea"/>
              </a:rPr>
              <a:t>*/</a:t>
            </a:r>
            <a:endParaRPr lang="zh-CN" altLang="zh-CN" sz="1600" dirty="0">
              <a:latin typeface="+mn-lt"/>
              <a:ea typeface="+mn-ea"/>
            </a:endParaRPr>
          </a:p>
          <a:p>
            <a:pPr indent="446405" fontAlgn="ctr">
              <a:spcBef>
                <a:spcPts val="0"/>
              </a:spcBef>
              <a:spcAft>
                <a:spcPts val="0"/>
              </a:spcAft>
              <a:defRPr/>
            </a:pPr>
            <a:r>
              <a:rPr lang="zh-CN" altLang="zh-CN" dirty="0">
                <a:latin typeface="+mn-lt"/>
                <a:ea typeface="+mn-ea"/>
              </a:rPr>
              <a:t>（</a:t>
            </a:r>
            <a:r>
              <a:rPr lang="en-US" altLang="zh-CN" dirty="0">
                <a:latin typeface="+mn-lt"/>
                <a:ea typeface="+mn-ea"/>
              </a:rPr>
              <a:t>2</a:t>
            </a:r>
            <a:r>
              <a:rPr lang="zh-CN" altLang="zh-CN" dirty="0">
                <a:latin typeface="+mn-lt"/>
                <a:ea typeface="+mn-ea"/>
              </a:rPr>
              <a:t>）</a:t>
            </a:r>
            <a:r>
              <a:rPr lang="en-US" altLang="zh-CN" dirty="0">
                <a:latin typeface="+mn-lt"/>
                <a:ea typeface="+mn-ea"/>
              </a:rPr>
              <a:t>Unicode</a:t>
            </a:r>
            <a:r>
              <a:rPr lang="zh-CN" altLang="zh-CN" dirty="0">
                <a:latin typeface="+mn-lt"/>
                <a:ea typeface="+mn-ea"/>
              </a:rPr>
              <a:t>字符串常量。</a:t>
            </a:r>
            <a:r>
              <a:rPr lang="en-US" altLang="zh-CN" dirty="0">
                <a:latin typeface="+mn-lt"/>
                <a:ea typeface="+mn-ea"/>
              </a:rPr>
              <a:t>Unicode</a:t>
            </a:r>
            <a:r>
              <a:rPr lang="zh-CN" altLang="zh-CN" dirty="0">
                <a:latin typeface="+mn-lt"/>
                <a:ea typeface="+mn-ea"/>
              </a:rPr>
              <a:t>字符串常量与</a:t>
            </a:r>
            <a:r>
              <a:rPr lang="en-US" altLang="zh-CN" dirty="0">
                <a:latin typeface="+mn-lt"/>
                <a:ea typeface="+mn-ea"/>
              </a:rPr>
              <a:t>ASCII</a:t>
            </a:r>
            <a:r>
              <a:rPr lang="zh-CN" altLang="zh-CN" dirty="0">
                <a:latin typeface="+mn-lt"/>
                <a:ea typeface="+mn-ea"/>
              </a:rPr>
              <a:t>字符串常量相似，但它前面有一个</a:t>
            </a:r>
            <a:r>
              <a:rPr lang="en-US" altLang="zh-CN" dirty="0">
                <a:latin typeface="+mn-lt"/>
                <a:ea typeface="+mn-ea"/>
              </a:rPr>
              <a:t>N</a:t>
            </a:r>
            <a:r>
              <a:rPr lang="zh-CN" altLang="zh-CN" dirty="0">
                <a:latin typeface="+mn-lt"/>
                <a:ea typeface="+mn-ea"/>
              </a:rPr>
              <a:t>标识符（</a:t>
            </a:r>
            <a:r>
              <a:rPr lang="en-US" altLang="zh-CN" dirty="0">
                <a:latin typeface="+mn-lt"/>
                <a:ea typeface="+mn-ea"/>
              </a:rPr>
              <a:t>N</a:t>
            </a:r>
            <a:r>
              <a:rPr lang="zh-CN" altLang="zh-CN" dirty="0">
                <a:latin typeface="+mn-lt"/>
                <a:ea typeface="+mn-ea"/>
              </a:rPr>
              <a:t>代表</a:t>
            </a:r>
            <a:r>
              <a:rPr lang="en-US" altLang="zh-CN" dirty="0">
                <a:latin typeface="+mn-lt"/>
                <a:ea typeface="+mn-ea"/>
              </a:rPr>
              <a:t>SQL-92</a:t>
            </a:r>
            <a:r>
              <a:rPr lang="zh-CN" altLang="zh-CN" dirty="0">
                <a:latin typeface="+mn-lt"/>
                <a:ea typeface="+mn-ea"/>
              </a:rPr>
              <a:t>标准中的国际语言</a:t>
            </a:r>
            <a:r>
              <a:rPr lang="en-US" altLang="zh-CN" dirty="0">
                <a:latin typeface="+mn-lt"/>
                <a:ea typeface="+mn-ea"/>
              </a:rPr>
              <a:t>National Language</a:t>
            </a:r>
            <a:r>
              <a:rPr lang="zh-CN" altLang="zh-CN" dirty="0">
                <a:latin typeface="+mn-lt"/>
                <a:ea typeface="+mn-ea"/>
              </a:rPr>
              <a:t>），</a:t>
            </a:r>
            <a:r>
              <a:rPr lang="en-US" altLang="zh-CN" dirty="0">
                <a:latin typeface="+mn-lt"/>
                <a:ea typeface="+mn-ea"/>
              </a:rPr>
              <a:t>N</a:t>
            </a:r>
            <a:r>
              <a:rPr lang="zh-CN" altLang="zh-CN" dirty="0">
                <a:latin typeface="+mn-lt"/>
                <a:ea typeface="+mn-ea"/>
              </a:rPr>
              <a:t>前缀必须为大写字母。</a:t>
            </a:r>
            <a:endParaRPr lang="zh-CN" altLang="zh-CN" dirty="0">
              <a:latin typeface="+mn-lt"/>
              <a:ea typeface="+mn-ea"/>
            </a:endParaRPr>
          </a:p>
          <a:p>
            <a:pPr indent="446405" fontAlgn="ctr">
              <a:spcBef>
                <a:spcPts val="0"/>
              </a:spcBef>
              <a:spcAft>
                <a:spcPts val="0"/>
              </a:spcAft>
              <a:defRPr/>
            </a:pPr>
            <a:r>
              <a:rPr lang="en-US" altLang="zh-CN" dirty="0">
                <a:latin typeface="+mn-lt"/>
                <a:ea typeface="+mn-ea"/>
              </a:rPr>
              <a:t>Unicode</a:t>
            </a:r>
            <a:r>
              <a:rPr lang="zh-CN" altLang="zh-CN" dirty="0">
                <a:latin typeface="+mn-lt"/>
                <a:ea typeface="+mn-ea"/>
              </a:rPr>
              <a:t>字符串常量举例：</a:t>
            </a:r>
            <a:endParaRPr lang="zh-CN" altLang="zh-CN" dirty="0">
              <a:latin typeface="+mn-lt"/>
              <a:ea typeface="+mn-ea"/>
            </a:endParaRPr>
          </a:p>
          <a:p>
            <a:pPr indent="446405" fontAlgn="auto">
              <a:spcBef>
                <a:spcPts val="0"/>
              </a:spcBef>
              <a:spcAft>
                <a:spcPts val="0"/>
              </a:spcAft>
              <a:defRPr/>
            </a:pPr>
            <a:r>
              <a:rPr lang="en-US" altLang="zh-CN" dirty="0" err="1">
                <a:latin typeface="+mn-lt"/>
                <a:ea typeface="+mn-ea"/>
              </a:rPr>
              <a:t>N'China</a:t>
            </a:r>
            <a:r>
              <a:rPr lang="en-US" altLang="zh-CN" dirty="0">
                <a:latin typeface="+mn-lt"/>
                <a:ea typeface="+mn-ea"/>
              </a:rPr>
              <a:t> '</a:t>
            </a:r>
            <a:endParaRPr lang="zh-CN" altLang="zh-CN" dirty="0">
              <a:latin typeface="+mn-lt"/>
              <a:ea typeface="+mn-ea"/>
            </a:endParaRPr>
          </a:p>
          <a:p>
            <a:pPr indent="446405" fontAlgn="auto">
              <a:spcBef>
                <a:spcPts val="0"/>
              </a:spcBef>
              <a:spcAft>
                <a:spcPts val="0"/>
              </a:spcAft>
              <a:defRPr/>
            </a:pPr>
            <a:r>
              <a:rPr lang="en-US" altLang="zh-CN" dirty="0" err="1">
                <a:latin typeface="+mn-lt"/>
                <a:ea typeface="+mn-ea"/>
              </a:rPr>
              <a:t>N'How</a:t>
            </a:r>
            <a:r>
              <a:rPr lang="en-US" altLang="zh-CN" dirty="0">
                <a:latin typeface="+mn-lt"/>
                <a:ea typeface="+mn-ea"/>
              </a:rPr>
              <a:t> do you!'</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3933825"/>
            <a:ext cx="7848600" cy="10795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276475"/>
            <a:ext cx="7848600" cy="7921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5.2.1  </a:t>
            </a:r>
            <a:r>
              <a:rPr lang="zh-CN" altLang="zh-CN" dirty="0">
                <a:effectLst/>
              </a:rPr>
              <a:t>常量</a:t>
            </a:r>
            <a:endParaRPr lang="zh-CN" altLang="zh-CN" dirty="0">
              <a:effectLst/>
            </a:endParaRPr>
          </a:p>
        </p:txBody>
      </p:sp>
      <p:sp>
        <p:nvSpPr>
          <p:cNvPr id="11269" name="TextBox 2"/>
          <p:cNvSpPr txBox="1">
            <a:spLocks noChangeArrowheads="1"/>
          </p:cNvSpPr>
          <p:nvPr/>
        </p:nvSpPr>
        <p:spPr bwMode="auto">
          <a:xfrm>
            <a:off x="468313" y="1412875"/>
            <a:ext cx="8207375"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2</a:t>
            </a:r>
            <a:r>
              <a:rPr lang="zh-CN" altLang="zh-CN" b="1">
                <a:solidFill>
                  <a:srgbClr val="C00000"/>
                </a:solidFill>
              </a:rPr>
              <a:t>．整型常量</a:t>
            </a:r>
            <a:endParaRPr lang="zh-CN" altLang="zh-CN" b="1">
              <a:solidFill>
                <a:srgbClr val="C00000"/>
              </a:solidFill>
            </a:endParaRPr>
          </a:p>
          <a:p>
            <a:pPr eaLnBrk="1" fontAlgn="ctr" hangingPunct="1"/>
            <a:r>
              <a:rPr lang="zh-CN" altLang="zh-CN"/>
              <a:t>十六进制整型常量的表示：前辍</a:t>
            </a:r>
            <a:r>
              <a:rPr lang="en-US" altLang="zh-CN"/>
              <a:t>0x</a:t>
            </a:r>
            <a:r>
              <a:rPr lang="zh-CN" altLang="zh-CN"/>
              <a:t>后跟十六进制数字串。</a:t>
            </a:r>
            <a:endParaRPr lang="zh-CN" altLang="zh-CN"/>
          </a:p>
          <a:p>
            <a:pPr eaLnBrk="1" fontAlgn="ctr" hangingPunct="1"/>
            <a:r>
              <a:rPr lang="zh-CN" altLang="zh-CN"/>
              <a:t>十六进制常量举例：</a:t>
            </a:r>
            <a:endParaRPr lang="zh-CN" altLang="zh-CN"/>
          </a:p>
          <a:p>
            <a:pPr eaLnBrk="1" hangingPunct="1"/>
            <a:r>
              <a:rPr lang="en-US" altLang="zh-CN"/>
              <a:t>0xEBF</a:t>
            </a:r>
            <a:endParaRPr lang="zh-CN" altLang="zh-CN"/>
          </a:p>
          <a:p>
            <a:pPr eaLnBrk="1" hangingPunct="1"/>
            <a:r>
              <a:rPr lang="en-US" altLang="zh-CN"/>
              <a:t>0x69048AEFDD010E</a:t>
            </a:r>
            <a:endParaRPr lang="zh-CN" altLang="zh-CN"/>
          </a:p>
          <a:p>
            <a:pPr eaLnBrk="1" hangingPunct="1"/>
            <a:r>
              <a:rPr lang="en-US" altLang="zh-CN"/>
              <a:t>0x      					/*</a:t>
            </a:r>
            <a:r>
              <a:rPr lang="zh-CN" altLang="zh-CN"/>
              <a:t>空十六进制常量</a:t>
            </a:r>
            <a:r>
              <a:rPr lang="en-US" altLang="zh-CN"/>
              <a:t>*/</a:t>
            </a:r>
            <a:endParaRPr lang="zh-CN" altLang="zh-CN"/>
          </a:p>
          <a:p>
            <a:pPr eaLnBrk="1" fontAlgn="ctr" hangingPunct="1"/>
            <a:r>
              <a:rPr lang="zh-CN" altLang="zh-CN"/>
              <a:t>二进制整型常量的表示：即数字</a:t>
            </a:r>
            <a:r>
              <a:rPr lang="en-US" altLang="zh-CN"/>
              <a:t>0</a:t>
            </a:r>
            <a:r>
              <a:rPr lang="zh-CN" altLang="zh-CN"/>
              <a:t>或</a:t>
            </a:r>
            <a:r>
              <a:rPr lang="en-US" altLang="zh-CN"/>
              <a:t>1</a:t>
            </a:r>
            <a:r>
              <a:rPr lang="zh-CN" altLang="zh-CN"/>
              <a:t>，并且不使用引号。如果使用一个大于</a:t>
            </a:r>
            <a:r>
              <a:rPr lang="en-US" altLang="zh-CN"/>
              <a:t>1</a:t>
            </a:r>
            <a:r>
              <a:rPr lang="zh-CN" altLang="zh-CN"/>
              <a:t>的数字，它将被转换为</a:t>
            </a:r>
            <a:r>
              <a:rPr lang="en-US" altLang="zh-CN"/>
              <a:t>1</a:t>
            </a:r>
            <a:r>
              <a:rPr lang="zh-CN" altLang="zh-CN"/>
              <a:t>。</a:t>
            </a:r>
            <a:endParaRPr lang="zh-CN" altLang="zh-CN"/>
          </a:p>
          <a:p>
            <a:pPr eaLnBrk="1" fontAlgn="ctr" hangingPunct="1"/>
            <a:r>
              <a:rPr lang="zh-CN" altLang="zh-CN"/>
              <a:t>十进制整型常量即不带小数点的十进制数，例如：</a:t>
            </a:r>
            <a:endParaRPr lang="zh-CN" altLang="zh-CN"/>
          </a:p>
          <a:p>
            <a:pPr eaLnBrk="1" hangingPunct="1"/>
            <a:r>
              <a:rPr lang="en-US" altLang="zh-CN"/>
              <a:t>1894</a:t>
            </a:r>
            <a:endParaRPr lang="zh-CN" altLang="zh-CN"/>
          </a:p>
          <a:p>
            <a:pPr eaLnBrk="1" hangingPunct="1"/>
            <a:r>
              <a:rPr lang="en-US" altLang="zh-CN"/>
              <a:t>2</a:t>
            </a:r>
            <a:endParaRPr lang="zh-CN" altLang="zh-CN"/>
          </a:p>
          <a:p>
            <a:pPr eaLnBrk="1" hangingPunct="1"/>
            <a:r>
              <a:rPr lang="en-US" altLang="zh-CN"/>
              <a:t>+145345234</a:t>
            </a:r>
            <a:endParaRPr lang="zh-CN" altLang="zh-CN"/>
          </a:p>
          <a:p>
            <a:pPr eaLnBrk="1" hangingPunct="1"/>
            <a:r>
              <a:rPr lang="en-US" altLang="zh-CN"/>
              <a:t>-2147483648</a:t>
            </a:r>
            <a:endParaRPr lang="zh-CN" altLang="zh-CN"/>
          </a:p>
          <a:p>
            <a:pPr eaLnBrk="1" hangingPunct="1"/>
            <a:endParaRPr lang="zh-CN" altLang="en-US"/>
          </a:p>
        </p:txBody>
      </p:sp>
    </p:spTree>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3716338"/>
            <a:ext cx="7775575" cy="108108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349500"/>
            <a:ext cx="7775575" cy="10795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5.2.1  </a:t>
            </a:r>
            <a:r>
              <a:rPr lang="zh-CN" altLang="zh-CN" dirty="0">
                <a:effectLst/>
              </a:rPr>
              <a:t>常量</a:t>
            </a:r>
            <a:endParaRPr lang="zh-CN" altLang="en-US" dirty="0"/>
          </a:p>
        </p:txBody>
      </p:sp>
      <p:sp>
        <p:nvSpPr>
          <p:cNvPr id="12293" name="TextBox 2"/>
          <p:cNvSpPr txBox="1">
            <a:spLocks noChangeArrowheads="1"/>
          </p:cNvSpPr>
          <p:nvPr/>
        </p:nvSpPr>
        <p:spPr bwMode="auto">
          <a:xfrm>
            <a:off x="468313" y="1484313"/>
            <a:ext cx="8207375" cy="369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3</a:t>
            </a:r>
            <a:r>
              <a:rPr lang="zh-CN" altLang="zh-CN" b="1">
                <a:solidFill>
                  <a:srgbClr val="C00000"/>
                </a:solidFill>
              </a:rPr>
              <a:t>．实型常量</a:t>
            </a:r>
            <a:endParaRPr lang="zh-CN" altLang="zh-CN" b="1">
              <a:solidFill>
                <a:srgbClr val="C00000"/>
              </a:solidFill>
            </a:endParaRPr>
          </a:p>
          <a:p>
            <a:pPr eaLnBrk="1" fontAlgn="ctr" hangingPunct="1"/>
            <a:r>
              <a:rPr lang="zh-CN" altLang="zh-CN"/>
              <a:t>实型常量有定点表示和浮点表示两种方式，举例如下。</a:t>
            </a:r>
            <a:endParaRPr lang="zh-CN" altLang="zh-CN"/>
          </a:p>
          <a:p>
            <a:pPr eaLnBrk="1" fontAlgn="ctr" hangingPunct="1"/>
            <a:r>
              <a:rPr lang="zh-CN" altLang="zh-CN"/>
              <a:t>定点表示：</a:t>
            </a:r>
            <a:endParaRPr lang="zh-CN" altLang="zh-CN"/>
          </a:p>
          <a:p>
            <a:pPr eaLnBrk="1" hangingPunct="1"/>
            <a:r>
              <a:rPr lang="en-US" altLang="zh-CN"/>
              <a:t>1894.1204</a:t>
            </a:r>
            <a:endParaRPr lang="zh-CN" altLang="zh-CN"/>
          </a:p>
          <a:p>
            <a:pPr eaLnBrk="1" hangingPunct="1"/>
            <a:r>
              <a:rPr lang="en-US" altLang="zh-CN"/>
              <a:t>2.0</a:t>
            </a:r>
            <a:endParaRPr lang="zh-CN" altLang="zh-CN"/>
          </a:p>
          <a:p>
            <a:pPr eaLnBrk="1" hangingPunct="1"/>
            <a:r>
              <a:rPr lang="en-US" altLang="zh-CN"/>
              <a:t>+145345234.2234</a:t>
            </a:r>
            <a:endParaRPr lang="zh-CN" altLang="zh-CN"/>
          </a:p>
          <a:p>
            <a:pPr eaLnBrk="1" hangingPunct="1"/>
            <a:r>
              <a:rPr lang="en-US" altLang="zh-CN"/>
              <a:t>-2147483648.10</a:t>
            </a:r>
            <a:endParaRPr lang="zh-CN" altLang="zh-CN"/>
          </a:p>
          <a:p>
            <a:pPr eaLnBrk="1" fontAlgn="ctr" hangingPunct="1"/>
            <a:r>
              <a:rPr lang="zh-CN" altLang="zh-CN"/>
              <a:t>浮点表示：</a:t>
            </a:r>
            <a:endParaRPr lang="zh-CN" altLang="zh-CN"/>
          </a:p>
          <a:p>
            <a:pPr eaLnBrk="1" hangingPunct="1"/>
            <a:r>
              <a:rPr lang="en-US" altLang="zh-CN"/>
              <a:t>101.5E5</a:t>
            </a:r>
            <a:endParaRPr lang="zh-CN" altLang="zh-CN"/>
          </a:p>
          <a:p>
            <a:pPr eaLnBrk="1" hangingPunct="1"/>
            <a:r>
              <a:rPr lang="en-US" altLang="zh-CN"/>
              <a:t>0.5  E-2</a:t>
            </a:r>
            <a:endParaRPr lang="zh-CN" altLang="zh-CN"/>
          </a:p>
          <a:p>
            <a:pPr eaLnBrk="1" hangingPunct="1"/>
            <a:r>
              <a:rPr lang="en-US" altLang="zh-CN"/>
              <a:t>+123E-3</a:t>
            </a:r>
            <a:endParaRPr lang="zh-CN" altLang="zh-CN"/>
          </a:p>
          <a:p>
            <a:pPr eaLnBrk="1" hangingPunct="1"/>
            <a:r>
              <a:rPr lang="en-US" altLang="zh-CN"/>
              <a:t>-12E5</a:t>
            </a:r>
            <a:endParaRPr lang="zh-CN" altLang="zh-CN"/>
          </a:p>
          <a:p>
            <a:pPr eaLnBrk="1" hangingPunct="1"/>
            <a:endParaRPr lang="zh-CN" altLang="en-US"/>
          </a:p>
        </p:txBody>
      </p:sp>
    </p:spTree>
  </p:cSld>
  <p:clrMapOvr>
    <a:masterClrMapping/>
  </p:clrMapOvr>
  <p:transition spd="slow">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3644900"/>
            <a:ext cx="7848600" cy="5762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5.2.1  </a:t>
            </a:r>
            <a:r>
              <a:rPr lang="zh-CN" altLang="zh-CN" dirty="0">
                <a:effectLst/>
              </a:rPr>
              <a:t>常量</a:t>
            </a:r>
            <a:endParaRPr lang="zh-CN" altLang="en-US" dirty="0"/>
          </a:p>
        </p:txBody>
      </p:sp>
      <p:sp>
        <p:nvSpPr>
          <p:cNvPr id="13316" name="TextBox 2"/>
          <p:cNvSpPr txBox="1">
            <a:spLocks noChangeArrowheads="1"/>
          </p:cNvSpPr>
          <p:nvPr/>
        </p:nvSpPr>
        <p:spPr bwMode="auto">
          <a:xfrm>
            <a:off x="468313" y="1557338"/>
            <a:ext cx="8207375" cy="383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4</a:t>
            </a:r>
            <a:r>
              <a:rPr lang="zh-CN" altLang="zh-CN" b="1">
                <a:solidFill>
                  <a:srgbClr val="C00000"/>
                </a:solidFill>
              </a:rPr>
              <a:t>．日期时间常量</a:t>
            </a:r>
            <a:endParaRPr lang="zh-CN" altLang="zh-CN" b="1">
              <a:solidFill>
                <a:srgbClr val="C00000"/>
              </a:solidFill>
            </a:endParaRPr>
          </a:p>
          <a:p>
            <a:pPr eaLnBrk="1" fontAlgn="ctr" hangingPunct="1">
              <a:lnSpc>
                <a:spcPct val="150000"/>
              </a:lnSpc>
            </a:pPr>
            <a:r>
              <a:rPr lang="zh-CN" altLang="zh-CN"/>
              <a:t>字母日期格式，例如：</a:t>
            </a:r>
            <a:r>
              <a:rPr lang="en-US" altLang="zh-CN"/>
              <a:t>'April 20, 2000'</a:t>
            </a:r>
            <a:endParaRPr lang="zh-CN" altLang="zh-CN"/>
          </a:p>
          <a:p>
            <a:pPr eaLnBrk="1" fontAlgn="ctr" hangingPunct="1">
              <a:lnSpc>
                <a:spcPct val="150000"/>
              </a:lnSpc>
            </a:pPr>
            <a:r>
              <a:rPr lang="zh-CN" altLang="zh-CN"/>
              <a:t>数字日期格式，例如：</a:t>
            </a:r>
            <a:r>
              <a:rPr lang="en-US" altLang="zh-CN"/>
              <a:t>'4/15/1998'</a:t>
            </a:r>
            <a:r>
              <a:rPr lang="zh-CN" altLang="zh-CN"/>
              <a:t>，</a:t>
            </a:r>
            <a:r>
              <a:rPr lang="en-US" altLang="zh-CN"/>
              <a:t>'1998-04-15'</a:t>
            </a:r>
            <a:endParaRPr lang="zh-CN" altLang="zh-CN"/>
          </a:p>
          <a:p>
            <a:pPr eaLnBrk="1" fontAlgn="ctr" hangingPunct="1">
              <a:lnSpc>
                <a:spcPct val="150000"/>
              </a:lnSpc>
            </a:pPr>
            <a:r>
              <a:rPr lang="zh-CN" altLang="zh-CN"/>
              <a:t>未分隔的字符串格式，例如：</a:t>
            </a:r>
            <a:r>
              <a:rPr lang="en-US" altLang="zh-CN"/>
              <a:t>'20001207'</a:t>
            </a:r>
            <a:endParaRPr lang="zh-CN" altLang="zh-CN"/>
          </a:p>
          <a:p>
            <a:pPr eaLnBrk="1" fontAlgn="ctr" hangingPunct="1">
              <a:lnSpc>
                <a:spcPct val="150000"/>
              </a:lnSpc>
            </a:pPr>
            <a:r>
              <a:rPr lang="zh-CN" altLang="zh-CN"/>
              <a:t>如下是时间常量的例子：</a:t>
            </a:r>
            <a:endParaRPr lang="zh-CN" altLang="zh-CN"/>
          </a:p>
          <a:p>
            <a:pPr eaLnBrk="1" hangingPunct="1"/>
            <a:r>
              <a:rPr lang="en-US" altLang="zh-CN"/>
              <a:t>'14:30:24'</a:t>
            </a:r>
            <a:endParaRPr lang="zh-CN" altLang="zh-CN"/>
          </a:p>
          <a:p>
            <a:pPr eaLnBrk="1" hangingPunct="1"/>
            <a:r>
              <a:rPr lang="en-US" altLang="zh-CN"/>
              <a:t>'04:24:PM'</a:t>
            </a:r>
            <a:endParaRPr lang="zh-CN" altLang="zh-CN"/>
          </a:p>
          <a:p>
            <a:pPr eaLnBrk="1" fontAlgn="ctr" hangingPunct="1">
              <a:lnSpc>
                <a:spcPct val="150000"/>
              </a:lnSpc>
            </a:pPr>
            <a:r>
              <a:rPr lang="zh-CN" altLang="zh-CN"/>
              <a:t>如下是日期时间常量的例子：</a:t>
            </a:r>
            <a:endParaRPr lang="zh-CN" altLang="zh-CN"/>
          </a:p>
          <a:p>
            <a:pPr eaLnBrk="1" hangingPunct="1">
              <a:lnSpc>
                <a:spcPct val="150000"/>
              </a:lnSpc>
            </a:pPr>
            <a:r>
              <a:rPr lang="en-US" altLang="zh-CN"/>
              <a:t>'April 20, 2000 14:30:24'</a:t>
            </a:r>
            <a:endParaRPr lang="zh-CN" altLang="zh-CN"/>
          </a:p>
          <a:p>
            <a:pPr eaLnBrk="1" hangingPunct="1"/>
            <a:endParaRPr lang="zh-CN" altLang="en-US"/>
          </a:p>
        </p:txBody>
      </p:sp>
    </p:spTree>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52488" y="4292600"/>
            <a:ext cx="7848600" cy="5413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349500"/>
            <a:ext cx="7848600" cy="10795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5.2.1  </a:t>
            </a:r>
            <a:r>
              <a:rPr lang="zh-CN" altLang="zh-CN" dirty="0">
                <a:effectLst/>
              </a:rPr>
              <a:t>常量</a:t>
            </a:r>
            <a:endParaRPr lang="zh-CN" altLang="en-US" dirty="0"/>
          </a:p>
        </p:txBody>
      </p:sp>
      <p:sp>
        <p:nvSpPr>
          <p:cNvPr id="14341" name="TextBox 2"/>
          <p:cNvSpPr txBox="1">
            <a:spLocks noChangeArrowheads="1"/>
          </p:cNvSpPr>
          <p:nvPr/>
        </p:nvSpPr>
        <p:spPr bwMode="auto">
          <a:xfrm>
            <a:off x="468313" y="1484313"/>
            <a:ext cx="8207375" cy="369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5</a:t>
            </a:r>
            <a:r>
              <a:rPr lang="zh-CN" altLang="zh-CN" b="1">
                <a:solidFill>
                  <a:srgbClr val="C00000"/>
                </a:solidFill>
              </a:rPr>
              <a:t>．货币（</a:t>
            </a:r>
            <a:r>
              <a:rPr lang="en-US" altLang="zh-CN" b="1">
                <a:solidFill>
                  <a:srgbClr val="C00000"/>
                </a:solidFill>
              </a:rPr>
              <a:t>money</a:t>
            </a:r>
            <a:r>
              <a:rPr lang="zh-CN" altLang="zh-CN" b="1">
                <a:solidFill>
                  <a:srgbClr val="C00000"/>
                </a:solidFill>
              </a:rPr>
              <a:t>）常量</a:t>
            </a:r>
            <a:endParaRPr lang="zh-CN" altLang="zh-CN" b="1">
              <a:solidFill>
                <a:srgbClr val="C00000"/>
              </a:solidFill>
            </a:endParaRPr>
          </a:p>
          <a:p>
            <a:pPr eaLnBrk="1" fontAlgn="ctr" hangingPunct="1"/>
            <a:r>
              <a:rPr lang="en-US" altLang="zh-CN"/>
              <a:t>money</a:t>
            </a:r>
            <a:r>
              <a:rPr lang="zh-CN" altLang="zh-CN"/>
              <a:t>常量是以“</a:t>
            </a:r>
            <a:r>
              <a:rPr lang="en-US" altLang="zh-CN"/>
              <a:t>$</a:t>
            </a:r>
            <a:r>
              <a:rPr lang="zh-CN" altLang="zh-CN"/>
              <a:t>”作为前缀的一个整型或实型常量数据。下面是</a:t>
            </a:r>
            <a:r>
              <a:rPr lang="en-US" altLang="zh-CN"/>
              <a:t>money</a:t>
            </a:r>
            <a:r>
              <a:rPr lang="zh-CN" altLang="zh-CN"/>
              <a:t>常量的例子：</a:t>
            </a:r>
            <a:endParaRPr lang="zh-CN" altLang="zh-CN"/>
          </a:p>
          <a:p>
            <a:pPr eaLnBrk="1" hangingPunct="1"/>
            <a:r>
              <a:rPr lang="en-US" altLang="zh-CN"/>
              <a:t>$12</a:t>
            </a:r>
            <a:endParaRPr lang="zh-CN" altLang="zh-CN"/>
          </a:p>
          <a:p>
            <a:pPr eaLnBrk="1" hangingPunct="1"/>
            <a:r>
              <a:rPr lang="en-US" altLang="zh-CN"/>
              <a:t>$542023</a:t>
            </a:r>
            <a:endParaRPr lang="zh-CN" altLang="zh-CN"/>
          </a:p>
          <a:p>
            <a:pPr eaLnBrk="1" hangingPunct="1"/>
            <a:r>
              <a:rPr lang="en-US" altLang="zh-CN"/>
              <a:t>-$45.56</a:t>
            </a:r>
            <a:endParaRPr lang="zh-CN" altLang="zh-CN"/>
          </a:p>
          <a:p>
            <a:pPr eaLnBrk="1" hangingPunct="1"/>
            <a:r>
              <a:rPr lang="en-US" altLang="zh-CN"/>
              <a:t>+$423456.99</a:t>
            </a:r>
            <a:endParaRPr lang="zh-CN" altLang="zh-CN"/>
          </a:p>
          <a:p>
            <a:pPr eaLnBrk="1" hangingPunct="1"/>
            <a:r>
              <a:rPr lang="en-US" altLang="zh-CN" b="1">
                <a:solidFill>
                  <a:srgbClr val="C00000"/>
                </a:solidFill>
              </a:rPr>
              <a:t>6</a:t>
            </a:r>
            <a:r>
              <a:rPr lang="zh-CN" altLang="zh-CN" b="1">
                <a:solidFill>
                  <a:srgbClr val="C00000"/>
                </a:solidFill>
              </a:rPr>
              <a:t>．唯一标识（</a:t>
            </a:r>
            <a:r>
              <a:rPr lang="en-US" altLang="zh-CN" b="1">
                <a:solidFill>
                  <a:srgbClr val="C00000"/>
                </a:solidFill>
              </a:rPr>
              <a:t>uniqueidentifier</a:t>
            </a:r>
            <a:r>
              <a:rPr lang="zh-CN" altLang="zh-CN" b="1">
                <a:solidFill>
                  <a:srgbClr val="C00000"/>
                </a:solidFill>
              </a:rPr>
              <a:t>）常量</a:t>
            </a:r>
            <a:endParaRPr lang="zh-CN" altLang="zh-CN" b="1">
              <a:solidFill>
                <a:srgbClr val="C00000"/>
              </a:solidFill>
            </a:endParaRPr>
          </a:p>
          <a:p>
            <a:pPr eaLnBrk="1" fontAlgn="ctr" hangingPunct="1"/>
            <a:r>
              <a:rPr lang="en-US" altLang="zh-CN"/>
              <a:t>uniqueidentifier</a:t>
            </a:r>
            <a:r>
              <a:rPr lang="zh-CN" altLang="zh-CN"/>
              <a:t>常量是用于表示全局唯一标识符（</a:t>
            </a:r>
            <a:r>
              <a:rPr lang="en-US" altLang="zh-CN"/>
              <a:t>GUID</a:t>
            </a:r>
            <a:r>
              <a:rPr lang="zh-CN" altLang="zh-CN"/>
              <a:t>）值的字符串，可以使用字符串或十六进制字符串格式指定。例如：</a:t>
            </a:r>
            <a:endParaRPr lang="zh-CN" altLang="zh-CN"/>
          </a:p>
          <a:p>
            <a:pPr eaLnBrk="1" hangingPunct="1"/>
            <a:r>
              <a:rPr lang="en-US" altLang="zh-CN"/>
              <a:t>'6F9619FF-8A86-D011-B42D-00004FC964FF'</a:t>
            </a:r>
            <a:endParaRPr lang="zh-CN" altLang="zh-CN"/>
          </a:p>
          <a:p>
            <a:pPr eaLnBrk="1" hangingPunct="1"/>
            <a:r>
              <a:rPr lang="en-US" altLang="zh-CN"/>
              <a:t>0xff19966f868b11d0b42d00c04fc964ff</a:t>
            </a:r>
            <a:endParaRPr lang="zh-CN" altLang="zh-CN"/>
          </a:p>
          <a:p>
            <a:pPr eaLnBrk="1" hangingPunct="1"/>
            <a:endParaRPr lang="zh-CN" altLang="en-US"/>
          </a:p>
        </p:txBody>
      </p:sp>
    </p:spTree>
  </p:cSld>
  <p:clrMapOvr>
    <a:masterClrMapping/>
  </p:clrMapOvr>
  <p:transition spd="slow">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5.2.2  </a:t>
            </a:r>
            <a:r>
              <a:rPr lang="zh-CN" altLang="zh-CN" dirty="0">
                <a:effectLst/>
              </a:rPr>
              <a:t>数据类型</a:t>
            </a:r>
            <a:endParaRPr lang="zh-CN" altLang="zh-CN" dirty="0">
              <a:effectLst/>
            </a:endParaRPr>
          </a:p>
        </p:txBody>
      </p:sp>
      <p:sp>
        <p:nvSpPr>
          <p:cNvPr id="15363" name="TextBox 2"/>
          <p:cNvSpPr txBox="1">
            <a:spLocks noChangeArrowheads="1"/>
          </p:cNvSpPr>
          <p:nvPr/>
        </p:nvSpPr>
        <p:spPr bwMode="auto">
          <a:xfrm>
            <a:off x="468313" y="1484313"/>
            <a:ext cx="8207375" cy="461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1</a:t>
            </a:r>
            <a:r>
              <a:rPr lang="zh-CN" altLang="zh-CN" b="1">
                <a:solidFill>
                  <a:srgbClr val="C00000"/>
                </a:solidFill>
              </a:rPr>
              <a:t>．用户自定义数据类型</a:t>
            </a:r>
            <a:endParaRPr lang="zh-CN" altLang="zh-CN" b="1">
              <a:solidFill>
                <a:srgbClr val="C00000"/>
              </a:solidFill>
            </a:endParaRPr>
          </a:p>
          <a:p>
            <a:pPr eaLnBrk="1" fontAlgn="ctr" hangingPunct="1">
              <a:lnSpc>
                <a:spcPct val="150000"/>
              </a:lnSpc>
            </a:pPr>
            <a:r>
              <a:rPr lang="zh-CN" altLang="zh-CN"/>
              <a:t>在多表操作的情况下，当多个表中的列要存储相同类型的数据时，往往要确保这些列具有完全相同的数据类型、长度和为空性（数据类型是否允许空值）。用户自定义数据类型并不是真正的数据类型，它只是提供了一种提高数据库内部元素和基本数据类型之间一致性的机制。</a:t>
            </a:r>
            <a:endParaRPr lang="zh-CN" altLang="zh-CN"/>
          </a:p>
          <a:p>
            <a:pPr eaLnBrk="1" fontAlgn="ctr" hangingPunct="1">
              <a:lnSpc>
                <a:spcPct val="150000"/>
              </a:lnSpc>
            </a:pPr>
            <a:r>
              <a:rPr lang="zh-CN" altLang="zh-CN"/>
              <a:t>例如，对于学生成绩管理数据库（</a:t>
            </a:r>
            <a:r>
              <a:rPr lang="en-US" altLang="zh-CN"/>
              <a:t>pxscj</a:t>
            </a:r>
            <a:r>
              <a:rPr lang="zh-CN" altLang="zh-CN"/>
              <a:t>），创建了</a:t>
            </a:r>
            <a:r>
              <a:rPr lang="en-US" altLang="zh-CN"/>
              <a:t>xsb</a:t>
            </a:r>
            <a:r>
              <a:rPr lang="zh-CN" altLang="zh-CN"/>
              <a:t>、</a:t>
            </a:r>
            <a:r>
              <a:rPr lang="en-US" altLang="zh-CN"/>
              <a:t>kcb</a:t>
            </a:r>
            <a:r>
              <a:rPr lang="zh-CN" altLang="zh-CN"/>
              <a:t>、</a:t>
            </a:r>
            <a:r>
              <a:rPr lang="en-US" altLang="zh-CN"/>
              <a:t>cjb 3</a:t>
            </a:r>
            <a:r>
              <a:rPr lang="zh-CN" altLang="zh-CN"/>
              <a:t>张表。从表结构中可看出：表</a:t>
            </a:r>
            <a:r>
              <a:rPr lang="en-US" altLang="zh-CN"/>
              <a:t>xsb</a:t>
            </a:r>
            <a:r>
              <a:rPr lang="zh-CN" altLang="zh-CN"/>
              <a:t>中的学号字段值与表</a:t>
            </a:r>
            <a:r>
              <a:rPr lang="en-US" altLang="zh-CN"/>
              <a:t>cjb</a:t>
            </a:r>
            <a:r>
              <a:rPr lang="zh-CN" altLang="zh-CN"/>
              <a:t>中的学号字段值应有相同的类型，均为字符型值，长度可定义为</a:t>
            </a:r>
            <a:r>
              <a:rPr lang="en-US" altLang="zh-CN"/>
              <a:t>6</a:t>
            </a:r>
            <a:r>
              <a:rPr lang="zh-CN" altLang="zh-CN"/>
              <a:t>，并且不允许为空值。为了确保这一点，可以先定义一个数据类型，命名为</a:t>
            </a:r>
            <a:r>
              <a:rPr lang="en-US" altLang="zh-CN"/>
              <a:t>STUDENT_num</a:t>
            </a:r>
            <a:r>
              <a:rPr lang="zh-CN" altLang="zh-CN"/>
              <a:t>，用于描述学号字段的这些属性，然后将表</a:t>
            </a:r>
            <a:r>
              <a:rPr lang="en-US" altLang="zh-CN"/>
              <a:t>xsb</a:t>
            </a:r>
            <a:r>
              <a:rPr lang="zh-CN" altLang="zh-CN"/>
              <a:t>中的学号字段和表</a:t>
            </a:r>
            <a:r>
              <a:rPr lang="en-US" altLang="zh-CN"/>
              <a:t>cjb</a:t>
            </a:r>
            <a:r>
              <a:rPr lang="zh-CN" altLang="zh-CN"/>
              <a:t>中的学号字段定义为</a:t>
            </a:r>
            <a:r>
              <a:rPr lang="en-US" altLang="zh-CN"/>
              <a:t>STUDENT_num</a:t>
            </a:r>
            <a:r>
              <a:rPr lang="zh-CN" altLang="zh-CN"/>
              <a:t>数据类型。</a:t>
            </a:r>
            <a:endParaRPr lang="zh-CN" altLang="zh-CN"/>
          </a:p>
          <a:p>
            <a:pPr eaLnBrk="1" hangingPunct="1">
              <a:lnSpc>
                <a:spcPct val="150000"/>
              </a:lnSpc>
            </a:pPr>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additive="base">
                                        <p:cTn id="7" dur="500" fill="hold"/>
                                        <p:tgtEl>
                                          <p:spTgt spid="15363"/>
                                        </p:tgtEl>
                                        <p:attrNameLst>
                                          <p:attrName>ppt_x</p:attrName>
                                        </p:attrNameLst>
                                      </p:cBhvr>
                                      <p:tavLst>
                                        <p:tav tm="0">
                                          <p:val>
                                            <p:strVal val="#ppt_x"/>
                                          </p:val>
                                        </p:tav>
                                        <p:tav tm="100000">
                                          <p:val>
                                            <p:strVal val="#ppt_x"/>
                                          </p:val>
                                        </p:tav>
                                      </p:tavLst>
                                    </p:anim>
                                    <p:anim calcmode="lin" valueType="num">
                                      <p:cBhvr additive="base">
                                        <p:cTn id="8" dur="500" fill="hold"/>
                                        <p:tgtEl>
                                          <p:spTgt spid="153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5.2.2  </a:t>
            </a:r>
            <a:r>
              <a:rPr lang="zh-CN" altLang="zh-CN" dirty="0">
                <a:effectLst/>
              </a:rPr>
              <a:t>数据类型</a:t>
            </a:r>
            <a:endParaRPr lang="zh-CN" altLang="en-US" dirty="0"/>
          </a:p>
        </p:txBody>
      </p:sp>
      <p:sp>
        <p:nvSpPr>
          <p:cNvPr id="16387" name="TextBox 2"/>
          <p:cNvSpPr txBox="1">
            <a:spLocks noChangeArrowheads="1"/>
          </p:cNvSpPr>
          <p:nvPr/>
        </p:nvSpPr>
        <p:spPr bwMode="auto">
          <a:xfrm>
            <a:off x="468313" y="1484313"/>
            <a:ext cx="8207375"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2</a:t>
            </a:r>
            <a:r>
              <a:rPr lang="zh-CN" altLang="zh-CN" b="1">
                <a:solidFill>
                  <a:srgbClr val="C00000"/>
                </a:solidFill>
              </a:rPr>
              <a:t>．数据类型的定义</a:t>
            </a:r>
            <a:endParaRPr lang="zh-CN" altLang="zh-CN" b="1">
              <a:solidFill>
                <a:srgbClr val="C00000"/>
              </a:solidFill>
            </a:endParaRPr>
          </a:p>
          <a:p>
            <a:pPr eaLnBrk="1" fontAlgn="ctr" hangingPunct="1"/>
            <a:r>
              <a:rPr lang="zh-CN" altLang="zh-CN"/>
              <a:t>创建用户自定义数据类型的方法如下。</a:t>
            </a:r>
            <a:endParaRPr lang="zh-CN" altLang="zh-CN"/>
          </a:p>
          <a:p>
            <a:pPr eaLnBrk="1" fontAlgn="ctr" hangingPunct="1"/>
            <a:r>
              <a:rPr lang="zh-CN" altLang="zh-CN"/>
              <a:t>（</a:t>
            </a:r>
            <a:r>
              <a:rPr lang="en-US" altLang="zh-CN"/>
              <a:t>1</a:t>
            </a:r>
            <a:r>
              <a:rPr lang="zh-CN" altLang="zh-CN"/>
              <a:t>）使用界面方式定义</a:t>
            </a:r>
            <a:endParaRPr lang="zh-CN" altLang="zh-CN"/>
          </a:p>
          <a:p>
            <a:pPr eaLnBrk="1" fontAlgn="ctr" hangingPunct="1"/>
            <a:r>
              <a:rPr lang="zh-CN" altLang="zh-CN"/>
              <a:t>在“对象资源管理器”中展开“数据库”→“</a:t>
            </a:r>
            <a:r>
              <a:rPr lang="en-US" altLang="zh-CN"/>
              <a:t>pxscj</a:t>
            </a:r>
            <a:r>
              <a:rPr lang="zh-CN" altLang="zh-CN"/>
              <a:t>”→“可编程性”→“类型”→“用户定义数据类型”，单击鼠标右键，在快捷菜单中选择“新建用户定义数据类型”，如图</a:t>
            </a:r>
            <a:r>
              <a:rPr lang="en-US" altLang="zh-CN"/>
              <a:t>5.1</a:t>
            </a:r>
            <a:r>
              <a:rPr lang="zh-CN" altLang="zh-CN"/>
              <a:t>所示。</a:t>
            </a:r>
            <a:endParaRPr lang="zh-CN" altLang="zh-CN"/>
          </a:p>
          <a:p>
            <a:pPr eaLnBrk="1" hangingPunct="1"/>
            <a:endParaRPr lang="zh-CN" altLang="en-US"/>
          </a:p>
        </p:txBody>
      </p:sp>
      <p:pic>
        <p:nvPicPr>
          <p:cNvPr id="1638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79788" y="3338513"/>
            <a:ext cx="2384425" cy="288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5.2.2  </a:t>
            </a:r>
            <a:r>
              <a:rPr lang="zh-CN" altLang="zh-CN" dirty="0">
                <a:effectLst/>
              </a:rPr>
              <a:t>数据类型</a:t>
            </a:r>
            <a:endParaRPr lang="zh-CN" altLang="en-US" dirty="0"/>
          </a:p>
        </p:txBody>
      </p:sp>
      <p:sp>
        <p:nvSpPr>
          <p:cNvPr id="3" name="TextBox 2"/>
          <p:cNvSpPr txBox="1"/>
          <p:nvPr/>
        </p:nvSpPr>
        <p:spPr>
          <a:xfrm>
            <a:off x="468313" y="1484313"/>
            <a:ext cx="8207375" cy="1477962"/>
          </a:xfrm>
          <a:prstGeom prst="rect">
            <a:avLst/>
          </a:prstGeom>
          <a:noFill/>
        </p:spPr>
        <p:txBody>
          <a:bodyPr>
            <a:spAutoFit/>
          </a:bodyPr>
          <a:lstStyle/>
          <a:p>
            <a:pPr indent="446405" fontAlgn="auto">
              <a:spcBef>
                <a:spcPts val="0"/>
              </a:spcBef>
              <a:spcAft>
                <a:spcPts val="0"/>
              </a:spcAft>
              <a:defRPr/>
            </a:pPr>
            <a:r>
              <a:rPr lang="zh-CN" altLang="zh-CN" dirty="0">
                <a:latin typeface="+mn-lt"/>
                <a:ea typeface="+mn-ea"/>
              </a:rPr>
              <a:t>在“名称”文本框中输入自定义的数据类型名称，如</a:t>
            </a:r>
            <a:r>
              <a:rPr lang="en-US" altLang="zh-CN" dirty="0" err="1">
                <a:latin typeface="+mn-lt"/>
                <a:ea typeface="+mn-ea"/>
              </a:rPr>
              <a:t>STUDENT_num</a:t>
            </a:r>
            <a:r>
              <a:rPr lang="zh-CN" altLang="zh-CN" dirty="0">
                <a:latin typeface="+mn-lt"/>
                <a:ea typeface="+mn-ea"/>
              </a:rPr>
              <a:t>；在“数据类型”下拉框中选择自定义数据类型所基于的系统数据类型，如</a:t>
            </a:r>
            <a:r>
              <a:rPr lang="en-US" altLang="zh-CN" dirty="0">
                <a:latin typeface="+mn-lt"/>
                <a:ea typeface="+mn-ea"/>
              </a:rPr>
              <a:t>char</a:t>
            </a:r>
            <a:r>
              <a:rPr lang="zh-CN" altLang="zh-CN" dirty="0">
                <a:latin typeface="+mn-lt"/>
                <a:ea typeface="+mn-ea"/>
              </a:rPr>
              <a:t>；在“长度”栏中填写要定义的数据类型的长度，如</a:t>
            </a:r>
            <a:r>
              <a:rPr lang="en-US" altLang="zh-CN" dirty="0">
                <a:latin typeface="+mn-lt"/>
                <a:ea typeface="+mn-ea"/>
              </a:rPr>
              <a:t>6</a:t>
            </a:r>
            <a:r>
              <a:rPr lang="zh-CN" altLang="zh-CN" dirty="0">
                <a:latin typeface="+mn-lt"/>
                <a:ea typeface="+mn-ea"/>
              </a:rPr>
              <a:t>。其他选项使用默认值，如图</a:t>
            </a:r>
            <a:r>
              <a:rPr lang="en-US" altLang="zh-CN" dirty="0">
                <a:latin typeface="+mn-lt"/>
                <a:ea typeface="+mn-ea"/>
              </a:rPr>
              <a:t>5.2</a:t>
            </a:r>
            <a:r>
              <a:rPr lang="zh-CN" altLang="zh-CN" dirty="0">
                <a:latin typeface="+mn-lt"/>
                <a:ea typeface="+mn-ea"/>
              </a:rPr>
              <a:t>所示。</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pic>
        <p:nvPicPr>
          <p:cNvPr id="1741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87675" y="2724150"/>
            <a:ext cx="3887788" cy="348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47713" y="3933825"/>
            <a:ext cx="7920037" cy="574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755650" y="2671763"/>
            <a:ext cx="7920038" cy="86518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5.2.2  </a:t>
            </a:r>
            <a:r>
              <a:rPr lang="zh-CN" altLang="zh-CN" dirty="0">
                <a:effectLst/>
              </a:rPr>
              <a:t>数据类型</a:t>
            </a:r>
            <a:endParaRPr lang="zh-CN" altLang="en-US" dirty="0"/>
          </a:p>
        </p:txBody>
      </p:sp>
      <p:sp>
        <p:nvSpPr>
          <p:cNvPr id="18437" name="TextBox 2"/>
          <p:cNvSpPr txBox="1">
            <a:spLocks noChangeArrowheads="1"/>
          </p:cNvSpPr>
          <p:nvPr/>
        </p:nvSpPr>
        <p:spPr bwMode="auto">
          <a:xfrm>
            <a:off x="468313" y="1412875"/>
            <a:ext cx="820737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t>（</a:t>
            </a:r>
            <a:r>
              <a:rPr lang="en-US" altLang="zh-CN"/>
              <a:t>2</a:t>
            </a:r>
            <a:r>
              <a:rPr lang="zh-CN" altLang="zh-CN"/>
              <a:t>）使用命令定义</a:t>
            </a:r>
            <a:endParaRPr lang="zh-CN" altLang="zh-CN"/>
          </a:p>
          <a:p>
            <a:pPr eaLnBrk="1" fontAlgn="ctr" hangingPunct="1">
              <a:lnSpc>
                <a:spcPct val="150000"/>
              </a:lnSpc>
            </a:pPr>
            <a:r>
              <a:rPr lang="zh-CN" altLang="zh-CN"/>
              <a:t>在</a:t>
            </a:r>
            <a:r>
              <a:rPr lang="en-US" altLang="zh-CN"/>
              <a:t>SQL Server 2012</a:t>
            </a:r>
            <a:r>
              <a:rPr lang="zh-CN" altLang="zh-CN"/>
              <a:t>中，使用</a:t>
            </a:r>
            <a:r>
              <a:rPr lang="en-US" altLang="zh-CN"/>
              <a:t>CREATE TYPE</a:t>
            </a:r>
            <a:r>
              <a:rPr lang="zh-CN" altLang="zh-CN"/>
              <a:t>语句来实现用户数据类型的定义。语法格式如下：</a:t>
            </a:r>
            <a:endParaRPr lang="zh-CN" altLang="zh-CN"/>
          </a:p>
          <a:p>
            <a:pPr eaLnBrk="1" hangingPunct="1"/>
            <a:r>
              <a:rPr lang="en-US" altLang="zh-CN"/>
              <a:t>CREATE TYPE [</a:t>
            </a:r>
            <a:r>
              <a:rPr lang="zh-CN" altLang="zh-CN"/>
              <a:t>架构名</a:t>
            </a:r>
            <a:r>
              <a:rPr lang="en-US" altLang="zh-CN"/>
              <a:t>. ]</a:t>
            </a:r>
            <a:r>
              <a:rPr lang="zh-CN" altLang="zh-CN"/>
              <a:t>类型名</a:t>
            </a:r>
            <a:endParaRPr lang="zh-CN" altLang="zh-CN"/>
          </a:p>
          <a:p>
            <a:pPr eaLnBrk="1" hangingPunct="1"/>
            <a:r>
              <a:rPr lang="en-US" altLang="zh-CN"/>
              <a:t>     FROM</a:t>
            </a:r>
            <a:r>
              <a:rPr lang="zh-CN" altLang="zh-CN"/>
              <a:t>基类型</a:t>
            </a:r>
            <a:r>
              <a:rPr lang="en-US" altLang="zh-CN"/>
              <a:t>[ ( </a:t>
            </a:r>
            <a:r>
              <a:rPr lang="zh-CN" altLang="zh-CN"/>
              <a:t>精度</a:t>
            </a:r>
            <a:r>
              <a:rPr lang="en-US" altLang="zh-CN"/>
              <a:t>[ , </a:t>
            </a:r>
            <a:r>
              <a:rPr lang="zh-CN" altLang="zh-CN"/>
              <a:t>位数</a:t>
            </a:r>
            <a:r>
              <a:rPr lang="en-US" altLang="zh-CN"/>
              <a:t>] ) ]</a:t>
            </a:r>
            <a:endParaRPr lang="zh-CN" altLang="zh-CN"/>
          </a:p>
          <a:p>
            <a:pPr eaLnBrk="1" hangingPunct="1"/>
            <a:r>
              <a:rPr lang="en-US" altLang="zh-CN"/>
              <a:t>[ NULL | NOT NULL ]</a:t>
            </a:r>
            <a:endParaRPr lang="zh-CN" altLang="zh-CN"/>
          </a:p>
          <a:p>
            <a:pPr eaLnBrk="1" fontAlgn="ctr" hangingPunct="1">
              <a:lnSpc>
                <a:spcPct val="150000"/>
              </a:lnSpc>
            </a:pPr>
            <a:r>
              <a:rPr lang="zh-CN" altLang="zh-CN"/>
              <a:t>根据上述语法，定义描述学号字段的数据类型的语句如下：</a:t>
            </a:r>
            <a:endParaRPr lang="zh-CN" altLang="zh-CN"/>
          </a:p>
          <a:p>
            <a:pPr eaLnBrk="1" hangingPunct="1"/>
            <a:r>
              <a:rPr lang="en-US" altLang="zh-CN"/>
              <a:t>CREATE TYPE STUDENT_num</a:t>
            </a:r>
            <a:endParaRPr lang="zh-CN" altLang="zh-CN"/>
          </a:p>
          <a:p>
            <a:pPr eaLnBrk="1" hangingPunct="1"/>
            <a:r>
              <a:rPr lang="en-US" altLang="zh-CN"/>
              <a:t>     FROM char(6) NOT NULL</a:t>
            </a:r>
            <a:endParaRPr lang="zh-CN" altLang="zh-CN"/>
          </a:p>
          <a:p>
            <a:pPr eaLnBrk="1" hangingPunct="1"/>
            <a:endParaRPr lang="zh-CN" altLang="en-US"/>
          </a:p>
        </p:txBody>
      </p:sp>
    </p:spTree>
  </p:cSld>
  <p:clrMapOvr>
    <a:masterClrMapping/>
  </p:clrMapOvr>
  <p:transition spd="slow">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5.2.2  </a:t>
            </a:r>
            <a:r>
              <a:rPr lang="zh-CN" altLang="zh-CN" dirty="0">
                <a:effectLst/>
              </a:rPr>
              <a:t>数据类型</a:t>
            </a:r>
            <a:endParaRPr lang="zh-CN" altLang="en-US" dirty="0"/>
          </a:p>
        </p:txBody>
      </p:sp>
      <p:sp>
        <p:nvSpPr>
          <p:cNvPr id="19459" name="TextBox 2"/>
          <p:cNvSpPr txBox="1">
            <a:spLocks noChangeArrowheads="1"/>
          </p:cNvSpPr>
          <p:nvPr/>
        </p:nvSpPr>
        <p:spPr bwMode="auto">
          <a:xfrm>
            <a:off x="468313" y="1557338"/>
            <a:ext cx="8280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3</a:t>
            </a:r>
            <a:r>
              <a:rPr lang="zh-CN" altLang="zh-CN" b="1">
                <a:solidFill>
                  <a:srgbClr val="C00000"/>
                </a:solidFill>
              </a:rPr>
              <a:t>．数据类型的使用</a:t>
            </a:r>
            <a:endParaRPr lang="zh-CN" altLang="zh-CN" b="1">
              <a:solidFill>
                <a:srgbClr val="C00000"/>
              </a:solidFill>
            </a:endParaRPr>
          </a:p>
          <a:p>
            <a:pPr eaLnBrk="1" fontAlgn="ctr" hangingPunct="1"/>
            <a:r>
              <a:rPr lang="zh-CN" altLang="zh-CN"/>
              <a:t>（</a:t>
            </a:r>
            <a:r>
              <a:rPr lang="en-US" altLang="zh-CN"/>
              <a:t>1</a:t>
            </a:r>
            <a:r>
              <a:rPr lang="zh-CN" altLang="zh-CN"/>
              <a:t>）在“对象资源管理器”中应用举例</a:t>
            </a:r>
            <a:endParaRPr lang="zh-CN" altLang="zh-CN"/>
          </a:p>
          <a:p>
            <a:pPr eaLnBrk="1" fontAlgn="ctr" hangingPunct="1"/>
            <a:r>
              <a:rPr lang="zh-CN" altLang="zh-CN"/>
              <a:t>例如，对</a:t>
            </a:r>
            <a:r>
              <a:rPr lang="en-US" altLang="zh-CN"/>
              <a:t>xsb</a:t>
            </a:r>
            <a:r>
              <a:rPr lang="zh-CN" altLang="zh-CN"/>
              <a:t>表学号字段的定义如图</a:t>
            </a:r>
            <a:r>
              <a:rPr lang="en-US" altLang="zh-CN"/>
              <a:t>5.3</a:t>
            </a:r>
            <a:r>
              <a:rPr lang="zh-CN" altLang="zh-CN"/>
              <a:t>所示。</a:t>
            </a:r>
            <a:endParaRPr lang="zh-CN" altLang="zh-CN"/>
          </a:p>
          <a:p>
            <a:pPr eaLnBrk="1" hangingPunct="1"/>
            <a:endParaRPr lang="zh-CN" altLang="en-US"/>
          </a:p>
        </p:txBody>
      </p:sp>
      <p:pic>
        <p:nvPicPr>
          <p:cNvPr id="1946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2075" y="2636838"/>
            <a:ext cx="3951288"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68313" y="2060575"/>
            <a:ext cx="8207375" cy="30972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5.2.2  </a:t>
            </a:r>
            <a:r>
              <a:rPr lang="zh-CN" altLang="zh-CN" dirty="0">
                <a:effectLst/>
              </a:rPr>
              <a:t>数据类型</a:t>
            </a:r>
            <a:endParaRPr lang="zh-CN" altLang="en-US" dirty="0"/>
          </a:p>
        </p:txBody>
      </p:sp>
      <p:sp>
        <p:nvSpPr>
          <p:cNvPr id="3" name="TextBox 2"/>
          <p:cNvSpPr txBox="1"/>
          <p:nvPr/>
        </p:nvSpPr>
        <p:spPr>
          <a:xfrm>
            <a:off x="468313" y="1484313"/>
            <a:ext cx="8207375" cy="3970337"/>
          </a:xfrm>
          <a:prstGeom prst="rect">
            <a:avLst/>
          </a:prstGeom>
          <a:noFill/>
        </p:spPr>
        <p:txBody>
          <a:bodyPr>
            <a:spAutoFit/>
          </a:bodyPr>
          <a:lstStyle/>
          <a:p>
            <a:pPr indent="446405" fontAlgn="ctr">
              <a:spcBef>
                <a:spcPts val="0"/>
              </a:spcBef>
              <a:spcAft>
                <a:spcPts val="0"/>
              </a:spcAft>
              <a:defRPr/>
            </a:pPr>
            <a:r>
              <a:rPr lang="zh-CN" altLang="zh-CN" dirty="0">
                <a:latin typeface="+mn-lt"/>
                <a:ea typeface="+mn-ea"/>
              </a:rPr>
              <a:t>（</a:t>
            </a:r>
            <a:r>
              <a:rPr lang="en-US" altLang="zh-CN" dirty="0">
                <a:latin typeface="+mn-lt"/>
                <a:ea typeface="+mn-ea"/>
              </a:rPr>
              <a:t>2</a:t>
            </a:r>
            <a:r>
              <a:rPr lang="zh-CN" altLang="zh-CN" dirty="0">
                <a:latin typeface="+mn-lt"/>
                <a:ea typeface="+mn-ea"/>
              </a:rPr>
              <a:t>）</a:t>
            </a:r>
            <a:r>
              <a:rPr lang="en-US" altLang="zh-CN" dirty="0">
                <a:latin typeface="+mn-lt"/>
                <a:ea typeface="+mn-ea"/>
              </a:rPr>
              <a:t>T-SQL</a:t>
            </a:r>
            <a:r>
              <a:rPr lang="zh-CN" altLang="zh-CN" dirty="0">
                <a:latin typeface="+mn-lt"/>
                <a:ea typeface="+mn-ea"/>
              </a:rPr>
              <a:t>应用举例</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利用命令方式定义</a:t>
            </a:r>
            <a:r>
              <a:rPr lang="en-US" altLang="zh-CN" dirty="0" err="1">
                <a:latin typeface="+mn-lt"/>
                <a:ea typeface="+mn-ea"/>
              </a:rPr>
              <a:t>xsb</a:t>
            </a:r>
            <a:r>
              <a:rPr lang="zh-CN" altLang="zh-CN" dirty="0">
                <a:latin typeface="+mn-lt"/>
                <a:ea typeface="+mn-ea"/>
              </a:rPr>
              <a:t>表结构：</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CREATE TABLE </a:t>
            </a:r>
            <a:r>
              <a:rPr lang="en-US" altLang="zh-CN" dirty="0" err="1">
                <a:latin typeface="+mn-lt"/>
                <a:ea typeface="+mn-ea"/>
              </a:rPr>
              <a:t>xsb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a:t>
            </a:r>
            <a:r>
              <a:rPr lang="zh-CN" altLang="zh-CN" dirty="0">
                <a:latin typeface="+mn-lt"/>
                <a:ea typeface="+mn-ea"/>
              </a:rPr>
              <a:t>学号</a:t>
            </a:r>
            <a:r>
              <a:rPr lang="en-US" altLang="zh-CN" dirty="0">
                <a:latin typeface="+mn-lt"/>
                <a:ea typeface="+mn-ea"/>
              </a:rPr>
              <a:t>   	</a:t>
            </a:r>
            <a:r>
              <a:rPr lang="en-US" altLang="zh-CN" dirty="0" err="1">
                <a:latin typeface="+mn-lt"/>
                <a:ea typeface="+mn-ea"/>
              </a:rPr>
              <a:t>STUDENT_num</a:t>
            </a:r>
            <a:r>
              <a:rPr lang="en-US" altLang="zh-CN" dirty="0">
                <a:latin typeface="+mn-lt"/>
                <a:ea typeface="+mn-ea"/>
              </a:rPr>
              <a:t>  NOT NULL PRIMARY KEY,	/*</a:t>
            </a:r>
            <a:r>
              <a:rPr lang="zh-CN" altLang="zh-CN" dirty="0">
                <a:latin typeface="+mn-lt"/>
                <a:ea typeface="+mn-ea"/>
              </a:rPr>
              <a:t>将学号定义为</a:t>
            </a:r>
            <a:r>
              <a:rPr lang="en-US" altLang="zh-CN" dirty="0" err="1">
                <a:latin typeface="+mn-lt"/>
                <a:ea typeface="+mn-ea"/>
              </a:rPr>
              <a:t>STUDENT_num</a:t>
            </a:r>
            <a:r>
              <a:rPr lang="zh-CN" altLang="zh-CN" dirty="0">
                <a:latin typeface="+mn-lt"/>
                <a:ea typeface="+mn-ea"/>
              </a:rPr>
              <a:t>类型</a:t>
            </a:r>
            <a:r>
              <a:rPr lang="en-US"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a:t>
            </a:r>
            <a:r>
              <a:rPr lang="zh-CN" altLang="zh-CN" dirty="0">
                <a:latin typeface="+mn-lt"/>
                <a:ea typeface="+mn-ea"/>
              </a:rPr>
              <a:t>姓名</a:t>
            </a:r>
            <a:r>
              <a:rPr lang="en-US" altLang="zh-CN" dirty="0">
                <a:latin typeface="+mn-lt"/>
                <a:ea typeface="+mn-ea"/>
              </a:rPr>
              <a:t> 	char(8) 		NOT NULL,</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a:t>
            </a:r>
            <a:r>
              <a:rPr lang="zh-CN" altLang="zh-CN" dirty="0">
                <a:latin typeface="+mn-lt"/>
                <a:ea typeface="+mn-ea"/>
              </a:rPr>
              <a:t>性别</a:t>
            </a:r>
            <a:r>
              <a:rPr lang="en-US" altLang="zh-CN" dirty="0">
                <a:latin typeface="+mn-lt"/>
                <a:ea typeface="+mn-ea"/>
              </a:rPr>
              <a:t>	bit 		NULL DEFAULT 1,</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a:t>
            </a:r>
            <a:r>
              <a:rPr lang="zh-CN" altLang="zh-CN" dirty="0">
                <a:latin typeface="+mn-lt"/>
                <a:ea typeface="+mn-ea"/>
              </a:rPr>
              <a:t>出生时间</a:t>
            </a:r>
            <a:r>
              <a:rPr lang="en-US" altLang="zh-CN" dirty="0">
                <a:latin typeface="+mn-lt"/>
                <a:ea typeface="+mn-ea"/>
              </a:rPr>
              <a:t>	</a:t>
            </a:r>
            <a:r>
              <a:rPr lang="en-US" altLang="zh-CN" dirty="0" err="1">
                <a:latin typeface="+mn-lt"/>
                <a:ea typeface="+mn-ea"/>
              </a:rPr>
              <a:t>datetime</a:t>
            </a:r>
            <a:r>
              <a:rPr lang="en-US" altLang="zh-CN" dirty="0">
                <a:latin typeface="+mn-lt"/>
                <a:ea typeface="+mn-ea"/>
              </a:rPr>
              <a:t> 	NULL,</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a:t>
            </a:r>
            <a:r>
              <a:rPr lang="zh-CN" altLang="zh-CN" dirty="0">
                <a:latin typeface="+mn-lt"/>
                <a:ea typeface="+mn-ea"/>
              </a:rPr>
              <a:t>专业</a:t>
            </a:r>
            <a:r>
              <a:rPr lang="en-US" altLang="zh-CN" dirty="0">
                <a:latin typeface="+mn-lt"/>
                <a:ea typeface="+mn-ea"/>
              </a:rPr>
              <a:t>   	char(12) 	NULL,</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a:t>
            </a:r>
            <a:r>
              <a:rPr lang="zh-CN" altLang="zh-CN" dirty="0">
                <a:latin typeface="+mn-lt"/>
                <a:ea typeface="+mn-ea"/>
              </a:rPr>
              <a:t>总学分</a:t>
            </a:r>
            <a:r>
              <a:rPr lang="en-US" altLang="zh-CN" dirty="0">
                <a:latin typeface="+mn-lt"/>
                <a:ea typeface="+mn-ea"/>
              </a:rPr>
              <a:t>  	</a:t>
            </a:r>
            <a:r>
              <a:rPr lang="en-US" altLang="zh-CN" dirty="0" err="1">
                <a:latin typeface="+mn-lt"/>
                <a:ea typeface="+mn-ea"/>
              </a:rPr>
              <a:t>int</a:t>
            </a:r>
            <a:r>
              <a:rPr lang="en-US" altLang="zh-CN" dirty="0">
                <a:latin typeface="+mn-lt"/>
                <a:ea typeface="+mn-ea"/>
              </a:rPr>
              <a:t> 		NULL,</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a:t>
            </a:r>
            <a:r>
              <a:rPr lang="zh-CN" altLang="zh-CN" dirty="0">
                <a:latin typeface="+mn-lt"/>
                <a:ea typeface="+mn-ea"/>
              </a:rPr>
              <a:t>备注</a:t>
            </a:r>
            <a:r>
              <a:rPr lang="en-US" altLang="zh-CN" dirty="0">
                <a:latin typeface="+mn-lt"/>
                <a:ea typeface="+mn-ea"/>
              </a:rPr>
              <a:t>   	</a:t>
            </a:r>
            <a:r>
              <a:rPr lang="en-US" altLang="zh-CN" dirty="0" err="1">
                <a:latin typeface="+mn-lt"/>
                <a:ea typeface="+mn-ea"/>
              </a:rPr>
              <a:t>varchar</a:t>
            </a:r>
            <a:r>
              <a:rPr lang="en-US" altLang="zh-CN" dirty="0">
                <a:latin typeface="+mn-lt"/>
                <a:ea typeface="+mn-ea"/>
              </a:rPr>
              <a:t>(500) 	NULL</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14400" y="5481638"/>
            <a:ext cx="7777163" cy="3603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a:xfrm>
            <a:off x="900113" y="4652963"/>
            <a:ext cx="7775575" cy="3603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5.2.2  </a:t>
            </a:r>
            <a:r>
              <a:rPr lang="zh-CN" altLang="zh-CN" dirty="0">
                <a:effectLst/>
              </a:rPr>
              <a:t>数据类型</a:t>
            </a:r>
            <a:endParaRPr lang="zh-CN" altLang="en-US" dirty="0"/>
          </a:p>
        </p:txBody>
      </p:sp>
      <p:sp>
        <p:nvSpPr>
          <p:cNvPr id="21509" name="TextBox 2"/>
          <p:cNvSpPr txBox="1">
            <a:spLocks noChangeArrowheads="1"/>
          </p:cNvSpPr>
          <p:nvPr/>
        </p:nvSpPr>
        <p:spPr bwMode="auto">
          <a:xfrm>
            <a:off x="468313" y="1268413"/>
            <a:ext cx="8207375" cy="545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4</a:t>
            </a:r>
            <a:r>
              <a:rPr lang="zh-CN" altLang="zh-CN" b="1">
                <a:solidFill>
                  <a:srgbClr val="C00000"/>
                </a:solidFill>
              </a:rPr>
              <a:t>．数据类型的删除</a:t>
            </a:r>
            <a:endParaRPr lang="zh-CN" altLang="zh-CN" b="1">
              <a:solidFill>
                <a:srgbClr val="C00000"/>
              </a:solidFill>
            </a:endParaRPr>
          </a:p>
          <a:p>
            <a:pPr eaLnBrk="1" fontAlgn="ctr" hangingPunct="1">
              <a:lnSpc>
                <a:spcPct val="150000"/>
              </a:lnSpc>
            </a:pPr>
            <a:r>
              <a:rPr lang="zh-CN" altLang="zh-CN"/>
              <a:t>（</a:t>
            </a:r>
            <a:r>
              <a:rPr lang="en-US" altLang="zh-CN"/>
              <a:t>1</a:t>
            </a:r>
            <a:r>
              <a:rPr lang="zh-CN" altLang="zh-CN"/>
              <a:t>）使用“对象资源管理器”删除。在</a:t>
            </a:r>
            <a:r>
              <a:rPr lang="en-US" altLang="zh-CN"/>
              <a:t>SSMS</a:t>
            </a:r>
            <a:r>
              <a:rPr lang="zh-CN" altLang="zh-CN"/>
              <a:t>中删除，主要操作如下：</a:t>
            </a:r>
            <a:endParaRPr lang="zh-CN" altLang="zh-CN"/>
          </a:p>
          <a:p>
            <a:pPr eaLnBrk="1" fontAlgn="ctr" hangingPunct="1">
              <a:lnSpc>
                <a:spcPct val="150000"/>
              </a:lnSpc>
            </a:pPr>
            <a:r>
              <a:rPr lang="zh-CN" altLang="zh-CN"/>
              <a:t>在“对象资源管理器”中展开数据库“</a:t>
            </a:r>
            <a:r>
              <a:rPr lang="en-US" altLang="zh-CN"/>
              <a:t>pxscj</a:t>
            </a:r>
            <a:r>
              <a:rPr lang="zh-CN" altLang="zh-CN"/>
              <a:t>”→“可编程性”→“类型”，在“用户定义数据类型”中选择类型“</a:t>
            </a:r>
            <a:r>
              <a:rPr lang="en-US" altLang="zh-CN"/>
              <a:t>dbo.STUDENT_num</a:t>
            </a:r>
            <a:r>
              <a:rPr lang="zh-CN" altLang="zh-CN"/>
              <a:t>”，右键单击鼠标，在弹出的快捷菜单中选择“删除”菜单项，打开“删除对象”窗口后单击“确定”按钮即可（实际不做操作）。</a:t>
            </a:r>
            <a:endParaRPr lang="zh-CN" altLang="zh-CN"/>
          </a:p>
          <a:p>
            <a:pPr eaLnBrk="1" hangingPunct="1">
              <a:lnSpc>
                <a:spcPct val="150000"/>
              </a:lnSpc>
            </a:pPr>
            <a:r>
              <a:rPr lang="zh-CN" altLang="zh-CN"/>
              <a:t>（</a:t>
            </a:r>
            <a:r>
              <a:rPr lang="en-US" altLang="zh-CN"/>
              <a:t>2</a:t>
            </a:r>
            <a:r>
              <a:rPr lang="zh-CN" altLang="zh-CN"/>
              <a:t>）使用命令删除。使用命令方式删除自定义数据类型可以使用</a:t>
            </a:r>
            <a:r>
              <a:rPr lang="en-US" altLang="zh-CN"/>
              <a:t>DROP TYPE</a:t>
            </a:r>
            <a:r>
              <a:rPr lang="zh-CN" altLang="zh-CN"/>
              <a:t>语句。语法格式如下：</a:t>
            </a:r>
            <a:endParaRPr lang="zh-CN" altLang="zh-CN"/>
          </a:p>
          <a:p>
            <a:pPr eaLnBrk="1" hangingPunct="1">
              <a:lnSpc>
                <a:spcPct val="150000"/>
              </a:lnSpc>
            </a:pPr>
            <a:r>
              <a:rPr lang="en-US" altLang="zh-CN"/>
              <a:t>DROP TYPE [</a:t>
            </a:r>
            <a:r>
              <a:rPr lang="zh-CN" altLang="zh-CN"/>
              <a:t>架构名</a:t>
            </a:r>
            <a:r>
              <a:rPr lang="en-US" altLang="zh-CN"/>
              <a:t>. ]</a:t>
            </a:r>
            <a:r>
              <a:rPr lang="zh-CN" altLang="zh-CN"/>
              <a:t>类型名</a:t>
            </a:r>
            <a:r>
              <a:rPr lang="en-US" altLang="zh-CN"/>
              <a:t> </a:t>
            </a:r>
            <a:endParaRPr lang="zh-CN" altLang="zh-CN"/>
          </a:p>
          <a:p>
            <a:pPr eaLnBrk="1" fontAlgn="ctr" hangingPunct="1">
              <a:lnSpc>
                <a:spcPct val="150000"/>
              </a:lnSpc>
            </a:pPr>
            <a:r>
              <a:rPr lang="zh-CN" altLang="zh-CN"/>
              <a:t>例如，删除前面定义的</a:t>
            </a:r>
            <a:r>
              <a:rPr lang="en-US" altLang="zh-CN"/>
              <a:t>STUDENT_num</a:t>
            </a:r>
            <a:r>
              <a:rPr lang="zh-CN" altLang="zh-CN"/>
              <a:t>类型的语句为：</a:t>
            </a:r>
            <a:endParaRPr lang="zh-CN" altLang="zh-CN"/>
          </a:p>
          <a:p>
            <a:pPr eaLnBrk="1" hangingPunct="1">
              <a:lnSpc>
                <a:spcPct val="150000"/>
              </a:lnSpc>
            </a:pPr>
            <a:r>
              <a:rPr lang="en-US" altLang="zh-CN"/>
              <a:t>DROP TYPE STUDENT_num</a:t>
            </a:r>
            <a:endParaRPr lang="zh-CN" altLang="zh-CN"/>
          </a:p>
          <a:p>
            <a:pPr eaLnBrk="1" fontAlgn="ctr" hangingPunct="1">
              <a:lnSpc>
                <a:spcPct val="150000"/>
              </a:lnSpc>
            </a:pPr>
            <a:r>
              <a:rPr lang="zh-CN" altLang="zh-CN"/>
              <a:t>以上语句实际不做操作。</a:t>
            </a:r>
            <a:endParaRPr lang="zh-CN" altLang="zh-CN"/>
          </a:p>
          <a:p>
            <a:pPr eaLnBrk="1" hangingPunct="1">
              <a:lnSpc>
                <a:spcPct val="150000"/>
              </a:lnSpc>
            </a:pPr>
            <a:endParaRPr lang="zh-CN" altLang="en-US"/>
          </a:p>
        </p:txBody>
      </p:sp>
    </p:spTree>
  </p:cSld>
  <p:clrMapOvr>
    <a:masterClrMapping/>
  </p:clrMapOvr>
  <p:transition spd="slow">
    <p:push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3716338"/>
            <a:ext cx="7775575" cy="22336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636838"/>
            <a:ext cx="7775575" cy="7921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5.2.2  </a:t>
            </a:r>
            <a:r>
              <a:rPr lang="zh-CN" altLang="zh-CN" dirty="0">
                <a:effectLst/>
              </a:rPr>
              <a:t>数据类型</a:t>
            </a:r>
            <a:endParaRPr lang="zh-CN" altLang="en-US" dirty="0"/>
          </a:p>
        </p:txBody>
      </p:sp>
      <p:sp>
        <p:nvSpPr>
          <p:cNvPr id="22533" name="TextBox 2"/>
          <p:cNvSpPr txBox="1">
            <a:spLocks noChangeArrowheads="1"/>
          </p:cNvSpPr>
          <p:nvPr/>
        </p:nvSpPr>
        <p:spPr bwMode="auto">
          <a:xfrm>
            <a:off x="468313" y="1484313"/>
            <a:ext cx="8207375" cy="480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5</a:t>
            </a:r>
            <a:r>
              <a:rPr lang="zh-CN" altLang="zh-CN" b="1">
                <a:solidFill>
                  <a:srgbClr val="C00000"/>
                </a:solidFill>
              </a:rPr>
              <a:t>．用户自定义表数据类型</a:t>
            </a:r>
            <a:endParaRPr lang="zh-CN" altLang="zh-CN" b="1">
              <a:solidFill>
                <a:srgbClr val="C00000"/>
              </a:solidFill>
            </a:endParaRPr>
          </a:p>
          <a:p>
            <a:pPr eaLnBrk="1" fontAlgn="ctr" hangingPunct="1"/>
            <a:r>
              <a:rPr lang="zh-CN" altLang="zh-CN"/>
              <a:t>用户自定义表数据类型（</a:t>
            </a:r>
            <a:r>
              <a:rPr lang="en-US" altLang="zh-CN"/>
              <a:t>User-defined Table Types</a:t>
            </a:r>
            <a:r>
              <a:rPr lang="zh-CN" altLang="zh-CN"/>
              <a:t>）也由用户自行定义，可以作为参数提供给语句、存储过程或者函数。创建自定义表数据类型也使用</a:t>
            </a:r>
            <a:r>
              <a:rPr lang="en-US" altLang="zh-CN"/>
              <a:t>CREATE TYPE</a:t>
            </a:r>
            <a:r>
              <a:rPr lang="zh-CN" altLang="zh-CN"/>
              <a:t>语句，语法格式如下：</a:t>
            </a:r>
            <a:endParaRPr lang="zh-CN" altLang="zh-CN"/>
          </a:p>
          <a:p>
            <a:pPr eaLnBrk="1" hangingPunct="1"/>
            <a:r>
              <a:rPr lang="en-US" altLang="zh-CN"/>
              <a:t>CREATE TYPE [</a:t>
            </a:r>
            <a:r>
              <a:rPr lang="zh-CN" altLang="zh-CN"/>
              <a:t>架构名</a:t>
            </a:r>
            <a:r>
              <a:rPr lang="en-US" altLang="zh-CN"/>
              <a:t>. ]</a:t>
            </a:r>
            <a:r>
              <a:rPr lang="zh-CN" altLang="zh-CN"/>
              <a:t>类型名</a:t>
            </a:r>
            <a:endParaRPr lang="zh-CN" altLang="zh-CN"/>
          </a:p>
          <a:p>
            <a:pPr eaLnBrk="1" hangingPunct="1"/>
            <a:r>
              <a:rPr lang="en-US" altLang="zh-CN"/>
              <a:t>     AS TABLE ( &lt;</a:t>
            </a:r>
            <a:r>
              <a:rPr lang="zh-CN" altLang="zh-CN"/>
              <a:t>列定义</a:t>
            </a:r>
            <a:r>
              <a:rPr lang="en-US" altLang="zh-CN"/>
              <a:t>&gt;</a:t>
            </a:r>
            <a:endParaRPr lang="zh-CN" altLang="zh-CN"/>
          </a:p>
          <a:p>
            <a:pPr eaLnBrk="1" hangingPunct="1"/>
            <a:r>
              <a:rPr lang="en-US" altLang="zh-CN"/>
              <a:t>                [ &lt;</a:t>
            </a:r>
            <a:r>
              <a:rPr lang="zh-CN" altLang="zh-CN"/>
              <a:t>表约束</a:t>
            </a:r>
            <a:r>
              <a:rPr lang="en-US" altLang="zh-CN"/>
              <a:t>&gt; ] [ , ... ] )</a:t>
            </a:r>
            <a:endParaRPr lang="zh-CN" altLang="zh-CN"/>
          </a:p>
          <a:p>
            <a:pPr eaLnBrk="1" fontAlgn="ctr" hangingPunct="1"/>
            <a:r>
              <a:rPr lang="zh-CN" altLang="zh-CN"/>
              <a:t>【例</a:t>
            </a:r>
            <a:r>
              <a:rPr lang="en-US" altLang="zh-CN"/>
              <a:t>5.1</a:t>
            </a:r>
            <a:r>
              <a:rPr lang="zh-CN" altLang="zh-CN"/>
              <a:t>】 创建用户自定义表数据类型，包含</a:t>
            </a:r>
            <a:r>
              <a:rPr lang="en-US" altLang="zh-CN"/>
              <a:t>cjb</a:t>
            </a:r>
            <a:r>
              <a:rPr lang="zh-CN" altLang="zh-CN"/>
              <a:t>表中的所有列。</a:t>
            </a:r>
            <a:endParaRPr lang="zh-CN" altLang="zh-CN"/>
          </a:p>
          <a:p>
            <a:pPr eaLnBrk="1" hangingPunct="1"/>
            <a:r>
              <a:rPr lang="en-US" altLang="zh-CN"/>
              <a:t>CREATE TYPE cjb_tabletype</a:t>
            </a:r>
            <a:endParaRPr lang="zh-CN" altLang="zh-CN"/>
          </a:p>
          <a:p>
            <a:pPr eaLnBrk="1" hangingPunct="1"/>
            <a:r>
              <a:rPr lang="en-US" altLang="zh-CN"/>
              <a:t>     AS TABLE</a:t>
            </a:r>
            <a:endParaRPr lang="zh-CN" altLang="zh-CN"/>
          </a:p>
          <a:p>
            <a:pPr eaLnBrk="1" hangingPunct="1"/>
            <a:r>
              <a:rPr lang="en-US" altLang="zh-CN"/>
              <a:t>      (</a:t>
            </a:r>
            <a:endParaRPr lang="zh-CN" altLang="zh-CN"/>
          </a:p>
          <a:p>
            <a:pPr eaLnBrk="1" hangingPunct="1"/>
            <a:r>
              <a:rPr lang="en-US" altLang="zh-CN"/>
              <a:t>          </a:t>
            </a:r>
            <a:r>
              <a:rPr lang="zh-CN" altLang="zh-CN"/>
              <a:t>学号</a:t>
            </a:r>
            <a:r>
              <a:rPr lang="en-US" altLang="zh-CN"/>
              <a:t>		char(6)	NOT NULL,</a:t>
            </a:r>
            <a:endParaRPr lang="zh-CN" altLang="zh-CN"/>
          </a:p>
          <a:p>
            <a:pPr eaLnBrk="1" hangingPunct="1"/>
            <a:r>
              <a:rPr lang="en-US" altLang="zh-CN"/>
              <a:t>          </a:t>
            </a:r>
            <a:r>
              <a:rPr lang="zh-CN" altLang="zh-CN"/>
              <a:t>课程号</a:t>
            </a:r>
            <a:r>
              <a:rPr lang="en-US" altLang="zh-CN"/>
              <a:t>	char(3)	NOT NULL,</a:t>
            </a:r>
            <a:endParaRPr lang="zh-CN" altLang="zh-CN"/>
          </a:p>
          <a:p>
            <a:pPr eaLnBrk="1" hangingPunct="1"/>
            <a:r>
              <a:rPr lang="en-US" altLang="zh-CN"/>
              <a:t>          </a:t>
            </a:r>
            <a:r>
              <a:rPr lang="zh-CN" altLang="zh-CN"/>
              <a:t>成绩</a:t>
            </a:r>
            <a:r>
              <a:rPr lang="en-US" altLang="zh-CN"/>
              <a:t>		int		NOT NULL,</a:t>
            </a:r>
            <a:endParaRPr lang="zh-CN" altLang="zh-CN"/>
          </a:p>
          <a:p>
            <a:pPr eaLnBrk="1" hangingPunct="1"/>
            <a:r>
              <a:rPr lang="en-US" altLang="zh-CN"/>
              <a:t>          PRIMARY KEY(</a:t>
            </a:r>
            <a:r>
              <a:rPr lang="zh-CN" altLang="zh-CN"/>
              <a:t>学号</a:t>
            </a:r>
            <a:r>
              <a:rPr lang="en-US" altLang="zh-CN"/>
              <a:t>, </a:t>
            </a:r>
            <a:r>
              <a:rPr lang="zh-CN" altLang="zh-CN"/>
              <a:t>课程号</a:t>
            </a:r>
            <a:r>
              <a:rPr lang="en-US" altLang="zh-CN"/>
              <a:t>)</a:t>
            </a:r>
            <a:endParaRPr lang="zh-CN" altLang="zh-CN"/>
          </a:p>
          <a:p>
            <a:pPr eaLnBrk="1" hangingPunct="1"/>
            <a:r>
              <a:rPr lang="en-US" altLang="zh-CN"/>
              <a:t>     )</a:t>
            </a:r>
            <a:endParaRPr lang="zh-CN" altLang="zh-CN"/>
          </a:p>
          <a:p>
            <a:pPr eaLnBrk="1" hangingPunct="1"/>
            <a:endParaRPr lang="zh-CN" altLang="en-US"/>
          </a:p>
        </p:txBody>
      </p:sp>
    </p:spTree>
  </p:cSld>
  <p:clrMapOvr>
    <a:masterClrMapping/>
  </p:clrMapOvr>
  <p:transition spd="slow">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29600" cy="1143000"/>
          </a:xfrm>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5.2.3  </a:t>
            </a:r>
            <a:r>
              <a:rPr lang="zh-CN" altLang="zh-CN" dirty="0">
                <a:effectLst/>
              </a:rPr>
              <a:t>变量：</a:t>
            </a:r>
            <a:r>
              <a:rPr lang="en-US" altLang="zh-CN" dirty="0">
                <a:effectLst/>
              </a:rPr>
              <a:t>DECLARE/SET/SELECT</a:t>
            </a:r>
            <a:endParaRPr lang="zh-CN" altLang="zh-CN" dirty="0">
              <a:effectLst/>
            </a:endParaRPr>
          </a:p>
        </p:txBody>
      </p:sp>
      <p:sp>
        <p:nvSpPr>
          <p:cNvPr id="23555" name="TextBox 2"/>
          <p:cNvSpPr txBox="1">
            <a:spLocks noChangeArrowheads="1"/>
          </p:cNvSpPr>
          <p:nvPr/>
        </p:nvSpPr>
        <p:spPr bwMode="auto">
          <a:xfrm>
            <a:off x="468313" y="1557338"/>
            <a:ext cx="82804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1</a:t>
            </a:r>
            <a:r>
              <a:rPr lang="zh-CN" altLang="zh-CN" b="1">
                <a:solidFill>
                  <a:srgbClr val="C00000"/>
                </a:solidFill>
              </a:rPr>
              <a:t>．变量及其分类</a:t>
            </a:r>
            <a:endParaRPr lang="zh-CN" altLang="zh-CN" b="1">
              <a:solidFill>
                <a:srgbClr val="C00000"/>
              </a:solidFill>
            </a:endParaRPr>
          </a:p>
          <a:p>
            <a:pPr eaLnBrk="1" fontAlgn="ctr" hangingPunct="1"/>
            <a:r>
              <a:rPr lang="zh-CN" altLang="zh-CN"/>
              <a:t>变量名必须是一个合法的标识符。</a:t>
            </a:r>
            <a:endParaRPr lang="zh-CN" altLang="zh-CN"/>
          </a:p>
          <a:p>
            <a:pPr eaLnBrk="1" fontAlgn="ctr" hangingPunct="1"/>
            <a:r>
              <a:rPr lang="zh-CN" altLang="zh-CN" b="1"/>
              <a:t>（</a:t>
            </a:r>
            <a:r>
              <a:rPr lang="en-US" altLang="zh-CN" b="1"/>
              <a:t>1</a:t>
            </a:r>
            <a:r>
              <a:rPr lang="zh-CN" altLang="zh-CN" b="1"/>
              <a:t>）标识符</a:t>
            </a:r>
            <a:endParaRPr lang="zh-CN" altLang="zh-CN" b="1"/>
          </a:p>
          <a:p>
            <a:pPr eaLnBrk="1" fontAlgn="ctr" hangingPunct="1"/>
            <a:r>
              <a:rPr lang="zh-CN" altLang="zh-CN"/>
              <a:t>常规标识符：以</a:t>
            </a:r>
            <a:r>
              <a:rPr lang="en-US" altLang="zh-CN"/>
              <a:t>ASCII</a:t>
            </a:r>
            <a:r>
              <a:rPr lang="zh-CN" altLang="zh-CN"/>
              <a:t>字母、</a:t>
            </a:r>
            <a:r>
              <a:rPr lang="en-US" altLang="zh-CN"/>
              <a:t>Unicode</a:t>
            </a:r>
            <a:r>
              <a:rPr lang="zh-CN" altLang="zh-CN"/>
              <a:t>字母、下画线（</a:t>
            </a:r>
            <a:r>
              <a:rPr lang="en-US" altLang="zh-CN"/>
              <a:t>_</a:t>
            </a:r>
            <a:r>
              <a:rPr lang="zh-CN" altLang="zh-CN"/>
              <a:t>）、</a:t>
            </a:r>
            <a:r>
              <a:rPr lang="en-US" altLang="zh-CN"/>
              <a:t>@</a:t>
            </a:r>
            <a:r>
              <a:rPr lang="zh-CN" altLang="zh-CN"/>
              <a:t>或</a:t>
            </a:r>
            <a:r>
              <a:rPr lang="en-US" altLang="zh-CN"/>
              <a:t>#</a:t>
            </a:r>
            <a:r>
              <a:rPr lang="zh-CN" altLang="zh-CN"/>
              <a:t>开头，后续可跟一个或若干个</a:t>
            </a:r>
            <a:r>
              <a:rPr lang="en-US" altLang="zh-CN"/>
              <a:t>ASCII</a:t>
            </a:r>
            <a:r>
              <a:rPr lang="zh-CN" altLang="zh-CN"/>
              <a:t>字符、</a:t>
            </a:r>
            <a:r>
              <a:rPr lang="en-US" altLang="zh-CN"/>
              <a:t>Unicode</a:t>
            </a:r>
            <a:r>
              <a:rPr lang="zh-CN" altLang="zh-CN"/>
              <a:t>字符、下画线（</a:t>
            </a:r>
            <a:r>
              <a:rPr lang="en-US" altLang="zh-CN"/>
              <a:t>_</a:t>
            </a:r>
            <a:r>
              <a:rPr lang="zh-CN" altLang="zh-CN"/>
              <a:t>）、美元符号（</a:t>
            </a:r>
            <a:r>
              <a:rPr lang="en-US" altLang="zh-CN"/>
              <a:t>$</a:t>
            </a:r>
            <a:r>
              <a:rPr lang="zh-CN" altLang="zh-CN"/>
              <a:t>）、</a:t>
            </a:r>
            <a:r>
              <a:rPr lang="en-US" altLang="zh-CN"/>
              <a:t>@</a:t>
            </a:r>
            <a:r>
              <a:rPr lang="zh-CN" altLang="zh-CN"/>
              <a:t>或</a:t>
            </a:r>
            <a:r>
              <a:rPr lang="en-US" altLang="zh-CN"/>
              <a:t>#</a:t>
            </a:r>
            <a:r>
              <a:rPr lang="zh-CN" altLang="zh-CN"/>
              <a:t>，但不能全为下画线（</a:t>
            </a:r>
            <a:r>
              <a:rPr lang="en-US" altLang="zh-CN"/>
              <a:t>_</a:t>
            </a:r>
            <a:r>
              <a:rPr lang="zh-CN" altLang="zh-CN"/>
              <a:t>）、</a:t>
            </a:r>
            <a:r>
              <a:rPr lang="en-US" altLang="zh-CN"/>
              <a:t>@</a:t>
            </a:r>
            <a:r>
              <a:rPr lang="zh-CN" altLang="zh-CN"/>
              <a:t>或</a:t>
            </a:r>
            <a:r>
              <a:rPr lang="en-US" altLang="zh-CN"/>
              <a:t>#</a:t>
            </a:r>
            <a:r>
              <a:rPr lang="zh-CN" altLang="zh-CN"/>
              <a:t>。</a:t>
            </a:r>
            <a:endParaRPr lang="zh-CN" altLang="zh-CN"/>
          </a:p>
          <a:p>
            <a:pPr eaLnBrk="1" fontAlgn="ctr" hangingPunct="1"/>
            <a:r>
              <a:rPr lang="zh-CN" altLang="zh-CN"/>
              <a:t>分隔标识符：包含在双引号（</a:t>
            </a:r>
            <a:r>
              <a:rPr lang="en-US" altLang="zh-CN"/>
              <a:t>"</a:t>
            </a:r>
            <a:r>
              <a:rPr lang="zh-CN" altLang="zh-CN"/>
              <a:t>）或者方括号（</a:t>
            </a:r>
            <a:r>
              <a:rPr lang="en-US" altLang="zh-CN"/>
              <a:t>[ ]</a:t>
            </a:r>
            <a:r>
              <a:rPr lang="zh-CN" altLang="zh-CN"/>
              <a:t>）内的常规标识符或不符合常规标识符规则的标识符。</a:t>
            </a:r>
            <a:endParaRPr lang="zh-CN" altLang="zh-CN"/>
          </a:p>
          <a:p>
            <a:pPr eaLnBrk="1" fontAlgn="ctr" hangingPunct="1"/>
            <a:r>
              <a:rPr lang="zh-CN" altLang="zh-CN" b="1"/>
              <a:t>（</a:t>
            </a:r>
            <a:r>
              <a:rPr lang="en-US" altLang="zh-CN" b="1"/>
              <a:t>2</a:t>
            </a:r>
            <a:r>
              <a:rPr lang="zh-CN" altLang="zh-CN" b="1"/>
              <a:t>）变量的分类</a:t>
            </a:r>
            <a:endParaRPr lang="zh-CN" altLang="zh-CN" b="1"/>
          </a:p>
          <a:p>
            <a:pPr eaLnBrk="1" fontAlgn="ctr" hangingPunct="1"/>
            <a:r>
              <a:rPr lang="zh-CN" altLang="zh-CN"/>
              <a:t>全局变量：全局变量由系统提供且预先声明，通过在名称前加两个“</a:t>
            </a:r>
            <a:r>
              <a:rPr lang="en-US" altLang="zh-CN"/>
              <a:t>@</a:t>
            </a:r>
            <a:r>
              <a:rPr lang="zh-CN" altLang="zh-CN"/>
              <a:t>”来区别于局部变量。</a:t>
            </a:r>
            <a:r>
              <a:rPr lang="en-US" altLang="zh-CN"/>
              <a:t>T-SQL</a:t>
            </a:r>
            <a:r>
              <a:rPr lang="zh-CN" altLang="zh-CN"/>
              <a:t>全局变量作为函数引用。例如，</a:t>
            </a:r>
            <a:r>
              <a:rPr lang="en-US" altLang="zh-CN"/>
              <a:t>@@ERROR</a:t>
            </a:r>
            <a:r>
              <a:rPr lang="zh-CN" altLang="zh-CN"/>
              <a:t>返回执行的上一个</a:t>
            </a:r>
            <a:r>
              <a:rPr lang="en-US" altLang="zh-CN"/>
              <a:t>T-SQL</a:t>
            </a:r>
            <a:r>
              <a:rPr lang="zh-CN" altLang="zh-CN"/>
              <a:t>语句的错误号；</a:t>
            </a:r>
            <a:r>
              <a:rPr lang="en-US" altLang="zh-CN"/>
              <a:t>@@CONNECTIONS</a:t>
            </a:r>
            <a:r>
              <a:rPr lang="zh-CN" altLang="zh-CN"/>
              <a:t>返回自上次启动</a:t>
            </a:r>
            <a:r>
              <a:rPr lang="en-US" altLang="zh-CN"/>
              <a:t>SQL Server</a:t>
            </a:r>
            <a:r>
              <a:rPr lang="zh-CN" altLang="zh-CN"/>
              <a:t>以来连接或试图连接的次数。</a:t>
            </a:r>
            <a:endParaRPr lang="zh-CN" altLang="zh-CN"/>
          </a:p>
          <a:p>
            <a:pPr eaLnBrk="1" fontAlgn="ctr" hangingPunct="1"/>
            <a:r>
              <a:rPr lang="zh-CN" altLang="zh-CN"/>
              <a:t>局部变量：局部变量用于保存单个数据值。例如，保存运算的中间结果，作为循环变量等。</a:t>
            </a:r>
            <a:endParaRPr lang="zh-CN" altLang="zh-CN"/>
          </a:p>
          <a:p>
            <a:pPr eaLnBrk="1" hangingPunct="1"/>
            <a:endParaRPr lang="zh-CN" altLang="en-US"/>
          </a:p>
        </p:txBody>
      </p:sp>
    </p:spTree>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33450" y="4508500"/>
            <a:ext cx="7777163" cy="12969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a:xfrm>
            <a:off x="933450" y="3908425"/>
            <a:ext cx="7777163" cy="2873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565400"/>
            <a:ext cx="7775575" cy="2873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5.2.3  </a:t>
            </a:r>
            <a:r>
              <a:rPr lang="zh-CN" altLang="zh-CN" dirty="0">
                <a:effectLst/>
              </a:rPr>
              <a:t>变量：</a:t>
            </a:r>
            <a:r>
              <a:rPr lang="en-US" altLang="zh-CN" dirty="0">
                <a:effectLst/>
              </a:rPr>
              <a:t>DECLARE/SET/SELECT</a:t>
            </a:r>
            <a:endParaRPr lang="zh-CN" altLang="en-US" dirty="0"/>
          </a:p>
        </p:txBody>
      </p:sp>
      <p:sp>
        <p:nvSpPr>
          <p:cNvPr id="24582" name="TextBox 2"/>
          <p:cNvSpPr txBox="1">
            <a:spLocks noChangeArrowheads="1"/>
          </p:cNvSpPr>
          <p:nvPr/>
        </p:nvSpPr>
        <p:spPr bwMode="auto">
          <a:xfrm>
            <a:off x="539750" y="1412875"/>
            <a:ext cx="8135938"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2</a:t>
            </a:r>
            <a:r>
              <a:rPr lang="zh-CN" altLang="zh-CN" b="1">
                <a:solidFill>
                  <a:srgbClr val="C00000"/>
                </a:solidFill>
              </a:rPr>
              <a:t>．局部变量</a:t>
            </a:r>
            <a:endParaRPr lang="zh-CN" altLang="zh-CN" b="1">
              <a:solidFill>
                <a:srgbClr val="C00000"/>
              </a:solidFill>
            </a:endParaRPr>
          </a:p>
          <a:p>
            <a:pPr eaLnBrk="1" fontAlgn="ctr" hangingPunct="1"/>
            <a:r>
              <a:rPr lang="zh-CN" altLang="zh-CN"/>
              <a:t>（</a:t>
            </a:r>
            <a:r>
              <a:rPr lang="en-US" altLang="zh-CN"/>
              <a:t>1</a:t>
            </a:r>
            <a:r>
              <a:rPr lang="zh-CN" altLang="zh-CN"/>
              <a:t>）局部变量的定义</a:t>
            </a:r>
            <a:endParaRPr lang="zh-CN" altLang="zh-CN"/>
          </a:p>
          <a:p>
            <a:pPr eaLnBrk="1" fontAlgn="ctr" hangingPunct="1"/>
            <a:r>
              <a:rPr lang="zh-CN" altLang="zh-CN"/>
              <a:t>在批处理或过程中用</a:t>
            </a:r>
            <a:r>
              <a:rPr lang="en-US" altLang="zh-CN"/>
              <a:t>DECLARE</a:t>
            </a:r>
            <a:r>
              <a:rPr lang="zh-CN" altLang="zh-CN"/>
              <a:t>语句声明局部变量，所有局部变量在声明后均初始化为</a:t>
            </a:r>
            <a:r>
              <a:rPr lang="en-US" altLang="zh-CN"/>
              <a:t>NULL</a:t>
            </a:r>
            <a:r>
              <a:rPr lang="zh-CN" altLang="zh-CN"/>
              <a:t>。语法格式：</a:t>
            </a:r>
            <a:endParaRPr lang="zh-CN" altLang="zh-CN"/>
          </a:p>
          <a:p>
            <a:pPr eaLnBrk="1" hangingPunct="1"/>
            <a:r>
              <a:rPr lang="en-US" altLang="zh-CN"/>
              <a:t>DECLARE { @</a:t>
            </a:r>
            <a:r>
              <a:rPr lang="zh-CN" altLang="zh-CN"/>
              <a:t>局部变量</a:t>
            </a:r>
            <a:r>
              <a:rPr lang="en-US" altLang="zh-CN"/>
              <a:t>  </a:t>
            </a:r>
            <a:r>
              <a:rPr lang="zh-CN" altLang="zh-CN"/>
              <a:t>数据类型</a:t>
            </a:r>
            <a:r>
              <a:rPr lang="en-US" altLang="zh-CN"/>
              <a:t>[= </a:t>
            </a:r>
            <a:r>
              <a:rPr lang="zh-CN" altLang="zh-CN"/>
              <a:t>值</a:t>
            </a:r>
            <a:r>
              <a:rPr lang="en-US" altLang="zh-CN"/>
              <a:t>]}  [ , ...]</a:t>
            </a:r>
            <a:endParaRPr lang="zh-CN" altLang="zh-CN"/>
          </a:p>
          <a:p>
            <a:pPr eaLnBrk="1" hangingPunct="1"/>
            <a:r>
              <a:rPr lang="zh-CN" altLang="zh-CN"/>
              <a:t>（</a:t>
            </a:r>
            <a:r>
              <a:rPr lang="en-US" altLang="zh-CN"/>
              <a:t>2</a:t>
            </a:r>
            <a:r>
              <a:rPr lang="zh-CN" altLang="zh-CN"/>
              <a:t>）局部变量的赋值</a:t>
            </a:r>
            <a:endParaRPr lang="zh-CN" altLang="zh-CN"/>
          </a:p>
          <a:p>
            <a:pPr eaLnBrk="1" fontAlgn="ctr" hangingPunct="1"/>
            <a:r>
              <a:rPr lang="zh-CN" altLang="zh-CN"/>
              <a:t>当声明局部变量后，可用</a:t>
            </a:r>
            <a:r>
              <a:rPr lang="en-US" altLang="zh-CN"/>
              <a:t>SET</a:t>
            </a:r>
            <a:r>
              <a:rPr lang="zh-CN" altLang="zh-CN"/>
              <a:t>或</a:t>
            </a:r>
            <a:r>
              <a:rPr lang="en-US" altLang="zh-CN"/>
              <a:t>SELECT</a:t>
            </a:r>
            <a:r>
              <a:rPr lang="zh-CN" altLang="zh-CN"/>
              <a:t>语句为其赋值。</a:t>
            </a:r>
            <a:endParaRPr lang="zh-CN" altLang="zh-CN"/>
          </a:p>
          <a:p>
            <a:pPr eaLnBrk="1" fontAlgn="ctr" hangingPunct="1"/>
            <a:r>
              <a:rPr lang="zh-CN" altLang="zh-CN"/>
              <a:t>①</a:t>
            </a:r>
            <a:r>
              <a:rPr lang="en-US" altLang="zh-CN"/>
              <a:t> </a:t>
            </a:r>
            <a:r>
              <a:rPr lang="zh-CN" altLang="zh-CN"/>
              <a:t>用</a:t>
            </a:r>
            <a:r>
              <a:rPr lang="en-US" altLang="zh-CN"/>
              <a:t>SET</a:t>
            </a:r>
            <a:r>
              <a:rPr lang="zh-CN" altLang="zh-CN"/>
              <a:t>语句赋值</a:t>
            </a:r>
            <a:endParaRPr lang="zh-CN" altLang="zh-CN"/>
          </a:p>
          <a:p>
            <a:pPr eaLnBrk="1" fontAlgn="ctr" hangingPunct="1"/>
            <a:r>
              <a:rPr lang="zh-CN" altLang="zh-CN"/>
              <a:t>将</a:t>
            </a:r>
            <a:r>
              <a:rPr lang="en-US" altLang="zh-CN"/>
              <a:t>DECLARE</a:t>
            </a:r>
            <a:r>
              <a:rPr lang="zh-CN" altLang="zh-CN"/>
              <a:t>语句创建的局部变量设置为给定表达式的值。语法格式：</a:t>
            </a:r>
            <a:endParaRPr lang="zh-CN" altLang="zh-CN"/>
          </a:p>
          <a:p>
            <a:pPr eaLnBrk="1" hangingPunct="1"/>
            <a:r>
              <a:rPr lang="en-US" altLang="zh-CN"/>
              <a:t>SET  @l</a:t>
            </a:r>
            <a:r>
              <a:rPr lang="zh-CN" altLang="zh-CN"/>
              <a:t>局部变量＝表达式</a:t>
            </a:r>
            <a:endParaRPr lang="en-US" altLang="zh-CN"/>
          </a:p>
          <a:p>
            <a:pPr eaLnBrk="1" fontAlgn="ctr" hangingPunct="1"/>
            <a:r>
              <a:rPr lang="zh-CN" altLang="zh-CN"/>
              <a:t>【例</a:t>
            </a:r>
            <a:r>
              <a:rPr lang="en-US" altLang="zh-CN"/>
              <a:t>5.2</a:t>
            </a:r>
            <a:r>
              <a:rPr lang="zh-CN" altLang="zh-CN"/>
              <a:t>】 创建局部变量</a:t>
            </a:r>
            <a:r>
              <a:rPr lang="en-US" altLang="zh-CN"/>
              <a:t>@var1</a:t>
            </a:r>
            <a:r>
              <a:rPr lang="zh-CN" altLang="zh-CN"/>
              <a:t>、</a:t>
            </a:r>
            <a:r>
              <a:rPr lang="en-US" altLang="zh-CN"/>
              <a:t>@var2</a:t>
            </a:r>
            <a:r>
              <a:rPr lang="zh-CN" altLang="zh-CN"/>
              <a:t>并赋值，然后输出变量的值。</a:t>
            </a:r>
            <a:endParaRPr lang="zh-CN" altLang="zh-CN"/>
          </a:p>
          <a:p>
            <a:pPr eaLnBrk="1" hangingPunct="1"/>
            <a:r>
              <a:rPr lang="en-US" altLang="zh-CN"/>
              <a:t>DECLARE @var1 char(10) ,@var2 char(30)</a:t>
            </a:r>
            <a:endParaRPr lang="zh-CN" altLang="zh-CN"/>
          </a:p>
          <a:p>
            <a:pPr eaLnBrk="1" hangingPunct="1"/>
            <a:r>
              <a:rPr lang="en-US" altLang="zh-CN"/>
              <a:t>SET  @var1='</a:t>
            </a:r>
            <a:r>
              <a:rPr lang="zh-CN" altLang="zh-CN"/>
              <a:t>中国</a:t>
            </a:r>
            <a:r>
              <a:rPr lang="en-US" altLang="zh-CN"/>
              <a:t>'  		/*</a:t>
            </a:r>
            <a:r>
              <a:rPr lang="zh-CN" altLang="zh-CN"/>
              <a:t>一个</a:t>
            </a:r>
            <a:r>
              <a:rPr lang="en-US" altLang="zh-CN"/>
              <a:t>SET</a:t>
            </a:r>
            <a:r>
              <a:rPr lang="zh-CN" altLang="zh-CN"/>
              <a:t>语句只能为一个变量赋值</a:t>
            </a:r>
            <a:r>
              <a:rPr lang="en-US" altLang="zh-CN"/>
              <a:t>*/</a:t>
            </a:r>
            <a:endParaRPr lang="zh-CN" altLang="zh-CN"/>
          </a:p>
          <a:p>
            <a:pPr eaLnBrk="1" hangingPunct="1"/>
            <a:r>
              <a:rPr lang="en-US" altLang="zh-CN"/>
              <a:t>SET  @var2=@var1+'</a:t>
            </a:r>
            <a:r>
              <a:rPr lang="zh-CN" altLang="zh-CN"/>
              <a:t>是一个伟大的国家</a:t>
            </a:r>
            <a:r>
              <a:rPr lang="en-US" altLang="zh-CN"/>
              <a:t>'</a:t>
            </a:r>
            <a:endParaRPr lang="zh-CN" altLang="zh-CN"/>
          </a:p>
          <a:p>
            <a:pPr eaLnBrk="1" hangingPunct="1"/>
            <a:r>
              <a:rPr lang="en-US" altLang="zh-CN"/>
              <a:t>SELECT @var1, @var2</a:t>
            </a:r>
            <a:endParaRPr lang="zh-CN" altLang="zh-CN"/>
          </a:p>
          <a:p>
            <a:pPr eaLnBrk="1" hangingPunct="1"/>
            <a:r>
              <a:rPr lang="en-US" altLang="zh-CN"/>
              <a:t>GO</a:t>
            </a:r>
            <a:endParaRPr lang="zh-CN" altLang="zh-CN"/>
          </a:p>
          <a:p>
            <a:pPr eaLnBrk="1" hangingPunct="1"/>
            <a:r>
              <a:rPr lang="zh-CN" altLang="zh-CN"/>
              <a:t>执行结果如图</a:t>
            </a:r>
            <a:r>
              <a:rPr lang="en-US" altLang="zh-CN"/>
              <a:t>5.4</a:t>
            </a:r>
            <a:r>
              <a:rPr lang="zh-CN" altLang="zh-CN"/>
              <a:t>所示。 </a:t>
            </a:r>
            <a:endParaRPr lang="zh-CN" altLang="zh-CN"/>
          </a:p>
          <a:p>
            <a:pPr eaLnBrk="1" hangingPunct="1"/>
            <a:endParaRPr lang="zh-CN" altLang="en-US"/>
          </a:p>
        </p:txBody>
      </p:sp>
      <p:pic>
        <p:nvPicPr>
          <p:cNvPr id="2458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00475" y="6021388"/>
            <a:ext cx="3148013"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1700" y="4292600"/>
            <a:ext cx="7777163" cy="8207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060575"/>
            <a:ext cx="7775575" cy="19446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5.2.3  </a:t>
            </a:r>
            <a:r>
              <a:rPr lang="zh-CN" altLang="zh-CN" dirty="0">
                <a:effectLst/>
              </a:rPr>
              <a:t>变量：</a:t>
            </a:r>
            <a:r>
              <a:rPr lang="en-US" altLang="zh-CN" dirty="0">
                <a:effectLst/>
              </a:rPr>
              <a:t>DECLARE/SET/SELECT</a:t>
            </a:r>
            <a:endParaRPr lang="zh-CN" altLang="en-US" dirty="0"/>
          </a:p>
        </p:txBody>
      </p:sp>
      <p:sp>
        <p:nvSpPr>
          <p:cNvPr id="25605" name="TextBox 2"/>
          <p:cNvSpPr txBox="1">
            <a:spLocks noChangeArrowheads="1"/>
          </p:cNvSpPr>
          <p:nvPr/>
        </p:nvSpPr>
        <p:spPr bwMode="auto">
          <a:xfrm>
            <a:off x="468313" y="1484313"/>
            <a:ext cx="8280400"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5.3</a:t>
            </a:r>
            <a:r>
              <a:rPr lang="zh-CN" altLang="zh-CN"/>
              <a:t>】 创建一个名为</a:t>
            </a:r>
            <a:r>
              <a:rPr lang="en-US" altLang="zh-CN"/>
              <a:t>sex</a:t>
            </a:r>
            <a:r>
              <a:rPr lang="zh-CN" altLang="zh-CN"/>
              <a:t>的局部变量，并在</a:t>
            </a:r>
            <a:r>
              <a:rPr lang="en-US" altLang="zh-CN"/>
              <a:t>SELECT</a:t>
            </a:r>
            <a:r>
              <a:rPr lang="zh-CN" altLang="zh-CN"/>
              <a:t>语句中使用该局部变量查找表</a:t>
            </a:r>
            <a:r>
              <a:rPr lang="en-US" altLang="zh-CN"/>
              <a:t>xsb</a:t>
            </a:r>
            <a:r>
              <a:rPr lang="zh-CN" altLang="zh-CN"/>
              <a:t>中所有女同学的学号、 姓名。</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DECLARE @sex bit</a:t>
            </a:r>
            <a:endParaRPr lang="zh-CN" altLang="zh-CN"/>
          </a:p>
          <a:p>
            <a:pPr eaLnBrk="1" hangingPunct="1"/>
            <a:r>
              <a:rPr lang="en-US" altLang="zh-CN"/>
              <a:t>SET @sex=0</a:t>
            </a:r>
            <a:endParaRPr lang="zh-CN" altLang="zh-CN"/>
          </a:p>
          <a:p>
            <a:pPr eaLnBrk="1" hangingPunct="1"/>
            <a:r>
              <a:rPr lang="en-US" altLang="zh-CN"/>
              <a:t>SELECT</a:t>
            </a:r>
            <a:r>
              <a:rPr lang="zh-CN" altLang="zh-CN"/>
              <a:t>学号</a:t>
            </a:r>
            <a:r>
              <a:rPr lang="en-US" altLang="zh-CN"/>
              <a:t>, </a:t>
            </a:r>
            <a:r>
              <a:rPr lang="zh-CN" altLang="zh-CN"/>
              <a:t>姓名</a:t>
            </a:r>
            <a:endParaRPr lang="zh-CN" altLang="zh-CN"/>
          </a:p>
          <a:p>
            <a:pPr eaLnBrk="1" hangingPunct="1"/>
            <a:r>
              <a:rPr lang="en-US" altLang="zh-CN"/>
              <a:t>     FROM  xsb</a:t>
            </a:r>
            <a:endParaRPr lang="zh-CN" altLang="zh-CN"/>
          </a:p>
          <a:p>
            <a:pPr eaLnBrk="1" hangingPunct="1"/>
            <a:r>
              <a:rPr lang="en-US" altLang="zh-CN"/>
              <a:t>     WHERE</a:t>
            </a:r>
            <a:r>
              <a:rPr lang="zh-CN" altLang="zh-CN"/>
              <a:t>性别</a:t>
            </a:r>
            <a:r>
              <a:rPr lang="en-US" altLang="zh-CN"/>
              <a:t>=@sex</a:t>
            </a:r>
            <a:endParaRPr lang="zh-CN" altLang="zh-CN"/>
          </a:p>
          <a:p>
            <a:pPr eaLnBrk="1" fontAlgn="ctr" hangingPunct="1"/>
            <a:r>
              <a:rPr lang="zh-CN" altLang="zh-CN"/>
              <a:t>【例</a:t>
            </a:r>
            <a:r>
              <a:rPr lang="en-US" altLang="zh-CN"/>
              <a:t>5.4</a:t>
            </a:r>
            <a:r>
              <a:rPr lang="zh-CN" altLang="zh-CN"/>
              <a:t>】 使用查询为变量赋值。</a:t>
            </a:r>
            <a:endParaRPr lang="zh-CN" altLang="zh-CN"/>
          </a:p>
          <a:p>
            <a:pPr eaLnBrk="1" hangingPunct="1"/>
            <a:r>
              <a:rPr lang="en-US" altLang="zh-CN"/>
              <a:t>DECLARE @student char(8)</a:t>
            </a:r>
            <a:endParaRPr lang="zh-CN" altLang="zh-CN"/>
          </a:p>
          <a:p>
            <a:pPr eaLnBrk="1" hangingPunct="1"/>
            <a:r>
              <a:rPr lang="en-US" altLang="zh-CN"/>
              <a:t>SET @student=(SELECT</a:t>
            </a:r>
            <a:r>
              <a:rPr lang="zh-CN" altLang="zh-CN"/>
              <a:t>姓名</a:t>
            </a:r>
            <a:r>
              <a:rPr lang="en-US" altLang="zh-CN"/>
              <a:t>FROM xsb WHERE</a:t>
            </a:r>
            <a:r>
              <a:rPr lang="zh-CN" altLang="zh-CN"/>
              <a:t>学号</a:t>
            </a:r>
            <a:r>
              <a:rPr lang="en-US" altLang="zh-CN"/>
              <a:t>= '191301')</a:t>
            </a:r>
            <a:endParaRPr lang="zh-CN" altLang="zh-CN"/>
          </a:p>
          <a:p>
            <a:pPr eaLnBrk="1" hangingPunct="1"/>
            <a:r>
              <a:rPr lang="en-US" altLang="zh-CN"/>
              <a:t>SELECT @student</a:t>
            </a:r>
            <a:endParaRPr lang="zh-CN" altLang="zh-CN"/>
          </a:p>
          <a:p>
            <a:pPr eaLnBrk="1" hangingPunct="1"/>
            <a:endParaRPr lang="zh-CN" altLang="en-US"/>
          </a:p>
        </p:txBody>
      </p:sp>
    </p:spTree>
  </p:cSld>
  <p:clrMapOvr>
    <a:masterClrMapping/>
  </p:clrMapOvr>
  <p:transition spd="slow">
    <p:push dir="u"/>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2705100"/>
            <a:ext cx="7848600" cy="7953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133600"/>
            <a:ext cx="7848600" cy="2873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5.2.3  </a:t>
            </a:r>
            <a:r>
              <a:rPr lang="zh-CN" altLang="zh-CN" dirty="0">
                <a:effectLst/>
              </a:rPr>
              <a:t>变量：</a:t>
            </a:r>
            <a:r>
              <a:rPr lang="en-US" altLang="zh-CN" dirty="0">
                <a:effectLst/>
              </a:rPr>
              <a:t>DECLARE/SET/SELECT</a:t>
            </a:r>
            <a:endParaRPr lang="zh-CN" altLang="en-US" dirty="0"/>
          </a:p>
        </p:txBody>
      </p:sp>
      <p:sp>
        <p:nvSpPr>
          <p:cNvPr id="26629" name="TextBox 2"/>
          <p:cNvSpPr txBox="1">
            <a:spLocks noChangeArrowheads="1"/>
          </p:cNvSpPr>
          <p:nvPr/>
        </p:nvSpPr>
        <p:spPr bwMode="auto">
          <a:xfrm>
            <a:off x="468313" y="1557338"/>
            <a:ext cx="820737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②</a:t>
            </a:r>
            <a:r>
              <a:rPr lang="en-US" altLang="zh-CN"/>
              <a:t> </a:t>
            </a:r>
            <a:r>
              <a:rPr lang="zh-CN" altLang="zh-CN"/>
              <a:t>用</a:t>
            </a:r>
            <a:r>
              <a:rPr lang="en-US" altLang="zh-CN"/>
              <a:t>SELECT</a:t>
            </a:r>
            <a:r>
              <a:rPr lang="zh-CN" altLang="zh-CN"/>
              <a:t>语句赋值。</a:t>
            </a:r>
            <a:endParaRPr lang="zh-CN" altLang="zh-CN"/>
          </a:p>
          <a:p>
            <a:pPr eaLnBrk="1" fontAlgn="ctr" hangingPunct="1"/>
            <a:r>
              <a:rPr lang="zh-CN" altLang="zh-CN"/>
              <a:t>语法格式：</a:t>
            </a:r>
            <a:endParaRPr lang="zh-CN" altLang="zh-CN"/>
          </a:p>
          <a:p>
            <a:pPr eaLnBrk="1" hangingPunct="1"/>
            <a:r>
              <a:rPr lang="en-US" altLang="zh-CN"/>
              <a:t>SELECT {@</a:t>
            </a:r>
            <a:r>
              <a:rPr lang="zh-CN" altLang="zh-CN"/>
              <a:t>局部变量</a:t>
            </a:r>
            <a:r>
              <a:rPr lang="en-US" altLang="zh-CN"/>
              <a:t>=</a:t>
            </a:r>
            <a:r>
              <a:rPr lang="zh-CN" altLang="zh-CN"/>
              <a:t>表达式</a:t>
            </a:r>
            <a:r>
              <a:rPr lang="en-US" altLang="zh-CN"/>
              <a:t>} [, …]</a:t>
            </a:r>
            <a:endParaRPr lang="zh-CN" altLang="zh-CN"/>
          </a:p>
          <a:p>
            <a:pPr eaLnBrk="1" fontAlgn="ctr" hangingPunct="1"/>
            <a:r>
              <a:rPr lang="zh-CN" altLang="zh-CN"/>
              <a:t>【例</a:t>
            </a:r>
            <a:r>
              <a:rPr lang="en-US" altLang="zh-CN"/>
              <a:t>5.5</a:t>
            </a:r>
            <a:r>
              <a:rPr lang="zh-CN" altLang="zh-CN"/>
              <a:t>】 使用</a:t>
            </a:r>
            <a:r>
              <a:rPr lang="en-US" altLang="zh-CN"/>
              <a:t>SELECT</a:t>
            </a:r>
            <a:r>
              <a:rPr lang="zh-CN" altLang="zh-CN"/>
              <a:t>语句为局部变量赋值。</a:t>
            </a:r>
            <a:endParaRPr lang="zh-CN" altLang="zh-CN"/>
          </a:p>
          <a:p>
            <a:pPr eaLnBrk="1" hangingPunct="1"/>
            <a:r>
              <a:rPr lang="pt-BR" altLang="zh-CN"/>
              <a:t>DECLARE @var1 nvarchar(30)</a:t>
            </a:r>
            <a:endParaRPr lang="zh-CN" altLang="zh-CN"/>
          </a:p>
          <a:p>
            <a:pPr eaLnBrk="1" hangingPunct="1"/>
            <a:r>
              <a:rPr lang="pt-BR" altLang="zh-CN"/>
              <a:t>SELECT @var1 ='</a:t>
            </a:r>
            <a:r>
              <a:rPr lang="zh-CN" altLang="zh-CN"/>
              <a:t>刘丰</a:t>
            </a:r>
            <a:r>
              <a:rPr lang="pt-BR" altLang="zh-CN"/>
              <a:t>'</a:t>
            </a:r>
            <a:endParaRPr lang="zh-CN" altLang="zh-CN"/>
          </a:p>
          <a:p>
            <a:pPr eaLnBrk="1" hangingPunct="1"/>
            <a:r>
              <a:rPr lang="pt-BR" altLang="zh-CN"/>
              <a:t>SELECT  @var1 AS 'NAME'</a:t>
            </a:r>
            <a:endParaRPr lang="zh-CN" altLang="zh-CN"/>
          </a:p>
          <a:p>
            <a:pPr eaLnBrk="1" hangingPunct="1"/>
            <a:endParaRPr lang="zh-CN" altLang="en-US"/>
          </a:p>
        </p:txBody>
      </p:sp>
    </p:spTree>
  </p:cSld>
  <p:clrMapOvr>
    <a:masterClrMapping/>
  </p:clrMapOvr>
  <p:transition spd="slow">
    <p:pull/>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1628775"/>
            <a:ext cx="7848600" cy="2447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5.2.3  </a:t>
            </a:r>
            <a:r>
              <a:rPr lang="zh-CN" altLang="zh-CN" dirty="0">
                <a:effectLst/>
              </a:rPr>
              <a:t>变量：</a:t>
            </a:r>
            <a:r>
              <a:rPr lang="en-US" altLang="zh-CN" dirty="0">
                <a:effectLst/>
              </a:rPr>
              <a:t>DECLARE/SET/SELECT</a:t>
            </a:r>
            <a:endParaRPr lang="zh-CN" altLang="en-US" dirty="0"/>
          </a:p>
        </p:txBody>
      </p:sp>
      <p:sp>
        <p:nvSpPr>
          <p:cNvPr id="3" name="TextBox 2"/>
          <p:cNvSpPr txBox="1"/>
          <p:nvPr/>
        </p:nvSpPr>
        <p:spPr>
          <a:xfrm>
            <a:off x="468313" y="1341438"/>
            <a:ext cx="8207375" cy="3140075"/>
          </a:xfrm>
          <a:prstGeom prst="rect">
            <a:avLst/>
          </a:prstGeom>
          <a:noFill/>
        </p:spPr>
        <p:txBody>
          <a:bodyPr>
            <a:spAutoFit/>
          </a:bodyPr>
          <a:lstStyle/>
          <a:p>
            <a:pPr indent="446405" fontAlgn="ctr">
              <a:spcBef>
                <a:spcPts val="0"/>
              </a:spcBef>
              <a:spcAft>
                <a:spcPts val="0"/>
              </a:spcAft>
              <a:defRPr/>
            </a:pPr>
            <a:r>
              <a:rPr lang="zh-CN" altLang="zh-CN" dirty="0">
                <a:latin typeface="+mn-lt"/>
                <a:ea typeface="+mn-ea"/>
              </a:rPr>
              <a:t>【例</a:t>
            </a:r>
            <a:r>
              <a:rPr lang="en-US" altLang="zh-CN" dirty="0">
                <a:latin typeface="+mn-lt"/>
                <a:ea typeface="+mn-ea"/>
              </a:rPr>
              <a:t>5.6</a:t>
            </a:r>
            <a:r>
              <a:rPr lang="zh-CN" altLang="zh-CN" dirty="0">
                <a:latin typeface="+mn-lt"/>
                <a:ea typeface="+mn-ea"/>
              </a:rPr>
              <a:t>】 为局部变量赋空值。</a:t>
            </a:r>
            <a:endParaRPr lang="zh-CN" altLang="zh-CN" dirty="0">
              <a:latin typeface="+mn-lt"/>
              <a:ea typeface="+mn-ea"/>
            </a:endParaRPr>
          </a:p>
          <a:p>
            <a:pPr indent="446405" fontAlgn="auto">
              <a:spcBef>
                <a:spcPts val="0"/>
              </a:spcBef>
              <a:spcAft>
                <a:spcPts val="0"/>
              </a:spcAft>
              <a:defRPr/>
            </a:pPr>
            <a:r>
              <a:rPr lang="pt-BR" altLang="zh-CN" dirty="0">
                <a:latin typeface="+mn-lt"/>
                <a:ea typeface="+mn-ea"/>
              </a:rPr>
              <a:t>DECLARE @var1 nvarchar(30)</a:t>
            </a:r>
            <a:endParaRPr lang="zh-CN" altLang="zh-CN" dirty="0">
              <a:latin typeface="+mn-lt"/>
              <a:ea typeface="+mn-ea"/>
            </a:endParaRPr>
          </a:p>
          <a:p>
            <a:pPr indent="446405" fontAlgn="auto">
              <a:spcBef>
                <a:spcPts val="0"/>
              </a:spcBef>
              <a:spcAft>
                <a:spcPts val="0"/>
              </a:spcAft>
              <a:defRPr/>
            </a:pPr>
            <a:r>
              <a:rPr lang="pt-BR" altLang="zh-CN" dirty="0">
                <a:latin typeface="+mn-lt"/>
                <a:ea typeface="+mn-ea"/>
              </a:rPr>
              <a:t>SELECT @var1 = '</a:t>
            </a:r>
            <a:r>
              <a:rPr lang="zh-CN" altLang="zh-CN" dirty="0">
                <a:latin typeface="+mn-lt"/>
                <a:ea typeface="+mn-ea"/>
              </a:rPr>
              <a:t>刘丰</a:t>
            </a:r>
            <a:r>
              <a:rPr lang="pt-BR" altLang="zh-CN" dirty="0">
                <a:latin typeface="+mn-lt"/>
                <a:ea typeface="+mn-ea"/>
              </a:rPr>
              <a:t>'</a:t>
            </a:r>
            <a:endParaRPr lang="zh-CN" altLang="zh-CN" dirty="0">
              <a:latin typeface="+mn-lt"/>
              <a:ea typeface="+mn-ea"/>
            </a:endParaRPr>
          </a:p>
          <a:p>
            <a:pPr indent="446405" fontAlgn="auto">
              <a:spcBef>
                <a:spcPts val="0"/>
              </a:spcBef>
              <a:spcAft>
                <a:spcPts val="0"/>
              </a:spcAft>
              <a:defRPr/>
            </a:pPr>
            <a:r>
              <a:rPr lang="pt-BR" altLang="zh-CN" dirty="0">
                <a:latin typeface="+mn-lt"/>
                <a:ea typeface="+mn-ea"/>
              </a:rPr>
              <a:t>SELECT @var1 =</a:t>
            </a:r>
            <a:endParaRPr lang="zh-CN" altLang="zh-CN" dirty="0">
              <a:latin typeface="+mn-lt"/>
              <a:ea typeface="+mn-ea"/>
            </a:endParaRPr>
          </a:p>
          <a:p>
            <a:pPr indent="446405" fontAlgn="auto">
              <a:spcBef>
                <a:spcPts val="0"/>
              </a:spcBef>
              <a:spcAft>
                <a:spcPts val="0"/>
              </a:spcAft>
              <a:defRPr/>
            </a:pPr>
            <a:r>
              <a:rPr lang="pt-BR" altLang="zh-CN" dirty="0">
                <a:latin typeface="+mn-lt"/>
                <a:ea typeface="+mn-ea"/>
              </a:rPr>
              <a:t>(</a:t>
            </a:r>
            <a:endParaRPr lang="zh-CN" altLang="zh-CN" dirty="0">
              <a:latin typeface="+mn-lt"/>
              <a:ea typeface="+mn-ea"/>
            </a:endParaRPr>
          </a:p>
          <a:p>
            <a:pPr indent="446405" fontAlgn="auto">
              <a:spcBef>
                <a:spcPts val="0"/>
              </a:spcBef>
              <a:spcAft>
                <a:spcPts val="0"/>
              </a:spcAft>
              <a:defRPr/>
            </a:pPr>
            <a:r>
              <a:rPr lang="pt-BR" altLang="zh-CN" dirty="0">
                <a:latin typeface="+mn-lt"/>
                <a:ea typeface="+mn-ea"/>
              </a:rPr>
              <a:t>     SELECT</a:t>
            </a:r>
            <a:r>
              <a:rPr lang="zh-CN" altLang="zh-CN" dirty="0">
                <a:latin typeface="+mn-lt"/>
                <a:ea typeface="+mn-ea"/>
              </a:rPr>
              <a:t>姓名</a:t>
            </a:r>
            <a:endParaRPr lang="zh-CN" altLang="zh-CN" dirty="0">
              <a:latin typeface="+mn-lt"/>
              <a:ea typeface="+mn-ea"/>
            </a:endParaRPr>
          </a:p>
          <a:p>
            <a:pPr indent="446405" fontAlgn="auto">
              <a:spcBef>
                <a:spcPts val="0"/>
              </a:spcBef>
              <a:spcAft>
                <a:spcPts val="0"/>
              </a:spcAft>
              <a:defRPr/>
            </a:pPr>
            <a:r>
              <a:rPr lang="pt-BR" altLang="zh-CN" dirty="0">
                <a:latin typeface="+mn-lt"/>
                <a:ea typeface="+mn-ea"/>
              </a:rPr>
              <a:t>          FROM xsb</a:t>
            </a:r>
            <a:endParaRPr lang="zh-CN" altLang="zh-CN" dirty="0">
              <a:latin typeface="+mn-lt"/>
              <a:ea typeface="+mn-ea"/>
            </a:endParaRPr>
          </a:p>
          <a:p>
            <a:pPr indent="446405" fontAlgn="auto">
              <a:spcBef>
                <a:spcPts val="0"/>
              </a:spcBef>
              <a:spcAft>
                <a:spcPts val="0"/>
              </a:spcAft>
              <a:defRPr/>
            </a:pPr>
            <a:r>
              <a:rPr lang="pt-BR" altLang="zh-CN" dirty="0">
                <a:latin typeface="+mn-lt"/>
                <a:ea typeface="+mn-ea"/>
              </a:rPr>
              <a:t>          WHERE</a:t>
            </a:r>
            <a:r>
              <a:rPr lang="zh-CN" altLang="zh-CN" dirty="0">
                <a:latin typeface="+mn-lt"/>
                <a:ea typeface="+mn-ea"/>
              </a:rPr>
              <a:t>学号</a:t>
            </a:r>
            <a:r>
              <a:rPr lang="pt-BR" altLang="zh-CN" dirty="0">
                <a:latin typeface="+mn-lt"/>
                <a:ea typeface="+mn-ea"/>
              </a:rPr>
              <a:t>= '191399'</a:t>
            </a:r>
            <a:endParaRPr lang="zh-CN" altLang="zh-CN" dirty="0">
              <a:latin typeface="+mn-lt"/>
              <a:ea typeface="+mn-ea"/>
            </a:endParaRPr>
          </a:p>
          <a:p>
            <a:pPr indent="446405" fontAlgn="auto">
              <a:spcBef>
                <a:spcPts val="0"/>
              </a:spcBef>
              <a:spcAft>
                <a:spcPts val="0"/>
              </a:spcAft>
              <a:defRPr/>
            </a:pPr>
            <a:r>
              <a:rPr lang="pt-BR" altLang="zh-CN" dirty="0">
                <a:latin typeface="+mn-lt"/>
                <a:ea typeface="+mn-ea"/>
              </a:rPr>
              <a:t>)</a:t>
            </a:r>
            <a:endParaRPr lang="zh-CN" altLang="zh-CN" dirty="0">
              <a:latin typeface="+mn-lt"/>
              <a:ea typeface="+mn-ea"/>
            </a:endParaRPr>
          </a:p>
          <a:p>
            <a:pPr indent="446405" fontAlgn="auto">
              <a:spcBef>
                <a:spcPts val="0"/>
              </a:spcBef>
              <a:spcAft>
                <a:spcPts val="0"/>
              </a:spcAft>
              <a:defRPr/>
            </a:pPr>
            <a:r>
              <a:rPr lang="pt-BR" altLang="zh-CN" dirty="0">
                <a:latin typeface="+mn-lt"/>
                <a:ea typeface="+mn-ea"/>
              </a:rPr>
              <a:t>SELECT @var1 AS  'NAME'</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wheel spokes="1"/>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4508500"/>
            <a:ext cx="7848600" cy="21605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5.2.3  </a:t>
            </a:r>
            <a:r>
              <a:rPr lang="zh-CN" altLang="zh-CN" dirty="0">
                <a:effectLst/>
              </a:rPr>
              <a:t>变量：</a:t>
            </a:r>
            <a:r>
              <a:rPr lang="en-US" altLang="zh-CN" dirty="0">
                <a:effectLst/>
              </a:rPr>
              <a:t>DECLARE/SET/SELECT</a:t>
            </a:r>
            <a:endParaRPr lang="zh-CN" altLang="en-US" dirty="0"/>
          </a:p>
        </p:txBody>
      </p:sp>
      <p:sp>
        <p:nvSpPr>
          <p:cNvPr id="28676" name="TextBox 2"/>
          <p:cNvSpPr txBox="1">
            <a:spLocks noChangeArrowheads="1"/>
          </p:cNvSpPr>
          <p:nvPr/>
        </p:nvSpPr>
        <p:spPr bwMode="auto">
          <a:xfrm>
            <a:off x="646113" y="1412875"/>
            <a:ext cx="8208962" cy="584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3</a:t>
            </a:r>
            <a:r>
              <a:rPr lang="zh-CN" altLang="zh-CN" b="1">
                <a:solidFill>
                  <a:srgbClr val="C00000"/>
                </a:solidFill>
              </a:rPr>
              <a:t>．局部游标变量</a:t>
            </a:r>
            <a:endParaRPr lang="zh-CN" altLang="zh-CN" b="1">
              <a:solidFill>
                <a:srgbClr val="C00000"/>
              </a:solidFill>
            </a:endParaRPr>
          </a:p>
          <a:p>
            <a:pPr eaLnBrk="1" fontAlgn="ctr" hangingPunct="1"/>
            <a:r>
              <a:rPr lang="zh-CN" altLang="zh-CN"/>
              <a:t>（</a:t>
            </a:r>
            <a:r>
              <a:rPr lang="en-US" altLang="zh-CN"/>
              <a:t>1</a:t>
            </a:r>
            <a:r>
              <a:rPr lang="zh-CN" altLang="zh-CN"/>
              <a:t>）局部游标变量的定义</a:t>
            </a:r>
            <a:endParaRPr lang="zh-CN" altLang="zh-CN"/>
          </a:p>
          <a:p>
            <a:pPr eaLnBrk="1" fontAlgn="ctr" hangingPunct="1"/>
            <a:r>
              <a:rPr lang="zh-CN" altLang="zh-CN"/>
              <a:t>语法格式：</a:t>
            </a:r>
            <a:endParaRPr lang="zh-CN" altLang="zh-CN"/>
          </a:p>
          <a:p>
            <a:pPr eaLnBrk="1" hangingPunct="1"/>
            <a:r>
              <a:rPr lang="en-US" altLang="zh-CN"/>
              <a:t>DECLARE { @</a:t>
            </a:r>
            <a:r>
              <a:rPr lang="zh-CN" altLang="zh-CN"/>
              <a:t>游标变量名</a:t>
            </a:r>
            <a:r>
              <a:rPr lang="en-US" altLang="zh-CN"/>
              <a:t>CURSOR } [ , ...]</a:t>
            </a:r>
            <a:endParaRPr lang="zh-CN" altLang="zh-CN"/>
          </a:p>
          <a:p>
            <a:pPr eaLnBrk="1" fontAlgn="ctr" hangingPunct="1"/>
            <a:r>
              <a:rPr lang="zh-CN" altLang="zh-CN"/>
              <a:t>“</a:t>
            </a:r>
            <a:r>
              <a:rPr lang="en-US" altLang="zh-CN"/>
              <a:t>@</a:t>
            </a:r>
            <a:r>
              <a:rPr lang="zh-CN" altLang="zh-CN"/>
              <a:t>游标变量名”是局部游标变量名，应为常规标识符。</a:t>
            </a:r>
            <a:endParaRPr lang="zh-CN" altLang="zh-CN"/>
          </a:p>
          <a:p>
            <a:pPr eaLnBrk="1" fontAlgn="ctr" hangingPunct="1"/>
            <a:r>
              <a:rPr lang="zh-CN" altLang="zh-CN"/>
              <a:t>（</a:t>
            </a:r>
            <a:r>
              <a:rPr lang="en-US" altLang="zh-CN"/>
              <a:t>2</a:t>
            </a:r>
            <a:r>
              <a:rPr lang="zh-CN" altLang="zh-CN"/>
              <a:t>）局部游标变量的赋值</a:t>
            </a:r>
            <a:endParaRPr lang="zh-CN" altLang="zh-CN"/>
          </a:p>
          <a:p>
            <a:pPr eaLnBrk="1" fontAlgn="ctr" hangingPunct="1"/>
            <a:r>
              <a:rPr lang="zh-CN" altLang="zh-CN"/>
              <a:t>利用</a:t>
            </a:r>
            <a:r>
              <a:rPr lang="en-US" altLang="zh-CN"/>
              <a:t>SET</a:t>
            </a:r>
            <a:r>
              <a:rPr lang="zh-CN" altLang="zh-CN"/>
              <a:t>语句为一个游标变量赋值，有</a:t>
            </a:r>
            <a:r>
              <a:rPr lang="en-US" altLang="zh-CN"/>
              <a:t>3</a:t>
            </a:r>
            <a:r>
              <a:rPr lang="zh-CN" altLang="zh-CN"/>
              <a:t>种情况：</a:t>
            </a:r>
            <a:endParaRPr lang="zh-CN" altLang="zh-CN"/>
          </a:p>
          <a:p>
            <a:pPr eaLnBrk="1" fontAlgn="ctr" hangingPunct="1"/>
            <a:r>
              <a:rPr lang="zh-CN" altLang="zh-CN"/>
              <a:t>① 将一个已存在的并且赋值的游标变量的值赋给另一个局部游标变量；</a:t>
            </a:r>
            <a:endParaRPr lang="zh-CN" altLang="zh-CN"/>
          </a:p>
          <a:p>
            <a:pPr eaLnBrk="1" fontAlgn="ctr" hangingPunct="1"/>
            <a:r>
              <a:rPr lang="zh-CN" altLang="zh-CN"/>
              <a:t>② 将一个已声明的游标名赋给指定的局部游标变量；</a:t>
            </a:r>
            <a:endParaRPr lang="zh-CN" altLang="zh-CN"/>
          </a:p>
          <a:p>
            <a:pPr eaLnBrk="1" fontAlgn="ctr" hangingPunct="1"/>
            <a:r>
              <a:rPr lang="zh-CN" altLang="zh-CN"/>
              <a:t>③ 声明一个游标，同时将其赋给指定的局部游标变量。</a:t>
            </a:r>
            <a:endParaRPr lang="en-US" altLang="zh-CN"/>
          </a:p>
          <a:p>
            <a:pPr eaLnBrk="1" fontAlgn="ctr" hangingPunct="1"/>
            <a:r>
              <a:rPr lang="zh-CN" altLang="zh-CN"/>
              <a:t>语法格式：</a:t>
            </a:r>
            <a:endParaRPr lang="zh-CN" altLang="zh-CN"/>
          </a:p>
          <a:p>
            <a:pPr eaLnBrk="1" hangingPunct="1"/>
            <a:r>
              <a:rPr lang="en-US" altLang="zh-CN" sz="1600"/>
              <a:t>SET</a:t>
            </a:r>
            <a:endParaRPr lang="zh-CN" altLang="zh-CN" sz="1600"/>
          </a:p>
          <a:p>
            <a:pPr eaLnBrk="1" hangingPunct="1"/>
            <a:r>
              <a:rPr lang="en-US" altLang="zh-CN" sz="1600"/>
              <a:t>{</a:t>
            </a:r>
            <a:endParaRPr lang="zh-CN" altLang="zh-CN" sz="1600"/>
          </a:p>
          <a:p>
            <a:pPr eaLnBrk="1" hangingPunct="1"/>
            <a:r>
              <a:rPr lang="en-US" altLang="zh-CN" sz="1600"/>
              <a:t>     @</a:t>
            </a:r>
            <a:r>
              <a:rPr lang="zh-CN" altLang="zh-CN" sz="1600"/>
              <a:t>游标变量</a:t>
            </a:r>
            <a:r>
              <a:rPr lang="en-US" altLang="zh-CN" sz="1600"/>
              <a:t> =</a:t>
            </a:r>
            <a:endParaRPr lang="zh-CN" altLang="zh-CN" sz="1600"/>
          </a:p>
          <a:p>
            <a:pPr eaLnBrk="1" hangingPunct="1"/>
            <a:r>
              <a:rPr lang="en-US" altLang="zh-CN" sz="1600"/>
              <a:t>     {</a:t>
            </a:r>
            <a:endParaRPr lang="zh-CN" altLang="zh-CN" sz="1600"/>
          </a:p>
          <a:p>
            <a:pPr eaLnBrk="1" hangingPunct="1"/>
            <a:r>
              <a:rPr lang="en-US" altLang="zh-CN" sz="1600"/>
              <a:t>          @</a:t>
            </a:r>
            <a:r>
              <a:rPr lang="zh-CN" altLang="zh-CN" sz="1600"/>
              <a:t>游标变量</a:t>
            </a:r>
            <a:r>
              <a:rPr lang="en-US" altLang="zh-CN" sz="1600"/>
              <a:t>	 /*</a:t>
            </a:r>
            <a:r>
              <a:rPr lang="zh-CN" altLang="zh-CN" sz="1600"/>
              <a:t>将一个已赋值的游标变量的值赋给一个目标游标变量</a:t>
            </a:r>
            <a:r>
              <a:rPr lang="en-US" altLang="zh-CN" sz="1600"/>
              <a:t>*/</a:t>
            </a:r>
            <a:endParaRPr lang="zh-CN" altLang="zh-CN" sz="1600"/>
          </a:p>
          <a:p>
            <a:pPr eaLnBrk="1" hangingPunct="1"/>
            <a:r>
              <a:rPr lang="en-US" altLang="zh-CN" sz="1600"/>
              <a:t>          | </a:t>
            </a:r>
            <a:r>
              <a:rPr lang="zh-CN" altLang="zh-CN" sz="1600"/>
              <a:t>游标名</a:t>
            </a:r>
            <a:r>
              <a:rPr lang="en-US" altLang="zh-CN" sz="1600"/>
              <a:t> 		/*</a:t>
            </a:r>
            <a:r>
              <a:rPr lang="zh-CN" altLang="zh-CN" sz="1600"/>
              <a:t>将一个已声明的游标名赋给游标变量</a:t>
            </a:r>
            <a:r>
              <a:rPr lang="en-US" altLang="zh-CN" sz="1600"/>
              <a:t>*/</a:t>
            </a:r>
            <a:endParaRPr lang="zh-CN" altLang="zh-CN" sz="1600"/>
          </a:p>
          <a:p>
            <a:pPr eaLnBrk="1" hangingPunct="1"/>
            <a:r>
              <a:rPr lang="en-US" altLang="zh-CN" sz="1600"/>
              <a:t>          | { CURSOR</a:t>
            </a:r>
            <a:r>
              <a:rPr lang="zh-CN" altLang="zh-CN" sz="1600"/>
              <a:t>子句</a:t>
            </a:r>
            <a:r>
              <a:rPr lang="en-US" altLang="zh-CN" sz="1600"/>
              <a:t> } 	/*</a:t>
            </a:r>
            <a:r>
              <a:rPr lang="zh-CN" altLang="zh-CN" sz="1600"/>
              <a:t>游标声明</a:t>
            </a:r>
            <a:r>
              <a:rPr lang="en-US" altLang="zh-CN" sz="1600"/>
              <a:t>*/</a:t>
            </a:r>
            <a:endParaRPr lang="zh-CN" altLang="zh-CN" sz="1600"/>
          </a:p>
          <a:p>
            <a:pPr eaLnBrk="1" hangingPunct="1"/>
            <a:r>
              <a:rPr lang="en-US" altLang="zh-CN" sz="1600"/>
              <a:t>     }</a:t>
            </a:r>
            <a:endParaRPr lang="zh-CN" altLang="zh-CN" sz="1600"/>
          </a:p>
          <a:p>
            <a:pPr eaLnBrk="1" hangingPunct="1"/>
            <a:r>
              <a:rPr lang="en-US" altLang="zh-CN" sz="1600"/>
              <a:t>}</a:t>
            </a:r>
            <a:endParaRPr lang="zh-CN" altLang="zh-CN" sz="1600"/>
          </a:p>
          <a:p>
            <a:pPr eaLnBrk="1" fontAlgn="ctr" hangingPunct="1"/>
            <a:endParaRPr lang="zh-CN" altLang="zh-CN" sz="1600"/>
          </a:p>
          <a:p>
            <a:pPr eaLnBrk="1" hangingPunct="1"/>
            <a:endParaRPr lang="zh-CN" altLang="en-US" sz="1600"/>
          </a:p>
        </p:txBody>
      </p:sp>
    </p:spTree>
  </p:cSld>
  <p:clrMapOvr>
    <a:masterClrMapping/>
  </p:clrMapOvr>
  <p:transition spd="slow">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5.3  </a:t>
            </a:r>
            <a:r>
              <a:rPr lang="zh-CN" altLang="zh-CN" dirty="0">
                <a:effectLst/>
              </a:rPr>
              <a:t>运算符与表达式</a:t>
            </a:r>
            <a:endParaRPr lang="zh-CN" altLang="zh-CN" dirty="0">
              <a:effectLst/>
            </a:endParaRPr>
          </a:p>
        </p:txBody>
      </p:sp>
      <p:sp>
        <p:nvSpPr>
          <p:cNvPr id="31747" name="TextBox 2"/>
          <p:cNvSpPr txBox="1">
            <a:spLocks noChangeArrowheads="1"/>
          </p:cNvSpPr>
          <p:nvPr/>
        </p:nvSpPr>
        <p:spPr bwMode="auto">
          <a:xfrm>
            <a:off x="468313" y="1412875"/>
            <a:ext cx="82804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1</a:t>
            </a:r>
            <a:r>
              <a:rPr lang="zh-CN" altLang="zh-CN" b="1">
                <a:solidFill>
                  <a:srgbClr val="C00000"/>
                </a:solidFill>
              </a:rPr>
              <a:t>．算术运算符</a:t>
            </a:r>
            <a:endParaRPr lang="zh-CN" altLang="zh-CN" b="1">
              <a:solidFill>
                <a:srgbClr val="C00000"/>
              </a:solidFill>
            </a:endParaRPr>
          </a:p>
          <a:p>
            <a:pPr eaLnBrk="1" fontAlgn="ctr" hangingPunct="1"/>
            <a:r>
              <a:rPr lang="zh-CN" altLang="zh-CN"/>
              <a:t>算术运算符用于对两个表达式执行数学运算，这两个表达式可以是任何数字数据类型。</a:t>
            </a:r>
            <a:endParaRPr lang="zh-CN" altLang="zh-CN"/>
          </a:p>
          <a:p>
            <a:pPr eaLnBrk="1" fontAlgn="ctr" hangingPunct="1"/>
            <a:r>
              <a:rPr lang="zh-CN" altLang="zh-CN"/>
              <a:t>算术运算符有</a:t>
            </a:r>
            <a:r>
              <a:rPr lang="en-US" altLang="zh-CN"/>
              <a:t>+</a:t>
            </a:r>
            <a:r>
              <a:rPr lang="zh-CN" altLang="zh-CN"/>
              <a:t>（加）、</a:t>
            </a:r>
            <a:r>
              <a:rPr lang="en-US" altLang="zh-CN"/>
              <a:t>-</a:t>
            </a:r>
            <a:r>
              <a:rPr lang="zh-CN" altLang="zh-CN"/>
              <a:t>（减）、</a:t>
            </a:r>
            <a:r>
              <a:rPr lang="en-US" altLang="zh-CN"/>
              <a:t>*</a:t>
            </a:r>
            <a:r>
              <a:rPr lang="zh-CN" altLang="zh-CN"/>
              <a:t>（乘）、</a:t>
            </a:r>
            <a:r>
              <a:rPr lang="en-US" altLang="zh-CN"/>
              <a:t>/</a:t>
            </a:r>
            <a:r>
              <a:rPr lang="zh-CN" altLang="zh-CN"/>
              <a:t>（除）和</a:t>
            </a:r>
            <a:r>
              <a:rPr lang="en-US" altLang="zh-CN"/>
              <a:t>%</a:t>
            </a:r>
            <a:r>
              <a:rPr lang="zh-CN" altLang="zh-CN"/>
              <a:t>（求模）</a:t>
            </a:r>
            <a:r>
              <a:rPr lang="en-US" altLang="zh-CN"/>
              <a:t>5</a:t>
            </a:r>
            <a:r>
              <a:rPr lang="zh-CN" altLang="zh-CN"/>
              <a:t>种运算。</a:t>
            </a:r>
            <a:r>
              <a:rPr lang="en-US" altLang="zh-CN"/>
              <a:t>+</a:t>
            </a:r>
            <a:r>
              <a:rPr lang="zh-CN" altLang="zh-CN"/>
              <a:t>（加）和</a:t>
            </a:r>
            <a:r>
              <a:rPr lang="en-US" altLang="zh-CN"/>
              <a:t>-</a:t>
            </a:r>
            <a:r>
              <a:rPr lang="zh-CN" altLang="zh-CN"/>
              <a:t>（减）运算符还可用于对日期时间类型的值进行算术运算。</a:t>
            </a:r>
            <a:endParaRPr lang="zh-CN" altLang="zh-CN"/>
          </a:p>
          <a:p>
            <a:pPr eaLnBrk="1" hangingPunct="1"/>
            <a:r>
              <a:rPr lang="en-US" altLang="zh-CN" b="1">
                <a:solidFill>
                  <a:srgbClr val="C00000"/>
                </a:solidFill>
              </a:rPr>
              <a:t>2</a:t>
            </a:r>
            <a:r>
              <a:rPr lang="zh-CN" altLang="zh-CN" b="1">
                <a:solidFill>
                  <a:srgbClr val="C00000"/>
                </a:solidFill>
              </a:rPr>
              <a:t>．位运算符</a:t>
            </a:r>
            <a:endParaRPr lang="zh-CN" altLang="zh-CN" b="1">
              <a:solidFill>
                <a:srgbClr val="C00000"/>
              </a:solidFill>
            </a:endParaRPr>
          </a:p>
          <a:p>
            <a:pPr eaLnBrk="1" fontAlgn="ctr" hangingPunct="1"/>
            <a:r>
              <a:rPr lang="zh-CN" altLang="zh-CN"/>
              <a:t>位运算符在两个表达式之间执行位操作，这两个表达式的类型可为整型或与整型兼容的数据类型（如字符型等，但不能为</a:t>
            </a:r>
            <a:r>
              <a:rPr lang="en-US" altLang="zh-CN"/>
              <a:t>image</a:t>
            </a:r>
            <a:r>
              <a:rPr lang="zh-CN" altLang="zh-CN"/>
              <a:t>类型）。位运算符如表</a:t>
            </a:r>
            <a:r>
              <a:rPr lang="en-US" altLang="zh-CN"/>
              <a:t>5.4</a:t>
            </a:r>
            <a:r>
              <a:rPr lang="zh-CN" altLang="zh-CN"/>
              <a:t>所示。</a:t>
            </a:r>
            <a:endParaRPr lang="zh-CN" altLang="zh-CN"/>
          </a:p>
          <a:p>
            <a:pPr eaLnBrk="1" hangingPunct="1"/>
            <a:endParaRPr lang="zh-CN" altLang="en-US"/>
          </a:p>
        </p:txBody>
      </p:sp>
      <p:graphicFrame>
        <p:nvGraphicFramePr>
          <p:cNvPr id="5" name="表格 4"/>
          <p:cNvGraphicFramePr>
            <a:graphicFrameLocks noGrp="1"/>
          </p:cNvGraphicFramePr>
          <p:nvPr/>
        </p:nvGraphicFramePr>
        <p:xfrm>
          <a:off x="595313" y="4005263"/>
          <a:ext cx="8023225" cy="1223964"/>
        </p:xfrm>
        <a:graphic>
          <a:graphicData uri="http://schemas.openxmlformats.org/drawingml/2006/table">
            <a:tbl>
              <a:tblPr firstRow="1" firstCol="1" bandRow="1" bandCol="1"/>
              <a:tblGrid>
                <a:gridCol w="2228852"/>
                <a:gridCol w="5794373"/>
              </a:tblGrid>
              <a:tr h="305991">
                <a:tc>
                  <a:txBody>
                    <a:bodyPr/>
                    <a:lstStyle/>
                    <a:p>
                      <a:pPr indent="254000" algn="ctr">
                        <a:spcBef>
                          <a:spcPts val="120"/>
                        </a:spcBef>
                        <a:spcAft>
                          <a:spcPts val="120"/>
                        </a:spcAft>
                      </a:pPr>
                      <a:r>
                        <a:rPr lang="zh-CN" sz="1400" kern="1000">
                          <a:effectLst/>
                          <a:latin typeface="Times New Roman" panose="02020603050405020304"/>
                          <a:ea typeface="方正书宋简体"/>
                        </a:rPr>
                        <a:t>运算符</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运算规则</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5991">
                <a:tc>
                  <a:txBody>
                    <a:bodyPr/>
                    <a:lstStyle/>
                    <a:p>
                      <a:pPr indent="254000" algn="ctr">
                        <a:spcBef>
                          <a:spcPts val="120"/>
                        </a:spcBef>
                        <a:spcAft>
                          <a:spcPts val="120"/>
                        </a:spcAft>
                      </a:pPr>
                      <a:r>
                        <a:rPr lang="en-US" sz="1400" kern="1000">
                          <a:effectLst/>
                          <a:latin typeface="Times New Roman" panose="02020603050405020304"/>
                          <a:ea typeface="方正书宋简体"/>
                        </a:rPr>
                        <a:t>&amp;</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两个位均为</a:t>
                      </a:r>
                      <a:r>
                        <a:rPr lang="en-US" sz="1400" kern="1000">
                          <a:effectLst/>
                          <a:latin typeface="Times New Roman" panose="02020603050405020304"/>
                          <a:ea typeface="方正书宋简体"/>
                        </a:rPr>
                        <a:t>1</a:t>
                      </a:r>
                      <a:r>
                        <a:rPr lang="zh-CN" sz="1400" kern="1000">
                          <a:effectLst/>
                          <a:latin typeface="Times New Roman" panose="02020603050405020304"/>
                          <a:ea typeface="方正书宋简体"/>
                        </a:rPr>
                        <a:t>时，结果为</a:t>
                      </a:r>
                      <a:r>
                        <a:rPr lang="en-US" sz="1400" kern="1000">
                          <a:effectLst/>
                          <a:latin typeface="Times New Roman" panose="02020603050405020304"/>
                          <a:ea typeface="方正书宋简体"/>
                        </a:rPr>
                        <a:t>1</a:t>
                      </a:r>
                      <a:r>
                        <a:rPr lang="zh-CN" sz="1400" kern="1000">
                          <a:effectLst/>
                          <a:latin typeface="Times New Roman" panose="02020603050405020304"/>
                          <a:ea typeface="方正书宋简体"/>
                        </a:rPr>
                        <a:t>，否则为</a:t>
                      </a:r>
                      <a:r>
                        <a:rPr lang="en-US" sz="1400" kern="1000">
                          <a:effectLst/>
                          <a:latin typeface="Times New Roman" panose="02020603050405020304"/>
                          <a:ea typeface="方正书宋简体"/>
                        </a:rPr>
                        <a:t>0</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5991">
                <a:tc>
                  <a:txBody>
                    <a:bodyPr/>
                    <a:lstStyle/>
                    <a:p>
                      <a:pPr indent="254000" algn="ctr">
                        <a:spcBef>
                          <a:spcPts val="120"/>
                        </a:spcBef>
                        <a:spcAft>
                          <a:spcPts val="120"/>
                        </a:spcAft>
                      </a:pPr>
                      <a:r>
                        <a:rPr lang="en-US" sz="1400" u="none" strike="noStrike" kern="1000">
                          <a:solidFill>
                            <a:srgbClr val="0000FF"/>
                          </a:solidFill>
                          <a:effectLst/>
                          <a:latin typeface="Times New Roman" panose="02020603050405020304"/>
                          <a:ea typeface="方正书宋简体"/>
                          <a:hlinkClick r:id="rId1" action="ppaction://hlinkfile"/>
                        </a:rPr>
                        <a:t>|</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只要一个位为</a:t>
                      </a:r>
                      <a:r>
                        <a:rPr lang="en-US" sz="1400" kern="1000">
                          <a:effectLst/>
                          <a:latin typeface="Times New Roman" panose="02020603050405020304"/>
                          <a:ea typeface="方正书宋简体"/>
                        </a:rPr>
                        <a:t>1</a:t>
                      </a:r>
                      <a:r>
                        <a:rPr lang="zh-CN" sz="1400" kern="1000">
                          <a:effectLst/>
                          <a:latin typeface="Times New Roman" panose="02020603050405020304"/>
                          <a:ea typeface="方正书宋简体"/>
                        </a:rPr>
                        <a:t>，结果为</a:t>
                      </a:r>
                      <a:r>
                        <a:rPr lang="en-US" sz="1400" kern="1000">
                          <a:effectLst/>
                          <a:latin typeface="Times New Roman" panose="02020603050405020304"/>
                          <a:ea typeface="方正书宋简体"/>
                        </a:rPr>
                        <a:t>1</a:t>
                      </a:r>
                      <a:r>
                        <a:rPr lang="zh-CN" sz="1400" kern="1000">
                          <a:effectLst/>
                          <a:latin typeface="Times New Roman" panose="02020603050405020304"/>
                          <a:ea typeface="方正书宋简体"/>
                        </a:rPr>
                        <a:t>，否则为</a:t>
                      </a:r>
                      <a:r>
                        <a:rPr lang="en-US" sz="1400" kern="1000">
                          <a:effectLst/>
                          <a:latin typeface="Times New Roman" panose="02020603050405020304"/>
                          <a:ea typeface="方正书宋简体"/>
                        </a:rPr>
                        <a:t>0</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5991">
                <a:tc>
                  <a:txBody>
                    <a:bodyPr/>
                    <a:lstStyle/>
                    <a:p>
                      <a:pPr indent="254000" algn="ctr">
                        <a:spcBef>
                          <a:spcPts val="120"/>
                        </a:spcBef>
                        <a:spcAft>
                          <a:spcPts val="120"/>
                        </a:spcAft>
                      </a:pPr>
                      <a:r>
                        <a:rPr lang="en-US" sz="1400" kern="1000">
                          <a:effectLst/>
                          <a:latin typeface="Times New Roman" panose="02020603050405020304"/>
                          <a:ea typeface="方正书宋简体"/>
                        </a:rPr>
                        <a:t>^</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dirty="0">
                          <a:effectLst/>
                          <a:latin typeface="Times New Roman" panose="02020603050405020304"/>
                          <a:ea typeface="方正书宋简体"/>
                        </a:rPr>
                        <a:t>两个位值不同时，结果为</a:t>
                      </a:r>
                      <a:r>
                        <a:rPr lang="en-US" sz="1400" kern="1000" dirty="0">
                          <a:effectLst/>
                          <a:latin typeface="Times New Roman" panose="02020603050405020304"/>
                          <a:ea typeface="方正书宋简体"/>
                        </a:rPr>
                        <a:t>1</a:t>
                      </a:r>
                      <a:r>
                        <a:rPr lang="zh-CN" sz="1400" kern="1000" dirty="0">
                          <a:effectLst/>
                          <a:latin typeface="Times New Roman" panose="02020603050405020304"/>
                          <a:ea typeface="方正书宋简体"/>
                        </a:rPr>
                        <a:t>，否则为</a:t>
                      </a:r>
                      <a:r>
                        <a:rPr lang="en-US" sz="1400" kern="1000" dirty="0">
                          <a:effectLst/>
                          <a:latin typeface="Times New Roman" panose="02020603050405020304"/>
                          <a:ea typeface="方正书宋简体"/>
                        </a:rPr>
                        <a:t>0</a:t>
                      </a:r>
                      <a:endParaRPr lang="zh-CN" sz="1400" kern="1000" dirty="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spd="slow">
    <p:wheel spokes="1"/>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71550" y="2636838"/>
            <a:ext cx="7777163" cy="31686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5.2.3  </a:t>
            </a:r>
            <a:r>
              <a:rPr lang="zh-CN" altLang="zh-CN" dirty="0">
                <a:effectLst/>
              </a:rPr>
              <a:t>变量：</a:t>
            </a:r>
            <a:r>
              <a:rPr lang="en-US" altLang="zh-CN" dirty="0">
                <a:effectLst/>
              </a:rPr>
              <a:t>DECLARE/SET/SELECT</a:t>
            </a:r>
            <a:endParaRPr lang="zh-CN" altLang="en-US" dirty="0"/>
          </a:p>
        </p:txBody>
      </p:sp>
      <p:sp>
        <p:nvSpPr>
          <p:cNvPr id="3" name="TextBox 2"/>
          <p:cNvSpPr txBox="1"/>
          <p:nvPr/>
        </p:nvSpPr>
        <p:spPr>
          <a:xfrm>
            <a:off x="468313" y="1484313"/>
            <a:ext cx="8280400" cy="4954587"/>
          </a:xfrm>
          <a:prstGeom prst="rect">
            <a:avLst/>
          </a:prstGeom>
          <a:noFill/>
        </p:spPr>
        <p:txBody>
          <a:bodyPr>
            <a:spAutoFit/>
          </a:bodyPr>
          <a:lstStyle/>
          <a:p>
            <a:pPr indent="539750" fontAlgn="ctr">
              <a:spcBef>
                <a:spcPts val="0"/>
              </a:spcBef>
              <a:spcAft>
                <a:spcPts val="0"/>
              </a:spcAft>
              <a:defRPr/>
            </a:pPr>
            <a:r>
              <a:rPr lang="zh-CN" altLang="zh-CN" dirty="0">
                <a:latin typeface="+mn-lt"/>
                <a:ea typeface="+mn-ea"/>
              </a:rPr>
              <a:t>（</a:t>
            </a:r>
            <a:r>
              <a:rPr lang="en-US" altLang="zh-CN" dirty="0">
                <a:latin typeface="+mn-lt"/>
                <a:ea typeface="+mn-ea"/>
              </a:rPr>
              <a:t>3</a:t>
            </a:r>
            <a:r>
              <a:rPr lang="zh-CN" altLang="zh-CN" dirty="0">
                <a:latin typeface="+mn-lt"/>
                <a:ea typeface="+mn-ea"/>
              </a:rPr>
              <a:t>）游标变量的使用</a:t>
            </a:r>
            <a:endParaRPr lang="zh-CN" altLang="zh-CN" dirty="0">
              <a:latin typeface="+mn-lt"/>
              <a:ea typeface="+mn-ea"/>
            </a:endParaRPr>
          </a:p>
          <a:p>
            <a:pPr indent="539750" fontAlgn="ctr">
              <a:spcBef>
                <a:spcPts val="0"/>
              </a:spcBef>
              <a:spcAft>
                <a:spcPts val="0"/>
              </a:spcAft>
              <a:defRPr/>
            </a:pPr>
            <a:r>
              <a:rPr lang="zh-CN" altLang="zh-CN" dirty="0">
                <a:latin typeface="+mn-lt"/>
                <a:ea typeface="+mn-ea"/>
              </a:rPr>
              <a:t>步骤如下：定义游标变量→给游标变量赋值→打开游标→利用游标读取行（记录）→使用结束后关闭游标→删除游标的引用。</a:t>
            </a:r>
            <a:endParaRPr lang="zh-CN" altLang="zh-CN" dirty="0">
              <a:latin typeface="+mn-lt"/>
              <a:ea typeface="+mn-ea"/>
            </a:endParaRPr>
          </a:p>
          <a:p>
            <a:pPr indent="539750" fontAlgn="ctr">
              <a:spcBef>
                <a:spcPts val="0"/>
              </a:spcBef>
              <a:spcAft>
                <a:spcPts val="0"/>
              </a:spcAft>
              <a:defRPr/>
            </a:pPr>
            <a:r>
              <a:rPr lang="zh-CN" altLang="zh-CN" dirty="0">
                <a:latin typeface="+mn-lt"/>
                <a:ea typeface="+mn-ea"/>
              </a:rPr>
              <a:t>【例</a:t>
            </a:r>
            <a:r>
              <a:rPr lang="en-US" altLang="zh-CN" dirty="0">
                <a:latin typeface="+mn-lt"/>
                <a:ea typeface="+mn-ea"/>
              </a:rPr>
              <a:t>5.7</a:t>
            </a:r>
            <a:r>
              <a:rPr lang="zh-CN" altLang="zh-CN" dirty="0">
                <a:latin typeface="+mn-lt"/>
                <a:ea typeface="+mn-ea"/>
              </a:rPr>
              <a:t>】 使用游标变量。</a:t>
            </a:r>
            <a:endParaRPr lang="zh-CN" altLang="zh-CN" dirty="0">
              <a:latin typeface="+mn-lt"/>
              <a:ea typeface="+mn-ea"/>
            </a:endParaRPr>
          </a:p>
          <a:p>
            <a:pPr indent="539750" fontAlgn="auto">
              <a:spcBef>
                <a:spcPts val="0"/>
              </a:spcBef>
              <a:spcAft>
                <a:spcPts val="0"/>
              </a:spcAft>
              <a:defRPr/>
            </a:pPr>
            <a:r>
              <a:rPr lang="en-US" altLang="zh-CN" sz="1600" dirty="0">
                <a:latin typeface="+mn-lt"/>
                <a:ea typeface="+mn-ea"/>
              </a:rPr>
              <a:t>USE </a:t>
            </a:r>
            <a:r>
              <a:rPr lang="en-US" altLang="zh-CN" sz="1600" dirty="0" err="1">
                <a:latin typeface="+mn-lt"/>
                <a:ea typeface="+mn-ea"/>
              </a:rPr>
              <a:t>pxscj</a:t>
            </a:r>
            <a:endParaRPr lang="zh-CN" altLang="zh-CN" sz="1600" dirty="0">
              <a:latin typeface="+mn-lt"/>
              <a:ea typeface="+mn-ea"/>
            </a:endParaRPr>
          </a:p>
          <a:p>
            <a:pPr indent="539750" fontAlgn="auto">
              <a:spcBef>
                <a:spcPts val="0"/>
              </a:spcBef>
              <a:spcAft>
                <a:spcPts val="0"/>
              </a:spcAft>
              <a:defRPr/>
            </a:pPr>
            <a:r>
              <a:rPr lang="en-US" altLang="zh-CN" sz="1600" dirty="0">
                <a:latin typeface="+mn-lt"/>
                <a:ea typeface="+mn-ea"/>
              </a:rPr>
              <a:t>GO</a:t>
            </a:r>
            <a:endParaRPr lang="zh-CN" altLang="zh-CN" sz="1600" dirty="0">
              <a:latin typeface="+mn-lt"/>
              <a:ea typeface="+mn-ea"/>
            </a:endParaRPr>
          </a:p>
          <a:p>
            <a:pPr indent="539750" fontAlgn="auto">
              <a:spcBef>
                <a:spcPts val="0"/>
              </a:spcBef>
              <a:spcAft>
                <a:spcPts val="0"/>
              </a:spcAft>
              <a:defRPr/>
            </a:pPr>
            <a:r>
              <a:rPr lang="en-US" altLang="zh-CN" sz="1600" dirty="0">
                <a:latin typeface="+mn-lt"/>
                <a:ea typeface="+mn-ea"/>
              </a:rPr>
              <a:t>DECLARE @</a:t>
            </a:r>
            <a:r>
              <a:rPr lang="en-US" altLang="zh-CN" sz="1600" dirty="0" err="1">
                <a:latin typeface="+mn-lt"/>
                <a:ea typeface="+mn-ea"/>
              </a:rPr>
              <a:t>CursorVar</a:t>
            </a:r>
            <a:r>
              <a:rPr lang="en-US" altLang="zh-CN" sz="1600" dirty="0">
                <a:latin typeface="+mn-lt"/>
                <a:ea typeface="+mn-ea"/>
              </a:rPr>
              <a:t> CURSOR                 		/*</a:t>
            </a:r>
            <a:r>
              <a:rPr lang="zh-CN" altLang="zh-CN" sz="1600" dirty="0">
                <a:latin typeface="+mn-lt"/>
                <a:ea typeface="+mn-ea"/>
              </a:rPr>
              <a:t>定义游标变量</a:t>
            </a:r>
            <a:r>
              <a:rPr lang="en-US" altLang="zh-CN" sz="1600" dirty="0">
                <a:latin typeface="+mn-lt"/>
                <a:ea typeface="+mn-ea"/>
              </a:rPr>
              <a:t>*/</a:t>
            </a:r>
            <a:endParaRPr lang="zh-CN" altLang="zh-CN" sz="1600" dirty="0">
              <a:latin typeface="+mn-lt"/>
              <a:ea typeface="+mn-ea"/>
            </a:endParaRPr>
          </a:p>
          <a:p>
            <a:pPr indent="539750" fontAlgn="auto">
              <a:spcBef>
                <a:spcPts val="0"/>
              </a:spcBef>
              <a:spcAft>
                <a:spcPts val="0"/>
              </a:spcAft>
              <a:defRPr/>
            </a:pPr>
            <a:r>
              <a:rPr lang="en-US" altLang="zh-CN" sz="1600" dirty="0">
                <a:latin typeface="+mn-lt"/>
                <a:ea typeface="+mn-ea"/>
              </a:rPr>
              <a:t>SET @</a:t>
            </a:r>
            <a:r>
              <a:rPr lang="en-US" altLang="zh-CN" sz="1600" dirty="0" err="1">
                <a:latin typeface="+mn-lt"/>
                <a:ea typeface="+mn-ea"/>
              </a:rPr>
              <a:t>CursorVar</a:t>
            </a:r>
            <a:r>
              <a:rPr lang="en-US" altLang="zh-CN" sz="1600" dirty="0">
                <a:latin typeface="+mn-lt"/>
                <a:ea typeface="+mn-ea"/>
              </a:rPr>
              <a:t> = CURSOR SCROLL DYNAMIC   	/*</a:t>
            </a:r>
            <a:r>
              <a:rPr lang="zh-CN" altLang="zh-CN" sz="1600" dirty="0">
                <a:latin typeface="+mn-lt"/>
                <a:ea typeface="+mn-ea"/>
              </a:rPr>
              <a:t>为游标变量赋值</a:t>
            </a:r>
            <a:r>
              <a:rPr lang="en-US" altLang="zh-CN" sz="1600" dirty="0">
                <a:latin typeface="+mn-lt"/>
                <a:ea typeface="+mn-ea"/>
              </a:rPr>
              <a:t>*/</a:t>
            </a:r>
            <a:endParaRPr lang="zh-CN" altLang="zh-CN" sz="1600" dirty="0">
              <a:latin typeface="+mn-lt"/>
              <a:ea typeface="+mn-ea"/>
            </a:endParaRPr>
          </a:p>
          <a:p>
            <a:pPr indent="539750" fontAlgn="auto">
              <a:spcBef>
                <a:spcPts val="0"/>
              </a:spcBef>
              <a:spcAft>
                <a:spcPts val="0"/>
              </a:spcAft>
              <a:defRPr/>
            </a:pPr>
            <a:r>
              <a:rPr lang="en-US" altLang="zh-CN" sz="1600" dirty="0">
                <a:latin typeface="+mn-lt"/>
                <a:ea typeface="+mn-ea"/>
              </a:rPr>
              <a:t>     FOR</a:t>
            </a:r>
            <a:endParaRPr lang="zh-CN" altLang="zh-CN" sz="1600" dirty="0">
              <a:latin typeface="+mn-lt"/>
              <a:ea typeface="+mn-ea"/>
            </a:endParaRPr>
          </a:p>
          <a:p>
            <a:pPr indent="539750" fontAlgn="auto">
              <a:spcBef>
                <a:spcPts val="0"/>
              </a:spcBef>
              <a:spcAft>
                <a:spcPts val="0"/>
              </a:spcAft>
              <a:defRPr/>
            </a:pPr>
            <a:r>
              <a:rPr lang="en-US" altLang="zh-CN" sz="1600" dirty="0">
                <a:latin typeface="+mn-lt"/>
                <a:ea typeface="+mn-ea"/>
              </a:rPr>
              <a:t>     SELECT</a:t>
            </a:r>
            <a:r>
              <a:rPr lang="zh-CN" altLang="zh-CN" sz="1600" dirty="0">
                <a:latin typeface="+mn-lt"/>
                <a:ea typeface="+mn-ea"/>
              </a:rPr>
              <a:t>学号</a:t>
            </a:r>
            <a:r>
              <a:rPr lang="en-US" altLang="zh-CN" sz="1600" dirty="0">
                <a:latin typeface="+mn-lt"/>
                <a:ea typeface="+mn-ea"/>
              </a:rPr>
              <a:t>, </a:t>
            </a:r>
            <a:r>
              <a:rPr lang="zh-CN" altLang="zh-CN" sz="1600" dirty="0">
                <a:latin typeface="+mn-lt"/>
                <a:ea typeface="+mn-ea"/>
              </a:rPr>
              <a:t>姓名</a:t>
            </a:r>
            <a:endParaRPr lang="zh-CN" altLang="zh-CN" sz="1600" dirty="0">
              <a:latin typeface="+mn-lt"/>
              <a:ea typeface="+mn-ea"/>
            </a:endParaRPr>
          </a:p>
          <a:p>
            <a:pPr indent="539750" fontAlgn="auto">
              <a:spcBef>
                <a:spcPts val="0"/>
              </a:spcBef>
              <a:spcAft>
                <a:spcPts val="0"/>
              </a:spcAft>
              <a:defRPr/>
            </a:pPr>
            <a:r>
              <a:rPr lang="en-US" altLang="zh-CN" sz="1600" dirty="0">
                <a:latin typeface="+mn-lt"/>
                <a:ea typeface="+mn-ea"/>
              </a:rPr>
              <a:t>          FROM  </a:t>
            </a:r>
            <a:r>
              <a:rPr lang="en-US" altLang="zh-CN" sz="1600" dirty="0" err="1">
                <a:latin typeface="+mn-lt"/>
                <a:ea typeface="+mn-ea"/>
              </a:rPr>
              <a:t>xsb</a:t>
            </a:r>
            <a:endParaRPr lang="zh-CN" altLang="zh-CN" sz="1600" dirty="0">
              <a:latin typeface="+mn-lt"/>
              <a:ea typeface="+mn-ea"/>
            </a:endParaRPr>
          </a:p>
          <a:p>
            <a:pPr indent="539750" fontAlgn="auto">
              <a:spcBef>
                <a:spcPts val="0"/>
              </a:spcBef>
              <a:spcAft>
                <a:spcPts val="0"/>
              </a:spcAft>
              <a:defRPr/>
            </a:pPr>
            <a:r>
              <a:rPr lang="en-US" altLang="zh-CN" sz="1600" dirty="0">
                <a:latin typeface="+mn-lt"/>
                <a:ea typeface="+mn-ea"/>
              </a:rPr>
              <a:t>          WHERE</a:t>
            </a:r>
            <a:r>
              <a:rPr lang="zh-CN" altLang="zh-CN" sz="1600" dirty="0">
                <a:latin typeface="+mn-lt"/>
                <a:ea typeface="+mn-ea"/>
              </a:rPr>
              <a:t>姓名</a:t>
            </a:r>
            <a:r>
              <a:rPr lang="en-US" altLang="zh-CN" sz="1600" dirty="0">
                <a:latin typeface="+mn-lt"/>
                <a:ea typeface="+mn-ea"/>
              </a:rPr>
              <a:t>LIKE  '</a:t>
            </a:r>
            <a:r>
              <a:rPr lang="zh-CN" altLang="zh-CN" sz="1600" dirty="0">
                <a:latin typeface="+mn-lt"/>
                <a:ea typeface="+mn-ea"/>
              </a:rPr>
              <a:t>王</a:t>
            </a:r>
            <a:r>
              <a:rPr lang="en-US" altLang="zh-CN" sz="1600" dirty="0">
                <a:latin typeface="+mn-lt"/>
                <a:ea typeface="+mn-ea"/>
              </a:rPr>
              <a:t>%'</a:t>
            </a:r>
            <a:endParaRPr lang="zh-CN" altLang="zh-CN" sz="1600" dirty="0">
              <a:latin typeface="+mn-lt"/>
              <a:ea typeface="+mn-ea"/>
            </a:endParaRPr>
          </a:p>
          <a:p>
            <a:pPr indent="539750" fontAlgn="auto">
              <a:spcBef>
                <a:spcPts val="0"/>
              </a:spcBef>
              <a:spcAft>
                <a:spcPts val="0"/>
              </a:spcAft>
              <a:defRPr/>
            </a:pPr>
            <a:r>
              <a:rPr lang="en-US" altLang="zh-CN" sz="1600" dirty="0">
                <a:latin typeface="+mn-lt"/>
                <a:ea typeface="+mn-ea"/>
              </a:rPr>
              <a:t>OPEN @</a:t>
            </a:r>
            <a:r>
              <a:rPr lang="en-US" altLang="zh-CN" sz="1600" dirty="0" err="1">
                <a:latin typeface="+mn-lt"/>
                <a:ea typeface="+mn-ea"/>
              </a:rPr>
              <a:t>CursorVar</a:t>
            </a:r>
            <a:r>
              <a:rPr lang="en-US" altLang="zh-CN" sz="1600" dirty="0">
                <a:latin typeface="+mn-lt"/>
                <a:ea typeface="+mn-ea"/>
              </a:rPr>
              <a:t>                   	/*</a:t>
            </a:r>
            <a:r>
              <a:rPr lang="zh-CN" altLang="zh-CN" sz="1600" dirty="0">
                <a:latin typeface="+mn-lt"/>
                <a:ea typeface="+mn-ea"/>
              </a:rPr>
              <a:t>打开游标</a:t>
            </a:r>
            <a:r>
              <a:rPr lang="en-US" altLang="zh-CN" sz="1600" dirty="0">
                <a:latin typeface="+mn-lt"/>
                <a:ea typeface="+mn-ea"/>
              </a:rPr>
              <a:t>*/</a:t>
            </a:r>
            <a:endParaRPr lang="zh-CN" altLang="zh-CN" sz="1600" dirty="0">
              <a:latin typeface="+mn-lt"/>
              <a:ea typeface="+mn-ea"/>
            </a:endParaRPr>
          </a:p>
          <a:p>
            <a:pPr indent="539750" fontAlgn="auto">
              <a:spcBef>
                <a:spcPts val="0"/>
              </a:spcBef>
              <a:spcAft>
                <a:spcPts val="0"/>
              </a:spcAft>
              <a:defRPr/>
            </a:pPr>
            <a:r>
              <a:rPr lang="en-US" altLang="zh-CN" sz="1600" dirty="0">
                <a:latin typeface="+mn-lt"/>
                <a:ea typeface="+mn-ea"/>
              </a:rPr>
              <a:t>FETCH  NEXT  FROM @</a:t>
            </a:r>
            <a:r>
              <a:rPr lang="en-US" altLang="zh-CN" sz="1600" dirty="0" err="1">
                <a:latin typeface="+mn-lt"/>
                <a:ea typeface="+mn-ea"/>
              </a:rPr>
              <a:t>CursorVar</a:t>
            </a:r>
            <a:endParaRPr lang="zh-CN" altLang="zh-CN" sz="1600" dirty="0">
              <a:latin typeface="+mn-lt"/>
              <a:ea typeface="+mn-ea"/>
            </a:endParaRPr>
          </a:p>
          <a:p>
            <a:pPr indent="539750" fontAlgn="auto">
              <a:spcBef>
                <a:spcPts val="0"/>
              </a:spcBef>
              <a:spcAft>
                <a:spcPts val="0"/>
              </a:spcAft>
              <a:defRPr/>
            </a:pPr>
            <a:r>
              <a:rPr lang="en-US" altLang="zh-CN" sz="1600" dirty="0">
                <a:latin typeface="+mn-lt"/>
                <a:ea typeface="+mn-ea"/>
              </a:rPr>
              <a:t>FETCH  NEXT  FROM @ </a:t>
            </a:r>
            <a:r>
              <a:rPr lang="en-US" altLang="zh-CN" sz="1600" dirty="0" err="1"/>
              <a:t>CursorVar</a:t>
            </a:r>
            <a:r>
              <a:rPr lang="en-US" altLang="zh-CN" sz="1600" dirty="0">
                <a:latin typeface="+mn-lt"/>
                <a:ea typeface="+mn-ea"/>
              </a:rPr>
              <a:t> 	/*</a:t>
            </a:r>
            <a:r>
              <a:rPr lang="zh-CN" altLang="zh-CN" sz="1600" dirty="0">
                <a:latin typeface="+mn-lt"/>
                <a:ea typeface="+mn-ea"/>
              </a:rPr>
              <a:t>通过游标读行记录</a:t>
            </a:r>
            <a:r>
              <a:rPr lang="en-US" altLang="zh-CN" sz="1600" dirty="0">
                <a:latin typeface="+mn-lt"/>
                <a:ea typeface="+mn-ea"/>
              </a:rPr>
              <a:t>*/</a:t>
            </a:r>
            <a:endParaRPr lang="zh-CN" altLang="zh-CN" sz="1600" dirty="0">
              <a:latin typeface="+mn-lt"/>
              <a:ea typeface="+mn-ea"/>
            </a:endParaRPr>
          </a:p>
          <a:p>
            <a:pPr indent="539750" fontAlgn="auto">
              <a:spcBef>
                <a:spcPts val="0"/>
              </a:spcBef>
              <a:spcAft>
                <a:spcPts val="0"/>
              </a:spcAft>
              <a:defRPr/>
            </a:pPr>
            <a:r>
              <a:rPr lang="en-US" altLang="zh-CN" sz="1600" dirty="0">
                <a:latin typeface="+mn-lt"/>
                <a:ea typeface="+mn-ea"/>
              </a:rPr>
              <a:t>CLOSE @</a:t>
            </a:r>
            <a:r>
              <a:rPr lang="en-US" altLang="zh-CN" sz="1600" dirty="0" err="1">
                <a:latin typeface="+mn-lt"/>
                <a:ea typeface="+mn-ea"/>
              </a:rPr>
              <a:t>CursorVar</a:t>
            </a:r>
            <a:endParaRPr lang="zh-CN" altLang="zh-CN" sz="1600" dirty="0">
              <a:latin typeface="+mn-lt"/>
              <a:ea typeface="+mn-ea"/>
            </a:endParaRPr>
          </a:p>
          <a:p>
            <a:pPr indent="539750" fontAlgn="auto">
              <a:spcBef>
                <a:spcPts val="0"/>
              </a:spcBef>
              <a:spcAft>
                <a:spcPts val="0"/>
              </a:spcAft>
              <a:defRPr/>
            </a:pPr>
            <a:r>
              <a:rPr lang="en-US" altLang="zh-CN" sz="1600" dirty="0">
                <a:latin typeface="+mn-lt"/>
                <a:ea typeface="+mn-ea"/>
              </a:rPr>
              <a:t>DEALLOCATE @</a:t>
            </a:r>
            <a:r>
              <a:rPr lang="en-US" altLang="zh-CN" sz="1600" dirty="0" err="1">
                <a:latin typeface="+mn-lt"/>
                <a:ea typeface="+mn-ea"/>
              </a:rPr>
              <a:t>CursorVar</a:t>
            </a:r>
            <a:r>
              <a:rPr lang="en-US" altLang="zh-CN" sz="1600" dirty="0">
                <a:latin typeface="+mn-lt"/>
                <a:ea typeface="+mn-ea"/>
              </a:rPr>
              <a:t>     	/*</a:t>
            </a:r>
            <a:r>
              <a:rPr lang="zh-CN" altLang="zh-CN" sz="1600" dirty="0">
                <a:latin typeface="+mn-lt"/>
                <a:ea typeface="+mn-ea"/>
              </a:rPr>
              <a:t>删除对游标的引用</a:t>
            </a:r>
            <a:r>
              <a:rPr lang="en-US" altLang="zh-CN" sz="1600" dirty="0">
                <a:latin typeface="+mn-lt"/>
                <a:ea typeface="+mn-ea"/>
              </a:rPr>
              <a:t>*/</a:t>
            </a:r>
            <a:endParaRPr lang="zh-CN" altLang="zh-CN" sz="1600" dirty="0">
              <a:latin typeface="+mn-lt"/>
              <a:ea typeface="+mn-ea"/>
            </a:endParaRPr>
          </a:p>
          <a:p>
            <a:pPr indent="539750" fontAlgn="ctr">
              <a:spcBef>
                <a:spcPts val="0"/>
              </a:spcBef>
              <a:spcAft>
                <a:spcPts val="0"/>
              </a:spcAft>
              <a:defRPr/>
            </a:pPr>
            <a:r>
              <a:rPr lang="zh-CN" altLang="zh-CN" dirty="0">
                <a:latin typeface="+mn-lt"/>
                <a:ea typeface="+mn-ea"/>
              </a:rPr>
              <a:t>执行结果如图</a:t>
            </a:r>
            <a:r>
              <a:rPr lang="en-US" altLang="zh-CN" dirty="0">
                <a:latin typeface="+mn-lt"/>
                <a:ea typeface="+mn-ea"/>
              </a:rPr>
              <a:t>5.5</a:t>
            </a:r>
            <a:r>
              <a:rPr lang="zh-CN" altLang="zh-CN" dirty="0">
                <a:latin typeface="+mn-lt"/>
                <a:ea typeface="+mn-ea"/>
              </a:rPr>
              <a:t>所示。</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pic>
        <p:nvPicPr>
          <p:cNvPr id="2970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732588" y="4602163"/>
            <a:ext cx="2016125" cy="186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heel spokes="1"/>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55650" y="2133600"/>
            <a:ext cx="7920038" cy="4953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755650" y="2924175"/>
            <a:ext cx="7920038" cy="24495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5.2.3  </a:t>
            </a:r>
            <a:r>
              <a:rPr lang="zh-CN" altLang="zh-CN" dirty="0">
                <a:effectLst/>
              </a:rPr>
              <a:t>变量：</a:t>
            </a:r>
            <a:r>
              <a:rPr lang="en-US" altLang="zh-CN" dirty="0">
                <a:effectLst/>
              </a:rPr>
              <a:t>DECLARE/SET/SELECT</a:t>
            </a:r>
            <a:endParaRPr lang="zh-CN" altLang="en-US" dirty="0"/>
          </a:p>
        </p:txBody>
      </p:sp>
      <p:sp>
        <p:nvSpPr>
          <p:cNvPr id="30725" name="TextBox 2"/>
          <p:cNvSpPr txBox="1">
            <a:spLocks noChangeArrowheads="1"/>
          </p:cNvSpPr>
          <p:nvPr/>
        </p:nvSpPr>
        <p:spPr bwMode="auto">
          <a:xfrm>
            <a:off x="395288" y="1484313"/>
            <a:ext cx="8280400" cy="446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4</a:t>
            </a:r>
            <a:r>
              <a:rPr lang="zh-CN" altLang="zh-CN" b="1">
                <a:solidFill>
                  <a:srgbClr val="C00000"/>
                </a:solidFill>
              </a:rPr>
              <a:t>．表数据类型变量</a:t>
            </a:r>
            <a:endParaRPr lang="zh-CN" altLang="zh-CN" b="1">
              <a:solidFill>
                <a:srgbClr val="C00000"/>
              </a:solidFill>
            </a:endParaRPr>
          </a:p>
          <a:p>
            <a:pPr eaLnBrk="1" fontAlgn="ctr" hangingPunct="1"/>
            <a:r>
              <a:rPr lang="zh-CN" altLang="zh-CN"/>
              <a:t>语法格式：</a:t>
            </a:r>
            <a:endParaRPr lang="zh-CN" altLang="zh-CN"/>
          </a:p>
          <a:p>
            <a:pPr eaLnBrk="1" hangingPunct="1"/>
            <a:r>
              <a:rPr lang="en-US" altLang="zh-CN"/>
              <a:t>DECLARE</a:t>
            </a:r>
            <a:endParaRPr lang="zh-CN" altLang="zh-CN"/>
          </a:p>
          <a:p>
            <a:pPr eaLnBrk="1" hangingPunct="1"/>
            <a:r>
              <a:rPr lang="en-US" altLang="zh-CN"/>
              <a:t>{ @</a:t>
            </a:r>
            <a:r>
              <a:rPr lang="zh-CN" altLang="zh-CN"/>
              <a:t>表变量名</a:t>
            </a:r>
            <a:r>
              <a:rPr lang="en-US" altLang="zh-CN"/>
              <a:t>[AS] TABLE ( { &lt;</a:t>
            </a:r>
            <a:r>
              <a:rPr lang="zh-CN" altLang="zh-CN"/>
              <a:t>列定义</a:t>
            </a:r>
            <a:r>
              <a:rPr lang="en-US" altLang="zh-CN"/>
              <a:t>&gt; | &lt;</a:t>
            </a:r>
            <a:r>
              <a:rPr lang="zh-CN" altLang="zh-CN"/>
              <a:t>表约束</a:t>
            </a:r>
            <a:r>
              <a:rPr lang="en-US" altLang="zh-CN"/>
              <a:t>&gt; } [ , ... ] ) }</a:t>
            </a:r>
            <a:endParaRPr lang="zh-CN" altLang="zh-CN"/>
          </a:p>
          <a:p>
            <a:pPr eaLnBrk="1" fontAlgn="ctr" hangingPunct="1"/>
            <a:r>
              <a:rPr lang="zh-CN" altLang="zh-CN"/>
              <a:t>【例</a:t>
            </a:r>
            <a:r>
              <a:rPr lang="en-US" altLang="zh-CN"/>
              <a:t>5.8</a:t>
            </a:r>
            <a:r>
              <a:rPr lang="zh-CN" altLang="zh-CN"/>
              <a:t>】 声明一个表数据类型变量并向变量中插入数据。</a:t>
            </a:r>
            <a:endParaRPr lang="zh-CN" altLang="zh-CN"/>
          </a:p>
          <a:p>
            <a:pPr eaLnBrk="1" hangingPunct="1"/>
            <a:r>
              <a:rPr lang="en-US" altLang="zh-CN" sz="1600"/>
              <a:t>DECLARE @var_table</a:t>
            </a:r>
            <a:endParaRPr lang="zh-CN" altLang="zh-CN" sz="1600"/>
          </a:p>
          <a:p>
            <a:pPr eaLnBrk="1" hangingPunct="1"/>
            <a:r>
              <a:rPr lang="en-US" altLang="zh-CN" sz="1600"/>
              <a:t>     AS TABLE</a:t>
            </a:r>
            <a:endParaRPr lang="zh-CN" altLang="zh-CN" sz="1600"/>
          </a:p>
          <a:p>
            <a:pPr eaLnBrk="1" hangingPunct="1"/>
            <a:r>
              <a:rPr lang="en-US" altLang="zh-CN" sz="1600"/>
              <a:t>      (</a:t>
            </a:r>
            <a:endParaRPr lang="zh-CN" altLang="zh-CN" sz="1600"/>
          </a:p>
          <a:p>
            <a:pPr eaLnBrk="1" hangingPunct="1"/>
            <a:r>
              <a:rPr lang="en-US" altLang="zh-CN" sz="1600"/>
              <a:t>          num char(6) NOT NULL PRIMARY KEY,</a:t>
            </a:r>
            <a:endParaRPr lang="zh-CN" altLang="zh-CN" sz="1600"/>
          </a:p>
          <a:p>
            <a:pPr eaLnBrk="1" hangingPunct="1"/>
            <a:r>
              <a:rPr lang="en-US" altLang="zh-CN" sz="1600"/>
              <a:t>          name char(8) NOT NULL,</a:t>
            </a:r>
            <a:endParaRPr lang="zh-CN" altLang="zh-CN" sz="1600"/>
          </a:p>
          <a:p>
            <a:pPr eaLnBrk="1" hangingPunct="1"/>
            <a:r>
              <a:rPr lang="en-US" altLang="zh-CN" sz="1600"/>
              <a:t>          sex bit NULL</a:t>
            </a:r>
            <a:endParaRPr lang="zh-CN" altLang="zh-CN" sz="1600"/>
          </a:p>
          <a:p>
            <a:pPr eaLnBrk="1" hangingPunct="1"/>
            <a:r>
              <a:rPr lang="en-US" altLang="zh-CN" sz="1600"/>
              <a:t>     )	   				/*</a:t>
            </a:r>
            <a:r>
              <a:rPr lang="zh-CN" altLang="zh-CN" sz="1600"/>
              <a:t>声明变量</a:t>
            </a:r>
            <a:r>
              <a:rPr lang="en-US" altLang="zh-CN" sz="1600"/>
              <a:t>*/</a:t>
            </a:r>
            <a:endParaRPr lang="zh-CN" altLang="zh-CN" sz="1600"/>
          </a:p>
          <a:p>
            <a:pPr eaLnBrk="1" hangingPunct="1"/>
            <a:r>
              <a:rPr lang="en-US" altLang="zh-CN" sz="1600"/>
              <a:t>INSERT INTO @var_table</a:t>
            </a:r>
            <a:endParaRPr lang="zh-CN" altLang="zh-CN" sz="1600"/>
          </a:p>
          <a:p>
            <a:pPr eaLnBrk="1" hangingPunct="1"/>
            <a:r>
              <a:rPr lang="en-US" altLang="zh-CN" sz="1600"/>
              <a:t>     SELECT</a:t>
            </a:r>
            <a:r>
              <a:rPr lang="zh-CN" altLang="zh-CN" sz="1600"/>
              <a:t>学号</a:t>
            </a:r>
            <a:r>
              <a:rPr lang="en-US" altLang="zh-CN" sz="1600"/>
              <a:t>,</a:t>
            </a:r>
            <a:r>
              <a:rPr lang="zh-CN" altLang="zh-CN" sz="1600"/>
              <a:t>姓名</a:t>
            </a:r>
            <a:r>
              <a:rPr lang="en-US" altLang="zh-CN" sz="1600"/>
              <a:t>,</a:t>
            </a:r>
            <a:r>
              <a:rPr lang="zh-CN" altLang="zh-CN" sz="1600"/>
              <a:t>性别</a:t>
            </a:r>
            <a:r>
              <a:rPr lang="en-US" altLang="zh-CN" sz="1600"/>
              <a:t>FROM xsb	 	/*</a:t>
            </a:r>
            <a:r>
              <a:rPr lang="zh-CN" altLang="zh-CN" sz="1600"/>
              <a:t>插入数据</a:t>
            </a:r>
            <a:r>
              <a:rPr lang="en-US" altLang="zh-CN" sz="1600"/>
              <a:t>*/</a:t>
            </a:r>
            <a:endParaRPr lang="zh-CN" altLang="zh-CN" sz="1600"/>
          </a:p>
          <a:p>
            <a:pPr eaLnBrk="1" hangingPunct="1"/>
            <a:r>
              <a:rPr lang="en-US" altLang="zh-CN" sz="1600"/>
              <a:t>SELECT TOP(4) * FROM @var_table  WHERE</a:t>
            </a:r>
            <a:r>
              <a:rPr lang="zh-CN" altLang="zh-CN" sz="1600"/>
              <a:t>备注</a:t>
            </a:r>
            <a:r>
              <a:rPr lang="en-US" altLang="zh-CN" sz="1600"/>
              <a:t>=NOT NULL		/*</a:t>
            </a:r>
            <a:r>
              <a:rPr lang="zh-CN" altLang="zh-CN" sz="1600"/>
              <a:t>查看内容</a:t>
            </a:r>
            <a:r>
              <a:rPr lang="en-US" altLang="zh-CN" sz="1600"/>
              <a:t>*/</a:t>
            </a:r>
            <a:endParaRPr lang="zh-CN" altLang="zh-CN" sz="1600"/>
          </a:p>
          <a:p>
            <a:pPr eaLnBrk="1" fontAlgn="ctr" hangingPunct="1"/>
            <a:r>
              <a:rPr lang="zh-CN" altLang="zh-CN" sz="1600"/>
              <a:t>执行结果如图</a:t>
            </a:r>
            <a:r>
              <a:rPr lang="en-US" altLang="zh-CN" sz="1600"/>
              <a:t>5.6</a:t>
            </a:r>
            <a:r>
              <a:rPr lang="zh-CN" altLang="zh-CN" sz="1600"/>
              <a:t>所示。</a:t>
            </a:r>
            <a:endParaRPr lang="zh-CN" altLang="zh-CN" sz="1600"/>
          </a:p>
          <a:p>
            <a:pPr eaLnBrk="1" hangingPunct="1"/>
            <a:endParaRPr lang="zh-CN" altLang="en-US"/>
          </a:p>
        </p:txBody>
      </p:sp>
      <p:pic>
        <p:nvPicPr>
          <p:cNvPr id="307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14675" y="5413375"/>
            <a:ext cx="1976438" cy="142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2060575"/>
            <a:ext cx="7921625" cy="30241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5.3  </a:t>
            </a:r>
            <a:r>
              <a:rPr lang="zh-CN" altLang="zh-CN" dirty="0">
                <a:effectLst/>
              </a:rPr>
              <a:t>运算符与表达式</a:t>
            </a:r>
            <a:endParaRPr lang="zh-CN" altLang="en-US" dirty="0"/>
          </a:p>
        </p:txBody>
      </p:sp>
      <p:sp>
        <p:nvSpPr>
          <p:cNvPr id="3" name="TextBox 2"/>
          <p:cNvSpPr txBox="1"/>
          <p:nvPr/>
        </p:nvSpPr>
        <p:spPr>
          <a:xfrm>
            <a:off x="468313" y="1484313"/>
            <a:ext cx="8280400" cy="4248150"/>
          </a:xfrm>
          <a:prstGeom prst="rect">
            <a:avLst/>
          </a:prstGeom>
          <a:noFill/>
        </p:spPr>
        <p:txBody>
          <a:bodyPr>
            <a:spAutoFit/>
          </a:bodyPr>
          <a:lstStyle/>
          <a:p>
            <a:pPr indent="446405" fontAlgn="ctr">
              <a:spcBef>
                <a:spcPts val="0"/>
              </a:spcBef>
              <a:spcAft>
                <a:spcPts val="0"/>
              </a:spcAft>
              <a:defRPr/>
            </a:pPr>
            <a:r>
              <a:rPr lang="zh-CN" altLang="zh-CN" dirty="0">
                <a:latin typeface="+mn-lt"/>
                <a:ea typeface="+mn-ea"/>
              </a:rPr>
              <a:t>【例</a:t>
            </a:r>
            <a:r>
              <a:rPr lang="en-US" altLang="zh-CN" dirty="0">
                <a:latin typeface="+mn-lt"/>
                <a:ea typeface="+mn-ea"/>
              </a:rPr>
              <a:t>5.9</a:t>
            </a:r>
            <a:r>
              <a:rPr lang="zh-CN" altLang="zh-CN" dirty="0">
                <a:latin typeface="+mn-lt"/>
                <a:ea typeface="+mn-ea"/>
              </a:rPr>
              <a:t>】 在</a:t>
            </a:r>
            <a:r>
              <a:rPr lang="en-US" altLang="zh-CN" dirty="0">
                <a:latin typeface="+mn-lt"/>
                <a:ea typeface="+mn-ea"/>
              </a:rPr>
              <a:t>test1</a:t>
            </a:r>
            <a:r>
              <a:rPr lang="zh-CN" altLang="zh-CN" dirty="0">
                <a:latin typeface="+mn-lt"/>
                <a:ea typeface="+mn-ea"/>
              </a:rPr>
              <a:t>数据库中，建立表</a:t>
            </a:r>
            <a:r>
              <a:rPr lang="en-US" altLang="zh-CN" dirty="0" err="1">
                <a:latin typeface="+mn-lt"/>
                <a:ea typeface="+mn-ea"/>
              </a:rPr>
              <a:t>bitop</a:t>
            </a:r>
            <a:r>
              <a:rPr lang="zh-CN" altLang="zh-CN" dirty="0">
                <a:latin typeface="+mn-lt"/>
                <a:ea typeface="+mn-ea"/>
              </a:rPr>
              <a:t>，并插入一行，然后将</a:t>
            </a:r>
            <a:r>
              <a:rPr lang="en-US" altLang="zh-CN" dirty="0">
                <a:latin typeface="+mn-lt"/>
                <a:ea typeface="+mn-ea"/>
              </a:rPr>
              <a:t>a</a:t>
            </a:r>
            <a:r>
              <a:rPr lang="zh-CN" altLang="zh-CN" dirty="0">
                <a:latin typeface="+mn-lt"/>
                <a:ea typeface="+mn-ea"/>
              </a:rPr>
              <a:t>字段和</a:t>
            </a:r>
            <a:r>
              <a:rPr lang="en-US" altLang="zh-CN" dirty="0">
                <a:latin typeface="+mn-lt"/>
                <a:ea typeface="+mn-ea"/>
              </a:rPr>
              <a:t>b</a:t>
            </a:r>
            <a:r>
              <a:rPr lang="zh-CN" altLang="zh-CN" dirty="0">
                <a:latin typeface="+mn-lt"/>
                <a:ea typeface="+mn-ea"/>
              </a:rPr>
              <a:t>字段列上值进行按位与运算。</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USE test1</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CREATE TABLE </a:t>
            </a:r>
            <a:r>
              <a:rPr lang="en-US" altLang="zh-CN" dirty="0" err="1">
                <a:latin typeface="+mn-lt"/>
                <a:ea typeface="+mn-ea"/>
              </a:rPr>
              <a:t>bitop</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a </a:t>
            </a:r>
            <a:r>
              <a:rPr lang="en-US" altLang="zh-CN" dirty="0" err="1">
                <a:latin typeface="+mn-lt"/>
                <a:ea typeface="+mn-ea"/>
              </a:rPr>
              <a:t>int</a:t>
            </a:r>
            <a:r>
              <a:rPr lang="en-US" altLang="zh-CN" dirty="0">
                <a:latin typeface="+mn-lt"/>
                <a:ea typeface="+mn-ea"/>
              </a:rPr>
              <a:t> NOT NULL,</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b </a:t>
            </a:r>
            <a:r>
              <a:rPr lang="en-US" altLang="zh-CN" dirty="0" err="1">
                <a:latin typeface="+mn-lt"/>
                <a:ea typeface="+mn-ea"/>
              </a:rPr>
              <a:t>int</a:t>
            </a:r>
            <a:r>
              <a:rPr lang="en-US" altLang="zh-CN" dirty="0">
                <a:latin typeface="+mn-lt"/>
                <a:ea typeface="+mn-ea"/>
              </a:rPr>
              <a:t> NOT NULL</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INSERT </a:t>
            </a:r>
            <a:r>
              <a:rPr lang="en-US" altLang="zh-CN" dirty="0" err="1">
                <a:latin typeface="+mn-lt"/>
                <a:ea typeface="+mn-ea"/>
              </a:rPr>
              <a:t>bitop</a:t>
            </a:r>
            <a:r>
              <a:rPr lang="en-US" altLang="zh-CN" dirty="0">
                <a:latin typeface="+mn-lt"/>
                <a:ea typeface="+mn-ea"/>
              </a:rPr>
              <a:t> VALUES (168, 73)</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SELECT a &amp; b,  a | b,  a ^ 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FROM </a:t>
            </a:r>
            <a:r>
              <a:rPr lang="en-US" altLang="zh-CN" dirty="0" err="1">
                <a:latin typeface="+mn-lt"/>
                <a:ea typeface="+mn-ea"/>
              </a:rPr>
              <a:t>bitop</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执行结果如图</a:t>
            </a:r>
            <a:r>
              <a:rPr lang="en-US" altLang="zh-CN" dirty="0">
                <a:latin typeface="+mn-lt"/>
                <a:ea typeface="+mn-ea"/>
              </a:rPr>
              <a:t>5.7</a:t>
            </a:r>
            <a:r>
              <a:rPr lang="zh-CN" altLang="zh-CN" dirty="0">
                <a:latin typeface="+mn-lt"/>
                <a:ea typeface="+mn-ea"/>
              </a:rPr>
              <a:t>所示。</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pic>
        <p:nvPicPr>
          <p:cNvPr id="3277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08338" y="5480050"/>
            <a:ext cx="2652712"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5.3  </a:t>
            </a:r>
            <a:r>
              <a:rPr lang="zh-CN" altLang="zh-CN" dirty="0">
                <a:effectLst/>
              </a:rPr>
              <a:t>运算符与表达式</a:t>
            </a:r>
            <a:endParaRPr lang="zh-CN" altLang="en-US" dirty="0"/>
          </a:p>
        </p:txBody>
      </p:sp>
      <p:sp>
        <p:nvSpPr>
          <p:cNvPr id="33795" name="TextBox 2"/>
          <p:cNvSpPr txBox="1">
            <a:spLocks noChangeArrowheads="1"/>
          </p:cNvSpPr>
          <p:nvPr/>
        </p:nvSpPr>
        <p:spPr bwMode="auto">
          <a:xfrm>
            <a:off x="468313" y="1412875"/>
            <a:ext cx="8207375" cy="171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3</a:t>
            </a:r>
            <a:r>
              <a:rPr lang="zh-CN" altLang="zh-CN" b="1">
                <a:solidFill>
                  <a:srgbClr val="C00000"/>
                </a:solidFill>
              </a:rPr>
              <a:t>．比较运算符</a:t>
            </a:r>
            <a:endParaRPr lang="zh-CN" altLang="zh-CN" b="1">
              <a:solidFill>
                <a:srgbClr val="C00000"/>
              </a:solidFill>
            </a:endParaRPr>
          </a:p>
          <a:p>
            <a:pPr eaLnBrk="1" fontAlgn="ctr" hangingPunct="1">
              <a:lnSpc>
                <a:spcPct val="150000"/>
              </a:lnSpc>
            </a:pPr>
            <a:r>
              <a:rPr lang="zh-CN" altLang="zh-CN"/>
              <a:t>比较运算符（又称关系运算符）如表</a:t>
            </a:r>
            <a:r>
              <a:rPr lang="en-US" altLang="zh-CN"/>
              <a:t>5.5</a:t>
            </a:r>
            <a:r>
              <a:rPr lang="zh-CN" altLang="zh-CN"/>
              <a:t>所示，用于测试两个表达式的值是否相同，其运算结果为逻辑值，可以为</a:t>
            </a:r>
            <a:r>
              <a:rPr lang="en-US" altLang="zh-CN"/>
              <a:t>TRUE</a:t>
            </a:r>
            <a:r>
              <a:rPr lang="zh-CN" altLang="zh-CN"/>
              <a:t>、</a:t>
            </a:r>
            <a:r>
              <a:rPr lang="en-US" altLang="zh-CN"/>
              <a:t>FALSE</a:t>
            </a:r>
            <a:r>
              <a:rPr lang="zh-CN" altLang="zh-CN"/>
              <a:t>及</a:t>
            </a:r>
            <a:r>
              <a:rPr lang="en-US" altLang="zh-CN"/>
              <a:t>UNKNOWN</a:t>
            </a:r>
            <a:r>
              <a:rPr lang="zh-CN" altLang="zh-CN"/>
              <a:t>三者之一。</a:t>
            </a:r>
            <a:endParaRPr lang="zh-CN" altLang="zh-CN"/>
          </a:p>
          <a:p>
            <a:pPr eaLnBrk="1" hangingPunct="1">
              <a:lnSpc>
                <a:spcPct val="150000"/>
              </a:lnSpc>
            </a:pPr>
            <a:endParaRPr lang="zh-CN" altLang="en-US"/>
          </a:p>
        </p:txBody>
      </p:sp>
      <p:graphicFrame>
        <p:nvGraphicFramePr>
          <p:cNvPr id="4" name="表格 3"/>
          <p:cNvGraphicFramePr>
            <a:graphicFrameLocks noGrp="1"/>
          </p:cNvGraphicFramePr>
          <p:nvPr/>
        </p:nvGraphicFramePr>
        <p:xfrm>
          <a:off x="652463" y="2890838"/>
          <a:ext cx="8023224" cy="1473200"/>
        </p:xfrm>
        <a:graphic>
          <a:graphicData uri="http://schemas.openxmlformats.org/drawingml/2006/table">
            <a:tbl>
              <a:tblPr firstRow="1" firstCol="1" bandRow="1" bandCol="1"/>
              <a:tblGrid>
                <a:gridCol w="2005806"/>
                <a:gridCol w="2005806"/>
                <a:gridCol w="2005806"/>
                <a:gridCol w="2005806"/>
              </a:tblGrid>
              <a:tr h="294640">
                <a:tc>
                  <a:txBody>
                    <a:bodyPr/>
                    <a:lstStyle/>
                    <a:p>
                      <a:pPr indent="254000" algn="ctr">
                        <a:spcBef>
                          <a:spcPts val="120"/>
                        </a:spcBef>
                        <a:spcAft>
                          <a:spcPts val="120"/>
                        </a:spcAft>
                      </a:pPr>
                      <a:r>
                        <a:rPr lang="zh-CN" sz="1400" kern="1000">
                          <a:effectLst/>
                          <a:latin typeface="Times New Roman" panose="02020603050405020304"/>
                          <a:ea typeface="方正书宋简体"/>
                        </a:rPr>
                        <a:t>运算符</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含义</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运算符</a:t>
                      </a:r>
                      <a:endParaRPr lang="zh-CN" sz="1400" kern="1000">
                        <a:effectLst/>
                        <a:latin typeface="Times New Roman" panose="02020603050405020304"/>
                        <a:ea typeface="方正书宋简体"/>
                      </a:endParaRPr>
                    </a:p>
                  </a:txBody>
                  <a:tcPr marL="68575" marR="68575"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含义</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4640">
                <a:tc>
                  <a:txBody>
                    <a:bodyPr/>
                    <a:lstStyle/>
                    <a:p>
                      <a:pPr indent="254000" algn="ctr">
                        <a:spcBef>
                          <a:spcPts val="120"/>
                        </a:spcBef>
                        <a:spcAft>
                          <a:spcPts val="120"/>
                        </a:spcAft>
                      </a:pPr>
                      <a:r>
                        <a:rPr lang="en-US" sz="1400" kern="1000">
                          <a:effectLst/>
                          <a:latin typeface="Times New Roman" panose="02020603050405020304"/>
                          <a:ea typeface="方正书宋简体"/>
                        </a:rPr>
                        <a:t>=</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相等</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en-US" sz="1400" kern="1000">
                          <a:effectLst/>
                          <a:latin typeface="Times New Roman" panose="02020603050405020304"/>
                          <a:ea typeface="方正书宋简体"/>
                        </a:rPr>
                        <a:t>&lt;=</a:t>
                      </a:r>
                      <a:endParaRPr lang="zh-CN" sz="1400" kern="1000">
                        <a:effectLst/>
                        <a:latin typeface="Times New Roman" panose="02020603050405020304"/>
                        <a:ea typeface="方正书宋简体"/>
                      </a:endParaRPr>
                    </a:p>
                  </a:txBody>
                  <a:tcPr marL="68575" marR="68575"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小于等于</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4640">
                <a:tc>
                  <a:txBody>
                    <a:bodyPr/>
                    <a:lstStyle/>
                    <a:p>
                      <a:pPr indent="254000" algn="ctr">
                        <a:spcBef>
                          <a:spcPts val="120"/>
                        </a:spcBef>
                        <a:spcAft>
                          <a:spcPts val="120"/>
                        </a:spcAft>
                      </a:pPr>
                      <a:r>
                        <a:rPr lang="en-US" sz="1400" kern="1000">
                          <a:effectLst/>
                          <a:latin typeface="Times New Roman" panose="02020603050405020304"/>
                          <a:ea typeface="方正书宋简体"/>
                        </a:rPr>
                        <a:t>&gt; </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大于</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en-US" sz="1400" kern="1000">
                          <a:effectLst/>
                          <a:latin typeface="Times New Roman" panose="02020603050405020304"/>
                          <a:ea typeface="方正书宋简体"/>
                        </a:rPr>
                        <a:t>&lt;&gt;</a:t>
                      </a:r>
                      <a:r>
                        <a:rPr lang="zh-CN" sz="1400" kern="1000">
                          <a:effectLst/>
                          <a:latin typeface="Times New Roman" panose="02020603050405020304"/>
                          <a:ea typeface="方正书宋简体"/>
                        </a:rPr>
                        <a:t>、</a:t>
                      </a:r>
                      <a:r>
                        <a:rPr lang="en-US" sz="1400" kern="1000">
                          <a:effectLst/>
                          <a:latin typeface="Times New Roman" panose="02020603050405020304"/>
                          <a:ea typeface="方正书宋简体"/>
                        </a:rPr>
                        <a:t>!=</a:t>
                      </a:r>
                      <a:endParaRPr lang="zh-CN" sz="1400" kern="1000">
                        <a:effectLst/>
                        <a:latin typeface="Times New Roman" panose="02020603050405020304"/>
                        <a:ea typeface="方正书宋简体"/>
                      </a:endParaRPr>
                    </a:p>
                  </a:txBody>
                  <a:tcPr marL="68575" marR="68575"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不等于</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4640">
                <a:tc>
                  <a:txBody>
                    <a:bodyPr/>
                    <a:lstStyle/>
                    <a:p>
                      <a:pPr indent="254000" algn="ctr">
                        <a:spcBef>
                          <a:spcPts val="120"/>
                        </a:spcBef>
                        <a:spcAft>
                          <a:spcPts val="120"/>
                        </a:spcAft>
                      </a:pPr>
                      <a:r>
                        <a:rPr lang="en-US" sz="1400" kern="1000">
                          <a:effectLst/>
                          <a:latin typeface="Times New Roman" panose="02020603050405020304"/>
                          <a:ea typeface="方正书宋简体"/>
                        </a:rPr>
                        <a:t>&lt; </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小于</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en-US" sz="1400" kern="1000">
                          <a:effectLst/>
                          <a:latin typeface="Times New Roman" panose="02020603050405020304"/>
                          <a:ea typeface="方正书宋简体"/>
                        </a:rPr>
                        <a:t>!&lt;</a:t>
                      </a:r>
                      <a:endParaRPr lang="zh-CN" sz="1400" kern="1000">
                        <a:effectLst/>
                        <a:latin typeface="Times New Roman" panose="02020603050405020304"/>
                        <a:ea typeface="方正书宋简体"/>
                      </a:endParaRPr>
                    </a:p>
                  </a:txBody>
                  <a:tcPr marL="68575" marR="68575"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不小于</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4640">
                <a:tc>
                  <a:txBody>
                    <a:bodyPr/>
                    <a:lstStyle/>
                    <a:p>
                      <a:pPr indent="254000" algn="ctr">
                        <a:spcBef>
                          <a:spcPts val="120"/>
                        </a:spcBef>
                        <a:spcAft>
                          <a:spcPts val="120"/>
                        </a:spcAft>
                      </a:pPr>
                      <a:r>
                        <a:rPr lang="en-US" sz="1400" kern="1000">
                          <a:effectLst/>
                          <a:latin typeface="Times New Roman" panose="02020603050405020304"/>
                          <a:ea typeface="方正书宋简体"/>
                        </a:rPr>
                        <a:t>&gt;=</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大于等于</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en-US" sz="1400" kern="1000">
                          <a:effectLst/>
                          <a:latin typeface="Times New Roman" panose="02020603050405020304"/>
                          <a:ea typeface="方正书宋简体"/>
                        </a:rPr>
                        <a:t>!&gt;</a:t>
                      </a:r>
                      <a:endParaRPr lang="zh-CN" sz="1400" kern="1000">
                        <a:effectLst/>
                        <a:latin typeface="Times New Roman" panose="02020603050405020304"/>
                        <a:ea typeface="方正书宋简体"/>
                      </a:endParaRPr>
                    </a:p>
                  </a:txBody>
                  <a:tcPr marL="68575" marR="68575"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dirty="0">
                          <a:effectLst/>
                          <a:latin typeface="Times New Roman" panose="02020603050405020304"/>
                          <a:ea typeface="方正书宋简体"/>
                        </a:rPr>
                        <a:t>不大于</a:t>
                      </a:r>
                      <a:endParaRPr lang="zh-CN" sz="1400" kern="1000" dirty="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spd="slow">
    <p:wheel spokes="1"/>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5.3  </a:t>
            </a:r>
            <a:r>
              <a:rPr lang="zh-CN" altLang="zh-CN" dirty="0">
                <a:effectLst/>
              </a:rPr>
              <a:t>运算符与表达式</a:t>
            </a:r>
            <a:endParaRPr lang="zh-CN" altLang="en-US" dirty="0"/>
          </a:p>
        </p:txBody>
      </p:sp>
      <p:sp>
        <p:nvSpPr>
          <p:cNvPr id="34819" name="TextBox 2"/>
          <p:cNvSpPr txBox="1">
            <a:spLocks noChangeArrowheads="1"/>
          </p:cNvSpPr>
          <p:nvPr/>
        </p:nvSpPr>
        <p:spPr bwMode="auto">
          <a:xfrm>
            <a:off x="395288" y="1484313"/>
            <a:ext cx="82804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4</a:t>
            </a:r>
            <a:r>
              <a:rPr lang="zh-CN" altLang="zh-CN" b="1">
                <a:solidFill>
                  <a:srgbClr val="C00000"/>
                </a:solidFill>
              </a:rPr>
              <a:t>．逻辑运算符</a:t>
            </a:r>
            <a:endParaRPr lang="zh-CN" altLang="zh-CN" b="1">
              <a:solidFill>
                <a:srgbClr val="C00000"/>
              </a:solidFill>
            </a:endParaRPr>
          </a:p>
          <a:p>
            <a:pPr eaLnBrk="1" hangingPunct="1"/>
            <a:r>
              <a:rPr lang="zh-CN" altLang="zh-CN"/>
              <a:t>逻辑运算符用于对某个条件进行测试，运算结果为</a:t>
            </a:r>
            <a:r>
              <a:rPr lang="en-US" altLang="zh-CN"/>
              <a:t>TRUE</a:t>
            </a:r>
            <a:r>
              <a:rPr lang="zh-CN" altLang="zh-CN"/>
              <a:t>或</a:t>
            </a:r>
            <a:r>
              <a:rPr lang="en-US" altLang="zh-CN"/>
              <a:t>FALSE</a:t>
            </a:r>
            <a:r>
              <a:rPr lang="zh-CN" altLang="zh-CN"/>
              <a:t>。</a:t>
            </a:r>
            <a:r>
              <a:rPr lang="en-US" altLang="zh-CN"/>
              <a:t>SQL Server</a:t>
            </a:r>
            <a:r>
              <a:rPr lang="zh-CN" altLang="zh-CN"/>
              <a:t>提供的逻辑运算符如表</a:t>
            </a:r>
            <a:r>
              <a:rPr lang="en-US" altLang="zh-CN"/>
              <a:t>5.6</a:t>
            </a:r>
            <a:r>
              <a:rPr lang="zh-CN" altLang="zh-CN"/>
              <a:t>所示。</a:t>
            </a:r>
            <a:endParaRPr lang="zh-CN" altLang="en-US"/>
          </a:p>
        </p:txBody>
      </p:sp>
      <p:graphicFrame>
        <p:nvGraphicFramePr>
          <p:cNvPr id="5" name="表格 4"/>
          <p:cNvGraphicFramePr>
            <a:graphicFrameLocks noGrp="1"/>
          </p:cNvGraphicFramePr>
          <p:nvPr/>
        </p:nvGraphicFramePr>
        <p:xfrm>
          <a:off x="523875" y="2565400"/>
          <a:ext cx="8023225" cy="2943226"/>
        </p:xfrm>
        <a:graphic>
          <a:graphicData uri="http://schemas.openxmlformats.org/drawingml/2006/table">
            <a:tbl>
              <a:tblPr firstRow="1" firstCol="1" bandRow="1" bandCol="1"/>
              <a:tblGrid>
                <a:gridCol w="1999388"/>
                <a:gridCol w="6023837"/>
              </a:tblGrid>
              <a:tr h="267566">
                <a:tc>
                  <a:txBody>
                    <a:bodyPr/>
                    <a:lstStyle/>
                    <a:p>
                      <a:pPr indent="254000" algn="ctr">
                        <a:spcBef>
                          <a:spcPts val="120"/>
                        </a:spcBef>
                        <a:spcAft>
                          <a:spcPts val="120"/>
                        </a:spcAft>
                      </a:pPr>
                      <a:r>
                        <a:rPr lang="zh-CN" sz="1400" kern="1000">
                          <a:effectLst/>
                          <a:latin typeface="Times New Roman" panose="02020603050405020304"/>
                          <a:ea typeface="方正书宋简体"/>
                        </a:rPr>
                        <a:t>运算符</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运算规则</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7566">
                <a:tc>
                  <a:txBody>
                    <a:bodyPr/>
                    <a:lstStyle/>
                    <a:p>
                      <a:pPr indent="254000" algn="ctr">
                        <a:spcBef>
                          <a:spcPts val="120"/>
                        </a:spcBef>
                        <a:spcAft>
                          <a:spcPts val="120"/>
                        </a:spcAft>
                      </a:pPr>
                      <a:r>
                        <a:rPr lang="en-US" sz="1400" kern="1000">
                          <a:effectLst/>
                          <a:latin typeface="Times New Roman" panose="02020603050405020304"/>
                          <a:ea typeface="方正书宋简体"/>
                        </a:rPr>
                        <a:t>AND</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如果两个操作数值都为</a:t>
                      </a:r>
                      <a:r>
                        <a:rPr lang="en-US" sz="1400" kern="1000">
                          <a:effectLst/>
                          <a:latin typeface="Times New Roman" panose="02020603050405020304"/>
                          <a:ea typeface="方正书宋简体"/>
                        </a:rPr>
                        <a:t>TRUE</a:t>
                      </a:r>
                      <a:r>
                        <a:rPr lang="zh-CN" sz="1400" kern="1000">
                          <a:effectLst/>
                          <a:latin typeface="Times New Roman" panose="02020603050405020304"/>
                          <a:ea typeface="方正书宋简体"/>
                        </a:rPr>
                        <a:t>，则运算结果为</a:t>
                      </a:r>
                      <a:r>
                        <a:rPr lang="en-US" sz="1400" kern="1000">
                          <a:effectLst/>
                          <a:latin typeface="Times New Roman" panose="02020603050405020304"/>
                          <a:ea typeface="方正书宋简体"/>
                        </a:rPr>
                        <a:t>TRUE</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7566">
                <a:tc>
                  <a:txBody>
                    <a:bodyPr/>
                    <a:lstStyle/>
                    <a:p>
                      <a:pPr indent="254000" algn="ctr">
                        <a:spcBef>
                          <a:spcPts val="120"/>
                        </a:spcBef>
                        <a:spcAft>
                          <a:spcPts val="120"/>
                        </a:spcAft>
                      </a:pPr>
                      <a:r>
                        <a:rPr lang="en-US" sz="1400" kern="1000">
                          <a:effectLst/>
                          <a:latin typeface="Times New Roman" panose="02020603050405020304"/>
                          <a:ea typeface="方正书宋简体"/>
                        </a:rPr>
                        <a:t>OR</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如果两个操作数中有一个为</a:t>
                      </a:r>
                      <a:r>
                        <a:rPr lang="en-US" sz="1400" kern="1000">
                          <a:effectLst/>
                          <a:latin typeface="Times New Roman" panose="02020603050405020304"/>
                          <a:ea typeface="方正书宋简体"/>
                        </a:rPr>
                        <a:t>TRUE</a:t>
                      </a:r>
                      <a:r>
                        <a:rPr lang="zh-CN" sz="1400" kern="1000">
                          <a:effectLst/>
                          <a:latin typeface="Times New Roman" panose="02020603050405020304"/>
                          <a:ea typeface="方正书宋简体"/>
                        </a:rPr>
                        <a:t>，则运算结果为</a:t>
                      </a:r>
                      <a:r>
                        <a:rPr lang="en-US" sz="1400" kern="1000">
                          <a:effectLst/>
                          <a:latin typeface="Times New Roman" panose="02020603050405020304"/>
                          <a:ea typeface="方正书宋简体"/>
                        </a:rPr>
                        <a:t>TRUE</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7566">
                <a:tc>
                  <a:txBody>
                    <a:bodyPr/>
                    <a:lstStyle/>
                    <a:p>
                      <a:pPr indent="254000" algn="ctr">
                        <a:spcBef>
                          <a:spcPts val="120"/>
                        </a:spcBef>
                        <a:spcAft>
                          <a:spcPts val="120"/>
                        </a:spcAft>
                      </a:pPr>
                      <a:r>
                        <a:rPr lang="en-US" sz="1400" kern="1000">
                          <a:effectLst/>
                          <a:latin typeface="Times New Roman" panose="02020603050405020304"/>
                          <a:ea typeface="方正书宋简体"/>
                        </a:rPr>
                        <a:t>NOT</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若一个操作数值为</a:t>
                      </a:r>
                      <a:r>
                        <a:rPr lang="en-US" sz="1400" kern="1000">
                          <a:effectLst/>
                          <a:latin typeface="Times New Roman" panose="02020603050405020304"/>
                          <a:ea typeface="方正书宋简体"/>
                        </a:rPr>
                        <a:t>TRUE</a:t>
                      </a:r>
                      <a:r>
                        <a:rPr lang="zh-CN" sz="1400" kern="1000">
                          <a:effectLst/>
                          <a:latin typeface="Times New Roman" panose="02020603050405020304"/>
                          <a:ea typeface="方正书宋简体"/>
                        </a:rPr>
                        <a:t>，则运算结果为</a:t>
                      </a:r>
                      <a:r>
                        <a:rPr lang="en-US" sz="1400" kern="1000">
                          <a:effectLst/>
                          <a:latin typeface="Times New Roman" panose="02020603050405020304"/>
                          <a:ea typeface="方正书宋简体"/>
                        </a:rPr>
                        <a:t>FALSE</a:t>
                      </a:r>
                      <a:r>
                        <a:rPr lang="zh-CN" sz="1400" kern="1000">
                          <a:effectLst/>
                          <a:latin typeface="Times New Roman" panose="02020603050405020304"/>
                          <a:ea typeface="方正书宋简体"/>
                        </a:rPr>
                        <a:t>，否则为</a:t>
                      </a:r>
                      <a:r>
                        <a:rPr lang="en-US" sz="1400" kern="1000">
                          <a:effectLst/>
                          <a:latin typeface="Times New Roman" panose="02020603050405020304"/>
                          <a:ea typeface="方正书宋简体"/>
                        </a:rPr>
                        <a:t>TRUE</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7566">
                <a:tc>
                  <a:txBody>
                    <a:bodyPr/>
                    <a:lstStyle/>
                    <a:p>
                      <a:pPr indent="254000" algn="ctr">
                        <a:spcBef>
                          <a:spcPts val="120"/>
                        </a:spcBef>
                        <a:spcAft>
                          <a:spcPts val="120"/>
                        </a:spcAft>
                      </a:pPr>
                      <a:r>
                        <a:rPr lang="en-US" sz="1400" kern="1000">
                          <a:effectLst/>
                          <a:latin typeface="Times New Roman" panose="02020603050405020304"/>
                          <a:ea typeface="方正书宋简体"/>
                        </a:rPr>
                        <a:t>ALL</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如果每个操作数值都为</a:t>
                      </a:r>
                      <a:r>
                        <a:rPr lang="en-US" sz="1400" kern="1000">
                          <a:effectLst/>
                          <a:latin typeface="Times New Roman" panose="02020603050405020304"/>
                          <a:ea typeface="方正书宋简体"/>
                        </a:rPr>
                        <a:t>TRUE</a:t>
                      </a:r>
                      <a:r>
                        <a:rPr lang="zh-CN" sz="1400" kern="1000">
                          <a:effectLst/>
                          <a:latin typeface="Times New Roman" panose="02020603050405020304"/>
                          <a:ea typeface="方正书宋简体"/>
                        </a:rPr>
                        <a:t>，则运算结果为</a:t>
                      </a:r>
                      <a:r>
                        <a:rPr lang="en-US" sz="1400" kern="1000">
                          <a:effectLst/>
                          <a:latin typeface="Times New Roman" panose="02020603050405020304"/>
                          <a:ea typeface="方正书宋简体"/>
                        </a:rPr>
                        <a:t>TRUE</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7566">
                <a:tc>
                  <a:txBody>
                    <a:bodyPr/>
                    <a:lstStyle/>
                    <a:p>
                      <a:pPr indent="254000" algn="ctr">
                        <a:spcBef>
                          <a:spcPts val="120"/>
                        </a:spcBef>
                        <a:spcAft>
                          <a:spcPts val="120"/>
                        </a:spcAft>
                      </a:pPr>
                      <a:r>
                        <a:rPr lang="en-US" sz="1400" kern="1000">
                          <a:effectLst/>
                          <a:latin typeface="Times New Roman" panose="02020603050405020304"/>
                          <a:ea typeface="方正书宋简体"/>
                        </a:rPr>
                        <a:t>ANY</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在一系列操作数中只要有一个为</a:t>
                      </a:r>
                      <a:r>
                        <a:rPr lang="en-US" sz="1400" kern="1000">
                          <a:effectLst/>
                          <a:latin typeface="Times New Roman" panose="02020603050405020304"/>
                          <a:ea typeface="方正书宋简体"/>
                        </a:rPr>
                        <a:t>TRUE</a:t>
                      </a:r>
                      <a:r>
                        <a:rPr lang="zh-CN" sz="1400" kern="1000">
                          <a:effectLst/>
                          <a:latin typeface="Times New Roman" panose="02020603050405020304"/>
                          <a:ea typeface="方正书宋简体"/>
                        </a:rPr>
                        <a:t>，则运算结果为</a:t>
                      </a:r>
                      <a:r>
                        <a:rPr lang="en-US" sz="1400" kern="1000">
                          <a:effectLst/>
                          <a:latin typeface="Times New Roman" panose="02020603050405020304"/>
                          <a:ea typeface="方正书宋简体"/>
                        </a:rPr>
                        <a:t>TRUE</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7566">
                <a:tc>
                  <a:txBody>
                    <a:bodyPr/>
                    <a:lstStyle/>
                    <a:p>
                      <a:pPr indent="254000" algn="ctr">
                        <a:spcBef>
                          <a:spcPts val="120"/>
                        </a:spcBef>
                        <a:spcAft>
                          <a:spcPts val="120"/>
                        </a:spcAft>
                      </a:pPr>
                      <a:r>
                        <a:rPr lang="en-US" sz="1400" kern="1000">
                          <a:effectLst/>
                          <a:latin typeface="Times New Roman" panose="02020603050405020304"/>
                          <a:ea typeface="方正书宋简体"/>
                        </a:rPr>
                        <a:t>BETWEEN</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如果操作数在指定的范围内，则运算结果为</a:t>
                      </a:r>
                      <a:r>
                        <a:rPr lang="en-US" sz="1400" kern="1000">
                          <a:effectLst/>
                          <a:latin typeface="Times New Roman" panose="02020603050405020304"/>
                          <a:ea typeface="方正书宋简体"/>
                        </a:rPr>
                        <a:t>TRUE</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7566">
                <a:tc>
                  <a:txBody>
                    <a:bodyPr/>
                    <a:lstStyle/>
                    <a:p>
                      <a:pPr indent="254000" algn="ctr">
                        <a:spcBef>
                          <a:spcPts val="120"/>
                        </a:spcBef>
                        <a:spcAft>
                          <a:spcPts val="120"/>
                        </a:spcAft>
                      </a:pPr>
                      <a:r>
                        <a:rPr lang="en-US" sz="1400" kern="1000">
                          <a:effectLst/>
                          <a:latin typeface="Times New Roman" panose="02020603050405020304"/>
                          <a:ea typeface="方正书宋简体"/>
                        </a:rPr>
                        <a:t>EXISTS</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如果子查询包含一些行，则运算结果为</a:t>
                      </a:r>
                      <a:r>
                        <a:rPr lang="en-US" sz="1400" kern="1000">
                          <a:effectLst/>
                          <a:latin typeface="Times New Roman" panose="02020603050405020304"/>
                          <a:ea typeface="方正书宋简体"/>
                        </a:rPr>
                        <a:t>TRUE</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7566">
                <a:tc>
                  <a:txBody>
                    <a:bodyPr/>
                    <a:lstStyle/>
                    <a:p>
                      <a:pPr indent="254000" algn="ctr">
                        <a:spcBef>
                          <a:spcPts val="120"/>
                        </a:spcBef>
                        <a:spcAft>
                          <a:spcPts val="120"/>
                        </a:spcAft>
                      </a:pPr>
                      <a:r>
                        <a:rPr lang="en-US" sz="1400" kern="1000">
                          <a:effectLst/>
                          <a:latin typeface="Times New Roman" panose="02020603050405020304"/>
                          <a:ea typeface="方正书宋简体"/>
                        </a:rPr>
                        <a:t>IN</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如果操作数值等于表达式列表中的一个，则运算结果为</a:t>
                      </a:r>
                      <a:r>
                        <a:rPr lang="en-US" sz="1400" kern="1000">
                          <a:effectLst/>
                          <a:latin typeface="Times New Roman" panose="02020603050405020304"/>
                          <a:ea typeface="方正书宋简体"/>
                        </a:rPr>
                        <a:t>TRUE</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7566">
                <a:tc>
                  <a:txBody>
                    <a:bodyPr/>
                    <a:lstStyle/>
                    <a:p>
                      <a:pPr indent="254000" algn="ctr">
                        <a:spcBef>
                          <a:spcPts val="120"/>
                        </a:spcBef>
                        <a:spcAft>
                          <a:spcPts val="120"/>
                        </a:spcAft>
                      </a:pPr>
                      <a:r>
                        <a:rPr lang="en-US" sz="1400" kern="1000">
                          <a:effectLst/>
                          <a:latin typeface="Times New Roman" panose="02020603050405020304"/>
                          <a:ea typeface="方正书宋简体"/>
                        </a:rPr>
                        <a:t>LIKE</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如果操作数与一种模式相匹配，则运算结果为</a:t>
                      </a:r>
                      <a:r>
                        <a:rPr lang="en-US" sz="1400" kern="1000">
                          <a:effectLst/>
                          <a:latin typeface="Times New Roman" panose="02020603050405020304"/>
                          <a:ea typeface="方正书宋简体"/>
                        </a:rPr>
                        <a:t>TRUE</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7566">
                <a:tc>
                  <a:txBody>
                    <a:bodyPr/>
                    <a:lstStyle/>
                    <a:p>
                      <a:pPr indent="254000" algn="ctr">
                        <a:spcBef>
                          <a:spcPts val="120"/>
                        </a:spcBef>
                        <a:spcAft>
                          <a:spcPts val="120"/>
                        </a:spcAft>
                      </a:pPr>
                      <a:r>
                        <a:rPr lang="en-US" sz="1400" kern="1000">
                          <a:effectLst/>
                          <a:latin typeface="Times New Roman" panose="02020603050405020304"/>
                          <a:ea typeface="方正书宋简体"/>
                        </a:rPr>
                        <a:t>SOME</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dirty="0">
                          <a:effectLst/>
                          <a:latin typeface="Times New Roman" panose="02020603050405020304"/>
                          <a:ea typeface="方正书宋简体"/>
                        </a:rPr>
                        <a:t>如果在一系列操作数中，有些值为</a:t>
                      </a:r>
                      <a:r>
                        <a:rPr lang="en-US" sz="1400" kern="1000" dirty="0">
                          <a:effectLst/>
                          <a:latin typeface="Times New Roman" panose="02020603050405020304"/>
                          <a:ea typeface="方正书宋简体"/>
                        </a:rPr>
                        <a:t>TRUE</a:t>
                      </a:r>
                      <a:r>
                        <a:rPr lang="zh-CN" sz="1400" kern="1000" dirty="0">
                          <a:effectLst/>
                          <a:latin typeface="Times New Roman" panose="02020603050405020304"/>
                          <a:ea typeface="方正书宋简体"/>
                        </a:rPr>
                        <a:t>，则运算结果为</a:t>
                      </a:r>
                      <a:r>
                        <a:rPr lang="en-US" sz="1400" kern="1000" dirty="0">
                          <a:effectLst/>
                          <a:latin typeface="Times New Roman" panose="02020603050405020304"/>
                          <a:ea typeface="方正书宋简体"/>
                        </a:rPr>
                        <a:t>TRUE</a:t>
                      </a:r>
                      <a:endParaRPr lang="zh-CN" sz="1400" kern="1000" dirty="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spd="slow">
    <p:pull/>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2636838"/>
            <a:ext cx="7704137" cy="36004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5.3  </a:t>
            </a:r>
            <a:r>
              <a:rPr lang="zh-CN" altLang="zh-CN" dirty="0">
                <a:effectLst/>
              </a:rPr>
              <a:t>运算符与表达式</a:t>
            </a:r>
            <a:endParaRPr lang="zh-CN" altLang="en-US" dirty="0"/>
          </a:p>
        </p:txBody>
      </p:sp>
      <p:sp>
        <p:nvSpPr>
          <p:cNvPr id="3" name="TextBox 2"/>
          <p:cNvSpPr txBox="1"/>
          <p:nvPr/>
        </p:nvSpPr>
        <p:spPr>
          <a:xfrm>
            <a:off x="468313" y="1484313"/>
            <a:ext cx="8135937" cy="5078412"/>
          </a:xfrm>
          <a:prstGeom prst="rect">
            <a:avLst/>
          </a:prstGeom>
          <a:noFill/>
        </p:spPr>
        <p:txBody>
          <a:bodyPr>
            <a:spAutoFit/>
          </a:bodyPr>
          <a:lstStyle/>
          <a:p>
            <a:pPr indent="446405" fontAlgn="ctr">
              <a:spcBef>
                <a:spcPts val="0"/>
              </a:spcBef>
              <a:spcAft>
                <a:spcPts val="0"/>
              </a:spcAft>
              <a:defRPr/>
            </a:pPr>
            <a:r>
              <a:rPr lang="zh-CN" altLang="zh-CN" dirty="0">
                <a:latin typeface="+mn-lt"/>
                <a:ea typeface="+mn-ea"/>
              </a:rPr>
              <a:t>（</a:t>
            </a:r>
            <a:r>
              <a:rPr lang="en-US" altLang="zh-CN" dirty="0">
                <a:latin typeface="+mn-lt"/>
                <a:ea typeface="+mn-ea"/>
              </a:rPr>
              <a:t>1</a:t>
            </a:r>
            <a:r>
              <a:rPr lang="zh-CN" altLang="zh-CN" dirty="0">
                <a:latin typeface="+mn-lt"/>
                <a:ea typeface="+mn-ea"/>
              </a:rPr>
              <a:t>）</a:t>
            </a:r>
            <a:r>
              <a:rPr lang="en-US" altLang="zh-CN" dirty="0">
                <a:latin typeface="+mn-lt"/>
                <a:ea typeface="+mn-ea"/>
              </a:rPr>
              <a:t>ANY</a:t>
            </a:r>
            <a:r>
              <a:rPr lang="zh-CN" altLang="zh-CN" dirty="0">
                <a:latin typeface="+mn-lt"/>
                <a:ea typeface="+mn-ea"/>
              </a:rPr>
              <a:t>、</a:t>
            </a:r>
            <a:r>
              <a:rPr lang="en-US" altLang="zh-CN" dirty="0">
                <a:latin typeface="+mn-lt"/>
                <a:ea typeface="+mn-ea"/>
              </a:rPr>
              <a:t>SOME</a:t>
            </a:r>
            <a:r>
              <a:rPr lang="zh-CN" altLang="zh-CN" dirty="0">
                <a:latin typeface="+mn-lt"/>
                <a:ea typeface="+mn-ea"/>
              </a:rPr>
              <a:t>、</a:t>
            </a:r>
            <a:r>
              <a:rPr lang="en-US" altLang="zh-CN" dirty="0">
                <a:latin typeface="+mn-lt"/>
                <a:ea typeface="+mn-ea"/>
              </a:rPr>
              <a:t>ALL</a:t>
            </a:r>
            <a:r>
              <a:rPr lang="zh-CN" altLang="zh-CN" dirty="0">
                <a:latin typeface="+mn-lt"/>
                <a:ea typeface="+mn-ea"/>
              </a:rPr>
              <a:t>、</a:t>
            </a:r>
            <a:r>
              <a:rPr lang="en-US" altLang="zh-CN" dirty="0">
                <a:latin typeface="+mn-lt"/>
                <a:ea typeface="+mn-ea"/>
              </a:rPr>
              <a:t>IN</a:t>
            </a:r>
            <a:r>
              <a:rPr lang="zh-CN" altLang="zh-CN" dirty="0">
                <a:latin typeface="+mn-lt"/>
                <a:ea typeface="+mn-ea"/>
              </a:rPr>
              <a:t>的使用</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可以将</a:t>
            </a:r>
            <a:r>
              <a:rPr lang="en-US" altLang="zh-CN" dirty="0">
                <a:latin typeface="+mn-lt"/>
                <a:ea typeface="+mn-ea"/>
              </a:rPr>
              <a:t>ALL</a:t>
            </a:r>
            <a:r>
              <a:rPr lang="zh-CN" altLang="zh-CN" dirty="0">
                <a:latin typeface="+mn-lt"/>
                <a:ea typeface="+mn-ea"/>
              </a:rPr>
              <a:t>或</a:t>
            </a:r>
            <a:r>
              <a:rPr lang="en-US" altLang="zh-CN" dirty="0">
                <a:latin typeface="+mn-lt"/>
                <a:ea typeface="+mn-ea"/>
              </a:rPr>
              <a:t>ANY</a:t>
            </a:r>
            <a:r>
              <a:rPr lang="zh-CN" altLang="zh-CN" dirty="0">
                <a:latin typeface="+mn-lt"/>
                <a:ea typeface="+mn-ea"/>
              </a:rPr>
              <a:t>关键字与比较运算符组合进行子查询。</a:t>
            </a:r>
            <a:r>
              <a:rPr lang="en-US" altLang="zh-CN" dirty="0">
                <a:latin typeface="+mn-lt"/>
                <a:ea typeface="+mn-ea"/>
              </a:rPr>
              <a:t>SOME</a:t>
            </a:r>
            <a:r>
              <a:rPr lang="zh-CN" altLang="zh-CN" dirty="0">
                <a:latin typeface="+mn-lt"/>
                <a:ea typeface="+mn-ea"/>
              </a:rPr>
              <a:t>的用法与</a:t>
            </a:r>
            <a:r>
              <a:rPr lang="en-US" altLang="zh-CN" dirty="0">
                <a:latin typeface="+mn-lt"/>
                <a:ea typeface="+mn-ea"/>
              </a:rPr>
              <a:t>ANY</a:t>
            </a:r>
            <a:r>
              <a:rPr lang="zh-CN" altLang="zh-CN" dirty="0">
                <a:latin typeface="+mn-lt"/>
                <a:ea typeface="+mn-ea"/>
              </a:rPr>
              <a:t>相同。</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【例</a:t>
            </a:r>
            <a:r>
              <a:rPr lang="en-US" altLang="zh-CN" dirty="0">
                <a:latin typeface="+mn-lt"/>
                <a:ea typeface="+mn-ea"/>
              </a:rPr>
              <a:t>5.10</a:t>
            </a:r>
            <a:r>
              <a:rPr lang="zh-CN" altLang="zh-CN" dirty="0">
                <a:latin typeface="+mn-lt"/>
                <a:ea typeface="+mn-ea"/>
              </a:rPr>
              <a:t>】 查询成绩高于“林一帆”最高成绩的学生姓名、课程名及成绩。</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USE </a:t>
            </a:r>
            <a:r>
              <a:rPr lang="en-US" altLang="zh-CN" dirty="0" err="1">
                <a:latin typeface="+mn-lt"/>
                <a:ea typeface="+mn-ea"/>
              </a:rPr>
              <a:t>pxscj</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SELECT</a:t>
            </a:r>
            <a:r>
              <a:rPr lang="zh-CN" altLang="zh-CN" dirty="0">
                <a:latin typeface="+mn-lt"/>
                <a:ea typeface="+mn-ea"/>
              </a:rPr>
              <a:t>姓名</a:t>
            </a:r>
            <a:r>
              <a:rPr lang="en-US" altLang="zh-CN" dirty="0">
                <a:latin typeface="+mn-lt"/>
                <a:ea typeface="+mn-ea"/>
              </a:rPr>
              <a:t>, </a:t>
            </a:r>
            <a:r>
              <a:rPr lang="zh-CN" altLang="zh-CN" dirty="0">
                <a:latin typeface="+mn-lt"/>
                <a:ea typeface="+mn-ea"/>
              </a:rPr>
              <a:t>课程名</a:t>
            </a:r>
            <a:r>
              <a:rPr lang="en-US" altLang="zh-CN" dirty="0">
                <a:latin typeface="+mn-lt"/>
                <a:ea typeface="+mn-ea"/>
              </a:rPr>
              <a:t>, </a:t>
            </a:r>
            <a:r>
              <a:rPr lang="zh-CN" altLang="zh-CN" dirty="0">
                <a:latin typeface="+mn-lt"/>
                <a:ea typeface="+mn-ea"/>
              </a:rPr>
              <a:t>成绩</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FROM </a:t>
            </a:r>
            <a:r>
              <a:rPr lang="en-US" altLang="zh-CN" dirty="0" err="1">
                <a:latin typeface="+mn-lt"/>
                <a:ea typeface="+mn-ea"/>
              </a:rPr>
              <a:t>xsb</a:t>
            </a:r>
            <a:r>
              <a:rPr lang="en-US" altLang="zh-CN" dirty="0">
                <a:latin typeface="+mn-lt"/>
                <a:ea typeface="+mn-ea"/>
              </a:rPr>
              <a:t>, </a:t>
            </a:r>
            <a:r>
              <a:rPr lang="en-US" altLang="zh-CN" dirty="0" err="1">
                <a:latin typeface="+mn-lt"/>
                <a:ea typeface="+mn-ea"/>
              </a:rPr>
              <a:t>cjb</a:t>
            </a:r>
            <a:r>
              <a:rPr lang="en-US" altLang="zh-CN" dirty="0">
                <a:latin typeface="+mn-lt"/>
                <a:ea typeface="+mn-ea"/>
              </a:rPr>
              <a:t>, </a:t>
            </a:r>
            <a:r>
              <a:rPr lang="en-US" altLang="zh-CN" dirty="0" err="1">
                <a:latin typeface="+mn-lt"/>
                <a:ea typeface="+mn-ea"/>
              </a:rPr>
              <a:t>kcb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WHERE</a:t>
            </a:r>
            <a:r>
              <a:rPr lang="zh-CN" altLang="zh-CN" dirty="0">
                <a:latin typeface="+mn-lt"/>
                <a:ea typeface="+mn-ea"/>
              </a:rPr>
              <a:t>成绩</a:t>
            </a:r>
            <a:r>
              <a:rPr lang="en-US" altLang="zh-CN" dirty="0">
                <a:latin typeface="+mn-lt"/>
                <a:ea typeface="+mn-ea"/>
              </a:rPr>
              <a:t>&gt; ALL</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  </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SELECT b.</a:t>
            </a:r>
            <a:r>
              <a:rPr lang="zh-CN" altLang="zh-CN" dirty="0">
                <a:latin typeface="+mn-lt"/>
                <a:ea typeface="+mn-ea"/>
              </a:rPr>
              <a:t>成绩</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FROM </a:t>
            </a:r>
            <a:r>
              <a:rPr lang="en-US" altLang="zh-CN" dirty="0" err="1">
                <a:latin typeface="+mn-lt"/>
                <a:ea typeface="+mn-ea"/>
              </a:rPr>
              <a:t>xsb</a:t>
            </a:r>
            <a:r>
              <a:rPr lang="en-US" altLang="zh-CN" dirty="0">
                <a:latin typeface="+mn-lt"/>
                <a:ea typeface="+mn-ea"/>
              </a:rPr>
              <a:t> a,  </a:t>
            </a:r>
            <a:r>
              <a:rPr lang="en-US" altLang="zh-CN" dirty="0" err="1">
                <a:latin typeface="+mn-lt"/>
                <a:ea typeface="+mn-ea"/>
              </a:rPr>
              <a:t>cjb</a:t>
            </a:r>
            <a:r>
              <a:rPr lang="en-US" altLang="zh-CN" dirty="0">
                <a:latin typeface="+mn-lt"/>
                <a:ea typeface="+mn-ea"/>
              </a:rPr>
              <a:t> 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WHERE a.</a:t>
            </a:r>
            <a:r>
              <a:rPr lang="zh-CN" altLang="zh-CN" dirty="0">
                <a:latin typeface="+mn-lt"/>
                <a:ea typeface="+mn-ea"/>
              </a:rPr>
              <a:t>学号</a:t>
            </a:r>
            <a:r>
              <a:rPr lang="en-US" altLang="zh-CN" dirty="0">
                <a:latin typeface="+mn-lt"/>
                <a:ea typeface="+mn-ea"/>
              </a:rPr>
              <a:t>= b.</a:t>
            </a:r>
            <a:r>
              <a:rPr lang="zh-CN" altLang="zh-CN" dirty="0">
                <a:latin typeface="+mn-lt"/>
                <a:ea typeface="+mn-ea"/>
              </a:rPr>
              <a:t>学号</a:t>
            </a:r>
            <a:r>
              <a:rPr lang="en-US" altLang="zh-CN" dirty="0">
                <a:latin typeface="+mn-lt"/>
                <a:ea typeface="+mn-ea"/>
              </a:rPr>
              <a:t>AND  a.</a:t>
            </a:r>
            <a:r>
              <a:rPr lang="zh-CN" altLang="zh-CN" dirty="0">
                <a:latin typeface="+mn-lt"/>
                <a:ea typeface="+mn-ea"/>
              </a:rPr>
              <a:t>姓名</a:t>
            </a:r>
            <a:r>
              <a:rPr lang="en-US" altLang="zh-CN" dirty="0">
                <a:latin typeface="+mn-lt"/>
                <a:ea typeface="+mn-ea"/>
              </a:rPr>
              <a:t>= '</a:t>
            </a:r>
            <a:r>
              <a:rPr lang="zh-CN" altLang="zh-CN" dirty="0">
                <a:latin typeface="+mn-lt"/>
                <a:ea typeface="+mn-ea"/>
              </a:rPr>
              <a:t>林一帆</a:t>
            </a:r>
            <a:r>
              <a:rPr lang="en-US"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AND </a:t>
            </a:r>
            <a:r>
              <a:rPr lang="en-US" altLang="zh-CN" dirty="0" err="1">
                <a:latin typeface="+mn-lt"/>
                <a:ea typeface="+mn-ea"/>
              </a:rPr>
              <a:t>xsb</a:t>
            </a:r>
            <a:r>
              <a:rPr lang="en-US" altLang="zh-CN" dirty="0">
                <a:latin typeface="+mn-lt"/>
                <a:ea typeface="+mn-ea"/>
              </a:rPr>
              <a:t>.</a:t>
            </a:r>
            <a:r>
              <a:rPr lang="zh-CN" altLang="zh-CN" dirty="0">
                <a:latin typeface="+mn-lt"/>
                <a:ea typeface="+mn-ea"/>
              </a:rPr>
              <a:t>学号</a:t>
            </a:r>
            <a:r>
              <a:rPr lang="en-US" altLang="zh-CN" dirty="0">
                <a:latin typeface="+mn-lt"/>
                <a:ea typeface="+mn-ea"/>
              </a:rPr>
              <a:t>=</a:t>
            </a:r>
            <a:r>
              <a:rPr lang="en-US" altLang="zh-CN" dirty="0" err="1">
                <a:latin typeface="+mn-lt"/>
                <a:ea typeface="+mn-ea"/>
              </a:rPr>
              <a:t>cjb</a:t>
            </a:r>
            <a:r>
              <a:rPr lang="en-US" altLang="zh-CN" dirty="0">
                <a:latin typeface="+mn-lt"/>
                <a:ea typeface="+mn-ea"/>
              </a:rPr>
              <a:t>.</a:t>
            </a:r>
            <a:r>
              <a:rPr lang="zh-CN" altLang="zh-CN" dirty="0">
                <a:latin typeface="+mn-lt"/>
                <a:ea typeface="+mn-ea"/>
              </a:rPr>
              <a:t>学号</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AND </a:t>
            </a:r>
            <a:r>
              <a:rPr lang="en-US" altLang="zh-CN" dirty="0" err="1">
                <a:latin typeface="+mn-lt"/>
                <a:ea typeface="+mn-ea"/>
              </a:rPr>
              <a:t>kcb</a:t>
            </a:r>
            <a:r>
              <a:rPr lang="en-US" altLang="zh-CN" dirty="0">
                <a:latin typeface="+mn-lt"/>
                <a:ea typeface="+mn-ea"/>
              </a:rPr>
              <a:t>.</a:t>
            </a:r>
            <a:r>
              <a:rPr lang="zh-CN" altLang="zh-CN" dirty="0">
                <a:latin typeface="+mn-lt"/>
                <a:ea typeface="+mn-ea"/>
              </a:rPr>
              <a:t>课程号</a:t>
            </a:r>
            <a:r>
              <a:rPr lang="en-US" altLang="zh-CN" dirty="0">
                <a:latin typeface="+mn-lt"/>
                <a:ea typeface="+mn-ea"/>
              </a:rPr>
              <a:t>=</a:t>
            </a:r>
            <a:r>
              <a:rPr lang="en-US" altLang="zh-CN" dirty="0" err="1">
                <a:latin typeface="+mn-lt"/>
                <a:ea typeface="+mn-ea"/>
              </a:rPr>
              <a:t>cjb</a:t>
            </a:r>
            <a:r>
              <a:rPr lang="en-US" altLang="zh-CN" dirty="0">
                <a:latin typeface="+mn-lt"/>
                <a:ea typeface="+mn-ea"/>
              </a:rPr>
              <a:t>.</a:t>
            </a:r>
            <a:r>
              <a:rPr lang="zh-CN" altLang="zh-CN" dirty="0">
                <a:latin typeface="+mn-lt"/>
                <a:ea typeface="+mn-ea"/>
              </a:rPr>
              <a:t>课程号</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AND</a:t>
            </a:r>
            <a:r>
              <a:rPr lang="zh-CN" altLang="zh-CN" dirty="0">
                <a:latin typeface="+mn-lt"/>
                <a:ea typeface="+mn-ea"/>
              </a:rPr>
              <a:t>姓名</a:t>
            </a:r>
            <a:r>
              <a:rPr lang="en-US" altLang="zh-CN" dirty="0">
                <a:latin typeface="+mn-lt"/>
                <a:ea typeface="+mn-ea"/>
              </a:rPr>
              <a:t>&lt;&gt;'</a:t>
            </a:r>
            <a:r>
              <a:rPr lang="zh-CN" altLang="zh-CN" dirty="0">
                <a:latin typeface="+mn-lt"/>
                <a:ea typeface="+mn-ea"/>
              </a:rPr>
              <a:t>林一帆</a:t>
            </a:r>
            <a:r>
              <a:rPr lang="en-US" altLang="zh-CN" dirty="0">
                <a:latin typeface="+mn-lt"/>
                <a:ea typeface="+mn-ea"/>
              </a:rPr>
              <a:t>'</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wheel spokes="1"/>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900113" y="2133600"/>
            <a:ext cx="7848600" cy="288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a:xfrm>
            <a:off x="927100" y="5192713"/>
            <a:ext cx="7848600" cy="7921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a:xfrm>
            <a:off x="912813" y="4076700"/>
            <a:ext cx="7848600" cy="7921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997200"/>
            <a:ext cx="7848600" cy="7921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5.3  </a:t>
            </a:r>
            <a:r>
              <a:rPr lang="zh-CN" altLang="zh-CN" dirty="0">
                <a:effectLst/>
              </a:rPr>
              <a:t>运算符与表达式</a:t>
            </a:r>
            <a:endParaRPr lang="zh-CN" altLang="en-US" dirty="0"/>
          </a:p>
        </p:txBody>
      </p:sp>
      <p:sp>
        <p:nvSpPr>
          <p:cNvPr id="36871" name="TextBox 2"/>
          <p:cNvSpPr txBox="1">
            <a:spLocks noChangeArrowheads="1"/>
          </p:cNvSpPr>
          <p:nvPr/>
        </p:nvSpPr>
        <p:spPr bwMode="auto">
          <a:xfrm>
            <a:off x="468313" y="1557338"/>
            <a:ext cx="8280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a:t>
            </a:r>
            <a:r>
              <a:rPr lang="en-US" altLang="zh-CN"/>
              <a:t>2</a:t>
            </a:r>
            <a:r>
              <a:rPr lang="zh-CN" altLang="zh-CN"/>
              <a:t>）</a:t>
            </a:r>
            <a:r>
              <a:rPr lang="en-US" altLang="zh-CN"/>
              <a:t>BETWEEN</a:t>
            </a:r>
            <a:r>
              <a:rPr lang="zh-CN" altLang="zh-CN"/>
              <a:t>的使用</a:t>
            </a:r>
            <a:endParaRPr lang="zh-CN" altLang="zh-CN"/>
          </a:p>
          <a:p>
            <a:pPr eaLnBrk="1" fontAlgn="ctr" hangingPunct="1"/>
            <a:r>
              <a:rPr lang="zh-CN" altLang="zh-CN"/>
              <a:t>语法格式：</a:t>
            </a:r>
            <a:endParaRPr lang="zh-CN" altLang="zh-CN"/>
          </a:p>
          <a:p>
            <a:pPr eaLnBrk="1" hangingPunct="1"/>
            <a:r>
              <a:rPr lang="zh-CN" altLang="zh-CN"/>
              <a:t>测试表达式</a:t>
            </a:r>
            <a:r>
              <a:rPr lang="en-US" altLang="zh-CN"/>
              <a:t>[ NOT ] BETWEEN</a:t>
            </a:r>
            <a:r>
              <a:rPr lang="zh-CN" altLang="zh-CN"/>
              <a:t>起始表达式</a:t>
            </a:r>
            <a:r>
              <a:rPr lang="en-US" altLang="zh-CN"/>
              <a:t>AND</a:t>
            </a:r>
            <a:r>
              <a:rPr lang="zh-CN" altLang="zh-CN"/>
              <a:t>结束表达式</a:t>
            </a:r>
            <a:endParaRPr lang="zh-CN" altLang="zh-CN"/>
          </a:p>
          <a:p>
            <a:pPr eaLnBrk="1" fontAlgn="ctr" hangingPunct="1"/>
            <a:r>
              <a:rPr lang="en-US" altLang="zh-CN"/>
              <a:t>NOT</a:t>
            </a:r>
            <a:r>
              <a:rPr lang="zh-CN" altLang="zh-CN"/>
              <a:t>关键字表示对谓词</a:t>
            </a:r>
            <a:r>
              <a:rPr lang="en-US" altLang="zh-CN"/>
              <a:t>BETWEEN</a:t>
            </a:r>
            <a:r>
              <a:rPr lang="zh-CN" altLang="zh-CN"/>
              <a:t>的运算结果取反。</a:t>
            </a:r>
            <a:endParaRPr lang="zh-CN" altLang="zh-CN"/>
          </a:p>
          <a:p>
            <a:pPr eaLnBrk="1" fontAlgn="ctr" hangingPunct="1"/>
            <a:r>
              <a:rPr lang="zh-CN" altLang="zh-CN"/>
              <a:t>【例</a:t>
            </a:r>
            <a:r>
              <a:rPr lang="en-US" altLang="zh-CN"/>
              <a:t>5.11</a:t>
            </a:r>
            <a:r>
              <a:rPr lang="zh-CN" altLang="zh-CN"/>
              <a:t>】 查询总学分在</a:t>
            </a:r>
            <a:r>
              <a:rPr lang="en-US" altLang="zh-CN"/>
              <a:t>40</a:t>
            </a:r>
            <a:r>
              <a:rPr lang="zh-CN" altLang="zh-CN"/>
              <a:t>～</a:t>
            </a:r>
            <a:r>
              <a:rPr lang="en-US" altLang="zh-CN"/>
              <a:t>50</a:t>
            </a:r>
            <a:r>
              <a:rPr lang="zh-CN" altLang="zh-CN"/>
              <a:t>的学生学号和姓名。</a:t>
            </a:r>
            <a:endParaRPr lang="zh-CN" altLang="zh-CN"/>
          </a:p>
          <a:p>
            <a:pPr eaLnBrk="1" hangingPunct="1"/>
            <a:r>
              <a:rPr lang="en-US" altLang="zh-CN"/>
              <a:t>SELECT</a:t>
            </a:r>
            <a:r>
              <a:rPr lang="zh-CN" altLang="zh-CN"/>
              <a:t>学号</a:t>
            </a:r>
            <a:r>
              <a:rPr lang="en-US" altLang="zh-CN"/>
              <a:t>, </a:t>
            </a:r>
            <a:r>
              <a:rPr lang="zh-CN" altLang="zh-CN"/>
              <a:t>姓名</a:t>
            </a:r>
            <a:r>
              <a:rPr lang="en-US" altLang="zh-CN"/>
              <a:t>, </a:t>
            </a:r>
            <a:r>
              <a:rPr lang="zh-CN" altLang="zh-CN"/>
              <a:t>总学分</a:t>
            </a:r>
            <a:endParaRPr lang="zh-CN" altLang="zh-CN"/>
          </a:p>
          <a:p>
            <a:pPr eaLnBrk="1" hangingPunct="1"/>
            <a:r>
              <a:rPr lang="en-US" altLang="zh-CN"/>
              <a:t>     FROM  xsb</a:t>
            </a:r>
            <a:endParaRPr lang="zh-CN" altLang="zh-CN"/>
          </a:p>
          <a:p>
            <a:pPr eaLnBrk="1" hangingPunct="1"/>
            <a:r>
              <a:rPr lang="en-US" altLang="zh-CN"/>
              <a:t>     WHERE</a:t>
            </a:r>
            <a:r>
              <a:rPr lang="zh-CN" altLang="zh-CN"/>
              <a:t>总学分</a:t>
            </a:r>
            <a:r>
              <a:rPr lang="en-US" altLang="zh-CN"/>
              <a:t>BETWEEN 40 AND 50</a:t>
            </a:r>
            <a:endParaRPr lang="zh-CN" altLang="zh-CN"/>
          </a:p>
          <a:p>
            <a:pPr eaLnBrk="1" fontAlgn="ctr" hangingPunct="1"/>
            <a:r>
              <a:rPr lang="zh-CN" altLang="zh-CN"/>
              <a:t>使用</a:t>
            </a:r>
            <a:r>
              <a:rPr lang="en-US" altLang="zh-CN"/>
              <a:t> &gt;= </a:t>
            </a:r>
            <a:r>
              <a:rPr lang="zh-CN" altLang="zh-CN"/>
              <a:t>和</a:t>
            </a:r>
            <a:r>
              <a:rPr lang="en-US" altLang="zh-CN"/>
              <a:t> &lt;=</a:t>
            </a:r>
            <a:r>
              <a:rPr lang="zh-CN" altLang="zh-CN"/>
              <a:t>代替</a:t>
            </a:r>
            <a:r>
              <a:rPr lang="en-US" altLang="zh-CN"/>
              <a:t>BETWEEN</a:t>
            </a:r>
            <a:r>
              <a:rPr lang="zh-CN" altLang="zh-CN"/>
              <a:t>实现与上例相同的功能：</a:t>
            </a:r>
            <a:endParaRPr lang="zh-CN" altLang="zh-CN"/>
          </a:p>
          <a:p>
            <a:pPr eaLnBrk="1" hangingPunct="1"/>
            <a:r>
              <a:rPr lang="en-US" altLang="zh-CN"/>
              <a:t>SELECT</a:t>
            </a:r>
            <a:r>
              <a:rPr lang="zh-CN" altLang="zh-CN"/>
              <a:t>学号</a:t>
            </a:r>
            <a:r>
              <a:rPr lang="en-US" altLang="zh-CN"/>
              <a:t>, </a:t>
            </a:r>
            <a:r>
              <a:rPr lang="zh-CN" altLang="zh-CN"/>
              <a:t>姓名</a:t>
            </a:r>
            <a:r>
              <a:rPr lang="en-US" altLang="zh-CN"/>
              <a:t>, </a:t>
            </a:r>
            <a:r>
              <a:rPr lang="zh-CN" altLang="zh-CN"/>
              <a:t>总学分</a:t>
            </a:r>
            <a:endParaRPr lang="zh-CN" altLang="zh-CN"/>
          </a:p>
          <a:p>
            <a:pPr eaLnBrk="1" hangingPunct="1"/>
            <a:r>
              <a:rPr lang="en-US" altLang="zh-CN"/>
              <a:t>     FROM   xsb</a:t>
            </a:r>
            <a:endParaRPr lang="zh-CN" altLang="zh-CN"/>
          </a:p>
          <a:p>
            <a:pPr eaLnBrk="1" hangingPunct="1"/>
            <a:r>
              <a:rPr lang="en-US" altLang="zh-CN"/>
              <a:t>     WHERE  </a:t>
            </a:r>
            <a:r>
              <a:rPr lang="zh-CN" altLang="zh-CN"/>
              <a:t>总学分</a:t>
            </a:r>
            <a:r>
              <a:rPr lang="en-US" altLang="zh-CN"/>
              <a:t>&gt;= 40  AND</a:t>
            </a:r>
            <a:r>
              <a:rPr lang="zh-CN" altLang="zh-CN"/>
              <a:t>总学分</a:t>
            </a:r>
            <a:r>
              <a:rPr lang="en-US" altLang="zh-CN"/>
              <a:t>&lt;=50</a:t>
            </a:r>
            <a:endParaRPr lang="zh-CN" altLang="zh-CN"/>
          </a:p>
          <a:p>
            <a:pPr eaLnBrk="1" fontAlgn="ctr" hangingPunct="1"/>
            <a:r>
              <a:rPr lang="zh-CN" altLang="zh-CN"/>
              <a:t>【例</a:t>
            </a:r>
            <a:r>
              <a:rPr lang="en-US" altLang="zh-CN"/>
              <a:t>5.12</a:t>
            </a:r>
            <a:r>
              <a:rPr lang="zh-CN" altLang="zh-CN"/>
              <a:t>】 查询总学分在</a:t>
            </a:r>
            <a:r>
              <a:rPr lang="en-US" altLang="zh-CN"/>
              <a:t>40</a:t>
            </a:r>
            <a:r>
              <a:rPr lang="zh-CN" altLang="zh-CN"/>
              <a:t>～</a:t>
            </a:r>
            <a:r>
              <a:rPr lang="en-US" altLang="zh-CN"/>
              <a:t>50</a:t>
            </a:r>
            <a:r>
              <a:rPr lang="zh-CN" altLang="zh-CN"/>
              <a:t>以外的所有学生的学号和姓名。</a:t>
            </a:r>
            <a:endParaRPr lang="zh-CN" altLang="zh-CN"/>
          </a:p>
          <a:p>
            <a:pPr eaLnBrk="1" hangingPunct="1"/>
            <a:r>
              <a:rPr lang="en-US" altLang="zh-CN"/>
              <a:t>SELECT</a:t>
            </a:r>
            <a:r>
              <a:rPr lang="zh-CN" altLang="zh-CN"/>
              <a:t>学号</a:t>
            </a:r>
            <a:r>
              <a:rPr lang="en-US" altLang="zh-CN"/>
              <a:t>, </a:t>
            </a:r>
            <a:r>
              <a:rPr lang="zh-CN" altLang="zh-CN"/>
              <a:t>姓名</a:t>
            </a:r>
            <a:r>
              <a:rPr lang="en-US" altLang="zh-CN"/>
              <a:t>, </a:t>
            </a:r>
            <a:r>
              <a:rPr lang="zh-CN" altLang="zh-CN"/>
              <a:t>总学分</a:t>
            </a:r>
            <a:endParaRPr lang="zh-CN" altLang="zh-CN"/>
          </a:p>
          <a:p>
            <a:pPr eaLnBrk="1" hangingPunct="1"/>
            <a:r>
              <a:rPr lang="en-US" altLang="zh-CN"/>
              <a:t>     FROM  xsb</a:t>
            </a:r>
            <a:endParaRPr lang="zh-CN" altLang="zh-CN"/>
          </a:p>
          <a:p>
            <a:pPr eaLnBrk="1" hangingPunct="1"/>
            <a:r>
              <a:rPr lang="en-US" altLang="zh-CN"/>
              <a:t>     WHERE</a:t>
            </a:r>
            <a:r>
              <a:rPr lang="zh-CN" altLang="zh-CN"/>
              <a:t>总学分</a:t>
            </a:r>
            <a:r>
              <a:rPr lang="en-US" altLang="zh-CN"/>
              <a:t>NOT BETWEEN 40 AND 50</a:t>
            </a:r>
            <a:endParaRPr lang="zh-CN" altLang="zh-CN"/>
          </a:p>
          <a:p>
            <a:pPr eaLnBrk="1" hangingPunct="1"/>
            <a:endParaRPr lang="zh-CN" altLang="en-US"/>
          </a:p>
        </p:txBody>
      </p:sp>
    </p:spTree>
  </p:cSld>
  <p:clrMapOvr>
    <a:masterClrMapping/>
  </p:clrMapOvr>
  <p:transition spd="slow">
    <p:pull/>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4005263"/>
            <a:ext cx="7775575" cy="86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5.3  </a:t>
            </a:r>
            <a:r>
              <a:rPr lang="zh-CN" altLang="zh-CN" dirty="0">
                <a:effectLst/>
              </a:rPr>
              <a:t>运算符与表达式</a:t>
            </a:r>
            <a:endParaRPr lang="zh-CN" altLang="en-US" dirty="0"/>
          </a:p>
        </p:txBody>
      </p:sp>
      <p:sp>
        <p:nvSpPr>
          <p:cNvPr id="37892" name="TextBox 2"/>
          <p:cNvSpPr txBox="1">
            <a:spLocks noChangeArrowheads="1"/>
          </p:cNvSpPr>
          <p:nvPr/>
        </p:nvSpPr>
        <p:spPr bwMode="auto">
          <a:xfrm>
            <a:off x="468313" y="1484313"/>
            <a:ext cx="8207375" cy="369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t>（</a:t>
            </a:r>
            <a:r>
              <a:rPr lang="en-US" altLang="zh-CN"/>
              <a:t>3</a:t>
            </a:r>
            <a:r>
              <a:rPr lang="zh-CN" altLang="zh-CN"/>
              <a:t>）</a:t>
            </a:r>
            <a:r>
              <a:rPr lang="en-US" altLang="zh-CN"/>
              <a:t>LIKE</a:t>
            </a:r>
            <a:r>
              <a:rPr lang="zh-CN" altLang="zh-CN"/>
              <a:t>的使用</a:t>
            </a:r>
            <a:endParaRPr lang="zh-CN" altLang="zh-CN"/>
          </a:p>
          <a:p>
            <a:pPr eaLnBrk="1" fontAlgn="ctr" hangingPunct="1">
              <a:lnSpc>
                <a:spcPct val="150000"/>
              </a:lnSpc>
            </a:pPr>
            <a:r>
              <a:rPr lang="zh-CN" altLang="zh-CN"/>
              <a:t>语法格式：</a:t>
            </a:r>
            <a:endParaRPr lang="zh-CN" altLang="zh-CN"/>
          </a:p>
          <a:p>
            <a:pPr eaLnBrk="1" hangingPunct="1">
              <a:lnSpc>
                <a:spcPct val="150000"/>
              </a:lnSpc>
            </a:pPr>
            <a:r>
              <a:rPr lang="zh-CN" altLang="zh-CN"/>
              <a:t>表达式</a:t>
            </a:r>
            <a:r>
              <a:rPr lang="en-US" altLang="zh-CN"/>
              <a:t>[ NOT ] LIKE</a:t>
            </a:r>
            <a:r>
              <a:rPr lang="zh-CN" altLang="zh-CN"/>
              <a:t>模式</a:t>
            </a:r>
            <a:r>
              <a:rPr lang="en-US" altLang="zh-CN"/>
              <a:t>[ ESCAPE</a:t>
            </a:r>
            <a:r>
              <a:rPr lang="zh-CN" altLang="zh-CN"/>
              <a:t>转义符</a:t>
            </a:r>
            <a:r>
              <a:rPr lang="en-US" altLang="zh-CN"/>
              <a:t>]</a:t>
            </a:r>
            <a:endParaRPr lang="zh-CN" altLang="zh-CN"/>
          </a:p>
          <a:p>
            <a:pPr eaLnBrk="1" fontAlgn="ctr" hangingPunct="1">
              <a:lnSpc>
                <a:spcPct val="150000"/>
              </a:lnSpc>
            </a:pPr>
            <a:r>
              <a:rPr lang="zh-CN" altLang="zh-CN"/>
              <a:t>确定给定的字符串是否与指定的模式匹配。若匹配，则运算结果为</a:t>
            </a:r>
            <a:r>
              <a:rPr lang="en-US" altLang="zh-CN"/>
              <a:t>TRUE</a:t>
            </a:r>
            <a:r>
              <a:rPr lang="zh-CN" altLang="zh-CN"/>
              <a:t>；否则为</a:t>
            </a:r>
            <a:r>
              <a:rPr lang="en-US" altLang="zh-CN"/>
              <a:t>FALSE</a:t>
            </a:r>
            <a:r>
              <a:rPr lang="zh-CN" altLang="zh-CN"/>
              <a:t>。</a:t>
            </a:r>
            <a:endParaRPr lang="zh-CN" altLang="zh-CN"/>
          </a:p>
          <a:p>
            <a:pPr eaLnBrk="1" fontAlgn="ctr" hangingPunct="1">
              <a:lnSpc>
                <a:spcPct val="150000"/>
              </a:lnSpc>
            </a:pPr>
            <a:r>
              <a:rPr lang="zh-CN" altLang="zh-CN"/>
              <a:t>【例</a:t>
            </a:r>
            <a:r>
              <a:rPr lang="en-US" altLang="zh-CN"/>
              <a:t>5.13</a:t>
            </a:r>
            <a:r>
              <a:rPr lang="zh-CN" altLang="zh-CN"/>
              <a:t>】 查询课程名以“计”或</a:t>
            </a:r>
            <a:r>
              <a:rPr lang="en-US" altLang="zh-CN"/>
              <a:t>C</a:t>
            </a:r>
            <a:r>
              <a:rPr lang="zh-CN" altLang="zh-CN"/>
              <a:t>开头的情况。</a:t>
            </a:r>
            <a:endParaRPr lang="zh-CN" altLang="zh-CN"/>
          </a:p>
          <a:p>
            <a:pPr eaLnBrk="1" hangingPunct="1"/>
            <a:r>
              <a:rPr lang="en-US" altLang="zh-CN"/>
              <a:t>SELECT *</a:t>
            </a:r>
            <a:endParaRPr lang="zh-CN" altLang="zh-CN"/>
          </a:p>
          <a:p>
            <a:pPr eaLnBrk="1" hangingPunct="1"/>
            <a:r>
              <a:rPr lang="en-US" altLang="zh-CN"/>
              <a:t>     FROM kcb</a:t>
            </a:r>
            <a:endParaRPr lang="zh-CN" altLang="zh-CN"/>
          </a:p>
          <a:p>
            <a:pPr eaLnBrk="1" hangingPunct="1"/>
            <a:r>
              <a:rPr lang="en-US" altLang="zh-CN"/>
              <a:t>     WHERE</a:t>
            </a:r>
            <a:r>
              <a:rPr lang="zh-CN" altLang="zh-CN"/>
              <a:t>课程名</a:t>
            </a:r>
            <a:r>
              <a:rPr lang="en-US" altLang="zh-CN"/>
              <a:t>LIKE '[</a:t>
            </a:r>
            <a:r>
              <a:rPr lang="zh-CN" altLang="zh-CN"/>
              <a:t>计</a:t>
            </a:r>
            <a:r>
              <a:rPr lang="en-US" altLang="zh-CN"/>
              <a:t>C]%'</a:t>
            </a:r>
            <a:endParaRPr lang="zh-CN" altLang="zh-CN"/>
          </a:p>
          <a:p>
            <a:pPr eaLnBrk="1" hangingPunct="1"/>
            <a:endParaRPr lang="zh-CN" altLang="en-US"/>
          </a:p>
        </p:txBody>
      </p:sp>
    </p:spTree>
  </p:cSld>
  <p:clrMapOvr>
    <a:masterClrMapping/>
  </p:clrMapOvr>
  <p:transition spd="slow">
    <p:wheel spokes="1"/>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3500438"/>
            <a:ext cx="7921625" cy="22320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349500"/>
            <a:ext cx="7921625" cy="2873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5.3  </a:t>
            </a:r>
            <a:r>
              <a:rPr lang="zh-CN" altLang="zh-CN" dirty="0">
                <a:effectLst/>
              </a:rPr>
              <a:t>运算符与表达式</a:t>
            </a:r>
            <a:endParaRPr lang="zh-CN" altLang="en-US" dirty="0"/>
          </a:p>
        </p:txBody>
      </p:sp>
      <p:sp>
        <p:nvSpPr>
          <p:cNvPr id="38917" name="TextBox 2"/>
          <p:cNvSpPr txBox="1">
            <a:spLocks noChangeArrowheads="1"/>
          </p:cNvSpPr>
          <p:nvPr/>
        </p:nvSpPr>
        <p:spPr bwMode="auto">
          <a:xfrm>
            <a:off x="468313" y="1412875"/>
            <a:ext cx="8280400" cy="466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t>（</a:t>
            </a:r>
            <a:r>
              <a:rPr lang="en-US" altLang="zh-CN"/>
              <a:t>4</a:t>
            </a:r>
            <a:r>
              <a:rPr lang="zh-CN" altLang="zh-CN"/>
              <a:t>）</a:t>
            </a:r>
            <a:r>
              <a:rPr lang="en-US" altLang="zh-CN"/>
              <a:t>EXISTS</a:t>
            </a:r>
            <a:r>
              <a:rPr lang="zh-CN" altLang="zh-CN"/>
              <a:t>与</a:t>
            </a:r>
            <a:r>
              <a:rPr lang="en-US" altLang="zh-CN"/>
              <a:t>NOT EXISTS</a:t>
            </a:r>
            <a:r>
              <a:rPr lang="zh-CN" altLang="zh-CN"/>
              <a:t>的使用</a:t>
            </a:r>
            <a:endParaRPr lang="zh-CN" altLang="zh-CN"/>
          </a:p>
          <a:p>
            <a:pPr eaLnBrk="1" fontAlgn="ctr" hangingPunct="1">
              <a:lnSpc>
                <a:spcPct val="150000"/>
              </a:lnSpc>
            </a:pPr>
            <a:r>
              <a:rPr lang="zh-CN" altLang="zh-CN"/>
              <a:t>语法格式：</a:t>
            </a:r>
            <a:endParaRPr lang="zh-CN" altLang="zh-CN"/>
          </a:p>
          <a:p>
            <a:pPr eaLnBrk="1" hangingPunct="1">
              <a:lnSpc>
                <a:spcPct val="150000"/>
              </a:lnSpc>
            </a:pPr>
            <a:r>
              <a:rPr lang="en-US" altLang="zh-CN"/>
              <a:t>EXISTS</a:t>
            </a:r>
            <a:r>
              <a:rPr lang="zh-CN" altLang="zh-CN"/>
              <a:t>子查询</a:t>
            </a:r>
            <a:endParaRPr lang="zh-CN" altLang="zh-CN"/>
          </a:p>
          <a:p>
            <a:pPr eaLnBrk="1" fontAlgn="ctr" hangingPunct="1">
              <a:lnSpc>
                <a:spcPct val="150000"/>
              </a:lnSpc>
            </a:pPr>
            <a:r>
              <a:rPr lang="zh-CN" altLang="zh-CN"/>
              <a:t>用于检测一个子查询的结果是否不为空，若是则运算结果为真，否则为假。</a:t>
            </a:r>
            <a:endParaRPr lang="zh-CN" altLang="zh-CN"/>
          </a:p>
          <a:p>
            <a:pPr eaLnBrk="1" fontAlgn="ctr" hangingPunct="1">
              <a:lnSpc>
                <a:spcPct val="150000"/>
              </a:lnSpc>
            </a:pPr>
            <a:r>
              <a:rPr lang="zh-CN" altLang="zh-CN"/>
              <a:t>【例</a:t>
            </a:r>
            <a:r>
              <a:rPr lang="en-US" altLang="zh-CN"/>
              <a:t>5.14</a:t>
            </a:r>
            <a:r>
              <a:rPr lang="zh-CN" altLang="zh-CN"/>
              <a:t>】 查询所有选课学生的姓名。</a:t>
            </a:r>
            <a:endParaRPr lang="zh-CN" altLang="zh-CN"/>
          </a:p>
          <a:p>
            <a:pPr eaLnBrk="1" hangingPunct="1"/>
            <a:r>
              <a:rPr lang="en-US" altLang="zh-CN"/>
              <a:t>SELECT DISTINCT</a:t>
            </a:r>
            <a:r>
              <a:rPr lang="zh-CN" altLang="zh-CN"/>
              <a:t>姓名</a:t>
            </a:r>
            <a:endParaRPr lang="zh-CN" altLang="zh-CN"/>
          </a:p>
          <a:p>
            <a:pPr eaLnBrk="1" hangingPunct="1"/>
            <a:r>
              <a:rPr lang="en-US" altLang="zh-CN"/>
              <a:t>     FROM   xsb</a:t>
            </a:r>
            <a:endParaRPr lang="zh-CN" altLang="zh-CN"/>
          </a:p>
          <a:p>
            <a:pPr eaLnBrk="1" hangingPunct="1"/>
            <a:r>
              <a:rPr lang="en-US" altLang="zh-CN"/>
              <a:t>     WHERE  EXISTS</a:t>
            </a:r>
            <a:endParaRPr lang="zh-CN" altLang="zh-CN"/>
          </a:p>
          <a:p>
            <a:pPr eaLnBrk="1" hangingPunct="1"/>
            <a:r>
              <a:rPr lang="en-US" altLang="zh-CN"/>
              <a:t>      (</a:t>
            </a:r>
            <a:endParaRPr lang="zh-CN" altLang="zh-CN"/>
          </a:p>
          <a:p>
            <a:pPr eaLnBrk="1" hangingPunct="1"/>
            <a:r>
              <a:rPr lang="en-US" altLang="zh-CN"/>
              <a:t>          SELECT  *</a:t>
            </a:r>
            <a:endParaRPr lang="zh-CN" altLang="zh-CN"/>
          </a:p>
          <a:p>
            <a:pPr eaLnBrk="1" hangingPunct="1"/>
            <a:r>
              <a:rPr lang="en-US" altLang="zh-CN"/>
              <a:t>               FROM   cjb</a:t>
            </a:r>
            <a:endParaRPr lang="zh-CN" altLang="zh-CN"/>
          </a:p>
          <a:p>
            <a:pPr eaLnBrk="1" hangingPunct="1"/>
            <a:r>
              <a:rPr lang="en-US" altLang="zh-CN"/>
              <a:t>               WHERE  xsb.</a:t>
            </a:r>
            <a:r>
              <a:rPr lang="zh-CN" altLang="zh-CN"/>
              <a:t>学号</a:t>
            </a:r>
            <a:r>
              <a:rPr lang="en-US" altLang="zh-CN"/>
              <a:t>= cjb.</a:t>
            </a:r>
            <a:r>
              <a:rPr lang="zh-CN" altLang="zh-CN"/>
              <a:t>学号</a:t>
            </a:r>
            <a:endParaRPr lang="zh-CN" altLang="zh-CN"/>
          </a:p>
          <a:p>
            <a:pPr eaLnBrk="1" hangingPunct="1"/>
            <a:r>
              <a:rPr lang="en-US" altLang="zh-CN"/>
              <a:t>     )</a:t>
            </a:r>
            <a:endParaRPr lang="zh-CN" altLang="zh-CN"/>
          </a:p>
          <a:p>
            <a:pPr eaLnBrk="1" hangingPunct="1"/>
            <a:endParaRPr lang="zh-CN" altLang="en-US"/>
          </a:p>
        </p:txBody>
      </p:sp>
    </p:spTree>
  </p:cSld>
  <p:clrMapOvr>
    <a:masterClrMapping/>
  </p:clrMapOvr>
  <p:transition spd="slow">
    <p:pull/>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2420938"/>
            <a:ext cx="7775575" cy="7921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5.3  </a:t>
            </a:r>
            <a:r>
              <a:rPr lang="zh-CN" altLang="zh-CN" dirty="0">
                <a:effectLst/>
              </a:rPr>
              <a:t>运算符与表达式</a:t>
            </a:r>
            <a:endParaRPr lang="zh-CN" altLang="en-US" dirty="0"/>
          </a:p>
        </p:txBody>
      </p:sp>
      <p:sp>
        <p:nvSpPr>
          <p:cNvPr id="39940" name="TextBox 2"/>
          <p:cNvSpPr txBox="1">
            <a:spLocks noChangeArrowheads="1"/>
          </p:cNvSpPr>
          <p:nvPr/>
        </p:nvSpPr>
        <p:spPr bwMode="auto">
          <a:xfrm>
            <a:off x="468313" y="1557338"/>
            <a:ext cx="8207375"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5</a:t>
            </a:r>
            <a:r>
              <a:rPr lang="zh-CN" altLang="en-US" b="1">
                <a:solidFill>
                  <a:srgbClr val="C00000"/>
                </a:solidFill>
              </a:rPr>
              <a:t>．字符串连接运算符</a:t>
            </a:r>
            <a:endParaRPr lang="zh-CN" altLang="en-US" b="1">
              <a:solidFill>
                <a:srgbClr val="C00000"/>
              </a:solidFill>
            </a:endParaRPr>
          </a:p>
          <a:p>
            <a:pPr eaLnBrk="1" hangingPunct="1"/>
            <a:r>
              <a:rPr lang="zh-CN" altLang="en-US"/>
              <a:t>通过运算符“</a:t>
            </a:r>
            <a:r>
              <a:rPr lang="en-US" altLang="zh-CN"/>
              <a:t>+”</a:t>
            </a:r>
            <a:r>
              <a:rPr lang="zh-CN" altLang="en-US"/>
              <a:t>实现两个字符串的连接运算。</a:t>
            </a:r>
            <a:endParaRPr lang="zh-CN" altLang="en-US"/>
          </a:p>
          <a:p>
            <a:pPr eaLnBrk="1" hangingPunct="1"/>
            <a:r>
              <a:rPr lang="en-US" altLang="zh-CN"/>
              <a:t>【</a:t>
            </a:r>
            <a:r>
              <a:rPr lang="zh-CN" altLang="en-US"/>
              <a:t>例</a:t>
            </a:r>
            <a:r>
              <a:rPr lang="en-US" altLang="zh-CN"/>
              <a:t>5.15】 </a:t>
            </a:r>
            <a:r>
              <a:rPr lang="zh-CN" altLang="en-US"/>
              <a:t>多个字符串的连接。</a:t>
            </a:r>
            <a:endParaRPr lang="zh-CN" altLang="en-US"/>
          </a:p>
          <a:p>
            <a:pPr eaLnBrk="1" hangingPunct="1"/>
            <a:r>
              <a:rPr lang="en-US" altLang="zh-CN"/>
              <a:t>SELECT  (</a:t>
            </a:r>
            <a:r>
              <a:rPr lang="zh-CN" altLang="en-US"/>
              <a:t>学号</a:t>
            </a:r>
            <a:r>
              <a:rPr lang="en-US" altLang="zh-CN"/>
              <a:t>+ ',' + </a:t>
            </a:r>
            <a:r>
              <a:rPr lang="zh-CN" altLang="en-US"/>
              <a:t>姓名</a:t>
            </a:r>
            <a:r>
              <a:rPr lang="en-US" altLang="zh-CN"/>
              <a:t>) AS</a:t>
            </a:r>
            <a:r>
              <a:rPr lang="zh-CN" altLang="en-US"/>
              <a:t>学号及姓名</a:t>
            </a:r>
            <a:endParaRPr lang="zh-CN" altLang="en-US"/>
          </a:p>
          <a:p>
            <a:pPr eaLnBrk="1" hangingPunct="1"/>
            <a:r>
              <a:rPr lang="zh-CN" altLang="en-US"/>
              <a:t>     </a:t>
            </a:r>
            <a:r>
              <a:rPr lang="en-US" altLang="zh-CN"/>
              <a:t>FROM xsb</a:t>
            </a:r>
            <a:endParaRPr lang="en-US" altLang="zh-CN"/>
          </a:p>
          <a:p>
            <a:pPr eaLnBrk="1" hangingPunct="1"/>
            <a:r>
              <a:rPr lang="en-US" altLang="zh-CN"/>
              <a:t>     WHERE</a:t>
            </a:r>
            <a:r>
              <a:rPr lang="zh-CN" altLang="en-US"/>
              <a:t>学号</a:t>
            </a:r>
            <a:r>
              <a:rPr lang="en-US" altLang="zh-CN"/>
              <a:t>= '191301'</a:t>
            </a:r>
            <a:endParaRPr lang="en-US" altLang="zh-CN"/>
          </a:p>
          <a:p>
            <a:pPr eaLnBrk="1" hangingPunct="1"/>
            <a:r>
              <a:rPr lang="zh-CN" altLang="en-US"/>
              <a:t>执行结果如图</a:t>
            </a:r>
            <a:r>
              <a:rPr lang="en-US" altLang="zh-CN"/>
              <a:t>5.8</a:t>
            </a:r>
            <a:r>
              <a:rPr lang="zh-CN" altLang="en-US"/>
              <a:t>所示。</a:t>
            </a:r>
            <a:endParaRPr lang="en-US" altLang="zh-CN"/>
          </a:p>
          <a:p>
            <a:pPr eaLnBrk="1" hangingPunct="1"/>
            <a:endParaRPr lang="en-US" altLang="zh-CN"/>
          </a:p>
          <a:p>
            <a:pPr eaLnBrk="1" hangingPunct="1"/>
            <a:endParaRPr lang="zh-CN" altLang="en-US"/>
          </a:p>
          <a:p>
            <a:pPr eaLnBrk="1" hangingPunct="1"/>
            <a:r>
              <a:rPr lang="en-US" altLang="zh-CN" b="1">
                <a:solidFill>
                  <a:srgbClr val="C00000"/>
                </a:solidFill>
              </a:rPr>
              <a:t>6</a:t>
            </a:r>
            <a:r>
              <a:rPr lang="zh-CN" altLang="en-US" b="1">
                <a:solidFill>
                  <a:srgbClr val="C00000"/>
                </a:solidFill>
              </a:rPr>
              <a:t>．一元运算符</a:t>
            </a:r>
            <a:endParaRPr lang="zh-CN" altLang="en-US" b="1">
              <a:solidFill>
                <a:srgbClr val="C00000"/>
              </a:solidFill>
            </a:endParaRPr>
          </a:p>
          <a:p>
            <a:pPr eaLnBrk="1" hangingPunct="1"/>
            <a:r>
              <a:rPr lang="zh-CN" altLang="en-US"/>
              <a:t>一元运算符有</a:t>
            </a:r>
            <a:r>
              <a:rPr lang="en-US" altLang="zh-CN"/>
              <a:t>+</a:t>
            </a:r>
            <a:r>
              <a:rPr lang="zh-CN" altLang="en-US"/>
              <a:t>（正）、</a:t>
            </a:r>
            <a:r>
              <a:rPr lang="en-US" altLang="zh-CN"/>
              <a:t>-</a:t>
            </a:r>
            <a:r>
              <a:rPr lang="zh-CN" altLang="en-US"/>
              <a:t>（负）和～（按位取反）</a:t>
            </a:r>
            <a:r>
              <a:rPr lang="en-US" altLang="zh-CN"/>
              <a:t>3</a:t>
            </a:r>
            <a:r>
              <a:rPr lang="zh-CN" altLang="en-US"/>
              <a:t>个。对于按位取反运算符举例如下：</a:t>
            </a:r>
            <a:endParaRPr lang="zh-CN" altLang="en-US"/>
          </a:p>
          <a:p>
            <a:pPr eaLnBrk="1" hangingPunct="1"/>
            <a:r>
              <a:rPr lang="zh-CN" altLang="en-US"/>
              <a:t>设</a:t>
            </a:r>
            <a:r>
              <a:rPr lang="en-US" altLang="zh-CN"/>
              <a:t>a</a:t>
            </a:r>
            <a:r>
              <a:rPr lang="zh-CN" altLang="en-US"/>
              <a:t>的值为</a:t>
            </a:r>
            <a:r>
              <a:rPr lang="en-US" altLang="zh-CN"/>
              <a:t>12</a:t>
            </a:r>
            <a:r>
              <a:rPr lang="zh-CN" altLang="en-US"/>
              <a:t>（</a:t>
            </a:r>
            <a:r>
              <a:rPr lang="en-US" altLang="zh-CN"/>
              <a:t>0000 0000 0000 1100</a:t>
            </a:r>
            <a:r>
              <a:rPr lang="zh-CN" altLang="en-US"/>
              <a:t>），计算～</a:t>
            </a:r>
            <a:r>
              <a:rPr lang="en-US" altLang="zh-CN"/>
              <a:t>a</a:t>
            </a:r>
            <a:r>
              <a:rPr lang="zh-CN" altLang="en-US"/>
              <a:t>的值为</a:t>
            </a:r>
            <a:r>
              <a:rPr lang="en-US" altLang="zh-CN"/>
              <a:t>1111 1111 1111 0011</a:t>
            </a:r>
            <a:r>
              <a:rPr lang="zh-CN" altLang="en-US"/>
              <a:t>。</a:t>
            </a:r>
            <a:endParaRPr lang="zh-CN" altLang="en-US"/>
          </a:p>
          <a:p>
            <a:pPr eaLnBrk="1" hangingPunct="1"/>
            <a:r>
              <a:rPr lang="en-US" altLang="zh-CN" b="1">
                <a:solidFill>
                  <a:srgbClr val="C00000"/>
                </a:solidFill>
              </a:rPr>
              <a:t>7</a:t>
            </a:r>
            <a:r>
              <a:rPr lang="zh-CN" altLang="en-US" b="1">
                <a:solidFill>
                  <a:srgbClr val="C00000"/>
                </a:solidFill>
              </a:rPr>
              <a:t>．赋值运算符</a:t>
            </a:r>
            <a:endParaRPr lang="zh-CN" altLang="en-US" b="1">
              <a:solidFill>
                <a:srgbClr val="C00000"/>
              </a:solidFill>
            </a:endParaRPr>
          </a:p>
          <a:p>
            <a:pPr eaLnBrk="1" hangingPunct="1"/>
            <a:r>
              <a:rPr lang="zh-CN" altLang="en-US"/>
              <a:t>赋值运算符指给局部变量赋值的</a:t>
            </a:r>
            <a:r>
              <a:rPr lang="en-US" altLang="zh-CN"/>
              <a:t>SET</a:t>
            </a:r>
            <a:r>
              <a:rPr lang="zh-CN" altLang="en-US"/>
              <a:t>和</a:t>
            </a:r>
            <a:r>
              <a:rPr lang="en-US" altLang="zh-CN"/>
              <a:t>SELECT</a:t>
            </a:r>
            <a:r>
              <a:rPr lang="zh-CN" altLang="en-US"/>
              <a:t>语句中使用的“</a:t>
            </a:r>
            <a:r>
              <a:rPr lang="en-US" altLang="zh-CN"/>
              <a:t>=”</a:t>
            </a:r>
            <a:r>
              <a:rPr lang="zh-CN" altLang="en-US"/>
              <a:t>。</a:t>
            </a:r>
            <a:endParaRPr lang="zh-CN" altLang="en-US"/>
          </a:p>
          <a:p>
            <a:pPr eaLnBrk="1" hangingPunct="1"/>
            <a:endParaRPr lang="zh-CN" altLang="en-US"/>
          </a:p>
        </p:txBody>
      </p:sp>
      <p:pic>
        <p:nvPicPr>
          <p:cNvPr id="3994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48100" y="3395663"/>
            <a:ext cx="144462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heel spokes="1"/>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5.3  </a:t>
            </a:r>
            <a:r>
              <a:rPr lang="zh-CN" altLang="zh-CN" dirty="0">
                <a:effectLst/>
              </a:rPr>
              <a:t>运算符与表达式</a:t>
            </a:r>
            <a:endParaRPr lang="zh-CN" altLang="en-US" dirty="0"/>
          </a:p>
        </p:txBody>
      </p:sp>
      <p:sp>
        <p:nvSpPr>
          <p:cNvPr id="40963" name="TextBox 2"/>
          <p:cNvSpPr txBox="1">
            <a:spLocks noChangeArrowheads="1"/>
          </p:cNvSpPr>
          <p:nvPr/>
        </p:nvSpPr>
        <p:spPr bwMode="auto">
          <a:xfrm>
            <a:off x="468313" y="1484313"/>
            <a:ext cx="82073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8</a:t>
            </a:r>
            <a:r>
              <a:rPr lang="zh-CN" altLang="zh-CN" b="1">
                <a:solidFill>
                  <a:srgbClr val="C00000"/>
                </a:solidFill>
              </a:rPr>
              <a:t>．运算符的优先顺序</a:t>
            </a:r>
            <a:endParaRPr lang="zh-CN" altLang="zh-CN" b="1">
              <a:solidFill>
                <a:srgbClr val="C00000"/>
              </a:solidFill>
            </a:endParaRPr>
          </a:p>
          <a:p>
            <a:pPr eaLnBrk="1" fontAlgn="ctr" hangingPunct="1"/>
            <a:r>
              <a:rPr lang="zh-CN" altLang="zh-CN"/>
              <a:t>运算符优先级如表</a:t>
            </a:r>
            <a:r>
              <a:rPr lang="en-US" altLang="zh-CN"/>
              <a:t>5.7</a:t>
            </a:r>
            <a:r>
              <a:rPr lang="zh-CN" altLang="zh-CN"/>
              <a:t>所示。在一个表达式中按先高（优先级数字小）后低（优先级数字大）的顺序进行运算。</a:t>
            </a:r>
            <a:endParaRPr lang="zh-CN" altLang="zh-CN"/>
          </a:p>
          <a:p>
            <a:pPr eaLnBrk="1" hangingPunct="1"/>
            <a:endParaRPr lang="zh-CN" altLang="en-US"/>
          </a:p>
        </p:txBody>
      </p:sp>
      <p:graphicFrame>
        <p:nvGraphicFramePr>
          <p:cNvPr id="4" name="表格 3"/>
          <p:cNvGraphicFramePr>
            <a:graphicFrameLocks noGrp="1"/>
          </p:cNvGraphicFramePr>
          <p:nvPr>
            <p:custDataLst>
              <p:tags r:id="rId1"/>
            </p:custDataLst>
          </p:nvPr>
        </p:nvGraphicFramePr>
        <p:xfrm>
          <a:off x="1656398" y="2492375"/>
          <a:ext cx="7019290" cy="2646045"/>
        </p:xfrm>
        <a:graphic>
          <a:graphicData uri="http://schemas.openxmlformats.org/drawingml/2006/table">
            <a:tbl>
              <a:tblPr firstRow="1" firstCol="1" bandRow="1" bandCol="1"/>
              <a:tblGrid>
                <a:gridCol w="2195830"/>
                <a:gridCol w="935508"/>
                <a:gridCol w="2910826"/>
                <a:gridCol w="977229"/>
              </a:tblGrid>
              <a:tr h="273249">
                <a:tc>
                  <a:txBody>
                    <a:bodyPr/>
                    <a:lstStyle/>
                    <a:p>
                      <a:pPr indent="254000" algn="ctr">
                        <a:spcBef>
                          <a:spcPts val="120"/>
                        </a:spcBef>
                        <a:spcAft>
                          <a:spcPts val="120"/>
                        </a:spcAft>
                      </a:pPr>
                      <a:r>
                        <a:rPr lang="zh-CN" sz="1400" kern="1000">
                          <a:effectLst/>
                          <a:latin typeface="Times New Roman" panose="02020603050405020304"/>
                          <a:ea typeface="方正书宋简体"/>
                        </a:rPr>
                        <a:t>运算符</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优先级</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运算符</a:t>
                      </a:r>
                      <a:endParaRPr lang="zh-CN" sz="1400" kern="1000">
                        <a:effectLst/>
                        <a:latin typeface="Times New Roman" panose="02020603050405020304"/>
                        <a:ea typeface="方正书宋简体"/>
                      </a:endParaRPr>
                    </a:p>
                  </a:txBody>
                  <a:tcPr marL="68575" marR="68575"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优先级</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3249">
                <a:tc>
                  <a:txBody>
                    <a:bodyPr/>
                    <a:lstStyle/>
                    <a:p>
                      <a:pPr indent="254000" algn="just">
                        <a:spcBef>
                          <a:spcPts val="80"/>
                        </a:spcBef>
                        <a:spcAft>
                          <a:spcPts val="80"/>
                        </a:spcAft>
                      </a:pPr>
                      <a:r>
                        <a:rPr lang="en-US" sz="1400" kern="1000">
                          <a:effectLst/>
                          <a:latin typeface="Times New Roman" panose="02020603050405020304"/>
                          <a:ea typeface="方正书宋简体"/>
                        </a:rPr>
                        <a:t>+</a:t>
                      </a:r>
                      <a:r>
                        <a:rPr lang="zh-CN" sz="1400" kern="1000">
                          <a:effectLst/>
                          <a:latin typeface="Times New Roman" panose="02020603050405020304"/>
                          <a:ea typeface="方正书宋简体"/>
                        </a:rPr>
                        <a:t>（正）、</a:t>
                      </a:r>
                      <a:r>
                        <a:rPr lang="en-US" sz="1400" kern="1000">
                          <a:effectLst/>
                          <a:latin typeface="Times New Roman" panose="02020603050405020304"/>
                          <a:ea typeface="方正书宋简体"/>
                        </a:rPr>
                        <a:t>-</a:t>
                      </a:r>
                      <a:r>
                        <a:rPr lang="zh-CN" sz="1400" kern="1000">
                          <a:effectLst/>
                          <a:latin typeface="Times New Roman" panose="02020603050405020304"/>
                          <a:ea typeface="方正书宋简体"/>
                        </a:rPr>
                        <a:t>（负）、</a:t>
                      </a:r>
                      <a:r>
                        <a:rPr lang="zh-CN" sz="1400" kern="1000">
                          <a:effectLst/>
                          <a:latin typeface="Times New Roman" panose="02020603050405020304"/>
                          <a:ea typeface="宋体" panose="02010600030101010101" pitchFamily="2" charset="-122"/>
                        </a:rPr>
                        <a:t>～</a:t>
                      </a:r>
                      <a:r>
                        <a:rPr lang="zh-CN" sz="1400" kern="1000">
                          <a:effectLst/>
                          <a:latin typeface="Times New Roman" panose="02020603050405020304"/>
                          <a:ea typeface="方正书宋简体"/>
                        </a:rPr>
                        <a:t>（按位</a:t>
                      </a:r>
                      <a:r>
                        <a:rPr lang="en-US" sz="1400" kern="1000">
                          <a:effectLst/>
                          <a:latin typeface="Times New Roman" panose="02020603050405020304"/>
                          <a:ea typeface="方正书宋简体"/>
                        </a:rPr>
                        <a:t>NOT</a:t>
                      </a:r>
                      <a:r>
                        <a:rPr lang="zh-CN" sz="1400" kern="1000">
                          <a:effectLst/>
                          <a:latin typeface="Times New Roman" panose="02020603050405020304"/>
                          <a:ea typeface="方正书宋简体"/>
                        </a:rPr>
                        <a:t>）</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80"/>
                        </a:spcBef>
                        <a:spcAft>
                          <a:spcPts val="80"/>
                        </a:spcAft>
                      </a:pPr>
                      <a:r>
                        <a:rPr lang="en-US" sz="1400" kern="1000">
                          <a:effectLst/>
                          <a:latin typeface="Times New Roman" panose="02020603050405020304"/>
                          <a:ea typeface="方正书宋简体"/>
                        </a:rPr>
                        <a:t>1</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80"/>
                        </a:spcBef>
                        <a:spcAft>
                          <a:spcPts val="80"/>
                        </a:spcAft>
                      </a:pPr>
                      <a:r>
                        <a:rPr lang="en-US" sz="1400" kern="1000">
                          <a:effectLst/>
                          <a:latin typeface="Times New Roman" panose="02020603050405020304"/>
                          <a:ea typeface="方正书宋简体"/>
                        </a:rPr>
                        <a:t>NOT</a:t>
                      </a:r>
                      <a:endParaRPr lang="zh-CN" sz="1400" kern="1000">
                        <a:effectLst/>
                        <a:latin typeface="Times New Roman" panose="02020603050405020304"/>
                        <a:ea typeface="方正书宋简体"/>
                      </a:endParaRPr>
                    </a:p>
                  </a:txBody>
                  <a:tcPr marL="68575" marR="68575"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80"/>
                        </a:spcBef>
                        <a:spcAft>
                          <a:spcPts val="80"/>
                        </a:spcAft>
                      </a:pPr>
                      <a:r>
                        <a:rPr lang="en-US" sz="1400" kern="1000">
                          <a:effectLst/>
                          <a:latin typeface="Times New Roman" panose="02020603050405020304"/>
                          <a:ea typeface="方正书宋简体"/>
                        </a:rPr>
                        <a:t>6</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3249">
                <a:tc>
                  <a:txBody>
                    <a:bodyPr/>
                    <a:lstStyle/>
                    <a:p>
                      <a:pPr indent="254000" algn="just">
                        <a:spcBef>
                          <a:spcPts val="80"/>
                        </a:spcBef>
                        <a:spcAft>
                          <a:spcPts val="80"/>
                        </a:spcAft>
                      </a:pPr>
                      <a:r>
                        <a:rPr lang="en-US" sz="1400" kern="1000">
                          <a:effectLst/>
                          <a:latin typeface="Times New Roman" panose="02020603050405020304"/>
                          <a:ea typeface="方正书宋简体"/>
                        </a:rPr>
                        <a:t>*</a:t>
                      </a:r>
                      <a:r>
                        <a:rPr lang="zh-CN" sz="1400" kern="1000">
                          <a:effectLst/>
                          <a:latin typeface="Times New Roman" panose="02020603050405020304"/>
                          <a:ea typeface="方正书宋简体"/>
                        </a:rPr>
                        <a:t>（乘）、</a:t>
                      </a:r>
                      <a:r>
                        <a:rPr lang="en-US" sz="1400" kern="1000">
                          <a:effectLst/>
                          <a:latin typeface="Times New Roman" panose="02020603050405020304"/>
                          <a:ea typeface="方正书宋简体"/>
                        </a:rPr>
                        <a:t>/</a:t>
                      </a:r>
                      <a:r>
                        <a:rPr lang="zh-CN" sz="1400" kern="1000">
                          <a:effectLst/>
                          <a:latin typeface="Times New Roman" panose="02020603050405020304"/>
                          <a:ea typeface="方正书宋简体"/>
                        </a:rPr>
                        <a:t>（除）、</a:t>
                      </a:r>
                      <a:r>
                        <a:rPr lang="en-US" sz="1400" kern="1000">
                          <a:effectLst/>
                          <a:latin typeface="Times New Roman" panose="02020603050405020304"/>
                          <a:ea typeface="方正书宋简体"/>
                        </a:rPr>
                        <a:t>%</a:t>
                      </a:r>
                      <a:r>
                        <a:rPr lang="zh-CN" sz="1400" kern="1000">
                          <a:effectLst/>
                          <a:latin typeface="Times New Roman" panose="02020603050405020304"/>
                          <a:ea typeface="方正书宋简体"/>
                        </a:rPr>
                        <a:t>（模）</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80"/>
                        </a:spcBef>
                        <a:spcAft>
                          <a:spcPts val="80"/>
                        </a:spcAft>
                      </a:pPr>
                      <a:r>
                        <a:rPr lang="en-US" sz="1400" kern="1000">
                          <a:effectLst/>
                          <a:latin typeface="Times New Roman" panose="02020603050405020304"/>
                          <a:ea typeface="方正书宋简体"/>
                        </a:rPr>
                        <a:t>2</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80"/>
                        </a:spcBef>
                        <a:spcAft>
                          <a:spcPts val="80"/>
                        </a:spcAft>
                      </a:pPr>
                      <a:r>
                        <a:rPr lang="en-US" sz="1400" kern="1000">
                          <a:effectLst/>
                          <a:latin typeface="Times New Roman" panose="02020603050405020304"/>
                          <a:ea typeface="方正书宋简体"/>
                        </a:rPr>
                        <a:t>AND</a:t>
                      </a:r>
                      <a:endParaRPr lang="zh-CN" sz="1400" kern="1000">
                        <a:effectLst/>
                        <a:latin typeface="Times New Roman" panose="02020603050405020304"/>
                        <a:ea typeface="方正书宋简体"/>
                      </a:endParaRPr>
                    </a:p>
                  </a:txBody>
                  <a:tcPr marL="68575" marR="68575"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80"/>
                        </a:spcBef>
                        <a:spcAft>
                          <a:spcPts val="80"/>
                        </a:spcAft>
                      </a:pPr>
                      <a:r>
                        <a:rPr lang="en-US" sz="1400" kern="1000">
                          <a:effectLst/>
                          <a:latin typeface="Times New Roman" panose="02020603050405020304"/>
                          <a:ea typeface="方正书宋简体"/>
                        </a:rPr>
                        <a:t>7</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6497">
                <a:tc>
                  <a:txBody>
                    <a:bodyPr/>
                    <a:lstStyle/>
                    <a:p>
                      <a:pPr indent="254000" algn="just">
                        <a:spcBef>
                          <a:spcPts val="80"/>
                        </a:spcBef>
                        <a:spcAft>
                          <a:spcPts val="80"/>
                        </a:spcAft>
                      </a:pPr>
                      <a:r>
                        <a:rPr lang="en-US" sz="1400" kern="1000">
                          <a:effectLst/>
                          <a:latin typeface="Times New Roman" panose="02020603050405020304"/>
                          <a:ea typeface="方正书宋简体"/>
                        </a:rPr>
                        <a:t>+</a:t>
                      </a:r>
                      <a:r>
                        <a:rPr lang="zh-CN" sz="1400" kern="1000">
                          <a:effectLst/>
                          <a:latin typeface="Times New Roman" panose="02020603050405020304"/>
                          <a:ea typeface="方正书宋简体"/>
                        </a:rPr>
                        <a:t>（加）、</a:t>
                      </a:r>
                      <a:r>
                        <a:rPr lang="en-US" sz="1400" kern="1000">
                          <a:effectLst/>
                          <a:latin typeface="Times New Roman" panose="02020603050405020304"/>
                          <a:ea typeface="方正书宋简体"/>
                        </a:rPr>
                        <a:t>+</a:t>
                      </a:r>
                      <a:r>
                        <a:rPr lang="zh-CN" sz="1400" kern="1000">
                          <a:effectLst/>
                          <a:latin typeface="Times New Roman" panose="02020603050405020304"/>
                          <a:ea typeface="方正书宋简体"/>
                        </a:rPr>
                        <a:t>（串联）、</a:t>
                      </a:r>
                      <a:r>
                        <a:rPr lang="en-US" sz="1400" kern="1000">
                          <a:effectLst/>
                          <a:latin typeface="Times New Roman" panose="02020603050405020304"/>
                          <a:ea typeface="方正书宋简体"/>
                        </a:rPr>
                        <a:t>-</a:t>
                      </a:r>
                      <a:r>
                        <a:rPr lang="zh-CN" sz="1400" kern="1000">
                          <a:effectLst/>
                          <a:latin typeface="Times New Roman" panose="02020603050405020304"/>
                          <a:ea typeface="方正书宋简体"/>
                        </a:rPr>
                        <a:t>（减）</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80"/>
                        </a:spcBef>
                        <a:spcAft>
                          <a:spcPts val="80"/>
                        </a:spcAft>
                      </a:pPr>
                      <a:r>
                        <a:rPr lang="en-US" sz="1400" kern="1000">
                          <a:effectLst/>
                          <a:latin typeface="Times New Roman" panose="02020603050405020304"/>
                          <a:ea typeface="方正书宋简体"/>
                        </a:rPr>
                        <a:t>3</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80"/>
                        </a:spcBef>
                        <a:spcAft>
                          <a:spcPts val="80"/>
                        </a:spcAft>
                      </a:pPr>
                      <a:r>
                        <a:rPr lang="en-US" sz="1400" kern="1000">
                          <a:effectLst/>
                          <a:latin typeface="Times New Roman" panose="02020603050405020304"/>
                          <a:ea typeface="方正书宋简体"/>
                        </a:rPr>
                        <a:t>ALL</a:t>
                      </a:r>
                      <a:r>
                        <a:rPr lang="zh-CN" sz="1400" kern="1000">
                          <a:effectLst/>
                          <a:latin typeface="Times New Roman" panose="02020603050405020304"/>
                          <a:ea typeface="方正书宋简体"/>
                        </a:rPr>
                        <a:t>、</a:t>
                      </a:r>
                      <a:r>
                        <a:rPr lang="en-US" sz="1400" kern="1000">
                          <a:effectLst/>
                          <a:latin typeface="Times New Roman" panose="02020603050405020304"/>
                          <a:ea typeface="方正书宋简体"/>
                        </a:rPr>
                        <a:t>ANY</a:t>
                      </a:r>
                      <a:r>
                        <a:rPr lang="zh-CN" sz="1400" kern="1000">
                          <a:effectLst/>
                          <a:latin typeface="Times New Roman" panose="02020603050405020304"/>
                          <a:ea typeface="方正书宋简体"/>
                        </a:rPr>
                        <a:t>、</a:t>
                      </a:r>
                      <a:r>
                        <a:rPr lang="en-US" sz="1400" kern="1000">
                          <a:effectLst/>
                          <a:latin typeface="Times New Roman" panose="02020603050405020304"/>
                          <a:ea typeface="方正书宋简体"/>
                        </a:rPr>
                        <a:t>BETWEEN</a:t>
                      </a:r>
                      <a:r>
                        <a:rPr lang="zh-CN" sz="1400" kern="1000">
                          <a:effectLst/>
                          <a:latin typeface="Times New Roman" panose="02020603050405020304"/>
                          <a:ea typeface="方正书宋简体"/>
                        </a:rPr>
                        <a:t>、</a:t>
                      </a:r>
                      <a:r>
                        <a:rPr lang="en-US" sz="1400" kern="1000">
                          <a:effectLst/>
                          <a:latin typeface="Times New Roman" panose="02020603050405020304"/>
                          <a:ea typeface="方正书宋简体"/>
                        </a:rPr>
                        <a:t>IN</a:t>
                      </a:r>
                      <a:r>
                        <a:rPr lang="zh-CN" sz="1400" kern="1000">
                          <a:effectLst/>
                          <a:latin typeface="Times New Roman" panose="02020603050405020304"/>
                          <a:ea typeface="方正书宋简体"/>
                        </a:rPr>
                        <a:t>、</a:t>
                      </a:r>
                      <a:r>
                        <a:rPr lang="en-US" sz="1400" kern="1000">
                          <a:effectLst/>
                          <a:latin typeface="Times New Roman" panose="02020603050405020304"/>
                          <a:ea typeface="方正书宋简体"/>
                        </a:rPr>
                        <a:t>LIKE</a:t>
                      </a:r>
                      <a:r>
                        <a:rPr lang="zh-CN" sz="1400" kern="1000">
                          <a:effectLst/>
                          <a:latin typeface="Times New Roman" panose="02020603050405020304"/>
                          <a:ea typeface="方正书宋简体"/>
                        </a:rPr>
                        <a:t>、</a:t>
                      </a:r>
                      <a:r>
                        <a:rPr lang="en-US" sz="1400" kern="1000">
                          <a:effectLst/>
                          <a:latin typeface="Times New Roman" panose="02020603050405020304"/>
                          <a:ea typeface="方正书宋简体"/>
                        </a:rPr>
                        <a:t>OR</a:t>
                      </a:r>
                      <a:r>
                        <a:rPr lang="zh-CN" sz="1400" kern="1000">
                          <a:effectLst/>
                          <a:latin typeface="Times New Roman" panose="02020603050405020304"/>
                          <a:ea typeface="方正书宋简体"/>
                        </a:rPr>
                        <a:t>、</a:t>
                      </a:r>
                      <a:r>
                        <a:rPr lang="en-US" sz="1400" kern="1000">
                          <a:effectLst/>
                          <a:latin typeface="Times New Roman" panose="02020603050405020304"/>
                          <a:ea typeface="方正书宋简体"/>
                        </a:rPr>
                        <a:t>SOME</a:t>
                      </a:r>
                      <a:endParaRPr lang="zh-CN" sz="1400" kern="1000">
                        <a:effectLst/>
                        <a:latin typeface="Times New Roman" panose="02020603050405020304"/>
                        <a:ea typeface="方正书宋简体"/>
                      </a:endParaRPr>
                    </a:p>
                  </a:txBody>
                  <a:tcPr marL="68575" marR="68575"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80"/>
                        </a:spcBef>
                        <a:spcAft>
                          <a:spcPts val="80"/>
                        </a:spcAft>
                      </a:pPr>
                      <a:r>
                        <a:rPr lang="en-US" sz="1400" kern="1000">
                          <a:effectLst/>
                          <a:latin typeface="Times New Roman" panose="02020603050405020304"/>
                          <a:ea typeface="方正书宋简体"/>
                        </a:rPr>
                        <a:t>8</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6497">
                <a:tc>
                  <a:txBody>
                    <a:bodyPr/>
                    <a:lstStyle/>
                    <a:p>
                      <a:pPr indent="254000" algn="just">
                        <a:spcBef>
                          <a:spcPts val="80"/>
                        </a:spcBef>
                        <a:spcAft>
                          <a:spcPts val="80"/>
                        </a:spcAft>
                      </a:pPr>
                      <a:r>
                        <a:rPr lang="en-US" sz="1400" kern="1000">
                          <a:effectLst/>
                          <a:latin typeface="Times New Roman" panose="02020603050405020304"/>
                          <a:ea typeface="方正书宋简体"/>
                        </a:rPr>
                        <a:t>=,  &gt;,  &lt;,  &gt;=,  &lt;=,  &lt;&gt;,  !=,  !&gt;,  !&lt; </a:t>
                      </a:r>
                      <a:r>
                        <a:rPr lang="zh-CN" sz="1400" kern="1000">
                          <a:effectLst/>
                          <a:latin typeface="Times New Roman" panose="02020603050405020304"/>
                          <a:ea typeface="方正书宋简体"/>
                        </a:rPr>
                        <a:t>比较运算符</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80"/>
                        </a:spcBef>
                        <a:spcAft>
                          <a:spcPts val="80"/>
                        </a:spcAft>
                      </a:pPr>
                      <a:r>
                        <a:rPr lang="en-US" sz="1400" kern="1000">
                          <a:effectLst/>
                          <a:latin typeface="Times New Roman" panose="02020603050405020304"/>
                          <a:ea typeface="方正书宋简体"/>
                        </a:rPr>
                        <a:t>4</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80"/>
                        </a:spcBef>
                        <a:spcAft>
                          <a:spcPts val="80"/>
                        </a:spcAft>
                      </a:pPr>
                      <a:r>
                        <a:rPr lang="en-US" sz="1400" kern="1000">
                          <a:effectLst/>
                          <a:latin typeface="Times New Roman" panose="02020603050405020304"/>
                          <a:ea typeface="方正书宋简体"/>
                        </a:rPr>
                        <a:t>=</a:t>
                      </a:r>
                      <a:r>
                        <a:rPr lang="zh-CN" sz="1400" kern="1000">
                          <a:effectLst/>
                          <a:latin typeface="Times New Roman" panose="02020603050405020304"/>
                          <a:ea typeface="方正书宋简体"/>
                        </a:rPr>
                        <a:t>（赋值）</a:t>
                      </a:r>
                      <a:endParaRPr lang="zh-CN" sz="1400" kern="1000">
                        <a:effectLst/>
                        <a:latin typeface="Times New Roman" panose="02020603050405020304"/>
                        <a:ea typeface="方正书宋简体"/>
                      </a:endParaRPr>
                    </a:p>
                  </a:txBody>
                  <a:tcPr marL="68575" marR="68575"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80"/>
                        </a:spcBef>
                        <a:spcAft>
                          <a:spcPts val="80"/>
                        </a:spcAft>
                      </a:pPr>
                      <a:r>
                        <a:rPr lang="en-US" sz="1400" kern="1000">
                          <a:effectLst/>
                          <a:latin typeface="Times New Roman" panose="02020603050405020304"/>
                          <a:ea typeface="方正书宋简体"/>
                        </a:rPr>
                        <a:t>9</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3249">
                <a:tc>
                  <a:txBody>
                    <a:bodyPr/>
                    <a:lstStyle/>
                    <a:p>
                      <a:pPr indent="254000" algn="just">
                        <a:spcBef>
                          <a:spcPts val="80"/>
                        </a:spcBef>
                        <a:spcAft>
                          <a:spcPts val="80"/>
                        </a:spcAft>
                      </a:pPr>
                      <a:r>
                        <a:rPr lang="en-US" sz="1400" kern="1000">
                          <a:effectLst/>
                          <a:latin typeface="Times New Roman" panose="02020603050405020304"/>
                          <a:ea typeface="方正书宋简体"/>
                        </a:rPr>
                        <a:t>^</a:t>
                      </a:r>
                      <a:r>
                        <a:rPr lang="zh-CN" sz="1400" kern="1000">
                          <a:effectLst/>
                          <a:latin typeface="Times New Roman" panose="02020603050405020304"/>
                          <a:ea typeface="方正书宋简体"/>
                        </a:rPr>
                        <a:t>（位异或）、</a:t>
                      </a:r>
                      <a:r>
                        <a:rPr lang="en-US" sz="1400" kern="1000">
                          <a:effectLst/>
                          <a:latin typeface="Times New Roman" panose="02020603050405020304"/>
                          <a:ea typeface="方正书宋简体"/>
                        </a:rPr>
                        <a:t>&amp;</a:t>
                      </a:r>
                      <a:r>
                        <a:rPr lang="zh-CN" sz="1400" kern="1000">
                          <a:effectLst/>
                          <a:latin typeface="Times New Roman" panose="02020603050405020304"/>
                          <a:ea typeface="方正书宋简体"/>
                        </a:rPr>
                        <a:t>（位与）、</a:t>
                      </a:r>
                      <a:r>
                        <a:rPr lang="en-US" sz="1400" kern="1000">
                          <a:effectLst/>
                          <a:latin typeface="Times New Roman" panose="02020603050405020304"/>
                          <a:ea typeface="方正书宋简体"/>
                        </a:rPr>
                        <a:t>|</a:t>
                      </a:r>
                      <a:r>
                        <a:rPr lang="zh-CN" sz="1400" kern="1000">
                          <a:effectLst/>
                          <a:latin typeface="Times New Roman" panose="02020603050405020304"/>
                          <a:ea typeface="方正书宋简体"/>
                        </a:rPr>
                        <a:t>（位或）</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80"/>
                        </a:spcBef>
                        <a:spcAft>
                          <a:spcPts val="80"/>
                        </a:spcAft>
                      </a:pPr>
                      <a:r>
                        <a:rPr lang="en-US" sz="1400" kern="1000">
                          <a:effectLst/>
                          <a:latin typeface="Times New Roman" panose="02020603050405020304"/>
                          <a:ea typeface="方正书宋简体"/>
                        </a:rPr>
                        <a:t>5</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80"/>
                        </a:spcBef>
                        <a:spcAft>
                          <a:spcPts val="80"/>
                        </a:spcAft>
                      </a:pPr>
                      <a:r>
                        <a:rPr lang="en-US" sz="1400" kern="1000">
                          <a:effectLst/>
                          <a:latin typeface="Times New Roman" panose="02020603050405020304"/>
                          <a:ea typeface="方正书宋简体"/>
                        </a:rPr>
                        <a:t> </a:t>
                      </a:r>
                      <a:endParaRPr lang="zh-CN" sz="1400" kern="1000">
                        <a:effectLst/>
                        <a:latin typeface="Times New Roman" panose="02020603050405020304"/>
                        <a:ea typeface="方正书宋简体"/>
                      </a:endParaRPr>
                    </a:p>
                  </a:txBody>
                  <a:tcPr marL="68575" marR="68575"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80"/>
                        </a:spcBef>
                        <a:spcAft>
                          <a:spcPts val="80"/>
                        </a:spcAft>
                      </a:pPr>
                      <a:r>
                        <a:rPr lang="en-US" sz="1400" kern="1000" dirty="0">
                          <a:effectLst/>
                          <a:latin typeface="Times New Roman" panose="02020603050405020304"/>
                          <a:ea typeface="方正书宋简体"/>
                        </a:rPr>
                        <a:t> </a:t>
                      </a:r>
                      <a:endParaRPr lang="zh-CN" sz="1400" kern="1000" dirty="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spd="slow">
    <p:pull/>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5.3  </a:t>
            </a:r>
            <a:r>
              <a:rPr lang="zh-CN" altLang="zh-CN" dirty="0">
                <a:effectLst/>
              </a:rPr>
              <a:t>运算符与表达式</a:t>
            </a:r>
            <a:endParaRPr lang="zh-CN" altLang="en-US" dirty="0"/>
          </a:p>
        </p:txBody>
      </p:sp>
      <p:sp>
        <p:nvSpPr>
          <p:cNvPr id="41987" name="TextBox 2"/>
          <p:cNvSpPr txBox="1">
            <a:spLocks noChangeArrowheads="1"/>
          </p:cNvSpPr>
          <p:nvPr/>
        </p:nvSpPr>
        <p:spPr bwMode="auto">
          <a:xfrm>
            <a:off x="468313" y="1628775"/>
            <a:ext cx="8207375" cy="378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9</a:t>
            </a:r>
            <a:r>
              <a:rPr lang="zh-CN" altLang="zh-CN" b="1">
                <a:solidFill>
                  <a:srgbClr val="C00000"/>
                </a:solidFill>
              </a:rPr>
              <a:t>．表达式</a:t>
            </a:r>
            <a:endParaRPr lang="zh-CN" altLang="zh-CN" b="1">
              <a:solidFill>
                <a:srgbClr val="C00000"/>
              </a:solidFill>
            </a:endParaRPr>
          </a:p>
          <a:p>
            <a:pPr eaLnBrk="1" fontAlgn="ctr" hangingPunct="1">
              <a:lnSpc>
                <a:spcPct val="150000"/>
              </a:lnSpc>
            </a:pPr>
            <a:r>
              <a:rPr lang="zh-CN" altLang="zh-CN"/>
              <a:t>一个表达式就是常量、变量、列名、复杂计算、运算符和函数的组合。一个表达式通常可以得到一个值。与常量和变量一样，一个表达式的值也具有某种数据类型，可能的数据类型有字符类型、数值类型、日期时间类型。这样根据表达式的值的类型，表达式可分为字符型表达式、数值型表达式和日期时间型表达式。</a:t>
            </a:r>
            <a:endParaRPr lang="zh-CN" altLang="zh-CN"/>
          </a:p>
          <a:p>
            <a:pPr eaLnBrk="1" fontAlgn="ctr" hangingPunct="1">
              <a:lnSpc>
                <a:spcPct val="150000"/>
              </a:lnSpc>
            </a:pPr>
            <a:r>
              <a:rPr lang="zh-CN" altLang="zh-CN"/>
              <a:t>表达式还可以根据值的复杂性来分类。</a:t>
            </a:r>
            <a:endParaRPr lang="zh-CN" altLang="zh-CN"/>
          </a:p>
          <a:p>
            <a:pPr eaLnBrk="1" fontAlgn="ctr" hangingPunct="1">
              <a:lnSpc>
                <a:spcPct val="150000"/>
              </a:lnSpc>
            </a:pPr>
            <a:r>
              <a:rPr lang="zh-CN" altLang="zh-CN"/>
              <a:t>若表达式的结果只是一个值，如一个数值、一个单词或一个日期，则这种表达式叫作标量表达式，如</a:t>
            </a:r>
            <a:r>
              <a:rPr lang="en-US" altLang="zh-CN"/>
              <a:t>1+2</a:t>
            </a:r>
            <a:r>
              <a:rPr lang="zh-CN" altLang="zh-CN"/>
              <a:t>，</a:t>
            </a:r>
            <a:r>
              <a:rPr lang="en-US" altLang="zh-CN"/>
              <a:t>'a'&gt;'b'</a:t>
            </a:r>
            <a:r>
              <a:rPr lang="zh-CN" altLang="zh-CN"/>
              <a:t>。</a:t>
            </a:r>
            <a:endParaRPr lang="zh-CN" altLang="zh-CN"/>
          </a:p>
          <a:p>
            <a:pPr eaLnBrk="1" hangingPunct="1">
              <a:lnSpc>
                <a:spcPct val="150000"/>
              </a:lnSpc>
            </a:pPr>
            <a:endParaRPr lang="zh-CN" altLang="en-US"/>
          </a:p>
        </p:txBody>
      </p:sp>
    </p:spTree>
  </p:cSld>
  <p:clrMapOvr>
    <a:masterClrMapping/>
  </p:clrMapOvr>
  <p:transition spd="slow">
    <p:wheel spokes="1"/>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00113" y="4221163"/>
            <a:ext cx="7848600" cy="18002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5.4  </a:t>
            </a:r>
            <a:r>
              <a:rPr lang="zh-CN" altLang="zh-CN" dirty="0">
                <a:effectLst/>
              </a:rPr>
              <a:t>流程</a:t>
            </a:r>
            <a:r>
              <a:rPr lang="zh-CN" altLang="zh-CN" dirty="0" smtClean="0">
                <a:effectLst/>
              </a:rPr>
              <a:t>控制语句</a:t>
            </a:r>
            <a:endParaRPr lang="zh-CN" altLang="en-US" dirty="0"/>
          </a:p>
        </p:txBody>
      </p:sp>
      <p:sp>
        <p:nvSpPr>
          <p:cNvPr id="43012" name="矩形 2"/>
          <p:cNvSpPr>
            <a:spLocks noChangeArrowheads="1"/>
          </p:cNvSpPr>
          <p:nvPr/>
        </p:nvSpPr>
        <p:spPr bwMode="auto">
          <a:xfrm>
            <a:off x="1042988" y="1412875"/>
            <a:ext cx="5886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ctr"/>
            <a:r>
              <a:rPr lang="zh-CN" altLang="zh-CN"/>
              <a:t>在</a:t>
            </a:r>
            <a:r>
              <a:rPr lang="en-US" altLang="zh-CN"/>
              <a:t>SQL Server</a:t>
            </a:r>
            <a:r>
              <a:rPr lang="zh-CN" altLang="zh-CN"/>
              <a:t>中提供的流程控制语句如表</a:t>
            </a:r>
            <a:r>
              <a:rPr lang="en-US" altLang="zh-CN"/>
              <a:t>5.8</a:t>
            </a:r>
            <a:r>
              <a:rPr lang="zh-CN" altLang="zh-CN"/>
              <a:t>所示。</a:t>
            </a:r>
            <a:endParaRPr lang="zh-CN" altLang="zh-CN"/>
          </a:p>
        </p:txBody>
      </p:sp>
      <p:graphicFrame>
        <p:nvGraphicFramePr>
          <p:cNvPr id="4" name="表格 3"/>
          <p:cNvGraphicFramePr>
            <a:graphicFrameLocks noGrp="1"/>
          </p:cNvGraphicFramePr>
          <p:nvPr/>
        </p:nvGraphicFramePr>
        <p:xfrm>
          <a:off x="611188" y="1916113"/>
          <a:ext cx="8023225" cy="1895476"/>
        </p:xfrm>
        <a:graphic>
          <a:graphicData uri="http://schemas.openxmlformats.org/drawingml/2006/table">
            <a:tbl>
              <a:tblPr firstRow="1" firstCol="1" bandRow="1" bandCol="1"/>
              <a:tblGrid>
                <a:gridCol w="2045922"/>
                <a:gridCol w="2042713"/>
                <a:gridCol w="1579030"/>
                <a:gridCol w="2355560"/>
              </a:tblGrid>
              <a:tr h="213360">
                <a:tc>
                  <a:txBody>
                    <a:bodyPr/>
                    <a:lstStyle/>
                    <a:p>
                      <a:pPr indent="254000" algn="ctr">
                        <a:spcBef>
                          <a:spcPts val="120"/>
                        </a:spcBef>
                        <a:spcAft>
                          <a:spcPts val="120"/>
                        </a:spcAft>
                      </a:pPr>
                      <a:r>
                        <a:rPr lang="zh-CN" sz="1400" kern="1000">
                          <a:effectLst/>
                          <a:latin typeface="Times New Roman" panose="02020603050405020304"/>
                          <a:ea typeface="方正书宋简体"/>
                        </a:rPr>
                        <a:t>控制语句</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说明</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控制语句</a:t>
                      </a:r>
                      <a:endParaRPr lang="zh-CN" sz="1400" kern="1000">
                        <a:effectLst/>
                        <a:latin typeface="Times New Roman" panose="02020603050405020304"/>
                        <a:ea typeface="方正书宋简体"/>
                      </a:endParaRPr>
                    </a:p>
                  </a:txBody>
                  <a:tcPr marL="68575" marR="68575"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说明</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3225">
                <a:tc>
                  <a:txBody>
                    <a:bodyPr/>
                    <a:lstStyle/>
                    <a:p>
                      <a:pPr indent="254000" algn="ctr">
                        <a:spcBef>
                          <a:spcPts val="120"/>
                        </a:spcBef>
                        <a:spcAft>
                          <a:spcPts val="120"/>
                        </a:spcAft>
                      </a:pPr>
                      <a:r>
                        <a:rPr lang="en-US" sz="1400" kern="1000">
                          <a:effectLst/>
                          <a:latin typeface="Times New Roman" panose="02020603050405020304"/>
                          <a:ea typeface="方正书宋简体"/>
                        </a:rPr>
                        <a:t>BEGIN</a:t>
                      </a:r>
                      <a:r>
                        <a:rPr lang="zh-CN" sz="1400" kern="1000">
                          <a:effectLst/>
                          <a:latin typeface="Times New Roman" panose="02020603050405020304"/>
                          <a:ea typeface="方正书宋简体"/>
                        </a:rPr>
                        <a:t>…</a:t>
                      </a:r>
                      <a:r>
                        <a:rPr lang="en-US" sz="1400" kern="1000">
                          <a:effectLst/>
                          <a:latin typeface="Times New Roman" panose="02020603050405020304"/>
                          <a:ea typeface="方正书宋简体"/>
                        </a:rPr>
                        <a:t>END</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语句块</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en-US" sz="1400" kern="1000">
                          <a:effectLst/>
                          <a:latin typeface="Times New Roman" panose="02020603050405020304"/>
                          <a:ea typeface="方正书宋简体"/>
                        </a:rPr>
                        <a:t>CONTINUE</a:t>
                      </a:r>
                      <a:endParaRPr lang="zh-CN" sz="1400" kern="1000">
                        <a:effectLst/>
                        <a:latin typeface="Times New Roman" panose="02020603050405020304"/>
                        <a:ea typeface="方正书宋简体"/>
                      </a:endParaRPr>
                    </a:p>
                  </a:txBody>
                  <a:tcPr marL="68575" marR="68575"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用于重新开始下一次循环</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3225">
                <a:tc>
                  <a:txBody>
                    <a:bodyPr/>
                    <a:lstStyle/>
                    <a:p>
                      <a:pPr indent="254000" algn="ctr">
                        <a:spcBef>
                          <a:spcPts val="120"/>
                        </a:spcBef>
                        <a:spcAft>
                          <a:spcPts val="120"/>
                        </a:spcAft>
                      </a:pPr>
                      <a:r>
                        <a:rPr lang="en-US" sz="1400" kern="1000">
                          <a:effectLst/>
                          <a:latin typeface="Times New Roman" panose="02020603050405020304"/>
                          <a:ea typeface="方正书宋简体"/>
                        </a:rPr>
                        <a:t>IF</a:t>
                      </a:r>
                      <a:r>
                        <a:rPr lang="zh-CN" sz="1400" kern="1000">
                          <a:effectLst/>
                          <a:latin typeface="Times New Roman" panose="02020603050405020304"/>
                          <a:ea typeface="方正书宋简体"/>
                        </a:rPr>
                        <a:t>…</a:t>
                      </a:r>
                      <a:r>
                        <a:rPr lang="en-US" sz="1400" kern="1000">
                          <a:effectLst/>
                          <a:latin typeface="Times New Roman" panose="02020603050405020304"/>
                          <a:ea typeface="方正书宋简体"/>
                        </a:rPr>
                        <a:t>ELSE</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条件语句</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en-US" sz="1400" kern="1000">
                          <a:effectLst/>
                          <a:latin typeface="Times New Roman" panose="02020603050405020304"/>
                          <a:ea typeface="方正书宋简体"/>
                        </a:rPr>
                        <a:t>BREAK</a:t>
                      </a:r>
                      <a:endParaRPr lang="zh-CN" sz="1400" kern="1000">
                        <a:effectLst/>
                        <a:latin typeface="Times New Roman" panose="02020603050405020304"/>
                        <a:ea typeface="方正书宋简体"/>
                      </a:endParaRPr>
                    </a:p>
                  </a:txBody>
                  <a:tcPr marL="68575" marR="68575"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用于退出最内层的循环</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9081">
                <a:tc>
                  <a:txBody>
                    <a:bodyPr/>
                    <a:lstStyle/>
                    <a:p>
                      <a:pPr indent="254000" algn="ctr">
                        <a:spcBef>
                          <a:spcPts val="120"/>
                        </a:spcBef>
                        <a:spcAft>
                          <a:spcPts val="120"/>
                        </a:spcAft>
                      </a:pPr>
                      <a:r>
                        <a:rPr lang="en-US" sz="1400" kern="1000">
                          <a:effectLst/>
                          <a:latin typeface="Times New Roman" panose="02020603050405020304"/>
                          <a:ea typeface="方正书宋简体"/>
                        </a:rPr>
                        <a:t>CASE</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分支语句</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en-US" sz="1400" kern="1000">
                          <a:effectLst/>
                          <a:latin typeface="Times New Roman" panose="02020603050405020304"/>
                          <a:ea typeface="方正书宋简体"/>
                        </a:rPr>
                        <a:t>RETURN</a:t>
                      </a:r>
                      <a:endParaRPr lang="zh-CN" sz="1400" kern="1000">
                        <a:effectLst/>
                        <a:latin typeface="Times New Roman" panose="02020603050405020304"/>
                        <a:ea typeface="方正书宋简体"/>
                      </a:endParaRPr>
                    </a:p>
                  </a:txBody>
                  <a:tcPr marL="68575" marR="68575"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无条件返回</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3225">
                <a:tc>
                  <a:txBody>
                    <a:bodyPr/>
                    <a:lstStyle/>
                    <a:p>
                      <a:pPr indent="254000" algn="ctr">
                        <a:spcBef>
                          <a:spcPts val="120"/>
                        </a:spcBef>
                        <a:spcAft>
                          <a:spcPts val="120"/>
                        </a:spcAft>
                      </a:pPr>
                      <a:r>
                        <a:rPr lang="en-US" sz="1400" kern="1000">
                          <a:effectLst/>
                          <a:latin typeface="Times New Roman" panose="02020603050405020304"/>
                          <a:ea typeface="方正书宋简体"/>
                        </a:rPr>
                        <a:t>GOTO</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无条件转移语句</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en-US" sz="1400" kern="1000">
                          <a:effectLst/>
                          <a:latin typeface="Times New Roman" panose="02020603050405020304"/>
                          <a:ea typeface="方正书宋简体"/>
                        </a:rPr>
                        <a:t>WAITFOR</a:t>
                      </a:r>
                      <a:endParaRPr lang="zh-CN" sz="1400" kern="1000">
                        <a:effectLst/>
                        <a:latin typeface="Times New Roman" panose="02020603050405020304"/>
                        <a:ea typeface="方正书宋简体"/>
                      </a:endParaRPr>
                    </a:p>
                  </a:txBody>
                  <a:tcPr marL="68575" marR="68575"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为语句的执行设置延迟</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3360">
                <a:tc>
                  <a:txBody>
                    <a:bodyPr/>
                    <a:lstStyle/>
                    <a:p>
                      <a:pPr indent="254000" algn="ctr">
                        <a:spcBef>
                          <a:spcPts val="120"/>
                        </a:spcBef>
                        <a:spcAft>
                          <a:spcPts val="120"/>
                        </a:spcAft>
                      </a:pPr>
                      <a:r>
                        <a:rPr lang="en-US" sz="1400" kern="1000">
                          <a:effectLst/>
                          <a:latin typeface="Times New Roman" panose="02020603050405020304"/>
                          <a:ea typeface="方正书宋简体"/>
                        </a:rPr>
                        <a:t>WHILE</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循环语句</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en-US" sz="1400" kern="1000">
                          <a:effectLst/>
                          <a:latin typeface="Times New Roman" panose="02020603050405020304"/>
                          <a:ea typeface="方正书宋简体"/>
                        </a:rPr>
                        <a:t> </a:t>
                      </a:r>
                      <a:endParaRPr lang="zh-CN" sz="1400" kern="1000">
                        <a:effectLst/>
                        <a:latin typeface="Times New Roman" panose="02020603050405020304"/>
                        <a:ea typeface="方正书宋简体"/>
                      </a:endParaRPr>
                    </a:p>
                  </a:txBody>
                  <a:tcPr marL="68575" marR="68575"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en-US" sz="1400" kern="1000" dirty="0">
                          <a:effectLst/>
                          <a:latin typeface="Times New Roman" panose="02020603050405020304"/>
                          <a:ea typeface="方正书宋简体"/>
                        </a:rPr>
                        <a:t> </a:t>
                      </a:r>
                      <a:endParaRPr lang="zh-CN" sz="1400" kern="1000" dirty="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3048" name="TextBox 4"/>
          <p:cNvSpPr txBox="1">
            <a:spLocks noChangeArrowheads="1"/>
          </p:cNvSpPr>
          <p:nvPr/>
        </p:nvSpPr>
        <p:spPr bwMode="auto">
          <a:xfrm>
            <a:off x="468313" y="3933825"/>
            <a:ext cx="82804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5.16</a:t>
            </a:r>
            <a:r>
              <a:rPr lang="zh-CN" altLang="zh-CN"/>
              <a:t>】 如下程序用于查询总学分大于</a:t>
            </a:r>
            <a:r>
              <a:rPr lang="en-US" altLang="zh-CN"/>
              <a:t>42</a:t>
            </a:r>
            <a:r>
              <a:rPr lang="zh-CN" altLang="zh-CN"/>
              <a:t>的学生人数。</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DECLARE @num int</a:t>
            </a:r>
            <a:endParaRPr lang="zh-CN" altLang="zh-CN"/>
          </a:p>
          <a:p>
            <a:pPr eaLnBrk="1" hangingPunct="1"/>
            <a:r>
              <a:rPr lang="en-US" altLang="zh-CN"/>
              <a:t>SELECT @num=(SELECT COUNT(</a:t>
            </a:r>
            <a:r>
              <a:rPr lang="zh-CN" altLang="zh-CN"/>
              <a:t>姓名</a:t>
            </a:r>
            <a:r>
              <a:rPr lang="en-US" altLang="zh-CN"/>
              <a:t>) FROM xsb WHERE  </a:t>
            </a:r>
            <a:r>
              <a:rPr lang="zh-CN" altLang="zh-CN"/>
              <a:t>总学分</a:t>
            </a:r>
            <a:r>
              <a:rPr lang="en-US" altLang="zh-CN"/>
              <a:t>&gt;42)</a:t>
            </a:r>
            <a:endParaRPr lang="zh-CN" altLang="zh-CN"/>
          </a:p>
          <a:p>
            <a:pPr eaLnBrk="1" hangingPunct="1"/>
            <a:r>
              <a:rPr lang="en-US" altLang="zh-CN"/>
              <a:t>IF @num&lt;&gt;0</a:t>
            </a:r>
            <a:endParaRPr lang="zh-CN" altLang="zh-CN"/>
          </a:p>
          <a:p>
            <a:pPr eaLnBrk="1" hangingPunct="1"/>
            <a:r>
              <a:rPr lang="en-US" altLang="zh-CN"/>
              <a:t>     SELECT @num AS '</a:t>
            </a:r>
            <a:r>
              <a:rPr lang="zh-CN" altLang="zh-CN"/>
              <a:t>总学分</a:t>
            </a:r>
            <a:r>
              <a:rPr lang="en-US" altLang="zh-CN"/>
              <a:t>&gt;42</a:t>
            </a:r>
            <a:r>
              <a:rPr lang="zh-CN" altLang="zh-CN"/>
              <a:t>的人数</a:t>
            </a:r>
            <a:r>
              <a:rPr lang="en-US" altLang="zh-CN"/>
              <a:t>'</a:t>
            </a:r>
            <a:endParaRPr lang="zh-CN" altLang="zh-CN"/>
          </a:p>
          <a:p>
            <a:pPr eaLnBrk="1" hangingPunct="1"/>
            <a:endParaRPr lang="zh-CN" altLang="en-US"/>
          </a:p>
        </p:txBody>
      </p:sp>
    </p:spTree>
  </p:cSld>
  <p:clrMapOvr>
    <a:masterClrMapping/>
  </p:clrMapOvr>
  <p:transition spd="slow">
    <p:pull/>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55650" y="4076700"/>
            <a:ext cx="7993063" cy="16557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755650" y="2420938"/>
            <a:ext cx="7993063" cy="7921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5.4.1  </a:t>
            </a:r>
            <a:r>
              <a:rPr lang="zh-CN" altLang="zh-CN" dirty="0">
                <a:effectLst/>
              </a:rPr>
              <a:t>语句块：</a:t>
            </a:r>
            <a:r>
              <a:rPr lang="en-US" altLang="zh-CN" dirty="0">
                <a:effectLst/>
              </a:rPr>
              <a:t>BEGIN</a:t>
            </a:r>
            <a:r>
              <a:rPr lang="zh-CN" altLang="zh-CN" dirty="0">
                <a:effectLst/>
              </a:rPr>
              <a:t>…</a:t>
            </a:r>
            <a:r>
              <a:rPr lang="en-US" altLang="zh-CN" dirty="0">
                <a:effectLst/>
              </a:rPr>
              <a:t>END</a:t>
            </a:r>
            <a:endParaRPr lang="zh-CN" altLang="zh-CN" dirty="0">
              <a:effectLst/>
            </a:endParaRPr>
          </a:p>
        </p:txBody>
      </p:sp>
      <p:sp>
        <p:nvSpPr>
          <p:cNvPr id="3" name="TextBox 2"/>
          <p:cNvSpPr txBox="1"/>
          <p:nvPr/>
        </p:nvSpPr>
        <p:spPr>
          <a:xfrm>
            <a:off x="468313" y="1557338"/>
            <a:ext cx="8280400" cy="4524375"/>
          </a:xfrm>
          <a:prstGeom prst="rect">
            <a:avLst/>
          </a:prstGeom>
          <a:noFill/>
        </p:spPr>
        <p:txBody>
          <a:bodyPr>
            <a:spAutoFit/>
          </a:bodyPr>
          <a:lstStyle/>
          <a:p>
            <a:pPr indent="446405" fontAlgn="ctr">
              <a:spcBef>
                <a:spcPts val="0"/>
              </a:spcBef>
              <a:spcAft>
                <a:spcPts val="0"/>
              </a:spcAft>
              <a:defRPr/>
            </a:pPr>
            <a:r>
              <a:rPr lang="zh-CN" altLang="zh-CN" dirty="0">
                <a:latin typeface="+mn-lt"/>
                <a:ea typeface="+mn-ea"/>
              </a:rPr>
              <a:t>在</a:t>
            </a:r>
            <a:r>
              <a:rPr lang="en-US" altLang="zh-CN" dirty="0">
                <a:latin typeface="+mn-lt"/>
                <a:ea typeface="+mn-ea"/>
              </a:rPr>
              <a:t>T-SQL</a:t>
            </a:r>
            <a:r>
              <a:rPr lang="zh-CN" altLang="zh-CN" dirty="0">
                <a:latin typeface="+mn-lt"/>
                <a:ea typeface="+mn-ea"/>
              </a:rPr>
              <a:t>中可以定义</a:t>
            </a:r>
            <a:r>
              <a:rPr lang="en-US" altLang="zh-CN" dirty="0">
                <a:latin typeface="+mn-lt"/>
                <a:ea typeface="+mn-ea"/>
              </a:rPr>
              <a:t>BEGIN</a:t>
            </a:r>
            <a:r>
              <a:rPr lang="zh-CN" altLang="zh-CN" dirty="0">
                <a:latin typeface="+mn-lt"/>
                <a:ea typeface="+mn-ea"/>
              </a:rPr>
              <a:t>…</a:t>
            </a:r>
            <a:r>
              <a:rPr lang="en-US" altLang="zh-CN" dirty="0">
                <a:latin typeface="+mn-lt"/>
                <a:ea typeface="+mn-ea"/>
              </a:rPr>
              <a:t>END</a:t>
            </a:r>
            <a:r>
              <a:rPr lang="zh-CN" altLang="zh-CN" dirty="0">
                <a:latin typeface="+mn-lt"/>
                <a:ea typeface="+mn-ea"/>
              </a:rPr>
              <a:t>语句块。当要执行多条</a:t>
            </a:r>
            <a:r>
              <a:rPr lang="en-US" altLang="zh-CN" dirty="0">
                <a:latin typeface="+mn-lt"/>
                <a:ea typeface="+mn-ea"/>
              </a:rPr>
              <a:t>T-SQL</a:t>
            </a:r>
            <a:r>
              <a:rPr lang="zh-CN" altLang="zh-CN" dirty="0">
                <a:latin typeface="+mn-lt"/>
                <a:ea typeface="+mn-ea"/>
              </a:rPr>
              <a:t>语句时，就需要使用</a:t>
            </a:r>
            <a:r>
              <a:rPr lang="en-US" altLang="zh-CN" dirty="0">
                <a:latin typeface="+mn-lt"/>
                <a:ea typeface="+mn-ea"/>
              </a:rPr>
              <a:t>BEGIN</a:t>
            </a:r>
            <a:r>
              <a:rPr lang="zh-CN" altLang="zh-CN" dirty="0">
                <a:latin typeface="+mn-lt"/>
                <a:ea typeface="+mn-ea"/>
              </a:rPr>
              <a:t>…</a:t>
            </a:r>
            <a:r>
              <a:rPr lang="en-US" altLang="zh-CN" dirty="0">
                <a:latin typeface="+mn-lt"/>
                <a:ea typeface="+mn-ea"/>
              </a:rPr>
              <a:t>END</a:t>
            </a:r>
            <a:r>
              <a:rPr lang="zh-CN" altLang="zh-CN" dirty="0">
                <a:latin typeface="+mn-lt"/>
                <a:ea typeface="+mn-ea"/>
              </a:rPr>
              <a:t>将这些语句定义成一个语句块，作为一组语句来执行。语法格式如下：</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BEGIN</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 SQL</a:t>
            </a:r>
            <a:r>
              <a:rPr lang="zh-CN" altLang="zh-CN" dirty="0">
                <a:latin typeface="+mn-lt"/>
                <a:ea typeface="+mn-ea"/>
              </a:rPr>
              <a:t>语句</a:t>
            </a:r>
            <a:r>
              <a:rPr lang="en-US" altLang="zh-CN" dirty="0">
                <a:latin typeface="+mn-lt"/>
                <a:ea typeface="+mn-ea"/>
              </a:rPr>
              <a:t> | </a:t>
            </a:r>
            <a:r>
              <a:rPr lang="zh-CN" altLang="zh-CN" dirty="0">
                <a:latin typeface="+mn-lt"/>
                <a:ea typeface="+mn-ea"/>
              </a:rPr>
              <a:t>语句块</a:t>
            </a:r>
            <a:r>
              <a:rPr lang="en-US" altLang="zh-CN" dirty="0">
                <a:latin typeface="+mn-lt"/>
                <a:ea typeface="+mn-ea"/>
              </a:rPr>
              <a:t> }</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END</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关键字</a:t>
            </a:r>
            <a:r>
              <a:rPr lang="en-US" altLang="zh-CN" dirty="0">
                <a:latin typeface="+mn-lt"/>
                <a:ea typeface="+mn-ea"/>
              </a:rPr>
              <a:t>BEGIN</a:t>
            </a:r>
            <a:r>
              <a:rPr lang="zh-CN" altLang="zh-CN" dirty="0">
                <a:latin typeface="+mn-lt"/>
                <a:ea typeface="+mn-ea"/>
              </a:rPr>
              <a:t>是</a:t>
            </a:r>
            <a:r>
              <a:rPr lang="en-US" altLang="zh-CN" dirty="0">
                <a:latin typeface="+mn-lt"/>
                <a:ea typeface="+mn-ea"/>
              </a:rPr>
              <a:t>T-SQL</a:t>
            </a:r>
            <a:r>
              <a:rPr lang="zh-CN" altLang="zh-CN" dirty="0">
                <a:latin typeface="+mn-lt"/>
                <a:ea typeface="+mn-ea"/>
              </a:rPr>
              <a:t>语句块的起始位置，</a:t>
            </a:r>
            <a:r>
              <a:rPr lang="en-US" altLang="zh-CN" dirty="0">
                <a:latin typeface="+mn-lt"/>
                <a:ea typeface="+mn-ea"/>
              </a:rPr>
              <a:t>END</a:t>
            </a:r>
            <a:r>
              <a:rPr lang="zh-CN" altLang="zh-CN" dirty="0">
                <a:latin typeface="+mn-lt"/>
                <a:ea typeface="+mn-ea"/>
              </a:rPr>
              <a:t>标识同一个</a:t>
            </a:r>
            <a:r>
              <a:rPr lang="en-US" altLang="zh-CN" dirty="0">
                <a:latin typeface="+mn-lt"/>
                <a:ea typeface="+mn-ea"/>
              </a:rPr>
              <a:t>T-SQL</a:t>
            </a:r>
            <a:r>
              <a:rPr lang="zh-CN" altLang="zh-CN" dirty="0">
                <a:latin typeface="+mn-lt"/>
                <a:ea typeface="+mn-ea"/>
              </a:rPr>
              <a:t>语句块的结尾。“</a:t>
            </a:r>
            <a:r>
              <a:rPr lang="en-US" altLang="zh-CN" dirty="0">
                <a:latin typeface="+mn-lt"/>
                <a:ea typeface="+mn-ea"/>
              </a:rPr>
              <a:t>SQL</a:t>
            </a:r>
            <a:r>
              <a:rPr lang="zh-CN" altLang="zh-CN" dirty="0">
                <a:latin typeface="+mn-lt"/>
                <a:ea typeface="+mn-ea"/>
              </a:rPr>
              <a:t>语句”是语句块中的</a:t>
            </a:r>
            <a:r>
              <a:rPr lang="en-US" altLang="zh-CN" dirty="0">
                <a:latin typeface="+mn-lt"/>
                <a:ea typeface="+mn-ea"/>
              </a:rPr>
              <a:t>T-SQL</a:t>
            </a:r>
            <a:r>
              <a:rPr lang="zh-CN" altLang="zh-CN" dirty="0">
                <a:latin typeface="+mn-lt"/>
                <a:ea typeface="+mn-ea"/>
              </a:rPr>
              <a:t>语句。</a:t>
            </a:r>
            <a:r>
              <a:rPr lang="en-US" altLang="zh-CN" dirty="0">
                <a:latin typeface="+mn-lt"/>
                <a:ea typeface="+mn-ea"/>
              </a:rPr>
              <a:t>BEGIN</a:t>
            </a:r>
            <a:r>
              <a:rPr lang="zh-CN" altLang="zh-CN" dirty="0">
                <a:latin typeface="+mn-lt"/>
                <a:ea typeface="+mn-ea"/>
              </a:rPr>
              <a:t>…</a:t>
            </a:r>
            <a:r>
              <a:rPr lang="en-US" altLang="zh-CN" dirty="0">
                <a:latin typeface="+mn-lt"/>
                <a:ea typeface="+mn-ea"/>
              </a:rPr>
              <a:t>END</a:t>
            </a:r>
            <a:r>
              <a:rPr lang="zh-CN" altLang="zh-CN" dirty="0">
                <a:latin typeface="+mn-lt"/>
                <a:ea typeface="+mn-ea"/>
              </a:rPr>
              <a:t>可以嵌套使用，“语句块”表示使用</a:t>
            </a:r>
            <a:r>
              <a:rPr lang="en-US" altLang="zh-CN" dirty="0">
                <a:latin typeface="+mn-lt"/>
                <a:ea typeface="+mn-ea"/>
              </a:rPr>
              <a:t>BEGIN</a:t>
            </a:r>
            <a:r>
              <a:rPr lang="zh-CN" altLang="zh-CN" dirty="0">
                <a:latin typeface="+mn-lt"/>
                <a:ea typeface="+mn-ea"/>
              </a:rPr>
              <a:t>…</a:t>
            </a:r>
            <a:r>
              <a:rPr lang="en-US" altLang="zh-CN" dirty="0">
                <a:latin typeface="+mn-lt"/>
                <a:ea typeface="+mn-ea"/>
              </a:rPr>
              <a:t>END</a:t>
            </a:r>
            <a:r>
              <a:rPr lang="zh-CN" altLang="zh-CN" dirty="0">
                <a:latin typeface="+mn-lt"/>
                <a:ea typeface="+mn-ea"/>
              </a:rPr>
              <a:t>定义的另一个语句块。例如：</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USE </a:t>
            </a:r>
            <a:r>
              <a:rPr lang="en-US" altLang="zh-CN" dirty="0" err="1">
                <a:latin typeface="+mn-lt"/>
                <a:ea typeface="+mn-ea"/>
              </a:rPr>
              <a:t>pxscj</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BEGIN</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SELECT * FROM </a:t>
            </a:r>
            <a:r>
              <a:rPr lang="en-US" altLang="zh-CN" dirty="0" err="1">
                <a:latin typeface="+mn-lt"/>
                <a:ea typeface="+mn-ea"/>
              </a:rPr>
              <a:t>xsb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SELECT * FROM </a:t>
            </a:r>
            <a:r>
              <a:rPr lang="en-US" altLang="zh-CN" dirty="0" err="1">
                <a:latin typeface="+mn-lt"/>
                <a:ea typeface="+mn-ea"/>
              </a:rPr>
              <a:t>kcb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END</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wheel spokes="1"/>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3502025"/>
            <a:ext cx="7848600" cy="10080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276475"/>
            <a:ext cx="7848600" cy="10080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5.4.2  </a:t>
            </a:r>
            <a:r>
              <a:rPr lang="zh-CN" altLang="zh-CN" dirty="0">
                <a:effectLst/>
              </a:rPr>
              <a:t>条件语句：</a:t>
            </a:r>
            <a:r>
              <a:rPr lang="en-US" altLang="zh-CN" dirty="0">
                <a:effectLst/>
              </a:rPr>
              <a:t>IF</a:t>
            </a:r>
            <a:r>
              <a:rPr lang="zh-CN" altLang="zh-CN" dirty="0">
                <a:effectLst/>
              </a:rPr>
              <a:t>…</a:t>
            </a:r>
            <a:r>
              <a:rPr lang="en-US" altLang="zh-CN" dirty="0">
                <a:effectLst/>
              </a:rPr>
              <a:t>ELSE</a:t>
            </a:r>
            <a:endParaRPr lang="zh-CN" altLang="zh-CN" dirty="0">
              <a:effectLst/>
            </a:endParaRPr>
          </a:p>
        </p:txBody>
      </p:sp>
      <p:sp>
        <p:nvSpPr>
          <p:cNvPr id="45061" name="TextBox 2"/>
          <p:cNvSpPr txBox="1">
            <a:spLocks noChangeArrowheads="1"/>
          </p:cNvSpPr>
          <p:nvPr/>
        </p:nvSpPr>
        <p:spPr bwMode="auto">
          <a:xfrm>
            <a:off x="468313" y="1412875"/>
            <a:ext cx="8207375"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在程序中如果要对给定的条件进行判定，当条件为真或假时分别执行不同的</a:t>
            </a:r>
            <a:r>
              <a:rPr lang="en-US" altLang="zh-CN"/>
              <a:t>T-SQL</a:t>
            </a:r>
            <a:r>
              <a:rPr lang="zh-CN" altLang="zh-CN"/>
              <a:t>语句，可用</a:t>
            </a:r>
            <a:r>
              <a:rPr lang="en-US" altLang="zh-CN"/>
              <a:t>IF</a:t>
            </a:r>
            <a:r>
              <a:rPr lang="zh-CN" altLang="zh-CN"/>
              <a:t>…</a:t>
            </a:r>
            <a:r>
              <a:rPr lang="en-US" altLang="zh-CN"/>
              <a:t>ELSE</a:t>
            </a:r>
            <a:r>
              <a:rPr lang="zh-CN" altLang="zh-CN"/>
              <a:t>语句实现。</a:t>
            </a:r>
            <a:endParaRPr lang="zh-CN" altLang="zh-CN"/>
          </a:p>
          <a:p>
            <a:pPr eaLnBrk="1" fontAlgn="ctr" hangingPunct="1"/>
            <a:r>
              <a:rPr lang="zh-CN" altLang="zh-CN"/>
              <a:t>语法格式：</a:t>
            </a:r>
            <a:endParaRPr lang="zh-CN" altLang="zh-CN"/>
          </a:p>
          <a:p>
            <a:pPr eaLnBrk="1" hangingPunct="1"/>
            <a:r>
              <a:rPr lang="en-US" altLang="zh-CN" sz="1600"/>
              <a:t>IF</a:t>
            </a:r>
            <a:r>
              <a:rPr lang="zh-CN" altLang="zh-CN" sz="1600"/>
              <a:t>条件表达式</a:t>
            </a:r>
            <a:endParaRPr lang="zh-CN" altLang="zh-CN" sz="1600"/>
          </a:p>
          <a:p>
            <a:pPr eaLnBrk="1" hangingPunct="1"/>
            <a:r>
              <a:rPr lang="en-US" altLang="zh-CN" sz="1600"/>
              <a:t>     { SQL</a:t>
            </a:r>
            <a:r>
              <a:rPr lang="zh-CN" altLang="zh-CN" sz="1600"/>
              <a:t>语句</a:t>
            </a:r>
            <a:r>
              <a:rPr lang="en-US" altLang="zh-CN" sz="1600"/>
              <a:t> | </a:t>
            </a:r>
            <a:r>
              <a:rPr lang="zh-CN" altLang="zh-CN" sz="1600"/>
              <a:t>语句块</a:t>
            </a:r>
            <a:r>
              <a:rPr lang="en-US" altLang="zh-CN" sz="1600"/>
              <a:t> }				/*</a:t>
            </a:r>
            <a:r>
              <a:rPr lang="zh-CN" altLang="zh-CN" sz="1600"/>
              <a:t>条件表达式为真时执行</a:t>
            </a:r>
            <a:r>
              <a:rPr lang="en-US" altLang="zh-CN" sz="1600"/>
              <a:t>*/</a:t>
            </a:r>
            <a:endParaRPr lang="zh-CN" altLang="zh-CN" sz="1600"/>
          </a:p>
          <a:p>
            <a:pPr eaLnBrk="1" hangingPunct="1"/>
            <a:r>
              <a:rPr lang="en-US" altLang="zh-CN" sz="1600"/>
              <a:t>[ ELSE</a:t>
            </a:r>
            <a:endParaRPr lang="zh-CN" altLang="zh-CN" sz="1600"/>
          </a:p>
          <a:p>
            <a:pPr eaLnBrk="1" hangingPunct="1"/>
            <a:r>
              <a:rPr lang="en-US" altLang="zh-CN" sz="1600"/>
              <a:t>     { SQL</a:t>
            </a:r>
            <a:r>
              <a:rPr lang="zh-CN" altLang="zh-CN" sz="1600"/>
              <a:t>语句</a:t>
            </a:r>
            <a:r>
              <a:rPr lang="en-US" altLang="zh-CN" sz="1600"/>
              <a:t> | </a:t>
            </a:r>
            <a:r>
              <a:rPr lang="zh-CN" altLang="zh-CN" sz="1600"/>
              <a:t>语句块</a:t>
            </a:r>
            <a:r>
              <a:rPr lang="en-US" altLang="zh-CN" sz="1600"/>
              <a:t> } ]				/*</a:t>
            </a:r>
            <a:r>
              <a:rPr lang="zh-CN" altLang="zh-CN" sz="1600"/>
              <a:t>条件表达式为假时执行</a:t>
            </a:r>
            <a:r>
              <a:rPr lang="en-US" altLang="zh-CN" sz="1600"/>
              <a:t>*/</a:t>
            </a:r>
            <a:endParaRPr lang="zh-CN" altLang="zh-CN" sz="1600"/>
          </a:p>
          <a:p>
            <a:pPr eaLnBrk="1" fontAlgn="ctr" hangingPunct="1"/>
            <a:r>
              <a:rPr lang="zh-CN" altLang="zh-CN"/>
              <a:t>（</a:t>
            </a:r>
            <a:r>
              <a:rPr lang="en-US" altLang="zh-CN"/>
              <a:t>1</a:t>
            </a:r>
            <a:r>
              <a:rPr lang="zh-CN" altLang="zh-CN"/>
              <a:t>）带</a:t>
            </a:r>
            <a:r>
              <a:rPr lang="en-US" altLang="zh-CN"/>
              <a:t>ELSE</a:t>
            </a:r>
            <a:r>
              <a:rPr lang="zh-CN" altLang="zh-CN"/>
              <a:t>部分</a:t>
            </a:r>
            <a:endParaRPr lang="zh-CN" altLang="zh-CN"/>
          </a:p>
          <a:p>
            <a:pPr eaLnBrk="1" hangingPunct="1"/>
            <a:r>
              <a:rPr lang="en-US" altLang="zh-CN" sz="1600"/>
              <a:t>IF</a:t>
            </a:r>
            <a:r>
              <a:rPr lang="zh-CN" altLang="zh-CN" sz="1600"/>
              <a:t>条件表达式</a:t>
            </a:r>
            <a:endParaRPr lang="zh-CN" altLang="zh-CN" sz="1600"/>
          </a:p>
          <a:p>
            <a:pPr eaLnBrk="1" hangingPunct="1"/>
            <a:r>
              <a:rPr lang="en-US" altLang="zh-CN" sz="1600"/>
              <a:t>     A                	 					/* T-SQL</a:t>
            </a:r>
            <a:r>
              <a:rPr lang="zh-CN" altLang="zh-CN" sz="1600"/>
              <a:t>语句或语句块</a:t>
            </a:r>
            <a:r>
              <a:rPr lang="en-US" altLang="zh-CN" sz="1600"/>
              <a:t>*/</a:t>
            </a:r>
            <a:endParaRPr lang="zh-CN" altLang="zh-CN" sz="1600"/>
          </a:p>
          <a:p>
            <a:pPr eaLnBrk="1" hangingPunct="1"/>
            <a:r>
              <a:rPr lang="en-US" altLang="zh-CN" sz="1600"/>
              <a:t>ELSE</a:t>
            </a:r>
            <a:endParaRPr lang="zh-CN" altLang="zh-CN" sz="1600"/>
          </a:p>
          <a:p>
            <a:pPr eaLnBrk="1" hangingPunct="1"/>
            <a:r>
              <a:rPr lang="en-US" altLang="zh-CN" sz="1600"/>
              <a:t>     B                 					/*T-SQL</a:t>
            </a:r>
            <a:r>
              <a:rPr lang="zh-CN" altLang="zh-CN" sz="1600"/>
              <a:t>语句或语句块</a:t>
            </a:r>
            <a:r>
              <a:rPr lang="en-US" altLang="zh-CN" sz="1600"/>
              <a:t>*/</a:t>
            </a:r>
            <a:endParaRPr lang="zh-CN" altLang="zh-CN" sz="1600"/>
          </a:p>
          <a:p>
            <a:pPr eaLnBrk="1" fontAlgn="ctr" hangingPunct="1"/>
            <a:r>
              <a:rPr lang="zh-CN" altLang="zh-CN"/>
              <a:t>当条件表达式的值为真时执行</a:t>
            </a:r>
            <a:r>
              <a:rPr lang="en-US" altLang="zh-CN"/>
              <a:t>A</a:t>
            </a:r>
            <a:r>
              <a:rPr lang="zh-CN" altLang="zh-CN"/>
              <a:t>，然后执行</a:t>
            </a:r>
            <a:r>
              <a:rPr lang="en-US" altLang="zh-CN"/>
              <a:t>IF</a:t>
            </a:r>
            <a:r>
              <a:rPr lang="zh-CN" altLang="zh-CN"/>
              <a:t>语句的下一语句；条件表达式的值为假时执行</a:t>
            </a:r>
            <a:r>
              <a:rPr lang="en-US" altLang="zh-CN"/>
              <a:t>B</a:t>
            </a:r>
            <a:r>
              <a:rPr lang="zh-CN" altLang="zh-CN"/>
              <a:t>，然后执行</a:t>
            </a:r>
            <a:r>
              <a:rPr lang="en-US" altLang="zh-CN"/>
              <a:t>IF</a:t>
            </a:r>
            <a:r>
              <a:rPr lang="zh-CN" altLang="zh-CN"/>
              <a:t>语句的下一语句。</a:t>
            </a:r>
            <a:endParaRPr lang="zh-CN" altLang="zh-CN"/>
          </a:p>
          <a:p>
            <a:pPr eaLnBrk="1" hangingPunct="1"/>
            <a:endParaRPr lang="zh-CN" altLang="en-US"/>
          </a:p>
        </p:txBody>
      </p:sp>
    </p:spTree>
  </p:cSld>
  <p:clrMapOvr>
    <a:masterClrMapping/>
  </p:clrMapOvr>
  <p:transition spd="slow">
    <p:pull/>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1844675"/>
            <a:ext cx="7775575" cy="5762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5.4.2  </a:t>
            </a:r>
            <a:r>
              <a:rPr lang="zh-CN" altLang="zh-CN" dirty="0">
                <a:effectLst/>
              </a:rPr>
              <a:t>条件语句：</a:t>
            </a:r>
            <a:r>
              <a:rPr lang="en-US" altLang="zh-CN" dirty="0">
                <a:effectLst/>
              </a:rPr>
              <a:t>IF</a:t>
            </a:r>
            <a:r>
              <a:rPr lang="zh-CN" altLang="zh-CN" dirty="0">
                <a:effectLst/>
              </a:rPr>
              <a:t>…</a:t>
            </a:r>
            <a:r>
              <a:rPr lang="en-US" altLang="zh-CN" dirty="0">
                <a:effectLst/>
              </a:rPr>
              <a:t>ELSE</a:t>
            </a:r>
            <a:endParaRPr lang="zh-CN" altLang="en-US" dirty="0"/>
          </a:p>
        </p:txBody>
      </p:sp>
      <p:sp>
        <p:nvSpPr>
          <p:cNvPr id="46084" name="TextBox 2"/>
          <p:cNvSpPr txBox="1">
            <a:spLocks noChangeArrowheads="1"/>
          </p:cNvSpPr>
          <p:nvPr/>
        </p:nvSpPr>
        <p:spPr bwMode="auto">
          <a:xfrm>
            <a:off x="468313" y="1557338"/>
            <a:ext cx="8207375" cy="203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a:t>
            </a:r>
            <a:r>
              <a:rPr lang="en-US" altLang="zh-CN"/>
              <a:t>2</a:t>
            </a:r>
            <a:r>
              <a:rPr lang="zh-CN" altLang="zh-CN"/>
              <a:t>）不带</a:t>
            </a:r>
            <a:r>
              <a:rPr lang="en-US" altLang="zh-CN"/>
              <a:t>ELSE</a:t>
            </a:r>
            <a:r>
              <a:rPr lang="zh-CN" altLang="zh-CN"/>
              <a:t>部分</a:t>
            </a:r>
            <a:endParaRPr lang="zh-CN" altLang="zh-CN"/>
          </a:p>
          <a:p>
            <a:pPr eaLnBrk="1" hangingPunct="1"/>
            <a:r>
              <a:rPr lang="en-US" altLang="zh-CN"/>
              <a:t>IF</a:t>
            </a:r>
            <a:r>
              <a:rPr lang="zh-CN" altLang="zh-CN"/>
              <a:t>条件表达式</a:t>
            </a:r>
            <a:endParaRPr lang="zh-CN" altLang="zh-CN"/>
          </a:p>
          <a:p>
            <a:pPr eaLnBrk="1" hangingPunct="1"/>
            <a:r>
              <a:rPr lang="en-US" altLang="zh-CN"/>
              <a:t>          A              		 		/*T-SQL</a:t>
            </a:r>
            <a:r>
              <a:rPr lang="zh-CN" altLang="zh-CN"/>
              <a:t>语句或语句块</a:t>
            </a:r>
            <a:r>
              <a:rPr lang="en-US" altLang="zh-CN"/>
              <a:t>*/</a:t>
            </a:r>
            <a:endParaRPr lang="zh-CN" altLang="zh-CN"/>
          </a:p>
          <a:p>
            <a:pPr eaLnBrk="1" fontAlgn="ctr" hangingPunct="1"/>
            <a:r>
              <a:rPr lang="zh-CN" altLang="zh-CN"/>
              <a:t>当条件表达式的值为真时执行</a:t>
            </a:r>
            <a:r>
              <a:rPr lang="en-US" altLang="zh-CN"/>
              <a:t>A</a:t>
            </a:r>
            <a:r>
              <a:rPr lang="zh-CN" altLang="zh-CN"/>
              <a:t>，然后执行</a:t>
            </a:r>
            <a:r>
              <a:rPr lang="en-US" altLang="zh-CN"/>
              <a:t>IF</a:t>
            </a:r>
            <a:r>
              <a:rPr lang="zh-CN" altLang="zh-CN"/>
              <a:t>语句的下一条语句；当条件表达式的值为假时直接执行</a:t>
            </a:r>
            <a:r>
              <a:rPr lang="en-US" altLang="zh-CN"/>
              <a:t>IF</a:t>
            </a:r>
            <a:r>
              <a:rPr lang="zh-CN" altLang="zh-CN"/>
              <a:t>语句的下一条语句。</a:t>
            </a:r>
            <a:endParaRPr lang="zh-CN" altLang="zh-CN"/>
          </a:p>
          <a:p>
            <a:pPr eaLnBrk="1" fontAlgn="ctr" hangingPunct="1"/>
            <a:r>
              <a:rPr lang="en-US" altLang="zh-CN"/>
              <a:t>IF</a:t>
            </a:r>
            <a:r>
              <a:rPr lang="zh-CN" altLang="zh-CN"/>
              <a:t>语句的执行流程如图</a:t>
            </a:r>
            <a:r>
              <a:rPr lang="en-US" altLang="zh-CN"/>
              <a:t>5.9</a:t>
            </a:r>
            <a:r>
              <a:rPr lang="zh-CN" altLang="zh-CN"/>
              <a:t>所示。</a:t>
            </a:r>
            <a:endParaRPr lang="zh-CN" altLang="zh-CN"/>
          </a:p>
          <a:p>
            <a:pPr eaLnBrk="1" hangingPunct="1"/>
            <a:endParaRPr lang="zh-CN" altLang="en-US"/>
          </a:p>
        </p:txBody>
      </p:sp>
      <p:pic>
        <p:nvPicPr>
          <p:cNvPr id="46085" name="Picture 2" descr="5-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339975" y="3357563"/>
            <a:ext cx="4895850" cy="219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heel spokes="1"/>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71550" y="2133600"/>
            <a:ext cx="7704138" cy="30241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5.4.2  </a:t>
            </a:r>
            <a:r>
              <a:rPr lang="zh-CN" altLang="zh-CN" dirty="0">
                <a:effectLst/>
              </a:rPr>
              <a:t>条件语句：</a:t>
            </a:r>
            <a:r>
              <a:rPr lang="en-US" altLang="zh-CN" dirty="0">
                <a:effectLst/>
              </a:rPr>
              <a:t>IF</a:t>
            </a:r>
            <a:r>
              <a:rPr lang="zh-CN" altLang="zh-CN" dirty="0">
                <a:effectLst/>
              </a:rPr>
              <a:t>…</a:t>
            </a:r>
            <a:r>
              <a:rPr lang="en-US" altLang="zh-CN" dirty="0">
                <a:effectLst/>
              </a:rPr>
              <a:t>ELSE</a:t>
            </a:r>
            <a:endParaRPr lang="zh-CN" altLang="en-US" dirty="0"/>
          </a:p>
        </p:txBody>
      </p:sp>
      <p:sp>
        <p:nvSpPr>
          <p:cNvPr id="47108" name="TextBox 2"/>
          <p:cNvSpPr txBox="1">
            <a:spLocks noChangeArrowheads="1"/>
          </p:cNvSpPr>
          <p:nvPr/>
        </p:nvSpPr>
        <p:spPr bwMode="auto">
          <a:xfrm>
            <a:off x="468313" y="1484313"/>
            <a:ext cx="8207375"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397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5.17</a:t>
            </a:r>
            <a:r>
              <a:rPr lang="zh-CN" altLang="zh-CN"/>
              <a:t>】 如果“计算机基础”课程的平均成绩高于</a:t>
            </a:r>
            <a:r>
              <a:rPr lang="en-US" altLang="zh-CN"/>
              <a:t>75</a:t>
            </a:r>
            <a:r>
              <a:rPr lang="zh-CN" altLang="zh-CN"/>
              <a:t>分，则显示“平均成绩高于</a:t>
            </a:r>
            <a:r>
              <a:rPr lang="en-US" altLang="zh-CN"/>
              <a:t>75</a:t>
            </a:r>
            <a:r>
              <a:rPr lang="zh-CN" altLang="zh-CN"/>
              <a:t>分”。</a:t>
            </a:r>
            <a:endParaRPr lang="zh-CN" altLang="zh-CN"/>
          </a:p>
          <a:p>
            <a:pPr eaLnBrk="1" hangingPunct="1"/>
            <a:r>
              <a:rPr lang="en-US" altLang="zh-CN"/>
              <a:t>IF</a:t>
            </a:r>
            <a:endParaRPr lang="zh-CN" altLang="zh-CN"/>
          </a:p>
          <a:p>
            <a:pPr eaLnBrk="1" hangingPunct="1"/>
            <a:r>
              <a:rPr lang="en-US" altLang="zh-CN"/>
              <a:t>( 	</a:t>
            </a:r>
            <a:endParaRPr lang="zh-CN" altLang="zh-CN"/>
          </a:p>
          <a:p>
            <a:pPr eaLnBrk="1" hangingPunct="1"/>
            <a:r>
              <a:rPr lang="en-US" altLang="zh-CN"/>
              <a:t>     SELECT  AVG(</a:t>
            </a:r>
            <a:r>
              <a:rPr lang="zh-CN" altLang="zh-CN"/>
              <a:t>成绩</a:t>
            </a:r>
            <a:r>
              <a:rPr lang="en-US" altLang="zh-CN"/>
              <a:t>) </a:t>
            </a:r>
            <a:endParaRPr lang="zh-CN" altLang="zh-CN"/>
          </a:p>
          <a:p>
            <a:pPr eaLnBrk="1" hangingPunct="1"/>
            <a:r>
              <a:rPr lang="en-US" altLang="zh-CN"/>
              <a:t>          FROM   xsb, cjb, kcb</a:t>
            </a:r>
            <a:endParaRPr lang="zh-CN" altLang="zh-CN"/>
          </a:p>
          <a:p>
            <a:pPr eaLnBrk="1" hangingPunct="1"/>
            <a:r>
              <a:rPr lang="en-US" altLang="zh-CN"/>
              <a:t>          WHERE  xsb.</a:t>
            </a:r>
            <a:r>
              <a:rPr lang="zh-CN" altLang="zh-CN"/>
              <a:t>学号</a:t>
            </a:r>
            <a:r>
              <a:rPr lang="en-US" altLang="zh-CN"/>
              <a:t>= cjb.</a:t>
            </a:r>
            <a:r>
              <a:rPr lang="zh-CN" altLang="zh-CN"/>
              <a:t>学号</a:t>
            </a:r>
            <a:r>
              <a:rPr lang="en-US" altLang="zh-CN"/>
              <a:t> </a:t>
            </a:r>
            <a:endParaRPr lang="zh-CN" altLang="zh-CN"/>
          </a:p>
          <a:p>
            <a:pPr eaLnBrk="1" hangingPunct="1"/>
            <a:r>
              <a:rPr lang="en-US" altLang="zh-CN"/>
              <a:t>               AND  cjb.</a:t>
            </a:r>
            <a:r>
              <a:rPr lang="zh-CN" altLang="zh-CN"/>
              <a:t>课程号</a:t>
            </a:r>
            <a:r>
              <a:rPr lang="en-US" altLang="zh-CN"/>
              <a:t>=kcb.</a:t>
            </a:r>
            <a:r>
              <a:rPr lang="zh-CN" altLang="zh-CN"/>
              <a:t>课程号</a:t>
            </a:r>
            <a:endParaRPr lang="zh-CN" altLang="zh-CN"/>
          </a:p>
          <a:p>
            <a:pPr eaLnBrk="1" hangingPunct="1"/>
            <a:r>
              <a:rPr lang="en-US" altLang="zh-CN"/>
              <a:t>               AND  kcb.</a:t>
            </a:r>
            <a:r>
              <a:rPr lang="zh-CN" altLang="zh-CN"/>
              <a:t>课程名</a:t>
            </a:r>
            <a:r>
              <a:rPr lang="en-US" altLang="zh-CN"/>
              <a:t>='</a:t>
            </a:r>
            <a:r>
              <a:rPr lang="zh-CN" altLang="zh-CN"/>
              <a:t>计算机基础</a:t>
            </a:r>
            <a:r>
              <a:rPr lang="en-US" altLang="zh-CN"/>
              <a:t>' </a:t>
            </a:r>
            <a:endParaRPr lang="zh-CN" altLang="zh-CN"/>
          </a:p>
          <a:p>
            <a:pPr eaLnBrk="1" hangingPunct="1"/>
            <a:r>
              <a:rPr lang="en-US" altLang="zh-CN"/>
              <a:t>) &lt;75</a:t>
            </a:r>
            <a:endParaRPr lang="zh-CN" altLang="zh-CN"/>
          </a:p>
          <a:p>
            <a:pPr eaLnBrk="1" hangingPunct="1"/>
            <a:r>
              <a:rPr lang="en-US" altLang="zh-CN"/>
              <a:t>     SELECT  '</a:t>
            </a:r>
            <a:r>
              <a:rPr lang="zh-CN" altLang="zh-CN"/>
              <a:t>平均成绩低于</a:t>
            </a:r>
            <a:r>
              <a:rPr lang="en-US" altLang="zh-CN"/>
              <a:t>75'</a:t>
            </a:r>
            <a:endParaRPr lang="zh-CN" altLang="zh-CN"/>
          </a:p>
          <a:p>
            <a:pPr eaLnBrk="1" hangingPunct="1"/>
            <a:r>
              <a:rPr lang="en-US" altLang="zh-CN"/>
              <a:t>ELSE</a:t>
            </a:r>
            <a:endParaRPr lang="zh-CN" altLang="zh-CN"/>
          </a:p>
          <a:p>
            <a:pPr eaLnBrk="1" hangingPunct="1"/>
            <a:r>
              <a:rPr lang="en-US" altLang="zh-CN"/>
              <a:t>     SELECT '</a:t>
            </a:r>
            <a:r>
              <a:rPr lang="zh-CN" altLang="zh-CN"/>
              <a:t>平均成绩高于</a:t>
            </a:r>
            <a:r>
              <a:rPr lang="en-US" altLang="zh-CN"/>
              <a:t>75'</a:t>
            </a:r>
            <a:endParaRPr lang="zh-CN" altLang="zh-CN"/>
          </a:p>
          <a:p>
            <a:pPr eaLnBrk="1" hangingPunct="1"/>
            <a:endParaRPr lang="zh-CN" altLang="en-US"/>
          </a:p>
        </p:txBody>
      </p:sp>
    </p:spTree>
  </p:cSld>
  <p:clrMapOvr>
    <a:masterClrMapping/>
  </p:clrMapOvr>
  <p:transition spd="slow">
    <p:pull/>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55650" y="1700213"/>
            <a:ext cx="7993063" cy="47529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5.4.2  </a:t>
            </a:r>
            <a:r>
              <a:rPr lang="zh-CN" altLang="zh-CN" dirty="0">
                <a:effectLst/>
              </a:rPr>
              <a:t>条件语句：</a:t>
            </a:r>
            <a:r>
              <a:rPr lang="en-US" altLang="zh-CN" dirty="0">
                <a:effectLst/>
              </a:rPr>
              <a:t>IF</a:t>
            </a:r>
            <a:r>
              <a:rPr lang="zh-CN" altLang="zh-CN" dirty="0">
                <a:effectLst/>
              </a:rPr>
              <a:t>…</a:t>
            </a:r>
            <a:r>
              <a:rPr lang="en-US" altLang="zh-CN" dirty="0">
                <a:effectLst/>
              </a:rPr>
              <a:t>ELSE</a:t>
            </a:r>
            <a:endParaRPr lang="zh-CN" altLang="en-US" dirty="0"/>
          </a:p>
        </p:txBody>
      </p:sp>
      <p:sp>
        <p:nvSpPr>
          <p:cNvPr id="48132" name="TextBox 2"/>
          <p:cNvSpPr txBox="1">
            <a:spLocks noChangeArrowheads="1"/>
          </p:cNvSpPr>
          <p:nvPr/>
        </p:nvSpPr>
        <p:spPr bwMode="auto">
          <a:xfrm>
            <a:off x="395288" y="1412875"/>
            <a:ext cx="8353425" cy="535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5.18</a:t>
            </a:r>
            <a:r>
              <a:rPr lang="zh-CN" altLang="zh-CN"/>
              <a:t>】</a:t>
            </a:r>
            <a:r>
              <a:rPr lang="en-US" altLang="zh-CN"/>
              <a:t> IF</a:t>
            </a:r>
            <a:r>
              <a:rPr lang="zh-CN" altLang="zh-CN"/>
              <a:t>…</a:t>
            </a:r>
            <a:r>
              <a:rPr lang="en-US" altLang="zh-CN"/>
              <a:t>ELSE</a:t>
            </a:r>
            <a:r>
              <a:rPr lang="zh-CN" altLang="zh-CN"/>
              <a:t>语句的嵌套使用。</a:t>
            </a:r>
            <a:endParaRPr lang="zh-CN" altLang="zh-CN"/>
          </a:p>
          <a:p>
            <a:pPr eaLnBrk="1" hangingPunct="1"/>
            <a:r>
              <a:rPr lang="en-US" altLang="zh-CN"/>
              <a:t>IF</a:t>
            </a:r>
            <a:endParaRPr lang="zh-CN" altLang="zh-CN"/>
          </a:p>
          <a:p>
            <a:pPr eaLnBrk="1" hangingPunct="1"/>
            <a:r>
              <a:rPr lang="en-US" altLang="zh-CN"/>
              <a:t>(     SELECT  AVG(</a:t>
            </a:r>
            <a:r>
              <a:rPr lang="zh-CN" altLang="zh-CN"/>
              <a:t>成绩</a:t>
            </a:r>
            <a:r>
              <a:rPr lang="en-US" altLang="zh-CN"/>
              <a:t>) </a:t>
            </a:r>
            <a:endParaRPr lang="zh-CN" altLang="zh-CN"/>
          </a:p>
          <a:p>
            <a:pPr eaLnBrk="1" hangingPunct="1"/>
            <a:r>
              <a:rPr lang="en-US" altLang="zh-CN"/>
              <a:t>          FROM   xsb, cjb, kcb</a:t>
            </a:r>
            <a:endParaRPr lang="zh-CN" altLang="zh-CN"/>
          </a:p>
          <a:p>
            <a:pPr eaLnBrk="1" hangingPunct="1"/>
            <a:r>
              <a:rPr lang="en-US" altLang="zh-CN"/>
              <a:t>          WHERE  xsb.</a:t>
            </a:r>
            <a:r>
              <a:rPr lang="zh-CN" altLang="zh-CN"/>
              <a:t>学号</a:t>
            </a:r>
            <a:r>
              <a:rPr lang="en-US" altLang="zh-CN"/>
              <a:t>= cjb.</a:t>
            </a:r>
            <a:r>
              <a:rPr lang="zh-CN" altLang="zh-CN"/>
              <a:t>学号</a:t>
            </a:r>
            <a:r>
              <a:rPr lang="en-US" altLang="zh-CN"/>
              <a:t>  </a:t>
            </a:r>
            <a:endParaRPr lang="zh-CN" altLang="zh-CN"/>
          </a:p>
          <a:p>
            <a:pPr eaLnBrk="1" hangingPunct="1"/>
            <a:r>
              <a:rPr lang="en-US" altLang="zh-CN"/>
              <a:t>                         AND  cjb.</a:t>
            </a:r>
            <a:r>
              <a:rPr lang="zh-CN" altLang="zh-CN"/>
              <a:t>课程号</a:t>
            </a:r>
            <a:r>
              <a:rPr lang="en-US" altLang="zh-CN"/>
              <a:t>=kcb.</a:t>
            </a:r>
            <a:r>
              <a:rPr lang="zh-CN" altLang="zh-CN"/>
              <a:t>课程号</a:t>
            </a:r>
            <a:endParaRPr lang="zh-CN" altLang="zh-CN"/>
          </a:p>
          <a:p>
            <a:pPr eaLnBrk="1" hangingPunct="1"/>
            <a:r>
              <a:rPr lang="en-US" altLang="zh-CN"/>
              <a:t>                         AND  kcb.</a:t>
            </a:r>
            <a:r>
              <a:rPr lang="zh-CN" altLang="zh-CN"/>
              <a:t>课程名</a:t>
            </a:r>
            <a:r>
              <a:rPr lang="en-US" altLang="zh-CN"/>
              <a:t>='</a:t>
            </a:r>
            <a:r>
              <a:rPr lang="zh-CN" altLang="zh-CN"/>
              <a:t>计算机基础</a:t>
            </a:r>
            <a:r>
              <a:rPr lang="en-US" altLang="zh-CN"/>
              <a:t>'  </a:t>
            </a:r>
            <a:endParaRPr lang="zh-CN" altLang="zh-CN"/>
          </a:p>
          <a:p>
            <a:pPr eaLnBrk="1" hangingPunct="1"/>
            <a:r>
              <a:rPr lang="en-US" altLang="zh-CN"/>
              <a:t>) &lt;75</a:t>
            </a:r>
            <a:endParaRPr lang="zh-CN" altLang="zh-CN"/>
          </a:p>
          <a:p>
            <a:pPr eaLnBrk="1" hangingPunct="1"/>
            <a:r>
              <a:rPr lang="en-US" altLang="zh-CN"/>
              <a:t>     SELECT  '</a:t>
            </a:r>
            <a:r>
              <a:rPr lang="zh-CN" altLang="zh-CN"/>
              <a:t>平均成绩低于</a:t>
            </a:r>
            <a:r>
              <a:rPr lang="en-US" altLang="zh-CN"/>
              <a:t>75'</a:t>
            </a:r>
            <a:endParaRPr lang="zh-CN" altLang="zh-CN"/>
          </a:p>
          <a:p>
            <a:pPr eaLnBrk="1" hangingPunct="1"/>
            <a:r>
              <a:rPr lang="en-US" altLang="zh-CN"/>
              <a:t>ELSE</a:t>
            </a:r>
            <a:endParaRPr lang="zh-CN" altLang="zh-CN"/>
          </a:p>
          <a:p>
            <a:pPr eaLnBrk="1" hangingPunct="1"/>
            <a:r>
              <a:rPr lang="en-US" altLang="zh-CN"/>
              <a:t>     IF</a:t>
            </a:r>
            <a:endParaRPr lang="zh-CN" altLang="zh-CN"/>
          </a:p>
          <a:p>
            <a:pPr eaLnBrk="1" hangingPunct="1"/>
            <a:r>
              <a:rPr lang="en-US" altLang="zh-CN"/>
              <a:t>      (     SELECT  AVG(</a:t>
            </a:r>
            <a:r>
              <a:rPr lang="zh-CN" altLang="zh-CN"/>
              <a:t>成绩</a:t>
            </a:r>
            <a:r>
              <a:rPr lang="en-US" altLang="zh-CN"/>
              <a:t>) </a:t>
            </a:r>
            <a:endParaRPr lang="zh-CN" altLang="zh-CN"/>
          </a:p>
          <a:p>
            <a:pPr eaLnBrk="1" hangingPunct="1"/>
            <a:r>
              <a:rPr lang="en-US" altLang="zh-CN"/>
              <a:t>               FROM   xsb, cjb, kcb</a:t>
            </a:r>
            <a:endParaRPr lang="zh-CN" altLang="zh-CN"/>
          </a:p>
          <a:p>
            <a:pPr eaLnBrk="1" hangingPunct="1"/>
            <a:r>
              <a:rPr lang="en-US" altLang="zh-CN"/>
              <a:t>               WHERE  xsb.</a:t>
            </a:r>
            <a:r>
              <a:rPr lang="zh-CN" altLang="zh-CN"/>
              <a:t>学号</a:t>
            </a:r>
            <a:r>
              <a:rPr lang="en-US" altLang="zh-CN"/>
              <a:t>= cjb.</a:t>
            </a:r>
            <a:r>
              <a:rPr lang="zh-CN" altLang="zh-CN"/>
              <a:t>学号</a:t>
            </a:r>
            <a:r>
              <a:rPr lang="en-US" altLang="zh-CN"/>
              <a:t> </a:t>
            </a:r>
            <a:endParaRPr lang="zh-CN" altLang="zh-CN"/>
          </a:p>
          <a:p>
            <a:pPr eaLnBrk="1" hangingPunct="1"/>
            <a:r>
              <a:rPr lang="en-US" altLang="zh-CN"/>
              <a:t>                         AND  cjb.</a:t>
            </a:r>
            <a:r>
              <a:rPr lang="zh-CN" altLang="zh-CN"/>
              <a:t>课程号</a:t>
            </a:r>
            <a:r>
              <a:rPr lang="en-US" altLang="zh-CN"/>
              <a:t>=kcb.</a:t>
            </a:r>
            <a:r>
              <a:rPr lang="zh-CN" altLang="zh-CN"/>
              <a:t>课程号</a:t>
            </a:r>
            <a:endParaRPr lang="zh-CN" altLang="zh-CN"/>
          </a:p>
          <a:p>
            <a:pPr eaLnBrk="1" hangingPunct="1"/>
            <a:r>
              <a:rPr lang="en-US" altLang="zh-CN"/>
              <a:t>                         AND  kcb.</a:t>
            </a:r>
            <a:r>
              <a:rPr lang="zh-CN" altLang="zh-CN"/>
              <a:t>课程名</a:t>
            </a:r>
            <a:r>
              <a:rPr lang="en-US" altLang="zh-CN"/>
              <a:t>='</a:t>
            </a:r>
            <a:r>
              <a:rPr lang="zh-CN" altLang="zh-CN"/>
              <a:t>计算机基础</a:t>
            </a:r>
            <a:r>
              <a:rPr lang="en-US" altLang="zh-CN"/>
              <a:t>'</a:t>
            </a:r>
            <a:endParaRPr lang="zh-CN" altLang="zh-CN"/>
          </a:p>
          <a:p>
            <a:pPr eaLnBrk="1" hangingPunct="1"/>
            <a:r>
              <a:rPr lang="en-US" altLang="zh-CN"/>
              <a:t>     ) &gt;75</a:t>
            </a:r>
            <a:endParaRPr lang="zh-CN" altLang="zh-CN"/>
          </a:p>
          <a:p>
            <a:pPr eaLnBrk="1" hangingPunct="1"/>
            <a:r>
              <a:rPr lang="en-US" altLang="zh-CN"/>
              <a:t>          SELECT  '</a:t>
            </a:r>
            <a:r>
              <a:rPr lang="zh-CN" altLang="zh-CN"/>
              <a:t>平均成绩高于</a:t>
            </a:r>
            <a:r>
              <a:rPr lang="en-US" altLang="zh-CN"/>
              <a:t>75'</a:t>
            </a:r>
            <a:endParaRPr lang="zh-CN" altLang="zh-CN"/>
          </a:p>
          <a:p>
            <a:pPr eaLnBrk="1" hangingPunct="1"/>
            <a:endParaRPr lang="zh-CN" altLang="en-US"/>
          </a:p>
        </p:txBody>
      </p:sp>
    </p:spTree>
  </p:cSld>
  <p:clrMapOvr>
    <a:masterClrMapping/>
  </p:clrMapOvr>
  <p:transition spd="slow">
    <p:blinds dir="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3644900"/>
            <a:ext cx="7848600" cy="12239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133600"/>
            <a:ext cx="7848600" cy="1254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5.4.3  </a:t>
            </a:r>
            <a:r>
              <a:rPr lang="zh-CN" altLang="zh-CN" dirty="0">
                <a:effectLst/>
              </a:rPr>
              <a:t>多重分支：</a:t>
            </a:r>
            <a:r>
              <a:rPr lang="en-US" altLang="zh-CN" dirty="0">
                <a:effectLst/>
              </a:rPr>
              <a:t>CASE</a:t>
            </a:r>
            <a:endParaRPr lang="zh-CN" altLang="zh-CN" dirty="0">
              <a:effectLst/>
            </a:endParaRPr>
          </a:p>
        </p:txBody>
      </p:sp>
      <p:sp>
        <p:nvSpPr>
          <p:cNvPr id="3" name="TextBox 2"/>
          <p:cNvSpPr txBox="1"/>
          <p:nvPr/>
        </p:nvSpPr>
        <p:spPr>
          <a:xfrm>
            <a:off x="468313" y="1557338"/>
            <a:ext cx="8207375" cy="5046662"/>
          </a:xfrm>
          <a:prstGeom prst="rect">
            <a:avLst/>
          </a:prstGeom>
          <a:noFill/>
        </p:spPr>
        <p:txBody>
          <a:bodyPr>
            <a:spAutoFit/>
          </a:bodyPr>
          <a:lstStyle/>
          <a:p>
            <a:pPr indent="446405" fontAlgn="ctr">
              <a:spcBef>
                <a:spcPts val="0"/>
              </a:spcBef>
              <a:spcAft>
                <a:spcPts val="0"/>
              </a:spcAft>
              <a:defRPr/>
            </a:pPr>
            <a:r>
              <a:rPr lang="en-US" altLang="zh-CN" dirty="0">
                <a:latin typeface="+mn-lt"/>
                <a:ea typeface="+mn-ea"/>
              </a:rPr>
              <a:t>CASE</a:t>
            </a:r>
            <a:r>
              <a:rPr lang="zh-CN" altLang="zh-CN" dirty="0">
                <a:latin typeface="+mn-lt"/>
                <a:ea typeface="+mn-ea"/>
              </a:rPr>
              <a:t>语句可进行流程控制，可根据多重条件分支。</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语法格式：</a:t>
            </a:r>
            <a:endParaRPr lang="zh-CN" altLang="zh-CN" dirty="0">
              <a:latin typeface="+mn-lt"/>
              <a:ea typeface="+mn-ea"/>
            </a:endParaRPr>
          </a:p>
          <a:p>
            <a:pPr indent="446405" fontAlgn="auto">
              <a:spcBef>
                <a:spcPts val="0"/>
              </a:spcBef>
              <a:spcAft>
                <a:spcPts val="0"/>
              </a:spcAft>
              <a:defRPr/>
            </a:pPr>
            <a:r>
              <a:rPr lang="en-US" altLang="zh-CN" sz="1600" dirty="0">
                <a:latin typeface="+mn-lt"/>
                <a:ea typeface="+mn-ea"/>
              </a:rPr>
              <a:t>CASE</a:t>
            </a:r>
            <a:r>
              <a:rPr lang="zh-CN" altLang="zh-CN" sz="1600" dirty="0">
                <a:latin typeface="+mn-lt"/>
                <a:ea typeface="+mn-ea"/>
              </a:rPr>
              <a:t>输入表达式</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WHEN</a:t>
            </a:r>
            <a:r>
              <a:rPr lang="zh-CN" altLang="zh-CN" sz="1600" dirty="0">
                <a:latin typeface="+mn-lt"/>
                <a:ea typeface="+mn-ea"/>
              </a:rPr>
              <a:t>表达式</a:t>
            </a:r>
            <a:r>
              <a:rPr lang="en-US" altLang="zh-CN" sz="1600" dirty="0">
                <a:latin typeface="+mn-lt"/>
                <a:ea typeface="+mn-ea"/>
              </a:rPr>
              <a:t>THEN</a:t>
            </a:r>
            <a:r>
              <a:rPr lang="zh-CN" altLang="zh-CN" sz="1600" dirty="0">
                <a:latin typeface="+mn-lt"/>
                <a:ea typeface="+mn-ea"/>
              </a:rPr>
              <a:t>结果表达式</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 ... ]</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 ELSE</a:t>
            </a:r>
            <a:r>
              <a:rPr lang="zh-CN" altLang="zh-CN" sz="1600" dirty="0">
                <a:latin typeface="+mn-lt"/>
                <a:ea typeface="+mn-ea"/>
              </a:rPr>
              <a:t>结果表达式</a:t>
            </a:r>
            <a:r>
              <a:rPr lang="en-US" altLang="zh-CN" sz="1600" dirty="0">
                <a:latin typeface="+mn-lt"/>
                <a:ea typeface="+mn-ea"/>
              </a:rPr>
              <a:t> ]</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END</a:t>
            </a:r>
            <a:endParaRPr lang="zh-CN" altLang="zh-CN" sz="1600" dirty="0">
              <a:latin typeface="+mn-lt"/>
              <a:ea typeface="+mn-ea"/>
            </a:endParaRPr>
          </a:p>
          <a:p>
            <a:pPr indent="446405" fontAlgn="ctr">
              <a:spcBef>
                <a:spcPts val="0"/>
              </a:spcBef>
              <a:spcAft>
                <a:spcPts val="0"/>
              </a:spcAft>
              <a:defRPr/>
            </a:pPr>
            <a:r>
              <a:rPr lang="zh-CN" altLang="zh-CN" dirty="0">
                <a:latin typeface="+mn-lt"/>
                <a:ea typeface="+mn-ea"/>
              </a:rPr>
              <a:t>或者：</a:t>
            </a:r>
            <a:endParaRPr lang="zh-CN" altLang="zh-CN" dirty="0">
              <a:latin typeface="+mn-lt"/>
              <a:ea typeface="+mn-ea"/>
            </a:endParaRPr>
          </a:p>
          <a:p>
            <a:pPr indent="446405" fontAlgn="auto">
              <a:spcBef>
                <a:spcPts val="0"/>
              </a:spcBef>
              <a:spcAft>
                <a:spcPts val="0"/>
              </a:spcAft>
              <a:defRPr/>
            </a:pPr>
            <a:r>
              <a:rPr lang="en-US" altLang="zh-CN" sz="1600" dirty="0">
                <a:latin typeface="+mn-lt"/>
                <a:ea typeface="+mn-ea"/>
              </a:rPr>
              <a:t>CASE</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WHEN</a:t>
            </a:r>
            <a:r>
              <a:rPr lang="zh-CN" altLang="zh-CN" sz="1600" dirty="0">
                <a:latin typeface="+mn-lt"/>
                <a:ea typeface="+mn-ea"/>
              </a:rPr>
              <a:t>布尔表达式</a:t>
            </a:r>
            <a:r>
              <a:rPr lang="en-US" altLang="zh-CN" sz="1600" dirty="0">
                <a:latin typeface="+mn-lt"/>
                <a:ea typeface="+mn-ea"/>
              </a:rPr>
              <a:t>THEN</a:t>
            </a:r>
            <a:r>
              <a:rPr lang="zh-CN" altLang="zh-CN" sz="1600" dirty="0">
                <a:latin typeface="+mn-lt"/>
                <a:ea typeface="+mn-ea"/>
              </a:rPr>
              <a:t>结果表达式</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 ... ]</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 ELSE</a:t>
            </a:r>
            <a:r>
              <a:rPr lang="zh-CN" altLang="zh-CN" sz="1600" dirty="0">
                <a:latin typeface="+mn-lt"/>
                <a:ea typeface="+mn-ea"/>
              </a:rPr>
              <a:t>结果表达式</a:t>
            </a:r>
            <a:r>
              <a:rPr lang="en-US" altLang="zh-CN" sz="1600" dirty="0">
                <a:latin typeface="+mn-lt"/>
                <a:ea typeface="+mn-ea"/>
              </a:rPr>
              <a:t> ]</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END</a:t>
            </a:r>
            <a:endParaRPr lang="zh-CN" altLang="zh-CN" sz="1600" dirty="0">
              <a:latin typeface="+mn-lt"/>
              <a:ea typeface="+mn-ea"/>
            </a:endParaRPr>
          </a:p>
          <a:p>
            <a:pPr indent="539750" fontAlgn="ctr">
              <a:spcBef>
                <a:spcPts val="0"/>
              </a:spcBef>
              <a:spcAft>
                <a:spcPts val="0"/>
              </a:spcAft>
              <a:defRPr/>
            </a:pPr>
            <a:r>
              <a:rPr lang="zh-CN" altLang="zh-CN" dirty="0">
                <a:latin typeface="+mn-lt"/>
                <a:ea typeface="+mn-ea"/>
              </a:rPr>
              <a:t>第一种格式中“输入表达式”是要判断的值或表达式，接下来是一系列的</a:t>
            </a:r>
            <a:r>
              <a:rPr lang="en-US" altLang="zh-CN" dirty="0">
                <a:latin typeface="+mn-lt"/>
                <a:ea typeface="+mn-ea"/>
              </a:rPr>
              <a:t>WHEN-THEN</a:t>
            </a:r>
            <a:r>
              <a:rPr lang="zh-CN" altLang="zh-CN" dirty="0">
                <a:latin typeface="+mn-lt"/>
                <a:ea typeface="+mn-ea"/>
              </a:rPr>
              <a:t>块，每一块的“</a:t>
            </a:r>
            <a:r>
              <a:rPr lang="en-US" altLang="zh-CN" dirty="0">
                <a:latin typeface="+mn-lt"/>
                <a:ea typeface="+mn-ea"/>
              </a:rPr>
              <a:t>WHEN</a:t>
            </a:r>
            <a:r>
              <a:rPr lang="zh-CN" altLang="zh-CN" dirty="0">
                <a:latin typeface="+mn-lt"/>
                <a:ea typeface="+mn-ea"/>
              </a:rPr>
              <a:t>表达式”参数指定要与“输入表达式”比较的值，如果为真，就执行“结果表达式”中的</a:t>
            </a:r>
            <a:r>
              <a:rPr lang="en-US" altLang="zh-CN" dirty="0">
                <a:latin typeface="+mn-lt"/>
                <a:ea typeface="+mn-ea"/>
              </a:rPr>
              <a:t>T-SQL</a:t>
            </a:r>
            <a:r>
              <a:rPr lang="zh-CN" altLang="zh-CN" dirty="0">
                <a:latin typeface="+mn-lt"/>
                <a:ea typeface="+mn-ea"/>
              </a:rPr>
              <a:t>语句。</a:t>
            </a:r>
            <a:endParaRPr lang="en-US" altLang="zh-CN" dirty="0">
              <a:latin typeface="+mn-lt"/>
              <a:ea typeface="+mn-ea"/>
            </a:endParaRPr>
          </a:p>
          <a:p>
            <a:pPr indent="539750" fontAlgn="ctr">
              <a:spcBef>
                <a:spcPts val="0"/>
              </a:spcBef>
              <a:spcAft>
                <a:spcPts val="0"/>
              </a:spcAft>
              <a:defRPr/>
            </a:pPr>
            <a:r>
              <a:rPr lang="zh-CN" altLang="zh-CN" dirty="0">
                <a:latin typeface="+mn-lt"/>
                <a:ea typeface="+mn-ea"/>
              </a:rPr>
              <a:t>第二种格式中</a:t>
            </a:r>
            <a:r>
              <a:rPr lang="en-US" altLang="zh-CN" dirty="0">
                <a:latin typeface="+mn-lt"/>
                <a:ea typeface="+mn-ea"/>
              </a:rPr>
              <a:t>CASE</a:t>
            </a:r>
            <a:r>
              <a:rPr lang="zh-CN" altLang="zh-CN" dirty="0">
                <a:latin typeface="+mn-lt"/>
                <a:ea typeface="+mn-ea"/>
              </a:rPr>
              <a:t>关键字后面没有参数，在</a:t>
            </a:r>
            <a:r>
              <a:rPr lang="en-US" altLang="zh-CN" dirty="0">
                <a:latin typeface="+mn-lt"/>
                <a:ea typeface="+mn-ea"/>
              </a:rPr>
              <a:t>WHEN-THEN</a:t>
            </a:r>
            <a:r>
              <a:rPr lang="zh-CN" altLang="zh-CN" dirty="0">
                <a:latin typeface="+mn-lt"/>
                <a:ea typeface="+mn-ea"/>
              </a:rPr>
              <a:t>块中，“布尔表达式”指定了一个比较表达式，表达式为真时执行</a:t>
            </a:r>
            <a:r>
              <a:rPr lang="en-US" altLang="zh-CN" dirty="0">
                <a:latin typeface="+mn-lt"/>
                <a:ea typeface="+mn-ea"/>
              </a:rPr>
              <a:t>THEN</a:t>
            </a:r>
            <a:r>
              <a:rPr lang="zh-CN" altLang="zh-CN" dirty="0">
                <a:latin typeface="+mn-lt"/>
                <a:ea typeface="+mn-ea"/>
              </a:rPr>
              <a:t>后面的语句。</a:t>
            </a:r>
            <a:endParaRPr lang="zh-CN" altLang="zh-CN" dirty="0">
              <a:latin typeface="+mn-lt"/>
              <a:ea typeface="+mn-ea"/>
            </a:endParaRPr>
          </a:p>
          <a:p>
            <a:pPr indent="539750" fontAlgn="auto">
              <a:spcBef>
                <a:spcPts val="0"/>
              </a:spcBef>
              <a:spcAft>
                <a:spcPts val="0"/>
              </a:spcAft>
              <a:defRPr/>
            </a:pPr>
            <a:endParaRPr lang="zh-CN" altLang="en-US" dirty="0">
              <a:latin typeface="+mn-lt"/>
              <a:ea typeface="+mn-ea"/>
            </a:endParaRPr>
          </a:p>
        </p:txBody>
      </p:sp>
    </p:spTree>
  </p:cSld>
  <p:clrMapOvr>
    <a:masterClrMapping/>
  </p:clrMapOvr>
  <p:transition spd="slow">
    <p:pull/>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4221163"/>
            <a:ext cx="7848600" cy="216058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1725613"/>
            <a:ext cx="7848600" cy="216058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5.4.3  </a:t>
            </a:r>
            <a:r>
              <a:rPr lang="zh-CN" altLang="zh-CN" dirty="0">
                <a:effectLst/>
              </a:rPr>
              <a:t>多重分支：</a:t>
            </a:r>
            <a:r>
              <a:rPr lang="en-US" altLang="zh-CN" dirty="0">
                <a:effectLst/>
              </a:rPr>
              <a:t>CASE</a:t>
            </a:r>
            <a:endParaRPr lang="zh-CN" altLang="en-US" dirty="0"/>
          </a:p>
        </p:txBody>
      </p:sp>
      <p:sp>
        <p:nvSpPr>
          <p:cNvPr id="3" name="TextBox 2"/>
          <p:cNvSpPr txBox="1"/>
          <p:nvPr/>
        </p:nvSpPr>
        <p:spPr>
          <a:xfrm>
            <a:off x="395288" y="1412875"/>
            <a:ext cx="8280400" cy="5354638"/>
          </a:xfrm>
          <a:prstGeom prst="rect">
            <a:avLst/>
          </a:prstGeom>
          <a:noFill/>
        </p:spPr>
        <p:txBody>
          <a:bodyPr>
            <a:spAutoFit/>
          </a:bodyPr>
          <a:lstStyle/>
          <a:p>
            <a:pPr indent="446405" fontAlgn="ctr">
              <a:spcBef>
                <a:spcPts val="0"/>
              </a:spcBef>
              <a:spcAft>
                <a:spcPts val="0"/>
              </a:spcAft>
              <a:defRPr/>
            </a:pPr>
            <a:r>
              <a:rPr lang="zh-CN" altLang="zh-CN" dirty="0">
                <a:latin typeface="+mn-lt"/>
                <a:ea typeface="+mn-ea"/>
              </a:rPr>
              <a:t>【例</a:t>
            </a:r>
            <a:r>
              <a:rPr lang="en-US" altLang="zh-CN" dirty="0">
                <a:latin typeface="+mn-lt"/>
                <a:ea typeface="+mn-ea"/>
              </a:rPr>
              <a:t>5.19</a:t>
            </a:r>
            <a:r>
              <a:rPr lang="zh-CN" altLang="zh-CN" dirty="0">
                <a:latin typeface="+mn-lt"/>
                <a:ea typeface="+mn-ea"/>
              </a:rPr>
              <a:t>】 使用第一种格式的</a:t>
            </a:r>
            <a:r>
              <a:rPr lang="en-US" altLang="zh-CN" dirty="0">
                <a:latin typeface="+mn-lt"/>
                <a:ea typeface="+mn-ea"/>
              </a:rPr>
              <a:t>CASE</a:t>
            </a:r>
            <a:r>
              <a:rPr lang="zh-CN" altLang="zh-CN" dirty="0">
                <a:latin typeface="+mn-lt"/>
                <a:ea typeface="+mn-ea"/>
              </a:rPr>
              <a:t>语句，根据性别值输出“男”或“女”。</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SELECT</a:t>
            </a:r>
            <a:r>
              <a:rPr lang="zh-CN" altLang="zh-CN" dirty="0">
                <a:latin typeface="+mn-lt"/>
                <a:ea typeface="+mn-ea"/>
              </a:rPr>
              <a:t>学号</a:t>
            </a:r>
            <a:r>
              <a:rPr lang="en-US" altLang="zh-CN" dirty="0">
                <a:latin typeface="+mn-lt"/>
                <a:ea typeface="+mn-ea"/>
              </a:rPr>
              <a:t>, </a:t>
            </a:r>
            <a:r>
              <a:rPr lang="zh-CN" altLang="zh-CN" dirty="0">
                <a:latin typeface="+mn-lt"/>
                <a:ea typeface="+mn-ea"/>
              </a:rPr>
              <a:t>姓名</a:t>
            </a:r>
            <a:r>
              <a:rPr lang="en-US" altLang="zh-CN" dirty="0">
                <a:latin typeface="+mn-lt"/>
                <a:ea typeface="+mn-ea"/>
              </a:rPr>
              <a:t>, </a:t>
            </a:r>
            <a:r>
              <a:rPr lang="zh-CN" altLang="zh-CN" dirty="0">
                <a:latin typeface="+mn-lt"/>
                <a:ea typeface="+mn-ea"/>
              </a:rPr>
              <a:t>专业</a:t>
            </a:r>
            <a:r>
              <a:rPr lang="en-US" altLang="zh-CN" dirty="0">
                <a:latin typeface="+mn-lt"/>
                <a:ea typeface="+mn-ea"/>
              </a:rPr>
              <a:t>, SEX= </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CASE</a:t>
            </a:r>
            <a:r>
              <a:rPr lang="zh-CN" altLang="zh-CN" dirty="0">
                <a:latin typeface="+mn-lt"/>
                <a:ea typeface="+mn-ea"/>
              </a:rPr>
              <a:t>性别</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WHEN 1 THEN '</a:t>
            </a:r>
            <a:r>
              <a:rPr lang="zh-CN" altLang="zh-CN" dirty="0">
                <a:latin typeface="+mn-lt"/>
                <a:ea typeface="+mn-ea"/>
              </a:rPr>
              <a:t>男</a:t>
            </a:r>
            <a:r>
              <a:rPr lang="en-US"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WHEN 0 THEN '</a:t>
            </a:r>
            <a:r>
              <a:rPr lang="zh-CN" altLang="zh-CN" dirty="0">
                <a:latin typeface="+mn-lt"/>
                <a:ea typeface="+mn-ea"/>
              </a:rPr>
              <a:t>女</a:t>
            </a:r>
            <a:r>
              <a:rPr lang="en-US"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ELSE  '</a:t>
            </a:r>
            <a:r>
              <a:rPr lang="zh-CN" altLang="zh-CN" dirty="0">
                <a:latin typeface="+mn-lt"/>
                <a:ea typeface="+mn-ea"/>
              </a:rPr>
              <a:t>无</a:t>
            </a:r>
            <a:r>
              <a:rPr lang="en-US"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END</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FROM </a:t>
            </a:r>
            <a:r>
              <a:rPr lang="en-US" altLang="zh-CN" dirty="0" err="1">
                <a:latin typeface="+mn-lt"/>
                <a:ea typeface="+mn-ea"/>
              </a:rPr>
              <a:t>xsb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WHERE</a:t>
            </a:r>
            <a:r>
              <a:rPr lang="zh-CN" altLang="zh-CN" dirty="0">
                <a:latin typeface="+mn-lt"/>
                <a:ea typeface="+mn-ea"/>
              </a:rPr>
              <a:t>总学分</a:t>
            </a:r>
            <a:r>
              <a:rPr lang="en-US" altLang="zh-CN" dirty="0">
                <a:latin typeface="+mn-lt"/>
                <a:ea typeface="+mn-ea"/>
              </a:rPr>
              <a:t>&gt;48</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使用第二种格式的</a:t>
            </a:r>
            <a:r>
              <a:rPr lang="en-US" altLang="zh-CN" dirty="0">
                <a:latin typeface="+mn-lt"/>
                <a:ea typeface="+mn-ea"/>
              </a:rPr>
              <a:t>CASE</a:t>
            </a:r>
            <a:r>
              <a:rPr lang="zh-CN" altLang="zh-CN" dirty="0">
                <a:latin typeface="+mn-lt"/>
                <a:ea typeface="+mn-ea"/>
              </a:rPr>
              <a:t>语句，可以使用以下</a:t>
            </a:r>
            <a:r>
              <a:rPr lang="en-US" altLang="zh-CN" dirty="0">
                <a:latin typeface="+mn-lt"/>
                <a:ea typeface="+mn-ea"/>
              </a:rPr>
              <a:t>T-SQL</a:t>
            </a:r>
            <a:r>
              <a:rPr lang="zh-CN" altLang="zh-CN" dirty="0">
                <a:latin typeface="+mn-lt"/>
                <a:ea typeface="+mn-ea"/>
              </a:rPr>
              <a:t>语句：</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SELECT</a:t>
            </a:r>
            <a:r>
              <a:rPr lang="zh-CN" altLang="zh-CN" dirty="0">
                <a:latin typeface="+mn-lt"/>
                <a:ea typeface="+mn-ea"/>
              </a:rPr>
              <a:t>学号</a:t>
            </a:r>
            <a:r>
              <a:rPr lang="en-US" altLang="zh-CN" dirty="0">
                <a:latin typeface="+mn-lt"/>
                <a:ea typeface="+mn-ea"/>
              </a:rPr>
              <a:t>, </a:t>
            </a:r>
            <a:r>
              <a:rPr lang="zh-CN" altLang="zh-CN" dirty="0">
                <a:latin typeface="+mn-lt"/>
                <a:ea typeface="+mn-ea"/>
              </a:rPr>
              <a:t>姓名</a:t>
            </a:r>
            <a:r>
              <a:rPr lang="en-US" altLang="zh-CN" dirty="0">
                <a:latin typeface="+mn-lt"/>
                <a:ea typeface="+mn-ea"/>
              </a:rPr>
              <a:t>, </a:t>
            </a:r>
            <a:r>
              <a:rPr lang="zh-CN" altLang="zh-CN" dirty="0">
                <a:latin typeface="+mn-lt"/>
                <a:ea typeface="+mn-ea"/>
              </a:rPr>
              <a:t>专业</a:t>
            </a:r>
            <a:r>
              <a:rPr lang="en-US" altLang="zh-CN" dirty="0">
                <a:latin typeface="+mn-lt"/>
                <a:ea typeface="+mn-ea"/>
              </a:rPr>
              <a:t>, SEX= </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CASE</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WHEN</a:t>
            </a:r>
            <a:r>
              <a:rPr lang="zh-CN" altLang="zh-CN" dirty="0">
                <a:latin typeface="+mn-lt"/>
                <a:ea typeface="+mn-ea"/>
              </a:rPr>
              <a:t>性别</a:t>
            </a:r>
            <a:r>
              <a:rPr lang="en-US" altLang="zh-CN" dirty="0">
                <a:latin typeface="+mn-lt"/>
                <a:ea typeface="+mn-ea"/>
              </a:rPr>
              <a:t>=1 THEN '</a:t>
            </a:r>
            <a:r>
              <a:rPr lang="zh-CN" altLang="zh-CN" dirty="0">
                <a:latin typeface="+mn-lt"/>
                <a:ea typeface="+mn-ea"/>
              </a:rPr>
              <a:t>男</a:t>
            </a:r>
            <a:r>
              <a:rPr lang="en-US"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WHEN</a:t>
            </a:r>
            <a:r>
              <a:rPr lang="zh-CN" altLang="zh-CN" dirty="0">
                <a:latin typeface="+mn-lt"/>
                <a:ea typeface="+mn-ea"/>
              </a:rPr>
              <a:t>性别</a:t>
            </a:r>
            <a:r>
              <a:rPr lang="en-US" altLang="zh-CN" dirty="0">
                <a:latin typeface="+mn-lt"/>
                <a:ea typeface="+mn-ea"/>
              </a:rPr>
              <a:t>=0 THEN '</a:t>
            </a:r>
            <a:r>
              <a:rPr lang="zh-CN" altLang="zh-CN" dirty="0">
                <a:latin typeface="+mn-lt"/>
                <a:ea typeface="+mn-ea"/>
              </a:rPr>
              <a:t>女</a:t>
            </a:r>
            <a:r>
              <a:rPr lang="en-US"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ELSE  '</a:t>
            </a:r>
            <a:r>
              <a:rPr lang="zh-CN" altLang="zh-CN" dirty="0">
                <a:latin typeface="+mn-lt"/>
                <a:ea typeface="+mn-ea"/>
              </a:rPr>
              <a:t>无</a:t>
            </a:r>
            <a:r>
              <a:rPr lang="en-US"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END</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FROM </a:t>
            </a:r>
            <a:r>
              <a:rPr lang="en-US" altLang="zh-CN" dirty="0" err="1">
                <a:latin typeface="+mn-lt"/>
                <a:ea typeface="+mn-ea"/>
              </a:rPr>
              <a:t>xsb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WHERE</a:t>
            </a:r>
            <a:r>
              <a:rPr lang="zh-CN" altLang="zh-CN" dirty="0">
                <a:latin typeface="+mn-lt"/>
                <a:ea typeface="+mn-ea"/>
              </a:rPr>
              <a:t>总学分</a:t>
            </a:r>
            <a:r>
              <a:rPr lang="en-US" altLang="zh-CN" dirty="0">
                <a:latin typeface="+mn-lt"/>
                <a:ea typeface="+mn-ea"/>
              </a:rPr>
              <a:t>&gt;48</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blinds dir="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98525" y="3284538"/>
            <a:ext cx="7920038" cy="3349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420938"/>
            <a:ext cx="7920037" cy="3349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5.4.4  </a:t>
            </a:r>
            <a:r>
              <a:rPr lang="zh-CN" altLang="zh-CN" dirty="0">
                <a:effectLst/>
              </a:rPr>
              <a:t>无条件转移语句：</a:t>
            </a:r>
            <a:r>
              <a:rPr lang="en-US" altLang="zh-CN" dirty="0">
                <a:effectLst/>
              </a:rPr>
              <a:t>GOTO</a:t>
            </a:r>
            <a:endParaRPr lang="zh-CN" altLang="zh-CN" dirty="0">
              <a:effectLst/>
            </a:endParaRPr>
          </a:p>
        </p:txBody>
      </p:sp>
      <p:sp>
        <p:nvSpPr>
          <p:cNvPr id="51205" name="TextBox 2"/>
          <p:cNvSpPr txBox="1">
            <a:spLocks noChangeArrowheads="1"/>
          </p:cNvSpPr>
          <p:nvPr/>
        </p:nvSpPr>
        <p:spPr bwMode="auto">
          <a:xfrm>
            <a:off x="468313" y="1484313"/>
            <a:ext cx="8207375"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t>无条件转移语句将执行流程转移到标号指定的位置。</a:t>
            </a:r>
            <a:endParaRPr lang="zh-CN" altLang="zh-CN"/>
          </a:p>
          <a:p>
            <a:pPr eaLnBrk="1" fontAlgn="ctr" hangingPunct="1">
              <a:lnSpc>
                <a:spcPct val="150000"/>
              </a:lnSpc>
            </a:pPr>
            <a:r>
              <a:rPr lang="zh-CN" altLang="zh-CN"/>
              <a:t>语法格式：</a:t>
            </a:r>
            <a:endParaRPr lang="zh-CN" altLang="zh-CN"/>
          </a:p>
          <a:p>
            <a:pPr eaLnBrk="1" hangingPunct="1">
              <a:lnSpc>
                <a:spcPct val="150000"/>
              </a:lnSpc>
            </a:pPr>
            <a:r>
              <a:rPr lang="en-US" altLang="zh-CN"/>
              <a:t>GOTO  </a:t>
            </a:r>
            <a:r>
              <a:rPr lang="zh-CN" altLang="zh-CN"/>
              <a:t>标号</a:t>
            </a:r>
            <a:endParaRPr lang="zh-CN" altLang="zh-CN"/>
          </a:p>
          <a:p>
            <a:pPr eaLnBrk="1" fontAlgn="ctr" hangingPunct="1">
              <a:lnSpc>
                <a:spcPct val="150000"/>
              </a:lnSpc>
            </a:pPr>
            <a:r>
              <a:rPr lang="zh-CN" altLang="zh-CN"/>
              <a:t>“标号”是指向的语句标号，标号必须符合标识符规则。标号的定义形式为：</a:t>
            </a:r>
            <a:endParaRPr lang="zh-CN" altLang="zh-CN"/>
          </a:p>
          <a:p>
            <a:pPr eaLnBrk="1" hangingPunct="1">
              <a:lnSpc>
                <a:spcPct val="150000"/>
              </a:lnSpc>
            </a:pPr>
            <a:r>
              <a:rPr lang="zh-CN" altLang="zh-CN"/>
              <a:t>标号</a:t>
            </a:r>
            <a:r>
              <a:rPr lang="en-US" altLang="zh-CN"/>
              <a:t> : </a:t>
            </a:r>
            <a:r>
              <a:rPr lang="zh-CN" altLang="zh-CN"/>
              <a:t>语句</a:t>
            </a:r>
            <a:endParaRPr lang="zh-CN" altLang="zh-CN"/>
          </a:p>
          <a:p>
            <a:pPr eaLnBrk="1" hangingPunct="1">
              <a:lnSpc>
                <a:spcPct val="150000"/>
              </a:lnSpc>
            </a:pPr>
            <a:endParaRPr lang="zh-CN" altLang="en-US"/>
          </a:p>
        </p:txBody>
      </p:sp>
    </p:spTree>
  </p:cSld>
  <p:clrMapOvr>
    <a:masterClrMapping/>
  </p:clrMapOvr>
  <p:transition spd="slow">
    <p:pull/>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755650" y="5373688"/>
            <a:ext cx="7993063" cy="50958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755650" y="2133600"/>
            <a:ext cx="7848600" cy="574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5.4.5  </a:t>
            </a:r>
            <a:r>
              <a:rPr lang="zh-CN" altLang="zh-CN" dirty="0">
                <a:effectLst/>
              </a:rPr>
              <a:t>循环语句：</a:t>
            </a:r>
            <a:r>
              <a:rPr lang="en-US" altLang="zh-CN" dirty="0" smtClean="0">
                <a:effectLst/>
              </a:rPr>
              <a:t>WHILE/BREAK/CONTINUE</a:t>
            </a:r>
            <a:endParaRPr lang="zh-CN" altLang="en-US" dirty="0"/>
          </a:p>
        </p:txBody>
      </p:sp>
      <p:sp>
        <p:nvSpPr>
          <p:cNvPr id="52229" name="TextBox 2"/>
          <p:cNvSpPr txBox="1">
            <a:spLocks noChangeArrowheads="1"/>
          </p:cNvSpPr>
          <p:nvPr/>
        </p:nvSpPr>
        <p:spPr bwMode="auto">
          <a:xfrm>
            <a:off x="395288" y="1268413"/>
            <a:ext cx="8208962"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1</a:t>
            </a:r>
            <a:r>
              <a:rPr lang="zh-CN" altLang="zh-CN" b="1">
                <a:solidFill>
                  <a:srgbClr val="C00000"/>
                </a:solidFill>
              </a:rPr>
              <a:t>．</a:t>
            </a:r>
            <a:r>
              <a:rPr lang="en-US" altLang="zh-CN" b="1">
                <a:solidFill>
                  <a:srgbClr val="C00000"/>
                </a:solidFill>
              </a:rPr>
              <a:t>WHILE</a:t>
            </a:r>
            <a:r>
              <a:rPr lang="zh-CN" altLang="zh-CN" b="1">
                <a:solidFill>
                  <a:srgbClr val="C00000"/>
                </a:solidFill>
              </a:rPr>
              <a:t>循环语句</a:t>
            </a:r>
            <a:endParaRPr lang="zh-CN" altLang="zh-CN" b="1">
              <a:solidFill>
                <a:srgbClr val="C00000"/>
              </a:solidFill>
            </a:endParaRPr>
          </a:p>
          <a:p>
            <a:pPr eaLnBrk="1" fontAlgn="ctr" hangingPunct="1"/>
            <a:r>
              <a:rPr lang="zh-CN" altLang="zh-CN"/>
              <a:t>如果需要重复执行程序中的一部分语句，则可使用</a:t>
            </a:r>
            <a:r>
              <a:rPr lang="en-US" altLang="zh-CN"/>
              <a:t>WHILE</a:t>
            </a:r>
            <a:r>
              <a:rPr lang="zh-CN" altLang="zh-CN"/>
              <a:t>循环语句实现。</a:t>
            </a:r>
            <a:endParaRPr lang="zh-CN" altLang="zh-CN"/>
          </a:p>
          <a:p>
            <a:pPr eaLnBrk="1" fontAlgn="ctr" hangingPunct="1"/>
            <a:r>
              <a:rPr lang="zh-CN" altLang="zh-CN"/>
              <a:t>语法格式：</a:t>
            </a:r>
            <a:endParaRPr lang="zh-CN" altLang="zh-CN"/>
          </a:p>
          <a:p>
            <a:pPr eaLnBrk="1" hangingPunct="1"/>
            <a:r>
              <a:rPr lang="en-US" altLang="zh-CN"/>
              <a:t>WHILE</a:t>
            </a:r>
            <a:r>
              <a:rPr lang="zh-CN" altLang="zh-CN"/>
              <a:t>条件表达式</a:t>
            </a:r>
            <a:endParaRPr lang="zh-CN" altLang="zh-CN"/>
          </a:p>
          <a:p>
            <a:pPr eaLnBrk="1" hangingPunct="1"/>
            <a:r>
              <a:rPr lang="en-US" altLang="zh-CN"/>
              <a:t>{ SQL</a:t>
            </a:r>
            <a:r>
              <a:rPr lang="zh-CN" altLang="zh-CN"/>
              <a:t>语句</a:t>
            </a:r>
            <a:r>
              <a:rPr lang="en-US" altLang="zh-CN"/>
              <a:t> | </a:t>
            </a:r>
            <a:r>
              <a:rPr lang="zh-CN" altLang="zh-CN"/>
              <a:t>语句块</a:t>
            </a:r>
            <a:r>
              <a:rPr lang="en-US" altLang="zh-CN"/>
              <a:t> }		/*T-SQL</a:t>
            </a:r>
            <a:r>
              <a:rPr lang="zh-CN" altLang="zh-CN"/>
              <a:t>语句序列构成的循环体</a:t>
            </a:r>
            <a:r>
              <a:rPr lang="en-US" altLang="zh-CN"/>
              <a:t>*/</a:t>
            </a:r>
            <a:endParaRPr lang="zh-CN" altLang="zh-CN"/>
          </a:p>
          <a:p>
            <a:pPr eaLnBrk="1" fontAlgn="ctr" hangingPunct="1"/>
            <a:r>
              <a:rPr lang="en-US" altLang="zh-CN"/>
              <a:t>WHILE</a:t>
            </a:r>
            <a:r>
              <a:rPr lang="zh-CN" altLang="zh-CN"/>
              <a:t>语句的执行流程如图</a:t>
            </a:r>
            <a:r>
              <a:rPr lang="en-US" altLang="zh-CN"/>
              <a:t>5.10</a:t>
            </a:r>
            <a:r>
              <a:rPr lang="zh-CN" altLang="zh-CN"/>
              <a:t>所示。</a:t>
            </a:r>
            <a:endParaRPr lang="zh-CN" altLang="zh-CN"/>
          </a:p>
          <a:p>
            <a:pPr eaLnBrk="1" hangingPunct="1"/>
            <a:endParaRPr lang="zh-CN" altLang="en-US"/>
          </a:p>
        </p:txBody>
      </p:sp>
      <p:pic>
        <p:nvPicPr>
          <p:cNvPr id="52230" name="Picture 2" descr="5-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203575" y="3068638"/>
            <a:ext cx="3883025" cy="193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1" name="TextBox 4"/>
          <p:cNvSpPr txBox="1">
            <a:spLocks noChangeArrowheads="1"/>
          </p:cNvSpPr>
          <p:nvPr/>
        </p:nvSpPr>
        <p:spPr bwMode="auto">
          <a:xfrm>
            <a:off x="395288" y="5005388"/>
            <a:ext cx="8353425"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从</a:t>
            </a:r>
            <a:r>
              <a:rPr lang="en-US" altLang="zh-CN"/>
              <a:t>WHILE</a:t>
            </a:r>
            <a:r>
              <a:rPr lang="zh-CN" altLang="zh-CN"/>
              <a:t>循环的执行流程可看出其使用形式如下：</a:t>
            </a:r>
            <a:endParaRPr lang="zh-CN" altLang="zh-CN"/>
          </a:p>
          <a:p>
            <a:pPr eaLnBrk="1" hangingPunct="1"/>
            <a:r>
              <a:rPr lang="en-US" altLang="zh-CN"/>
              <a:t>WHILE</a:t>
            </a:r>
            <a:r>
              <a:rPr lang="zh-CN" altLang="zh-CN"/>
              <a:t>条件表达式</a:t>
            </a:r>
            <a:endParaRPr lang="zh-CN" altLang="zh-CN"/>
          </a:p>
          <a:p>
            <a:pPr eaLnBrk="1" hangingPunct="1"/>
            <a:r>
              <a:rPr lang="en-US" altLang="zh-CN"/>
              <a:t>     </a:t>
            </a:r>
            <a:r>
              <a:rPr lang="zh-CN" altLang="zh-CN"/>
              <a:t>循环体</a:t>
            </a:r>
            <a:r>
              <a:rPr lang="en-US" altLang="zh-CN"/>
              <a:t>				/*T-SQL</a:t>
            </a:r>
            <a:r>
              <a:rPr lang="zh-CN" altLang="zh-CN"/>
              <a:t>语句或语句块</a:t>
            </a:r>
            <a:r>
              <a:rPr lang="en-US" altLang="zh-CN"/>
              <a:t>*/</a:t>
            </a:r>
            <a:endParaRPr lang="zh-CN" altLang="zh-CN"/>
          </a:p>
          <a:p>
            <a:pPr eaLnBrk="1" fontAlgn="ctr" hangingPunct="1"/>
            <a:r>
              <a:rPr lang="zh-CN" altLang="zh-CN"/>
              <a:t>当条件表达式值为真时，执行构成循环体的</a:t>
            </a:r>
            <a:r>
              <a:rPr lang="en-US" altLang="zh-CN"/>
              <a:t>T-SQL</a:t>
            </a:r>
            <a:r>
              <a:rPr lang="zh-CN" altLang="zh-CN"/>
              <a:t>语句或语句块，然后再进行条件判断，重复上述操作，直至条件表达式的值为假，退出循环体的执行。</a:t>
            </a:r>
            <a:endParaRPr lang="zh-CN" altLang="zh-CN"/>
          </a:p>
          <a:p>
            <a:pPr eaLnBrk="1" hangingPunct="1"/>
            <a:endParaRPr lang="zh-CN" altLang="en-US"/>
          </a:p>
        </p:txBody>
      </p:sp>
    </p:spTree>
  </p:cSld>
  <p:clrMapOvr>
    <a:masterClrMapping/>
  </p:clrMapOvr>
  <p:transition spd="slow">
    <p:blinds dir="ver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55650" y="1989138"/>
            <a:ext cx="7920038" cy="2447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5.4.5  </a:t>
            </a:r>
            <a:r>
              <a:rPr lang="zh-CN" altLang="zh-CN" dirty="0">
                <a:effectLst/>
              </a:rPr>
              <a:t>循环语句：</a:t>
            </a:r>
            <a:r>
              <a:rPr lang="en-US" altLang="zh-CN" dirty="0">
                <a:effectLst/>
              </a:rPr>
              <a:t>WHILE/BREAK/CONTINUE</a:t>
            </a:r>
            <a:endParaRPr lang="zh-CN" altLang="en-US" dirty="0"/>
          </a:p>
        </p:txBody>
      </p:sp>
      <p:sp>
        <p:nvSpPr>
          <p:cNvPr id="53252" name="TextBox 2"/>
          <p:cNvSpPr txBox="1">
            <a:spLocks noChangeArrowheads="1"/>
          </p:cNvSpPr>
          <p:nvPr/>
        </p:nvSpPr>
        <p:spPr bwMode="auto">
          <a:xfrm>
            <a:off x="395288" y="1412875"/>
            <a:ext cx="8353425"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5.20</a:t>
            </a:r>
            <a:r>
              <a:rPr lang="zh-CN" altLang="zh-CN"/>
              <a:t>】 将学号为</a:t>
            </a:r>
            <a:r>
              <a:rPr lang="en-US" altLang="zh-CN"/>
              <a:t>191301</a:t>
            </a:r>
            <a:r>
              <a:rPr lang="zh-CN" altLang="zh-CN"/>
              <a:t>的学生的总学分使用循环修改到</a:t>
            </a:r>
            <a:r>
              <a:rPr lang="en-US" altLang="zh-CN"/>
              <a:t>60</a:t>
            </a:r>
            <a:r>
              <a:rPr lang="zh-CN" altLang="zh-CN"/>
              <a:t>，每次只加</a:t>
            </a:r>
            <a:r>
              <a:rPr lang="en-US" altLang="zh-CN"/>
              <a:t>2</a:t>
            </a:r>
            <a:r>
              <a:rPr lang="zh-CN" altLang="zh-CN"/>
              <a:t>，并判断循环了多少次。</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DECLARE @num INT</a:t>
            </a:r>
            <a:endParaRPr lang="zh-CN" altLang="zh-CN"/>
          </a:p>
          <a:p>
            <a:pPr eaLnBrk="1" hangingPunct="1"/>
            <a:r>
              <a:rPr lang="en-US" altLang="zh-CN"/>
              <a:t>SET @num=0</a:t>
            </a:r>
            <a:endParaRPr lang="zh-CN" altLang="zh-CN"/>
          </a:p>
          <a:p>
            <a:pPr eaLnBrk="1" hangingPunct="1"/>
            <a:r>
              <a:rPr lang="en-US" altLang="zh-CN"/>
              <a:t>WHILE (SELECT</a:t>
            </a:r>
            <a:r>
              <a:rPr lang="zh-CN" altLang="zh-CN"/>
              <a:t>总学分</a:t>
            </a:r>
            <a:r>
              <a:rPr lang="en-US" altLang="zh-CN"/>
              <a:t>FROM xsb WHERE</a:t>
            </a:r>
            <a:r>
              <a:rPr lang="zh-CN" altLang="zh-CN"/>
              <a:t>学号</a:t>
            </a:r>
            <a:r>
              <a:rPr lang="en-US" altLang="zh-CN"/>
              <a:t>='191301')&lt;60</a:t>
            </a:r>
            <a:endParaRPr lang="zh-CN" altLang="zh-CN"/>
          </a:p>
          <a:p>
            <a:pPr eaLnBrk="1" hangingPunct="1"/>
            <a:r>
              <a:rPr lang="en-US" altLang="zh-CN"/>
              <a:t>BEGIN</a:t>
            </a:r>
            <a:endParaRPr lang="zh-CN" altLang="zh-CN"/>
          </a:p>
          <a:p>
            <a:pPr eaLnBrk="1" hangingPunct="1"/>
            <a:r>
              <a:rPr lang="en-US" altLang="zh-CN"/>
              <a:t>     UPDATE xsb SET</a:t>
            </a:r>
            <a:r>
              <a:rPr lang="zh-CN" altLang="zh-CN"/>
              <a:t>总学分</a:t>
            </a:r>
            <a:r>
              <a:rPr lang="en-US" altLang="zh-CN"/>
              <a:t>=</a:t>
            </a:r>
            <a:r>
              <a:rPr lang="zh-CN" altLang="zh-CN"/>
              <a:t>总学分</a:t>
            </a:r>
            <a:r>
              <a:rPr lang="en-US" altLang="zh-CN"/>
              <a:t>+2 WHERE</a:t>
            </a:r>
            <a:r>
              <a:rPr lang="zh-CN" altLang="zh-CN"/>
              <a:t>学号</a:t>
            </a:r>
            <a:r>
              <a:rPr lang="en-US" altLang="zh-CN"/>
              <a:t>= '191301'</a:t>
            </a:r>
            <a:endParaRPr lang="zh-CN" altLang="zh-CN"/>
          </a:p>
          <a:p>
            <a:pPr eaLnBrk="1" hangingPunct="1"/>
            <a:r>
              <a:rPr lang="en-US" altLang="zh-CN"/>
              <a:t>     SET @num=@num+1</a:t>
            </a:r>
            <a:endParaRPr lang="zh-CN" altLang="zh-CN"/>
          </a:p>
          <a:p>
            <a:pPr eaLnBrk="1" hangingPunct="1"/>
            <a:r>
              <a:rPr lang="en-US" altLang="zh-CN"/>
              <a:t>END</a:t>
            </a:r>
            <a:endParaRPr lang="zh-CN" altLang="zh-CN"/>
          </a:p>
          <a:p>
            <a:pPr eaLnBrk="1" hangingPunct="1"/>
            <a:r>
              <a:rPr lang="en-US" altLang="zh-CN"/>
              <a:t>SELECT @num AS</a:t>
            </a:r>
            <a:r>
              <a:rPr lang="zh-CN" altLang="zh-CN"/>
              <a:t>循环次数</a:t>
            </a:r>
            <a:endParaRPr lang="zh-CN" altLang="zh-CN"/>
          </a:p>
          <a:p>
            <a:pPr eaLnBrk="1" hangingPunct="1"/>
            <a:endParaRPr lang="zh-CN" altLang="en-US"/>
          </a:p>
        </p:txBody>
      </p:sp>
    </p:spTree>
  </p:cSld>
  <p:clrMapOvr>
    <a:masterClrMapping/>
  </p:clrMapOvr>
  <p:transition spd="slow">
    <p:pull/>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4400550"/>
            <a:ext cx="7848600" cy="3603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349500"/>
            <a:ext cx="7848600" cy="3587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5.4.5  </a:t>
            </a:r>
            <a:r>
              <a:rPr lang="zh-CN" altLang="zh-CN" dirty="0">
                <a:effectLst/>
              </a:rPr>
              <a:t>循环语句：</a:t>
            </a:r>
            <a:r>
              <a:rPr lang="en-US" altLang="zh-CN" dirty="0">
                <a:effectLst/>
              </a:rPr>
              <a:t>WHILE/BREAK/CONTINUE</a:t>
            </a:r>
            <a:endParaRPr lang="zh-CN" altLang="en-US" dirty="0"/>
          </a:p>
        </p:txBody>
      </p:sp>
      <p:sp>
        <p:nvSpPr>
          <p:cNvPr id="54277" name="TextBox 2"/>
          <p:cNvSpPr txBox="1">
            <a:spLocks noChangeArrowheads="1"/>
          </p:cNvSpPr>
          <p:nvPr/>
        </p:nvSpPr>
        <p:spPr bwMode="auto">
          <a:xfrm>
            <a:off x="468313" y="1412875"/>
            <a:ext cx="8207375" cy="461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2</a:t>
            </a:r>
            <a:r>
              <a:rPr lang="zh-CN" altLang="zh-CN" b="1">
                <a:solidFill>
                  <a:srgbClr val="C00000"/>
                </a:solidFill>
              </a:rPr>
              <a:t>．</a:t>
            </a:r>
            <a:r>
              <a:rPr lang="en-US" altLang="zh-CN" b="1">
                <a:solidFill>
                  <a:srgbClr val="C00000"/>
                </a:solidFill>
              </a:rPr>
              <a:t>BREAK</a:t>
            </a:r>
            <a:r>
              <a:rPr lang="zh-CN" altLang="zh-CN" b="1">
                <a:solidFill>
                  <a:srgbClr val="C00000"/>
                </a:solidFill>
              </a:rPr>
              <a:t>语句</a:t>
            </a:r>
            <a:endParaRPr lang="zh-CN" altLang="zh-CN" b="1">
              <a:solidFill>
                <a:srgbClr val="C00000"/>
              </a:solidFill>
            </a:endParaRPr>
          </a:p>
          <a:p>
            <a:pPr eaLnBrk="1" fontAlgn="ctr" hangingPunct="1">
              <a:lnSpc>
                <a:spcPct val="150000"/>
              </a:lnSpc>
            </a:pPr>
            <a:r>
              <a:rPr lang="zh-CN" altLang="zh-CN"/>
              <a:t>语法格式：</a:t>
            </a:r>
            <a:endParaRPr lang="zh-CN" altLang="zh-CN"/>
          </a:p>
          <a:p>
            <a:pPr eaLnBrk="1" hangingPunct="1">
              <a:lnSpc>
                <a:spcPct val="150000"/>
              </a:lnSpc>
            </a:pPr>
            <a:r>
              <a:rPr lang="en-US" altLang="zh-CN"/>
              <a:t>BREAK</a:t>
            </a:r>
            <a:endParaRPr lang="zh-CN" altLang="zh-CN"/>
          </a:p>
          <a:p>
            <a:pPr eaLnBrk="1" fontAlgn="ctr" hangingPunct="1">
              <a:lnSpc>
                <a:spcPct val="150000"/>
              </a:lnSpc>
            </a:pPr>
            <a:r>
              <a:rPr lang="en-US" altLang="zh-CN"/>
              <a:t>BREAK</a:t>
            </a:r>
            <a:r>
              <a:rPr lang="zh-CN" altLang="zh-CN"/>
              <a:t>语句一般用在循环语句中，用于退出本层循环。当程序中有多层循环嵌套时，使用</a:t>
            </a:r>
            <a:r>
              <a:rPr lang="en-US" altLang="zh-CN"/>
              <a:t>BREAK</a:t>
            </a:r>
            <a:r>
              <a:rPr lang="zh-CN" altLang="zh-CN"/>
              <a:t>语句只能退出其所在的这一层循环。</a:t>
            </a:r>
            <a:endParaRPr lang="zh-CN" altLang="zh-CN"/>
          </a:p>
          <a:p>
            <a:pPr eaLnBrk="1" hangingPunct="1">
              <a:lnSpc>
                <a:spcPct val="150000"/>
              </a:lnSpc>
            </a:pPr>
            <a:r>
              <a:rPr lang="en-US" altLang="zh-CN" b="1">
                <a:solidFill>
                  <a:srgbClr val="C00000"/>
                </a:solidFill>
              </a:rPr>
              <a:t>3</a:t>
            </a:r>
            <a:r>
              <a:rPr lang="zh-CN" altLang="zh-CN" b="1">
                <a:solidFill>
                  <a:srgbClr val="C00000"/>
                </a:solidFill>
              </a:rPr>
              <a:t>．</a:t>
            </a:r>
            <a:r>
              <a:rPr lang="en-US" altLang="zh-CN" b="1">
                <a:solidFill>
                  <a:srgbClr val="C00000"/>
                </a:solidFill>
              </a:rPr>
              <a:t>CONTINUE</a:t>
            </a:r>
            <a:r>
              <a:rPr lang="zh-CN" altLang="zh-CN" b="1">
                <a:solidFill>
                  <a:srgbClr val="C00000"/>
                </a:solidFill>
              </a:rPr>
              <a:t>语句</a:t>
            </a:r>
            <a:endParaRPr lang="zh-CN" altLang="zh-CN" b="1">
              <a:solidFill>
                <a:srgbClr val="C00000"/>
              </a:solidFill>
            </a:endParaRPr>
          </a:p>
          <a:p>
            <a:pPr eaLnBrk="1" fontAlgn="ctr" hangingPunct="1">
              <a:lnSpc>
                <a:spcPct val="150000"/>
              </a:lnSpc>
            </a:pPr>
            <a:r>
              <a:rPr lang="zh-CN" altLang="zh-CN"/>
              <a:t>语法格式：</a:t>
            </a:r>
            <a:endParaRPr lang="zh-CN" altLang="zh-CN"/>
          </a:p>
          <a:p>
            <a:pPr eaLnBrk="1" hangingPunct="1">
              <a:lnSpc>
                <a:spcPct val="150000"/>
              </a:lnSpc>
            </a:pPr>
            <a:r>
              <a:rPr lang="en-US" altLang="zh-CN"/>
              <a:t>CONTINUE</a:t>
            </a:r>
            <a:endParaRPr lang="zh-CN" altLang="zh-CN"/>
          </a:p>
          <a:p>
            <a:pPr eaLnBrk="1" fontAlgn="ctr" hangingPunct="1">
              <a:lnSpc>
                <a:spcPct val="150000"/>
              </a:lnSpc>
            </a:pPr>
            <a:r>
              <a:rPr lang="en-US" altLang="zh-CN"/>
              <a:t>CONTINUE</a:t>
            </a:r>
            <a:r>
              <a:rPr lang="zh-CN" altLang="zh-CN"/>
              <a:t>语句一般用在循环语句中，用于结束本次循环，重新转到下一次循环条件的判断。</a:t>
            </a:r>
            <a:endParaRPr lang="zh-CN" altLang="zh-CN"/>
          </a:p>
          <a:p>
            <a:pPr eaLnBrk="1" hangingPunct="1">
              <a:lnSpc>
                <a:spcPct val="150000"/>
              </a:lnSpc>
            </a:pPr>
            <a:endParaRPr lang="zh-CN" altLang="en-US"/>
          </a:p>
        </p:txBody>
      </p:sp>
    </p:spTree>
  </p:cSld>
  <p:clrMapOvr>
    <a:masterClrMapping/>
  </p:clrMapOvr>
  <p:transition spd="slow">
    <p:blinds dir="ver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55650" y="4724400"/>
            <a:ext cx="7920038" cy="11525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755650" y="2757488"/>
            <a:ext cx="7920038" cy="3603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5.4.6  </a:t>
            </a:r>
            <a:r>
              <a:rPr lang="zh-CN" altLang="zh-CN" dirty="0">
                <a:effectLst/>
              </a:rPr>
              <a:t>返回语句：</a:t>
            </a:r>
            <a:r>
              <a:rPr lang="en-US" altLang="zh-CN" dirty="0">
                <a:effectLst/>
              </a:rPr>
              <a:t>RETURN</a:t>
            </a:r>
            <a:endParaRPr lang="zh-CN" altLang="zh-CN" dirty="0">
              <a:effectLst/>
            </a:endParaRPr>
          </a:p>
        </p:txBody>
      </p:sp>
      <p:sp>
        <p:nvSpPr>
          <p:cNvPr id="55301" name="TextBox 2"/>
          <p:cNvSpPr txBox="1">
            <a:spLocks noChangeArrowheads="1"/>
          </p:cNvSpPr>
          <p:nvPr/>
        </p:nvSpPr>
        <p:spPr bwMode="auto">
          <a:xfrm>
            <a:off x="395288" y="1412875"/>
            <a:ext cx="8280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t>返回语句用于从存储过程、批处理或语句块中的无条件退出，不执行位于</a:t>
            </a:r>
            <a:r>
              <a:rPr lang="en-US" altLang="zh-CN"/>
              <a:t>RETURN</a:t>
            </a:r>
            <a:r>
              <a:rPr lang="zh-CN" altLang="zh-CN"/>
              <a:t>之后的语句。</a:t>
            </a:r>
            <a:endParaRPr lang="zh-CN" altLang="zh-CN"/>
          </a:p>
          <a:p>
            <a:pPr eaLnBrk="1" fontAlgn="ctr" hangingPunct="1">
              <a:lnSpc>
                <a:spcPct val="150000"/>
              </a:lnSpc>
            </a:pPr>
            <a:r>
              <a:rPr lang="zh-CN" altLang="zh-CN"/>
              <a:t>语法格式：</a:t>
            </a:r>
            <a:endParaRPr lang="zh-CN" altLang="zh-CN"/>
          </a:p>
          <a:p>
            <a:pPr eaLnBrk="1" hangingPunct="1">
              <a:lnSpc>
                <a:spcPct val="150000"/>
              </a:lnSpc>
            </a:pPr>
            <a:r>
              <a:rPr lang="en-US" altLang="zh-CN"/>
              <a:t>RETURN [</a:t>
            </a:r>
            <a:r>
              <a:rPr lang="zh-CN" altLang="zh-CN"/>
              <a:t>整数表达式</a:t>
            </a:r>
            <a:r>
              <a:rPr lang="en-US" altLang="zh-CN"/>
              <a:t>]</a:t>
            </a:r>
            <a:endParaRPr lang="zh-CN" altLang="zh-CN"/>
          </a:p>
          <a:p>
            <a:pPr eaLnBrk="1" fontAlgn="ctr" hangingPunct="1">
              <a:lnSpc>
                <a:spcPct val="150000"/>
              </a:lnSpc>
            </a:pPr>
            <a:r>
              <a:rPr lang="zh-CN" altLang="zh-CN"/>
              <a:t>如果不提供“整数表达式”，则退出程序并返回一个空值；如果用在存储过程中，则可以返回整型值的“整数表达式”。</a:t>
            </a:r>
            <a:endParaRPr lang="zh-CN" altLang="zh-CN"/>
          </a:p>
          <a:p>
            <a:pPr eaLnBrk="1" fontAlgn="ctr" hangingPunct="1">
              <a:lnSpc>
                <a:spcPct val="150000"/>
              </a:lnSpc>
            </a:pPr>
            <a:r>
              <a:rPr lang="zh-CN" altLang="zh-CN"/>
              <a:t>【例</a:t>
            </a:r>
            <a:r>
              <a:rPr lang="en-US" altLang="zh-CN"/>
              <a:t>5.21</a:t>
            </a:r>
            <a:r>
              <a:rPr lang="zh-CN" altLang="zh-CN"/>
              <a:t>】 判断是否存在学号为</a:t>
            </a:r>
            <a:r>
              <a:rPr lang="en-US" altLang="zh-CN"/>
              <a:t>191328</a:t>
            </a:r>
            <a:r>
              <a:rPr lang="zh-CN" altLang="zh-CN"/>
              <a:t>的学生，如果存在则返回，不存在则插入</a:t>
            </a:r>
            <a:r>
              <a:rPr lang="en-US" altLang="zh-CN"/>
              <a:t>191328</a:t>
            </a:r>
            <a:r>
              <a:rPr lang="zh-CN" altLang="zh-CN"/>
              <a:t>号学生的信息。</a:t>
            </a:r>
            <a:endParaRPr lang="zh-CN" altLang="zh-CN"/>
          </a:p>
          <a:p>
            <a:pPr eaLnBrk="1" hangingPunct="1"/>
            <a:r>
              <a:rPr lang="en-US" altLang="zh-CN"/>
              <a:t>IF EXISTS(SELECT * FROM xsb WHERE</a:t>
            </a:r>
            <a:r>
              <a:rPr lang="zh-CN" altLang="zh-CN"/>
              <a:t>学号</a:t>
            </a:r>
            <a:r>
              <a:rPr lang="en-US" altLang="zh-CN"/>
              <a:t>='191328')</a:t>
            </a:r>
            <a:endParaRPr lang="zh-CN" altLang="zh-CN"/>
          </a:p>
          <a:p>
            <a:pPr eaLnBrk="1" hangingPunct="1"/>
            <a:r>
              <a:rPr lang="en-US" altLang="zh-CN"/>
              <a:t>     RETURN</a:t>
            </a:r>
            <a:endParaRPr lang="zh-CN" altLang="zh-CN"/>
          </a:p>
          <a:p>
            <a:pPr eaLnBrk="1" hangingPunct="1"/>
            <a:r>
              <a:rPr lang="en-US" altLang="zh-CN"/>
              <a:t>ELSE</a:t>
            </a:r>
            <a:endParaRPr lang="zh-CN" altLang="zh-CN"/>
          </a:p>
          <a:p>
            <a:pPr eaLnBrk="1" hangingPunct="1"/>
            <a:r>
              <a:rPr lang="en-US" altLang="zh-CN"/>
              <a:t>     INSERT INTO xsb VALUES('191328', '</a:t>
            </a:r>
            <a:r>
              <a:rPr lang="zh-CN" altLang="zh-CN"/>
              <a:t>张可</a:t>
            </a:r>
            <a:r>
              <a:rPr lang="en-US" altLang="zh-CN"/>
              <a:t>', 1, '1990-08-12', '</a:t>
            </a:r>
            <a:r>
              <a:rPr lang="zh-CN" altLang="zh-CN"/>
              <a:t>计算机</a:t>
            </a:r>
            <a:r>
              <a:rPr lang="en-US" altLang="zh-CN"/>
              <a:t>',52, NULL)</a:t>
            </a:r>
            <a:endParaRPr lang="zh-CN" altLang="zh-CN"/>
          </a:p>
          <a:p>
            <a:pPr eaLnBrk="1" hangingPunct="1"/>
            <a:endParaRPr lang="zh-CN" altLang="en-US"/>
          </a:p>
        </p:txBody>
      </p:sp>
    </p:spTree>
  </p:cSld>
  <p:clrMapOvr>
    <a:masterClrMapping/>
  </p:clrMapOvr>
  <p:transition spd="slow">
    <p:pull/>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3716338"/>
            <a:ext cx="7775575" cy="11525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060575"/>
            <a:ext cx="7775575" cy="13684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5.4.7  </a:t>
            </a:r>
            <a:r>
              <a:rPr lang="zh-CN" altLang="zh-CN" dirty="0">
                <a:effectLst/>
              </a:rPr>
              <a:t>等待语句：</a:t>
            </a:r>
            <a:r>
              <a:rPr lang="en-US" altLang="zh-CN" dirty="0">
                <a:effectLst/>
              </a:rPr>
              <a:t>WAITFOR DELAY/TIME</a:t>
            </a:r>
            <a:endParaRPr lang="zh-CN" altLang="zh-CN" dirty="0">
              <a:effectLst/>
            </a:endParaRPr>
          </a:p>
        </p:txBody>
      </p:sp>
      <p:sp>
        <p:nvSpPr>
          <p:cNvPr id="56325" name="TextBox 2"/>
          <p:cNvSpPr txBox="1">
            <a:spLocks noChangeArrowheads="1"/>
          </p:cNvSpPr>
          <p:nvPr/>
        </p:nvSpPr>
        <p:spPr bwMode="auto">
          <a:xfrm>
            <a:off x="468313" y="1484313"/>
            <a:ext cx="8207375" cy="369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等待语句指定触发语句块、存储过程或事务执行的时刻或需等待的时间间隔。</a:t>
            </a:r>
            <a:endParaRPr lang="zh-CN" altLang="zh-CN"/>
          </a:p>
          <a:p>
            <a:pPr eaLnBrk="1" fontAlgn="ctr" hangingPunct="1"/>
            <a:r>
              <a:rPr lang="zh-CN" altLang="zh-CN"/>
              <a:t>语法格式：</a:t>
            </a:r>
            <a:endParaRPr lang="zh-CN" altLang="zh-CN"/>
          </a:p>
          <a:p>
            <a:pPr eaLnBrk="1" hangingPunct="1"/>
            <a:r>
              <a:rPr lang="en-US" altLang="zh-CN"/>
              <a:t>WAITFOR</a:t>
            </a:r>
            <a:endParaRPr lang="zh-CN" altLang="zh-CN"/>
          </a:p>
          <a:p>
            <a:pPr eaLnBrk="1" hangingPunct="1"/>
            <a:r>
              <a:rPr lang="en-US" altLang="zh-CN"/>
              <a:t>{</a:t>
            </a:r>
            <a:endParaRPr lang="zh-CN" altLang="zh-CN"/>
          </a:p>
          <a:p>
            <a:pPr eaLnBrk="1" hangingPunct="1"/>
            <a:r>
              <a:rPr lang="en-US" altLang="zh-CN"/>
              <a:t>    DELAY '</a:t>
            </a:r>
            <a:r>
              <a:rPr lang="zh-CN" altLang="zh-CN"/>
              <a:t>等待时间</a:t>
            </a:r>
            <a:r>
              <a:rPr lang="en-US" altLang="zh-CN"/>
              <a:t>'</a:t>
            </a:r>
            <a:endParaRPr lang="zh-CN" altLang="zh-CN"/>
          </a:p>
          <a:p>
            <a:pPr eaLnBrk="1" hangingPunct="1"/>
            <a:r>
              <a:rPr lang="en-US" altLang="zh-CN"/>
              <a:t>    | TIME '</a:t>
            </a:r>
            <a:r>
              <a:rPr lang="zh-CN" altLang="zh-CN"/>
              <a:t>执行时间</a:t>
            </a:r>
            <a:r>
              <a:rPr lang="en-US" altLang="zh-CN"/>
              <a:t>'</a:t>
            </a:r>
            <a:endParaRPr lang="zh-CN" altLang="zh-CN"/>
          </a:p>
          <a:p>
            <a:pPr eaLnBrk="1" hangingPunct="1"/>
            <a:r>
              <a:rPr lang="en-US" altLang="zh-CN"/>
              <a:t>}</a:t>
            </a:r>
            <a:endParaRPr lang="zh-CN" altLang="zh-CN"/>
          </a:p>
          <a:p>
            <a:pPr eaLnBrk="1" fontAlgn="ctr" hangingPunct="1"/>
            <a:r>
              <a:rPr lang="zh-CN" altLang="zh-CN"/>
              <a:t>【例</a:t>
            </a:r>
            <a:r>
              <a:rPr lang="en-US" altLang="zh-CN"/>
              <a:t>5.22</a:t>
            </a:r>
            <a:r>
              <a:rPr lang="zh-CN" altLang="zh-CN"/>
              <a:t>】 如下语句设定在早上</a:t>
            </a:r>
            <a:r>
              <a:rPr lang="en-US" altLang="zh-CN"/>
              <a:t>8</a:t>
            </a:r>
            <a:r>
              <a:rPr lang="zh-CN" altLang="zh-CN"/>
              <a:t>点执行查询语句。</a:t>
            </a:r>
            <a:endParaRPr lang="zh-CN" altLang="zh-CN"/>
          </a:p>
          <a:p>
            <a:pPr eaLnBrk="1" hangingPunct="1"/>
            <a:r>
              <a:rPr lang="en-US" altLang="zh-CN"/>
              <a:t>BEGIN</a:t>
            </a:r>
            <a:endParaRPr lang="zh-CN" altLang="zh-CN"/>
          </a:p>
          <a:p>
            <a:pPr eaLnBrk="1" hangingPunct="1"/>
            <a:r>
              <a:rPr lang="en-US" altLang="zh-CN"/>
              <a:t>     WAITFOR TIME '8:00'</a:t>
            </a:r>
            <a:endParaRPr lang="zh-CN" altLang="zh-CN"/>
          </a:p>
          <a:p>
            <a:pPr eaLnBrk="1" hangingPunct="1"/>
            <a:r>
              <a:rPr lang="en-US" altLang="zh-CN"/>
              <a:t>     SELECT * FROM xsb</a:t>
            </a:r>
            <a:endParaRPr lang="zh-CN" altLang="zh-CN"/>
          </a:p>
          <a:p>
            <a:pPr eaLnBrk="1" hangingPunct="1"/>
            <a:r>
              <a:rPr lang="en-US" altLang="zh-CN"/>
              <a:t>END</a:t>
            </a:r>
            <a:endParaRPr lang="zh-CN" altLang="zh-CN"/>
          </a:p>
          <a:p>
            <a:pPr eaLnBrk="1" hangingPunct="1"/>
            <a:endParaRPr lang="zh-CN" altLang="en-US"/>
          </a:p>
        </p:txBody>
      </p:sp>
    </p:spTree>
  </p:cSld>
  <p:clrMapOvr>
    <a:masterClrMapping/>
  </p:clrMapOvr>
  <p:transition spd="slow">
    <p:blinds dir="ver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2133600"/>
            <a:ext cx="7848600" cy="16557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5.4.8  </a:t>
            </a:r>
            <a:r>
              <a:rPr lang="zh-CN" altLang="zh-CN" dirty="0">
                <a:effectLst/>
              </a:rPr>
              <a:t>错误处理语句：</a:t>
            </a:r>
            <a:r>
              <a:rPr lang="en-US" altLang="zh-CN" dirty="0">
                <a:effectLst/>
              </a:rPr>
              <a:t>TRY…CATCH</a:t>
            </a:r>
            <a:endParaRPr lang="zh-CN" altLang="zh-CN" dirty="0">
              <a:effectLst/>
            </a:endParaRPr>
          </a:p>
        </p:txBody>
      </p:sp>
      <p:sp>
        <p:nvSpPr>
          <p:cNvPr id="3" name="TextBox 2"/>
          <p:cNvSpPr txBox="1"/>
          <p:nvPr/>
        </p:nvSpPr>
        <p:spPr>
          <a:xfrm>
            <a:off x="468313" y="1268413"/>
            <a:ext cx="8207375" cy="2584450"/>
          </a:xfrm>
          <a:prstGeom prst="rect">
            <a:avLst/>
          </a:prstGeom>
          <a:noFill/>
        </p:spPr>
        <p:txBody>
          <a:bodyPr>
            <a:spAutoFit/>
          </a:bodyPr>
          <a:lstStyle/>
          <a:p>
            <a:pPr indent="446405" fontAlgn="ctr">
              <a:spcBef>
                <a:spcPts val="0"/>
              </a:spcBef>
              <a:spcAft>
                <a:spcPts val="0"/>
              </a:spcAft>
              <a:defRPr/>
            </a:pPr>
            <a:r>
              <a:rPr lang="zh-CN" altLang="zh-CN" dirty="0">
                <a:latin typeface="+mn-lt"/>
                <a:ea typeface="+mn-ea"/>
              </a:rPr>
              <a:t>在</a:t>
            </a:r>
            <a:r>
              <a:rPr lang="en-US" altLang="zh-CN" dirty="0">
                <a:latin typeface="+mn-lt"/>
                <a:ea typeface="+mn-ea"/>
              </a:rPr>
              <a:t>SQL Server 2012</a:t>
            </a:r>
            <a:r>
              <a:rPr lang="zh-CN" altLang="zh-CN" dirty="0">
                <a:latin typeface="+mn-lt"/>
                <a:ea typeface="+mn-ea"/>
              </a:rPr>
              <a:t>中，可以使用</a:t>
            </a:r>
            <a:r>
              <a:rPr lang="en-US" altLang="zh-CN" dirty="0">
                <a:latin typeface="+mn-lt"/>
                <a:ea typeface="+mn-ea"/>
              </a:rPr>
              <a:t>TRY…CATCH</a:t>
            </a:r>
            <a:r>
              <a:rPr lang="zh-CN" altLang="zh-CN" dirty="0">
                <a:latin typeface="+mn-lt"/>
                <a:ea typeface="+mn-ea"/>
              </a:rPr>
              <a:t>语句进行</a:t>
            </a:r>
            <a:r>
              <a:rPr lang="en-US" altLang="zh-CN" dirty="0">
                <a:latin typeface="+mn-lt"/>
                <a:ea typeface="+mn-ea"/>
              </a:rPr>
              <a:t>T-SQL</a:t>
            </a:r>
            <a:r>
              <a:rPr lang="zh-CN" altLang="zh-CN" dirty="0">
                <a:latin typeface="+mn-lt"/>
                <a:ea typeface="+mn-ea"/>
              </a:rPr>
              <a:t>语言中的错误处理。</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语法格式：</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BEGIN TRY</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 SQL</a:t>
            </a:r>
            <a:r>
              <a:rPr lang="zh-CN" altLang="zh-CN" dirty="0">
                <a:latin typeface="+mn-lt"/>
                <a:ea typeface="+mn-ea"/>
              </a:rPr>
              <a:t>语句</a:t>
            </a:r>
            <a:r>
              <a:rPr lang="en-US" altLang="zh-CN" dirty="0">
                <a:latin typeface="+mn-lt"/>
                <a:ea typeface="+mn-ea"/>
              </a:rPr>
              <a:t> | </a:t>
            </a:r>
            <a:r>
              <a:rPr lang="zh-CN" altLang="zh-CN" dirty="0">
                <a:latin typeface="+mn-lt"/>
                <a:ea typeface="+mn-ea"/>
              </a:rPr>
              <a:t>语句块</a:t>
            </a:r>
            <a:r>
              <a:rPr lang="en-US" altLang="zh-CN" dirty="0">
                <a:latin typeface="+mn-lt"/>
                <a:ea typeface="+mn-ea"/>
              </a:rPr>
              <a:t> }</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END TRY</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BEGIN CATCH</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 { SQL</a:t>
            </a:r>
            <a:r>
              <a:rPr lang="zh-CN" altLang="zh-CN" dirty="0">
                <a:latin typeface="+mn-lt"/>
                <a:ea typeface="+mn-ea"/>
              </a:rPr>
              <a:t>语句</a:t>
            </a:r>
            <a:r>
              <a:rPr lang="en-US" altLang="zh-CN" dirty="0">
                <a:latin typeface="+mn-lt"/>
                <a:ea typeface="+mn-ea"/>
              </a:rPr>
              <a:t> | </a:t>
            </a:r>
            <a:r>
              <a:rPr lang="zh-CN" altLang="zh-CN" dirty="0">
                <a:latin typeface="+mn-lt"/>
                <a:ea typeface="+mn-ea"/>
              </a:rPr>
              <a:t>语句块</a:t>
            </a:r>
            <a:r>
              <a:rPr lang="en-US" altLang="zh-CN" dirty="0">
                <a:latin typeface="+mn-lt"/>
                <a:ea typeface="+mn-ea"/>
              </a:rPr>
              <a:t> } ]</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END CATCH</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pull/>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5.5  </a:t>
            </a:r>
            <a:r>
              <a:rPr lang="zh-CN" altLang="zh-CN" dirty="0">
                <a:effectLst/>
              </a:rPr>
              <a:t>系统内置函数</a:t>
            </a:r>
            <a:endParaRPr lang="zh-CN" altLang="zh-CN" dirty="0">
              <a:effectLst/>
            </a:endParaRPr>
          </a:p>
        </p:txBody>
      </p:sp>
      <p:sp>
        <p:nvSpPr>
          <p:cNvPr id="58371" name="TextBox 2"/>
          <p:cNvSpPr txBox="1">
            <a:spLocks noChangeArrowheads="1"/>
          </p:cNvSpPr>
          <p:nvPr/>
        </p:nvSpPr>
        <p:spPr bwMode="auto">
          <a:xfrm>
            <a:off x="468313" y="1412875"/>
            <a:ext cx="8207375"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a:solidFill>
                  <a:srgbClr val="FFFF00"/>
                </a:solidFill>
              </a:rPr>
              <a:t>5.5.1  </a:t>
            </a:r>
            <a:r>
              <a:rPr lang="zh-CN" altLang="zh-CN" sz="2000" b="1">
                <a:solidFill>
                  <a:srgbClr val="FFFF00"/>
                </a:solidFill>
              </a:rPr>
              <a:t>系统内置函数介绍</a:t>
            </a:r>
            <a:endParaRPr lang="zh-CN" altLang="zh-CN" sz="2000" b="1">
              <a:solidFill>
                <a:srgbClr val="FFFF00"/>
              </a:solidFill>
            </a:endParaRPr>
          </a:p>
          <a:p>
            <a:pPr eaLnBrk="1" fontAlgn="ctr" hangingPunct="1"/>
            <a:r>
              <a:rPr lang="en-US" altLang="zh-CN"/>
              <a:t>T-SQL</a:t>
            </a:r>
            <a:r>
              <a:rPr lang="zh-CN" altLang="zh-CN"/>
              <a:t>编程语言提供</a:t>
            </a:r>
            <a:r>
              <a:rPr lang="en-US" altLang="zh-CN"/>
              <a:t>3</a:t>
            </a:r>
            <a:r>
              <a:rPr lang="zh-CN" altLang="zh-CN"/>
              <a:t>种系统内置函数：行集函数、聚合函数和标量函数。所有的函数都是确定性或非确定性的。</a:t>
            </a:r>
            <a:endParaRPr lang="zh-CN" altLang="zh-CN"/>
          </a:p>
          <a:p>
            <a:pPr eaLnBrk="1" hangingPunct="1"/>
            <a:r>
              <a:rPr lang="en-US" altLang="zh-CN" b="1">
                <a:solidFill>
                  <a:srgbClr val="C00000"/>
                </a:solidFill>
              </a:rPr>
              <a:t>1</a:t>
            </a:r>
            <a:r>
              <a:rPr lang="zh-CN" altLang="zh-CN" b="1">
                <a:solidFill>
                  <a:srgbClr val="C00000"/>
                </a:solidFill>
              </a:rPr>
              <a:t>．行集函数</a:t>
            </a:r>
            <a:endParaRPr lang="zh-CN" altLang="zh-CN" b="1">
              <a:solidFill>
                <a:srgbClr val="C00000"/>
              </a:solidFill>
            </a:endParaRPr>
          </a:p>
          <a:p>
            <a:pPr eaLnBrk="1" fontAlgn="ctr" hangingPunct="1"/>
            <a:r>
              <a:rPr lang="en-US" altLang="zh-CN"/>
              <a:t>SQL Server 2012</a:t>
            </a:r>
            <a:r>
              <a:rPr lang="zh-CN" altLang="zh-CN"/>
              <a:t>主要提供了以下行集函数。</a:t>
            </a:r>
            <a:endParaRPr lang="zh-CN" altLang="zh-CN"/>
          </a:p>
          <a:p>
            <a:pPr eaLnBrk="1" fontAlgn="ctr" hangingPunct="1"/>
            <a:r>
              <a:rPr lang="zh-CN" altLang="zh-CN"/>
              <a:t>（</a:t>
            </a:r>
            <a:r>
              <a:rPr lang="en-US" altLang="zh-CN"/>
              <a:t>1</a:t>
            </a:r>
            <a:r>
              <a:rPr lang="zh-CN" altLang="zh-CN"/>
              <a:t>）</a:t>
            </a:r>
            <a:r>
              <a:rPr lang="en-US" altLang="zh-CN"/>
              <a:t>CONTAINSTABLE</a:t>
            </a:r>
            <a:r>
              <a:rPr lang="zh-CN" altLang="zh-CN"/>
              <a:t>：对于基于字符类型的列，按照一定的搜索条件进行精确或模糊匹配，然后返回一个表，该表可能为空。</a:t>
            </a:r>
            <a:endParaRPr lang="zh-CN" altLang="zh-CN"/>
          </a:p>
          <a:p>
            <a:pPr eaLnBrk="1" fontAlgn="ctr" hangingPunct="1"/>
            <a:r>
              <a:rPr lang="zh-CN" altLang="zh-CN"/>
              <a:t>（</a:t>
            </a:r>
            <a:r>
              <a:rPr lang="en-US" altLang="zh-CN"/>
              <a:t>2</a:t>
            </a:r>
            <a:r>
              <a:rPr lang="zh-CN" altLang="zh-CN"/>
              <a:t>）</a:t>
            </a:r>
            <a:r>
              <a:rPr lang="en-US" altLang="zh-CN"/>
              <a:t>FREETEXTTABLE</a:t>
            </a:r>
            <a:r>
              <a:rPr lang="zh-CN" altLang="zh-CN"/>
              <a:t>：为基于字符类型的列返回一个表，其中的值符合指定文本的含义，但不符合确切的表达方式。</a:t>
            </a:r>
            <a:endParaRPr lang="zh-CN" altLang="zh-CN"/>
          </a:p>
          <a:p>
            <a:pPr eaLnBrk="1" fontAlgn="ctr" hangingPunct="1"/>
            <a:r>
              <a:rPr lang="zh-CN" altLang="zh-CN"/>
              <a:t>（</a:t>
            </a:r>
            <a:r>
              <a:rPr lang="en-US" altLang="zh-CN"/>
              <a:t>3</a:t>
            </a:r>
            <a:r>
              <a:rPr lang="zh-CN" altLang="zh-CN"/>
              <a:t>）</a:t>
            </a:r>
            <a:r>
              <a:rPr lang="en-US" altLang="zh-CN"/>
              <a:t>OPENDATASOURCE</a:t>
            </a:r>
            <a:r>
              <a:rPr lang="zh-CN" altLang="zh-CN"/>
              <a:t>：提供与数据源的连接。</a:t>
            </a:r>
            <a:endParaRPr lang="zh-CN" altLang="zh-CN"/>
          </a:p>
          <a:p>
            <a:pPr eaLnBrk="1" fontAlgn="ctr" hangingPunct="1"/>
            <a:r>
              <a:rPr lang="zh-CN" altLang="zh-CN"/>
              <a:t>（</a:t>
            </a:r>
            <a:r>
              <a:rPr lang="en-US" altLang="zh-CN"/>
              <a:t>4</a:t>
            </a:r>
            <a:r>
              <a:rPr lang="zh-CN" altLang="zh-CN"/>
              <a:t>）</a:t>
            </a:r>
            <a:r>
              <a:rPr lang="en-US" altLang="zh-CN"/>
              <a:t>OPENQUERY</a:t>
            </a:r>
            <a:r>
              <a:rPr lang="zh-CN" altLang="zh-CN"/>
              <a:t>：在指定数据源上执行查询。可以在查询的</a:t>
            </a:r>
            <a:r>
              <a:rPr lang="en-US" altLang="zh-CN"/>
              <a:t>FROM</a:t>
            </a:r>
            <a:r>
              <a:rPr lang="zh-CN" altLang="zh-CN"/>
              <a:t>子句中像引用基本表一样引用</a:t>
            </a:r>
            <a:r>
              <a:rPr lang="en-US" altLang="zh-CN"/>
              <a:t>OPENQUERY</a:t>
            </a:r>
            <a:r>
              <a:rPr lang="zh-CN" altLang="zh-CN"/>
              <a:t>函数，虽然查询可能返回多个记录，但</a:t>
            </a:r>
            <a:r>
              <a:rPr lang="en-US" altLang="zh-CN"/>
              <a:t>OPENQUERY</a:t>
            </a:r>
            <a:r>
              <a:rPr lang="zh-CN" altLang="zh-CN"/>
              <a:t>只返回第一个记录。</a:t>
            </a:r>
            <a:endParaRPr lang="zh-CN" altLang="zh-CN"/>
          </a:p>
          <a:p>
            <a:pPr eaLnBrk="1" fontAlgn="ctr" hangingPunct="1"/>
            <a:r>
              <a:rPr lang="zh-CN" altLang="zh-CN"/>
              <a:t>（</a:t>
            </a:r>
            <a:r>
              <a:rPr lang="en-US" altLang="zh-CN"/>
              <a:t>5</a:t>
            </a:r>
            <a:r>
              <a:rPr lang="zh-CN" altLang="zh-CN"/>
              <a:t>）</a:t>
            </a:r>
            <a:r>
              <a:rPr lang="en-US" altLang="zh-CN"/>
              <a:t>OPENROWSET</a:t>
            </a:r>
            <a:r>
              <a:rPr lang="zh-CN" altLang="zh-CN"/>
              <a:t>：包含访问</a:t>
            </a:r>
            <a:r>
              <a:rPr lang="en-US" altLang="zh-CN"/>
              <a:t>OLE DB</a:t>
            </a:r>
            <a:r>
              <a:rPr lang="zh-CN" altLang="zh-CN"/>
              <a:t>数据源中远程数据所需的全部连接信息。可在查询的</a:t>
            </a:r>
            <a:r>
              <a:rPr lang="en-US" altLang="zh-CN"/>
              <a:t>FROM</a:t>
            </a:r>
            <a:r>
              <a:rPr lang="zh-CN" altLang="zh-CN"/>
              <a:t>子句中像引用基本表一样引用</a:t>
            </a:r>
            <a:r>
              <a:rPr lang="en-US" altLang="zh-CN"/>
              <a:t>OPENROWSET</a:t>
            </a:r>
            <a:r>
              <a:rPr lang="zh-CN" altLang="zh-CN"/>
              <a:t>函数，虽然查询可能返回多个记录，但</a:t>
            </a:r>
            <a:r>
              <a:rPr lang="en-US" altLang="zh-CN"/>
              <a:t>OPENROWSET</a:t>
            </a:r>
            <a:r>
              <a:rPr lang="zh-CN" altLang="zh-CN"/>
              <a:t>只返回第一个记录。</a:t>
            </a:r>
            <a:endParaRPr lang="zh-CN" altLang="zh-CN"/>
          </a:p>
          <a:p>
            <a:pPr eaLnBrk="1" fontAlgn="ctr" hangingPunct="1"/>
            <a:r>
              <a:rPr lang="zh-CN" altLang="zh-CN"/>
              <a:t>（</a:t>
            </a:r>
            <a:r>
              <a:rPr lang="en-US" altLang="zh-CN"/>
              <a:t>6</a:t>
            </a:r>
            <a:r>
              <a:rPr lang="zh-CN" altLang="zh-CN"/>
              <a:t>）</a:t>
            </a:r>
            <a:r>
              <a:rPr lang="en-US" altLang="zh-CN"/>
              <a:t>OPENXML</a:t>
            </a:r>
            <a:r>
              <a:rPr lang="zh-CN" altLang="zh-CN"/>
              <a:t>函数：通过</a:t>
            </a:r>
            <a:r>
              <a:rPr lang="en-US" altLang="zh-CN"/>
              <a:t>XML</a:t>
            </a:r>
            <a:r>
              <a:rPr lang="zh-CN" altLang="zh-CN"/>
              <a:t>文档提供行集视图。</a:t>
            </a:r>
            <a:endParaRPr lang="zh-CN" altLang="zh-CN"/>
          </a:p>
          <a:p>
            <a:pPr eaLnBrk="1" hangingPunct="1"/>
            <a:endParaRPr lang="zh-CN" altLang="en-US"/>
          </a:p>
        </p:txBody>
      </p:sp>
    </p:spTree>
  </p:cSld>
  <p:clrMapOvr>
    <a:masterClrMapping/>
  </p:clrMapOvr>
  <p:transition spd="slow">
    <p:blinds dir="ver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5.5.1  </a:t>
            </a:r>
            <a:r>
              <a:rPr lang="zh-CN" altLang="zh-CN" dirty="0">
                <a:effectLst/>
              </a:rPr>
              <a:t>系统内置函数</a:t>
            </a:r>
            <a:r>
              <a:rPr lang="zh-CN" altLang="zh-CN" dirty="0" smtClean="0">
                <a:effectLst/>
              </a:rPr>
              <a:t>介绍</a:t>
            </a:r>
            <a:endParaRPr lang="zh-CN" altLang="en-US" dirty="0"/>
          </a:p>
        </p:txBody>
      </p:sp>
      <p:sp>
        <p:nvSpPr>
          <p:cNvPr id="59395" name="TextBox 2"/>
          <p:cNvSpPr txBox="1">
            <a:spLocks noChangeArrowheads="1"/>
          </p:cNvSpPr>
          <p:nvPr/>
        </p:nvSpPr>
        <p:spPr bwMode="auto">
          <a:xfrm>
            <a:off x="468313" y="1484313"/>
            <a:ext cx="8207375" cy="383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2</a:t>
            </a:r>
            <a:r>
              <a:rPr lang="zh-CN" altLang="zh-CN" b="1">
                <a:solidFill>
                  <a:srgbClr val="C00000"/>
                </a:solidFill>
              </a:rPr>
              <a:t>．聚合函数</a:t>
            </a:r>
            <a:endParaRPr lang="zh-CN" altLang="zh-CN" b="1">
              <a:solidFill>
                <a:srgbClr val="C00000"/>
              </a:solidFill>
            </a:endParaRPr>
          </a:p>
          <a:p>
            <a:pPr eaLnBrk="1" fontAlgn="ctr" hangingPunct="1">
              <a:lnSpc>
                <a:spcPct val="150000"/>
              </a:lnSpc>
            </a:pPr>
            <a:r>
              <a:rPr lang="zh-CN" altLang="zh-CN"/>
              <a:t>聚合函数对一组值操作，返回单一的汇总值。聚合函数在以下情况下，允许作为表达式使用：</a:t>
            </a:r>
            <a:endParaRPr lang="zh-CN" altLang="zh-CN"/>
          </a:p>
          <a:p>
            <a:pPr eaLnBrk="1" fontAlgn="ctr" hangingPunct="1">
              <a:lnSpc>
                <a:spcPct val="150000"/>
              </a:lnSpc>
            </a:pPr>
            <a:r>
              <a:rPr lang="zh-CN" altLang="zh-CN"/>
              <a:t>（</a:t>
            </a:r>
            <a:r>
              <a:rPr lang="en-US" altLang="zh-CN"/>
              <a:t>1</a:t>
            </a:r>
            <a:r>
              <a:rPr lang="zh-CN" altLang="zh-CN"/>
              <a:t>）</a:t>
            </a:r>
            <a:r>
              <a:rPr lang="en-US" altLang="zh-CN"/>
              <a:t>SELECT</a:t>
            </a:r>
            <a:r>
              <a:rPr lang="zh-CN" altLang="zh-CN"/>
              <a:t>语句的选择列表（子查询或外部查询）；</a:t>
            </a:r>
            <a:endParaRPr lang="zh-CN" altLang="zh-CN"/>
          </a:p>
          <a:p>
            <a:pPr eaLnBrk="1" fontAlgn="ctr" hangingPunct="1">
              <a:lnSpc>
                <a:spcPct val="150000"/>
              </a:lnSpc>
            </a:pPr>
            <a:r>
              <a:rPr lang="zh-CN" altLang="zh-CN"/>
              <a:t>（</a:t>
            </a:r>
            <a:r>
              <a:rPr lang="en-US" altLang="zh-CN"/>
              <a:t>2</a:t>
            </a:r>
            <a:r>
              <a:rPr lang="zh-CN" altLang="zh-CN"/>
              <a:t>）</a:t>
            </a:r>
            <a:r>
              <a:rPr lang="en-US" altLang="zh-CN"/>
              <a:t>COMPUTE</a:t>
            </a:r>
            <a:r>
              <a:rPr lang="zh-CN" altLang="zh-CN"/>
              <a:t>或</a:t>
            </a:r>
            <a:r>
              <a:rPr lang="en-US" altLang="zh-CN"/>
              <a:t>COMPUTE BY</a:t>
            </a:r>
            <a:r>
              <a:rPr lang="zh-CN" altLang="zh-CN"/>
              <a:t>子句；</a:t>
            </a:r>
            <a:endParaRPr lang="zh-CN" altLang="zh-CN"/>
          </a:p>
          <a:p>
            <a:pPr eaLnBrk="1" fontAlgn="ctr" hangingPunct="1">
              <a:lnSpc>
                <a:spcPct val="150000"/>
              </a:lnSpc>
            </a:pPr>
            <a:r>
              <a:rPr lang="zh-CN" altLang="zh-CN"/>
              <a:t>（</a:t>
            </a:r>
            <a:r>
              <a:rPr lang="en-US" altLang="zh-CN"/>
              <a:t>3</a:t>
            </a:r>
            <a:r>
              <a:rPr lang="zh-CN" altLang="zh-CN"/>
              <a:t>）</a:t>
            </a:r>
            <a:r>
              <a:rPr lang="en-US" altLang="zh-CN"/>
              <a:t>HAVING</a:t>
            </a:r>
            <a:r>
              <a:rPr lang="zh-CN" altLang="zh-CN"/>
              <a:t>子句。</a:t>
            </a:r>
            <a:endParaRPr lang="zh-CN" altLang="zh-CN"/>
          </a:p>
          <a:p>
            <a:pPr eaLnBrk="1" hangingPunct="1">
              <a:lnSpc>
                <a:spcPct val="150000"/>
              </a:lnSpc>
            </a:pPr>
            <a:r>
              <a:rPr lang="en-US" altLang="zh-CN" b="1">
                <a:solidFill>
                  <a:srgbClr val="C00000"/>
                </a:solidFill>
              </a:rPr>
              <a:t>3</a:t>
            </a:r>
            <a:r>
              <a:rPr lang="zh-CN" altLang="zh-CN" b="1">
                <a:solidFill>
                  <a:srgbClr val="C00000"/>
                </a:solidFill>
              </a:rPr>
              <a:t>．标量函数</a:t>
            </a:r>
            <a:endParaRPr lang="zh-CN" altLang="zh-CN" b="1">
              <a:solidFill>
                <a:srgbClr val="C00000"/>
              </a:solidFill>
            </a:endParaRPr>
          </a:p>
          <a:p>
            <a:pPr eaLnBrk="1" fontAlgn="ctr" hangingPunct="1">
              <a:lnSpc>
                <a:spcPct val="150000"/>
              </a:lnSpc>
            </a:pPr>
            <a:r>
              <a:rPr lang="zh-CN" altLang="zh-CN"/>
              <a:t>标量函数的特点：输入参数的类型为基本类型，返回值也为基本类型。</a:t>
            </a:r>
            <a:endParaRPr lang="zh-CN" altLang="zh-CN"/>
          </a:p>
          <a:p>
            <a:pPr eaLnBrk="1" hangingPunct="1">
              <a:lnSpc>
                <a:spcPct val="150000"/>
              </a:lnSpc>
            </a:pPr>
            <a:endParaRPr lang="zh-CN" altLang="en-US"/>
          </a:p>
        </p:txBody>
      </p:sp>
    </p:spTree>
  </p:cSld>
  <p:clrMapOvr>
    <a:masterClrMapping/>
  </p:clrMapOvr>
  <p:transition spd="slow">
    <p:pull/>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5.5.2  </a:t>
            </a:r>
            <a:r>
              <a:rPr lang="zh-CN" altLang="zh-CN" dirty="0">
                <a:effectLst/>
              </a:rPr>
              <a:t>常用系统标量函数</a:t>
            </a:r>
            <a:endParaRPr lang="zh-CN" altLang="zh-CN" dirty="0">
              <a:effectLst/>
            </a:endParaRPr>
          </a:p>
        </p:txBody>
      </p:sp>
      <p:sp>
        <p:nvSpPr>
          <p:cNvPr id="60419" name="TextBox 2"/>
          <p:cNvSpPr txBox="1">
            <a:spLocks noChangeArrowheads="1"/>
          </p:cNvSpPr>
          <p:nvPr/>
        </p:nvSpPr>
        <p:spPr bwMode="auto">
          <a:xfrm>
            <a:off x="468313" y="1628775"/>
            <a:ext cx="8280400" cy="171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1</a:t>
            </a:r>
            <a:r>
              <a:rPr lang="zh-CN" altLang="zh-CN" b="1">
                <a:solidFill>
                  <a:srgbClr val="C00000"/>
                </a:solidFill>
              </a:rPr>
              <a:t>．配置函数</a:t>
            </a:r>
            <a:endParaRPr lang="zh-CN" altLang="zh-CN" b="1">
              <a:solidFill>
                <a:srgbClr val="C00000"/>
              </a:solidFill>
            </a:endParaRPr>
          </a:p>
          <a:p>
            <a:pPr eaLnBrk="1" fontAlgn="ctr" hangingPunct="1">
              <a:lnSpc>
                <a:spcPct val="150000"/>
              </a:lnSpc>
            </a:pPr>
            <a:r>
              <a:rPr lang="zh-CN" altLang="zh-CN"/>
              <a:t>配置函数用于返回当前配置选项设置的信息。全局变量是以函数形式使用的，配置函数一般都是全局变量名，详细介绍请参见有关文档。</a:t>
            </a:r>
            <a:endParaRPr lang="zh-CN" altLang="zh-CN"/>
          </a:p>
          <a:p>
            <a:pPr eaLnBrk="1" hangingPunct="1">
              <a:lnSpc>
                <a:spcPct val="150000"/>
              </a:lnSpc>
            </a:pPr>
            <a:endParaRPr lang="zh-CN" altLang="en-US"/>
          </a:p>
        </p:txBody>
      </p:sp>
    </p:spTree>
  </p:cSld>
  <p:clrMapOvr>
    <a:masterClrMapping/>
  </p:clrMapOvr>
  <p:transition spd="slow">
    <p:blinds dir="ver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755650" y="5445125"/>
            <a:ext cx="7920038" cy="9366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a:xfrm>
            <a:off x="755650" y="4149725"/>
            <a:ext cx="7920038" cy="2873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a:xfrm>
            <a:off x="755650" y="3284538"/>
            <a:ext cx="7920038" cy="288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755650" y="2190750"/>
            <a:ext cx="7920038" cy="288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5.5.2  </a:t>
            </a:r>
            <a:r>
              <a:rPr lang="zh-CN" altLang="zh-CN" dirty="0">
                <a:effectLst/>
              </a:rPr>
              <a:t>常用系统标量函数</a:t>
            </a:r>
            <a:endParaRPr lang="zh-CN" altLang="en-US" dirty="0"/>
          </a:p>
        </p:txBody>
      </p:sp>
      <p:sp>
        <p:nvSpPr>
          <p:cNvPr id="3" name="TextBox 2"/>
          <p:cNvSpPr txBox="1"/>
          <p:nvPr/>
        </p:nvSpPr>
        <p:spPr>
          <a:xfrm>
            <a:off x="468313" y="1341438"/>
            <a:ext cx="8207375" cy="5354637"/>
          </a:xfrm>
          <a:prstGeom prst="rect">
            <a:avLst/>
          </a:prstGeom>
          <a:noFill/>
        </p:spPr>
        <p:txBody>
          <a:bodyPr>
            <a:spAutoFit/>
          </a:bodyPr>
          <a:lstStyle/>
          <a:p>
            <a:pPr indent="446405" fontAlgn="auto">
              <a:spcBef>
                <a:spcPts val="0"/>
              </a:spcBef>
              <a:spcAft>
                <a:spcPts val="0"/>
              </a:spcAft>
              <a:defRPr/>
            </a:pPr>
            <a:r>
              <a:rPr lang="en-US" altLang="zh-CN" b="1" dirty="0">
                <a:solidFill>
                  <a:srgbClr val="C00000"/>
                </a:solidFill>
                <a:latin typeface="+mn-lt"/>
                <a:ea typeface="+mn-ea"/>
              </a:rPr>
              <a:t>2</a:t>
            </a:r>
            <a:r>
              <a:rPr lang="zh-CN" altLang="zh-CN" b="1" dirty="0">
                <a:solidFill>
                  <a:srgbClr val="C00000"/>
                </a:solidFill>
                <a:latin typeface="+mn-lt"/>
                <a:ea typeface="+mn-ea"/>
              </a:rPr>
              <a:t>．数学函数</a:t>
            </a:r>
            <a:endParaRPr lang="zh-CN" altLang="zh-CN" b="1" dirty="0">
              <a:solidFill>
                <a:srgbClr val="C00000"/>
              </a:solidFill>
              <a:latin typeface="+mn-lt"/>
              <a:ea typeface="+mn-ea"/>
            </a:endParaRPr>
          </a:p>
          <a:p>
            <a:pPr indent="446405" fontAlgn="ctr">
              <a:spcBef>
                <a:spcPts val="0"/>
              </a:spcBef>
              <a:spcAft>
                <a:spcPts val="0"/>
              </a:spcAft>
              <a:defRPr/>
            </a:pPr>
            <a:r>
              <a:rPr lang="zh-CN" altLang="zh-CN" b="1" dirty="0">
                <a:latin typeface="+mn-lt"/>
                <a:ea typeface="+mn-ea"/>
              </a:rPr>
              <a:t>（</a:t>
            </a:r>
            <a:r>
              <a:rPr lang="en-US" altLang="zh-CN" b="1" dirty="0">
                <a:latin typeface="+mn-lt"/>
                <a:ea typeface="+mn-ea"/>
              </a:rPr>
              <a:t>1</a:t>
            </a:r>
            <a:r>
              <a:rPr lang="zh-CN" altLang="zh-CN" b="1" dirty="0">
                <a:latin typeface="+mn-lt"/>
                <a:ea typeface="+mn-ea"/>
              </a:rPr>
              <a:t>）</a:t>
            </a:r>
            <a:r>
              <a:rPr lang="en-US" altLang="zh-CN" b="1" dirty="0">
                <a:latin typeface="+mn-lt"/>
                <a:ea typeface="+mn-ea"/>
              </a:rPr>
              <a:t>ABS</a:t>
            </a:r>
            <a:r>
              <a:rPr lang="zh-CN" altLang="zh-CN" b="1" dirty="0">
                <a:latin typeface="+mn-lt"/>
                <a:ea typeface="+mn-ea"/>
              </a:rPr>
              <a:t>函数</a:t>
            </a:r>
            <a:endParaRPr lang="zh-CN" altLang="zh-CN" b="1" dirty="0">
              <a:latin typeface="+mn-lt"/>
              <a:ea typeface="+mn-ea"/>
            </a:endParaRPr>
          </a:p>
          <a:p>
            <a:pPr indent="446405" fontAlgn="ctr">
              <a:spcBef>
                <a:spcPts val="0"/>
              </a:spcBef>
              <a:spcAft>
                <a:spcPts val="0"/>
              </a:spcAft>
              <a:defRPr/>
            </a:pPr>
            <a:r>
              <a:rPr lang="zh-CN" altLang="zh-CN" dirty="0">
                <a:latin typeface="+mn-lt"/>
                <a:ea typeface="+mn-ea"/>
              </a:rPr>
              <a:t>语法格式：</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ABS(</a:t>
            </a:r>
            <a:r>
              <a:rPr lang="zh-CN" altLang="zh-CN" dirty="0">
                <a:latin typeface="+mn-lt"/>
                <a:ea typeface="+mn-ea"/>
              </a:rPr>
              <a:t>数字表达式</a:t>
            </a:r>
            <a:r>
              <a:rPr lang="en-US" altLang="zh-CN" dirty="0">
                <a:latin typeface="+mn-lt"/>
                <a:ea typeface="+mn-ea"/>
              </a:rPr>
              <a:t>)</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返回给定数字表达式的绝对值。参数为数字型表达式（</a:t>
            </a:r>
            <a:r>
              <a:rPr lang="en-US" altLang="zh-CN" dirty="0">
                <a:latin typeface="+mn-lt"/>
                <a:ea typeface="+mn-ea"/>
              </a:rPr>
              <a:t>bit</a:t>
            </a:r>
            <a:r>
              <a:rPr lang="zh-CN" altLang="zh-CN" dirty="0">
                <a:latin typeface="+mn-lt"/>
                <a:ea typeface="+mn-ea"/>
              </a:rPr>
              <a:t>数据类型除外），返回值类型与“数字表达式”相同。</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例如，显示</a:t>
            </a:r>
            <a:r>
              <a:rPr lang="en-US" altLang="zh-CN" dirty="0">
                <a:latin typeface="+mn-lt"/>
                <a:ea typeface="+mn-ea"/>
              </a:rPr>
              <a:t>ABS</a:t>
            </a:r>
            <a:r>
              <a:rPr lang="zh-CN" altLang="zh-CN" dirty="0">
                <a:latin typeface="+mn-lt"/>
                <a:ea typeface="+mn-ea"/>
              </a:rPr>
              <a:t>函数对</a:t>
            </a:r>
            <a:r>
              <a:rPr lang="en-US" altLang="zh-CN" dirty="0">
                <a:latin typeface="+mn-lt"/>
                <a:ea typeface="+mn-ea"/>
              </a:rPr>
              <a:t>3</a:t>
            </a:r>
            <a:r>
              <a:rPr lang="zh-CN" altLang="zh-CN" dirty="0">
                <a:latin typeface="+mn-lt"/>
                <a:ea typeface="+mn-ea"/>
              </a:rPr>
              <a:t>个不同数字的效果。</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SELECT  ABS(</a:t>
            </a:r>
            <a:r>
              <a:rPr lang="en-US" altLang="zh-CN" dirty="0">
                <a:latin typeface="+mn-lt"/>
                <a:ea typeface="+mn-ea"/>
                <a:sym typeface="Symbol" panose="05050102010706020507"/>
              </a:rPr>
              <a:t></a:t>
            </a:r>
            <a:r>
              <a:rPr lang="en-US" altLang="zh-CN" dirty="0">
                <a:latin typeface="+mn-lt"/>
                <a:ea typeface="+mn-ea"/>
              </a:rPr>
              <a:t>5.0),  ABS(0.0),  ABS(8.0)</a:t>
            </a:r>
            <a:endParaRPr lang="zh-CN" altLang="zh-CN" dirty="0">
              <a:latin typeface="+mn-lt"/>
              <a:ea typeface="+mn-ea"/>
            </a:endParaRPr>
          </a:p>
          <a:p>
            <a:pPr indent="446405" fontAlgn="ctr">
              <a:spcBef>
                <a:spcPts val="0"/>
              </a:spcBef>
              <a:spcAft>
                <a:spcPts val="0"/>
              </a:spcAft>
              <a:defRPr/>
            </a:pPr>
            <a:r>
              <a:rPr lang="zh-CN" altLang="zh-CN" b="1" dirty="0">
                <a:latin typeface="+mn-lt"/>
                <a:ea typeface="+mn-ea"/>
              </a:rPr>
              <a:t>（</a:t>
            </a:r>
            <a:r>
              <a:rPr lang="en-US" altLang="zh-CN" b="1" dirty="0">
                <a:latin typeface="+mn-lt"/>
                <a:ea typeface="+mn-ea"/>
              </a:rPr>
              <a:t>2</a:t>
            </a:r>
            <a:r>
              <a:rPr lang="zh-CN" altLang="zh-CN" b="1" dirty="0">
                <a:latin typeface="+mn-lt"/>
                <a:ea typeface="+mn-ea"/>
              </a:rPr>
              <a:t>）</a:t>
            </a:r>
            <a:r>
              <a:rPr lang="en-US" altLang="zh-CN" b="1" dirty="0">
                <a:latin typeface="+mn-lt"/>
                <a:ea typeface="+mn-ea"/>
              </a:rPr>
              <a:t>RAND</a:t>
            </a:r>
            <a:r>
              <a:rPr lang="zh-CN" altLang="zh-CN" b="1" dirty="0">
                <a:latin typeface="+mn-lt"/>
                <a:ea typeface="+mn-ea"/>
              </a:rPr>
              <a:t>函数</a:t>
            </a:r>
            <a:endParaRPr lang="zh-CN" altLang="zh-CN" b="1" dirty="0">
              <a:latin typeface="+mn-lt"/>
              <a:ea typeface="+mn-ea"/>
            </a:endParaRPr>
          </a:p>
          <a:p>
            <a:pPr indent="446405" fontAlgn="ctr">
              <a:spcBef>
                <a:spcPts val="0"/>
              </a:spcBef>
              <a:spcAft>
                <a:spcPts val="0"/>
              </a:spcAft>
              <a:defRPr/>
            </a:pPr>
            <a:r>
              <a:rPr lang="zh-CN" altLang="zh-CN" dirty="0">
                <a:latin typeface="+mn-lt"/>
                <a:ea typeface="+mn-ea"/>
              </a:rPr>
              <a:t>语法格式：</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RAND ([</a:t>
            </a:r>
            <a:r>
              <a:rPr lang="zh-CN" altLang="zh-CN" dirty="0">
                <a:latin typeface="+mn-lt"/>
                <a:ea typeface="+mn-ea"/>
              </a:rPr>
              <a:t>种子</a:t>
            </a:r>
            <a:r>
              <a:rPr lang="en-US" altLang="zh-CN" dirty="0">
                <a:latin typeface="+mn-lt"/>
                <a:ea typeface="+mn-ea"/>
              </a:rPr>
              <a:t>] )</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返回</a:t>
            </a:r>
            <a:r>
              <a:rPr lang="en-US" altLang="zh-CN" dirty="0">
                <a:latin typeface="+mn-lt"/>
                <a:ea typeface="+mn-ea"/>
              </a:rPr>
              <a:t>0</a:t>
            </a:r>
            <a:r>
              <a:rPr lang="zh-CN" altLang="zh-CN" dirty="0">
                <a:latin typeface="+mn-lt"/>
                <a:ea typeface="+mn-ea"/>
              </a:rPr>
              <a:t>～</a:t>
            </a:r>
            <a:r>
              <a:rPr lang="en-US" altLang="zh-CN" dirty="0">
                <a:latin typeface="+mn-lt"/>
                <a:ea typeface="+mn-ea"/>
              </a:rPr>
              <a:t>1</a:t>
            </a:r>
            <a:r>
              <a:rPr lang="zh-CN" altLang="zh-CN" dirty="0">
                <a:latin typeface="+mn-lt"/>
                <a:ea typeface="+mn-ea"/>
              </a:rPr>
              <a:t>的一个随机值。参数“种子”是指定种子值的整型表达式，返回值类型为</a:t>
            </a:r>
            <a:r>
              <a:rPr lang="en-US" altLang="zh-CN" dirty="0">
                <a:latin typeface="+mn-lt"/>
                <a:ea typeface="+mn-ea"/>
              </a:rPr>
              <a:t>float</a:t>
            </a:r>
            <a:r>
              <a:rPr lang="zh-CN" altLang="zh-CN" dirty="0">
                <a:latin typeface="+mn-lt"/>
                <a:ea typeface="+mn-ea"/>
              </a:rPr>
              <a:t>。如果未指定“种子”，则随机分配种子值。对于指定的种子值，返回的结果始终相同。</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例如，如下程序通过</a:t>
            </a:r>
            <a:r>
              <a:rPr lang="en-US" altLang="zh-CN" dirty="0">
                <a:latin typeface="+mn-lt"/>
                <a:ea typeface="+mn-ea"/>
              </a:rPr>
              <a:t>RAND</a:t>
            </a:r>
            <a:r>
              <a:rPr lang="zh-CN" altLang="zh-CN" dirty="0">
                <a:latin typeface="+mn-lt"/>
                <a:ea typeface="+mn-ea"/>
              </a:rPr>
              <a:t>函数返回随机值。</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DECLARE @count </a:t>
            </a:r>
            <a:r>
              <a:rPr lang="en-US" altLang="zh-CN" dirty="0" err="1">
                <a:latin typeface="+mn-lt"/>
                <a:ea typeface="+mn-ea"/>
              </a:rPr>
              <a:t>int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SET @count = 5</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SELECT  RAND(@count)  </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pull/>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755650" y="4535488"/>
            <a:ext cx="7920038" cy="288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a:xfrm>
            <a:off x="755650" y="3441700"/>
            <a:ext cx="7920038" cy="288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755650" y="2349500"/>
            <a:ext cx="7920038" cy="2873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5.5.2  </a:t>
            </a:r>
            <a:r>
              <a:rPr lang="zh-CN" altLang="zh-CN" dirty="0">
                <a:effectLst/>
              </a:rPr>
              <a:t>常用系统标量函数</a:t>
            </a:r>
            <a:endParaRPr lang="zh-CN" altLang="en-US" dirty="0"/>
          </a:p>
        </p:txBody>
      </p:sp>
      <p:sp>
        <p:nvSpPr>
          <p:cNvPr id="62470" name="TextBox 2"/>
          <p:cNvSpPr txBox="1">
            <a:spLocks noChangeArrowheads="1"/>
          </p:cNvSpPr>
          <p:nvPr/>
        </p:nvSpPr>
        <p:spPr bwMode="auto">
          <a:xfrm>
            <a:off x="395288" y="1484313"/>
            <a:ext cx="8280400"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3</a:t>
            </a:r>
            <a:r>
              <a:rPr lang="zh-CN" altLang="zh-CN" b="1">
                <a:solidFill>
                  <a:srgbClr val="C00000"/>
                </a:solidFill>
              </a:rPr>
              <a:t>．字符串处理函数</a:t>
            </a:r>
            <a:endParaRPr lang="zh-CN" altLang="zh-CN" b="1">
              <a:solidFill>
                <a:srgbClr val="C00000"/>
              </a:solidFill>
            </a:endParaRPr>
          </a:p>
          <a:p>
            <a:pPr eaLnBrk="1" fontAlgn="ctr" hangingPunct="1"/>
            <a:r>
              <a:rPr lang="zh-CN" altLang="zh-CN" b="1"/>
              <a:t>（</a:t>
            </a:r>
            <a:r>
              <a:rPr lang="en-US" altLang="zh-CN" b="1"/>
              <a:t>1</a:t>
            </a:r>
            <a:r>
              <a:rPr lang="zh-CN" altLang="zh-CN" b="1"/>
              <a:t>）</a:t>
            </a:r>
            <a:r>
              <a:rPr lang="en-US" altLang="zh-CN" b="1"/>
              <a:t>ASCII</a:t>
            </a:r>
            <a:r>
              <a:rPr lang="zh-CN" altLang="zh-CN" b="1"/>
              <a:t>函数</a:t>
            </a:r>
            <a:endParaRPr lang="zh-CN" altLang="zh-CN" b="1"/>
          </a:p>
          <a:p>
            <a:pPr eaLnBrk="1" fontAlgn="ctr" hangingPunct="1"/>
            <a:r>
              <a:rPr lang="zh-CN" altLang="zh-CN"/>
              <a:t>语法格式：</a:t>
            </a:r>
            <a:endParaRPr lang="zh-CN" altLang="zh-CN"/>
          </a:p>
          <a:p>
            <a:pPr eaLnBrk="1" hangingPunct="1"/>
            <a:r>
              <a:rPr lang="en-US" altLang="zh-CN"/>
              <a:t>ASCII ( </a:t>
            </a:r>
            <a:r>
              <a:rPr lang="zh-CN" altLang="zh-CN"/>
              <a:t>字符表达式</a:t>
            </a:r>
            <a:r>
              <a:rPr lang="en-US" altLang="zh-CN"/>
              <a:t> )</a:t>
            </a:r>
            <a:endParaRPr lang="zh-CN" altLang="zh-CN"/>
          </a:p>
          <a:p>
            <a:pPr eaLnBrk="1" fontAlgn="ctr" hangingPunct="1"/>
            <a:r>
              <a:rPr lang="zh-CN" altLang="zh-CN"/>
              <a:t>返回字符表达式最左端字符的</a:t>
            </a:r>
            <a:r>
              <a:rPr lang="en-US" altLang="zh-CN"/>
              <a:t>ASCII</a:t>
            </a:r>
            <a:r>
              <a:rPr lang="zh-CN" altLang="zh-CN"/>
              <a:t>值。参数“字符表达式”的类型为字符型的表达式，返回值为整型。</a:t>
            </a:r>
            <a:endParaRPr lang="zh-CN" altLang="zh-CN"/>
          </a:p>
          <a:p>
            <a:pPr eaLnBrk="1" fontAlgn="ctr" hangingPunct="1"/>
            <a:r>
              <a:rPr lang="zh-CN" altLang="zh-CN"/>
              <a:t>例如， 查找字符串</a:t>
            </a:r>
            <a:r>
              <a:rPr lang="en-US" altLang="zh-CN"/>
              <a:t>'sql'</a:t>
            </a:r>
            <a:r>
              <a:rPr lang="zh-CN" altLang="zh-CN"/>
              <a:t>最左端字符的</a:t>
            </a:r>
            <a:r>
              <a:rPr lang="en-US" altLang="zh-CN"/>
              <a:t>ASCII</a:t>
            </a:r>
            <a:r>
              <a:rPr lang="zh-CN" altLang="zh-CN"/>
              <a:t>值。</a:t>
            </a:r>
            <a:endParaRPr lang="zh-CN" altLang="zh-CN"/>
          </a:p>
          <a:p>
            <a:pPr eaLnBrk="1" hangingPunct="1"/>
            <a:r>
              <a:rPr lang="en-US" altLang="zh-CN"/>
              <a:t>SELECT ASCII('sql')</a:t>
            </a:r>
            <a:endParaRPr lang="zh-CN" altLang="zh-CN"/>
          </a:p>
          <a:p>
            <a:pPr eaLnBrk="1" fontAlgn="ctr" hangingPunct="1"/>
            <a:r>
              <a:rPr lang="zh-CN" altLang="zh-CN"/>
              <a:t>执行结果为</a:t>
            </a:r>
            <a:r>
              <a:rPr lang="en-US" altLang="zh-CN"/>
              <a:t>115</a:t>
            </a:r>
            <a:r>
              <a:rPr lang="zh-CN" altLang="zh-CN"/>
              <a:t>，它是小写</a:t>
            </a:r>
            <a:r>
              <a:rPr lang="en-US" altLang="zh-CN"/>
              <a:t>s</a:t>
            </a:r>
            <a:r>
              <a:rPr lang="zh-CN" altLang="zh-CN"/>
              <a:t>的</a:t>
            </a:r>
            <a:r>
              <a:rPr lang="en-US" altLang="zh-CN"/>
              <a:t>ASCII</a:t>
            </a:r>
            <a:r>
              <a:rPr lang="zh-CN" altLang="zh-CN"/>
              <a:t>值。</a:t>
            </a:r>
            <a:endParaRPr lang="zh-CN" altLang="zh-CN"/>
          </a:p>
          <a:p>
            <a:pPr eaLnBrk="1" fontAlgn="ctr" hangingPunct="1"/>
            <a:r>
              <a:rPr lang="zh-CN" altLang="zh-CN" b="1"/>
              <a:t>（</a:t>
            </a:r>
            <a:r>
              <a:rPr lang="en-US" altLang="zh-CN" b="1"/>
              <a:t>2</a:t>
            </a:r>
            <a:r>
              <a:rPr lang="zh-CN" altLang="zh-CN" b="1"/>
              <a:t>）</a:t>
            </a:r>
            <a:r>
              <a:rPr lang="en-US" altLang="zh-CN" b="1"/>
              <a:t>CHAR</a:t>
            </a:r>
            <a:r>
              <a:rPr lang="zh-CN" altLang="zh-CN" b="1"/>
              <a:t>函数</a:t>
            </a:r>
            <a:endParaRPr lang="zh-CN" altLang="zh-CN" b="1"/>
          </a:p>
          <a:p>
            <a:pPr eaLnBrk="1" fontAlgn="ctr" hangingPunct="1"/>
            <a:r>
              <a:rPr lang="zh-CN" altLang="zh-CN"/>
              <a:t>语法格式：</a:t>
            </a:r>
            <a:endParaRPr lang="zh-CN" altLang="zh-CN"/>
          </a:p>
          <a:p>
            <a:pPr eaLnBrk="1" hangingPunct="1"/>
            <a:r>
              <a:rPr lang="en-US" altLang="zh-CN"/>
              <a:t>CHAR ( </a:t>
            </a:r>
            <a:r>
              <a:rPr lang="zh-CN" altLang="zh-CN"/>
              <a:t>整型表达式</a:t>
            </a:r>
            <a:r>
              <a:rPr lang="en-US" altLang="zh-CN"/>
              <a:t> )</a:t>
            </a:r>
            <a:endParaRPr lang="zh-CN" altLang="zh-CN"/>
          </a:p>
          <a:p>
            <a:pPr eaLnBrk="1" fontAlgn="ctr" hangingPunct="1"/>
            <a:r>
              <a:rPr lang="zh-CN" altLang="zh-CN"/>
              <a:t>将</a:t>
            </a:r>
            <a:r>
              <a:rPr lang="en-US" altLang="zh-CN"/>
              <a:t>ASCII</a:t>
            </a:r>
            <a:r>
              <a:rPr lang="zh-CN" altLang="zh-CN"/>
              <a:t>码转换为字符。“整型表达式”为</a:t>
            </a:r>
            <a:r>
              <a:rPr lang="en-US" altLang="zh-CN"/>
              <a:t>0</a:t>
            </a:r>
            <a:r>
              <a:rPr lang="zh-CN" altLang="zh-CN"/>
              <a:t>～</a:t>
            </a:r>
            <a:r>
              <a:rPr lang="en-US" altLang="zh-CN"/>
              <a:t>255</a:t>
            </a:r>
            <a:r>
              <a:rPr lang="zh-CN" altLang="zh-CN"/>
              <a:t>的整数，返回值为字符型。</a:t>
            </a:r>
            <a:endParaRPr lang="zh-CN" altLang="zh-CN"/>
          </a:p>
          <a:p>
            <a:pPr eaLnBrk="1" hangingPunct="1"/>
            <a:endParaRPr lang="zh-CN" altLang="en-US"/>
          </a:p>
        </p:txBody>
      </p:sp>
    </p:spTree>
  </p:cSld>
  <p:clrMapOvr>
    <a:masterClrMapping/>
  </p:clrMapOvr>
  <p:transition spd="slow">
    <p:blinds dir="ver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777875" y="1989138"/>
            <a:ext cx="7993063" cy="2873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a:xfrm>
            <a:off x="755650" y="3933825"/>
            <a:ext cx="7993063" cy="86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755650" y="2781300"/>
            <a:ext cx="7993063" cy="86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5.5.2  </a:t>
            </a:r>
            <a:r>
              <a:rPr lang="zh-CN" altLang="zh-CN" dirty="0">
                <a:effectLst/>
              </a:rPr>
              <a:t>常用系统标量函数</a:t>
            </a:r>
            <a:endParaRPr lang="zh-CN" altLang="en-US" dirty="0"/>
          </a:p>
        </p:txBody>
      </p:sp>
      <p:sp>
        <p:nvSpPr>
          <p:cNvPr id="63494" name="TextBox 2"/>
          <p:cNvSpPr txBox="1">
            <a:spLocks noChangeArrowheads="1"/>
          </p:cNvSpPr>
          <p:nvPr/>
        </p:nvSpPr>
        <p:spPr bwMode="auto">
          <a:xfrm>
            <a:off x="468313" y="1412875"/>
            <a:ext cx="8280400"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b="1"/>
              <a:t>（</a:t>
            </a:r>
            <a:r>
              <a:rPr lang="en-US" altLang="zh-CN" b="1"/>
              <a:t>3</a:t>
            </a:r>
            <a:r>
              <a:rPr lang="zh-CN" altLang="zh-CN" b="1"/>
              <a:t>）</a:t>
            </a:r>
            <a:r>
              <a:rPr lang="en-US" altLang="zh-CN" b="1"/>
              <a:t>LEFT</a:t>
            </a:r>
            <a:r>
              <a:rPr lang="zh-CN" altLang="zh-CN" b="1"/>
              <a:t>函数</a:t>
            </a:r>
            <a:endParaRPr lang="zh-CN" altLang="zh-CN" b="1"/>
          </a:p>
          <a:p>
            <a:pPr eaLnBrk="1" fontAlgn="ctr" hangingPunct="1"/>
            <a:r>
              <a:rPr lang="zh-CN" altLang="zh-CN"/>
              <a:t>语法格式：</a:t>
            </a:r>
            <a:endParaRPr lang="zh-CN" altLang="zh-CN"/>
          </a:p>
          <a:p>
            <a:pPr eaLnBrk="1" hangingPunct="1"/>
            <a:r>
              <a:rPr lang="en-US" altLang="zh-CN"/>
              <a:t>LEFT ( </a:t>
            </a:r>
            <a:r>
              <a:rPr lang="zh-CN" altLang="zh-CN"/>
              <a:t>字符表达式</a:t>
            </a:r>
            <a:r>
              <a:rPr lang="en-US" altLang="zh-CN"/>
              <a:t> , </a:t>
            </a:r>
            <a:r>
              <a:rPr lang="zh-CN" altLang="zh-CN"/>
              <a:t>整型表达式</a:t>
            </a:r>
            <a:r>
              <a:rPr lang="en-US" altLang="zh-CN"/>
              <a:t> )</a:t>
            </a:r>
            <a:endParaRPr lang="zh-CN" altLang="zh-CN"/>
          </a:p>
          <a:p>
            <a:pPr eaLnBrk="1" fontAlgn="ctr" hangingPunct="1"/>
            <a:r>
              <a:rPr lang="zh-CN" altLang="zh-CN"/>
              <a:t>返回从字符串左边开始指定个数的字符，返回值为</a:t>
            </a:r>
            <a:r>
              <a:rPr lang="en-US" altLang="zh-CN"/>
              <a:t>varchar</a:t>
            </a:r>
            <a:r>
              <a:rPr lang="zh-CN" altLang="zh-CN"/>
              <a:t>型。</a:t>
            </a:r>
            <a:endParaRPr lang="zh-CN" altLang="zh-CN"/>
          </a:p>
          <a:p>
            <a:pPr eaLnBrk="1" fontAlgn="ctr" hangingPunct="1"/>
            <a:r>
              <a:rPr lang="zh-CN" altLang="zh-CN"/>
              <a:t>例如，返回课程名最左边的</a:t>
            </a:r>
            <a:r>
              <a:rPr lang="en-US" altLang="zh-CN"/>
              <a:t>4</a:t>
            </a:r>
            <a:r>
              <a:rPr lang="zh-CN" altLang="zh-CN"/>
              <a:t>个字符。</a:t>
            </a:r>
            <a:endParaRPr lang="zh-CN" altLang="zh-CN"/>
          </a:p>
          <a:p>
            <a:pPr eaLnBrk="1" hangingPunct="1"/>
            <a:r>
              <a:rPr lang="en-US" altLang="zh-CN"/>
              <a:t>SELECT LEFT(</a:t>
            </a:r>
            <a:r>
              <a:rPr lang="zh-CN" altLang="zh-CN"/>
              <a:t>课程名</a:t>
            </a:r>
            <a:r>
              <a:rPr lang="en-US" altLang="zh-CN"/>
              <a:t>, 4) </a:t>
            </a:r>
            <a:endParaRPr lang="zh-CN" altLang="zh-CN"/>
          </a:p>
          <a:p>
            <a:pPr eaLnBrk="1" hangingPunct="1"/>
            <a:r>
              <a:rPr lang="en-US" altLang="zh-CN"/>
              <a:t>     FROM kcb</a:t>
            </a:r>
            <a:endParaRPr lang="zh-CN" altLang="zh-CN"/>
          </a:p>
          <a:p>
            <a:pPr eaLnBrk="1" hangingPunct="1"/>
            <a:r>
              <a:rPr lang="en-US" altLang="zh-CN"/>
              <a:t>     ORDER BY</a:t>
            </a:r>
            <a:r>
              <a:rPr lang="zh-CN" altLang="zh-CN"/>
              <a:t>课程号</a:t>
            </a:r>
            <a:endParaRPr lang="zh-CN" altLang="zh-CN"/>
          </a:p>
          <a:p>
            <a:pPr eaLnBrk="1" fontAlgn="ctr" hangingPunct="1"/>
            <a:r>
              <a:rPr lang="zh-CN" altLang="zh-CN"/>
              <a:t>又例如：</a:t>
            </a:r>
            <a:endParaRPr lang="zh-CN" altLang="zh-CN"/>
          </a:p>
          <a:p>
            <a:pPr eaLnBrk="1" hangingPunct="1"/>
            <a:r>
              <a:rPr lang="en-US" altLang="zh-CN"/>
              <a:t>SELECT</a:t>
            </a:r>
            <a:r>
              <a:rPr lang="zh-CN" altLang="zh-CN"/>
              <a:t>学号</a:t>
            </a:r>
            <a:r>
              <a:rPr lang="en-US" altLang="zh-CN"/>
              <a:t>,</a:t>
            </a:r>
            <a:r>
              <a:rPr lang="zh-CN" altLang="zh-CN"/>
              <a:t>姓名</a:t>
            </a:r>
            <a:r>
              <a:rPr lang="en-US" altLang="zh-CN"/>
              <a:t> </a:t>
            </a:r>
            <a:endParaRPr lang="zh-CN" altLang="zh-CN"/>
          </a:p>
          <a:p>
            <a:pPr eaLnBrk="1" hangingPunct="1"/>
            <a:r>
              <a:rPr lang="en-US" altLang="zh-CN"/>
              <a:t>     FROM xsb</a:t>
            </a:r>
            <a:endParaRPr lang="zh-CN" altLang="zh-CN"/>
          </a:p>
          <a:p>
            <a:pPr eaLnBrk="1" hangingPunct="1"/>
            <a:r>
              <a:rPr lang="en-US" altLang="zh-CN"/>
              <a:t>     WHERE LEFT(</a:t>
            </a:r>
            <a:r>
              <a:rPr lang="zh-CN" altLang="zh-CN"/>
              <a:t>学号</a:t>
            </a:r>
            <a:r>
              <a:rPr lang="en-US" altLang="zh-CN"/>
              <a:t>,2)='19'</a:t>
            </a:r>
            <a:endParaRPr lang="zh-CN" altLang="zh-CN"/>
          </a:p>
          <a:p>
            <a:pPr eaLnBrk="1" hangingPunct="1"/>
            <a:endParaRPr lang="zh-CN" altLang="en-US"/>
          </a:p>
        </p:txBody>
      </p:sp>
    </p:spTree>
  </p:cSld>
  <p:clrMapOvr>
    <a:masterClrMapping/>
  </p:clrMapOvr>
  <p:transition spd="slow">
    <p:pull/>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27088" y="4471988"/>
            <a:ext cx="7993062" cy="288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a:xfrm>
            <a:off x="827088" y="2816225"/>
            <a:ext cx="7993062" cy="1117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1989138"/>
            <a:ext cx="7993062" cy="2873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5.5.2  </a:t>
            </a:r>
            <a:r>
              <a:rPr lang="zh-CN" altLang="zh-CN" dirty="0" smtClean="0">
                <a:effectLst/>
              </a:rPr>
              <a:t>常用</a:t>
            </a:r>
            <a:r>
              <a:rPr lang="zh-CN" altLang="zh-CN" dirty="0">
                <a:effectLst/>
              </a:rPr>
              <a:t>系统标量函数</a:t>
            </a:r>
            <a:endParaRPr lang="zh-CN" altLang="en-US" dirty="0"/>
          </a:p>
        </p:txBody>
      </p:sp>
      <p:sp>
        <p:nvSpPr>
          <p:cNvPr id="64518" name="TextBox 2"/>
          <p:cNvSpPr txBox="1">
            <a:spLocks noChangeArrowheads="1"/>
          </p:cNvSpPr>
          <p:nvPr/>
        </p:nvSpPr>
        <p:spPr bwMode="auto">
          <a:xfrm>
            <a:off x="468313" y="1412875"/>
            <a:ext cx="8351837" cy="424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b="1"/>
              <a:t>（</a:t>
            </a:r>
            <a:r>
              <a:rPr lang="en-US" altLang="zh-CN" b="1"/>
              <a:t>4</a:t>
            </a:r>
            <a:r>
              <a:rPr lang="zh-CN" altLang="zh-CN" b="1"/>
              <a:t>）</a:t>
            </a:r>
            <a:r>
              <a:rPr lang="en-US" altLang="zh-CN" b="1"/>
              <a:t>LTRIM</a:t>
            </a:r>
            <a:r>
              <a:rPr lang="zh-CN" altLang="zh-CN" b="1"/>
              <a:t>函数</a:t>
            </a:r>
            <a:endParaRPr lang="zh-CN" altLang="zh-CN" b="1"/>
          </a:p>
          <a:p>
            <a:pPr eaLnBrk="1" fontAlgn="ctr" hangingPunct="1"/>
            <a:r>
              <a:rPr lang="zh-CN" altLang="zh-CN"/>
              <a:t>语法格式：</a:t>
            </a:r>
            <a:endParaRPr lang="zh-CN" altLang="zh-CN"/>
          </a:p>
          <a:p>
            <a:pPr eaLnBrk="1" hangingPunct="1"/>
            <a:r>
              <a:rPr lang="en-US" altLang="zh-CN"/>
              <a:t>LTRIM ( </a:t>
            </a:r>
            <a:r>
              <a:rPr lang="zh-CN" altLang="zh-CN"/>
              <a:t>字符表达式</a:t>
            </a:r>
            <a:r>
              <a:rPr lang="en-US" altLang="zh-CN"/>
              <a:t> )</a:t>
            </a:r>
            <a:endParaRPr lang="zh-CN" altLang="zh-CN"/>
          </a:p>
          <a:p>
            <a:pPr eaLnBrk="1" fontAlgn="ctr" hangingPunct="1"/>
            <a:r>
              <a:rPr lang="zh-CN" altLang="zh-CN"/>
              <a:t>删除“字符表达式”字符串中的前导空格，并返回字符串。</a:t>
            </a:r>
            <a:endParaRPr lang="zh-CN" altLang="zh-CN"/>
          </a:p>
          <a:p>
            <a:pPr eaLnBrk="1" fontAlgn="ctr" hangingPunct="1"/>
            <a:r>
              <a:rPr lang="zh-CN" altLang="zh-CN"/>
              <a:t>例如，使用</a:t>
            </a:r>
            <a:r>
              <a:rPr lang="en-US" altLang="zh-CN"/>
              <a:t>LTRIM</a:t>
            </a:r>
            <a:r>
              <a:rPr lang="zh-CN" altLang="zh-CN"/>
              <a:t>函数删除字符变量中的起始空格。</a:t>
            </a:r>
            <a:endParaRPr lang="zh-CN" altLang="zh-CN"/>
          </a:p>
          <a:p>
            <a:pPr eaLnBrk="1" hangingPunct="1"/>
            <a:r>
              <a:rPr lang="en-US" altLang="zh-CN"/>
              <a:t>DECLARE @string varchar(40)</a:t>
            </a:r>
            <a:endParaRPr lang="zh-CN" altLang="zh-CN"/>
          </a:p>
          <a:p>
            <a:pPr eaLnBrk="1" hangingPunct="1"/>
            <a:r>
              <a:rPr lang="en-US" altLang="zh-CN"/>
              <a:t>SET @string = '        </a:t>
            </a:r>
            <a:r>
              <a:rPr lang="zh-CN" altLang="zh-CN"/>
              <a:t>中国，一个古老而伟大的国家</a:t>
            </a:r>
            <a:r>
              <a:rPr lang="en-US" altLang="zh-CN"/>
              <a:t> '</a:t>
            </a:r>
            <a:endParaRPr lang="zh-CN" altLang="zh-CN"/>
          </a:p>
          <a:p>
            <a:pPr eaLnBrk="1" hangingPunct="1"/>
            <a:r>
              <a:rPr lang="en-US" altLang="zh-CN"/>
              <a:t>SELECT  LTRIM(@string)</a:t>
            </a:r>
            <a:endParaRPr lang="zh-CN" altLang="zh-CN"/>
          </a:p>
          <a:p>
            <a:pPr eaLnBrk="1" hangingPunct="1"/>
            <a:r>
              <a:rPr lang="en-US" altLang="zh-CN"/>
              <a:t>SELECT @string</a:t>
            </a:r>
            <a:endParaRPr lang="zh-CN" altLang="zh-CN"/>
          </a:p>
          <a:p>
            <a:pPr eaLnBrk="1" fontAlgn="ctr" hangingPunct="1"/>
            <a:r>
              <a:rPr lang="zh-CN" altLang="zh-CN" b="1"/>
              <a:t>（</a:t>
            </a:r>
            <a:r>
              <a:rPr lang="en-US" altLang="zh-CN" b="1"/>
              <a:t>5</a:t>
            </a:r>
            <a:r>
              <a:rPr lang="zh-CN" altLang="zh-CN" b="1"/>
              <a:t>）</a:t>
            </a:r>
            <a:r>
              <a:rPr lang="en-US" altLang="zh-CN" b="1"/>
              <a:t>REPLACE</a:t>
            </a:r>
            <a:r>
              <a:rPr lang="zh-CN" altLang="zh-CN" b="1"/>
              <a:t>函数</a:t>
            </a:r>
            <a:endParaRPr lang="zh-CN" altLang="zh-CN" b="1"/>
          </a:p>
          <a:p>
            <a:pPr eaLnBrk="1" fontAlgn="ctr" hangingPunct="1"/>
            <a:r>
              <a:rPr lang="zh-CN" altLang="zh-CN"/>
              <a:t>语法格式：</a:t>
            </a:r>
            <a:endParaRPr lang="zh-CN" altLang="zh-CN"/>
          </a:p>
          <a:p>
            <a:pPr eaLnBrk="1" hangingPunct="1"/>
            <a:r>
              <a:rPr lang="en-US" altLang="zh-CN"/>
              <a:t>REPLACE ( '</a:t>
            </a:r>
            <a:r>
              <a:rPr lang="zh-CN" altLang="zh-CN"/>
              <a:t>字符串表达式</a:t>
            </a:r>
            <a:r>
              <a:rPr lang="en-US" altLang="zh-CN"/>
              <a:t>1' , '</a:t>
            </a:r>
            <a:r>
              <a:rPr lang="zh-CN" altLang="zh-CN"/>
              <a:t>字符串表达式</a:t>
            </a:r>
            <a:r>
              <a:rPr lang="en-US" altLang="zh-CN"/>
              <a:t>2' , '</a:t>
            </a:r>
            <a:r>
              <a:rPr lang="zh-CN" altLang="zh-CN"/>
              <a:t>字符串表达式</a:t>
            </a:r>
            <a:r>
              <a:rPr lang="en-US" altLang="zh-CN"/>
              <a:t>3' )</a:t>
            </a:r>
            <a:endParaRPr lang="zh-CN" altLang="zh-CN"/>
          </a:p>
          <a:p>
            <a:pPr eaLnBrk="1" fontAlgn="ctr" hangingPunct="1"/>
            <a:r>
              <a:rPr lang="zh-CN" altLang="zh-CN"/>
              <a:t>用“字符串表达式</a:t>
            </a:r>
            <a:r>
              <a:rPr lang="en-US" altLang="zh-CN"/>
              <a:t>3</a:t>
            </a:r>
            <a:r>
              <a:rPr lang="zh-CN" altLang="zh-CN"/>
              <a:t>”替换“字符串表达式</a:t>
            </a:r>
            <a:r>
              <a:rPr lang="en-US" altLang="zh-CN"/>
              <a:t>1</a:t>
            </a:r>
            <a:r>
              <a:rPr lang="zh-CN" altLang="zh-CN"/>
              <a:t>”中包含的“字符串表达式</a:t>
            </a:r>
            <a:r>
              <a:rPr lang="en-US" altLang="zh-CN"/>
              <a:t>2</a:t>
            </a:r>
            <a:r>
              <a:rPr lang="zh-CN" altLang="zh-CN"/>
              <a:t>”，并返回替换后的表达式（返回值为字符型）。</a:t>
            </a:r>
            <a:endParaRPr lang="zh-CN" altLang="zh-CN"/>
          </a:p>
          <a:p>
            <a:pPr eaLnBrk="1" hangingPunct="1"/>
            <a:endParaRPr lang="zh-CN" altLang="en-US"/>
          </a:p>
        </p:txBody>
      </p:sp>
    </p:spTree>
  </p:cSld>
  <p:clrMapOvr>
    <a:masterClrMapping/>
  </p:clrMapOvr>
  <p:transition spd="slow">
    <p:blinds dir="ver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2492375"/>
            <a:ext cx="7705725" cy="288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lnSpc>
                <a:spcPct val="150000"/>
              </a:lnSpc>
              <a:spcAft>
                <a:spcPts val="0"/>
              </a:spcAft>
              <a:buClr>
                <a:schemeClr val="accent6">
                  <a:lumMod val="75000"/>
                </a:schemeClr>
              </a:buClr>
              <a:defRPr/>
            </a:pPr>
            <a:r>
              <a:rPr lang="en-US" altLang="zh-CN" dirty="0">
                <a:effectLst/>
              </a:rPr>
              <a:t>5.5.2  </a:t>
            </a:r>
            <a:r>
              <a:rPr lang="zh-CN" altLang="zh-CN" dirty="0">
                <a:effectLst/>
              </a:rPr>
              <a:t>常用系统标量函数</a:t>
            </a:r>
            <a:endParaRPr lang="zh-CN" altLang="en-US" dirty="0"/>
          </a:p>
        </p:txBody>
      </p:sp>
      <p:sp>
        <p:nvSpPr>
          <p:cNvPr id="65540" name="TextBox 2"/>
          <p:cNvSpPr txBox="1">
            <a:spLocks noChangeArrowheads="1"/>
          </p:cNvSpPr>
          <p:nvPr/>
        </p:nvSpPr>
        <p:spPr bwMode="auto">
          <a:xfrm>
            <a:off x="468313" y="1557338"/>
            <a:ext cx="8207375" cy="337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b="1"/>
              <a:t>（</a:t>
            </a:r>
            <a:r>
              <a:rPr lang="en-US" altLang="zh-CN" b="1"/>
              <a:t>6</a:t>
            </a:r>
            <a:r>
              <a:rPr lang="zh-CN" altLang="zh-CN" b="1"/>
              <a:t>）</a:t>
            </a:r>
            <a:r>
              <a:rPr lang="en-US" altLang="zh-CN" b="1"/>
              <a:t>SUBSTRING</a:t>
            </a:r>
            <a:r>
              <a:rPr lang="zh-CN" altLang="zh-CN" b="1"/>
              <a:t>函数</a:t>
            </a:r>
            <a:endParaRPr lang="zh-CN" altLang="zh-CN" b="1"/>
          </a:p>
          <a:p>
            <a:pPr eaLnBrk="1" fontAlgn="ctr" hangingPunct="1">
              <a:lnSpc>
                <a:spcPct val="150000"/>
              </a:lnSpc>
            </a:pPr>
            <a:r>
              <a:rPr lang="zh-CN" altLang="zh-CN"/>
              <a:t>语法格式：</a:t>
            </a:r>
            <a:endParaRPr lang="zh-CN" altLang="zh-CN"/>
          </a:p>
          <a:p>
            <a:pPr eaLnBrk="1" hangingPunct="1">
              <a:lnSpc>
                <a:spcPct val="150000"/>
              </a:lnSpc>
            </a:pPr>
            <a:r>
              <a:rPr lang="en-US" altLang="zh-CN"/>
              <a:t>SUBSTRING ( </a:t>
            </a:r>
            <a:r>
              <a:rPr lang="zh-CN" altLang="zh-CN"/>
              <a:t>表达式</a:t>
            </a:r>
            <a:r>
              <a:rPr lang="en-US" altLang="zh-CN"/>
              <a:t> , </a:t>
            </a:r>
            <a:r>
              <a:rPr lang="zh-CN" altLang="zh-CN"/>
              <a:t>起始</a:t>
            </a:r>
            <a:r>
              <a:rPr lang="en-US" altLang="zh-CN"/>
              <a:t> , </a:t>
            </a:r>
            <a:r>
              <a:rPr lang="zh-CN" altLang="zh-CN"/>
              <a:t>长度</a:t>
            </a:r>
            <a:r>
              <a:rPr lang="en-US" altLang="zh-CN"/>
              <a:t> )</a:t>
            </a:r>
            <a:endParaRPr lang="zh-CN" altLang="zh-CN"/>
          </a:p>
          <a:p>
            <a:pPr eaLnBrk="1" fontAlgn="ctr" hangingPunct="1">
              <a:lnSpc>
                <a:spcPct val="150000"/>
              </a:lnSpc>
            </a:pPr>
            <a:r>
              <a:rPr lang="zh-CN" altLang="zh-CN"/>
              <a:t>返回“表达式”中从“起始”位置开始，由“长度”指定的字节的数据。参数“表达式”可为字符串、二进制串、</a:t>
            </a:r>
            <a:r>
              <a:rPr lang="en-US" altLang="zh-CN"/>
              <a:t>text</a:t>
            </a:r>
            <a:r>
              <a:rPr lang="zh-CN" altLang="zh-CN"/>
              <a:t>、</a:t>
            </a:r>
            <a:r>
              <a:rPr lang="en-US" altLang="zh-CN"/>
              <a:t>image</a:t>
            </a:r>
            <a:r>
              <a:rPr lang="zh-CN" altLang="zh-CN"/>
              <a:t>字段或表达式；“起始”、“长度”均为整型。如果“表达式”是字符类型和二进制类型，则返回值类型与“表达式”的类型相同。其他情况如表</a:t>
            </a:r>
            <a:r>
              <a:rPr lang="en-US" altLang="zh-CN"/>
              <a:t>5.9</a:t>
            </a:r>
            <a:r>
              <a:rPr lang="zh-CN" altLang="zh-CN"/>
              <a:t>所示。</a:t>
            </a:r>
            <a:endParaRPr lang="zh-CN" altLang="zh-CN"/>
          </a:p>
          <a:p>
            <a:pPr eaLnBrk="1" hangingPunct="1">
              <a:lnSpc>
                <a:spcPct val="150000"/>
              </a:lnSpc>
            </a:pPr>
            <a:endParaRPr lang="zh-CN" altLang="en-US"/>
          </a:p>
        </p:txBody>
      </p:sp>
      <p:graphicFrame>
        <p:nvGraphicFramePr>
          <p:cNvPr id="5" name="表格 4"/>
          <p:cNvGraphicFramePr>
            <a:graphicFrameLocks noGrp="1"/>
          </p:cNvGraphicFramePr>
          <p:nvPr/>
        </p:nvGraphicFramePr>
        <p:xfrm>
          <a:off x="501650" y="4670425"/>
          <a:ext cx="8023227" cy="640080"/>
        </p:xfrm>
        <a:graphic>
          <a:graphicData uri="http://schemas.openxmlformats.org/drawingml/2006/table">
            <a:tbl>
              <a:tblPr firstRow="1" firstCol="1" bandRow="1" bandCol="1"/>
              <a:tblGrid>
                <a:gridCol w="1346298"/>
                <a:gridCol w="1347902"/>
                <a:gridCol w="1347902"/>
                <a:gridCol w="1347902"/>
                <a:gridCol w="1347902"/>
                <a:gridCol w="1285321"/>
              </a:tblGrid>
              <a:tr h="426509">
                <a:tc>
                  <a:txBody>
                    <a:bodyPr/>
                    <a:lstStyle/>
                    <a:p>
                      <a:pPr indent="254000" algn="ctr">
                        <a:spcBef>
                          <a:spcPts val="120"/>
                        </a:spcBef>
                        <a:spcAft>
                          <a:spcPts val="120"/>
                        </a:spcAft>
                      </a:pPr>
                      <a:r>
                        <a:rPr lang="zh-CN" sz="1400" kern="1000">
                          <a:effectLst/>
                          <a:latin typeface="Times New Roman" panose="02020603050405020304"/>
                          <a:ea typeface="方正书宋简体"/>
                        </a:rPr>
                        <a:t>给定的表达式</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返回值类型</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给定的表达式</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返回值类型</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给定的表达式</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返回值类型</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3254">
                <a:tc>
                  <a:txBody>
                    <a:bodyPr/>
                    <a:lstStyle/>
                    <a:p>
                      <a:pPr indent="254000" algn="ctr">
                        <a:spcBef>
                          <a:spcPts val="120"/>
                        </a:spcBef>
                        <a:spcAft>
                          <a:spcPts val="120"/>
                        </a:spcAft>
                      </a:pPr>
                      <a:r>
                        <a:rPr lang="en-US" sz="1400" kern="1000">
                          <a:effectLst/>
                          <a:latin typeface="Times New Roman" panose="02020603050405020304"/>
                          <a:ea typeface="方正书宋简体"/>
                        </a:rPr>
                        <a:t>text</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en-US" sz="1400" kern="1000">
                          <a:effectLst/>
                          <a:latin typeface="Times New Roman" panose="02020603050405020304"/>
                          <a:ea typeface="方正书宋简体"/>
                        </a:rPr>
                        <a:t>varchar</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en-US" sz="1400" kern="1000">
                          <a:effectLst/>
                          <a:latin typeface="Times New Roman" panose="02020603050405020304"/>
                          <a:ea typeface="方正书宋简体"/>
                        </a:rPr>
                        <a:t>image</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en-US" sz="1400" kern="1000">
                          <a:effectLst/>
                          <a:latin typeface="Times New Roman" panose="02020603050405020304"/>
                          <a:ea typeface="方正书宋简体"/>
                        </a:rPr>
                        <a:t>varbinary</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en-US" sz="1400" kern="1000">
                          <a:effectLst/>
                          <a:latin typeface="Times New Roman" panose="02020603050405020304"/>
                          <a:ea typeface="方正书宋简体"/>
                        </a:rPr>
                        <a:t>ntext</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en-US" sz="1400" kern="1000" dirty="0" err="1">
                          <a:effectLst/>
                          <a:latin typeface="Times New Roman" panose="02020603050405020304"/>
                          <a:ea typeface="方正书宋简体"/>
                        </a:rPr>
                        <a:t>nvarchar</a:t>
                      </a:r>
                      <a:endParaRPr lang="zh-CN" sz="1400" kern="1000" dirty="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spd="slow">
    <p:pull/>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1844675"/>
            <a:ext cx="7921625" cy="7921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5.5.2  </a:t>
            </a:r>
            <a:r>
              <a:rPr lang="zh-CN" altLang="zh-CN" dirty="0">
                <a:effectLst/>
              </a:rPr>
              <a:t>常用系统标量函数</a:t>
            </a:r>
            <a:endParaRPr lang="zh-CN" altLang="en-US" dirty="0"/>
          </a:p>
        </p:txBody>
      </p:sp>
      <p:sp>
        <p:nvSpPr>
          <p:cNvPr id="66564" name="TextBox 2"/>
          <p:cNvSpPr txBox="1">
            <a:spLocks noChangeArrowheads="1"/>
          </p:cNvSpPr>
          <p:nvPr/>
        </p:nvSpPr>
        <p:spPr bwMode="auto">
          <a:xfrm>
            <a:off x="395288" y="1484313"/>
            <a:ext cx="8353425"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5.23</a:t>
            </a:r>
            <a:r>
              <a:rPr lang="zh-CN" altLang="zh-CN"/>
              <a:t>】 如下程序第</a:t>
            </a:r>
            <a:r>
              <a:rPr lang="en-US" altLang="zh-CN"/>
              <a:t>1</a:t>
            </a:r>
            <a:r>
              <a:rPr lang="zh-CN" altLang="zh-CN"/>
              <a:t>列为</a:t>
            </a:r>
            <a:r>
              <a:rPr lang="en-US" altLang="zh-CN"/>
              <a:t>xsb</a:t>
            </a:r>
            <a:r>
              <a:rPr lang="zh-CN" altLang="zh-CN"/>
              <a:t>表中的姓，另两列为学生名。</a:t>
            </a:r>
            <a:endParaRPr lang="zh-CN" altLang="zh-CN"/>
          </a:p>
          <a:p>
            <a:pPr eaLnBrk="1" hangingPunct="1"/>
            <a:r>
              <a:rPr lang="en-US" altLang="zh-CN"/>
              <a:t>SELECT TOP(4) SUBSTRING(</a:t>
            </a:r>
            <a:r>
              <a:rPr lang="zh-CN" altLang="zh-CN"/>
              <a:t>姓名</a:t>
            </a:r>
            <a:r>
              <a:rPr lang="en-US" altLang="zh-CN"/>
              <a:t>, 1,1), SUBSTRING(</a:t>
            </a:r>
            <a:r>
              <a:rPr lang="zh-CN" altLang="zh-CN"/>
              <a:t>姓名</a:t>
            </a:r>
            <a:r>
              <a:rPr lang="en-US" altLang="zh-CN"/>
              <a:t>, 2, LEN(</a:t>
            </a:r>
            <a:r>
              <a:rPr lang="zh-CN" altLang="zh-CN"/>
              <a:t>姓名</a:t>
            </a:r>
            <a:r>
              <a:rPr lang="en-US" altLang="zh-CN"/>
              <a:t>)-1)</a:t>
            </a:r>
            <a:endParaRPr lang="zh-CN" altLang="zh-CN"/>
          </a:p>
          <a:p>
            <a:pPr eaLnBrk="1" hangingPunct="1"/>
            <a:r>
              <a:rPr lang="en-US" altLang="zh-CN"/>
              <a:t>     FROM xsb</a:t>
            </a:r>
            <a:endParaRPr lang="zh-CN" altLang="zh-CN"/>
          </a:p>
          <a:p>
            <a:pPr eaLnBrk="1" hangingPunct="1"/>
            <a:r>
              <a:rPr lang="en-US" altLang="zh-CN"/>
              <a:t>     ORDER BY</a:t>
            </a:r>
            <a:r>
              <a:rPr lang="zh-CN" altLang="zh-CN"/>
              <a:t>姓名</a:t>
            </a:r>
            <a:endParaRPr lang="zh-CN" altLang="zh-CN"/>
          </a:p>
          <a:p>
            <a:pPr eaLnBrk="1" fontAlgn="ctr" hangingPunct="1"/>
            <a:r>
              <a:rPr lang="zh-CN" altLang="zh-CN"/>
              <a:t>执行结果如图</a:t>
            </a:r>
            <a:r>
              <a:rPr lang="en-US" altLang="zh-CN"/>
              <a:t>5.11</a:t>
            </a:r>
            <a:r>
              <a:rPr lang="zh-CN" altLang="zh-CN"/>
              <a:t>所示。</a:t>
            </a:r>
            <a:endParaRPr lang="zh-CN" altLang="zh-CN"/>
          </a:p>
          <a:p>
            <a:pPr eaLnBrk="1" hangingPunct="1"/>
            <a:endParaRPr lang="zh-CN" altLang="en-US"/>
          </a:p>
        </p:txBody>
      </p:sp>
      <p:pic>
        <p:nvPicPr>
          <p:cNvPr id="6656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70163" y="3068638"/>
            <a:ext cx="2578100"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1773238"/>
            <a:ext cx="7775575" cy="25193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5.5.2  </a:t>
            </a:r>
            <a:r>
              <a:rPr lang="zh-CN" altLang="zh-CN" dirty="0">
                <a:effectLst/>
              </a:rPr>
              <a:t>常用系统标量函数</a:t>
            </a:r>
            <a:endParaRPr lang="zh-CN" altLang="en-US" dirty="0"/>
          </a:p>
        </p:txBody>
      </p:sp>
      <p:sp>
        <p:nvSpPr>
          <p:cNvPr id="67588" name="TextBox 2"/>
          <p:cNvSpPr txBox="1">
            <a:spLocks noChangeArrowheads="1"/>
          </p:cNvSpPr>
          <p:nvPr/>
        </p:nvSpPr>
        <p:spPr bwMode="auto">
          <a:xfrm>
            <a:off x="468313" y="1484313"/>
            <a:ext cx="820737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5.24</a:t>
            </a:r>
            <a:r>
              <a:rPr lang="zh-CN" altLang="zh-CN"/>
              <a:t>】 显示字符串“</a:t>
            </a:r>
            <a:r>
              <a:rPr lang="en-US" altLang="zh-CN"/>
              <a:t>China</a:t>
            </a:r>
            <a:r>
              <a:rPr lang="zh-CN" altLang="zh-CN"/>
              <a:t>”中每个字符的</a:t>
            </a:r>
            <a:r>
              <a:rPr lang="en-US" altLang="zh-CN"/>
              <a:t>ASCII</a:t>
            </a:r>
            <a:r>
              <a:rPr lang="zh-CN" altLang="zh-CN"/>
              <a:t>值和字符。</a:t>
            </a:r>
            <a:endParaRPr lang="zh-CN" altLang="zh-CN"/>
          </a:p>
          <a:p>
            <a:pPr eaLnBrk="1" hangingPunct="1"/>
            <a:r>
              <a:rPr lang="en-US" altLang="zh-CN"/>
              <a:t>DECLARE @position int, @string char(8)</a:t>
            </a:r>
            <a:endParaRPr lang="zh-CN" altLang="zh-CN"/>
          </a:p>
          <a:p>
            <a:pPr eaLnBrk="1" hangingPunct="1"/>
            <a:r>
              <a:rPr lang="en-US" altLang="zh-CN"/>
              <a:t>SET @position = 1</a:t>
            </a:r>
            <a:endParaRPr lang="zh-CN" altLang="zh-CN"/>
          </a:p>
          <a:p>
            <a:pPr eaLnBrk="1" hangingPunct="1"/>
            <a:r>
              <a:rPr lang="en-US" altLang="zh-CN"/>
              <a:t>SET @string='China'</a:t>
            </a:r>
            <a:endParaRPr lang="zh-CN" altLang="zh-CN"/>
          </a:p>
          <a:p>
            <a:pPr eaLnBrk="1" hangingPunct="1"/>
            <a:r>
              <a:rPr lang="en-US" altLang="zh-CN"/>
              <a:t>WHILE @position &lt;= DATALENGTH(@string)</a:t>
            </a:r>
            <a:endParaRPr lang="zh-CN" altLang="zh-CN"/>
          </a:p>
          <a:p>
            <a:pPr eaLnBrk="1" hangingPunct="1"/>
            <a:r>
              <a:rPr lang="en-US" altLang="zh-CN"/>
              <a:t>BEGIN</a:t>
            </a:r>
            <a:endParaRPr lang="zh-CN" altLang="zh-CN"/>
          </a:p>
          <a:p>
            <a:pPr eaLnBrk="1" hangingPunct="1"/>
            <a:r>
              <a:rPr lang="en-US" altLang="zh-CN"/>
              <a:t>     SELECT ASCII(SUBSTRING(@string, @position, 1)) AS ASCII</a:t>
            </a:r>
            <a:r>
              <a:rPr lang="zh-CN" altLang="zh-CN"/>
              <a:t>码</a:t>
            </a:r>
            <a:r>
              <a:rPr lang="en-US" altLang="zh-CN"/>
              <a:t>, </a:t>
            </a:r>
            <a:endParaRPr lang="zh-CN" altLang="zh-CN"/>
          </a:p>
          <a:p>
            <a:pPr eaLnBrk="1" hangingPunct="1"/>
            <a:r>
              <a:rPr lang="en-US" altLang="zh-CN"/>
              <a:t>          CHAR(ASCII(SUBSTRING(@string, @position, 1))) AS</a:t>
            </a:r>
            <a:r>
              <a:rPr lang="zh-CN" altLang="zh-CN"/>
              <a:t>字符</a:t>
            </a:r>
            <a:endParaRPr lang="zh-CN" altLang="zh-CN"/>
          </a:p>
          <a:p>
            <a:pPr eaLnBrk="1" hangingPunct="1"/>
            <a:r>
              <a:rPr lang="en-US" altLang="zh-CN"/>
              <a:t>     SET @position = @position + 1</a:t>
            </a:r>
            <a:endParaRPr lang="zh-CN" altLang="zh-CN"/>
          </a:p>
          <a:p>
            <a:pPr eaLnBrk="1" hangingPunct="1"/>
            <a:r>
              <a:rPr lang="en-US" altLang="zh-CN"/>
              <a:t>END</a:t>
            </a:r>
            <a:endParaRPr lang="zh-CN" altLang="zh-CN"/>
          </a:p>
          <a:p>
            <a:pPr eaLnBrk="1" fontAlgn="ctr" hangingPunct="1"/>
            <a:r>
              <a:rPr lang="zh-CN" altLang="zh-CN"/>
              <a:t>执行结果如图</a:t>
            </a:r>
            <a:r>
              <a:rPr lang="en-US" altLang="zh-CN"/>
              <a:t>5.12</a:t>
            </a:r>
            <a:r>
              <a:rPr lang="zh-CN" altLang="zh-CN"/>
              <a:t>所示。</a:t>
            </a:r>
            <a:endParaRPr lang="zh-CN" altLang="zh-CN"/>
          </a:p>
          <a:p>
            <a:pPr eaLnBrk="1" hangingPunct="1"/>
            <a:endParaRPr lang="zh-CN" altLang="en-US"/>
          </a:p>
        </p:txBody>
      </p:sp>
      <p:pic>
        <p:nvPicPr>
          <p:cNvPr id="6758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84663" y="4292600"/>
            <a:ext cx="1079500" cy="256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3141663"/>
            <a:ext cx="7704137" cy="574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5.5.2  </a:t>
            </a:r>
            <a:r>
              <a:rPr lang="zh-CN" altLang="zh-CN" dirty="0">
                <a:effectLst/>
              </a:rPr>
              <a:t>常用系统标量函数</a:t>
            </a:r>
            <a:endParaRPr lang="zh-CN" altLang="en-US" dirty="0"/>
          </a:p>
        </p:txBody>
      </p:sp>
      <p:sp>
        <p:nvSpPr>
          <p:cNvPr id="68612" name="TextBox 2"/>
          <p:cNvSpPr txBox="1">
            <a:spLocks noChangeArrowheads="1"/>
          </p:cNvSpPr>
          <p:nvPr/>
        </p:nvSpPr>
        <p:spPr bwMode="auto">
          <a:xfrm>
            <a:off x="468313" y="1484313"/>
            <a:ext cx="8135937"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4</a:t>
            </a:r>
            <a:r>
              <a:rPr lang="zh-CN" altLang="zh-CN" b="1">
                <a:solidFill>
                  <a:srgbClr val="C00000"/>
                </a:solidFill>
              </a:rPr>
              <a:t>．系统函数</a:t>
            </a:r>
            <a:endParaRPr lang="zh-CN" altLang="zh-CN" b="1">
              <a:solidFill>
                <a:srgbClr val="C00000"/>
              </a:solidFill>
            </a:endParaRPr>
          </a:p>
          <a:p>
            <a:pPr eaLnBrk="1" fontAlgn="ctr" hangingPunct="1"/>
            <a:r>
              <a:rPr lang="zh-CN" altLang="zh-CN" b="1"/>
              <a:t>（</a:t>
            </a:r>
            <a:r>
              <a:rPr lang="en-US" altLang="zh-CN" b="1"/>
              <a:t>1</a:t>
            </a:r>
            <a:r>
              <a:rPr lang="zh-CN" altLang="zh-CN" b="1"/>
              <a:t>）</a:t>
            </a:r>
            <a:r>
              <a:rPr lang="en-US" altLang="zh-CN" b="1"/>
              <a:t>CAST</a:t>
            </a:r>
            <a:r>
              <a:rPr lang="zh-CN" altLang="zh-CN" b="1"/>
              <a:t>和</a:t>
            </a:r>
            <a:r>
              <a:rPr lang="en-US" altLang="zh-CN" b="1"/>
              <a:t>CONVERT</a:t>
            </a:r>
            <a:r>
              <a:rPr lang="zh-CN" altLang="zh-CN" b="1"/>
              <a:t>函数</a:t>
            </a:r>
            <a:endParaRPr lang="zh-CN" altLang="zh-CN" b="1"/>
          </a:p>
          <a:p>
            <a:pPr eaLnBrk="1" fontAlgn="ctr" hangingPunct="1"/>
            <a:r>
              <a:rPr lang="en-US" altLang="zh-CN"/>
              <a:t>CAST</a:t>
            </a:r>
            <a:r>
              <a:rPr lang="zh-CN" altLang="zh-CN"/>
              <a:t>、</a:t>
            </a:r>
            <a:r>
              <a:rPr lang="en-US" altLang="zh-CN"/>
              <a:t>CONVERT</a:t>
            </a:r>
            <a:r>
              <a:rPr lang="zh-CN" altLang="zh-CN"/>
              <a:t>这两个函数的功能都是实现数据类型的转换，但</a:t>
            </a:r>
            <a:r>
              <a:rPr lang="en-US" altLang="zh-CN"/>
              <a:t>CONVERT</a:t>
            </a:r>
            <a:r>
              <a:rPr lang="zh-CN" altLang="zh-CN"/>
              <a:t>的功能更强一些。常用的类型转换有以下几种情况：日期型→字符型、字符型→日期型、数值型→字符型。</a:t>
            </a:r>
            <a:endParaRPr lang="zh-CN" altLang="zh-CN"/>
          </a:p>
          <a:p>
            <a:pPr eaLnBrk="1" fontAlgn="ctr" hangingPunct="1"/>
            <a:r>
              <a:rPr lang="zh-CN" altLang="zh-CN"/>
              <a:t>语法格式：</a:t>
            </a:r>
            <a:endParaRPr lang="zh-CN" altLang="zh-CN"/>
          </a:p>
          <a:p>
            <a:pPr eaLnBrk="1" hangingPunct="1"/>
            <a:r>
              <a:rPr lang="en-US" altLang="zh-CN"/>
              <a:t>CAST ( </a:t>
            </a:r>
            <a:r>
              <a:rPr lang="zh-CN" altLang="zh-CN"/>
              <a:t>表达式</a:t>
            </a:r>
            <a:r>
              <a:rPr lang="en-US" altLang="zh-CN"/>
              <a:t>AS</a:t>
            </a:r>
            <a:r>
              <a:rPr lang="zh-CN" altLang="zh-CN"/>
              <a:t>数据类型</a:t>
            </a:r>
            <a:r>
              <a:rPr lang="en-US" altLang="zh-CN"/>
              <a:t>[(</a:t>
            </a:r>
            <a:r>
              <a:rPr lang="zh-CN" altLang="zh-CN"/>
              <a:t>长度</a:t>
            </a:r>
            <a:r>
              <a:rPr lang="en-US" altLang="zh-CN"/>
              <a:t>)])</a:t>
            </a:r>
            <a:endParaRPr lang="zh-CN" altLang="zh-CN"/>
          </a:p>
          <a:p>
            <a:pPr eaLnBrk="1" hangingPunct="1"/>
            <a:r>
              <a:rPr lang="en-US" altLang="zh-CN"/>
              <a:t>CONVERT (</a:t>
            </a:r>
            <a:r>
              <a:rPr lang="zh-CN" altLang="zh-CN"/>
              <a:t>数据类型</a:t>
            </a:r>
            <a:r>
              <a:rPr lang="en-US" altLang="zh-CN"/>
              <a:t>[(</a:t>
            </a:r>
            <a:r>
              <a:rPr lang="zh-CN" altLang="zh-CN"/>
              <a:t>长度</a:t>
            </a:r>
            <a:r>
              <a:rPr lang="en-US" altLang="zh-CN"/>
              <a:t>)], </a:t>
            </a:r>
            <a:r>
              <a:rPr lang="zh-CN" altLang="zh-CN"/>
              <a:t>表达式</a:t>
            </a:r>
            <a:r>
              <a:rPr lang="en-US" altLang="zh-CN"/>
              <a:t>[, </a:t>
            </a:r>
            <a:r>
              <a:rPr lang="zh-CN" altLang="zh-CN"/>
              <a:t>类型</a:t>
            </a:r>
            <a:r>
              <a:rPr lang="en-US" altLang="zh-CN"/>
              <a:t>])</a:t>
            </a:r>
            <a:endParaRPr lang="zh-CN" altLang="zh-CN"/>
          </a:p>
          <a:p>
            <a:pPr eaLnBrk="1" hangingPunct="1"/>
            <a:r>
              <a:rPr lang="zh-CN" altLang="en-US" b="1"/>
              <a:t>说明：</a:t>
            </a:r>
            <a:endParaRPr lang="en-US" altLang="zh-CN" b="1"/>
          </a:p>
          <a:p>
            <a:pPr eaLnBrk="1" hangingPunct="1"/>
            <a:r>
              <a:rPr lang="zh-CN" altLang="zh-CN"/>
              <a:t>这两个函数将表达式的类型转换为“数据类型”所指定的类型。参数“表达式”可为任何有效的表达式，“数据类型”可为系统提供的基本类型，不能为用户自定义类型，当为</a:t>
            </a:r>
            <a:r>
              <a:rPr lang="en-US" altLang="zh-CN"/>
              <a:t>nchar</a:t>
            </a:r>
            <a:r>
              <a:rPr lang="zh-CN" altLang="zh-CN"/>
              <a:t>、</a:t>
            </a:r>
            <a:r>
              <a:rPr lang="en-US" altLang="zh-CN"/>
              <a:t>nvarchar</a:t>
            </a:r>
            <a:r>
              <a:rPr lang="zh-CN" altLang="zh-CN"/>
              <a:t>、</a:t>
            </a:r>
            <a:r>
              <a:rPr lang="en-US" altLang="zh-CN"/>
              <a:t>char</a:t>
            </a:r>
            <a:r>
              <a:rPr lang="zh-CN" altLang="zh-CN"/>
              <a:t>、</a:t>
            </a:r>
            <a:r>
              <a:rPr lang="en-US" altLang="zh-CN"/>
              <a:t>varchar</a:t>
            </a:r>
            <a:r>
              <a:rPr lang="zh-CN" altLang="zh-CN"/>
              <a:t>、</a:t>
            </a:r>
            <a:r>
              <a:rPr lang="en-US" altLang="zh-CN"/>
              <a:t>binary</a:t>
            </a:r>
            <a:r>
              <a:rPr lang="zh-CN" altLang="zh-CN"/>
              <a:t>或</a:t>
            </a:r>
            <a:r>
              <a:rPr lang="en-US" altLang="zh-CN"/>
              <a:t>varbinary</a:t>
            </a:r>
            <a:r>
              <a:rPr lang="zh-CN" altLang="zh-CN"/>
              <a:t>等数据类型时，可以通过“长度”参数指定长度。对于不同的表达式类型转换，参数“类型”的取值不同。“类型”</a:t>
            </a:r>
            <a:r>
              <a:rPr lang="zh-CN" altLang="zh-CN">
                <a:hlinkClick r:id="rId1" action="ppaction://hlinkfile"/>
              </a:rPr>
              <a:t>的常用取值及其作用如表</a:t>
            </a:r>
            <a:r>
              <a:rPr lang="en-US" altLang="zh-CN">
                <a:hlinkClick r:id="rId1" action="ppaction://hlinkfile"/>
              </a:rPr>
              <a:t>5.10</a:t>
            </a:r>
            <a:r>
              <a:rPr lang="zh-CN" altLang="zh-CN">
                <a:hlinkClick r:id="rId1" action="ppaction://hlinkfile"/>
              </a:rPr>
              <a:t>～表</a:t>
            </a:r>
            <a:r>
              <a:rPr lang="en-US" altLang="zh-CN">
                <a:hlinkClick r:id="rId1" action="ppaction://hlinkfile"/>
              </a:rPr>
              <a:t>5.12</a:t>
            </a:r>
            <a:r>
              <a:rPr lang="zh-CN" altLang="zh-CN">
                <a:hlinkClick r:id="rId1" action="ppaction://hlinkfile"/>
              </a:rPr>
              <a:t>所示。</a:t>
            </a:r>
            <a:endParaRPr lang="zh-CN" altLang="zh-CN"/>
          </a:p>
          <a:p>
            <a:pPr eaLnBrk="1" hangingPunct="1"/>
            <a:endParaRPr lang="zh-CN" altLang="en-US"/>
          </a:p>
        </p:txBody>
      </p:sp>
    </p:spTree>
  </p:cSld>
  <p:clrMapOvr>
    <a:masterClrMapping/>
  </p:clrMapOvr>
  <p:transition spd="slow">
    <p:checke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55650" y="1916113"/>
            <a:ext cx="7920038" cy="280828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5.5.2  </a:t>
            </a:r>
            <a:r>
              <a:rPr lang="zh-CN" altLang="zh-CN" dirty="0">
                <a:effectLst/>
              </a:rPr>
              <a:t>常用系统标量函数</a:t>
            </a:r>
            <a:endParaRPr lang="zh-CN" altLang="en-US" dirty="0"/>
          </a:p>
        </p:txBody>
      </p:sp>
      <p:sp>
        <p:nvSpPr>
          <p:cNvPr id="69636" name="TextBox 2"/>
          <p:cNvSpPr txBox="1">
            <a:spLocks noChangeArrowheads="1"/>
          </p:cNvSpPr>
          <p:nvPr/>
        </p:nvSpPr>
        <p:spPr bwMode="auto">
          <a:xfrm>
            <a:off x="395288" y="1341438"/>
            <a:ext cx="8280400"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5.25</a:t>
            </a:r>
            <a:r>
              <a:rPr lang="zh-CN" altLang="zh-CN"/>
              <a:t>】 如下程序将检索总学分在</a:t>
            </a:r>
            <a:r>
              <a:rPr lang="en-US" altLang="zh-CN"/>
              <a:t>50</a:t>
            </a:r>
            <a:r>
              <a:rPr lang="zh-CN" altLang="zh-CN"/>
              <a:t>～</a:t>
            </a:r>
            <a:r>
              <a:rPr lang="en-US" altLang="zh-CN"/>
              <a:t>59</a:t>
            </a:r>
            <a:r>
              <a:rPr lang="zh-CN" altLang="zh-CN"/>
              <a:t>分的学生姓名，并将总学分转换为</a:t>
            </a:r>
            <a:r>
              <a:rPr lang="en-US" altLang="zh-CN"/>
              <a:t>char(20)</a:t>
            </a:r>
            <a:r>
              <a:rPr lang="zh-CN" altLang="zh-CN"/>
              <a:t>。</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a:t>
            </a:r>
            <a:r>
              <a:rPr lang="zh-CN" altLang="zh-CN"/>
              <a:t>使用</a:t>
            </a:r>
            <a:r>
              <a:rPr lang="en-US" altLang="zh-CN"/>
              <a:t>CAST</a:t>
            </a:r>
            <a:r>
              <a:rPr lang="zh-CN" altLang="zh-CN"/>
              <a:t>实现</a:t>
            </a:r>
            <a:r>
              <a:rPr lang="en-US" altLang="zh-CN"/>
              <a:t>*/</a:t>
            </a:r>
            <a:endParaRPr lang="zh-CN" altLang="zh-CN"/>
          </a:p>
          <a:p>
            <a:pPr eaLnBrk="1" hangingPunct="1"/>
            <a:r>
              <a:rPr lang="en-US" altLang="zh-CN"/>
              <a:t>SELECT</a:t>
            </a:r>
            <a:r>
              <a:rPr lang="zh-CN" altLang="zh-CN"/>
              <a:t>姓名</a:t>
            </a:r>
            <a:r>
              <a:rPr lang="en-US" altLang="zh-CN"/>
              <a:t>, </a:t>
            </a:r>
            <a:r>
              <a:rPr lang="zh-CN" altLang="zh-CN"/>
              <a:t>总学分</a:t>
            </a:r>
            <a:endParaRPr lang="zh-CN" altLang="zh-CN"/>
          </a:p>
          <a:p>
            <a:pPr eaLnBrk="1" hangingPunct="1"/>
            <a:r>
              <a:rPr lang="en-US" altLang="zh-CN"/>
              <a:t>     FROM xsb</a:t>
            </a:r>
            <a:endParaRPr lang="zh-CN" altLang="zh-CN"/>
          </a:p>
          <a:p>
            <a:pPr eaLnBrk="1" hangingPunct="1"/>
            <a:r>
              <a:rPr lang="en-US" altLang="zh-CN"/>
              <a:t>     WHERE  CAST(</a:t>
            </a:r>
            <a:r>
              <a:rPr lang="zh-CN" altLang="zh-CN"/>
              <a:t>总学分</a:t>
            </a:r>
            <a:r>
              <a:rPr lang="en-US" altLang="zh-CN"/>
              <a:t>AS char(20)) LIKE '5_' </a:t>
            </a:r>
            <a:endParaRPr lang="zh-CN" altLang="zh-CN"/>
          </a:p>
          <a:p>
            <a:pPr eaLnBrk="1" hangingPunct="1"/>
            <a:r>
              <a:rPr lang="en-US" altLang="zh-CN"/>
              <a:t>/*</a:t>
            </a:r>
            <a:r>
              <a:rPr lang="zh-CN" altLang="zh-CN"/>
              <a:t>使用</a:t>
            </a:r>
            <a:r>
              <a:rPr lang="en-US" altLang="zh-CN"/>
              <a:t>CONVERT</a:t>
            </a:r>
            <a:r>
              <a:rPr lang="zh-CN" altLang="zh-CN"/>
              <a:t>实现</a:t>
            </a:r>
            <a:r>
              <a:rPr lang="en-US" altLang="zh-CN"/>
              <a:t>*/</a:t>
            </a:r>
            <a:endParaRPr lang="zh-CN" altLang="zh-CN"/>
          </a:p>
          <a:p>
            <a:pPr eaLnBrk="1" hangingPunct="1"/>
            <a:r>
              <a:rPr lang="en-US" altLang="zh-CN"/>
              <a:t>SELECT</a:t>
            </a:r>
            <a:r>
              <a:rPr lang="zh-CN" altLang="zh-CN"/>
              <a:t>姓名</a:t>
            </a:r>
            <a:r>
              <a:rPr lang="en-US" altLang="zh-CN"/>
              <a:t>, </a:t>
            </a:r>
            <a:r>
              <a:rPr lang="zh-CN" altLang="zh-CN"/>
              <a:t>总学分</a:t>
            </a:r>
            <a:endParaRPr lang="zh-CN" altLang="zh-CN"/>
          </a:p>
          <a:p>
            <a:pPr eaLnBrk="1" hangingPunct="1"/>
            <a:r>
              <a:rPr lang="en-US" altLang="zh-CN"/>
              <a:t>     FROM xsb</a:t>
            </a:r>
            <a:endParaRPr lang="zh-CN" altLang="zh-CN"/>
          </a:p>
          <a:p>
            <a:pPr eaLnBrk="1" hangingPunct="1"/>
            <a:r>
              <a:rPr lang="en-US" altLang="zh-CN"/>
              <a:t>     WHERE  CONVERT(char(20), </a:t>
            </a:r>
            <a:r>
              <a:rPr lang="zh-CN" altLang="zh-CN"/>
              <a:t>总学分</a:t>
            </a:r>
            <a:r>
              <a:rPr lang="en-US" altLang="zh-CN"/>
              <a:t>) LIKE '5_' </a:t>
            </a:r>
            <a:endParaRPr lang="zh-CN" altLang="zh-CN"/>
          </a:p>
          <a:p>
            <a:pPr eaLnBrk="1" hangingPunct="1"/>
            <a:endParaRPr lang="zh-CN" altLang="en-US"/>
          </a:p>
        </p:txBody>
      </p:sp>
    </p:spTree>
  </p:cSld>
  <p:clrMapOvr>
    <a:masterClrMapping/>
  </p:clrMapOvr>
  <p:transition spd="slow">
    <p:pull/>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55650" y="3671888"/>
            <a:ext cx="7920038" cy="17018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755650" y="2506663"/>
            <a:ext cx="7920038" cy="3603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5.5.2  </a:t>
            </a:r>
            <a:r>
              <a:rPr lang="zh-CN" altLang="zh-CN" dirty="0">
                <a:effectLst/>
              </a:rPr>
              <a:t>常用系统标量函数</a:t>
            </a:r>
            <a:endParaRPr lang="zh-CN" altLang="en-US" dirty="0"/>
          </a:p>
        </p:txBody>
      </p:sp>
      <p:sp>
        <p:nvSpPr>
          <p:cNvPr id="70661" name="TextBox 2"/>
          <p:cNvSpPr txBox="1">
            <a:spLocks noChangeArrowheads="1"/>
          </p:cNvSpPr>
          <p:nvPr/>
        </p:nvSpPr>
        <p:spPr bwMode="auto">
          <a:xfrm>
            <a:off x="468313" y="1557338"/>
            <a:ext cx="8207375"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b="1"/>
              <a:t>（</a:t>
            </a:r>
            <a:r>
              <a:rPr lang="en-US" altLang="zh-CN" b="1"/>
              <a:t>2</a:t>
            </a:r>
            <a:r>
              <a:rPr lang="zh-CN" altLang="zh-CN" b="1"/>
              <a:t>）</a:t>
            </a:r>
            <a:r>
              <a:rPr lang="en-US" altLang="zh-CN" b="1"/>
              <a:t>COALESCE</a:t>
            </a:r>
            <a:r>
              <a:rPr lang="zh-CN" altLang="zh-CN" b="1"/>
              <a:t>函数</a:t>
            </a:r>
            <a:endParaRPr lang="zh-CN" altLang="zh-CN" b="1"/>
          </a:p>
          <a:p>
            <a:pPr eaLnBrk="1" fontAlgn="ctr" hangingPunct="1">
              <a:lnSpc>
                <a:spcPct val="150000"/>
              </a:lnSpc>
            </a:pPr>
            <a:r>
              <a:rPr lang="zh-CN" altLang="zh-CN"/>
              <a:t>语法格式：</a:t>
            </a:r>
            <a:endParaRPr lang="zh-CN" altLang="zh-CN"/>
          </a:p>
          <a:p>
            <a:pPr eaLnBrk="1" hangingPunct="1">
              <a:lnSpc>
                <a:spcPct val="150000"/>
              </a:lnSpc>
            </a:pPr>
            <a:r>
              <a:rPr lang="en-US" altLang="zh-CN"/>
              <a:t>COALESCE ( </a:t>
            </a:r>
            <a:r>
              <a:rPr lang="zh-CN" altLang="zh-CN"/>
              <a:t>表达式</a:t>
            </a:r>
            <a:r>
              <a:rPr lang="en-US" altLang="zh-CN"/>
              <a:t>[ , ... ] )</a:t>
            </a:r>
            <a:endParaRPr lang="zh-CN" altLang="zh-CN"/>
          </a:p>
          <a:p>
            <a:pPr eaLnBrk="1" fontAlgn="ctr" hangingPunct="1">
              <a:lnSpc>
                <a:spcPct val="150000"/>
              </a:lnSpc>
            </a:pPr>
            <a:r>
              <a:rPr lang="zh-CN" altLang="zh-CN"/>
              <a:t>返回参数表中第一个非空表达式的值，如果所有自变量均为</a:t>
            </a:r>
            <a:r>
              <a:rPr lang="en-US" altLang="zh-CN"/>
              <a:t>NULL</a:t>
            </a:r>
            <a:r>
              <a:rPr lang="zh-CN" altLang="zh-CN"/>
              <a:t>，则</a:t>
            </a:r>
            <a:r>
              <a:rPr lang="en-US" altLang="zh-CN"/>
              <a:t>COALESCE</a:t>
            </a:r>
            <a:r>
              <a:rPr lang="zh-CN" altLang="zh-CN"/>
              <a:t>返回</a:t>
            </a:r>
            <a:r>
              <a:rPr lang="en-US" altLang="zh-CN"/>
              <a:t>NULL</a:t>
            </a:r>
            <a:r>
              <a:rPr lang="zh-CN" altLang="zh-CN"/>
              <a:t>值。</a:t>
            </a:r>
            <a:endParaRPr lang="zh-CN" altLang="zh-CN"/>
          </a:p>
          <a:p>
            <a:pPr eaLnBrk="1" fontAlgn="ctr" hangingPunct="1"/>
            <a:r>
              <a:rPr lang="en-US" altLang="zh-CN"/>
              <a:t>COALESCE(</a:t>
            </a:r>
            <a:r>
              <a:rPr lang="zh-CN" altLang="zh-CN"/>
              <a:t>表达式</a:t>
            </a:r>
            <a:r>
              <a:rPr lang="en-US" altLang="zh-CN"/>
              <a:t>1, ...) </a:t>
            </a:r>
            <a:r>
              <a:rPr lang="zh-CN" altLang="zh-CN"/>
              <a:t>与如下形式的</a:t>
            </a:r>
            <a:r>
              <a:rPr lang="en-US" altLang="zh-CN"/>
              <a:t>CASE</a:t>
            </a:r>
            <a:r>
              <a:rPr lang="zh-CN" altLang="zh-CN"/>
              <a:t>语句等价：</a:t>
            </a:r>
            <a:endParaRPr lang="zh-CN" altLang="zh-CN"/>
          </a:p>
          <a:p>
            <a:pPr eaLnBrk="1" hangingPunct="1"/>
            <a:r>
              <a:rPr lang="en-US" altLang="zh-CN"/>
              <a:t>CASE</a:t>
            </a:r>
            <a:endParaRPr lang="zh-CN" altLang="zh-CN"/>
          </a:p>
          <a:p>
            <a:pPr eaLnBrk="1" hangingPunct="1"/>
            <a:r>
              <a:rPr lang="en-US" altLang="zh-CN"/>
              <a:t>    WHEN (</a:t>
            </a:r>
            <a:r>
              <a:rPr lang="zh-CN" altLang="zh-CN"/>
              <a:t>表达式</a:t>
            </a:r>
            <a:r>
              <a:rPr lang="en-US" altLang="zh-CN"/>
              <a:t>1 IS NOT NULL) THEN</a:t>
            </a:r>
            <a:r>
              <a:rPr lang="zh-CN" altLang="zh-CN"/>
              <a:t>表达式</a:t>
            </a:r>
            <a:r>
              <a:rPr lang="en-US" altLang="zh-CN"/>
              <a:t>1</a:t>
            </a:r>
            <a:endParaRPr lang="zh-CN" altLang="zh-CN"/>
          </a:p>
          <a:p>
            <a:pPr eaLnBrk="1" hangingPunct="1"/>
            <a:r>
              <a:rPr lang="en-US" altLang="zh-CN"/>
              <a:t>    ...</a:t>
            </a:r>
            <a:endParaRPr lang="zh-CN" altLang="zh-CN"/>
          </a:p>
          <a:p>
            <a:pPr eaLnBrk="1" hangingPunct="1"/>
            <a:r>
              <a:rPr lang="en-US" altLang="zh-CN"/>
              <a:t>    WHEN (</a:t>
            </a:r>
            <a:r>
              <a:rPr lang="zh-CN" altLang="zh-CN"/>
              <a:t>表达式</a:t>
            </a:r>
            <a:r>
              <a:rPr lang="en-US" altLang="zh-CN"/>
              <a:t>N IS NOT NULL) THEN</a:t>
            </a:r>
            <a:r>
              <a:rPr lang="zh-CN" altLang="zh-CN"/>
              <a:t>表达式</a:t>
            </a:r>
            <a:r>
              <a:rPr lang="en-US" altLang="zh-CN"/>
              <a:t>N</a:t>
            </a:r>
            <a:endParaRPr lang="zh-CN" altLang="zh-CN"/>
          </a:p>
          <a:p>
            <a:pPr eaLnBrk="1" hangingPunct="1"/>
            <a:r>
              <a:rPr lang="en-US" altLang="zh-CN"/>
              <a:t>ELSE NULL</a:t>
            </a:r>
            <a:endParaRPr lang="zh-CN" altLang="zh-CN"/>
          </a:p>
          <a:p>
            <a:pPr eaLnBrk="1" hangingPunct="1"/>
            <a:endParaRPr lang="zh-CN" altLang="en-US"/>
          </a:p>
        </p:txBody>
      </p:sp>
    </p:spTree>
  </p:cSld>
  <p:clrMapOvr>
    <a:masterClrMapping/>
  </p:clrMapOvr>
  <p:transition spd="slow">
    <p:checke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84213" y="2708275"/>
            <a:ext cx="7991475" cy="3603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5.5.2  </a:t>
            </a:r>
            <a:r>
              <a:rPr lang="zh-CN" altLang="zh-CN" dirty="0">
                <a:effectLst/>
              </a:rPr>
              <a:t>常用系统标量函数</a:t>
            </a:r>
            <a:endParaRPr lang="zh-CN" altLang="en-US" dirty="0"/>
          </a:p>
        </p:txBody>
      </p:sp>
      <p:sp>
        <p:nvSpPr>
          <p:cNvPr id="71684" name="TextBox 2"/>
          <p:cNvSpPr txBox="1">
            <a:spLocks noChangeArrowheads="1"/>
          </p:cNvSpPr>
          <p:nvPr/>
        </p:nvSpPr>
        <p:spPr bwMode="auto">
          <a:xfrm>
            <a:off x="468313" y="1412875"/>
            <a:ext cx="8207375"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b="1"/>
              <a:t>（</a:t>
            </a:r>
            <a:r>
              <a:rPr lang="en-US" altLang="zh-CN" b="1"/>
              <a:t>3</a:t>
            </a:r>
            <a:r>
              <a:rPr lang="zh-CN" altLang="zh-CN" b="1"/>
              <a:t>）</a:t>
            </a:r>
            <a:r>
              <a:rPr lang="en-US" altLang="zh-CN" b="1"/>
              <a:t>ISNUMBRIC</a:t>
            </a:r>
            <a:r>
              <a:rPr lang="zh-CN" altLang="zh-CN" b="1"/>
              <a:t>函数</a:t>
            </a:r>
            <a:endParaRPr lang="zh-CN" altLang="zh-CN" b="1"/>
          </a:p>
          <a:p>
            <a:pPr eaLnBrk="1" fontAlgn="ctr" hangingPunct="1">
              <a:lnSpc>
                <a:spcPct val="150000"/>
              </a:lnSpc>
            </a:pPr>
            <a:r>
              <a:rPr lang="en-US" altLang="zh-CN"/>
              <a:t>ISNUMBRIC</a:t>
            </a:r>
            <a:r>
              <a:rPr lang="zh-CN" altLang="zh-CN"/>
              <a:t>函数用于判断一个表达式是否为数值类型。</a:t>
            </a:r>
            <a:endParaRPr lang="zh-CN" altLang="zh-CN"/>
          </a:p>
          <a:p>
            <a:pPr eaLnBrk="1" fontAlgn="ctr" hangingPunct="1">
              <a:lnSpc>
                <a:spcPct val="150000"/>
              </a:lnSpc>
            </a:pPr>
            <a:r>
              <a:rPr lang="zh-CN" altLang="zh-CN"/>
              <a:t>语法格式：</a:t>
            </a:r>
            <a:endParaRPr lang="zh-CN" altLang="zh-CN"/>
          </a:p>
          <a:p>
            <a:pPr eaLnBrk="1" hangingPunct="1">
              <a:lnSpc>
                <a:spcPct val="150000"/>
              </a:lnSpc>
            </a:pPr>
            <a:r>
              <a:rPr lang="en-US" altLang="zh-CN"/>
              <a:t>ISNUMBRIC(</a:t>
            </a:r>
            <a:r>
              <a:rPr lang="zh-CN" altLang="zh-CN"/>
              <a:t>表达式</a:t>
            </a:r>
            <a:r>
              <a:rPr lang="en-US" altLang="zh-CN"/>
              <a:t>)</a:t>
            </a:r>
            <a:endParaRPr lang="zh-CN" altLang="zh-CN"/>
          </a:p>
          <a:p>
            <a:pPr eaLnBrk="1" fontAlgn="ctr" hangingPunct="1">
              <a:lnSpc>
                <a:spcPct val="150000"/>
              </a:lnSpc>
            </a:pPr>
            <a:r>
              <a:rPr lang="zh-CN" altLang="zh-CN"/>
              <a:t>如果输入表达式的计算值为有效的整数、浮点数、</a:t>
            </a:r>
            <a:r>
              <a:rPr lang="en-US" altLang="zh-CN"/>
              <a:t>money</a:t>
            </a:r>
            <a:r>
              <a:rPr lang="zh-CN" altLang="zh-CN"/>
              <a:t>或</a:t>
            </a:r>
            <a:r>
              <a:rPr lang="en-US" altLang="zh-CN"/>
              <a:t>decimal</a:t>
            </a:r>
            <a:r>
              <a:rPr lang="zh-CN" altLang="zh-CN"/>
              <a:t>类型，则</a:t>
            </a:r>
            <a:r>
              <a:rPr lang="en-US" altLang="zh-CN"/>
              <a:t>ISNUMERIC</a:t>
            </a:r>
            <a:r>
              <a:rPr lang="zh-CN" altLang="zh-CN"/>
              <a:t>返回</a:t>
            </a:r>
            <a:r>
              <a:rPr lang="en-US" altLang="zh-CN"/>
              <a:t>1</a:t>
            </a:r>
            <a:r>
              <a:rPr lang="zh-CN" altLang="zh-CN"/>
              <a:t>；否则返回</a:t>
            </a:r>
            <a:r>
              <a:rPr lang="en-US" altLang="zh-CN"/>
              <a:t>0</a:t>
            </a:r>
            <a:r>
              <a:rPr lang="zh-CN" altLang="zh-CN"/>
              <a:t>。</a:t>
            </a:r>
            <a:endParaRPr lang="zh-CN" altLang="zh-CN"/>
          </a:p>
          <a:p>
            <a:pPr eaLnBrk="1" hangingPunct="1">
              <a:lnSpc>
                <a:spcPct val="150000"/>
              </a:lnSpc>
            </a:pPr>
            <a:endParaRPr lang="zh-CN" altLang="en-US"/>
          </a:p>
        </p:txBody>
      </p:sp>
    </p:spTree>
  </p:cSld>
  <p:clrMapOvr>
    <a:masterClrMapping/>
  </p:clrMapOvr>
  <p:transition spd="slow">
    <p:pull/>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2325" y="4724400"/>
            <a:ext cx="7848600" cy="8651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708275"/>
            <a:ext cx="7848600" cy="3603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5.5.2  </a:t>
            </a:r>
            <a:r>
              <a:rPr lang="zh-CN" altLang="zh-CN" dirty="0">
                <a:effectLst/>
              </a:rPr>
              <a:t>常用系统标量函数</a:t>
            </a:r>
            <a:endParaRPr lang="zh-CN" altLang="en-US" dirty="0"/>
          </a:p>
        </p:txBody>
      </p:sp>
      <p:sp>
        <p:nvSpPr>
          <p:cNvPr id="72709" name="TextBox 2"/>
          <p:cNvSpPr txBox="1">
            <a:spLocks noChangeArrowheads="1"/>
          </p:cNvSpPr>
          <p:nvPr/>
        </p:nvSpPr>
        <p:spPr bwMode="auto">
          <a:xfrm>
            <a:off x="395288" y="1412875"/>
            <a:ext cx="82804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5</a:t>
            </a:r>
            <a:r>
              <a:rPr lang="zh-CN" altLang="zh-CN" b="1">
                <a:solidFill>
                  <a:srgbClr val="C00000"/>
                </a:solidFill>
              </a:rPr>
              <a:t>．日期时间函数</a:t>
            </a:r>
            <a:endParaRPr lang="zh-CN" altLang="zh-CN" b="1">
              <a:solidFill>
                <a:srgbClr val="C00000"/>
              </a:solidFill>
            </a:endParaRPr>
          </a:p>
          <a:p>
            <a:pPr eaLnBrk="1" fontAlgn="ctr" hangingPunct="1">
              <a:lnSpc>
                <a:spcPct val="150000"/>
              </a:lnSpc>
            </a:pPr>
            <a:r>
              <a:rPr lang="zh-CN" altLang="zh-CN"/>
              <a:t>（</a:t>
            </a:r>
            <a:r>
              <a:rPr lang="en-US" altLang="zh-CN"/>
              <a:t>1</a:t>
            </a:r>
            <a:r>
              <a:rPr lang="zh-CN" altLang="zh-CN"/>
              <a:t>）</a:t>
            </a:r>
            <a:r>
              <a:rPr lang="en-US" altLang="zh-CN"/>
              <a:t>GETDATE</a:t>
            </a:r>
            <a:r>
              <a:rPr lang="zh-CN" altLang="zh-CN"/>
              <a:t>函数</a:t>
            </a:r>
            <a:endParaRPr lang="zh-CN" altLang="zh-CN"/>
          </a:p>
          <a:p>
            <a:pPr eaLnBrk="1" fontAlgn="ctr" hangingPunct="1">
              <a:lnSpc>
                <a:spcPct val="150000"/>
              </a:lnSpc>
            </a:pPr>
            <a:r>
              <a:rPr lang="zh-CN" altLang="zh-CN"/>
              <a:t>语法格式：</a:t>
            </a:r>
            <a:endParaRPr lang="zh-CN" altLang="zh-CN"/>
          </a:p>
          <a:p>
            <a:pPr eaLnBrk="1" hangingPunct="1">
              <a:lnSpc>
                <a:spcPct val="150000"/>
              </a:lnSpc>
            </a:pPr>
            <a:r>
              <a:rPr lang="en-US" altLang="zh-CN"/>
              <a:t>GETDATE ()</a:t>
            </a:r>
            <a:endParaRPr lang="zh-CN" altLang="zh-CN"/>
          </a:p>
          <a:p>
            <a:pPr eaLnBrk="1" fontAlgn="ctr" hangingPunct="1">
              <a:lnSpc>
                <a:spcPct val="150000"/>
              </a:lnSpc>
            </a:pPr>
            <a:r>
              <a:rPr lang="zh-CN" altLang="zh-CN"/>
              <a:t>按</a:t>
            </a:r>
            <a:r>
              <a:rPr lang="en-US" altLang="zh-CN"/>
              <a:t>SQL Server</a:t>
            </a:r>
            <a:r>
              <a:rPr lang="zh-CN" altLang="zh-CN"/>
              <a:t>标准内部格式返回当前系统日期和时间。返回值类型为</a:t>
            </a:r>
            <a:r>
              <a:rPr lang="en-US" altLang="zh-CN"/>
              <a:t>datetime</a:t>
            </a:r>
            <a:r>
              <a:rPr lang="zh-CN" altLang="zh-CN"/>
              <a:t>。</a:t>
            </a:r>
            <a:endParaRPr lang="zh-CN" altLang="zh-CN"/>
          </a:p>
          <a:p>
            <a:pPr eaLnBrk="1" fontAlgn="ctr" hangingPunct="1">
              <a:lnSpc>
                <a:spcPct val="150000"/>
              </a:lnSpc>
            </a:pPr>
            <a:r>
              <a:rPr lang="zh-CN" altLang="zh-CN"/>
              <a:t>（</a:t>
            </a:r>
            <a:r>
              <a:rPr lang="en-US" altLang="zh-CN"/>
              <a:t>2</a:t>
            </a:r>
            <a:r>
              <a:rPr lang="zh-CN" altLang="zh-CN"/>
              <a:t>）</a:t>
            </a:r>
            <a:r>
              <a:rPr lang="en-US" altLang="zh-CN"/>
              <a:t>YEAR</a:t>
            </a:r>
            <a:r>
              <a:rPr lang="zh-CN" altLang="zh-CN"/>
              <a:t>、</a:t>
            </a:r>
            <a:r>
              <a:rPr lang="en-US" altLang="zh-CN"/>
              <a:t>MONTH</a:t>
            </a:r>
            <a:r>
              <a:rPr lang="zh-CN" altLang="zh-CN"/>
              <a:t>、</a:t>
            </a:r>
            <a:r>
              <a:rPr lang="en-US" altLang="zh-CN"/>
              <a:t>DAY</a:t>
            </a:r>
            <a:r>
              <a:rPr lang="zh-CN" altLang="zh-CN"/>
              <a:t>函数</a:t>
            </a:r>
            <a:endParaRPr lang="zh-CN" altLang="zh-CN"/>
          </a:p>
          <a:p>
            <a:pPr eaLnBrk="1" fontAlgn="ctr" hangingPunct="1">
              <a:lnSpc>
                <a:spcPct val="150000"/>
              </a:lnSpc>
            </a:pPr>
            <a:r>
              <a:rPr lang="zh-CN" altLang="zh-CN"/>
              <a:t>这</a:t>
            </a:r>
            <a:r>
              <a:rPr lang="en-US" altLang="zh-CN"/>
              <a:t>3</a:t>
            </a:r>
            <a:r>
              <a:rPr lang="zh-CN" altLang="zh-CN"/>
              <a:t>个函数分别返回指定日期的年、月、日部分，返回值都为整数。语法格式：</a:t>
            </a:r>
            <a:endParaRPr lang="zh-CN" altLang="zh-CN"/>
          </a:p>
          <a:p>
            <a:pPr eaLnBrk="1" hangingPunct="1"/>
            <a:r>
              <a:rPr lang="en-US" altLang="zh-CN"/>
              <a:t>YEAR(</a:t>
            </a:r>
            <a:r>
              <a:rPr lang="zh-CN" altLang="zh-CN"/>
              <a:t>日期</a:t>
            </a:r>
            <a:r>
              <a:rPr lang="en-US" altLang="zh-CN"/>
              <a:t>)</a:t>
            </a:r>
            <a:endParaRPr lang="zh-CN" altLang="zh-CN"/>
          </a:p>
          <a:p>
            <a:pPr eaLnBrk="1" hangingPunct="1"/>
            <a:r>
              <a:rPr lang="en-US" altLang="zh-CN"/>
              <a:t>MONTH(</a:t>
            </a:r>
            <a:r>
              <a:rPr lang="zh-CN" altLang="zh-CN"/>
              <a:t>日期</a:t>
            </a:r>
            <a:r>
              <a:rPr lang="en-US" altLang="zh-CN"/>
              <a:t>)</a:t>
            </a:r>
            <a:endParaRPr lang="zh-CN" altLang="zh-CN"/>
          </a:p>
          <a:p>
            <a:pPr eaLnBrk="1" hangingPunct="1"/>
            <a:r>
              <a:rPr lang="en-US" altLang="zh-CN"/>
              <a:t>DAY(</a:t>
            </a:r>
            <a:r>
              <a:rPr lang="zh-CN" altLang="zh-CN"/>
              <a:t>日期</a:t>
            </a:r>
            <a:r>
              <a:rPr lang="en-US" altLang="zh-CN"/>
              <a:t>)</a:t>
            </a:r>
            <a:endParaRPr lang="zh-CN" altLang="zh-CN"/>
          </a:p>
          <a:p>
            <a:pPr eaLnBrk="1" hangingPunct="1"/>
            <a:endParaRPr lang="zh-CN" altLang="en-US"/>
          </a:p>
        </p:txBody>
      </p:sp>
    </p:spTree>
  </p:cSld>
  <p:clrMapOvr>
    <a:masterClrMapping/>
  </p:clrMapOvr>
  <p:transition spd="slow">
    <p:checke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55650" y="3357563"/>
            <a:ext cx="7993063" cy="2447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755650" y="2551113"/>
            <a:ext cx="7993063" cy="288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5.5.2  </a:t>
            </a:r>
            <a:r>
              <a:rPr lang="zh-CN" altLang="zh-CN" dirty="0">
                <a:effectLst/>
              </a:rPr>
              <a:t>常用系统标量函数</a:t>
            </a:r>
            <a:endParaRPr lang="zh-CN" altLang="en-US" dirty="0"/>
          </a:p>
        </p:txBody>
      </p:sp>
      <p:sp>
        <p:nvSpPr>
          <p:cNvPr id="73733" name="TextBox 2"/>
          <p:cNvSpPr txBox="1">
            <a:spLocks noChangeArrowheads="1"/>
          </p:cNvSpPr>
          <p:nvPr/>
        </p:nvSpPr>
        <p:spPr bwMode="auto">
          <a:xfrm>
            <a:off x="395288" y="1412875"/>
            <a:ext cx="8353425" cy="514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6</a:t>
            </a:r>
            <a:r>
              <a:rPr lang="zh-CN" altLang="zh-CN" b="1">
                <a:solidFill>
                  <a:srgbClr val="C00000"/>
                </a:solidFill>
              </a:rPr>
              <a:t>．游标函数</a:t>
            </a:r>
            <a:endParaRPr lang="zh-CN" altLang="zh-CN" b="1">
              <a:solidFill>
                <a:srgbClr val="C00000"/>
              </a:solidFill>
            </a:endParaRPr>
          </a:p>
          <a:p>
            <a:pPr eaLnBrk="1" fontAlgn="ctr" hangingPunct="1"/>
            <a:r>
              <a:rPr lang="zh-CN" altLang="zh-CN"/>
              <a:t>游标函数用于返回有关游标的信息。主要有如下游标函数。</a:t>
            </a:r>
            <a:endParaRPr lang="zh-CN" altLang="zh-CN"/>
          </a:p>
          <a:p>
            <a:pPr eaLnBrk="1" fontAlgn="ctr" hangingPunct="1"/>
            <a:r>
              <a:rPr lang="zh-CN" altLang="zh-CN"/>
              <a:t>（</a:t>
            </a:r>
            <a:r>
              <a:rPr lang="en-US" altLang="zh-CN"/>
              <a:t>1</a:t>
            </a:r>
            <a:r>
              <a:rPr lang="zh-CN" altLang="zh-CN"/>
              <a:t>）</a:t>
            </a:r>
            <a:r>
              <a:rPr lang="en-US" altLang="zh-CN"/>
              <a:t>@@CURSOR_ROWS</a:t>
            </a:r>
            <a:r>
              <a:rPr lang="zh-CN" altLang="zh-CN"/>
              <a:t>函数</a:t>
            </a:r>
            <a:endParaRPr lang="zh-CN" altLang="zh-CN"/>
          </a:p>
          <a:p>
            <a:pPr eaLnBrk="1" fontAlgn="ctr" hangingPunct="1"/>
            <a:r>
              <a:rPr lang="zh-CN" altLang="zh-CN"/>
              <a:t>语法格式：</a:t>
            </a:r>
            <a:endParaRPr lang="zh-CN" altLang="zh-CN"/>
          </a:p>
          <a:p>
            <a:pPr eaLnBrk="1" hangingPunct="1"/>
            <a:r>
              <a:rPr lang="en-US" altLang="zh-CN"/>
              <a:t>@@CURSOR_ROWS</a:t>
            </a:r>
            <a:endParaRPr lang="zh-CN" altLang="zh-CN"/>
          </a:p>
          <a:p>
            <a:pPr eaLnBrk="1" fontAlgn="ctr" hangingPunct="1"/>
            <a:r>
              <a:rPr lang="zh-CN" altLang="zh-CN"/>
              <a:t>返回最后打开的游标中当前存在的满足条件的行数。</a:t>
            </a:r>
            <a:endParaRPr lang="zh-CN" altLang="zh-CN"/>
          </a:p>
          <a:p>
            <a:pPr eaLnBrk="1" fontAlgn="ctr" hangingPunct="1"/>
            <a:r>
              <a:rPr lang="zh-CN" altLang="zh-CN"/>
              <a:t>【例</a:t>
            </a:r>
            <a:r>
              <a:rPr lang="en-US" altLang="zh-CN"/>
              <a:t>5.26</a:t>
            </a:r>
            <a:r>
              <a:rPr lang="zh-CN" altLang="zh-CN"/>
              <a:t>】 声明一个游标，并用</a:t>
            </a:r>
            <a:r>
              <a:rPr lang="en-US" altLang="zh-CN"/>
              <a:t>SELECT</a:t>
            </a:r>
            <a:r>
              <a:rPr lang="zh-CN" altLang="zh-CN"/>
              <a:t>显示</a:t>
            </a:r>
            <a:r>
              <a:rPr lang="en-US" altLang="zh-CN"/>
              <a:t>@@CURSOR_ROWS</a:t>
            </a:r>
            <a:r>
              <a:rPr lang="zh-CN" altLang="zh-CN"/>
              <a:t>的值。</a:t>
            </a:r>
            <a:endParaRPr lang="zh-CN" altLang="zh-CN"/>
          </a:p>
          <a:p>
            <a:pPr eaLnBrk="1" hangingPunct="1"/>
            <a:r>
              <a:rPr lang="en-US" altLang="zh-CN" sz="1600"/>
              <a:t>USE pxscj</a:t>
            </a:r>
            <a:endParaRPr lang="zh-CN" altLang="zh-CN" sz="1600"/>
          </a:p>
          <a:p>
            <a:pPr eaLnBrk="1" hangingPunct="1"/>
            <a:r>
              <a:rPr lang="en-US" altLang="zh-CN" sz="1600"/>
              <a:t>GO</a:t>
            </a:r>
            <a:endParaRPr lang="zh-CN" altLang="zh-CN" sz="1600"/>
          </a:p>
          <a:p>
            <a:pPr eaLnBrk="1" hangingPunct="1"/>
            <a:r>
              <a:rPr lang="en-US" altLang="zh-CN" sz="1600"/>
              <a:t>SELECT @@CURSOR_ROWS</a:t>
            </a:r>
            <a:endParaRPr lang="zh-CN" altLang="zh-CN" sz="1600"/>
          </a:p>
          <a:p>
            <a:pPr eaLnBrk="1" hangingPunct="1"/>
            <a:r>
              <a:rPr lang="en-US" altLang="zh-CN" sz="1600"/>
              <a:t>DECLARE student_cursor CURSOR</a:t>
            </a:r>
            <a:endParaRPr lang="zh-CN" altLang="zh-CN" sz="1600"/>
          </a:p>
          <a:p>
            <a:pPr eaLnBrk="1" hangingPunct="1"/>
            <a:r>
              <a:rPr lang="en-US" altLang="zh-CN" sz="1600"/>
              <a:t>     FOR SELECT</a:t>
            </a:r>
            <a:r>
              <a:rPr lang="zh-CN" altLang="zh-CN" sz="1600"/>
              <a:t>姓名</a:t>
            </a:r>
            <a:r>
              <a:rPr lang="en-US" altLang="zh-CN" sz="1600"/>
              <a:t>FROM xsb</a:t>
            </a:r>
            <a:endParaRPr lang="zh-CN" altLang="zh-CN" sz="1600"/>
          </a:p>
          <a:p>
            <a:pPr eaLnBrk="1" hangingPunct="1"/>
            <a:r>
              <a:rPr lang="en-US" altLang="zh-CN" sz="1600"/>
              <a:t>OPEN student_cursor</a:t>
            </a:r>
            <a:endParaRPr lang="zh-CN" altLang="zh-CN" sz="1600"/>
          </a:p>
          <a:p>
            <a:pPr eaLnBrk="1" hangingPunct="1"/>
            <a:r>
              <a:rPr lang="en-US" altLang="zh-CN" sz="1600"/>
              <a:t>FETCH NEXT FROM student_cursor</a:t>
            </a:r>
            <a:endParaRPr lang="zh-CN" altLang="zh-CN" sz="1600"/>
          </a:p>
          <a:p>
            <a:pPr eaLnBrk="1" hangingPunct="1"/>
            <a:r>
              <a:rPr lang="en-US" altLang="zh-CN" sz="1600"/>
              <a:t>SELECT @@CURSOR_ROWS</a:t>
            </a:r>
            <a:endParaRPr lang="zh-CN" altLang="zh-CN" sz="1600"/>
          </a:p>
          <a:p>
            <a:pPr eaLnBrk="1" hangingPunct="1"/>
            <a:r>
              <a:rPr lang="en-US" altLang="zh-CN" sz="1600"/>
              <a:t>CLOSE student_cursor</a:t>
            </a:r>
            <a:endParaRPr lang="zh-CN" altLang="zh-CN" sz="1600"/>
          </a:p>
          <a:p>
            <a:pPr eaLnBrk="1" hangingPunct="1"/>
            <a:r>
              <a:rPr lang="en-US" altLang="zh-CN" sz="1600"/>
              <a:t>DEALLOCATE student_cursor</a:t>
            </a:r>
            <a:endParaRPr lang="zh-CN" altLang="zh-CN"/>
          </a:p>
          <a:p>
            <a:pPr eaLnBrk="1" fontAlgn="ctr" hangingPunct="1"/>
            <a:r>
              <a:rPr lang="zh-CN" altLang="zh-CN"/>
              <a:t>执行结果如图</a:t>
            </a:r>
            <a:r>
              <a:rPr lang="en-US" altLang="zh-CN"/>
              <a:t>5.13</a:t>
            </a:r>
            <a:r>
              <a:rPr lang="zh-CN" altLang="zh-CN"/>
              <a:t>所示。</a:t>
            </a:r>
            <a:endParaRPr lang="zh-CN" altLang="zh-CN"/>
          </a:p>
          <a:p>
            <a:pPr eaLnBrk="1" hangingPunct="1"/>
            <a:endParaRPr lang="zh-CN" altLang="en-US"/>
          </a:p>
        </p:txBody>
      </p:sp>
      <p:pic>
        <p:nvPicPr>
          <p:cNvPr id="737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08850" y="3883025"/>
            <a:ext cx="1416050" cy="199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1916113"/>
            <a:ext cx="7848600" cy="16573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5.5.2  </a:t>
            </a:r>
            <a:r>
              <a:rPr lang="zh-CN" altLang="zh-CN" dirty="0">
                <a:effectLst/>
              </a:rPr>
              <a:t>常用系统标量函数</a:t>
            </a:r>
            <a:endParaRPr lang="zh-CN" altLang="en-US" dirty="0"/>
          </a:p>
        </p:txBody>
      </p:sp>
      <p:sp>
        <p:nvSpPr>
          <p:cNvPr id="74756" name="TextBox 2"/>
          <p:cNvSpPr txBox="1">
            <a:spLocks noChangeArrowheads="1"/>
          </p:cNvSpPr>
          <p:nvPr/>
        </p:nvSpPr>
        <p:spPr bwMode="auto">
          <a:xfrm>
            <a:off x="468313" y="1341438"/>
            <a:ext cx="820737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b="1"/>
              <a:t>（</a:t>
            </a:r>
            <a:r>
              <a:rPr lang="en-US" altLang="zh-CN" b="1"/>
              <a:t>2</a:t>
            </a:r>
            <a:r>
              <a:rPr lang="zh-CN" altLang="zh-CN" b="1"/>
              <a:t>）</a:t>
            </a:r>
            <a:r>
              <a:rPr lang="en-US" altLang="zh-CN" b="1"/>
              <a:t>CURSOR_STATUS</a:t>
            </a:r>
            <a:r>
              <a:rPr lang="zh-CN" altLang="zh-CN" b="1"/>
              <a:t>函数</a:t>
            </a:r>
            <a:endParaRPr lang="zh-CN" altLang="zh-CN" b="1"/>
          </a:p>
          <a:p>
            <a:pPr eaLnBrk="1" fontAlgn="ctr" hangingPunct="1"/>
            <a:r>
              <a:rPr lang="zh-CN" altLang="zh-CN"/>
              <a:t>语法格式：</a:t>
            </a:r>
            <a:endParaRPr lang="zh-CN" altLang="zh-CN"/>
          </a:p>
          <a:p>
            <a:pPr eaLnBrk="1" hangingPunct="1"/>
            <a:r>
              <a:rPr lang="en-US" altLang="zh-CN"/>
              <a:t>CURSOR_STATUS</a:t>
            </a:r>
            <a:endParaRPr lang="zh-CN" altLang="zh-CN"/>
          </a:p>
          <a:p>
            <a:pPr eaLnBrk="1" hangingPunct="1"/>
            <a:r>
              <a:rPr lang="en-US" altLang="zh-CN"/>
              <a:t>(</a:t>
            </a:r>
            <a:endParaRPr lang="zh-CN" altLang="zh-CN"/>
          </a:p>
          <a:p>
            <a:pPr eaLnBrk="1" hangingPunct="1"/>
            <a:r>
              <a:rPr lang="en-US" altLang="zh-CN"/>
              <a:t>    { '</a:t>
            </a:r>
            <a:r>
              <a:rPr lang="zh-CN" altLang="zh-CN"/>
              <a:t>本地</a:t>
            </a:r>
            <a:r>
              <a:rPr lang="en-US" altLang="zh-CN"/>
              <a:t>' , '</a:t>
            </a:r>
            <a:r>
              <a:rPr lang="zh-CN" altLang="zh-CN"/>
              <a:t>游标名</a:t>
            </a:r>
            <a:r>
              <a:rPr lang="en-US" altLang="zh-CN"/>
              <a:t>' }			/*</a:t>
            </a:r>
            <a:r>
              <a:rPr lang="zh-CN" altLang="zh-CN"/>
              <a:t>指明数据源为本地游标</a:t>
            </a:r>
            <a:r>
              <a:rPr lang="en-US" altLang="zh-CN"/>
              <a:t>*/</a:t>
            </a:r>
            <a:endParaRPr lang="zh-CN" altLang="zh-CN"/>
          </a:p>
          <a:p>
            <a:pPr eaLnBrk="1" hangingPunct="1"/>
            <a:r>
              <a:rPr lang="en-US" altLang="zh-CN"/>
              <a:t>    | { '</a:t>
            </a:r>
            <a:r>
              <a:rPr lang="zh-CN" altLang="zh-CN"/>
              <a:t>全局</a:t>
            </a:r>
            <a:r>
              <a:rPr lang="en-US" altLang="zh-CN"/>
              <a:t>' , '</a:t>
            </a:r>
            <a:r>
              <a:rPr lang="zh-CN" altLang="zh-CN"/>
              <a:t>游标名</a:t>
            </a:r>
            <a:r>
              <a:rPr lang="en-US" altLang="zh-CN"/>
              <a:t>' }			/*</a:t>
            </a:r>
            <a:r>
              <a:rPr lang="zh-CN" altLang="zh-CN"/>
              <a:t>指明数据源为全局游标</a:t>
            </a:r>
            <a:r>
              <a:rPr lang="en-US" altLang="zh-CN"/>
              <a:t>*/</a:t>
            </a:r>
            <a:endParaRPr lang="zh-CN" altLang="zh-CN"/>
          </a:p>
          <a:p>
            <a:pPr eaLnBrk="1" hangingPunct="1"/>
            <a:r>
              <a:rPr lang="en-US" altLang="zh-CN"/>
              <a:t>    | { '</a:t>
            </a:r>
            <a:r>
              <a:rPr lang="zh-CN" altLang="zh-CN"/>
              <a:t>变量</a:t>
            </a:r>
            <a:r>
              <a:rPr lang="en-US" altLang="zh-CN"/>
              <a:t>' , '</a:t>
            </a:r>
            <a:r>
              <a:rPr lang="zh-CN" altLang="zh-CN"/>
              <a:t>游标变量</a:t>
            </a:r>
            <a:r>
              <a:rPr lang="en-US" altLang="zh-CN"/>
              <a:t>' }		/*</a:t>
            </a:r>
            <a:r>
              <a:rPr lang="zh-CN" altLang="zh-CN"/>
              <a:t>指明数据源为游标变量</a:t>
            </a:r>
            <a:r>
              <a:rPr lang="en-US" altLang="zh-CN"/>
              <a:t>*/</a:t>
            </a:r>
            <a:endParaRPr lang="zh-CN" altLang="zh-CN"/>
          </a:p>
          <a:p>
            <a:pPr eaLnBrk="1" hangingPunct="1"/>
            <a:r>
              <a:rPr lang="en-US" altLang="zh-CN"/>
              <a:t>)</a:t>
            </a:r>
            <a:endParaRPr lang="zh-CN" altLang="zh-CN"/>
          </a:p>
          <a:p>
            <a:pPr eaLnBrk="1" fontAlgn="ctr" hangingPunct="1"/>
            <a:r>
              <a:rPr lang="zh-CN" altLang="zh-CN"/>
              <a:t>结果显示游标状态是打开还是关闭。常量字符串“本地”、“全局”用于指定游标的类型，“本地”表示为本地游标名，“全局”表示为全局游标名。</a:t>
            </a:r>
            <a:endParaRPr lang="zh-CN" altLang="zh-CN"/>
          </a:p>
          <a:p>
            <a:pPr eaLnBrk="1" fontAlgn="ctr" hangingPunct="1"/>
            <a:r>
              <a:rPr lang="en-US" altLang="zh-CN"/>
              <a:t>CURSOR_STATUS()</a:t>
            </a:r>
            <a:r>
              <a:rPr lang="zh-CN" altLang="zh-CN"/>
              <a:t>函数返回值如表</a:t>
            </a:r>
            <a:r>
              <a:rPr lang="en-US" altLang="zh-CN"/>
              <a:t>5.13</a:t>
            </a:r>
            <a:r>
              <a:rPr lang="zh-CN" altLang="zh-CN"/>
              <a:t>所示。</a:t>
            </a:r>
            <a:endParaRPr lang="zh-CN" altLang="zh-CN"/>
          </a:p>
          <a:p>
            <a:pPr eaLnBrk="1" hangingPunct="1"/>
            <a:endParaRPr lang="zh-CN" altLang="en-US"/>
          </a:p>
        </p:txBody>
      </p:sp>
      <p:graphicFrame>
        <p:nvGraphicFramePr>
          <p:cNvPr id="6" name="表格 5"/>
          <p:cNvGraphicFramePr>
            <a:graphicFrameLocks noGrp="1"/>
          </p:cNvGraphicFramePr>
          <p:nvPr/>
        </p:nvGraphicFramePr>
        <p:xfrm>
          <a:off x="723900" y="4497388"/>
          <a:ext cx="8023224" cy="1163636"/>
        </p:xfrm>
        <a:graphic>
          <a:graphicData uri="http://schemas.openxmlformats.org/drawingml/2006/table">
            <a:tbl>
              <a:tblPr firstRow="1" firstCol="1" bandRow="1" bandCol="1"/>
              <a:tblGrid>
                <a:gridCol w="953159"/>
                <a:gridCol w="3162755"/>
                <a:gridCol w="1059066"/>
                <a:gridCol w="2848244"/>
              </a:tblGrid>
              <a:tr h="290909">
                <a:tc>
                  <a:txBody>
                    <a:bodyPr/>
                    <a:lstStyle/>
                    <a:p>
                      <a:pPr indent="254000" algn="ctr">
                        <a:spcBef>
                          <a:spcPts val="120"/>
                        </a:spcBef>
                        <a:spcAft>
                          <a:spcPts val="120"/>
                        </a:spcAft>
                      </a:pPr>
                      <a:r>
                        <a:rPr lang="zh-CN" sz="1400" kern="1000" dirty="0">
                          <a:effectLst/>
                          <a:latin typeface="Times New Roman" panose="02020603050405020304"/>
                          <a:ea typeface="方正书宋简体"/>
                        </a:rPr>
                        <a:t>返回值</a:t>
                      </a:r>
                      <a:endParaRPr lang="zh-CN" sz="1400" kern="1000" dirty="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游标名或游标变量</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返回值</a:t>
                      </a:r>
                      <a:endParaRPr lang="zh-CN" sz="1400" kern="1000">
                        <a:effectLst/>
                        <a:latin typeface="Times New Roman" panose="02020603050405020304"/>
                        <a:ea typeface="方正书宋简体"/>
                      </a:endParaRPr>
                    </a:p>
                  </a:txBody>
                  <a:tcPr marL="68575" marR="68575"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游标名或游标变量</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0909">
                <a:tc>
                  <a:txBody>
                    <a:bodyPr/>
                    <a:lstStyle/>
                    <a:p>
                      <a:pPr indent="254000" algn="ctr">
                        <a:spcBef>
                          <a:spcPts val="120"/>
                        </a:spcBef>
                        <a:spcAft>
                          <a:spcPts val="120"/>
                        </a:spcAft>
                      </a:pPr>
                      <a:r>
                        <a:rPr lang="en-US" sz="1400" kern="1000">
                          <a:effectLst/>
                          <a:latin typeface="Times New Roman" panose="02020603050405020304"/>
                          <a:ea typeface="方正书宋简体"/>
                        </a:rPr>
                        <a:t>1</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游标的结果集至少有一行</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en-US" sz="1400" kern="1000">
                          <a:effectLst/>
                          <a:latin typeface="Times New Roman" panose="02020603050405020304"/>
                          <a:ea typeface="方正书宋简体"/>
                        </a:rPr>
                        <a:t>−2</a:t>
                      </a:r>
                      <a:endParaRPr lang="zh-CN" sz="1400" kern="1000">
                        <a:effectLst/>
                        <a:latin typeface="Times New Roman" panose="02020603050405020304"/>
                        <a:ea typeface="方正书宋简体"/>
                      </a:endParaRPr>
                    </a:p>
                  </a:txBody>
                  <a:tcPr marL="68575" marR="68575"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游标不可用</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0909">
                <a:tc>
                  <a:txBody>
                    <a:bodyPr/>
                    <a:lstStyle/>
                    <a:p>
                      <a:pPr indent="254000" algn="ctr">
                        <a:spcBef>
                          <a:spcPts val="120"/>
                        </a:spcBef>
                        <a:spcAft>
                          <a:spcPts val="120"/>
                        </a:spcAft>
                      </a:pPr>
                      <a:r>
                        <a:rPr lang="en-US" sz="1400" kern="1000">
                          <a:effectLst/>
                          <a:latin typeface="Times New Roman" panose="02020603050405020304"/>
                          <a:ea typeface="方正书宋简体"/>
                        </a:rPr>
                        <a:t>0</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游标的结果集为空</a:t>
                      </a:r>
                      <a:r>
                        <a:rPr lang="en-US" sz="1400" kern="1000">
                          <a:effectLst/>
                          <a:latin typeface="Times New Roman" panose="02020603050405020304"/>
                          <a:ea typeface="方正书宋简体"/>
                        </a:rPr>
                        <a:t>*</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en-US" sz="1400" kern="1000">
                          <a:effectLst/>
                          <a:latin typeface="Times New Roman" panose="02020603050405020304"/>
                          <a:ea typeface="方正书宋简体"/>
                        </a:rPr>
                        <a:t>−3</a:t>
                      </a:r>
                      <a:endParaRPr lang="zh-CN" sz="1400" kern="1000">
                        <a:effectLst/>
                        <a:latin typeface="Times New Roman" panose="02020603050405020304"/>
                        <a:ea typeface="方正书宋简体"/>
                      </a:endParaRPr>
                    </a:p>
                  </a:txBody>
                  <a:tcPr marL="68575" marR="68575"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指定的游标不存在</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0909">
                <a:tc>
                  <a:txBody>
                    <a:bodyPr/>
                    <a:lstStyle/>
                    <a:p>
                      <a:pPr indent="254000" algn="ctr">
                        <a:spcBef>
                          <a:spcPts val="120"/>
                        </a:spcBef>
                        <a:spcAft>
                          <a:spcPts val="120"/>
                        </a:spcAft>
                      </a:pPr>
                      <a:r>
                        <a:rPr lang="en-US" sz="1400" kern="1000">
                          <a:effectLst/>
                          <a:latin typeface="Times New Roman" panose="02020603050405020304"/>
                          <a:ea typeface="方正书宋简体"/>
                        </a:rPr>
                        <a:t>−1</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游标被关闭</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en-US" sz="1400" kern="1000" dirty="0">
                          <a:effectLst/>
                          <a:latin typeface="Times New Roman" panose="02020603050405020304"/>
                          <a:ea typeface="方正书宋简体"/>
                        </a:rPr>
                        <a:t> </a:t>
                      </a:r>
                      <a:endParaRPr lang="zh-CN" sz="1400" kern="1000" dirty="0">
                        <a:effectLst/>
                        <a:latin typeface="Times New Roman" panose="02020603050405020304"/>
                        <a:ea typeface="方正书宋简体"/>
                      </a:endParaRPr>
                    </a:p>
                  </a:txBody>
                  <a:tcPr marL="68575" marR="68575"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en-US" sz="1400" kern="1000" dirty="0">
                          <a:effectLst/>
                          <a:latin typeface="Times New Roman" panose="02020603050405020304"/>
                          <a:ea typeface="方正书宋简体"/>
                        </a:rPr>
                        <a:t> </a:t>
                      </a:r>
                      <a:endParaRPr lang="zh-CN" sz="1400" kern="1000" dirty="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spd="slow">
    <p:checke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2060575"/>
            <a:ext cx="7848600" cy="288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5.5.2  </a:t>
            </a:r>
            <a:r>
              <a:rPr lang="zh-CN" altLang="zh-CN" dirty="0">
                <a:effectLst/>
              </a:rPr>
              <a:t>常用系统标量函数</a:t>
            </a:r>
            <a:endParaRPr lang="zh-CN" altLang="en-US" dirty="0"/>
          </a:p>
        </p:txBody>
      </p:sp>
      <p:sp>
        <p:nvSpPr>
          <p:cNvPr id="75780" name="TextBox 2"/>
          <p:cNvSpPr txBox="1">
            <a:spLocks noChangeArrowheads="1"/>
          </p:cNvSpPr>
          <p:nvPr/>
        </p:nvSpPr>
        <p:spPr bwMode="auto">
          <a:xfrm>
            <a:off x="468313" y="1484313"/>
            <a:ext cx="828040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a:t>
            </a:r>
            <a:r>
              <a:rPr lang="en-US" altLang="zh-CN"/>
              <a:t>3</a:t>
            </a:r>
            <a:r>
              <a:rPr lang="zh-CN" altLang="zh-CN"/>
              <a:t>）</a:t>
            </a:r>
            <a:r>
              <a:rPr lang="en-US" altLang="zh-CN"/>
              <a:t>@@FETCH_STATUS</a:t>
            </a:r>
            <a:r>
              <a:rPr lang="zh-CN" altLang="zh-CN"/>
              <a:t>函数</a:t>
            </a:r>
            <a:endParaRPr lang="zh-CN" altLang="zh-CN"/>
          </a:p>
          <a:p>
            <a:pPr eaLnBrk="1" fontAlgn="ctr" hangingPunct="1"/>
            <a:r>
              <a:rPr lang="zh-CN" altLang="zh-CN"/>
              <a:t>语法格式：</a:t>
            </a:r>
            <a:endParaRPr lang="zh-CN" altLang="zh-CN"/>
          </a:p>
          <a:p>
            <a:pPr eaLnBrk="1" hangingPunct="1"/>
            <a:r>
              <a:rPr lang="en-US" altLang="zh-CN"/>
              <a:t>@@FETCH_STATUS</a:t>
            </a:r>
            <a:endParaRPr lang="zh-CN" altLang="zh-CN"/>
          </a:p>
          <a:p>
            <a:pPr eaLnBrk="1" fontAlgn="ctr" hangingPunct="1"/>
            <a:r>
              <a:rPr lang="zh-CN" altLang="zh-CN"/>
              <a:t>返回</a:t>
            </a:r>
            <a:r>
              <a:rPr lang="en-US" altLang="zh-CN"/>
              <a:t>FETCH</a:t>
            </a:r>
            <a:r>
              <a:rPr lang="zh-CN" altLang="zh-CN"/>
              <a:t>语句执行后游标的状态。</a:t>
            </a:r>
            <a:r>
              <a:rPr lang="en-US" altLang="zh-CN"/>
              <a:t>@@FETCH_STATUS</a:t>
            </a:r>
            <a:r>
              <a:rPr lang="zh-CN" altLang="zh-CN"/>
              <a:t>返回值如表</a:t>
            </a:r>
            <a:r>
              <a:rPr lang="en-US" altLang="zh-CN"/>
              <a:t>5.14</a:t>
            </a:r>
            <a:r>
              <a:rPr lang="zh-CN" altLang="zh-CN"/>
              <a:t>所示。</a:t>
            </a:r>
            <a:endParaRPr lang="zh-CN" altLang="zh-CN"/>
          </a:p>
          <a:p>
            <a:pPr eaLnBrk="1" hangingPunct="1"/>
            <a:endParaRPr lang="zh-CN" altLang="en-US"/>
          </a:p>
        </p:txBody>
      </p:sp>
      <p:graphicFrame>
        <p:nvGraphicFramePr>
          <p:cNvPr id="5" name="表格 4"/>
          <p:cNvGraphicFramePr>
            <a:graphicFrameLocks noGrp="1"/>
          </p:cNvGraphicFramePr>
          <p:nvPr/>
        </p:nvGraphicFramePr>
        <p:xfrm>
          <a:off x="723900" y="2852738"/>
          <a:ext cx="8023225" cy="912813"/>
        </p:xfrm>
        <a:graphic>
          <a:graphicData uri="http://schemas.openxmlformats.org/drawingml/2006/table">
            <a:tbl>
              <a:tblPr firstRow="1" firstCol="1" bandRow="1" bandCol="1"/>
              <a:tblGrid>
                <a:gridCol w="1067089"/>
                <a:gridCol w="3019942"/>
                <a:gridCol w="1081531"/>
                <a:gridCol w="2854663"/>
              </a:tblGrid>
              <a:tr h="304271">
                <a:tc>
                  <a:txBody>
                    <a:bodyPr/>
                    <a:lstStyle/>
                    <a:p>
                      <a:pPr indent="254000" algn="ctr">
                        <a:spcBef>
                          <a:spcPts val="120"/>
                        </a:spcBef>
                        <a:spcAft>
                          <a:spcPts val="120"/>
                        </a:spcAft>
                      </a:pPr>
                      <a:r>
                        <a:rPr lang="zh-CN" sz="1400" kern="1000">
                          <a:effectLst/>
                          <a:latin typeface="Times New Roman" panose="02020603050405020304"/>
                          <a:ea typeface="方正书宋简体"/>
                        </a:rPr>
                        <a:t>返回值</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说明</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返回值</a:t>
                      </a:r>
                      <a:endParaRPr lang="zh-CN" sz="1400" kern="1000">
                        <a:effectLst/>
                        <a:latin typeface="Times New Roman" panose="02020603050405020304"/>
                        <a:ea typeface="方正书宋简体"/>
                      </a:endParaRPr>
                    </a:p>
                  </a:txBody>
                  <a:tcPr marL="68575" marR="68575"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说明</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4271">
                <a:tc>
                  <a:txBody>
                    <a:bodyPr/>
                    <a:lstStyle/>
                    <a:p>
                      <a:pPr indent="254000" algn="ctr">
                        <a:spcBef>
                          <a:spcPts val="120"/>
                        </a:spcBef>
                        <a:spcAft>
                          <a:spcPts val="120"/>
                        </a:spcAft>
                      </a:pPr>
                      <a:r>
                        <a:rPr lang="en-US" sz="1400" kern="1000">
                          <a:effectLst/>
                          <a:latin typeface="Times New Roman" panose="02020603050405020304"/>
                          <a:ea typeface="方正书宋简体"/>
                        </a:rPr>
                        <a:t>0</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en-US" sz="1400" kern="1000">
                          <a:effectLst/>
                          <a:latin typeface="Times New Roman" panose="02020603050405020304"/>
                          <a:ea typeface="方正书宋简体"/>
                        </a:rPr>
                        <a:t>FETCH</a:t>
                      </a:r>
                      <a:r>
                        <a:rPr lang="zh-CN" sz="1400" kern="1000">
                          <a:effectLst/>
                          <a:latin typeface="Times New Roman" panose="02020603050405020304"/>
                          <a:ea typeface="方正书宋简体"/>
                        </a:rPr>
                        <a:t>语句执行成功</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en-US" sz="1400" kern="1000">
                          <a:effectLst/>
                          <a:latin typeface="Times New Roman" panose="02020603050405020304"/>
                          <a:ea typeface="方正书宋简体"/>
                        </a:rPr>
                        <a:t>−2</a:t>
                      </a:r>
                      <a:endParaRPr lang="zh-CN" sz="1400" kern="1000">
                        <a:effectLst/>
                        <a:latin typeface="Times New Roman" panose="02020603050405020304"/>
                        <a:ea typeface="方正书宋简体"/>
                      </a:endParaRPr>
                    </a:p>
                  </a:txBody>
                  <a:tcPr marL="68575" marR="68575"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zh-CN" sz="1400" kern="1000">
                          <a:effectLst/>
                          <a:latin typeface="Times New Roman" panose="02020603050405020304"/>
                          <a:ea typeface="方正书宋简体"/>
                        </a:rPr>
                        <a:t>被读取的记录不存在</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4271">
                <a:tc>
                  <a:txBody>
                    <a:bodyPr/>
                    <a:lstStyle/>
                    <a:p>
                      <a:pPr indent="254000" algn="ctr">
                        <a:spcBef>
                          <a:spcPts val="120"/>
                        </a:spcBef>
                        <a:spcAft>
                          <a:spcPts val="120"/>
                        </a:spcAft>
                      </a:pPr>
                      <a:r>
                        <a:rPr lang="en-US" sz="1400" kern="1000">
                          <a:effectLst/>
                          <a:latin typeface="Times New Roman" panose="02020603050405020304"/>
                          <a:ea typeface="方正书宋简体"/>
                        </a:rPr>
                        <a:t>−1</a:t>
                      </a:r>
                      <a:endParaRPr lang="zh-CN" sz="1400" kern="1000">
                        <a:effectLst/>
                        <a:latin typeface="Times New Roman" panose="02020603050405020304"/>
                        <a:ea typeface="方正书宋简体"/>
                      </a:endParaRPr>
                    </a:p>
                  </a:txBody>
                  <a:tcPr marL="68575" marR="6857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en-US" sz="1400" kern="1000">
                          <a:effectLst/>
                          <a:latin typeface="Times New Roman" panose="02020603050405020304"/>
                          <a:ea typeface="方正书宋简体"/>
                        </a:rPr>
                        <a:t>FETCH</a:t>
                      </a:r>
                      <a:r>
                        <a:rPr lang="zh-CN" sz="1400" kern="1000">
                          <a:effectLst/>
                          <a:latin typeface="Times New Roman" panose="02020603050405020304"/>
                          <a:ea typeface="方正书宋简体"/>
                        </a:rPr>
                        <a:t>语句执行失败</a:t>
                      </a:r>
                      <a:endParaRPr lang="zh-CN" sz="1400" kern="100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en-US" sz="1400" kern="1000">
                          <a:effectLst/>
                          <a:latin typeface="Times New Roman" panose="02020603050405020304"/>
                          <a:ea typeface="方正书宋简体"/>
                        </a:rPr>
                        <a:t> </a:t>
                      </a:r>
                      <a:endParaRPr lang="zh-CN" sz="1400" kern="1000">
                        <a:effectLst/>
                        <a:latin typeface="Times New Roman" panose="02020603050405020304"/>
                        <a:ea typeface="方正书宋简体"/>
                      </a:endParaRPr>
                    </a:p>
                  </a:txBody>
                  <a:tcPr marL="68575" marR="68575"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20"/>
                        </a:spcBef>
                        <a:spcAft>
                          <a:spcPts val="120"/>
                        </a:spcAft>
                      </a:pPr>
                      <a:r>
                        <a:rPr lang="en-US" sz="1400" kern="1000" dirty="0">
                          <a:effectLst/>
                          <a:latin typeface="Times New Roman" panose="02020603050405020304"/>
                          <a:ea typeface="方正书宋简体"/>
                        </a:rPr>
                        <a:t> </a:t>
                      </a:r>
                      <a:endParaRPr lang="zh-CN" sz="1400" kern="1000" dirty="0">
                        <a:effectLst/>
                        <a:latin typeface="Times New Roman" panose="02020603050405020304"/>
                        <a:ea typeface="方正书宋简体"/>
                      </a:endParaRPr>
                    </a:p>
                  </a:txBody>
                  <a:tcPr marL="68575" marR="6857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spd="slow">
    <p:pull/>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1700213"/>
            <a:ext cx="7921625" cy="36734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5.5.2  </a:t>
            </a:r>
            <a:r>
              <a:rPr lang="zh-CN" altLang="zh-CN" dirty="0">
                <a:effectLst/>
              </a:rPr>
              <a:t>常用系统标量函数</a:t>
            </a:r>
            <a:endParaRPr lang="zh-CN" altLang="en-US" dirty="0"/>
          </a:p>
        </p:txBody>
      </p:sp>
      <p:sp>
        <p:nvSpPr>
          <p:cNvPr id="3" name="TextBox 2"/>
          <p:cNvSpPr txBox="1"/>
          <p:nvPr/>
        </p:nvSpPr>
        <p:spPr>
          <a:xfrm>
            <a:off x="468313" y="1412875"/>
            <a:ext cx="8280400" cy="4646613"/>
          </a:xfrm>
          <a:prstGeom prst="rect">
            <a:avLst/>
          </a:prstGeom>
          <a:noFill/>
        </p:spPr>
        <p:txBody>
          <a:bodyPr>
            <a:spAutoFit/>
          </a:bodyPr>
          <a:lstStyle/>
          <a:p>
            <a:pPr indent="446405" fontAlgn="ctr">
              <a:spcBef>
                <a:spcPts val="0"/>
              </a:spcBef>
              <a:spcAft>
                <a:spcPts val="0"/>
              </a:spcAft>
              <a:defRPr/>
            </a:pPr>
            <a:r>
              <a:rPr lang="zh-CN" altLang="zh-CN" dirty="0">
                <a:latin typeface="+mn-lt"/>
                <a:ea typeface="+mn-ea"/>
              </a:rPr>
              <a:t>【例</a:t>
            </a:r>
            <a:r>
              <a:rPr lang="en-US" altLang="zh-CN" dirty="0">
                <a:latin typeface="+mn-lt"/>
                <a:ea typeface="+mn-ea"/>
              </a:rPr>
              <a:t>5.27</a:t>
            </a:r>
            <a:r>
              <a:rPr lang="zh-CN" altLang="zh-CN" dirty="0">
                <a:latin typeface="+mn-lt"/>
                <a:ea typeface="+mn-ea"/>
              </a:rPr>
              <a:t>】 用</a:t>
            </a:r>
            <a:r>
              <a:rPr lang="en-US" altLang="zh-CN" dirty="0">
                <a:latin typeface="+mn-lt"/>
                <a:ea typeface="+mn-ea"/>
              </a:rPr>
              <a:t>@@FETCH_STATUS</a:t>
            </a:r>
            <a:r>
              <a:rPr lang="zh-CN" altLang="zh-CN" dirty="0">
                <a:latin typeface="+mn-lt"/>
                <a:ea typeface="+mn-ea"/>
              </a:rPr>
              <a:t>控制在一个</a:t>
            </a:r>
            <a:r>
              <a:rPr lang="en-US" altLang="zh-CN" dirty="0">
                <a:latin typeface="+mn-lt"/>
                <a:ea typeface="+mn-ea"/>
              </a:rPr>
              <a:t>WHILE</a:t>
            </a:r>
            <a:r>
              <a:rPr lang="zh-CN" altLang="zh-CN" dirty="0">
                <a:latin typeface="+mn-lt"/>
                <a:ea typeface="+mn-ea"/>
              </a:rPr>
              <a:t>循环中的游标活动。</a:t>
            </a:r>
            <a:endParaRPr lang="zh-CN" altLang="zh-CN" dirty="0">
              <a:latin typeface="+mn-lt"/>
              <a:ea typeface="+mn-ea"/>
            </a:endParaRPr>
          </a:p>
          <a:p>
            <a:pPr indent="446405" fontAlgn="auto">
              <a:spcBef>
                <a:spcPts val="0"/>
              </a:spcBef>
              <a:spcAft>
                <a:spcPts val="0"/>
              </a:spcAft>
              <a:defRPr/>
            </a:pPr>
            <a:r>
              <a:rPr lang="en-US" altLang="zh-CN" sz="1600" dirty="0">
                <a:latin typeface="+mn-lt"/>
                <a:ea typeface="+mn-ea"/>
              </a:rPr>
              <a:t>USE </a:t>
            </a:r>
            <a:r>
              <a:rPr lang="en-US" altLang="zh-CN" sz="1600" dirty="0" err="1">
                <a:latin typeface="+mn-lt"/>
                <a:ea typeface="+mn-ea"/>
              </a:rPr>
              <a:t>pxscj</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GO</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DECLARE @name char(20), @</a:t>
            </a:r>
            <a:r>
              <a:rPr lang="en-US" altLang="zh-CN" sz="1600" dirty="0" err="1">
                <a:latin typeface="+mn-lt"/>
                <a:ea typeface="+mn-ea"/>
              </a:rPr>
              <a:t>num</a:t>
            </a:r>
            <a:r>
              <a:rPr lang="en-US" altLang="zh-CN" sz="1600" dirty="0">
                <a:latin typeface="+mn-lt"/>
                <a:ea typeface="+mn-ea"/>
              </a:rPr>
              <a:t> char(6)</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DECLARE </a:t>
            </a:r>
            <a:r>
              <a:rPr lang="en-US" altLang="zh-CN" sz="1600" dirty="0" err="1">
                <a:latin typeface="+mn-lt"/>
                <a:ea typeface="+mn-ea"/>
              </a:rPr>
              <a:t>student_cur</a:t>
            </a:r>
            <a:r>
              <a:rPr lang="en-US" altLang="zh-CN" sz="1600" dirty="0">
                <a:latin typeface="+mn-lt"/>
                <a:ea typeface="+mn-ea"/>
              </a:rPr>
              <a:t> CURSOR</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FOR</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SELECT</a:t>
            </a:r>
            <a:r>
              <a:rPr lang="zh-CN" altLang="zh-CN" sz="1600" dirty="0">
                <a:latin typeface="+mn-lt"/>
                <a:ea typeface="+mn-ea"/>
              </a:rPr>
              <a:t>姓名</a:t>
            </a:r>
            <a:r>
              <a:rPr lang="en-US" altLang="zh-CN" sz="1600" dirty="0">
                <a:latin typeface="+mn-lt"/>
                <a:ea typeface="+mn-ea"/>
              </a:rPr>
              <a:t>,</a:t>
            </a:r>
            <a:r>
              <a:rPr lang="zh-CN" altLang="zh-CN" sz="1600" dirty="0">
                <a:latin typeface="+mn-lt"/>
                <a:ea typeface="+mn-ea"/>
              </a:rPr>
              <a:t>学号</a:t>
            </a:r>
            <a:r>
              <a:rPr lang="en-US" altLang="zh-CN" sz="1600" dirty="0">
                <a:latin typeface="+mn-lt"/>
                <a:ea typeface="+mn-ea"/>
              </a:rPr>
              <a:t>FROM </a:t>
            </a:r>
            <a:r>
              <a:rPr lang="en-US" altLang="zh-CN" sz="1600" dirty="0" err="1">
                <a:latin typeface="+mn-lt"/>
                <a:ea typeface="+mn-ea"/>
              </a:rPr>
              <a:t>pxscj.dbo.xsb</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OPEN </a:t>
            </a:r>
            <a:r>
              <a:rPr lang="en-US" altLang="zh-CN" sz="1600" dirty="0" err="1">
                <a:latin typeface="+mn-lt"/>
                <a:ea typeface="+mn-ea"/>
              </a:rPr>
              <a:t>student_cur</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FETCH NEXT FROM </a:t>
            </a:r>
            <a:r>
              <a:rPr lang="en-US" altLang="zh-CN" sz="1600" dirty="0" err="1">
                <a:latin typeface="+mn-lt"/>
                <a:ea typeface="+mn-ea"/>
              </a:rPr>
              <a:t>student_cur</a:t>
            </a:r>
            <a:r>
              <a:rPr lang="en-US" altLang="zh-CN" sz="1600" dirty="0">
                <a:latin typeface="+mn-lt"/>
                <a:ea typeface="+mn-ea"/>
              </a:rPr>
              <a:t>  INTO @name, @</a:t>
            </a:r>
            <a:r>
              <a:rPr lang="en-US" altLang="zh-CN" sz="1600" dirty="0" err="1">
                <a:latin typeface="+mn-lt"/>
                <a:ea typeface="+mn-ea"/>
              </a:rPr>
              <a:t>num</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SELECT @name, @</a:t>
            </a:r>
            <a:r>
              <a:rPr lang="en-US" altLang="zh-CN" sz="1600" dirty="0" err="1">
                <a:latin typeface="+mn-lt"/>
                <a:ea typeface="+mn-ea"/>
              </a:rPr>
              <a:t>num</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WHILE @@FETCH_STATUS = 0</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BEGIN</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FETCH NEXT FROM </a:t>
            </a:r>
            <a:r>
              <a:rPr lang="en-US" altLang="zh-CN" sz="1600" dirty="0" err="1">
                <a:latin typeface="+mn-lt"/>
                <a:ea typeface="+mn-ea"/>
              </a:rPr>
              <a:t>student_cur</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END</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CLOSE </a:t>
            </a:r>
            <a:r>
              <a:rPr lang="en-US" altLang="zh-CN" sz="1600" dirty="0" err="1">
                <a:latin typeface="+mn-lt"/>
                <a:ea typeface="+mn-ea"/>
              </a:rPr>
              <a:t>student_cur</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DEALLOCATE </a:t>
            </a:r>
            <a:r>
              <a:rPr lang="en-US" altLang="zh-CN" sz="1600" dirty="0" err="1">
                <a:latin typeface="+mn-lt"/>
                <a:ea typeface="+mn-ea"/>
              </a:rPr>
              <a:t>student_cur</a:t>
            </a:r>
            <a:endParaRPr lang="zh-CN" altLang="zh-CN" sz="1600" dirty="0">
              <a:latin typeface="+mn-lt"/>
              <a:ea typeface="+mn-ea"/>
            </a:endParaRPr>
          </a:p>
          <a:p>
            <a:pPr indent="446405" fontAlgn="ctr">
              <a:spcBef>
                <a:spcPts val="0"/>
              </a:spcBef>
              <a:spcAft>
                <a:spcPts val="0"/>
              </a:spcAft>
              <a:defRPr/>
            </a:pPr>
            <a:r>
              <a:rPr lang="zh-CN" altLang="zh-CN" dirty="0">
                <a:latin typeface="+mn-lt"/>
                <a:ea typeface="+mn-ea"/>
              </a:rPr>
              <a:t>执行结果如图</a:t>
            </a:r>
            <a:r>
              <a:rPr lang="en-US" altLang="zh-CN" dirty="0">
                <a:latin typeface="+mn-lt"/>
                <a:ea typeface="+mn-ea"/>
              </a:rPr>
              <a:t>5.14</a:t>
            </a:r>
            <a:r>
              <a:rPr lang="zh-CN" altLang="zh-CN" dirty="0">
                <a:latin typeface="+mn-lt"/>
                <a:ea typeface="+mn-ea"/>
              </a:rPr>
              <a:t>所示。</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pic>
        <p:nvPicPr>
          <p:cNvPr id="7680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87900" y="3929063"/>
            <a:ext cx="3960813" cy="247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hecke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11188" y="4184650"/>
            <a:ext cx="8137525" cy="3603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611188" y="2384425"/>
            <a:ext cx="8137525" cy="3603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5.5.2  </a:t>
            </a:r>
            <a:r>
              <a:rPr lang="zh-CN" altLang="zh-CN" dirty="0">
                <a:effectLst/>
              </a:rPr>
              <a:t>常用系统标量函数</a:t>
            </a:r>
            <a:endParaRPr lang="zh-CN" altLang="en-US" dirty="0"/>
          </a:p>
        </p:txBody>
      </p:sp>
      <p:sp>
        <p:nvSpPr>
          <p:cNvPr id="3" name="TextBox 2"/>
          <p:cNvSpPr txBox="1"/>
          <p:nvPr/>
        </p:nvSpPr>
        <p:spPr>
          <a:xfrm>
            <a:off x="395288" y="1484313"/>
            <a:ext cx="8353425" cy="4248150"/>
          </a:xfrm>
          <a:prstGeom prst="rect">
            <a:avLst/>
          </a:prstGeom>
          <a:noFill/>
        </p:spPr>
        <p:txBody>
          <a:bodyPr>
            <a:spAutoFit/>
          </a:bodyPr>
          <a:lstStyle/>
          <a:p>
            <a:pPr indent="446405" fontAlgn="auto">
              <a:spcBef>
                <a:spcPts val="0"/>
              </a:spcBef>
              <a:spcAft>
                <a:spcPts val="0"/>
              </a:spcAft>
              <a:defRPr/>
            </a:pPr>
            <a:r>
              <a:rPr lang="en-US" altLang="zh-CN" b="1" dirty="0">
                <a:solidFill>
                  <a:srgbClr val="C00000"/>
                </a:solidFill>
                <a:latin typeface="+mn-lt"/>
                <a:ea typeface="+mn-ea"/>
              </a:rPr>
              <a:t>7</a:t>
            </a:r>
            <a:r>
              <a:rPr lang="zh-CN" altLang="zh-CN" b="1" dirty="0">
                <a:solidFill>
                  <a:srgbClr val="C00000"/>
                </a:solidFill>
                <a:latin typeface="+mn-lt"/>
                <a:ea typeface="+mn-ea"/>
              </a:rPr>
              <a:t>．元数据函数</a:t>
            </a:r>
            <a:endParaRPr lang="zh-CN" altLang="zh-CN" b="1" dirty="0">
              <a:solidFill>
                <a:srgbClr val="C00000"/>
              </a:solidFill>
              <a:latin typeface="+mn-lt"/>
              <a:ea typeface="+mn-ea"/>
            </a:endParaRPr>
          </a:p>
          <a:p>
            <a:pPr indent="446405" fontAlgn="ctr">
              <a:spcBef>
                <a:spcPts val="0"/>
              </a:spcBef>
              <a:spcAft>
                <a:spcPts val="0"/>
              </a:spcAft>
              <a:defRPr/>
            </a:pPr>
            <a:r>
              <a:rPr lang="zh-CN" altLang="zh-CN" dirty="0">
                <a:latin typeface="+mn-lt"/>
                <a:ea typeface="+mn-ea"/>
              </a:rPr>
              <a:t>（</a:t>
            </a:r>
            <a:r>
              <a:rPr lang="en-US" altLang="zh-CN" dirty="0">
                <a:latin typeface="+mn-lt"/>
                <a:ea typeface="+mn-ea"/>
              </a:rPr>
              <a:t>1</a:t>
            </a:r>
            <a:r>
              <a:rPr lang="zh-CN" altLang="zh-CN" dirty="0">
                <a:latin typeface="+mn-lt"/>
                <a:ea typeface="+mn-ea"/>
              </a:rPr>
              <a:t>）</a:t>
            </a:r>
            <a:r>
              <a:rPr lang="en-US" altLang="zh-CN" dirty="0">
                <a:latin typeface="+mn-lt"/>
                <a:ea typeface="+mn-ea"/>
              </a:rPr>
              <a:t>DB_ID</a:t>
            </a:r>
            <a:r>
              <a:rPr lang="zh-CN" altLang="zh-CN" dirty="0">
                <a:latin typeface="+mn-lt"/>
                <a:ea typeface="+mn-ea"/>
              </a:rPr>
              <a:t>函数</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语法格式：</a:t>
            </a:r>
            <a:endParaRPr lang="zh-CN" altLang="zh-CN" dirty="0">
              <a:latin typeface="+mn-lt"/>
              <a:ea typeface="+mn-ea"/>
            </a:endParaRPr>
          </a:p>
          <a:p>
            <a:pPr indent="446405" fontAlgn="auto">
              <a:lnSpc>
                <a:spcPct val="150000"/>
              </a:lnSpc>
              <a:spcBef>
                <a:spcPts val="0"/>
              </a:spcBef>
              <a:spcAft>
                <a:spcPts val="0"/>
              </a:spcAft>
              <a:defRPr/>
            </a:pPr>
            <a:r>
              <a:rPr lang="en-US" altLang="zh-CN" dirty="0">
                <a:latin typeface="+mn-lt"/>
                <a:ea typeface="+mn-ea"/>
              </a:rPr>
              <a:t>DB_ID ( [ '</a:t>
            </a:r>
            <a:r>
              <a:rPr lang="zh-CN" altLang="zh-CN" dirty="0">
                <a:latin typeface="+mn-lt"/>
                <a:ea typeface="+mn-ea"/>
              </a:rPr>
              <a:t>数据库名</a:t>
            </a:r>
            <a:r>
              <a:rPr lang="en-US" altLang="zh-CN" dirty="0">
                <a:latin typeface="+mn-lt"/>
                <a:ea typeface="+mn-ea"/>
              </a:rPr>
              <a:t>' ] )</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系统在创建数据库时，自动为其创建一个标识号。函数</a:t>
            </a:r>
            <a:r>
              <a:rPr lang="en-US" altLang="zh-CN" dirty="0">
                <a:latin typeface="+mn-lt"/>
                <a:ea typeface="+mn-ea"/>
              </a:rPr>
              <a:t>DB_ID</a:t>
            </a:r>
            <a:r>
              <a:rPr lang="zh-CN" altLang="zh-CN" dirty="0">
                <a:latin typeface="+mn-lt"/>
                <a:ea typeface="+mn-ea"/>
              </a:rPr>
              <a:t>根据指定的数据库名，返回其数据库标识（</a:t>
            </a:r>
            <a:r>
              <a:rPr lang="en-US" altLang="zh-CN" dirty="0">
                <a:latin typeface="+mn-lt"/>
                <a:ea typeface="+mn-ea"/>
              </a:rPr>
              <a:t>ID</a:t>
            </a:r>
            <a:r>
              <a:rPr lang="zh-CN" altLang="zh-CN" dirty="0">
                <a:latin typeface="+mn-lt"/>
                <a:ea typeface="+mn-ea"/>
              </a:rPr>
              <a:t>）号。如果参数“数据库名”不指定，则返回当前数据库</a:t>
            </a:r>
            <a:r>
              <a:rPr lang="en-US" altLang="zh-CN" dirty="0">
                <a:latin typeface="+mn-lt"/>
                <a:ea typeface="+mn-ea"/>
              </a:rPr>
              <a:t>ID</a:t>
            </a:r>
            <a:r>
              <a:rPr lang="zh-CN" altLang="zh-CN" dirty="0">
                <a:latin typeface="+mn-lt"/>
                <a:ea typeface="+mn-ea"/>
              </a:rPr>
              <a:t>，返回值类型为</a:t>
            </a:r>
            <a:r>
              <a:rPr lang="en-US" altLang="zh-CN" dirty="0" err="1">
                <a:latin typeface="+mn-lt"/>
                <a:ea typeface="+mn-ea"/>
              </a:rPr>
              <a:t>smallint</a:t>
            </a:r>
            <a:r>
              <a:rPr lang="zh-CN" altLang="zh-CN" dirty="0">
                <a:latin typeface="+mn-lt"/>
                <a:ea typeface="+mn-ea"/>
              </a:rPr>
              <a:t>。</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a:t>
            </a:r>
            <a:r>
              <a:rPr lang="en-US" altLang="zh-CN" dirty="0">
                <a:latin typeface="+mn-lt"/>
                <a:ea typeface="+mn-ea"/>
              </a:rPr>
              <a:t>2</a:t>
            </a:r>
            <a:r>
              <a:rPr lang="zh-CN" altLang="zh-CN" dirty="0">
                <a:latin typeface="+mn-lt"/>
                <a:ea typeface="+mn-ea"/>
              </a:rPr>
              <a:t>）</a:t>
            </a:r>
            <a:r>
              <a:rPr lang="en-US" altLang="zh-CN" dirty="0">
                <a:latin typeface="+mn-lt"/>
                <a:ea typeface="+mn-ea"/>
              </a:rPr>
              <a:t>DB_NAME</a:t>
            </a:r>
            <a:r>
              <a:rPr lang="zh-CN" altLang="zh-CN" dirty="0">
                <a:latin typeface="+mn-lt"/>
                <a:ea typeface="+mn-ea"/>
              </a:rPr>
              <a:t>函数</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语法格式：</a:t>
            </a:r>
            <a:endParaRPr lang="zh-CN" altLang="zh-CN" dirty="0">
              <a:latin typeface="+mn-lt"/>
              <a:ea typeface="+mn-ea"/>
            </a:endParaRPr>
          </a:p>
          <a:p>
            <a:pPr indent="446405" fontAlgn="auto">
              <a:lnSpc>
                <a:spcPct val="150000"/>
              </a:lnSpc>
              <a:spcBef>
                <a:spcPts val="0"/>
              </a:spcBef>
              <a:spcAft>
                <a:spcPts val="0"/>
              </a:spcAft>
              <a:defRPr/>
            </a:pPr>
            <a:r>
              <a:rPr lang="en-US" altLang="zh-CN" dirty="0">
                <a:latin typeface="+mn-lt"/>
                <a:ea typeface="+mn-ea"/>
              </a:rPr>
              <a:t>DB_NAME ( </a:t>
            </a:r>
            <a:r>
              <a:rPr lang="zh-CN" altLang="zh-CN" dirty="0">
                <a:latin typeface="+mn-lt"/>
                <a:ea typeface="+mn-ea"/>
              </a:rPr>
              <a:t>数据库</a:t>
            </a:r>
            <a:r>
              <a:rPr lang="en-US" altLang="zh-CN" dirty="0">
                <a:latin typeface="+mn-lt"/>
                <a:ea typeface="+mn-ea"/>
              </a:rPr>
              <a:t>ID )</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根据参数“数据库</a:t>
            </a:r>
            <a:r>
              <a:rPr lang="en-US" altLang="zh-CN" dirty="0">
                <a:latin typeface="+mn-lt"/>
                <a:ea typeface="+mn-ea"/>
              </a:rPr>
              <a:t>ID</a:t>
            </a:r>
            <a:r>
              <a:rPr lang="zh-CN" altLang="zh-CN" dirty="0">
                <a:latin typeface="+mn-lt"/>
                <a:ea typeface="+mn-ea"/>
              </a:rPr>
              <a:t>”所给的数据库标识号，返回数据库名。参数“数据库</a:t>
            </a:r>
            <a:r>
              <a:rPr lang="en-US" altLang="zh-CN" dirty="0">
                <a:latin typeface="+mn-lt"/>
                <a:ea typeface="+mn-ea"/>
              </a:rPr>
              <a:t>ID</a:t>
            </a:r>
            <a:r>
              <a:rPr lang="zh-CN" altLang="zh-CN" dirty="0">
                <a:latin typeface="+mn-lt"/>
                <a:ea typeface="+mn-ea"/>
              </a:rPr>
              <a:t>”类型为</a:t>
            </a:r>
            <a:r>
              <a:rPr lang="en-US" altLang="zh-CN" dirty="0" err="1">
                <a:latin typeface="+mn-lt"/>
                <a:ea typeface="+mn-ea"/>
              </a:rPr>
              <a:t>smallint</a:t>
            </a:r>
            <a:r>
              <a:rPr lang="zh-CN" altLang="zh-CN" dirty="0">
                <a:latin typeface="+mn-lt"/>
                <a:ea typeface="+mn-ea"/>
              </a:rPr>
              <a:t>，如果没有指定数据库标识号，则返回当前数据库名。返回值类型为</a:t>
            </a:r>
            <a:r>
              <a:rPr lang="en-US" altLang="zh-CN" dirty="0" err="1">
                <a:latin typeface="+mn-lt"/>
                <a:ea typeface="+mn-ea"/>
              </a:rPr>
              <a:t>nvarchar</a:t>
            </a:r>
            <a:r>
              <a:rPr lang="en-US" altLang="zh-CN" dirty="0">
                <a:latin typeface="+mn-lt"/>
                <a:ea typeface="+mn-ea"/>
              </a:rPr>
              <a:t>(128)</a:t>
            </a:r>
            <a:r>
              <a:rPr lang="zh-CN" altLang="zh-CN" dirty="0">
                <a:latin typeface="+mn-lt"/>
                <a:ea typeface="+mn-ea"/>
              </a:rPr>
              <a:t>。</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pull/>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2492375"/>
            <a:ext cx="7848600" cy="25209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5.6  </a:t>
            </a:r>
            <a:r>
              <a:rPr lang="zh-CN" altLang="zh-CN" dirty="0">
                <a:effectLst/>
              </a:rPr>
              <a:t>用户定义函数：</a:t>
            </a:r>
            <a:r>
              <a:rPr lang="en-US" altLang="zh-CN" dirty="0">
                <a:effectLst/>
              </a:rPr>
              <a:t>CREATE/ALTER/</a:t>
            </a:r>
            <a:br>
              <a:rPr lang="en-US" altLang="zh-CN" dirty="0">
                <a:effectLst/>
              </a:rPr>
            </a:br>
            <a:r>
              <a:rPr lang="en-US" altLang="zh-CN" dirty="0">
                <a:effectLst/>
              </a:rPr>
              <a:t>DROP </a:t>
            </a:r>
            <a:r>
              <a:rPr lang="en-US" altLang="zh-CN" dirty="0" smtClean="0">
                <a:effectLst/>
              </a:rPr>
              <a:t>FUNCTION</a:t>
            </a:r>
            <a:endParaRPr lang="zh-CN" altLang="en-US" dirty="0"/>
          </a:p>
        </p:txBody>
      </p:sp>
      <p:sp>
        <p:nvSpPr>
          <p:cNvPr id="78852" name="TextBox 2"/>
          <p:cNvSpPr txBox="1">
            <a:spLocks noChangeArrowheads="1"/>
          </p:cNvSpPr>
          <p:nvPr/>
        </p:nvSpPr>
        <p:spPr bwMode="auto">
          <a:xfrm>
            <a:off x="395288" y="1628775"/>
            <a:ext cx="82804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a:solidFill>
                  <a:srgbClr val="FFFF00"/>
                </a:solidFill>
              </a:rPr>
              <a:t>5.6.1  </a:t>
            </a:r>
            <a:r>
              <a:rPr lang="zh-CN" altLang="zh-CN" sz="2000" b="1">
                <a:solidFill>
                  <a:srgbClr val="FFFF00"/>
                </a:solidFill>
              </a:rPr>
              <a:t>标量函数：</a:t>
            </a:r>
            <a:r>
              <a:rPr lang="en-US" altLang="zh-CN" sz="2000" b="1">
                <a:solidFill>
                  <a:srgbClr val="FFFF00"/>
                </a:solidFill>
              </a:rPr>
              <a:t>SELECT/EXEC</a:t>
            </a:r>
            <a:endParaRPr lang="zh-CN" altLang="zh-CN" sz="2000" b="1">
              <a:solidFill>
                <a:srgbClr val="FFFF00"/>
              </a:solidFill>
            </a:endParaRPr>
          </a:p>
          <a:p>
            <a:pPr eaLnBrk="1" hangingPunct="1"/>
            <a:r>
              <a:rPr lang="en-US" altLang="zh-CN" b="1">
                <a:solidFill>
                  <a:srgbClr val="C00000"/>
                </a:solidFill>
              </a:rPr>
              <a:t>1</a:t>
            </a:r>
            <a:r>
              <a:rPr lang="zh-CN" altLang="zh-CN" b="1">
                <a:solidFill>
                  <a:srgbClr val="C00000"/>
                </a:solidFill>
              </a:rPr>
              <a:t>．标量函数的定义</a:t>
            </a:r>
            <a:endParaRPr lang="zh-CN" altLang="zh-CN" b="1">
              <a:solidFill>
                <a:srgbClr val="C00000"/>
              </a:solidFill>
            </a:endParaRPr>
          </a:p>
          <a:p>
            <a:pPr eaLnBrk="1" fontAlgn="ctr" hangingPunct="1"/>
            <a:r>
              <a:rPr lang="zh-CN" altLang="zh-CN" b="1"/>
              <a:t>标量函数的一般定义形式如下：</a:t>
            </a:r>
            <a:endParaRPr lang="zh-CN" altLang="zh-CN" b="1"/>
          </a:p>
          <a:p>
            <a:pPr eaLnBrk="1" hangingPunct="1"/>
            <a:r>
              <a:rPr lang="en-US" altLang="zh-CN" b="1"/>
              <a:t>CREATE FUNCTION [</a:t>
            </a:r>
            <a:r>
              <a:rPr lang="zh-CN" altLang="zh-CN" b="1"/>
              <a:t>架构名</a:t>
            </a:r>
            <a:r>
              <a:rPr lang="en-US" altLang="zh-CN" b="1"/>
              <a:t>.]</a:t>
            </a:r>
            <a:r>
              <a:rPr lang="zh-CN" altLang="zh-CN" b="1"/>
              <a:t>函数名</a:t>
            </a:r>
            <a:endParaRPr lang="zh-CN" altLang="zh-CN" b="1"/>
          </a:p>
          <a:p>
            <a:pPr eaLnBrk="1" hangingPunct="1"/>
            <a:r>
              <a:rPr lang="en-US" altLang="zh-CN" b="1"/>
              <a:t>( </a:t>
            </a:r>
            <a:r>
              <a:rPr lang="zh-CN" altLang="zh-CN" b="1"/>
              <a:t>参数</a:t>
            </a:r>
            <a:r>
              <a:rPr lang="en-US" altLang="zh-CN" b="1"/>
              <a:t>1 [AS]</a:t>
            </a:r>
            <a:r>
              <a:rPr lang="zh-CN" altLang="zh-CN" b="1"/>
              <a:t>类型</a:t>
            </a:r>
            <a:r>
              <a:rPr lang="en-US" altLang="zh-CN" b="1"/>
              <a:t>1 [ = </a:t>
            </a:r>
            <a:r>
              <a:rPr lang="zh-CN" altLang="zh-CN" b="1"/>
              <a:t>默认值</a:t>
            </a:r>
            <a:r>
              <a:rPr lang="en-US" altLang="zh-CN" b="1"/>
              <a:t>] ) [ ,...</a:t>
            </a:r>
            <a:r>
              <a:rPr lang="zh-CN" altLang="zh-CN" b="1"/>
              <a:t>参数</a:t>
            </a:r>
            <a:r>
              <a:rPr lang="en-US" altLang="zh-CN" b="1"/>
              <a:t>n [AS]</a:t>
            </a:r>
            <a:r>
              <a:rPr lang="zh-CN" altLang="zh-CN" b="1"/>
              <a:t>类型</a:t>
            </a:r>
            <a:r>
              <a:rPr lang="en-US" altLang="zh-CN" b="1"/>
              <a:t>n [ = </a:t>
            </a:r>
            <a:r>
              <a:rPr lang="zh-CN" altLang="zh-CN" b="1"/>
              <a:t>默认值</a:t>
            </a:r>
            <a:r>
              <a:rPr lang="en-US" altLang="zh-CN" b="1"/>
              <a:t>] ] ] ) </a:t>
            </a:r>
            <a:endParaRPr lang="zh-CN" altLang="zh-CN" b="1"/>
          </a:p>
          <a:p>
            <a:pPr eaLnBrk="1" hangingPunct="1"/>
            <a:r>
              <a:rPr lang="en-US" altLang="zh-CN" b="1"/>
              <a:t>RETURNS</a:t>
            </a:r>
            <a:r>
              <a:rPr lang="zh-CN" altLang="zh-CN" b="1"/>
              <a:t>返回值类型</a:t>
            </a:r>
            <a:endParaRPr lang="zh-CN" altLang="zh-CN" b="1"/>
          </a:p>
          <a:p>
            <a:pPr eaLnBrk="1" hangingPunct="1"/>
            <a:r>
              <a:rPr lang="en-US" altLang="zh-CN" b="1"/>
              <a:t>[ WITH</a:t>
            </a:r>
            <a:r>
              <a:rPr lang="zh-CN" altLang="zh-CN" b="1"/>
              <a:t>选项</a:t>
            </a:r>
            <a:r>
              <a:rPr lang="en-US" altLang="zh-CN" b="1"/>
              <a:t>]</a:t>
            </a:r>
            <a:endParaRPr lang="zh-CN" altLang="zh-CN" b="1"/>
          </a:p>
          <a:p>
            <a:pPr eaLnBrk="1" hangingPunct="1"/>
            <a:r>
              <a:rPr lang="en-US" altLang="zh-CN" b="1"/>
              <a:t>[ AS ]</a:t>
            </a:r>
            <a:endParaRPr lang="zh-CN" altLang="zh-CN" b="1"/>
          </a:p>
          <a:p>
            <a:pPr eaLnBrk="1" hangingPunct="1"/>
            <a:r>
              <a:rPr lang="en-US" altLang="zh-CN" b="1"/>
              <a:t>BEGIN</a:t>
            </a:r>
            <a:endParaRPr lang="zh-CN" altLang="zh-CN" b="1"/>
          </a:p>
          <a:p>
            <a:pPr eaLnBrk="1" hangingPunct="1"/>
            <a:r>
              <a:rPr lang="en-US" altLang="zh-CN" b="1"/>
              <a:t>     </a:t>
            </a:r>
            <a:r>
              <a:rPr lang="zh-CN" altLang="zh-CN" b="1"/>
              <a:t>函数体</a:t>
            </a:r>
            <a:endParaRPr lang="zh-CN" altLang="zh-CN" b="1"/>
          </a:p>
          <a:p>
            <a:pPr eaLnBrk="1" hangingPunct="1"/>
            <a:r>
              <a:rPr lang="en-US" altLang="zh-CN" b="1"/>
              <a:t>     RETURN</a:t>
            </a:r>
            <a:r>
              <a:rPr lang="zh-CN" altLang="zh-CN" b="1"/>
              <a:t>标量表达式</a:t>
            </a:r>
            <a:endParaRPr lang="zh-CN" altLang="zh-CN" b="1"/>
          </a:p>
          <a:p>
            <a:pPr eaLnBrk="1" hangingPunct="1"/>
            <a:r>
              <a:rPr lang="en-US" altLang="zh-CN" b="1"/>
              <a:t>END</a:t>
            </a:r>
            <a:endParaRPr lang="zh-CN" altLang="zh-CN" b="1"/>
          </a:p>
          <a:p>
            <a:pPr eaLnBrk="1" fontAlgn="ctr" hangingPunct="1"/>
            <a:r>
              <a:rPr lang="zh-CN" altLang="zh-CN" b="1"/>
              <a:t>用户在使用命令方式创建用户定义函数后，单击“对象资源管理器”→“数据库”→“</a:t>
            </a:r>
            <a:r>
              <a:rPr lang="en-US" altLang="zh-CN" b="1"/>
              <a:t>pxscj</a:t>
            </a:r>
            <a:r>
              <a:rPr lang="zh-CN" altLang="zh-CN" b="1"/>
              <a:t>”→“可编程性”→“函数”→“标量值函数”，即可看到已经创建好的用户定义的函数对象的图标。</a:t>
            </a:r>
            <a:endParaRPr lang="zh-CN" altLang="zh-CN" b="1"/>
          </a:p>
          <a:p>
            <a:pPr eaLnBrk="1" hangingPunct="1"/>
            <a:endParaRPr lang="zh-CN" altLang="en-US" b="1"/>
          </a:p>
        </p:txBody>
      </p:sp>
    </p:spTree>
  </p:cSld>
  <p:clrMapOvr>
    <a:masterClrMapping/>
  </p:clrMapOvr>
  <p:transition spd="slow">
    <p:checke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27088" y="4821238"/>
            <a:ext cx="7921625" cy="2873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a:xfrm>
            <a:off x="827088" y="4256088"/>
            <a:ext cx="7921625" cy="288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636838"/>
            <a:ext cx="7921625" cy="2873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5.6.1  </a:t>
            </a:r>
            <a:r>
              <a:rPr lang="zh-CN" altLang="zh-CN" dirty="0">
                <a:effectLst/>
              </a:rPr>
              <a:t>标量函数：</a:t>
            </a:r>
            <a:r>
              <a:rPr lang="en-US" altLang="zh-CN" dirty="0">
                <a:effectLst/>
              </a:rPr>
              <a:t>SELECT/EXEC</a:t>
            </a:r>
            <a:endParaRPr lang="zh-CN" altLang="zh-CN" dirty="0">
              <a:effectLst/>
            </a:endParaRPr>
          </a:p>
        </p:txBody>
      </p:sp>
      <p:sp>
        <p:nvSpPr>
          <p:cNvPr id="79878" name="TextBox 2"/>
          <p:cNvSpPr txBox="1">
            <a:spLocks noChangeArrowheads="1"/>
          </p:cNvSpPr>
          <p:nvPr/>
        </p:nvSpPr>
        <p:spPr bwMode="auto">
          <a:xfrm>
            <a:off x="468313" y="1484313"/>
            <a:ext cx="8280400"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2</a:t>
            </a:r>
            <a:r>
              <a:rPr lang="zh-CN" altLang="zh-CN" b="1">
                <a:solidFill>
                  <a:srgbClr val="C00000"/>
                </a:solidFill>
              </a:rPr>
              <a:t>．标量函数的调用</a:t>
            </a:r>
            <a:endParaRPr lang="zh-CN" altLang="zh-CN" b="1">
              <a:solidFill>
                <a:srgbClr val="C00000"/>
              </a:solidFill>
            </a:endParaRPr>
          </a:p>
          <a:p>
            <a:pPr eaLnBrk="1" fontAlgn="ctr" hangingPunct="1"/>
            <a:r>
              <a:rPr lang="zh-CN" altLang="zh-CN" b="1"/>
              <a:t>可用以下方式调用标量函数。</a:t>
            </a:r>
            <a:endParaRPr lang="zh-CN" altLang="zh-CN" b="1"/>
          </a:p>
          <a:p>
            <a:pPr eaLnBrk="1" fontAlgn="ctr" hangingPunct="1"/>
            <a:r>
              <a:rPr lang="zh-CN" altLang="zh-CN" b="1"/>
              <a:t>（</a:t>
            </a:r>
            <a:r>
              <a:rPr lang="en-US" altLang="zh-CN" b="1"/>
              <a:t>1</a:t>
            </a:r>
            <a:r>
              <a:rPr lang="zh-CN" altLang="zh-CN" b="1"/>
              <a:t>）在</a:t>
            </a:r>
            <a:r>
              <a:rPr lang="en-US" altLang="zh-CN" b="1"/>
              <a:t>SELECT</a:t>
            </a:r>
            <a:r>
              <a:rPr lang="zh-CN" altLang="zh-CN" b="1"/>
              <a:t>语句中调用</a:t>
            </a:r>
            <a:endParaRPr lang="zh-CN" altLang="zh-CN" b="1"/>
          </a:p>
          <a:p>
            <a:pPr eaLnBrk="1" fontAlgn="ctr" hangingPunct="1"/>
            <a:r>
              <a:rPr lang="zh-CN" altLang="zh-CN" b="1"/>
              <a:t>调用形式：</a:t>
            </a:r>
            <a:endParaRPr lang="zh-CN" altLang="zh-CN" b="1"/>
          </a:p>
          <a:p>
            <a:pPr eaLnBrk="1" hangingPunct="1"/>
            <a:r>
              <a:rPr lang="zh-CN" altLang="zh-CN" b="1"/>
              <a:t>架构名</a:t>
            </a:r>
            <a:r>
              <a:rPr lang="en-US" altLang="zh-CN" b="1"/>
              <a:t>.</a:t>
            </a:r>
            <a:r>
              <a:rPr lang="zh-CN" altLang="zh-CN" b="1"/>
              <a:t>函数名</a:t>
            </a:r>
            <a:r>
              <a:rPr lang="en-US" altLang="zh-CN" b="1"/>
              <a:t>(</a:t>
            </a:r>
            <a:r>
              <a:rPr lang="zh-CN" altLang="zh-CN" b="1"/>
              <a:t>实参</a:t>
            </a:r>
            <a:r>
              <a:rPr lang="en-US" altLang="zh-CN" b="1"/>
              <a:t>1,</a:t>
            </a:r>
            <a:r>
              <a:rPr lang="zh-CN" altLang="zh-CN" b="1"/>
              <a:t>…</a:t>
            </a:r>
            <a:r>
              <a:rPr lang="en-US" altLang="zh-CN" b="1"/>
              <a:t>,</a:t>
            </a:r>
            <a:r>
              <a:rPr lang="zh-CN" altLang="zh-CN" b="1"/>
              <a:t>实参</a:t>
            </a:r>
            <a:r>
              <a:rPr lang="en-US" altLang="zh-CN" b="1" i="1"/>
              <a:t>n</a:t>
            </a:r>
            <a:r>
              <a:rPr lang="en-US" altLang="zh-CN" b="1"/>
              <a:t>)</a:t>
            </a:r>
            <a:r>
              <a:rPr lang="zh-CN" altLang="zh-CN" b="1"/>
              <a:t>。</a:t>
            </a:r>
            <a:endParaRPr lang="zh-CN" altLang="zh-CN" b="1"/>
          </a:p>
          <a:p>
            <a:pPr eaLnBrk="1" fontAlgn="ctr" hangingPunct="1"/>
            <a:r>
              <a:rPr lang="zh-CN" altLang="zh-CN" b="1"/>
              <a:t>实参可为已赋值的局部变量或表达式。</a:t>
            </a:r>
            <a:endParaRPr lang="zh-CN" altLang="zh-CN" b="1"/>
          </a:p>
          <a:p>
            <a:pPr eaLnBrk="1" fontAlgn="ctr" hangingPunct="1"/>
            <a:r>
              <a:rPr lang="zh-CN" altLang="zh-CN" b="1"/>
              <a:t>（</a:t>
            </a:r>
            <a:r>
              <a:rPr lang="en-US" altLang="zh-CN" b="1"/>
              <a:t>2</a:t>
            </a:r>
            <a:r>
              <a:rPr lang="zh-CN" altLang="zh-CN" b="1"/>
              <a:t>）利用</a:t>
            </a:r>
            <a:r>
              <a:rPr lang="en-US" altLang="zh-CN" b="1"/>
              <a:t>EXEC</a:t>
            </a:r>
            <a:r>
              <a:rPr lang="zh-CN" altLang="zh-CN" b="1"/>
              <a:t>语句执行</a:t>
            </a:r>
            <a:endParaRPr lang="zh-CN" altLang="zh-CN" b="1"/>
          </a:p>
          <a:p>
            <a:pPr eaLnBrk="1" fontAlgn="ctr" hangingPunct="1"/>
            <a:r>
              <a:rPr lang="zh-CN" altLang="zh-CN" b="1"/>
              <a:t>用</a:t>
            </a:r>
            <a:r>
              <a:rPr lang="en-US" altLang="zh-CN" b="1"/>
              <a:t>T-SQL EXECUTE</a:t>
            </a:r>
            <a:r>
              <a:rPr lang="zh-CN" altLang="zh-CN" b="1"/>
              <a:t>（</a:t>
            </a:r>
            <a:r>
              <a:rPr lang="en-US" altLang="zh-CN" b="1"/>
              <a:t>EXEC</a:t>
            </a:r>
            <a:r>
              <a:rPr lang="zh-CN" altLang="zh-CN" b="1"/>
              <a:t>）语句调用用户函数时，参数的标识次序与函数定义中的参数标识次序可以不同。有关</a:t>
            </a:r>
            <a:r>
              <a:rPr lang="en-US" altLang="zh-CN" b="1"/>
              <a:t>EXEC</a:t>
            </a:r>
            <a:r>
              <a:rPr lang="zh-CN" altLang="zh-CN" b="1"/>
              <a:t>语句的具体格式在第</a:t>
            </a:r>
            <a:r>
              <a:rPr lang="en-US" altLang="zh-CN" b="1"/>
              <a:t>7</a:t>
            </a:r>
            <a:r>
              <a:rPr lang="zh-CN" altLang="zh-CN" b="1"/>
              <a:t>章中介绍。</a:t>
            </a:r>
            <a:endParaRPr lang="zh-CN" altLang="zh-CN" b="1"/>
          </a:p>
          <a:p>
            <a:pPr eaLnBrk="1" fontAlgn="ctr" hangingPunct="1"/>
            <a:r>
              <a:rPr lang="zh-CN" altLang="zh-CN" b="1"/>
              <a:t>调用形式：</a:t>
            </a:r>
            <a:endParaRPr lang="zh-CN" altLang="zh-CN" b="1"/>
          </a:p>
          <a:p>
            <a:pPr eaLnBrk="1" hangingPunct="1"/>
            <a:r>
              <a:rPr lang="zh-CN" altLang="zh-CN" b="1"/>
              <a:t>架构名</a:t>
            </a:r>
            <a:r>
              <a:rPr lang="en-US" altLang="zh-CN" b="1"/>
              <a:t>.</a:t>
            </a:r>
            <a:r>
              <a:rPr lang="zh-CN" altLang="zh-CN" b="1"/>
              <a:t>函数名 实参</a:t>
            </a:r>
            <a:r>
              <a:rPr lang="en-US" altLang="zh-CN" b="1"/>
              <a:t>1,…,</a:t>
            </a:r>
            <a:r>
              <a:rPr lang="zh-CN" altLang="zh-CN" b="1"/>
              <a:t>实参</a:t>
            </a:r>
            <a:r>
              <a:rPr lang="en-US" altLang="zh-CN" b="1" i="1"/>
              <a:t>n</a:t>
            </a:r>
            <a:endParaRPr lang="zh-CN" altLang="zh-CN" b="1"/>
          </a:p>
          <a:p>
            <a:pPr eaLnBrk="1" fontAlgn="ctr" hangingPunct="1"/>
            <a:r>
              <a:rPr lang="zh-CN" altLang="zh-CN" b="1"/>
              <a:t>或：</a:t>
            </a:r>
            <a:endParaRPr lang="zh-CN" altLang="zh-CN" b="1"/>
          </a:p>
          <a:p>
            <a:pPr eaLnBrk="1" hangingPunct="1"/>
            <a:r>
              <a:rPr lang="zh-CN" altLang="zh-CN" b="1"/>
              <a:t>架构名</a:t>
            </a:r>
            <a:r>
              <a:rPr lang="en-US" altLang="zh-CN" b="1"/>
              <a:t>.</a:t>
            </a:r>
            <a:r>
              <a:rPr lang="zh-CN" altLang="zh-CN" b="1"/>
              <a:t>函数名 形参名</a:t>
            </a:r>
            <a:r>
              <a:rPr lang="en-US" altLang="zh-CN" b="1"/>
              <a:t>1=</a:t>
            </a:r>
            <a:r>
              <a:rPr lang="zh-CN" altLang="zh-CN" b="1"/>
              <a:t>实参</a:t>
            </a:r>
            <a:r>
              <a:rPr lang="en-US" altLang="zh-CN" b="1"/>
              <a:t>1,…, </a:t>
            </a:r>
            <a:r>
              <a:rPr lang="zh-CN" altLang="zh-CN" b="1"/>
              <a:t>形参名</a:t>
            </a:r>
            <a:r>
              <a:rPr lang="en-US" altLang="zh-CN" b="1" i="1"/>
              <a:t>n</a:t>
            </a:r>
            <a:r>
              <a:rPr lang="en-US" altLang="zh-CN" b="1"/>
              <a:t>=</a:t>
            </a:r>
            <a:r>
              <a:rPr lang="zh-CN" altLang="zh-CN" b="1"/>
              <a:t>实参</a:t>
            </a:r>
            <a:r>
              <a:rPr lang="en-US" altLang="zh-CN" b="1" i="1"/>
              <a:t>n</a:t>
            </a:r>
            <a:endParaRPr lang="zh-CN" altLang="zh-CN" b="1"/>
          </a:p>
          <a:p>
            <a:pPr eaLnBrk="1" hangingPunct="1"/>
            <a:endParaRPr lang="zh-CN" altLang="en-US" b="1"/>
          </a:p>
        </p:txBody>
      </p:sp>
    </p:spTree>
  </p:cSld>
  <p:clrMapOvr>
    <a:masterClrMapping/>
  </p:clrMapOvr>
  <p:transition spd="slow">
    <p:pull/>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2060575"/>
            <a:ext cx="7848600" cy="41767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5.6.1  </a:t>
            </a:r>
            <a:r>
              <a:rPr lang="zh-CN" altLang="zh-CN" dirty="0">
                <a:effectLst/>
              </a:rPr>
              <a:t>标量函数：</a:t>
            </a:r>
            <a:r>
              <a:rPr lang="en-US" altLang="zh-CN" dirty="0">
                <a:effectLst/>
              </a:rPr>
              <a:t>SELECT/EXEC</a:t>
            </a:r>
            <a:endParaRPr lang="zh-CN" altLang="en-US" dirty="0"/>
          </a:p>
        </p:txBody>
      </p:sp>
      <p:sp>
        <p:nvSpPr>
          <p:cNvPr id="3" name="TextBox 2"/>
          <p:cNvSpPr txBox="1"/>
          <p:nvPr/>
        </p:nvSpPr>
        <p:spPr>
          <a:xfrm>
            <a:off x="468313" y="1158875"/>
            <a:ext cx="8207375" cy="5354638"/>
          </a:xfrm>
          <a:prstGeom prst="rect">
            <a:avLst/>
          </a:prstGeom>
          <a:noFill/>
        </p:spPr>
        <p:txBody>
          <a:bodyPr>
            <a:spAutoFit/>
          </a:bodyPr>
          <a:lstStyle/>
          <a:p>
            <a:pPr indent="446405" fontAlgn="ctr">
              <a:spcBef>
                <a:spcPts val="0"/>
              </a:spcBef>
              <a:spcAft>
                <a:spcPts val="0"/>
              </a:spcAft>
              <a:defRPr/>
            </a:pPr>
            <a:r>
              <a:rPr lang="zh-CN" altLang="zh-CN" b="1" dirty="0">
                <a:latin typeface="+mn-lt"/>
                <a:ea typeface="+mn-ea"/>
              </a:rPr>
              <a:t>【例</a:t>
            </a:r>
            <a:r>
              <a:rPr lang="en-US" altLang="zh-CN" b="1" dirty="0">
                <a:latin typeface="+mn-lt"/>
                <a:ea typeface="+mn-ea"/>
              </a:rPr>
              <a:t>5.28</a:t>
            </a:r>
            <a:r>
              <a:rPr lang="zh-CN" altLang="zh-CN" b="1" dirty="0">
                <a:latin typeface="+mn-lt"/>
                <a:ea typeface="+mn-ea"/>
              </a:rPr>
              <a:t>】 创建用户定义函数，实现计算全体学生某门功课平均成绩的功能。</a:t>
            </a:r>
            <a:endParaRPr lang="zh-CN" altLang="zh-CN" b="1" dirty="0">
              <a:latin typeface="+mn-lt"/>
              <a:ea typeface="+mn-ea"/>
            </a:endParaRPr>
          </a:p>
          <a:p>
            <a:pPr indent="446405" fontAlgn="ctr">
              <a:spcBef>
                <a:spcPts val="0"/>
              </a:spcBef>
              <a:spcAft>
                <a:spcPts val="0"/>
              </a:spcAft>
              <a:defRPr/>
            </a:pPr>
            <a:r>
              <a:rPr lang="zh-CN" altLang="zh-CN" b="1" dirty="0">
                <a:latin typeface="+mn-lt"/>
                <a:ea typeface="+mn-ea"/>
              </a:rPr>
              <a:t>（</a:t>
            </a:r>
            <a:r>
              <a:rPr lang="en-US" altLang="zh-CN" b="1" dirty="0">
                <a:latin typeface="+mn-lt"/>
                <a:ea typeface="+mn-ea"/>
              </a:rPr>
              <a:t>1</a:t>
            </a:r>
            <a:r>
              <a:rPr lang="zh-CN" altLang="zh-CN" b="1" dirty="0">
                <a:latin typeface="+mn-lt"/>
                <a:ea typeface="+mn-ea"/>
              </a:rPr>
              <a:t>）创建用户定义函数</a:t>
            </a:r>
            <a:endParaRPr lang="zh-CN" altLang="zh-CN" b="1" dirty="0">
              <a:latin typeface="+mn-lt"/>
              <a:ea typeface="+mn-ea"/>
            </a:endParaRPr>
          </a:p>
          <a:p>
            <a:pPr indent="446405" fontAlgn="auto">
              <a:spcBef>
                <a:spcPts val="0"/>
              </a:spcBef>
              <a:spcAft>
                <a:spcPts val="0"/>
              </a:spcAft>
              <a:defRPr/>
            </a:pPr>
            <a:r>
              <a:rPr lang="en-US" altLang="zh-CN" b="1" dirty="0">
                <a:latin typeface="+mn-lt"/>
                <a:ea typeface="+mn-ea"/>
              </a:rPr>
              <a:t>USE </a:t>
            </a:r>
            <a:r>
              <a:rPr lang="en-US" altLang="zh-CN" b="1" dirty="0" err="1">
                <a:latin typeface="+mn-lt"/>
                <a:ea typeface="+mn-ea"/>
              </a:rPr>
              <a:t>pxscj</a:t>
            </a:r>
            <a:endParaRPr lang="zh-CN" altLang="zh-CN" b="1" dirty="0">
              <a:latin typeface="+mn-lt"/>
              <a:ea typeface="+mn-ea"/>
            </a:endParaRPr>
          </a:p>
          <a:p>
            <a:pPr indent="446405" fontAlgn="auto">
              <a:spcBef>
                <a:spcPts val="0"/>
              </a:spcBef>
              <a:spcAft>
                <a:spcPts val="0"/>
              </a:spcAft>
              <a:defRPr/>
            </a:pPr>
            <a:r>
              <a:rPr lang="en-US" altLang="zh-CN" b="1" dirty="0">
                <a:latin typeface="+mn-lt"/>
                <a:ea typeface="+mn-ea"/>
              </a:rPr>
              <a:t>GO</a:t>
            </a:r>
            <a:endParaRPr lang="zh-CN" altLang="zh-CN" b="1" dirty="0">
              <a:latin typeface="+mn-lt"/>
              <a:ea typeface="+mn-ea"/>
            </a:endParaRPr>
          </a:p>
          <a:p>
            <a:pPr indent="446405" fontAlgn="auto">
              <a:spcBef>
                <a:spcPts val="0"/>
              </a:spcBef>
              <a:spcAft>
                <a:spcPts val="0"/>
              </a:spcAft>
              <a:defRPr/>
            </a:pPr>
            <a:r>
              <a:rPr lang="en-US" altLang="zh-CN" b="1" dirty="0">
                <a:latin typeface="+mn-lt"/>
                <a:ea typeface="+mn-ea"/>
              </a:rPr>
              <a:t>CREATE FUNCTION average(@</a:t>
            </a:r>
            <a:r>
              <a:rPr lang="en-US" altLang="zh-CN" b="1" dirty="0" err="1">
                <a:latin typeface="+mn-lt"/>
                <a:ea typeface="+mn-ea"/>
              </a:rPr>
              <a:t>num</a:t>
            </a:r>
            <a:r>
              <a:rPr lang="en-US" altLang="zh-CN" b="1" dirty="0">
                <a:latin typeface="+mn-lt"/>
                <a:ea typeface="+mn-ea"/>
              </a:rPr>
              <a:t> char(20)) RETURNS </a:t>
            </a:r>
            <a:r>
              <a:rPr lang="en-US" altLang="zh-CN" b="1" dirty="0" err="1">
                <a:latin typeface="+mn-lt"/>
                <a:ea typeface="+mn-ea"/>
              </a:rPr>
              <a:t>int</a:t>
            </a:r>
            <a:endParaRPr lang="zh-CN" altLang="zh-CN" b="1" dirty="0">
              <a:latin typeface="+mn-lt"/>
              <a:ea typeface="+mn-ea"/>
            </a:endParaRPr>
          </a:p>
          <a:p>
            <a:pPr indent="446405" fontAlgn="auto">
              <a:spcBef>
                <a:spcPts val="0"/>
              </a:spcBef>
              <a:spcAft>
                <a:spcPts val="0"/>
              </a:spcAft>
              <a:defRPr/>
            </a:pPr>
            <a:r>
              <a:rPr lang="en-US" altLang="zh-CN" b="1" dirty="0">
                <a:latin typeface="+mn-lt"/>
                <a:ea typeface="+mn-ea"/>
              </a:rPr>
              <a:t>     AS</a:t>
            </a:r>
            <a:endParaRPr lang="zh-CN" altLang="zh-CN" b="1" dirty="0">
              <a:latin typeface="+mn-lt"/>
              <a:ea typeface="+mn-ea"/>
            </a:endParaRPr>
          </a:p>
          <a:p>
            <a:pPr indent="446405" fontAlgn="auto">
              <a:spcBef>
                <a:spcPts val="0"/>
              </a:spcBef>
              <a:spcAft>
                <a:spcPts val="0"/>
              </a:spcAft>
              <a:defRPr/>
            </a:pPr>
            <a:r>
              <a:rPr lang="en-US" altLang="zh-CN" b="1" dirty="0">
                <a:latin typeface="+mn-lt"/>
                <a:ea typeface="+mn-ea"/>
              </a:rPr>
              <a:t>     BEGIN</a:t>
            </a:r>
            <a:endParaRPr lang="zh-CN" altLang="zh-CN" b="1" dirty="0">
              <a:latin typeface="+mn-lt"/>
              <a:ea typeface="+mn-ea"/>
            </a:endParaRPr>
          </a:p>
          <a:p>
            <a:pPr indent="446405" fontAlgn="auto">
              <a:spcBef>
                <a:spcPts val="0"/>
              </a:spcBef>
              <a:spcAft>
                <a:spcPts val="0"/>
              </a:spcAft>
              <a:defRPr/>
            </a:pPr>
            <a:r>
              <a:rPr lang="en-US" altLang="zh-CN" b="1" dirty="0">
                <a:latin typeface="+mn-lt"/>
                <a:ea typeface="+mn-ea"/>
              </a:rPr>
              <a:t>          DECLARE @aver </a:t>
            </a:r>
            <a:r>
              <a:rPr lang="en-US" altLang="zh-CN" b="1" dirty="0" err="1">
                <a:latin typeface="+mn-lt"/>
                <a:ea typeface="+mn-ea"/>
              </a:rPr>
              <a:t>int</a:t>
            </a:r>
            <a:endParaRPr lang="zh-CN" altLang="zh-CN" b="1" dirty="0">
              <a:latin typeface="+mn-lt"/>
              <a:ea typeface="+mn-ea"/>
            </a:endParaRPr>
          </a:p>
          <a:p>
            <a:pPr indent="446405" fontAlgn="auto">
              <a:spcBef>
                <a:spcPts val="0"/>
              </a:spcBef>
              <a:spcAft>
                <a:spcPts val="0"/>
              </a:spcAft>
              <a:defRPr/>
            </a:pPr>
            <a:r>
              <a:rPr lang="en-US" altLang="zh-CN" b="1" dirty="0">
                <a:latin typeface="+mn-lt"/>
                <a:ea typeface="+mn-ea"/>
              </a:rPr>
              <a:t>          SELECT @aver=</a:t>
            </a:r>
            <a:endParaRPr lang="zh-CN" altLang="zh-CN" b="1" dirty="0">
              <a:latin typeface="+mn-lt"/>
              <a:ea typeface="+mn-ea"/>
            </a:endParaRPr>
          </a:p>
          <a:p>
            <a:pPr indent="446405" fontAlgn="auto">
              <a:spcBef>
                <a:spcPts val="0"/>
              </a:spcBef>
              <a:spcAft>
                <a:spcPts val="0"/>
              </a:spcAft>
              <a:defRPr/>
            </a:pPr>
            <a:r>
              <a:rPr lang="en-US" altLang="zh-CN" b="1" dirty="0">
                <a:latin typeface="+mn-lt"/>
                <a:ea typeface="+mn-ea"/>
              </a:rPr>
              <a:t>           ( </a:t>
            </a:r>
            <a:endParaRPr lang="zh-CN" altLang="zh-CN" b="1" dirty="0">
              <a:latin typeface="+mn-lt"/>
              <a:ea typeface="+mn-ea"/>
            </a:endParaRPr>
          </a:p>
          <a:p>
            <a:pPr indent="446405" fontAlgn="auto">
              <a:spcBef>
                <a:spcPts val="0"/>
              </a:spcBef>
              <a:spcAft>
                <a:spcPts val="0"/>
              </a:spcAft>
              <a:defRPr/>
            </a:pPr>
            <a:r>
              <a:rPr lang="en-US" altLang="zh-CN" b="1" dirty="0">
                <a:latin typeface="+mn-lt"/>
                <a:ea typeface="+mn-ea"/>
              </a:rPr>
              <a:t>               SELECT  </a:t>
            </a:r>
            <a:r>
              <a:rPr lang="en-US" altLang="zh-CN" b="1" dirty="0" err="1">
                <a:latin typeface="+mn-lt"/>
                <a:ea typeface="+mn-ea"/>
              </a:rPr>
              <a:t>avg</a:t>
            </a:r>
            <a:r>
              <a:rPr lang="en-US" altLang="zh-CN" b="1" dirty="0">
                <a:latin typeface="+mn-lt"/>
                <a:ea typeface="+mn-ea"/>
              </a:rPr>
              <a:t>(</a:t>
            </a:r>
            <a:r>
              <a:rPr lang="zh-CN" altLang="zh-CN" b="1" dirty="0">
                <a:latin typeface="+mn-lt"/>
                <a:ea typeface="+mn-ea"/>
              </a:rPr>
              <a:t>成绩</a:t>
            </a:r>
            <a:r>
              <a:rPr lang="en-US" altLang="zh-CN" b="1" dirty="0">
                <a:latin typeface="+mn-lt"/>
                <a:ea typeface="+mn-ea"/>
              </a:rPr>
              <a:t>) </a:t>
            </a:r>
            <a:endParaRPr lang="zh-CN" altLang="zh-CN" b="1" dirty="0">
              <a:latin typeface="+mn-lt"/>
              <a:ea typeface="+mn-ea"/>
            </a:endParaRPr>
          </a:p>
          <a:p>
            <a:pPr indent="446405" fontAlgn="auto">
              <a:spcBef>
                <a:spcPts val="0"/>
              </a:spcBef>
              <a:spcAft>
                <a:spcPts val="0"/>
              </a:spcAft>
              <a:defRPr/>
            </a:pPr>
            <a:r>
              <a:rPr lang="en-US" altLang="zh-CN" b="1" dirty="0">
                <a:latin typeface="+mn-lt"/>
                <a:ea typeface="+mn-ea"/>
              </a:rPr>
              <a:t>                    FROM  </a:t>
            </a:r>
            <a:r>
              <a:rPr lang="en-US" altLang="zh-CN" b="1" dirty="0" err="1">
                <a:latin typeface="+mn-lt"/>
                <a:ea typeface="+mn-ea"/>
              </a:rPr>
              <a:t>cjb</a:t>
            </a:r>
            <a:endParaRPr lang="zh-CN" altLang="zh-CN" b="1" dirty="0">
              <a:latin typeface="+mn-lt"/>
              <a:ea typeface="+mn-ea"/>
            </a:endParaRPr>
          </a:p>
          <a:p>
            <a:pPr indent="446405" fontAlgn="auto">
              <a:spcBef>
                <a:spcPts val="0"/>
              </a:spcBef>
              <a:spcAft>
                <a:spcPts val="0"/>
              </a:spcAft>
              <a:defRPr/>
            </a:pPr>
            <a:r>
              <a:rPr lang="en-US" altLang="zh-CN" b="1" dirty="0">
                <a:latin typeface="+mn-lt"/>
                <a:ea typeface="+mn-ea"/>
              </a:rPr>
              <a:t>                    WHERE</a:t>
            </a:r>
            <a:r>
              <a:rPr lang="zh-CN" altLang="zh-CN" b="1" dirty="0">
                <a:latin typeface="+mn-lt"/>
                <a:ea typeface="+mn-ea"/>
              </a:rPr>
              <a:t>课程号</a:t>
            </a:r>
            <a:r>
              <a:rPr lang="en-US" altLang="zh-CN" b="1" dirty="0">
                <a:latin typeface="+mn-lt"/>
                <a:ea typeface="+mn-ea"/>
              </a:rPr>
              <a:t>=@</a:t>
            </a:r>
            <a:r>
              <a:rPr lang="en-US" altLang="zh-CN" b="1" dirty="0" err="1">
                <a:latin typeface="+mn-lt"/>
                <a:ea typeface="+mn-ea"/>
              </a:rPr>
              <a:t>num</a:t>
            </a:r>
            <a:endParaRPr lang="zh-CN" altLang="zh-CN" b="1" dirty="0">
              <a:latin typeface="+mn-lt"/>
              <a:ea typeface="+mn-ea"/>
            </a:endParaRPr>
          </a:p>
          <a:p>
            <a:pPr indent="446405" fontAlgn="auto">
              <a:spcBef>
                <a:spcPts val="0"/>
              </a:spcBef>
              <a:spcAft>
                <a:spcPts val="0"/>
              </a:spcAft>
              <a:defRPr/>
            </a:pPr>
            <a:r>
              <a:rPr lang="en-US" altLang="zh-CN" b="1" dirty="0">
                <a:latin typeface="+mn-lt"/>
                <a:ea typeface="+mn-ea"/>
              </a:rPr>
              <a:t>                    GROUP BY</a:t>
            </a:r>
            <a:r>
              <a:rPr lang="zh-CN" altLang="zh-CN" b="1" dirty="0">
                <a:latin typeface="+mn-lt"/>
                <a:ea typeface="+mn-ea"/>
              </a:rPr>
              <a:t>课程号</a:t>
            </a:r>
            <a:endParaRPr lang="zh-CN" altLang="zh-CN" b="1" dirty="0">
              <a:latin typeface="+mn-lt"/>
              <a:ea typeface="+mn-ea"/>
            </a:endParaRPr>
          </a:p>
          <a:p>
            <a:pPr indent="446405" fontAlgn="auto">
              <a:spcBef>
                <a:spcPts val="0"/>
              </a:spcBef>
              <a:spcAft>
                <a:spcPts val="0"/>
              </a:spcAft>
              <a:defRPr/>
            </a:pPr>
            <a:r>
              <a:rPr lang="en-US" altLang="zh-CN" b="1" dirty="0">
                <a:latin typeface="+mn-lt"/>
                <a:ea typeface="+mn-ea"/>
              </a:rPr>
              <a:t>          )</a:t>
            </a:r>
            <a:endParaRPr lang="zh-CN" altLang="zh-CN" b="1" dirty="0">
              <a:latin typeface="+mn-lt"/>
              <a:ea typeface="+mn-ea"/>
            </a:endParaRPr>
          </a:p>
          <a:p>
            <a:pPr indent="446405" fontAlgn="auto">
              <a:spcBef>
                <a:spcPts val="0"/>
              </a:spcBef>
              <a:spcAft>
                <a:spcPts val="0"/>
              </a:spcAft>
              <a:defRPr/>
            </a:pPr>
            <a:r>
              <a:rPr lang="en-US" altLang="zh-CN" b="1" dirty="0">
                <a:latin typeface="+mn-lt"/>
                <a:ea typeface="+mn-ea"/>
              </a:rPr>
              <a:t>          RETURN @aver</a:t>
            </a:r>
            <a:endParaRPr lang="zh-CN" altLang="zh-CN" b="1" dirty="0">
              <a:latin typeface="+mn-lt"/>
              <a:ea typeface="+mn-ea"/>
            </a:endParaRPr>
          </a:p>
          <a:p>
            <a:pPr indent="446405" fontAlgn="auto">
              <a:spcBef>
                <a:spcPts val="0"/>
              </a:spcBef>
              <a:spcAft>
                <a:spcPts val="0"/>
              </a:spcAft>
              <a:defRPr/>
            </a:pPr>
            <a:r>
              <a:rPr lang="en-US" altLang="zh-CN" b="1" dirty="0">
                <a:latin typeface="+mn-lt"/>
                <a:ea typeface="+mn-ea"/>
              </a:rPr>
              <a:t>     END</a:t>
            </a:r>
            <a:endParaRPr lang="zh-CN" altLang="zh-CN" b="1" dirty="0">
              <a:latin typeface="+mn-lt"/>
              <a:ea typeface="+mn-ea"/>
            </a:endParaRPr>
          </a:p>
          <a:p>
            <a:pPr fontAlgn="auto">
              <a:spcBef>
                <a:spcPts val="0"/>
              </a:spcBef>
              <a:spcAft>
                <a:spcPts val="0"/>
              </a:spcAft>
              <a:defRPr/>
            </a:pPr>
            <a:endParaRPr lang="zh-CN" altLang="en-US" b="1" dirty="0">
              <a:latin typeface="+mn-lt"/>
              <a:ea typeface="+mn-ea"/>
            </a:endParaRPr>
          </a:p>
        </p:txBody>
      </p:sp>
    </p:spTree>
  </p:cSld>
  <p:clrMapOvr>
    <a:masterClrMapping/>
  </p:clrMapOvr>
  <p:transition spd="slow">
    <p:checke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20688" y="3789363"/>
            <a:ext cx="8353425" cy="2447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395288" y="1773238"/>
            <a:ext cx="8353425" cy="15113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5.6.1  </a:t>
            </a:r>
            <a:r>
              <a:rPr lang="zh-CN" altLang="zh-CN" dirty="0">
                <a:effectLst/>
              </a:rPr>
              <a:t>标量函数：</a:t>
            </a:r>
            <a:r>
              <a:rPr lang="en-US" altLang="zh-CN" dirty="0">
                <a:effectLst/>
              </a:rPr>
              <a:t>SELECT/EXEC</a:t>
            </a:r>
            <a:endParaRPr lang="zh-CN" altLang="en-US" dirty="0"/>
          </a:p>
        </p:txBody>
      </p:sp>
      <p:sp>
        <p:nvSpPr>
          <p:cNvPr id="81925" name="TextBox 2"/>
          <p:cNvSpPr txBox="1">
            <a:spLocks noChangeArrowheads="1"/>
          </p:cNvSpPr>
          <p:nvPr/>
        </p:nvSpPr>
        <p:spPr bwMode="auto">
          <a:xfrm>
            <a:off x="395288" y="1484313"/>
            <a:ext cx="8353425"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b="1"/>
              <a:t>（</a:t>
            </a:r>
            <a:r>
              <a:rPr lang="en-US" altLang="zh-CN" b="1"/>
              <a:t>2</a:t>
            </a:r>
            <a:r>
              <a:rPr lang="zh-CN" altLang="zh-CN" b="1"/>
              <a:t>）调用用户定义函数</a:t>
            </a:r>
            <a:endParaRPr lang="zh-CN" altLang="zh-CN" b="1"/>
          </a:p>
          <a:p>
            <a:pPr eaLnBrk="1" hangingPunct="1"/>
            <a:r>
              <a:rPr lang="en-US" altLang="zh-CN" sz="1600" b="1"/>
              <a:t>DECLARE @course1 char(20) 		/*</a:t>
            </a:r>
            <a:r>
              <a:rPr lang="zh-CN" altLang="zh-CN" sz="1600" b="1"/>
              <a:t>定义局部变量</a:t>
            </a:r>
            <a:r>
              <a:rPr lang="en-US" altLang="zh-CN" sz="1600" b="1"/>
              <a:t>*/</a:t>
            </a:r>
            <a:endParaRPr lang="zh-CN" altLang="zh-CN" sz="1600" b="1"/>
          </a:p>
          <a:p>
            <a:pPr eaLnBrk="1" hangingPunct="1"/>
            <a:r>
              <a:rPr lang="en-US" altLang="zh-CN" sz="1600" b="1"/>
              <a:t>DECLARE @aver1 int					</a:t>
            </a:r>
            <a:endParaRPr lang="zh-CN" altLang="zh-CN" sz="1600" b="1"/>
          </a:p>
          <a:p>
            <a:pPr eaLnBrk="1" hangingPunct="1"/>
            <a:r>
              <a:rPr lang="en-US" altLang="zh-CN" sz="1600" b="1"/>
              <a:t>SELECT  @course1 = '101'			/*</a:t>
            </a:r>
            <a:r>
              <a:rPr lang="zh-CN" altLang="zh-CN" sz="1600" b="1"/>
              <a:t>给局部变量赋值</a:t>
            </a:r>
            <a:r>
              <a:rPr lang="en-US" altLang="zh-CN" sz="1600" b="1"/>
              <a:t>*/</a:t>
            </a:r>
            <a:endParaRPr lang="zh-CN" altLang="zh-CN" sz="1600" b="1"/>
          </a:p>
          <a:p>
            <a:pPr eaLnBrk="1" hangingPunct="1"/>
            <a:r>
              <a:rPr lang="en-US" altLang="zh-CN" sz="1600" b="1"/>
              <a:t>SELECT  @aver1=dbo.average(@course1) 	/*</a:t>
            </a:r>
            <a:r>
              <a:rPr lang="zh-CN" altLang="zh-CN" sz="1600" b="1"/>
              <a:t>调用用户函数，并将返回值赋给局部变量</a:t>
            </a:r>
            <a:r>
              <a:rPr lang="en-US" altLang="zh-CN" sz="1600" b="1"/>
              <a:t>*/</a:t>
            </a:r>
            <a:endParaRPr lang="zh-CN" altLang="zh-CN" sz="1600" b="1"/>
          </a:p>
          <a:p>
            <a:pPr eaLnBrk="1" hangingPunct="1"/>
            <a:r>
              <a:rPr lang="en-US" altLang="zh-CN" sz="1600" b="1"/>
              <a:t>SELECT  @aver1 AS '101</a:t>
            </a:r>
            <a:r>
              <a:rPr lang="zh-CN" altLang="zh-CN" sz="1600" b="1"/>
              <a:t>课程的平均成绩</a:t>
            </a:r>
            <a:r>
              <a:rPr lang="en-US" altLang="zh-CN" sz="1600" b="1"/>
              <a:t>'	/*</a:t>
            </a:r>
            <a:r>
              <a:rPr lang="zh-CN" altLang="zh-CN" sz="1600" b="1"/>
              <a:t>显示局部变量的值</a:t>
            </a:r>
            <a:r>
              <a:rPr lang="en-US" altLang="zh-CN" sz="1600" b="1"/>
              <a:t>*/</a:t>
            </a:r>
            <a:endParaRPr lang="zh-CN" altLang="zh-CN" sz="1600" b="1"/>
          </a:p>
          <a:p>
            <a:pPr eaLnBrk="1" fontAlgn="ctr" hangingPunct="1"/>
            <a:r>
              <a:rPr lang="zh-CN" altLang="zh-CN" b="1"/>
              <a:t>执行结果为</a:t>
            </a:r>
            <a:r>
              <a:rPr lang="en-US" altLang="zh-CN" b="1"/>
              <a:t>101</a:t>
            </a:r>
            <a:r>
              <a:rPr lang="zh-CN" altLang="zh-CN" b="1"/>
              <a:t>课程的平均成绩。</a:t>
            </a:r>
            <a:endParaRPr lang="zh-CN" altLang="zh-CN" b="1"/>
          </a:p>
          <a:p>
            <a:pPr eaLnBrk="1" fontAlgn="ctr" hangingPunct="1"/>
            <a:r>
              <a:rPr lang="zh-CN" altLang="zh-CN" b="1"/>
              <a:t>（</a:t>
            </a:r>
            <a:r>
              <a:rPr lang="en-US" altLang="zh-CN" b="1"/>
              <a:t>3</a:t>
            </a:r>
            <a:r>
              <a:rPr lang="zh-CN" altLang="zh-CN" b="1"/>
              <a:t>）在</a:t>
            </a:r>
            <a:r>
              <a:rPr lang="en-US" altLang="zh-CN" b="1"/>
              <a:t>pxscj</a:t>
            </a:r>
            <a:r>
              <a:rPr lang="zh-CN" altLang="zh-CN" b="1"/>
              <a:t>中建立一个</a:t>
            </a:r>
            <a:r>
              <a:rPr lang="en-US" altLang="zh-CN" b="1"/>
              <a:t>course</a:t>
            </a:r>
            <a:r>
              <a:rPr lang="zh-CN" altLang="zh-CN" b="1"/>
              <a:t>表，并将一个字段定义为计算列</a:t>
            </a:r>
            <a:endParaRPr lang="zh-CN" altLang="zh-CN" b="1"/>
          </a:p>
          <a:p>
            <a:pPr eaLnBrk="1" hangingPunct="1"/>
            <a:r>
              <a:rPr lang="en-US" altLang="zh-CN" sz="1600" b="1"/>
              <a:t>CREATE TABLE course</a:t>
            </a:r>
            <a:endParaRPr lang="zh-CN" altLang="zh-CN" sz="1600" b="1"/>
          </a:p>
          <a:p>
            <a:pPr eaLnBrk="1" hangingPunct="1"/>
            <a:r>
              <a:rPr lang="en-US" altLang="zh-CN" sz="1600" b="1"/>
              <a:t>(</a:t>
            </a:r>
            <a:endParaRPr lang="zh-CN" altLang="zh-CN" sz="1600" b="1"/>
          </a:p>
          <a:p>
            <a:pPr eaLnBrk="1" hangingPunct="1"/>
            <a:r>
              <a:rPr lang="en-US" altLang="zh-CN" sz="1600" b="1"/>
              <a:t>     cno    	int,        				/*</a:t>
            </a:r>
            <a:r>
              <a:rPr lang="zh-CN" altLang="zh-CN" sz="1600" b="1"/>
              <a:t>课程号</a:t>
            </a:r>
            <a:r>
              <a:rPr lang="en-US" altLang="zh-CN" sz="1600" b="1"/>
              <a:t>*/</a:t>
            </a:r>
            <a:endParaRPr lang="zh-CN" altLang="zh-CN" sz="1600" b="1"/>
          </a:p>
          <a:p>
            <a:pPr eaLnBrk="1" hangingPunct="1"/>
            <a:r>
              <a:rPr lang="en-US" altLang="zh-CN" sz="1600" b="1"/>
              <a:t>     cname  	nchar(20),   			/*</a:t>
            </a:r>
            <a:r>
              <a:rPr lang="zh-CN" altLang="zh-CN" sz="1600" b="1"/>
              <a:t>课程名</a:t>
            </a:r>
            <a:r>
              <a:rPr lang="en-US" altLang="zh-CN" sz="1600" b="1"/>
              <a:t>*/</a:t>
            </a:r>
            <a:endParaRPr lang="zh-CN" altLang="zh-CN" sz="1600" b="1"/>
          </a:p>
          <a:p>
            <a:pPr eaLnBrk="1" hangingPunct="1"/>
            <a:r>
              <a:rPr lang="en-US" altLang="zh-CN" sz="1600" b="1"/>
              <a:t>     credit   	int,         				/*</a:t>
            </a:r>
            <a:r>
              <a:rPr lang="zh-CN" altLang="zh-CN" sz="1600" b="1"/>
              <a:t>学分</a:t>
            </a:r>
            <a:r>
              <a:rPr lang="en-US" altLang="zh-CN" sz="1600" b="1"/>
              <a:t>*/</a:t>
            </a:r>
            <a:endParaRPr lang="zh-CN" altLang="zh-CN" sz="1600" b="1"/>
          </a:p>
          <a:p>
            <a:pPr eaLnBrk="1" hangingPunct="1"/>
            <a:r>
              <a:rPr lang="en-US" altLang="zh-CN" sz="1600" b="1"/>
              <a:t>     aver AS    					/*</a:t>
            </a:r>
            <a:r>
              <a:rPr lang="zh-CN" altLang="zh-CN" sz="1600" b="1"/>
              <a:t>将此列定义为计算列</a:t>
            </a:r>
            <a:r>
              <a:rPr lang="en-US" altLang="zh-CN" sz="1600" b="1"/>
              <a:t>*/</a:t>
            </a:r>
            <a:endParaRPr lang="zh-CN" altLang="zh-CN" sz="1600" b="1"/>
          </a:p>
          <a:p>
            <a:pPr eaLnBrk="1" hangingPunct="1"/>
            <a:r>
              <a:rPr lang="en-US" altLang="zh-CN" sz="1600" b="1"/>
              <a:t>           (</a:t>
            </a:r>
            <a:endParaRPr lang="zh-CN" altLang="zh-CN" sz="1600" b="1"/>
          </a:p>
          <a:p>
            <a:pPr eaLnBrk="1" hangingPunct="1"/>
            <a:r>
              <a:rPr lang="en-US" altLang="zh-CN" sz="1600" b="1"/>
              <a:t>               dbo.average(cno)</a:t>
            </a:r>
            <a:endParaRPr lang="zh-CN" altLang="zh-CN" sz="1600" b="1"/>
          </a:p>
          <a:p>
            <a:pPr eaLnBrk="1" hangingPunct="1"/>
            <a:r>
              <a:rPr lang="en-US" altLang="zh-CN" sz="1600" b="1"/>
              <a:t>          )   </a:t>
            </a:r>
            <a:endParaRPr lang="zh-CN" altLang="zh-CN" sz="1600" b="1"/>
          </a:p>
          <a:p>
            <a:pPr eaLnBrk="1" hangingPunct="1"/>
            <a:r>
              <a:rPr lang="en-US" altLang="zh-CN" sz="1600" b="1"/>
              <a:t>)</a:t>
            </a:r>
            <a:endParaRPr lang="zh-CN" altLang="zh-CN" sz="1600" b="1"/>
          </a:p>
          <a:p>
            <a:pPr eaLnBrk="1" hangingPunct="1"/>
            <a:endParaRPr lang="zh-CN" altLang="en-US" b="1"/>
          </a:p>
        </p:txBody>
      </p:sp>
    </p:spTree>
  </p:cSld>
  <p:clrMapOvr>
    <a:masterClrMapping/>
  </p:clrMapOvr>
  <p:transition spd="slow">
    <p:pull/>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1844675"/>
            <a:ext cx="7775575" cy="14398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5.6.2  </a:t>
            </a:r>
            <a:r>
              <a:rPr lang="zh-CN" altLang="zh-CN" dirty="0">
                <a:effectLst/>
              </a:rPr>
              <a:t>内嵌表值函数：</a:t>
            </a:r>
            <a:r>
              <a:rPr lang="en-US" altLang="zh-CN" dirty="0">
                <a:effectLst/>
              </a:rPr>
              <a:t>FROM</a:t>
            </a:r>
            <a:r>
              <a:rPr lang="zh-CN" altLang="zh-CN" dirty="0">
                <a:effectLst/>
              </a:rPr>
              <a:t>表</a:t>
            </a:r>
            <a:r>
              <a:rPr lang="en-US" altLang="zh-CN" dirty="0">
                <a:effectLst/>
              </a:rPr>
              <a:t>(…)</a:t>
            </a:r>
            <a:endParaRPr lang="zh-CN" altLang="zh-CN" dirty="0">
              <a:effectLst/>
            </a:endParaRPr>
          </a:p>
        </p:txBody>
      </p:sp>
      <p:sp>
        <p:nvSpPr>
          <p:cNvPr id="82948" name="TextBox 2"/>
          <p:cNvSpPr txBox="1">
            <a:spLocks noChangeArrowheads="1"/>
          </p:cNvSpPr>
          <p:nvPr/>
        </p:nvSpPr>
        <p:spPr bwMode="auto">
          <a:xfrm>
            <a:off x="468313" y="1412875"/>
            <a:ext cx="8207375"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b="1"/>
              <a:t>内嵌函数可用于实现参数化视图。例如：</a:t>
            </a:r>
            <a:endParaRPr lang="zh-CN" altLang="zh-CN" b="1"/>
          </a:p>
          <a:p>
            <a:pPr eaLnBrk="1" hangingPunct="1"/>
            <a:r>
              <a:rPr lang="en-US" altLang="zh-CN" b="1"/>
              <a:t>CREATE VIEW View1</a:t>
            </a:r>
            <a:endParaRPr lang="zh-CN" altLang="zh-CN" b="1"/>
          </a:p>
          <a:p>
            <a:pPr eaLnBrk="1" hangingPunct="1"/>
            <a:r>
              <a:rPr lang="en-US" altLang="zh-CN" b="1"/>
              <a:t>     AS</a:t>
            </a:r>
            <a:endParaRPr lang="zh-CN" altLang="zh-CN" b="1"/>
          </a:p>
          <a:p>
            <a:pPr eaLnBrk="1" hangingPunct="1"/>
            <a:r>
              <a:rPr lang="en-US" altLang="zh-CN" b="1"/>
              <a:t>     SELECT</a:t>
            </a:r>
            <a:r>
              <a:rPr lang="zh-CN" altLang="zh-CN" b="1"/>
              <a:t>学号</a:t>
            </a:r>
            <a:r>
              <a:rPr lang="en-US" altLang="zh-CN" b="1"/>
              <a:t>, </a:t>
            </a:r>
            <a:r>
              <a:rPr lang="zh-CN" altLang="zh-CN" b="1"/>
              <a:t>姓名</a:t>
            </a:r>
            <a:endParaRPr lang="zh-CN" altLang="zh-CN" b="1"/>
          </a:p>
          <a:p>
            <a:pPr eaLnBrk="1" hangingPunct="1"/>
            <a:r>
              <a:rPr lang="en-US" altLang="zh-CN" b="1"/>
              <a:t>          FROM   pxscj.dbo.xsb</a:t>
            </a:r>
            <a:endParaRPr lang="zh-CN" altLang="zh-CN" b="1"/>
          </a:p>
          <a:p>
            <a:pPr eaLnBrk="1" hangingPunct="1"/>
            <a:r>
              <a:rPr lang="en-US" altLang="zh-CN" b="1"/>
              <a:t>          WHERE  </a:t>
            </a:r>
            <a:r>
              <a:rPr lang="zh-CN" altLang="zh-CN" b="1"/>
              <a:t>专业</a:t>
            </a:r>
            <a:r>
              <a:rPr lang="en-US" altLang="zh-CN" b="1"/>
              <a:t>= '</a:t>
            </a:r>
            <a:r>
              <a:rPr lang="zh-CN" altLang="zh-CN" b="1"/>
              <a:t>计算机</a:t>
            </a:r>
            <a:r>
              <a:rPr lang="en-US" altLang="zh-CN" b="1"/>
              <a:t>'</a:t>
            </a:r>
            <a:endParaRPr lang="zh-CN" altLang="zh-CN" b="1"/>
          </a:p>
          <a:p>
            <a:pPr eaLnBrk="1" fontAlgn="ctr" hangingPunct="1">
              <a:lnSpc>
                <a:spcPct val="150000"/>
              </a:lnSpc>
            </a:pPr>
            <a:r>
              <a:rPr lang="zh-CN" altLang="zh-CN" b="1"/>
              <a:t>若希望设计更通用的程序，让用户能指定感兴趣的查询内容，可将“</a:t>
            </a:r>
            <a:r>
              <a:rPr lang="en-US" altLang="zh-CN" b="1"/>
              <a:t>WHERE</a:t>
            </a:r>
            <a:r>
              <a:rPr lang="zh-CN" altLang="zh-CN" b="1"/>
              <a:t>专业</a:t>
            </a:r>
            <a:r>
              <a:rPr lang="en-US" altLang="zh-CN" b="1"/>
              <a:t>= '</a:t>
            </a:r>
            <a:r>
              <a:rPr lang="zh-CN" altLang="zh-CN" b="1"/>
              <a:t>计算机</a:t>
            </a:r>
            <a:r>
              <a:rPr lang="en-US" altLang="zh-CN" b="1"/>
              <a:t>' </a:t>
            </a:r>
            <a:r>
              <a:rPr lang="zh-CN" altLang="zh-CN" b="1"/>
              <a:t>”替换为“</a:t>
            </a:r>
            <a:r>
              <a:rPr lang="en-US" altLang="zh-CN" b="1"/>
              <a:t>WHERE</a:t>
            </a:r>
            <a:r>
              <a:rPr lang="zh-CN" altLang="zh-CN" b="1"/>
              <a:t>专业</a:t>
            </a:r>
            <a:r>
              <a:rPr lang="en-US" altLang="zh-CN" b="1"/>
              <a:t>= @para</a:t>
            </a:r>
            <a:r>
              <a:rPr lang="zh-CN" altLang="zh-CN" b="1"/>
              <a:t>”。</a:t>
            </a:r>
            <a:r>
              <a:rPr lang="en-US" altLang="zh-CN" b="1"/>
              <a:t>@para</a:t>
            </a:r>
            <a:r>
              <a:rPr lang="zh-CN" altLang="zh-CN" b="1"/>
              <a:t>用于传递参数。</a:t>
            </a:r>
            <a:endParaRPr lang="zh-CN" altLang="zh-CN" b="1"/>
          </a:p>
          <a:p>
            <a:pPr eaLnBrk="1" hangingPunct="1"/>
            <a:endParaRPr lang="zh-CN" altLang="en-US" b="1"/>
          </a:p>
        </p:txBody>
      </p:sp>
    </p:spTree>
  </p:cSld>
  <p:clrMapOvr>
    <a:masterClrMapping/>
  </p:clrMapOvr>
  <p:transition spd="slow">
    <p:checke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1989138"/>
            <a:ext cx="7775575" cy="33115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5.6.2  </a:t>
            </a:r>
            <a:r>
              <a:rPr lang="zh-CN" altLang="zh-CN" dirty="0">
                <a:effectLst/>
              </a:rPr>
              <a:t>内嵌表值函数：</a:t>
            </a:r>
            <a:r>
              <a:rPr lang="en-US" altLang="zh-CN" dirty="0">
                <a:effectLst/>
              </a:rPr>
              <a:t>FROM</a:t>
            </a:r>
            <a:r>
              <a:rPr lang="zh-CN" altLang="zh-CN" dirty="0">
                <a:effectLst/>
              </a:rPr>
              <a:t>表</a:t>
            </a:r>
            <a:r>
              <a:rPr lang="en-US" altLang="zh-CN" dirty="0">
                <a:effectLst/>
              </a:rPr>
              <a:t>(…)</a:t>
            </a:r>
            <a:endParaRPr lang="zh-CN" altLang="en-US" dirty="0"/>
          </a:p>
        </p:txBody>
      </p:sp>
      <p:sp>
        <p:nvSpPr>
          <p:cNvPr id="83972" name="TextBox 2"/>
          <p:cNvSpPr txBox="1">
            <a:spLocks noChangeArrowheads="1"/>
          </p:cNvSpPr>
          <p:nvPr/>
        </p:nvSpPr>
        <p:spPr bwMode="auto">
          <a:xfrm>
            <a:off x="468313" y="1412875"/>
            <a:ext cx="8207375"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b="1"/>
              <a:t>视图不支持在</a:t>
            </a:r>
            <a:r>
              <a:rPr lang="en-US" altLang="zh-CN" b="1"/>
              <a:t>WHERE</a:t>
            </a:r>
            <a:r>
              <a:rPr lang="zh-CN" altLang="zh-CN" b="1"/>
              <a:t>子句中指定搜索条件参数，为解决这一问题，我们可使用内嵌用户定义函数，脚本如下：</a:t>
            </a:r>
            <a:endParaRPr lang="zh-CN" altLang="zh-CN" b="1"/>
          </a:p>
          <a:p>
            <a:pPr eaLnBrk="1" hangingPunct="1"/>
            <a:r>
              <a:rPr lang="en-US" altLang="zh-CN" b="1"/>
              <a:t>/*</a:t>
            </a:r>
            <a:r>
              <a:rPr lang="zh-CN" altLang="zh-CN" b="1"/>
              <a:t>内嵌函数的定义</a:t>
            </a:r>
            <a:r>
              <a:rPr lang="en-US" altLang="zh-CN" b="1"/>
              <a:t>*/</a:t>
            </a:r>
            <a:endParaRPr lang="zh-CN" altLang="zh-CN" b="1"/>
          </a:p>
          <a:p>
            <a:pPr eaLnBrk="1" hangingPunct="1"/>
            <a:r>
              <a:rPr lang="en-US" altLang="zh-CN" b="1"/>
              <a:t>CREATE FUNCTION fun_view1( @para nvarchar(30) )  RETURNS table</a:t>
            </a:r>
            <a:endParaRPr lang="zh-CN" altLang="zh-CN" b="1"/>
          </a:p>
          <a:p>
            <a:pPr eaLnBrk="1" hangingPunct="1"/>
            <a:r>
              <a:rPr lang="en-US" altLang="zh-CN" b="1"/>
              <a:t>AS  RETURN</a:t>
            </a:r>
            <a:endParaRPr lang="zh-CN" altLang="zh-CN" b="1"/>
          </a:p>
          <a:p>
            <a:pPr eaLnBrk="1" hangingPunct="1"/>
            <a:r>
              <a:rPr lang="en-US" altLang="zh-CN" b="1"/>
              <a:t>(</a:t>
            </a:r>
            <a:endParaRPr lang="zh-CN" altLang="zh-CN" b="1"/>
          </a:p>
          <a:p>
            <a:pPr eaLnBrk="1" hangingPunct="1"/>
            <a:r>
              <a:rPr lang="en-US" altLang="zh-CN" b="1"/>
              <a:t>     SELECT</a:t>
            </a:r>
            <a:r>
              <a:rPr lang="zh-CN" altLang="zh-CN" b="1"/>
              <a:t>学号</a:t>
            </a:r>
            <a:r>
              <a:rPr lang="en-US" altLang="zh-CN" b="1"/>
              <a:t>, </a:t>
            </a:r>
            <a:r>
              <a:rPr lang="zh-CN" altLang="zh-CN" b="1"/>
              <a:t>姓名</a:t>
            </a:r>
            <a:endParaRPr lang="zh-CN" altLang="zh-CN" b="1"/>
          </a:p>
          <a:p>
            <a:pPr eaLnBrk="1" hangingPunct="1"/>
            <a:r>
              <a:rPr lang="en-US" altLang="zh-CN" b="1"/>
              <a:t>          FROM   pxscj.dbo.xsb</a:t>
            </a:r>
            <a:endParaRPr lang="zh-CN" altLang="zh-CN" b="1"/>
          </a:p>
          <a:p>
            <a:pPr eaLnBrk="1" hangingPunct="1"/>
            <a:r>
              <a:rPr lang="en-US" altLang="zh-CN" b="1"/>
              <a:t>          WHERE  </a:t>
            </a:r>
            <a:r>
              <a:rPr lang="zh-CN" altLang="zh-CN" b="1"/>
              <a:t>专业</a:t>
            </a:r>
            <a:r>
              <a:rPr lang="en-US" altLang="zh-CN" b="1"/>
              <a:t>= @para</a:t>
            </a:r>
            <a:endParaRPr lang="zh-CN" altLang="zh-CN" b="1"/>
          </a:p>
          <a:p>
            <a:pPr eaLnBrk="1" hangingPunct="1"/>
            <a:r>
              <a:rPr lang="en-US" altLang="zh-CN" b="1"/>
              <a:t>)</a:t>
            </a:r>
            <a:endParaRPr lang="zh-CN" altLang="zh-CN" b="1"/>
          </a:p>
          <a:p>
            <a:pPr eaLnBrk="1" hangingPunct="1"/>
            <a:r>
              <a:rPr lang="en-US" altLang="zh-CN" b="1"/>
              <a:t>GO</a:t>
            </a:r>
            <a:endParaRPr lang="zh-CN" altLang="zh-CN" b="1"/>
          </a:p>
          <a:p>
            <a:pPr eaLnBrk="1" hangingPunct="1"/>
            <a:r>
              <a:rPr lang="en-US" altLang="zh-CN" b="1"/>
              <a:t>/*</a:t>
            </a:r>
            <a:r>
              <a:rPr lang="zh-CN" altLang="zh-CN" b="1"/>
              <a:t>内嵌函数的调用</a:t>
            </a:r>
            <a:r>
              <a:rPr lang="en-US" altLang="zh-CN" b="1"/>
              <a:t>*/</a:t>
            </a:r>
            <a:endParaRPr lang="zh-CN" altLang="zh-CN" b="1"/>
          </a:p>
          <a:p>
            <a:pPr eaLnBrk="1" hangingPunct="1"/>
            <a:r>
              <a:rPr lang="en-US" altLang="zh-CN" b="1"/>
              <a:t>SELECT  *</a:t>
            </a:r>
            <a:endParaRPr lang="zh-CN" altLang="zh-CN" b="1"/>
          </a:p>
          <a:p>
            <a:pPr eaLnBrk="1" hangingPunct="1"/>
            <a:r>
              <a:rPr lang="en-US" altLang="zh-CN" b="1"/>
              <a:t>     FROM fun_view1 ('</a:t>
            </a:r>
            <a:r>
              <a:rPr lang="zh-CN" altLang="zh-CN" b="1"/>
              <a:t>计算机</a:t>
            </a:r>
            <a:r>
              <a:rPr lang="en-US" altLang="zh-CN" b="1"/>
              <a:t>')</a:t>
            </a:r>
            <a:endParaRPr lang="zh-CN" altLang="zh-CN" b="1"/>
          </a:p>
          <a:p>
            <a:pPr eaLnBrk="1" fontAlgn="ctr" hangingPunct="1"/>
            <a:r>
              <a:rPr lang="zh-CN" altLang="zh-CN" b="1"/>
              <a:t>执行结果如图</a:t>
            </a:r>
            <a:r>
              <a:rPr lang="en-US" altLang="zh-CN" b="1"/>
              <a:t>5.15</a:t>
            </a:r>
            <a:r>
              <a:rPr lang="zh-CN" altLang="zh-CN" b="1"/>
              <a:t>所示。</a:t>
            </a:r>
            <a:endParaRPr lang="zh-CN" altLang="zh-CN" b="1"/>
          </a:p>
          <a:p>
            <a:pPr eaLnBrk="1" hangingPunct="1"/>
            <a:endParaRPr lang="zh-CN" altLang="en-US" b="1"/>
          </a:p>
        </p:txBody>
      </p:sp>
      <p:pic>
        <p:nvPicPr>
          <p:cNvPr id="8397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235825" y="2811463"/>
            <a:ext cx="1368425" cy="249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2060575"/>
            <a:ext cx="7848600" cy="17287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5.6.2  </a:t>
            </a:r>
            <a:r>
              <a:rPr lang="zh-CN" altLang="zh-CN" dirty="0">
                <a:effectLst/>
              </a:rPr>
              <a:t>内嵌表值函数：</a:t>
            </a:r>
            <a:r>
              <a:rPr lang="en-US" altLang="zh-CN" dirty="0">
                <a:effectLst/>
              </a:rPr>
              <a:t>FROM</a:t>
            </a:r>
            <a:r>
              <a:rPr lang="zh-CN" altLang="zh-CN" dirty="0">
                <a:effectLst/>
              </a:rPr>
              <a:t>表</a:t>
            </a:r>
            <a:r>
              <a:rPr lang="en-US" altLang="zh-CN" dirty="0">
                <a:effectLst/>
              </a:rPr>
              <a:t>(…)</a:t>
            </a:r>
            <a:endParaRPr lang="zh-CN" altLang="en-US" dirty="0"/>
          </a:p>
        </p:txBody>
      </p:sp>
      <p:sp>
        <p:nvSpPr>
          <p:cNvPr id="84996" name="TextBox 2"/>
          <p:cNvSpPr txBox="1">
            <a:spLocks noChangeArrowheads="1"/>
          </p:cNvSpPr>
          <p:nvPr/>
        </p:nvSpPr>
        <p:spPr bwMode="auto">
          <a:xfrm>
            <a:off x="468313" y="1484313"/>
            <a:ext cx="8280400"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397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1</a:t>
            </a:r>
            <a:r>
              <a:rPr lang="zh-CN" altLang="zh-CN" b="1">
                <a:solidFill>
                  <a:srgbClr val="C00000"/>
                </a:solidFill>
              </a:rPr>
              <a:t>．内嵌表值函数的定义</a:t>
            </a:r>
            <a:endParaRPr lang="zh-CN" altLang="zh-CN" b="1">
              <a:solidFill>
                <a:srgbClr val="C00000"/>
              </a:solidFill>
            </a:endParaRPr>
          </a:p>
          <a:p>
            <a:pPr eaLnBrk="1" fontAlgn="ctr" hangingPunct="1"/>
            <a:r>
              <a:rPr lang="zh-CN" altLang="zh-CN" b="1"/>
              <a:t>语法格式：</a:t>
            </a:r>
            <a:endParaRPr lang="zh-CN" altLang="zh-CN" b="1"/>
          </a:p>
          <a:p>
            <a:pPr eaLnBrk="1" hangingPunct="1"/>
            <a:r>
              <a:rPr lang="en-US" altLang="zh-CN" sz="1600" b="1"/>
              <a:t>CREATE FUNCTION [</a:t>
            </a:r>
            <a:r>
              <a:rPr lang="zh-CN" altLang="zh-CN" sz="1600" b="1"/>
              <a:t>架构名</a:t>
            </a:r>
            <a:r>
              <a:rPr lang="en-US" altLang="zh-CN" sz="1600" b="1"/>
              <a:t>. ]</a:t>
            </a:r>
            <a:r>
              <a:rPr lang="zh-CN" altLang="zh-CN" sz="1600" b="1"/>
              <a:t>函数名</a:t>
            </a:r>
            <a:r>
              <a:rPr lang="en-US" altLang="zh-CN" sz="1600" b="1"/>
              <a:t>			/*</a:t>
            </a:r>
            <a:r>
              <a:rPr lang="zh-CN" altLang="zh-CN" sz="1600" b="1"/>
              <a:t>定义函数名部分</a:t>
            </a:r>
            <a:r>
              <a:rPr lang="en-US" altLang="zh-CN" sz="1600" b="1"/>
              <a:t>*/</a:t>
            </a:r>
            <a:endParaRPr lang="zh-CN" altLang="zh-CN" sz="1600" b="1"/>
          </a:p>
          <a:p>
            <a:pPr eaLnBrk="1" hangingPunct="1"/>
            <a:r>
              <a:rPr lang="en-US" altLang="zh-CN" sz="1600" b="1"/>
              <a:t>( [ { @</a:t>
            </a:r>
            <a:r>
              <a:rPr lang="zh-CN" altLang="zh-CN" sz="1600" b="1"/>
              <a:t>参数名</a:t>
            </a:r>
            <a:r>
              <a:rPr lang="en-US" altLang="zh-CN" sz="1600" b="1"/>
              <a:t> [ AS ] [</a:t>
            </a:r>
            <a:r>
              <a:rPr lang="zh-CN" altLang="zh-CN" sz="1600" b="1"/>
              <a:t>类型架构名</a:t>
            </a:r>
            <a:r>
              <a:rPr lang="en-US" altLang="zh-CN" sz="1600" b="1"/>
              <a:t>. ] </a:t>
            </a:r>
            <a:r>
              <a:rPr lang="zh-CN" altLang="zh-CN" sz="1600" b="1"/>
              <a:t>参数数据类型</a:t>
            </a:r>
            <a:r>
              <a:rPr lang="en-US" altLang="zh-CN" sz="1600" b="1"/>
              <a:t>[ = </a:t>
            </a:r>
            <a:r>
              <a:rPr lang="zh-CN" altLang="zh-CN" sz="1600" b="1"/>
              <a:t>默认</a:t>
            </a:r>
            <a:r>
              <a:rPr lang="en-US" altLang="zh-CN" sz="1600" b="1"/>
              <a:t>] } [ ,... ] ])</a:t>
            </a:r>
            <a:endParaRPr lang="zh-CN" altLang="zh-CN" sz="1600" b="1"/>
          </a:p>
          <a:p>
            <a:pPr eaLnBrk="1" hangingPunct="1"/>
            <a:r>
              <a:rPr lang="en-US" altLang="zh-CN" sz="1600" b="1"/>
              <a:t>						/*</a:t>
            </a:r>
            <a:r>
              <a:rPr lang="zh-CN" altLang="zh-CN" sz="1600" b="1"/>
              <a:t>定义参数部分</a:t>
            </a:r>
            <a:r>
              <a:rPr lang="en-US" altLang="zh-CN" sz="1600" b="1"/>
              <a:t>*/</a:t>
            </a:r>
            <a:endParaRPr lang="zh-CN" altLang="zh-CN" sz="1600" b="1"/>
          </a:p>
          <a:p>
            <a:pPr eaLnBrk="1" hangingPunct="1"/>
            <a:r>
              <a:rPr lang="en-US" altLang="zh-CN" sz="1600" b="1"/>
              <a:t>RETURNS TABLE				/*</a:t>
            </a:r>
            <a:r>
              <a:rPr lang="zh-CN" altLang="zh-CN" sz="1600" b="1"/>
              <a:t>返回值为表类型</a:t>
            </a:r>
            <a:r>
              <a:rPr lang="en-US" altLang="zh-CN" sz="1600" b="1"/>
              <a:t>*/</a:t>
            </a:r>
            <a:endParaRPr lang="zh-CN" altLang="zh-CN" sz="1600" b="1"/>
          </a:p>
          <a:p>
            <a:pPr eaLnBrk="1" hangingPunct="1"/>
            <a:r>
              <a:rPr lang="en-US" altLang="zh-CN" sz="1600" b="1"/>
              <a:t>[ WITH &lt;</a:t>
            </a:r>
            <a:r>
              <a:rPr lang="zh-CN" altLang="zh-CN" sz="1600" b="1"/>
              <a:t>函数选项</a:t>
            </a:r>
            <a:r>
              <a:rPr lang="en-US" altLang="zh-CN" sz="1600" b="1"/>
              <a:t>&gt; [ , ... ] ]			/*</a:t>
            </a:r>
            <a:r>
              <a:rPr lang="zh-CN" altLang="zh-CN" sz="1600" b="1"/>
              <a:t>定义函数的可选项</a:t>
            </a:r>
            <a:r>
              <a:rPr lang="en-US" altLang="zh-CN" sz="1600" b="1"/>
              <a:t>*/</a:t>
            </a:r>
            <a:endParaRPr lang="zh-CN" altLang="zh-CN" sz="1600" b="1"/>
          </a:p>
          <a:p>
            <a:pPr eaLnBrk="1" hangingPunct="1"/>
            <a:r>
              <a:rPr lang="en-US" altLang="zh-CN" sz="1600" b="1"/>
              <a:t>    [ AS ]</a:t>
            </a:r>
            <a:endParaRPr lang="zh-CN" altLang="zh-CN" sz="1600" b="1"/>
          </a:p>
          <a:p>
            <a:pPr eaLnBrk="1" hangingPunct="1"/>
            <a:r>
              <a:rPr lang="en-US" altLang="zh-CN" sz="1600" b="1"/>
              <a:t>RETURN [ ( ] select-stmt [ ) ]		/*</a:t>
            </a:r>
            <a:r>
              <a:rPr lang="zh-CN" altLang="zh-CN" sz="1600" b="1"/>
              <a:t>通过</a:t>
            </a:r>
            <a:r>
              <a:rPr lang="en-US" altLang="zh-CN" sz="1600" b="1"/>
              <a:t>SELECT</a:t>
            </a:r>
            <a:r>
              <a:rPr lang="zh-CN" altLang="zh-CN" sz="1600" b="1"/>
              <a:t>语句返回内嵌表</a:t>
            </a:r>
            <a:r>
              <a:rPr lang="en-US" altLang="zh-CN" sz="1600" b="1"/>
              <a:t>*/</a:t>
            </a:r>
            <a:endParaRPr lang="zh-CN" altLang="zh-CN" sz="1600" b="1"/>
          </a:p>
          <a:p>
            <a:pPr eaLnBrk="1" hangingPunct="1"/>
            <a:r>
              <a:rPr lang="en-US" altLang="zh-CN" b="1"/>
              <a:t>RETURNS</a:t>
            </a:r>
            <a:r>
              <a:rPr lang="zh-CN" altLang="zh-CN" b="1"/>
              <a:t>子句仅包含关键字</a:t>
            </a:r>
            <a:r>
              <a:rPr lang="en-US" altLang="zh-CN" b="1"/>
              <a:t>TABLE</a:t>
            </a:r>
            <a:r>
              <a:rPr lang="zh-CN" altLang="zh-CN" b="1"/>
              <a:t>，表示此函数返回一个表。</a:t>
            </a:r>
            <a:endParaRPr lang="zh-CN" altLang="en-US" b="1"/>
          </a:p>
        </p:txBody>
      </p:sp>
    </p:spTree>
  </p:cSld>
  <p:clrMapOvr>
    <a:masterClrMapping/>
  </p:clrMapOvr>
  <p:transition spd="slow">
    <p:checke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2997200"/>
            <a:ext cx="7848600" cy="22320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5.6.2  </a:t>
            </a:r>
            <a:r>
              <a:rPr lang="zh-CN" altLang="zh-CN" dirty="0">
                <a:effectLst/>
              </a:rPr>
              <a:t>内嵌表值函数：</a:t>
            </a:r>
            <a:r>
              <a:rPr lang="en-US" altLang="zh-CN" dirty="0">
                <a:effectLst/>
              </a:rPr>
              <a:t>FROM</a:t>
            </a:r>
            <a:r>
              <a:rPr lang="zh-CN" altLang="zh-CN" dirty="0">
                <a:effectLst/>
              </a:rPr>
              <a:t>表</a:t>
            </a:r>
            <a:r>
              <a:rPr lang="en-US" altLang="zh-CN" dirty="0">
                <a:effectLst/>
              </a:rPr>
              <a:t>(…)</a:t>
            </a:r>
            <a:endParaRPr lang="zh-CN" altLang="en-US" dirty="0"/>
          </a:p>
        </p:txBody>
      </p:sp>
      <p:sp>
        <p:nvSpPr>
          <p:cNvPr id="86020" name="TextBox 2"/>
          <p:cNvSpPr txBox="1">
            <a:spLocks noChangeArrowheads="1"/>
          </p:cNvSpPr>
          <p:nvPr/>
        </p:nvSpPr>
        <p:spPr bwMode="auto">
          <a:xfrm>
            <a:off x="468313" y="1341438"/>
            <a:ext cx="8207375" cy="424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2</a:t>
            </a:r>
            <a:r>
              <a:rPr lang="zh-CN" altLang="zh-CN" b="1">
                <a:solidFill>
                  <a:srgbClr val="C00000"/>
                </a:solidFill>
              </a:rPr>
              <a:t>．内嵌表值函数的调用</a:t>
            </a:r>
            <a:endParaRPr lang="zh-CN" altLang="zh-CN" b="1">
              <a:solidFill>
                <a:srgbClr val="C00000"/>
              </a:solidFill>
            </a:endParaRPr>
          </a:p>
          <a:p>
            <a:pPr eaLnBrk="1" fontAlgn="ctr" hangingPunct="1"/>
            <a:r>
              <a:rPr lang="zh-CN" altLang="zh-CN" b="1"/>
              <a:t>在此，以前面定义的</a:t>
            </a:r>
            <a:r>
              <a:rPr lang="en-US" altLang="zh-CN" b="1"/>
              <a:t>st_score()</a:t>
            </a:r>
            <a:r>
              <a:rPr lang="zh-CN" altLang="zh-CN" b="1"/>
              <a:t>内嵌表值函数的调用作为应用举例，学生通过输入学号调用内嵌函数查询其成绩。</a:t>
            </a:r>
            <a:endParaRPr lang="zh-CN" altLang="zh-CN" b="1"/>
          </a:p>
          <a:p>
            <a:pPr eaLnBrk="1" fontAlgn="ctr" hangingPunct="1"/>
            <a:r>
              <a:rPr lang="zh-CN" altLang="zh-CN" b="1"/>
              <a:t>【例</a:t>
            </a:r>
            <a:r>
              <a:rPr lang="en-US" altLang="zh-CN" b="1"/>
              <a:t>5.29</a:t>
            </a:r>
            <a:r>
              <a:rPr lang="zh-CN" altLang="zh-CN" b="1"/>
              <a:t>】 对于</a:t>
            </a:r>
            <a:r>
              <a:rPr lang="en-US" altLang="zh-CN" b="1"/>
              <a:t>pxscj</a:t>
            </a:r>
            <a:r>
              <a:rPr lang="zh-CN" altLang="zh-CN" b="1"/>
              <a:t>数据库，利用</a:t>
            </a:r>
            <a:r>
              <a:rPr lang="en-US" altLang="zh-CN" b="1"/>
              <a:t>xsb</a:t>
            </a:r>
            <a:r>
              <a:rPr lang="zh-CN" altLang="zh-CN" b="1"/>
              <a:t>、</a:t>
            </a:r>
            <a:r>
              <a:rPr lang="en-US" altLang="zh-CN" b="1"/>
              <a:t>kcb</a:t>
            </a:r>
            <a:r>
              <a:rPr lang="zh-CN" altLang="zh-CN" b="1"/>
              <a:t>、</a:t>
            </a:r>
            <a:r>
              <a:rPr lang="en-US" altLang="zh-CN" b="1"/>
              <a:t>cjb 3</a:t>
            </a:r>
            <a:r>
              <a:rPr lang="zh-CN" altLang="zh-CN" b="1"/>
              <a:t>个表创建视图，让学生查询其各科成绩及学分。</a:t>
            </a:r>
            <a:endParaRPr lang="zh-CN" altLang="zh-CN" b="1"/>
          </a:p>
          <a:p>
            <a:pPr eaLnBrk="1" fontAlgn="ctr" hangingPunct="1"/>
            <a:r>
              <a:rPr lang="zh-CN" altLang="zh-CN" b="1"/>
              <a:t>（</a:t>
            </a:r>
            <a:r>
              <a:rPr lang="en-US" altLang="zh-CN" b="1"/>
              <a:t>1</a:t>
            </a:r>
            <a:r>
              <a:rPr lang="zh-CN" altLang="zh-CN" b="1"/>
              <a:t>）创建视图</a:t>
            </a:r>
            <a:endParaRPr lang="zh-CN" altLang="zh-CN" b="1"/>
          </a:p>
          <a:p>
            <a:pPr eaLnBrk="1" hangingPunct="1"/>
            <a:r>
              <a:rPr lang="en-US" altLang="zh-CN" b="1"/>
              <a:t>USE pxscj</a:t>
            </a:r>
            <a:endParaRPr lang="zh-CN" altLang="zh-CN" b="1"/>
          </a:p>
          <a:p>
            <a:pPr eaLnBrk="1" hangingPunct="1"/>
            <a:r>
              <a:rPr lang="en-US" altLang="zh-CN" b="1"/>
              <a:t>GO</a:t>
            </a:r>
            <a:endParaRPr lang="zh-CN" altLang="zh-CN" b="1"/>
          </a:p>
          <a:p>
            <a:pPr eaLnBrk="1" hangingPunct="1"/>
            <a:r>
              <a:rPr lang="en-US" altLang="zh-CN" b="1"/>
              <a:t>CREATE VIEW xsv</a:t>
            </a:r>
            <a:endParaRPr lang="zh-CN" altLang="zh-CN" b="1"/>
          </a:p>
          <a:p>
            <a:pPr eaLnBrk="1" hangingPunct="1"/>
            <a:r>
              <a:rPr lang="en-US" altLang="zh-CN" b="1"/>
              <a:t>     AS</a:t>
            </a:r>
            <a:endParaRPr lang="zh-CN" altLang="zh-CN" b="1"/>
          </a:p>
          <a:p>
            <a:pPr eaLnBrk="1" hangingPunct="1"/>
            <a:r>
              <a:rPr lang="en-US" altLang="zh-CN" b="1"/>
              <a:t>     SELECT dbo.xsb.</a:t>
            </a:r>
            <a:r>
              <a:rPr lang="zh-CN" altLang="zh-CN" b="1"/>
              <a:t>学号</a:t>
            </a:r>
            <a:r>
              <a:rPr lang="en-US" altLang="zh-CN" b="1"/>
              <a:t>, dbo.xsb.</a:t>
            </a:r>
            <a:r>
              <a:rPr lang="zh-CN" altLang="zh-CN" b="1"/>
              <a:t>姓名</a:t>
            </a:r>
            <a:r>
              <a:rPr lang="en-US" altLang="zh-CN" b="1"/>
              <a:t>, dbo.kcb.</a:t>
            </a:r>
            <a:r>
              <a:rPr lang="zh-CN" altLang="zh-CN" b="1"/>
              <a:t>课程名</a:t>
            </a:r>
            <a:r>
              <a:rPr lang="en-US" altLang="zh-CN" b="1"/>
              <a:t>, dbo.cjb.</a:t>
            </a:r>
            <a:r>
              <a:rPr lang="zh-CN" altLang="zh-CN" b="1"/>
              <a:t>成绩</a:t>
            </a:r>
            <a:r>
              <a:rPr lang="en-US" altLang="zh-CN" b="1"/>
              <a:t> </a:t>
            </a:r>
            <a:endParaRPr lang="zh-CN" altLang="zh-CN" b="1"/>
          </a:p>
          <a:p>
            <a:pPr eaLnBrk="1" hangingPunct="1"/>
            <a:r>
              <a:rPr lang="en-US" altLang="zh-CN" b="1"/>
              <a:t>          FROM  dbo.kcb  </a:t>
            </a:r>
            <a:endParaRPr lang="zh-CN" altLang="zh-CN" b="1"/>
          </a:p>
          <a:p>
            <a:pPr eaLnBrk="1" hangingPunct="1"/>
            <a:r>
              <a:rPr lang="en-US" altLang="zh-CN" b="1"/>
              <a:t>               INNER JOIN  dbo.cjb ON dbo.kcb.</a:t>
            </a:r>
            <a:r>
              <a:rPr lang="zh-CN" altLang="zh-CN" b="1"/>
              <a:t>课程号</a:t>
            </a:r>
            <a:r>
              <a:rPr lang="en-US" altLang="zh-CN" b="1"/>
              <a:t> = dbo.cjb.</a:t>
            </a:r>
            <a:r>
              <a:rPr lang="zh-CN" altLang="zh-CN" b="1"/>
              <a:t>课程号</a:t>
            </a:r>
            <a:r>
              <a:rPr lang="en-US" altLang="zh-CN" b="1"/>
              <a:t> </a:t>
            </a:r>
            <a:endParaRPr lang="zh-CN" altLang="zh-CN" b="1"/>
          </a:p>
          <a:p>
            <a:pPr eaLnBrk="1" hangingPunct="1"/>
            <a:r>
              <a:rPr lang="en-US" altLang="zh-CN" b="1"/>
              <a:t>               INNER JOIN dbo.xsb ON dbo.cjb.</a:t>
            </a:r>
            <a:r>
              <a:rPr lang="zh-CN" altLang="zh-CN" b="1"/>
              <a:t>学号</a:t>
            </a:r>
            <a:r>
              <a:rPr lang="en-US" altLang="zh-CN" b="1"/>
              <a:t> = dbo.xsb.</a:t>
            </a:r>
            <a:r>
              <a:rPr lang="zh-CN" altLang="zh-CN" b="1"/>
              <a:t>学号</a:t>
            </a:r>
            <a:endParaRPr lang="zh-CN" altLang="zh-CN" b="1"/>
          </a:p>
          <a:p>
            <a:pPr eaLnBrk="1" hangingPunct="1"/>
            <a:endParaRPr lang="zh-CN" altLang="en-US" b="1"/>
          </a:p>
        </p:txBody>
      </p:sp>
    </p:spTree>
  </p:cSld>
  <p:clrMapOvr>
    <a:masterClrMapping/>
  </p:clrMapOvr>
  <p:transition spd="slow">
    <p:pull/>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4327525"/>
            <a:ext cx="7704137" cy="5762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1844675"/>
            <a:ext cx="7704137" cy="19446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5.6.2  </a:t>
            </a:r>
            <a:r>
              <a:rPr lang="zh-CN" altLang="zh-CN" dirty="0">
                <a:effectLst/>
              </a:rPr>
              <a:t>内嵌表值函数：</a:t>
            </a:r>
            <a:r>
              <a:rPr lang="en-US" altLang="zh-CN" dirty="0">
                <a:effectLst/>
              </a:rPr>
              <a:t>FROM</a:t>
            </a:r>
            <a:r>
              <a:rPr lang="zh-CN" altLang="zh-CN" dirty="0">
                <a:effectLst/>
              </a:rPr>
              <a:t>表</a:t>
            </a:r>
            <a:r>
              <a:rPr lang="en-US" altLang="zh-CN" dirty="0">
                <a:effectLst/>
              </a:rPr>
              <a:t>(…)</a:t>
            </a:r>
            <a:endParaRPr lang="zh-CN" altLang="en-US" dirty="0"/>
          </a:p>
        </p:txBody>
      </p:sp>
      <p:sp>
        <p:nvSpPr>
          <p:cNvPr id="87045" name="TextBox 2"/>
          <p:cNvSpPr txBox="1">
            <a:spLocks noChangeArrowheads="1"/>
          </p:cNvSpPr>
          <p:nvPr/>
        </p:nvSpPr>
        <p:spPr bwMode="auto">
          <a:xfrm>
            <a:off x="468313" y="1557338"/>
            <a:ext cx="8135937"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b="1"/>
              <a:t>（</a:t>
            </a:r>
            <a:r>
              <a:rPr lang="en-US" altLang="zh-CN" b="1"/>
              <a:t>2</a:t>
            </a:r>
            <a:r>
              <a:rPr lang="zh-CN" altLang="zh-CN" b="1"/>
              <a:t>）定义内嵌函数</a:t>
            </a:r>
            <a:endParaRPr lang="zh-CN" altLang="zh-CN" b="1"/>
          </a:p>
          <a:p>
            <a:pPr eaLnBrk="1" hangingPunct="1"/>
            <a:r>
              <a:rPr lang="en-US" altLang="zh-CN" b="1"/>
              <a:t>CREATE FUNCTION student_score(@id char(6))  RETURNS table</a:t>
            </a:r>
            <a:endParaRPr lang="zh-CN" altLang="zh-CN" b="1"/>
          </a:p>
          <a:p>
            <a:pPr eaLnBrk="1" hangingPunct="1"/>
            <a:r>
              <a:rPr lang="en-US" altLang="zh-CN" b="1"/>
              <a:t>     AS RETURN</a:t>
            </a:r>
            <a:endParaRPr lang="zh-CN" altLang="zh-CN" b="1"/>
          </a:p>
          <a:p>
            <a:pPr eaLnBrk="1" hangingPunct="1"/>
            <a:r>
              <a:rPr lang="en-US" altLang="zh-CN" b="1"/>
              <a:t>      (</a:t>
            </a:r>
            <a:endParaRPr lang="zh-CN" altLang="zh-CN" b="1"/>
          </a:p>
          <a:p>
            <a:pPr eaLnBrk="1" hangingPunct="1"/>
            <a:r>
              <a:rPr lang="en-US" altLang="zh-CN" b="1"/>
              <a:t>          SELECT  *</a:t>
            </a:r>
            <a:endParaRPr lang="zh-CN" altLang="zh-CN" b="1"/>
          </a:p>
          <a:p>
            <a:pPr eaLnBrk="1" hangingPunct="1"/>
            <a:r>
              <a:rPr lang="en-US" altLang="zh-CN" b="1"/>
              <a:t>               FROM  pxscj.dbo.xsv</a:t>
            </a:r>
            <a:endParaRPr lang="zh-CN" altLang="zh-CN" b="1"/>
          </a:p>
          <a:p>
            <a:pPr eaLnBrk="1" hangingPunct="1"/>
            <a:r>
              <a:rPr lang="en-US" altLang="zh-CN" b="1"/>
              <a:t>               WHERE dbo. xsv.</a:t>
            </a:r>
            <a:r>
              <a:rPr lang="zh-CN" altLang="zh-CN" b="1"/>
              <a:t>学号</a:t>
            </a:r>
            <a:r>
              <a:rPr lang="en-US" altLang="zh-CN" b="1"/>
              <a:t>= @id</a:t>
            </a:r>
            <a:endParaRPr lang="zh-CN" altLang="zh-CN" b="1"/>
          </a:p>
          <a:p>
            <a:pPr eaLnBrk="1" hangingPunct="1"/>
            <a:r>
              <a:rPr lang="en-US" altLang="zh-CN" b="1"/>
              <a:t>     )</a:t>
            </a:r>
            <a:endParaRPr lang="zh-CN" altLang="zh-CN" b="1"/>
          </a:p>
          <a:p>
            <a:pPr eaLnBrk="1" fontAlgn="ctr" hangingPunct="1"/>
            <a:r>
              <a:rPr lang="zh-CN" altLang="zh-CN" b="1"/>
              <a:t>（</a:t>
            </a:r>
            <a:r>
              <a:rPr lang="en-US" altLang="zh-CN" b="1"/>
              <a:t>3</a:t>
            </a:r>
            <a:r>
              <a:rPr lang="zh-CN" altLang="zh-CN" b="1"/>
              <a:t>）调用内嵌函数</a:t>
            </a:r>
            <a:endParaRPr lang="zh-CN" altLang="zh-CN" b="1"/>
          </a:p>
          <a:p>
            <a:pPr eaLnBrk="1" fontAlgn="ctr" hangingPunct="1"/>
            <a:r>
              <a:rPr lang="zh-CN" altLang="zh-CN" b="1"/>
              <a:t>查询学号为</a:t>
            </a:r>
            <a:r>
              <a:rPr lang="en-US" altLang="zh-CN" b="1"/>
              <a:t>191301</a:t>
            </a:r>
            <a:r>
              <a:rPr lang="zh-CN" altLang="zh-CN" b="1"/>
              <a:t>的学生的各科成绩及学分：</a:t>
            </a:r>
            <a:endParaRPr lang="zh-CN" altLang="zh-CN" b="1"/>
          </a:p>
          <a:p>
            <a:pPr eaLnBrk="1" hangingPunct="1"/>
            <a:r>
              <a:rPr lang="en-US" altLang="zh-CN" b="1"/>
              <a:t>SELECT  *</a:t>
            </a:r>
            <a:endParaRPr lang="zh-CN" altLang="zh-CN" b="1"/>
          </a:p>
          <a:p>
            <a:pPr eaLnBrk="1" hangingPunct="1"/>
            <a:r>
              <a:rPr lang="en-US" altLang="zh-CN" b="1"/>
              <a:t>     FROM  pxscj.[dbo].student_score('191301') </a:t>
            </a:r>
            <a:endParaRPr lang="zh-CN" altLang="zh-CN" b="1"/>
          </a:p>
          <a:p>
            <a:pPr eaLnBrk="1" hangingPunct="1"/>
            <a:r>
              <a:rPr lang="zh-CN" altLang="zh-CN" b="1"/>
              <a:t>执行结果如图</a:t>
            </a:r>
            <a:r>
              <a:rPr lang="en-US" altLang="zh-CN" b="1"/>
              <a:t>5.16</a:t>
            </a:r>
            <a:r>
              <a:rPr lang="zh-CN" altLang="zh-CN" b="1"/>
              <a:t>所示。 </a:t>
            </a:r>
            <a:endParaRPr lang="zh-CN" altLang="en-US" b="1"/>
          </a:p>
        </p:txBody>
      </p:sp>
      <p:pic>
        <p:nvPicPr>
          <p:cNvPr id="870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92500" y="5184775"/>
            <a:ext cx="2663825"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hecke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5288" y="2276475"/>
            <a:ext cx="8280400" cy="2447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5.6.2  </a:t>
            </a:r>
            <a:r>
              <a:rPr lang="zh-CN" altLang="zh-CN" dirty="0">
                <a:effectLst/>
              </a:rPr>
              <a:t>内嵌表值函数：</a:t>
            </a:r>
            <a:r>
              <a:rPr lang="en-US" altLang="zh-CN" dirty="0">
                <a:effectLst/>
              </a:rPr>
              <a:t>FROM</a:t>
            </a:r>
            <a:r>
              <a:rPr lang="zh-CN" altLang="zh-CN" dirty="0">
                <a:effectLst/>
              </a:rPr>
              <a:t>表</a:t>
            </a:r>
            <a:r>
              <a:rPr lang="en-US" altLang="zh-CN" dirty="0">
                <a:effectLst/>
              </a:rPr>
              <a:t>(…)</a:t>
            </a:r>
            <a:endParaRPr lang="zh-CN" altLang="en-US" dirty="0"/>
          </a:p>
        </p:txBody>
      </p:sp>
      <p:sp>
        <p:nvSpPr>
          <p:cNvPr id="88068" name="TextBox 2"/>
          <p:cNvSpPr txBox="1">
            <a:spLocks noChangeArrowheads="1"/>
          </p:cNvSpPr>
          <p:nvPr/>
        </p:nvSpPr>
        <p:spPr bwMode="auto">
          <a:xfrm>
            <a:off x="395288" y="1412875"/>
            <a:ext cx="8280400" cy="363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3</a:t>
            </a:r>
            <a:r>
              <a:rPr lang="zh-CN" altLang="zh-CN" b="1">
                <a:solidFill>
                  <a:srgbClr val="C00000"/>
                </a:solidFill>
              </a:rPr>
              <a:t>．多语句表值函数</a:t>
            </a:r>
            <a:endParaRPr lang="zh-CN" altLang="zh-CN" b="1">
              <a:solidFill>
                <a:srgbClr val="C00000"/>
              </a:solidFill>
            </a:endParaRPr>
          </a:p>
          <a:p>
            <a:pPr eaLnBrk="1" fontAlgn="ctr" hangingPunct="1"/>
            <a:r>
              <a:rPr lang="zh-CN" altLang="zh-CN" b="1"/>
              <a:t>（</a:t>
            </a:r>
            <a:r>
              <a:rPr lang="en-US" altLang="zh-CN" b="1"/>
              <a:t>1</a:t>
            </a:r>
            <a:r>
              <a:rPr lang="zh-CN" altLang="zh-CN" b="1"/>
              <a:t>）多语句表值函数定义</a:t>
            </a:r>
            <a:endParaRPr lang="zh-CN" altLang="zh-CN" b="1"/>
          </a:p>
          <a:p>
            <a:pPr eaLnBrk="1" fontAlgn="ctr" hangingPunct="1"/>
            <a:r>
              <a:rPr lang="zh-CN" altLang="zh-CN" b="1"/>
              <a:t>语法格式：</a:t>
            </a:r>
            <a:endParaRPr lang="zh-CN" altLang="zh-CN" b="1"/>
          </a:p>
          <a:p>
            <a:pPr eaLnBrk="1" hangingPunct="1"/>
            <a:r>
              <a:rPr lang="en-US" altLang="zh-CN" sz="1600" b="1"/>
              <a:t>CREATE FUNCTION [</a:t>
            </a:r>
            <a:r>
              <a:rPr lang="zh-CN" altLang="zh-CN" sz="1600" b="1"/>
              <a:t>架构名</a:t>
            </a:r>
            <a:r>
              <a:rPr lang="en-US" altLang="zh-CN" sz="1600" b="1"/>
              <a:t>. ]</a:t>
            </a:r>
            <a:r>
              <a:rPr lang="zh-CN" altLang="zh-CN" sz="1600" b="1"/>
              <a:t>函数名</a:t>
            </a:r>
            <a:r>
              <a:rPr lang="en-US" altLang="zh-CN" sz="1600" b="1"/>
              <a:t>			/*</a:t>
            </a:r>
            <a:r>
              <a:rPr lang="zh-CN" altLang="zh-CN" sz="1600" b="1"/>
              <a:t>定义函数名部分</a:t>
            </a:r>
            <a:r>
              <a:rPr lang="en-US" altLang="zh-CN" sz="1600" b="1"/>
              <a:t>*/</a:t>
            </a:r>
            <a:endParaRPr lang="zh-CN" altLang="zh-CN" sz="1600" b="1"/>
          </a:p>
          <a:p>
            <a:pPr eaLnBrk="1" hangingPunct="1"/>
            <a:r>
              <a:rPr lang="en-US" altLang="zh-CN" sz="1600" b="1"/>
              <a:t>( [ { @</a:t>
            </a:r>
            <a:r>
              <a:rPr lang="zh-CN" altLang="zh-CN" sz="1600" b="1"/>
              <a:t>参数名</a:t>
            </a:r>
            <a:r>
              <a:rPr lang="en-US" altLang="zh-CN" sz="1600" b="1"/>
              <a:t> [ AS ] [</a:t>
            </a:r>
            <a:r>
              <a:rPr lang="zh-CN" altLang="zh-CN" sz="1600" b="1"/>
              <a:t>类型架构名</a:t>
            </a:r>
            <a:r>
              <a:rPr lang="en-US" altLang="zh-CN" sz="1600" b="1"/>
              <a:t>. ] </a:t>
            </a:r>
            <a:r>
              <a:rPr lang="zh-CN" altLang="zh-CN" sz="1600" b="1"/>
              <a:t>参数数据类型</a:t>
            </a:r>
            <a:r>
              <a:rPr lang="en-US" altLang="zh-CN" sz="1600" b="1"/>
              <a:t>[ = </a:t>
            </a:r>
            <a:r>
              <a:rPr lang="zh-CN" altLang="zh-CN" sz="1600" b="1"/>
              <a:t>默认</a:t>
            </a:r>
            <a:r>
              <a:rPr lang="en-US" altLang="zh-CN" sz="1600" b="1"/>
              <a:t>] } [ , ... ] ])	/*</a:t>
            </a:r>
            <a:r>
              <a:rPr lang="zh-CN" altLang="zh-CN" sz="1600" b="1"/>
              <a:t>定义函数参数部分</a:t>
            </a:r>
            <a:r>
              <a:rPr lang="en-US" altLang="zh-CN" sz="1600" b="1"/>
              <a:t>*/</a:t>
            </a:r>
            <a:endParaRPr lang="zh-CN" altLang="zh-CN" sz="1600" b="1"/>
          </a:p>
          <a:p>
            <a:pPr eaLnBrk="1" hangingPunct="1"/>
            <a:r>
              <a:rPr lang="en-US" altLang="zh-CN" sz="1600" b="1"/>
              <a:t>RETURNS @</a:t>
            </a:r>
            <a:r>
              <a:rPr lang="zh-CN" altLang="zh-CN" sz="1600" b="1"/>
              <a:t>返回变量</a:t>
            </a:r>
            <a:r>
              <a:rPr lang="en-US" altLang="zh-CN" sz="1600" b="1"/>
              <a:t>TABLE &lt; </a:t>
            </a:r>
            <a:r>
              <a:rPr lang="zh-CN" altLang="zh-CN" sz="1600" b="1"/>
              <a:t>表类型定义</a:t>
            </a:r>
            <a:r>
              <a:rPr lang="en-US" altLang="zh-CN" sz="1600" b="1"/>
              <a:t> &gt;		/*</a:t>
            </a:r>
            <a:r>
              <a:rPr lang="zh-CN" altLang="zh-CN" sz="1600" b="1"/>
              <a:t>定义作为返回值的表</a:t>
            </a:r>
            <a:r>
              <a:rPr lang="en-US" altLang="zh-CN" sz="1600" b="1"/>
              <a:t>*/</a:t>
            </a:r>
            <a:endParaRPr lang="zh-CN" altLang="zh-CN" sz="1600" b="1"/>
          </a:p>
          <a:p>
            <a:pPr eaLnBrk="1" hangingPunct="1"/>
            <a:r>
              <a:rPr lang="en-US" altLang="zh-CN" sz="1600" b="1"/>
              <a:t>[ WITH &lt;</a:t>
            </a:r>
            <a:r>
              <a:rPr lang="zh-CN" altLang="zh-CN" sz="1600" b="1"/>
              <a:t>函数选项</a:t>
            </a:r>
            <a:r>
              <a:rPr lang="en-US" altLang="zh-CN" sz="1600" b="1"/>
              <a:t>&gt; [ , ... ] ]				/*</a:t>
            </a:r>
            <a:r>
              <a:rPr lang="zh-CN" altLang="zh-CN" sz="1600" b="1"/>
              <a:t>定义函数的可选项</a:t>
            </a:r>
            <a:r>
              <a:rPr lang="en-US" altLang="zh-CN" sz="1600" b="1"/>
              <a:t>*/</a:t>
            </a:r>
            <a:endParaRPr lang="zh-CN" altLang="zh-CN" sz="1600" b="1"/>
          </a:p>
          <a:p>
            <a:pPr eaLnBrk="1" hangingPunct="1"/>
            <a:r>
              <a:rPr lang="en-US" altLang="zh-CN" sz="1600" b="1"/>
              <a:t>      [ AS ]</a:t>
            </a:r>
            <a:endParaRPr lang="zh-CN" altLang="zh-CN" sz="1600" b="1"/>
          </a:p>
          <a:p>
            <a:pPr eaLnBrk="1" hangingPunct="1"/>
            <a:r>
              <a:rPr lang="en-US" altLang="zh-CN" sz="1600" b="1"/>
              <a:t>BEGIN</a:t>
            </a:r>
            <a:endParaRPr lang="zh-CN" altLang="zh-CN" sz="1600" b="1"/>
          </a:p>
          <a:p>
            <a:pPr eaLnBrk="1" hangingPunct="1"/>
            <a:r>
              <a:rPr lang="en-US" altLang="zh-CN" sz="1600" b="1"/>
              <a:t>     </a:t>
            </a:r>
            <a:r>
              <a:rPr lang="zh-CN" altLang="zh-CN" sz="1600" b="1"/>
              <a:t>函数体</a:t>
            </a:r>
            <a:r>
              <a:rPr lang="en-US" altLang="zh-CN" sz="1600" b="1"/>
              <a:t>					/*</a:t>
            </a:r>
            <a:r>
              <a:rPr lang="zh-CN" altLang="zh-CN" sz="1600" b="1"/>
              <a:t>定义函数体</a:t>
            </a:r>
            <a:r>
              <a:rPr lang="en-US" altLang="zh-CN" sz="1600" b="1"/>
              <a:t>*/</a:t>
            </a:r>
            <a:endParaRPr lang="zh-CN" altLang="zh-CN" sz="1600" b="1"/>
          </a:p>
          <a:p>
            <a:pPr eaLnBrk="1" hangingPunct="1"/>
            <a:r>
              <a:rPr lang="en-US" altLang="zh-CN" sz="1600" b="1"/>
              <a:t>     RETURN</a:t>
            </a:r>
            <a:endParaRPr lang="zh-CN" altLang="zh-CN" sz="1600" b="1"/>
          </a:p>
          <a:p>
            <a:pPr eaLnBrk="1" hangingPunct="1"/>
            <a:r>
              <a:rPr lang="en-US" altLang="zh-CN" sz="1600" b="1"/>
              <a:t>END</a:t>
            </a:r>
            <a:endParaRPr lang="zh-CN" altLang="zh-CN" sz="1600" b="1"/>
          </a:p>
          <a:p>
            <a:pPr eaLnBrk="1" hangingPunct="1"/>
            <a:endParaRPr lang="zh-CN" altLang="en-US" sz="1600" b="1"/>
          </a:p>
        </p:txBody>
      </p:sp>
    </p:spTree>
  </p:cSld>
  <p:clrMapOvr>
    <a:masterClrMapping/>
  </p:clrMapOvr>
  <p:transition spd="slow">
    <p:pull/>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84213" y="2060575"/>
            <a:ext cx="7991475" cy="4292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5.6.2  </a:t>
            </a:r>
            <a:r>
              <a:rPr lang="zh-CN" altLang="zh-CN" dirty="0">
                <a:effectLst/>
              </a:rPr>
              <a:t>内嵌表值函数：</a:t>
            </a:r>
            <a:r>
              <a:rPr lang="en-US" altLang="zh-CN" dirty="0">
                <a:effectLst/>
              </a:rPr>
              <a:t>FROM</a:t>
            </a:r>
            <a:r>
              <a:rPr lang="zh-CN" altLang="zh-CN" dirty="0">
                <a:effectLst/>
              </a:rPr>
              <a:t>表</a:t>
            </a:r>
            <a:r>
              <a:rPr lang="en-US" altLang="zh-CN" dirty="0">
                <a:effectLst/>
              </a:rPr>
              <a:t>(…)</a:t>
            </a:r>
            <a:endParaRPr lang="zh-CN" altLang="en-US" dirty="0"/>
          </a:p>
        </p:txBody>
      </p:sp>
      <p:sp>
        <p:nvSpPr>
          <p:cNvPr id="89092" name="TextBox 2"/>
          <p:cNvSpPr txBox="1">
            <a:spLocks noChangeArrowheads="1"/>
          </p:cNvSpPr>
          <p:nvPr/>
        </p:nvSpPr>
        <p:spPr bwMode="auto">
          <a:xfrm>
            <a:off x="395288" y="1196752"/>
            <a:ext cx="8497192" cy="578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b="1" dirty="0"/>
              <a:t>（</a:t>
            </a:r>
            <a:r>
              <a:rPr lang="en-US" altLang="zh-CN" b="1" dirty="0"/>
              <a:t>2</a:t>
            </a:r>
            <a:r>
              <a:rPr lang="zh-CN" altLang="zh-CN" b="1" dirty="0"/>
              <a:t>）多语句表值函数的调用</a:t>
            </a:r>
            <a:endParaRPr lang="zh-CN" altLang="zh-CN" b="1" dirty="0"/>
          </a:p>
          <a:p>
            <a:pPr eaLnBrk="1" fontAlgn="ctr" hangingPunct="1"/>
            <a:r>
              <a:rPr lang="zh-CN" altLang="zh-CN" b="1" dirty="0"/>
              <a:t>【例</a:t>
            </a:r>
            <a:r>
              <a:rPr lang="en-US" altLang="zh-CN" b="1" dirty="0"/>
              <a:t>5.30</a:t>
            </a:r>
            <a:r>
              <a:rPr lang="zh-CN" altLang="zh-CN" b="1" dirty="0"/>
              <a:t>】 在</a:t>
            </a:r>
            <a:r>
              <a:rPr lang="en-US" altLang="zh-CN" b="1" dirty="0" err="1"/>
              <a:t>pxscj</a:t>
            </a:r>
            <a:r>
              <a:rPr lang="zh-CN" altLang="zh-CN" b="1" dirty="0"/>
              <a:t>数据库中创建返回表的函数，通过以学号作为实参调用该函数，可显示该学生各门功课的成绩和学分。</a:t>
            </a:r>
            <a:endParaRPr lang="zh-CN" altLang="zh-CN" b="1" dirty="0"/>
          </a:p>
          <a:p>
            <a:pPr eaLnBrk="1" fontAlgn="ctr" hangingPunct="1"/>
            <a:r>
              <a:rPr lang="zh-CN" altLang="zh-CN" b="1" dirty="0"/>
              <a:t>①</a:t>
            </a:r>
            <a:r>
              <a:rPr lang="en-US" altLang="zh-CN" b="1" dirty="0"/>
              <a:t> </a:t>
            </a:r>
            <a:r>
              <a:rPr lang="zh-CN" altLang="zh-CN" b="1" dirty="0"/>
              <a:t>函数定义。</a:t>
            </a:r>
            <a:endParaRPr lang="zh-CN" altLang="zh-CN" b="1" dirty="0"/>
          </a:p>
          <a:p>
            <a:pPr eaLnBrk="1" hangingPunct="1"/>
            <a:r>
              <a:rPr lang="en-US" altLang="zh-CN" sz="1400" b="1" dirty="0"/>
              <a:t>USE </a:t>
            </a:r>
            <a:r>
              <a:rPr lang="en-US" altLang="zh-CN" sz="1400" b="1" dirty="0" err="1"/>
              <a:t>pxscj</a:t>
            </a:r>
            <a:endParaRPr lang="zh-CN" altLang="zh-CN" sz="1400" b="1" dirty="0"/>
          </a:p>
          <a:p>
            <a:pPr eaLnBrk="1" hangingPunct="1"/>
            <a:r>
              <a:rPr lang="en-US" altLang="zh-CN" sz="1400" b="1" dirty="0"/>
              <a:t>GO</a:t>
            </a:r>
            <a:endParaRPr lang="zh-CN" altLang="zh-CN" sz="1400" b="1" dirty="0"/>
          </a:p>
          <a:p>
            <a:pPr eaLnBrk="1" hangingPunct="1"/>
            <a:r>
              <a:rPr lang="en-US" altLang="zh-CN" sz="1400" b="1" dirty="0"/>
              <a:t>CREATE FUNCTION </a:t>
            </a:r>
            <a:r>
              <a:rPr lang="en-US" altLang="zh-CN" sz="1400" b="1" dirty="0" err="1"/>
              <a:t>score_table</a:t>
            </a:r>
            <a:r>
              <a:rPr lang="en-US" altLang="zh-CN" sz="1400" b="1" dirty="0"/>
              <a:t>( @id char(6) )  RETURNS @score TABLE</a:t>
            </a:r>
            <a:endParaRPr lang="zh-CN" altLang="zh-CN" sz="1400" b="1" dirty="0"/>
          </a:p>
          <a:p>
            <a:pPr eaLnBrk="1" hangingPunct="1"/>
            <a:r>
              <a:rPr lang="en-US" altLang="zh-CN" sz="1400" b="1" dirty="0"/>
              <a:t>( 	</a:t>
            </a:r>
            <a:endParaRPr lang="zh-CN" altLang="zh-CN" sz="1400" b="1" dirty="0"/>
          </a:p>
          <a:p>
            <a:pPr eaLnBrk="1" hangingPunct="1"/>
            <a:r>
              <a:rPr lang="en-US" altLang="zh-CN" sz="1400" b="1" dirty="0"/>
              <a:t>     </a:t>
            </a:r>
            <a:r>
              <a:rPr lang="zh-CN" altLang="zh-CN" sz="1400" b="1" dirty="0"/>
              <a:t>学号</a:t>
            </a:r>
            <a:r>
              <a:rPr lang="en-US" altLang="zh-CN" sz="1400" b="1" dirty="0"/>
              <a:t>  	char(6),</a:t>
            </a:r>
            <a:endParaRPr lang="zh-CN" altLang="zh-CN" sz="1400" b="1" dirty="0"/>
          </a:p>
          <a:p>
            <a:pPr eaLnBrk="1" hangingPunct="1"/>
            <a:r>
              <a:rPr lang="en-US" altLang="zh-CN" sz="1400" b="1" dirty="0"/>
              <a:t>     </a:t>
            </a:r>
            <a:r>
              <a:rPr lang="zh-CN" altLang="zh-CN" sz="1400" b="1" dirty="0"/>
              <a:t>姓名 </a:t>
            </a:r>
            <a:r>
              <a:rPr lang="en-US" altLang="zh-CN" sz="1400" b="1" dirty="0"/>
              <a:t>	char(8),</a:t>
            </a:r>
            <a:endParaRPr lang="zh-CN" altLang="zh-CN" sz="1400" b="1" dirty="0"/>
          </a:p>
          <a:p>
            <a:pPr eaLnBrk="1" hangingPunct="1"/>
            <a:r>
              <a:rPr lang="en-US" altLang="zh-CN" sz="1400" b="1" dirty="0"/>
              <a:t>     </a:t>
            </a:r>
            <a:r>
              <a:rPr lang="zh-CN" altLang="zh-CN" sz="1400" b="1" dirty="0"/>
              <a:t>课程 </a:t>
            </a:r>
            <a:r>
              <a:rPr lang="en-US" altLang="zh-CN" sz="1400" b="1" dirty="0"/>
              <a:t>	char(16),</a:t>
            </a:r>
            <a:endParaRPr lang="zh-CN" altLang="zh-CN" sz="1400" b="1" dirty="0"/>
          </a:p>
          <a:p>
            <a:pPr eaLnBrk="1" hangingPunct="1"/>
            <a:r>
              <a:rPr lang="en-US" altLang="zh-CN" sz="1400" b="1" dirty="0"/>
              <a:t>     </a:t>
            </a:r>
            <a:r>
              <a:rPr lang="zh-CN" altLang="zh-CN" sz="1400" b="1" dirty="0"/>
              <a:t>成绩</a:t>
            </a:r>
            <a:r>
              <a:rPr lang="en-US" altLang="zh-CN" sz="1400" b="1" dirty="0"/>
              <a:t>   	</a:t>
            </a:r>
            <a:r>
              <a:rPr lang="en-US" altLang="zh-CN" sz="1400" b="1" dirty="0" err="1"/>
              <a:t>tinyint</a:t>
            </a:r>
            <a:r>
              <a:rPr lang="en-US" altLang="zh-CN" sz="1400" b="1" dirty="0"/>
              <a:t>,</a:t>
            </a:r>
            <a:endParaRPr lang="zh-CN" altLang="zh-CN" sz="1400" b="1" dirty="0"/>
          </a:p>
          <a:p>
            <a:pPr eaLnBrk="1" hangingPunct="1"/>
            <a:r>
              <a:rPr lang="en-US" altLang="zh-CN" sz="1400" b="1" dirty="0"/>
              <a:t>     </a:t>
            </a:r>
            <a:r>
              <a:rPr lang="zh-CN" altLang="zh-CN" sz="1400" b="1" dirty="0"/>
              <a:t>学分</a:t>
            </a:r>
            <a:r>
              <a:rPr lang="en-US" altLang="zh-CN" sz="1400" b="1" dirty="0"/>
              <a:t>     	</a:t>
            </a:r>
            <a:r>
              <a:rPr lang="en-US" altLang="zh-CN" sz="1400" b="1" dirty="0" err="1"/>
              <a:t>tinyint</a:t>
            </a:r>
            <a:endParaRPr lang="zh-CN" altLang="zh-CN" sz="1400" b="1" dirty="0"/>
          </a:p>
          <a:p>
            <a:pPr eaLnBrk="1" hangingPunct="1"/>
            <a:r>
              <a:rPr lang="en-US" altLang="zh-CN" sz="1400" b="1" dirty="0"/>
              <a:t>)</a:t>
            </a:r>
            <a:endParaRPr lang="zh-CN" altLang="zh-CN" sz="1400" b="1" dirty="0"/>
          </a:p>
          <a:p>
            <a:pPr eaLnBrk="1" hangingPunct="1"/>
            <a:r>
              <a:rPr lang="en-US" altLang="zh-CN" sz="1400" b="1" dirty="0"/>
              <a:t>AS</a:t>
            </a:r>
            <a:endParaRPr lang="zh-CN" altLang="zh-CN" sz="1400" b="1" dirty="0"/>
          </a:p>
          <a:p>
            <a:pPr eaLnBrk="1" hangingPunct="1"/>
            <a:r>
              <a:rPr lang="en-US" altLang="zh-CN" sz="1400" b="1" dirty="0"/>
              <a:t>BEGIN</a:t>
            </a:r>
            <a:endParaRPr lang="zh-CN" altLang="zh-CN" sz="1400" b="1" dirty="0"/>
          </a:p>
          <a:p>
            <a:pPr eaLnBrk="1" hangingPunct="1"/>
            <a:r>
              <a:rPr lang="en-US" altLang="zh-CN" sz="1400" b="1" dirty="0"/>
              <a:t>     INSERT @score</a:t>
            </a:r>
            <a:endParaRPr lang="zh-CN" altLang="zh-CN" sz="1400" b="1" dirty="0"/>
          </a:p>
          <a:p>
            <a:pPr eaLnBrk="1" hangingPunct="1"/>
            <a:r>
              <a:rPr lang="en-US" altLang="zh-CN" sz="1400" b="1" dirty="0"/>
              <a:t>          SELECT S.</a:t>
            </a:r>
            <a:r>
              <a:rPr lang="zh-CN" altLang="zh-CN" sz="1400" b="1" dirty="0"/>
              <a:t>学号</a:t>
            </a:r>
            <a:r>
              <a:rPr lang="en-US" altLang="zh-CN" sz="1400" b="1" dirty="0"/>
              <a:t>, S.</a:t>
            </a:r>
            <a:r>
              <a:rPr lang="zh-CN" altLang="zh-CN" sz="1400" b="1" dirty="0"/>
              <a:t>姓名</a:t>
            </a:r>
            <a:r>
              <a:rPr lang="en-US" altLang="zh-CN" sz="1400" b="1" dirty="0"/>
              <a:t>,P.</a:t>
            </a:r>
            <a:r>
              <a:rPr lang="zh-CN" altLang="zh-CN" sz="1400" b="1" dirty="0"/>
              <a:t>课程名</a:t>
            </a:r>
            <a:r>
              <a:rPr lang="en-US" altLang="zh-CN" sz="1400" b="1" dirty="0"/>
              <a:t>,O.</a:t>
            </a:r>
            <a:r>
              <a:rPr lang="zh-CN" altLang="zh-CN" sz="1400" b="1" dirty="0"/>
              <a:t>成绩</a:t>
            </a:r>
            <a:r>
              <a:rPr lang="en-US" altLang="zh-CN" sz="1400" b="1" dirty="0"/>
              <a:t>, P.</a:t>
            </a:r>
            <a:r>
              <a:rPr lang="zh-CN" altLang="zh-CN" sz="1400" b="1" dirty="0"/>
              <a:t>学分</a:t>
            </a:r>
            <a:endParaRPr lang="zh-CN" altLang="zh-CN" sz="1400" b="1" dirty="0"/>
          </a:p>
          <a:p>
            <a:pPr eaLnBrk="1" hangingPunct="1"/>
            <a:r>
              <a:rPr lang="en-US" altLang="zh-CN" sz="1400" b="1" dirty="0"/>
              <a:t>               FROM  </a:t>
            </a:r>
            <a:r>
              <a:rPr lang="en-US" altLang="zh-CN" sz="1400" b="1" dirty="0" err="1"/>
              <a:t>pxscj</a:t>
            </a:r>
            <a:r>
              <a:rPr lang="en-US" altLang="zh-CN" sz="1400" b="1" dirty="0"/>
              <a:t>.[</a:t>
            </a:r>
            <a:r>
              <a:rPr lang="en-US" altLang="zh-CN" sz="1400" b="1" dirty="0" err="1"/>
              <a:t>dbo</a:t>
            </a:r>
            <a:r>
              <a:rPr lang="en-US" altLang="zh-CN" sz="1400" b="1" dirty="0"/>
              <a:t>].</a:t>
            </a:r>
            <a:r>
              <a:rPr lang="en-US" altLang="zh-CN" sz="1400" b="1" dirty="0" err="1"/>
              <a:t>xsb</a:t>
            </a:r>
            <a:r>
              <a:rPr lang="en-US" altLang="zh-CN" sz="1400" b="1" dirty="0"/>
              <a:t> AS S</a:t>
            </a:r>
            <a:endParaRPr lang="zh-CN" altLang="zh-CN" sz="1400" b="1" dirty="0"/>
          </a:p>
          <a:p>
            <a:pPr eaLnBrk="1" hangingPunct="1"/>
            <a:r>
              <a:rPr lang="en-US" altLang="zh-CN" sz="1400" b="1" dirty="0"/>
              <a:t>                    INNER JOIN </a:t>
            </a:r>
            <a:r>
              <a:rPr lang="en-US" altLang="zh-CN" sz="1400" b="1" dirty="0" err="1"/>
              <a:t>pxscj</a:t>
            </a:r>
            <a:r>
              <a:rPr lang="en-US" altLang="zh-CN" sz="1400" b="1" dirty="0"/>
              <a:t>.[</a:t>
            </a:r>
            <a:r>
              <a:rPr lang="en-US" altLang="zh-CN" sz="1400" b="1" dirty="0" err="1"/>
              <a:t>dbo</a:t>
            </a:r>
            <a:r>
              <a:rPr lang="en-US" altLang="zh-CN" sz="1400" b="1" dirty="0"/>
              <a:t>].</a:t>
            </a:r>
            <a:r>
              <a:rPr lang="en-US" altLang="zh-CN" sz="1400" b="1" dirty="0" err="1"/>
              <a:t>cjb</a:t>
            </a:r>
            <a:r>
              <a:rPr lang="en-US" altLang="zh-CN" sz="1400" b="1" dirty="0"/>
              <a:t> AS O ON (S.</a:t>
            </a:r>
            <a:r>
              <a:rPr lang="zh-CN" altLang="zh-CN" sz="1400" b="1" dirty="0"/>
              <a:t>学号</a:t>
            </a:r>
            <a:r>
              <a:rPr lang="en-US" altLang="zh-CN" sz="1400" b="1" dirty="0"/>
              <a:t>= O.</a:t>
            </a:r>
            <a:r>
              <a:rPr lang="zh-CN" altLang="zh-CN" sz="1400" b="1" dirty="0"/>
              <a:t>学号</a:t>
            </a:r>
            <a:r>
              <a:rPr lang="en-US" altLang="zh-CN" sz="1400" b="1" dirty="0"/>
              <a:t>)</a:t>
            </a:r>
            <a:endParaRPr lang="zh-CN" altLang="zh-CN" sz="1400" b="1" dirty="0"/>
          </a:p>
          <a:p>
            <a:pPr eaLnBrk="1" hangingPunct="1"/>
            <a:r>
              <a:rPr lang="en-US" altLang="zh-CN" sz="1400" b="1" dirty="0"/>
              <a:t>                    INNER JOIN </a:t>
            </a:r>
            <a:r>
              <a:rPr lang="en-US" altLang="zh-CN" sz="1400" b="1" dirty="0" err="1"/>
              <a:t>pxscj</a:t>
            </a:r>
            <a:r>
              <a:rPr lang="en-US" altLang="zh-CN" sz="1400" b="1" dirty="0"/>
              <a:t>.[</a:t>
            </a:r>
            <a:r>
              <a:rPr lang="en-US" altLang="zh-CN" sz="1400" b="1" dirty="0" err="1"/>
              <a:t>dbo</a:t>
            </a:r>
            <a:r>
              <a:rPr lang="en-US" altLang="zh-CN" sz="1400" b="1" dirty="0"/>
              <a:t>].</a:t>
            </a:r>
            <a:r>
              <a:rPr lang="en-US" altLang="zh-CN" sz="1400" b="1" dirty="0" err="1"/>
              <a:t>kcb</a:t>
            </a:r>
            <a:r>
              <a:rPr lang="en-US" altLang="zh-CN" sz="1400" b="1" dirty="0"/>
              <a:t> AS P ON (O.</a:t>
            </a:r>
            <a:r>
              <a:rPr lang="zh-CN" altLang="zh-CN" sz="1400" b="1" dirty="0"/>
              <a:t>课程号</a:t>
            </a:r>
            <a:r>
              <a:rPr lang="en-US" altLang="zh-CN" sz="1400" b="1" dirty="0"/>
              <a:t>= P.</a:t>
            </a:r>
            <a:r>
              <a:rPr lang="zh-CN" altLang="zh-CN" sz="1400" b="1" dirty="0"/>
              <a:t>课程号</a:t>
            </a:r>
            <a:r>
              <a:rPr lang="en-US" altLang="zh-CN" sz="1400" b="1" dirty="0"/>
              <a:t>)</a:t>
            </a:r>
            <a:endParaRPr lang="zh-CN" altLang="zh-CN" sz="1400" b="1" dirty="0"/>
          </a:p>
          <a:p>
            <a:pPr eaLnBrk="1" hangingPunct="1"/>
            <a:r>
              <a:rPr lang="en-US" altLang="zh-CN" sz="1400" b="1" dirty="0"/>
              <a:t>               WHERE S.</a:t>
            </a:r>
            <a:r>
              <a:rPr lang="zh-CN" altLang="zh-CN" sz="1400" b="1" dirty="0"/>
              <a:t>学号</a:t>
            </a:r>
            <a:r>
              <a:rPr lang="en-US" altLang="zh-CN" sz="1400" b="1" dirty="0"/>
              <a:t>=@id</a:t>
            </a:r>
            <a:endParaRPr lang="zh-CN" altLang="zh-CN" sz="1400" b="1" dirty="0"/>
          </a:p>
          <a:p>
            <a:pPr eaLnBrk="1" hangingPunct="1"/>
            <a:r>
              <a:rPr lang="en-US" altLang="zh-CN" sz="1400" b="1" dirty="0"/>
              <a:t>     RETURN</a:t>
            </a:r>
            <a:endParaRPr lang="zh-CN" altLang="zh-CN" sz="1400" b="1" dirty="0"/>
          </a:p>
          <a:p>
            <a:pPr eaLnBrk="1" hangingPunct="1"/>
            <a:r>
              <a:rPr lang="en-US" altLang="zh-CN" sz="1400" b="1" dirty="0"/>
              <a:t>END</a:t>
            </a:r>
            <a:endParaRPr lang="zh-CN" altLang="zh-CN" sz="1400" b="1" dirty="0"/>
          </a:p>
          <a:p>
            <a:pPr eaLnBrk="1" hangingPunct="1"/>
            <a:endParaRPr lang="zh-CN" altLang="en-US" sz="1600" b="1" dirty="0"/>
          </a:p>
        </p:txBody>
      </p:sp>
    </p:spTree>
  </p:cSld>
  <p:clrMapOvr>
    <a:masterClrMapping/>
  </p:clrMapOvr>
  <p:transition spd="slow">
    <p:dissolve/>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1905000"/>
            <a:ext cx="7848600" cy="2397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5.6.2  </a:t>
            </a:r>
            <a:r>
              <a:rPr lang="zh-CN" altLang="zh-CN" dirty="0">
                <a:effectLst/>
              </a:rPr>
              <a:t>内嵌表值函数：</a:t>
            </a:r>
            <a:r>
              <a:rPr lang="en-US" altLang="zh-CN" dirty="0">
                <a:effectLst/>
              </a:rPr>
              <a:t>FROM</a:t>
            </a:r>
            <a:r>
              <a:rPr lang="zh-CN" altLang="zh-CN" dirty="0">
                <a:effectLst/>
              </a:rPr>
              <a:t>表</a:t>
            </a:r>
            <a:r>
              <a:rPr lang="en-US" altLang="zh-CN" dirty="0">
                <a:effectLst/>
              </a:rPr>
              <a:t>(…)</a:t>
            </a:r>
            <a:endParaRPr lang="zh-CN" altLang="en-US" dirty="0"/>
          </a:p>
        </p:txBody>
      </p:sp>
      <p:sp>
        <p:nvSpPr>
          <p:cNvPr id="90116" name="TextBox 2"/>
          <p:cNvSpPr txBox="1">
            <a:spLocks noChangeArrowheads="1"/>
          </p:cNvSpPr>
          <p:nvPr/>
        </p:nvSpPr>
        <p:spPr bwMode="auto">
          <a:xfrm>
            <a:off x="900113" y="1557338"/>
            <a:ext cx="63357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b="1"/>
              <a:t>②</a:t>
            </a:r>
            <a:r>
              <a:rPr lang="en-US" altLang="zh-CN" b="1"/>
              <a:t> </a:t>
            </a:r>
            <a:r>
              <a:rPr lang="zh-CN" altLang="zh-CN" b="1"/>
              <a:t>查询学号为</a:t>
            </a:r>
            <a:r>
              <a:rPr lang="en-US" altLang="zh-CN" b="1"/>
              <a:t>191301</a:t>
            </a:r>
            <a:r>
              <a:rPr lang="zh-CN" altLang="zh-CN" b="1"/>
              <a:t>的学生的各科成绩和学分。</a:t>
            </a:r>
            <a:endParaRPr lang="zh-CN" altLang="zh-CN" b="1"/>
          </a:p>
          <a:p>
            <a:pPr eaLnBrk="1" hangingPunct="1"/>
            <a:r>
              <a:rPr lang="en-US" altLang="zh-CN" b="1"/>
              <a:t>SELECT  *  FROM  pxscj.[dbo].score_table('191301')</a:t>
            </a:r>
            <a:endParaRPr lang="zh-CN" altLang="zh-CN" b="1"/>
          </a:p>
          <a:p>
            <a:pPr eaLnBrk="1" fontAlgn="ctr" hangingPunct="1"/>
            <a:r>
              <a:rPr lang="zh-CN" altLang="zh-CN" b="1"/>
              <a:t>执行结果如图</a:t>
            </a:r>
            <a:r>
              <a:rPr lang="en-US" altLang="zh-CN" b="1"/>
              <a:t>5.17</a:t>
            </a:r>
            <a:r>
              <a:rPr lang="zh-CN" altLang="zh-CN" b="1"/>
              <a:t>所示。</a:t>
            </a:r>
            <a:endParaRPr lang="zh-CN" altLang="zh-CN" b="1"/>
          </a:p>
          <a:p>
            <a:pPr eaLnBrk="1" hangingPunct="1"/>
            <a:endParaRPr lang="zh-CN" altLang="en-US" b="1"/>
          </a:p>
        </p:txBody>
      </p:sp>
      <p:pic>
        <p:nvPicPr>
          <p:cNvPr id="9011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16113" y="2565400"/>
            <a:ext cx="4240212"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71550" y="3284538"/>
            <a:ext cx="7704138" cy="288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5.6.3  </a:t>
            </a:r>
            <a:r>
              <a:rPr lang="zh-CN" altLang="zh-CN" dirty="0">
                <a:effectLst/>
              </a:rPr>
              <a:t>用户定义函数的删除：</a:t>
            </a:r>
            <a:r>
              <a:rPr lang="en-US" altLang="zh-CN" dirty="0">
                <a:effectLst/>
              </a:rPr>
              <a:t>DROP FUNCTION</a:t>
            </a:r>
            <a:endParaRPr lang="zh-CN" altLang="zh-CN" dirty="0">
              <a:effectLst/>
            </a:endParaRPr>
          </a:p>
        </p:txBody>
      </p:sp>
      <p:sp>
        <p:nvSpPr>
          <p:cNvPr id="91140" name="TextBox 2"/>
          <p:cNvSpPr txBox="1">
            <a:spLocks noChangeArrowheads="1"/>
          </p:cNvSpPr>
          <p:nvPr/>
        </p:nvSpPr>
        <p:spPr bwMode="auto">
          <a:xfrm>
            <a:off x="468313" y="1484313"/>
            <a:ext cx="8207375"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b="1"/>
              <a:t>对于一个已创建的用户定义函数，有两种方法删除：</a:t>
            </a:r>
            <a:endParaRPr lang="zh-CN" altLang="zh-CN" b="1"/>
          </a:p>
          <a:p>
            <a:pPr eaLnBrk="1" fontAlgn="ctr" hangingPunct="1">
              <a:lnSpc>
                <a:spcPct val="150000"/>
              </a:lnSpc>
            </a:pPr>
            <a:r>
              <a:rPr lang="zh-CN" altLang="zh-CN" b="1"/>
              <a:t>（</a:t>
            </a:r>
            <a:r>
              <a:rPr lang="en-US" altLang="zh-CN" b="1"/>
              <a:t>1</a:t>
            </a:r>
            <a:r>
              <a:rPr lang="zh-CN" altLang="zh-CN" b="1"/>
              <a:t>）通过“对象资源管理器”删除，此方法非常简单，请读者自己练习；</a:t>
            </a:r>
            <a:endParaRPr lang="zh-CN" altLang="zh-CN" b="1"/>
          </a:p>
          <a:p>
            <a:pPr eaLnBrk="1" fontAlgn="ctr" hangingPunct="1">
              <a:lnSpc>
                <a:spcPct val="150000"/>
              </a:lnSpc>
            </a:pPr>
            <a:r>
              <a:rPr lang="zh-CN" altLang="zh-CN" b="1"/>
              <a:t>（</a:t>
            </a:r>
            <a:r>
              <a:rPr lang="en-US" altLang="zh-CN" b="1"/>
              <a:t>2</a:t>
            </a:r>
            <a:r>
              <a:rPr lang="zh-CN" altLang="zh-CN" b="1"/>
              <a:t>）利用</a:t>
            </a:r>
            <a:r>
              <a:rPr lang="en-US" altLang="zh-CN" b="1"/>
              <a:t>T-SQL</a:t>
            </a:r>
            <a:r>
              <a:rPr lang="zh-CN" altLang="zh-CN" b="1"/>
              <a:t>语句</a:t>
            </a:r>
            <a:r>
              <a:rPr lang="en-US" altLang="zh-CN" b="1"/>
              <a:t>DROP FUNCTION</a:t>
            </a:r>
            <a:r>
              <a:rPr lang="zh-CN" altLang="zh-CN" b="1"/>
              <a:t>删除，下面介绍其语法格式。</a:t>
            </a:r>
            <a:endParaRPr lang="zh-CN" altLang="zh-CN" b="1"/>
          </a:p>
          <a:p>
            <a:pPr eaLnBrk="1" fontAlgn="ctr" hangingPunct="1">
              <a:lnSpc>
                <a:spcPct val="150000"/>
              </a:lnSpc>
            </a:pPr>
            <a:r>
              <a:rPr lang="zh-CN" altLang="zh-CN" b="1"/>
              <a:t>语法格式：</a:t>
            </a:r>
            <a:endParaRPr lang="zh-CN" altLang="zh-CN" b="1"/>
          </a:p>
          <a:p>
            <a:pPr eaLnBrk="1" hangingPunct="1">
              <a:lnSpc>
                <a:spcPct val="150000"/>
              </a:lnSpc>
            </a:pPr>
            <a:r>
              <a:rPr lang="en-US" altLang="zh-CN" b="1"/>
              <a:t>DROP FUNCTION { [</a:t>
            </a:r>
            <a:r>
              <a:rPr lang="zh-CN" altLang="zh-CN" b="1"/>
              <a:t>架构名</a:t>
            </a:r>
            <a:r>
              <a:rPr lang="en-US" altLang="zh-CN" b="1"/>
              <a:t>. ]</a:t>
            </a:r>
            <a:r>
              <a:rPr lang="zh-CN" altLang="zh-CN" b="1"/>
              <a:t>函数名</a:t>
            </a:r>
            <a:r>
              <a:rPr lang="en-US" altLang="zh-CN" b="1"/>
              <a:t> } [ , ... ]</a:t>
            </a:r>
            <a:endParaRPr lang="zh-CN" altLang="zh-CN" b="1"/>
          </a:p>
          <a:p>
            <a:pPr eaLnBrk="1" hangingPunct="1">
              <a:lnSpc>
                <a:spcPct val="150000"/>
              </a:lnSpc>
            </a:pPr>
            <a:endParaRPr lang="zh-CN" altLang="en-US" b="1"/>
          </a:p>
        </p:txBody>
      </p:sp>
    </p:spTree>
  </p:cSld>
  <p:clrMapOvr>
    <a:masterClrMapping/>
  </p:clrMapOvr>
  <p:transition spd="slow">
    <p:dissolve/>
  </p:transition>
  <p:timing>
    <p:tnLst>
      <p:par>
        <p:cTn id="1" dur="indefinite" restart="never" nodeType="tmRoot"/>
      </p:par>
    </p:tnLst>
  </p:timing>
</p:sld>
</file>

<file path=ppt/tags/tag1.xml><?xml version="1.0" encoding="utf-8"?>
<p:tagLst xmlns:p="http://schemas.openxmlformats.org/presentationml/2006/main">
  <p:tag name="KSO_WM_UNIT_TABLE_BEAUTIFY" val="smartTable{d504a46a-88b2-4a8f-859b-e655bd5fb455}"/>
</p:tagLst>
</file>

<file path=ppt/tags/tag2.xml><?xml version="1.0" encoding="utf-8"?>
<p:tagLst xmlns:p="http://schemas.openxmlformats.org/presentationml/2006/main">
  <p:tag name="KSO_WM_UNIT_TABLE_BEAUTIFY" val="smartTable{f571844b-17e2-4f42-b583-a2dfbe40e1e3}"/>
</p:tagLst>
</file>

<file path=ppt/tags/tag3.xml><?xml version="1.0" encoding="utf-8"?>
<p:tagLst xmlns:p="http://schemas.openxmlformats.org/presentationml/2006/main">
  <p:tag name="KSO_WPP_MARK_KEY" val="bde084be-0962-48ca-a4a2-a8e1267a3a63"/>
  <p:tag name="COMMONDATA" val="eyJoZGlkIjoiYjYwOGM3MzYxYWU3NGUyZGU5NTM0NDI5ZGZiNDhjMDY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Waveform</Template>
  <TotalTime>0</TotalTime>
  <Words>22858</Words>
  <Application>WPS 演示</Application>
  <PresentationFormat>全屏显示(4:3)</PresentationFormat>
  <Paragraphs>1530</Paragraphs>
  <Slides>84</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84</vt:i4>
      </vt:variant>
    </vt:vector>
  </HeadingPairs>
  <TitlesOfParts>
    <vt:vector size="98" baseType="lpstr">
      <vt:lpstr>Arial</vt:lpstr>
      <vt:lpstr>宋体</vt:lpstr>
      <vt:lpstr>Wingdings</vt:lpstr>
      <vt:lpstr>Calibri</vt:lpstr>
      <vt:lpstr>Symbol</vt:lpstr>
      <vt:lpstr>Times New Roman</vt:lpstr>
      <vt:lpstr>方正书宋简体</vt:lpstr>
      <vt:lpstr>Candara</vt:lpstr>
      <vt:lpstr>华文新魏</vt:lpstr>
      <vt:lpstr>微软雅黑</vt:lpstr>
      <vt:lpstr>Arial Unicode MS</vt:lpstr>
      <vt:lpstr>华文楷体</vt:lpstr>
      <vt:lpstr>Symbol</vt:lpstr>
      <vt:lpstr>波形</vt:lpstr>
      <vt:lpstr>第5章  T-SQL语言</vt:lpstr>
      <vt:lpstr>5.1  T-SQL语言</vt:lpstr>
      <vt:lpstr>5.1  T-SQL语言</vt:lpstr>
      <vt:lpstr>5.1  T-SQL语言</vt:lpstr>
      <vt:lpstr>5.2  常量、变量与自定义数据类型</vt:lpstr>
      <vt:lpstr>5.2.1  常量</vt:lpstr>
      <vt:lpstr>5.2.1  常量</vt:lpstr>
      <vt:lpstr>5.2.1  常量</vt:lpstr>
      <vt:lpstr>5.2.1  常量</vt:lpstr>
      <vt:lpstr>5.2.2  数据类型</vt:lpstr>
      <vt:lpstr>5.2.2  数据类型</vt:lpstr>
      <vt:lpstr>5.2.2  数据类型</vt:lpstr>
      <vt:lpstr>5.2.2  数据类型</vt:lpstr>
      <vt:lpstr>5.2.2  数据类型</vt:lpstr>
      <vt:lpstr>5.2.2  数据类型</vt:lpstr>
      <vt:lpstr>5.2.2  数据类型</vt:lpstr>
      <vt:lpstr>5.2.2  数据类型</vt:lpstr>
      <vt:lpstr>5.2.3  变量：DECLARE/SET/SELECT</vt:lpstr>
      <vt:lpstr>5.2.3  变量：DECLARE/SET/SELECT</vt:lpstr>
      <vt:lpstr>5.2.3  变量：DECLARE/SET/SELECT</vt:lpstr>
      <vt:lpstr>5.2.3  变量：DECLARE/SET/SELECT</vt:lpstr>
      <vt:lpstr>5.2.3  变量：DECLARE/SET/SELECT</vt:lpstr>
      <vt:lpstr>5.2.3  变量：DECLARE/SET/SELECT</vt:lpstr>
      <vt:lpstr>5.3  运算符与表达式</vt:lpstr>
      <vt:lpstr>5.2.3  变量：DECLARE/SET/SELECT</vt:lpstr>
      <vt:lpstr>5.2.3  变量：DECLARE/SET/SELECT</vt:lpstr>
      <vt:lpstr>5.3  运算符与表达式</vt:lpstr>
      <vt:lpstr>5.3  运算符与表达式</vt:lpstr>
      <vt:lpstr>5.3  运算符与表达式</vt:lpstr>
      <vt:lpstr>5.3  运算符与表达式</vt:lpstr>
      <vt:lpstr>5.3  运算符与表达式</vt:lpstr>
      <vt:lpstr>5.3  运算符与表达式</vt:lpstr>
      <vt:lpstr>5.3  运算符与表达式</vt:lpstr>
      <vt:lpstr>5.3  运算符与表达式</vt:lpstr>
      <vt:lpstr>5.3  运算符与表达式</vt:lpstr>
      <vt:lpstr>5.3  运算符与表达式</vt:lpstr>
      <vt:lpstr>5.4  流程控制语句</vt:lpstr>
      <vt:lpstr>5.4.1  语句块：BEGIN…END</vt:lpstr>
      <vt:lpstr>5.4.2  条件语句：IF…ELSE</vt:lpstr>
      <vt:lpstr>5.4.2  条件语句：IF…ELSE</vt:lpstr>
      <vt:lpstr>5.4.2  条件语句：IF…ELSE</vt:lpstr>
      <vt:lpstr>5.4.2  条件语句：IF…ELSE</vt:lpstr>
      <vt:lpstr>5.4.3  多重分支：CASE</vt:lpstr>
      <vt:lpstr>5.4.3  多重分支：CASE</vt:lpstr>
      <vt:lpstr>5.4.4  无条件转移语句：GOTO</vt:lpstr>
      <vt:lpstr>5.4.5  循环语句：WHILE/BREAK/CONTINUE</vt:lpstr>
      <vt:lpstr>5.4.5  循环语句：WHILE/BREAK/CONTINUE</vt:lpstr>
      <vt:lpstr>5.4.5  循环语句：WHILE/BREAK/CONTINUE</vt:lpstr>
      <vt:lpstr>5.4.6  返回语句：RETURN</vt:lpstr>
      <vt:lpstr>5.4.7  等待语句：WAITFOR DELAY/TIME</vt:lpstr>
      <vt:lpstr>5.4.8  错误处理语句：TRY…CATCH</vt:lpstr>
      <vt:lpstr>5.5  系统内置函数</vt:lpstr>
      <vt:lpstr>5.5.1  系统内置函数介绍</vt:lpstr>
      <vt:lpstr>5.5.2  常用系统标量函数</vt:lpstr>
      <vt:lpstr>5.5.2  常用系统标量函数</vt:lpstr>
      <vt:lpstr>5.5.2  常用系统标量函数</vt:lpstr>
      <vt:lpstr>5.5.2  常用系统标量函数</vt:lpstr>
      <vt:lpstr>5.5.2  常用系统标量函数</vt:lpstr>
      <vt:lpstr>5.5.2  常用系统标量函数</vt:lpstr>
      <vt:lpstr>5.5.2  常用系统标量函数</vt:lpstr>
      <vt:lpstr>5.5.2  常用系统标量函数</vt:lpstr>
      <vt:lpstr>5.5.2  常用系统标量函数</vt:lpstr>
      <vt:lpstr>5.5.2  常用系统标量函数</vt:lpstr>
      <vt:lpstr>5.5.2  常用系统标量函数</vt:lpstr>
      <vt:lpstr>5.5.2  常用系统标量函数</vt:lpstr>
      <vt:lpstr>5.5.2  常用系统标量函数</vt:lpstr>
      <vt:lpstr>5.5.2  常用系统标量函数</vt:lpstr>
      <vt:lpstr>5.5.2  常用系统标量函数</vt:lpstr>
      <vt:lpstr>5.5.2  常用系统标量函数</vt:lpstr>
      <vt:lpstr>5.5.2  常用系统标量函数</vt:lpstr>
      <vt:lpstr>5.5.2  常用系统标量函数</vt:lpstr>
      <vt:lpstr>5.6  用户定义函数：CREATE/ALTER/ DROP FUNCTION</vt:lpstr>
      <vt:lpstr>5.6.1  标量函数：SELECT/EXEC</vt:lpstr>
      <vt:lpstr>5.6.1  标量函数：SELECT/EXEC</vt:lpstr>
      <vt:lpstr>5.6.1  标量函数：SELECT/EXEC</vt:lpstr>
      <vt:lpstr>5.6.2  内嵌表值函数：FROM表(…)</vt:lpstr>
      <vt:lpstr>5.6.2  内嵌表值函数：FROM表(…)</vt:lpstr>
      <vt:lpstr>5.6.2  内嵌表值函数：FROM表(…)</vt:lpstr>
      <vt:lpstr>5.6.2  内嵌表值函数：FROM表(…)</vt:lpstr>
      <vt:lpstr>5.6.2  内嵌表值函数：FROM表(…)</vt:lpstr>
      <vt:lpstr>5.6.2  内嵌表值函数：FROM表(…)</vt:lpstr>
      <vt:lpstr>5.6.2  内嵌表值函数：FROM表(…)</vt:lpstr>
      <vt:lpstr>5.6.2  内嵌表值函数：FROM表(…)</vt:lpstr>
      <vt:lpstr>5.6.3  用户定义函数的删除：DROP FUNCTION</vt:lpstr>
    </vt:vector>
  </TitlesOfParts>
  <Company>Microsoft 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第5章  T-SQL语言</dc:title>
  <dc:creator>Microsoft</dc:creator>
  <cp:lastModifiedBy>微信用户</cp:lastModifiedBy>
  <cp:revision>39</cp:revision>
  <dcterms:created xsi:type="dcterms:W3CDTF">2015-06-22T07:34:00Z</dcterms:created>
  <dcterms:modified xsi:type="dcterms:W3CDTF">2023-10-09T08:40:06Z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21CD1ECEF4A54F0D9C0968063E7993A2_13</vt:lpwstr>
  </property>
  <property fmtid="{D5CDD505-2E9C-101B-9397-08002B2CF9AE}" pid="3" name="KSOProductBuildVer">
    <vt:lpwstr>2052-11.1.0.15319</vt:lpwstr>
  </property>
</Properties>
</file>