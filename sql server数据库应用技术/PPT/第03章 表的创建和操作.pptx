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305" r:id="rId5"/>
    <p:sldId id="306" r:id="rId6"/>
    <p:sldId id="307" r:id="rId7"/>
    <p:sldId id="308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344" autoAdjust="0"/>
  </p:normalViewPr>
  <p:slideViewPr>
    <p:cSldViewPr showGuides="1">
      <p:cViewPr varScale="1">
        <p:scale>
          <a:sx n="95" d="100"/>
          <a:sy n="95" d="100"/>
        </p:scale>
        <p:origin x="157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CDC5EF-D938-4FFE-807D-CCFF4C18F4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593ADB-A916-4CF0-B596-2A3BB1DDFB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92A054-FAC9-41D5-B8F9-0C8D5931F9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AF107-B539-4B2C-B423-4EF442BE00FB}" type="slidenum">
              <a:rPr lang="zh-CN" altLang="en-US" smtClean="0"/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326198-7458-4ECF-BA0C-32F14772F0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BCDE7-4ABC-49F8-BA18-E2AEE4BEC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7BBF58-CDCB-4EC7-8E66-7BDB2A7664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73478E-2AB8-48A3-8156-ED4368489C68}" type="slidenum">
              <a:rPr lang="zh-CN" altLang="en-US" smtClean="0"/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6FDE3F-B5D6-4804-9F0E-7D0D25DA8F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6444E-E47A-4975-ABDA-61B8B2F7E6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CDBF60-6CC3-4B74-A60D-3486985E4346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142B50-5BEB-417D-B76B-0876959189A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767546-26B2-4056-9387-EA2A69CA33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62535A-3646-4981-9380-326446594E9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389ECE-2F8D-4288-9D38-153B3A1713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7E0975-9A4D-46AE-9492-78F7349AECA5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C08081-79B3-4F1D-B20B-D92A8CEAD6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BAD590-BC51-4337-8042-18E65D923363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514074-3D57-45D5-95E7-726DE59348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5AD169-8C2D-4F8F-9548-C01C603771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504581-47DD-42B8-9DD6-2938EFBA0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D44B9B-EB91-47AB-B62A-93723D451672}" type="slidenum">
              <a:rPr lang="zh-CN" altLang="en-US" smtClean="0"/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4708B92-2D08-4E5A-B466-9FB1BA5637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B69E352-BDB2-464E-A47D-04FA021F3028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slide" Target="slide43.xml"/><Relationship Id="rId4" Type="http://schemas.openxmlformats.org/officeDocument/2006/relationships/slide" Target="slide38.xml"/><Relationship Id="rId3" Type="http://schemas.openxmlformats.org/officeDocument/2006/relationships/slide" Target="slide28.xml"/><Relationship Id="rId2" Type="http://schemas.openxmlformats.org/officeDocument/2006/relationships/slide" Target="slide22.xml"/><Relationship Id="rId1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zh-CN" dirty="0">
                <a:effectLst/>
              </a:rPr>
              <a:t>第</a:t>
            </a:r>
            <a:r>
              <a:rPr lang="en-US" altLang="zh-CN" dirty="0">
                <a:effectLst/>
              </a:rPr>
              <a:t>3</a:t>
            </a:r>
            <a:r>
              <a:rPr lang="zh-CN" altLang="zh-CN" dirty="0">
                <a:effectLst/>
              </a:rPr>
              <a:t>章</a:t>
            </a:r>
            <a:r>
              <a:rPr lang="en-US" altLang="zh-CN" dirty="0">
                <a:effectLst/>
              </a:rPr>
              <a:t>  </a:t>
            </a:r>
            <a:r>
              <a:rPr lang="zh-CN" altLang="zh-CN" dirty="0">
                <a:effectLst/>
              </a:rPr>
              <a:t>表的创建和操作</a:t>
            </a:r>
            <a:endParaRPr lang="zh-CN" altLang="en-US" dirty="0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900113" y="2133600"/>
            <a:ext cx="4967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1" action="ppaction://hlinksldjump"/>
              </a:rPr>
              <a:t>3.1  </a:t>
            </a:r>
            <a:r>
              <a:rPr lang="zh-CN" altLang="zh-CN" sz="2400" b="1">
                <a:hlinkClick r:id="rId1" action="ppaction://hlinksldjump"/>
              </a:rPr>
              <a:t>表结构和数据类型</a:t>
            </a:r>
            <a:endParaRPr lang="zh-CN" altLang="zh-CN" sz="2400" b="1"/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900113" y="2827338"/>
            <a:ext cx="4967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2" action="ppaction://hlinksldjump"/>
              </a:rPr>
              <a:t>3.2  </a:t>
            </a:r>
            <a:r>
              <a:rPr lang="zh-CN" altLang="zh-CN" sz="2400" b="1">
                <a:hlinkClick r:id="rId2" action="ppaction://hlinksldjump"/>
              </a:rPr>
              <a:t>界面方式创建表结构</a:t>
            </a:r>
            <a:endParaRPr lang="zh-CN" altLang="zh-CN" sz="2400" b="1"/>
          </a:p>
        </p:txBody>
      </p:sp>
      <p:sp>
        <p:nvSpPr>
          <p:cNvPr id="6149" name="TextBox 6"/>
          <p:cNvSpPr txBox="1">
            <a:spLocks noChangeArrowheads="1"/>
          </p:cNvSpPr>
          <p:nvPr/>
        </p:nvSpPr>
        <p:spPr bwMode="auto">
          <a:xfrm>
            <a:off x="900113" y="3522663"/>
            <a:ext cx="4967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3" action="ppaction://hlinksldjump"/>
              </a:rPr>
              <a:t>3.3  </a:t>
            </a:r>
            <a:r>
              <a:rPr lang="zh-CN" altLang="zh-CN" sz="2400" b="1">
                <a:hlinkClick r:id="rId3" action="ppaction://hlinksldjump"/>
              </a:rPr>
              <a:t>命令方式创建表结构</a:t>
            </a:r>
            <a:endParaRPr lang="zh-CN" altLang="zh-CN" sz="2400" b="1"/>
          </a:p>
        </p:txBody>
      </p:sp>
      <p:sp>
        <p:nvSpPr>
          <p:cNvPr id="6150" name="TextBox 7"/>
          <p:cNvSpPr txBox="1">
            <a:spLocks noChangeArrowheads="1"/>
          </p:cNvSpPr>
          <p:nvPr/>
        </p:nvSpPr>
        <p:spPr bwMode="auto">
          <a:xfrm>
            <a:off x="900113" y="4216400"/>
            <a:ext cx="4967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4" action="ppaction://hlinksldjump"/>
              </a:rPr>
              <a:t>3.4  </a:t>
            </a:r>
            <a:r>
              <a:rPr lang="zh-CN" altLang="zh-CN" sz="2400" b="1">
                <a:hlinkClick r:id="rId4" action="ppaction://hlinksldjump"/>
              </a:rPr>
              <a:t>界面方式操作表数据</a:t>
            </a:r>
            <a:endParaRPr lang="zh-CN" altLang="zh-CN" sz="2400" b="1"/>
          </a:p>
        </p:txBody>
      </p:sp>
      <p:sp>
        <p:nvSpPr>
          <p:cNvPr id="6151" name="TextBox 8"/>
          <p:cNvSpPr txBox="1">
            <a:spLocks noChangeArrowheads="1"/>
          </p:cNvSpPr>
          <p:nvPr/>
        </p:nvSpPr>
        <p:spPr bwMode="auto">
          <a:xfrm>
            <a:off x="900113" y="4911725"/>
            <a:ext cx="4967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hlinkClick r:id="rId5" action="ppaction://hlinksldjump"/>
              </a:rPr>
              <a:t>3.5  </a:t>
            </a:r>
            <a:r>
              <a:rPr lang="zh-CN" altLang="zh-CN" sz="2400" b="1">
                <a:hlinkClick r:id="rId5" action="ppaction://hlinksldjump"/>
              </a:rPr>
              <a:t>命令方式操作表数据</a:t>
            </a:r>
            <a:endParaRPr lang="zh-CN" altLang="zh-CN" sz="2400" b="1"/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850" y="1484313"/>
            <a:ext cx="84963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464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表是数据库中最基本的数据对象，用于存放数据库中的数据。在创建数据库之后，就需要建立数据库表。例如，在学生成绩管理系统中，我们最起码需要学生表、课程表和成绩表。表</a:t>
            </a:r>
            <a:r>
              <a:rPr lang="en-US" altLang="zh-CN" dirty="0">
                <a:latin typeface="+mn-lt"/>
                <a:ea typeface="+mn-ea"/>
              </a:rPr>
              <a:t>3.1</a:t>
            </a:r>
            <a:r>
              <a:rPr lang="zh-CN" altLang="zh-CN" dirty="0">
                <a:latin typeface="+mn-lt"/>
                <a:ea typeface="+mn-ea"/>
              </a:rPr>
              <a:t>就是一个“学生”表。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49275" y="2682875"/>
          <a:ext cx="8043862" cy="2330451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13526"/>
                <a:gridCol w="1008701"/>
                <a:gridCol w="777037"/>
                <a:gridCol w="1153490"/>
                <a:gridCol w="839779"/>
                <a:gridCol w="995830"/>
                <a:gridCol w="2255499"/>
              </a:tblGrid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学号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姓名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性别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出生时间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专业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总学分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备注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王林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1990-2-10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191302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程明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1991-2-1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191303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王燕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女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1989-10-6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191304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韦严平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1990-8-26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李方方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1990-11-20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191307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李明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1990-5-1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54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提前修完《数据结构》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191308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林一帆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1989-8-5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计算机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52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班长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3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……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6" marR="6857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diamond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611188" y="1052513"/>
            <a:ext cx="8281987" cy="437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SQL Server 2005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的表可分为：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1079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用户基本表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1079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已分区表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1079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临时表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1079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系统表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用户基本表：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是存放用户数据的标准表，是数据库中最基本、最主要的对象。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4339" name="Rectangle 5"/>
          <p:cNvSpPr>
            <a:spLocks noGrp="1" noChangeArrowheads="1"/>
          </p:cNvSpPr>
          <p:nvPr>
            <p:ph type="title"/>
          </p:nvPr>
        </p:nvSpPr>
        <p:spPr>
          <a:xfrm>
            <a:off x="1116013" y="188913"/>
            <a:ext cx="7488237" cy="576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表的分类</a:t>
            </a:r>
            <a:endParaRPr lang="zh-CN" alt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79388" y="1122363"/>
            <a:ext cx="8713787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AutoNum type="arabicPeriod" startAt="2"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已分区表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endParaRPr lang="en-US" altLang="zh-CN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表按数据水平划分为多个单元，并分布到</a:t>
            </a:r>
            <a:r>
              <a:rPr lang="en-US" altLang="zh-CN" sz="2000">
                <a:latin typeface="宋体" panose="02010600030101010101" pitchFamily="2" charset="-122"/>
              </a:rPr>
              <a:t>DB</a:t>
            </a:r>
            <a:r>
              <a:rPr lang="zh-CN" altLang="en-US" sz="2000">
                <a:latin typeface="宋体" panose="02010600030101010101" pitchFamily="2" charset="-122"/>
              </a:rPr>
              <a:t>中的多个文件组中。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在维护整个集合的完整性时，使用分区可以快速而有效地访问或管理数据子集，从而使大型表或索引更易于管理。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在分区方案下，将数据从 </a:t>
            </a:r>
            <a:r>
              <a:rPr lang="en-US" altLang="zh-CN" sz="2000">
                <a:latin typeface="宋体" panose="02010600030101010101" pitchFamily="2" charset="-122"/>
              </a:rPr>
              <a:t>OLTP </a:t>
            </a:r>
            <a:r>
              <a:rPr lang="zh-CN" altLang="en-US" sz="2000">
                <a:latin typeface="宋体" panose="02010600030101010101" pitchFamily="2" charset="-122"/>
              </a:rPr>
              <a:t>加载到 </a:t>
            </a:r>
            <a:r>
              <a:rPr lang="en-US" altLang="zh-CN" sz="2000">
                <a:latin typeface="宋体" panose="02010600030101010101" pitchFamily="2" charset="-122"/>
              </a:rPr>
              <a:t>OLAP </a:t>
            </a:r>
            <a:r>
              <a:rPr lang="zh-CN" altLang="en-US" sz="2000">
                <a:latin typeface="宋体" panose="02010600030101010101" pitchFamily="2" charset="-122"/>
              </a:rPr>
              <a:t>系统中这样的操作只需几秒钟，而不是像在早期版本中那样需要几分钟或几小时。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对数据子集执行的维护操作也将更有效，因为它们的目标只是所需的数据，而不是整个表。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已分区表支持所有与设计和查询标准表关联的属性和功能，包括约束、默认值、标识和时间戳值、触发器和索引。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分区表主要用于：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表中包含或可能包含以不同方式使用的许多数据；</a:t>
            </a:r>
            <a:endParaRPr lang="zh-CN" altLang="en-US" sz="20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>
                <a:latin typeface="宋体" panose="02010600030101010101" pitchFamily="2" charset="-122"/>
              </a:rPr>
              <a:t>对表的查询或更新没有按照预期的方式执行，或者维护开销超出了预定义的维护期。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116013" y="188913"/>
            <a:ext cx="7343775" cy="576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/>
              <a:t>表的分类</a:t>
            </a:r>
            <a:r>
              <a:rPr lang="en-US" altLang="zh-CN" dirty="0"/>
              <a:t>--</a:t>
            </a:r>
            <a:r>
              <a:rPr lang="zh-CN" altLang="en-US" dirty="0"/>
              <a:t>已分区表</a:t>
            </a:r>
            <a:endParaRPr lang="zh-CN" altLang="en-US" dirty="0"/>
          </a:p>
        </p:txBody>
      </p:sp>
    </p:spTree>
  </p:cSld>
  <p:clrMapOvr>
    <a:masterClrMapping/>
  </p:clrMapOvr>
  <p:transition spd="slow"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916" name="Rectangle 4"/>
          <p:cNvSpPr>
            <a:spLocks noChangeArrowheads="1"/>
          </p:cNvSpPr>
          <p:nvPr/>
        </p:nvSpPr>
        <p:spPr bwMode="auto">
          <a:xfrm>
            <a:off x="179388" y="1208088"/>
            <a:ext cx="8497887" cy="499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marL="542925" indent="-44958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AutoNum type="arabicPeriod" startAt="3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临时表：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93345">
              <a:spcBef>
                <a:spcPct val="20000"/>
              </a:spcBef>
              <a:buClr>
                <a:schemeClr val="accent2"/>
              </a:buClr>
              <a:buSzPct val="80000"/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包括本地临时表和全局临时表。</a:t>
            </a:r>
            <a:endParaRPr lang="zh-CN" altLang="en-US" sz="2400" b="1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42925" indent="-44958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本地临时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表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400" b="1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以单个数字符号 </a:t>
            </a:r>
            <a:r>
              <a:rPr lang="en-US" altLang="zh-CN" sz="2000" dirty="0">
                <a:latin typeface="宋体" panose="02010600030101010101" pitchFamily="2" charset="-122"/>
              </a:rPr>
              <a:t>(#) </a:t>
            </a:r>
            <a:r>
              <a:rPr lang="zh-CN" altLang="en-US" sz="2000" dirty="0">
                <a:latin typeface="宋体" panose="02010600030101010101" pitchFamily="2" charset="-122"/>
              </a:rPr>
              <a:t>打头 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在与首次创建或引用表时相同的</a:t>
            </a:r>
            <a:r>
              <a:rPr lang="en-US" altLang="zh-CN" sz="2000" dirty="0">
                <a:latin typeface="宋体" panose="02010600030101010101" pitchFamily="2" charset="-122"/>
              </a:rPr>
              <a:t>SQL Server</a:t>
            </a:r>
            <a:r>
              <a:rPr lang="zh-CN" altLang="en-US" sz="2000" dirty="0">
                <a:latin typeface="宋体" panose="02010600030101010101" pitchFamily="2" charset="-122"/>
              </a:rPr>
              <a:t>实例连接期间，本地临时表只对于创建者是可见的。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当用户与</a:t>
            </a:r>
            <a:r>
              <a:rPr lang="en-US" altLang="zh-CN" sz="2000" dirty="0">
                <a:latin typeface="宋体" panose="02010600030101010101" pitchFamily="2" charset="-122"/>
              </a:rPr>
              <a:t>SQL Server</a:t>
            </a:r>
            <a:r>
              <a:rPr lang="zh-CN" altLang="en-US" sz="2000" dirty="0">
                <a:latin typeface="宋体" panose="02010600030101010101" pitchFamily="2" charset="-122"/>
              </a:rPr>
              <a:t>实例断开连接后，将删除本地临时表。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542925" indent="-44958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全局临时表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以两个数字符号 </a:t>
            </a:r>
            <a:r>
              <a:rPr lang="en-US" altLang="zh-CN" sz="2000" dirty="0">
                <a:latin typeface="宋体" panose="02010600030101010101" pitchFamily="2" charset="-122"/>
              </a:rPr>
              <a:t>(##) </a:t>
            </a:r>
            <a:r>
              <a:rPr lang="zh-CN" altLang="en-US" sz="2000" dirty="0">
                <a:latin typeface="宋体" panose="02010600030101010101" pitchFamily="2" charset="-122"/>
              </a:rPr>
              <a:t>打头 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在创建后对任何用户和任何连接都是可见的，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106553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宋体" panose="02010600030101010101" pitchFamily="2" charset="-122"/>
              <a:buChar char="–"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当引用该表的所有用户都与</a:t>
            </a:r>
            <a:r>
              <a:rPr lang="en-US" altLang="zh-CN" sz="2000" dirty="0">
                <a:latin typeface="宋体" panose="02010600030101010101" pitchFamily="2" charset="-122"/>
              </a:rPr>
              <a:t>SQL Server</a:t>
            </a:r>
            <a:r>
              <a:rPr lang="zh-CN" altLang="en-US" sz="2000" dirty="0">
                <a:latin typeface="宋体" panose="02010600030101010101" pitchFamily="2" charset="-122"/>
              </a:rPr>
              <a:t>实例断开连接后，将删除全局临时表。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marL="542925" indent="-44958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title"/>
          </p:nvPr>
        </p:nvSpPr>
        <p:spPr>
          <a:xfrm>
            <a:off x="414139" y="95698"/>
            <a:ext cx="8028384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表的分类</a:t>
            </a:r>
            <a:r>
              <a:rPr lang="en-US" altLang="zh-CN" dirty="0"/>
              <a:t>--</a:t>
            </a:r>
            <a:r>
              <a:rPr lang="zh-CN" altLang="en-US" dirty="0"/>
              <a:t>临时表</a:t>
            </a:r>
            <a:endParaRPr lang="zh-CN" alt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79388" y="1196975"/>
            <a:ext cx="8713787" cy="491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indent="2667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AutoNum type="arabicPeriod" startAt="4"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系统表：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SQL Server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将定义服务器配置及其定义所有表的数据存储在一组特殊的表中，这组表称为系统表。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</a:rPr>
              <a:t>除非通过专用的管理员连接，否则用户无法直接查询或更新系统表。</a:t>
            </a:r>
            <a:endParaRPr lang="zh-CN" altLang="en-US" sz="24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</a:rPr>
              <a:t>也可以通过目录视图查看系统表中的信息。</a:t>
            </a:r>
            <a:endParaRPr lang="zh-CN" altLang="en-US" sz="24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endParaRPr lang="zh-CN" altLang="en-US" sz="24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</a:rPr>
              <a:t>重要提示：</a:t>
            </a:r>
            <a:r>
              <a:rPr lang="en-US" altLang="zh-CN" sz="2400">
                <a:latin typeface="宋体" panose="02010600030101010101" pitchFamily="2" charset="-122"/>
              </a:rPr>
              <a:t>SQL Server 2005 Database Engine</a:t>
            </a:r>
            <a:r>
              <a:rPr lang="zh-CN" altLang="en-US" sz="2400">
                <a:latin typeface="宋体" panose="02010600030101010101" pitchFamily="2" charset="-122"/>
              </a:rPr>
              <a:t>系统表已作为</a:t>
            </a:r>
            <a:r>
              <a:rPr lang="zh-CN" altLang="en-US" sz="2400" b="1">
                <a:solidFill>
                  <a:srgbClr val="FF3300"/>
                </a:solidFill>
                <a:latin typeface="宋体" panose="02010600030101010101" pitchFamily="2" charset="-122"/>
              </a:rPr>
              <a:t>只读视图</a:t>
            </a:r>
            <a:r>
              <a:rPr lang="zh-CN" altLang="en-US" sz="2400">
                <a:latin typeface="宋体" panose="02010600030101010101" pitchFamily="2" charset="-122"/>
              </a:rPr>
              <a:t>实现，目的是为了保证</a:t>
            </a:r>
            <a:r>
              <a:rPr lang="en-US" altLang="zh-CN" sz="2400">
                <a:latin typeface="宋体" panose="02010600030101010101" pitchFamily="2" charset="-122"/>
              </a:rPr>
              <a:t>SQL Server 2005</a:t>
            </a:r>
            <a:r>
              <a:rPr lang="zh-CN" altLang="en-US" sz="2400">
                <a:latin typeface="宋体" panose="02010600030101010101" pitchFamily="2" charset="-122"/>
              </a:rPr>
              <a:t>中的向后兼容性。</a:t>
            </a:r>
            <a:endParaRPr lang="zh-CN" altLang="en-US" sz="2400">
              <a:latin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>
                <a:latin typeface="宋体" panose="02010600030101010101" pitchFamily="2" charset="-122"/>
              </a:rPr>
              <a:t>无法直接使用这些系统表中的数据。建议通过使用目录视图访问</a:t>
            </a:r>
            <a:r>
              <a:rPr lang="en-US" altLang="zh-CN" sz="2400">
                <a:latin typeface="宋体" panose="02010600030101010101" pitchFamily="2" charset="-122"/>
              </a:rPr>
              <a:t>SQL Server</a:t>
            </a:r>
            <a:r>
              <a:rPr lang="zh-CN" altLang="en-US" sz="2400">
                <a:latin typeface="宋体" panose="02010600030101010101" pitchFamily="2" charset="-122"/>
              </a:rPr>
              <a:t>元数据。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323528" y="84585"/>
            <a:ext cx="8028384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表的分类</a:t>
            </a:r>
            <a:r>
              <a:rPr lang="en-US" altLang="zh-CN" dirty="0"/>
              <a:t>--</a:t>
            </a:r>
            <a:r>
              <a:rPr lang="zh-CN" altLang="en-US" dirty="0"/>
              <a:t>系统表</a:t>
            </a:r>
            <a:endParaRPr lang="zh-CN" altLang="en-US" dirty="0"/>
          </a:p>
        </p:txBody>
      </p:sp>
    </p:spTree>
  </p:cSld>
  <p:clrMapOvr>
    <a:masterClrMapping/>
  </p:clrMapOvr>
  <p:transition spd="slow">
    <p:diamond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  </a:t>
            </a:r>
            <a:r>
              <a:rPr lang="zh-CN" altLang="zh-CN" dirty="0">
                <a:effectLst/>
              </a:rPr>
              <a:t>表结构和数据类型</a:t>
            </a:r>
            <a:br>
              <a:rPr lang="zh-CN" altLang="zh-CN" dirty="0">
                <a:effectLst/>
              </a:rPr>
            </a:br>
            <a:endParaRPr lang="zh-CN" altLang="en-US" dirty="0"/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755650" y="1628775"/>
            <a:ext cx="59769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3.1.1  </a:t>
            </a:r>
            <a:r>
              <a:rPr lang="zh-CN" altLang="zh-CN" sz="2000" b="1" dirty="0"/>
              <a:t>数据类型</a:t>
            </a:r>
            <a:endParaRPr lang="zh-CN" altLang="zh-CN" sz="2000" b="1" dirty="0"/>
          </a:p>
          <a:p>
            <a:pPr eaLnBrk="1" fontAlgn="ctr" hangingPunct="1"/>
            <a:r>
              <a:rPr lang="en-US" altLang="zh-CN" dirty="0"/>
              <a:t>SQL Server</a:t>
            </a:r>
            <a:r>
              <a:rPr lang="zh-CN" altLang="zh-CN" dirty="0"/>
              <a:t>提供的数据类型如表</a:t>
            </a:r>
            <a:r>
              <a:rPr lang="en-US" altLang="zh-CN" dirty="0"/>
              <a:t>3.2</a:t>
            </a:r>
            <a:r>
              <a:rPr lang="zh-CN" altLang="zh-CN" dirty="0"/>
              <a:t>所示。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58825" y="2349500"/>
          <a:ext cx="7467600" cy="298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2078980"/>
                <a:gridCol w="5388620"/>
              </a:tblGrid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数据类型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符号标识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bigint, int, smallint, tinyint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精确数值型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decimal, numeric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浮点型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float, real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货币型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money, smallmoney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bit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字符型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char, varchar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varchar(MAX)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Unicode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字符型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nchar, nvarchar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nvarchar(MAX)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文本型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text, ntext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二进制型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binary, varbinary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varbinary(MAX)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日期时间类型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datetime, smalldatetime, date, time, datetime2, datetimeoffset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时间戳型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timestamp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图像型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image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其他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cursor, </a:t>
                      </a:r>
                      <a:r>
                        <a:rPr lang="en-US" sz="1400" kern="1000" dirty="0" err="1">
                          <a:effectLst/>
                          <a:latin typeface="Times New Roman" panose="02020603050405020304"/>
                          <a:ea typeface="方正书宋简体"/>
                        </a:rPr>
                        <a:t>sql</a:t>
                      </a:r>
                      <a:r>
                        <a:rPr lang="en-US" sz="1400" kern="1000" dirty="0" err="1">
                          <a:effectLst/>
                          <a:latin typeface="宋体" panose="02010600030101010101" pitchFamily="2" charset="-122"/>
                          <a:ea typeface="方正书宋简体"/>
                        </a:rPr>
                        <a:t>_</a:t>
                      </a:r>
                      <a:r>
                        <a:rPr lang="en-US" sz="1400" kern="1000" dirty="0" err="1">
                          <a:effectLst/>
                          <a:latin typeface="Times New Roman" panose="02020603050405020304"/>
                          <a:ea typeface="方正书宋简体"/>
                        </a:rPr>
                        <a:t>variant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, table, </a:t>
                      </a:r>
                      <a:r>
                        <a:rPr lang="en-US" sz="1400" kern="1000" dirty="0" err="1">
                          <a:effectLst/>
                          <a:latin typeface="Times New Roman" panose="02020603050405020304"/>
                          <a:ea typeface="方正书宋简体"/>
                        </a:rPr>
                        <a:t>uniqueidentifier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, xml, </a:t>
                      </a:r>
                      <a:r>
                        <a:rPr lang="en-US" sz="1400" kern="1000" dirty="0" err="1">
                          <a:effectLst/>
                          <a:latin typeface="Times New Roman" panose="02020603050405020304"/>
                          <a:ea typeface="方正书宋简体"/>
                        </a:rPr>
                        <a:t>hierarchyid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zh-CN" dirty="0">
              <a:effectLst/>
            </a:endParaRP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2804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．整数型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整数型包括</a:t>
            </a:r>
            <a:r>
              <a:rPr lang="en-US" altLang="zh-CN"/>
              <a:t>bigint</a:t>
            </a:r>
            <a:r>
              <a:rPr lang="zh-CN" altLang="zh-CN"/>
              <a:t>、</a:t>
            </a:r>
            <a:r>
              <a:rPr lang="en-US" altLang="zh-CN"/>
              <a:t>int</a:t>
            </a:r>
            <a:r>
              <a:rPr lang="zh-CN" altLang="zh-CN"/>
              <a:t>、</a:t>
            </a:r>
            <a:r>
              <a:rPr lang="en-US" altLang="zh-CN"/>
              <a:t>smallint</a:t>
            </a:r>
            <a:r>
              <a:rPr lang="zh-CN" altLang="zh-CN"/>
              <a:t>和</a:t>
            </a:r>
            <a:r>
              <a:rPr lang="en-US" altLang="zh-CN"/>
              <a:t>tinyint</a:t>
            </a:r>
            <a:r>
              <a:rPr lang="zh-CN" altLang="zh-CN"/>
              <a:t>，从标识符的含义就可以看出，它们的表示数范围逐渐缩小。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bigint</a:t>
            </a:r>
            <a:r>
              <a:rPr lang="zh-CN" altLang="zh-CN"/>
              <a:t>：大整数，数范围为</a:t>
            </a:r>
            <a:r>
              <a:rPr lang="en-US" altLang="zh-CN"/>
              <a:t>−263</a:t>
            </a:r>
            <a:r>
              <a:rPr lang="zh-CN" altLang="zh-CN"/>
              <a:t>～</a:t>
            </a:r>
            <a:r>
              <a:rPr lang="en-US" altLang="zh-CN"/>
              <a:t>263−1</a:t>
            </a:r>
            <a:r>
              <a:rPr lang="zh-CN" altLang="zh-CN"/>
              <a:t>，其精度为</a:t>
            </a:r>
            <a:r>
              <a:rPr lang="en-US" altLang="zh-CN"/>
              <a:t>19</a:t>
            </a:r>
            <a:r>
              <a:rPr lang="zh-CN" altLang="zh-CN"/>
              <a:t>，小数位数为</a:t>
            </a:r>
            <a:r>
              <a:rPr lang="en-US" altLang="zh-CN"/>
              <a:t>0</a:t>
            </a:r>
            <a:r>
              <a:rPr lang="zh-CN" altLang="zh-CN"/>
              <a:t>，长度为</a:t>
            </a:r>
            <a:r>
              <a:rPr lang="en-US" altLang="zh-CN"/>
              <a:t>8</a:t>
            </a:r>
            <a:r>
              <a:rPr lang="zh-CN" altLang="zh-CN"/>
              <a:t>字节。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int</a:t>
            </a:r>
            <a:r>
              <a:rPr lang="zh-CN" altLang="zh-CN"/>
              <a:t>：整数，数范围为</a:t>
            </a:r>
            <a:r>
              <a:rPr lang="en-US" altLang="zh-CN"/>
              <a:t>−231</a:t>
            </a:r>
            <a:r>
              <a:rPr lang="zh-CN" altLang="zh-CN"/>
              <a:t>～</a:t>
            </a:r>
            <a:r>
              <a:rPr lang="en-US" altLang="zh-CN"/>
              <a:t>231−1</a:t>
            </a:r>
            <a:r>
              <a:rPr lang="zh-CN" altLang="zh-CN"/>
              <a:t>，其精度为</a:t>
            </a:r>
            <a:r>
              <a:rPr lang="en-US" altLang="zh-CN"/>
              <a:t>10</a:t>
            </a:r>
            <a:r>
              <a:rPr lang="zh-CN" altLang="zh-CN"/>
              <a:t>，小数位数为</a:t>
            </a:r>
            <a:r>
              <a:rPr lang="en-US" altLang="zh-CN"/>
              <a:t>0</a:t>
            </a:r>
            <a:r>
              <a:rPr lang="zh-CN" altLang="zh-CN"/>
              <a:t>，长度为</a:t>
            </a:r>
            <a:r>
              <a:rPr lang="en-US" altLang="zh-CN"/>
              <a:t>4</a:t>
            </a:r>
            <a:r>
              <a:rPr lang="zh-CN" altLang="zh-CN"/>
              <a:t>字节。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</a:t>
            </a:r>
            <a:r>
              <a:rPr lang="en-US" altLang="zh-CN"/>
              <a:t>smallint</a:t>
            </a:r>
            <a:r>
              <a:rPr lang="zh-CN" altLang="zh-CN"/>
              <a:t>：短整数，数范围为</a:t>
            </a:r>
            <a:r>
              <a:rPr lang="en-US" altLang="zh-CN"/>
              <a:t>−215</a:t>
            </a:r>
            <a:r>
              <a:rPr lang="zh-CN" altLang="zh-CN"/>
              <a:t>～</a:t>
            </a:r>
            <a:r>
              <a:rPr lang="en-US" altLang="zh-CN"/>
              <a:t>215−1</a:t>
            </a:r>
            <a:r>
              <a:rPr lang="zh-CN" altLang="zh-CN"/>
              <a:t>，其精度为</a:t>
            </a:r>
            <a:r>
              <a:rPr lang="en-US" altLang="zh-CN"/>
              <a:t>5</a:t>
            </a:r>
            <a:r>
              <a:rPr lang="zh-CN" altLang="zh-CN"/>
              <a:t>，小数位数为</a:t>
            </a:r>
            <a:r>
              <a:rPr lang="en-US" altLang="zh-CN"/>
              <a:t>0</a:t>
            </a:r>
            <a:r>
              <a:rPr lang="zh-CN" altLang="zh-CN"/>
              <a:t>，长度为</a:t>
            </a:r>
            <a:r>
              <a:rPr lang="en-US" altLang="zh-CN"/>
              <a:t>2</a:t>
            </a:r>
            <a:r>
              <a:rPr lang="zh-CN" altLang="zh-CN"/>
              <a:t>字节。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</a:t>
            </a:r>
            <a:r>
              <a:rPr lang="en-US" altLang="zh-CN"/>
              <a:t>tinyint</a:t>
            </a:r>
            <a:r>
              <a:rPr lang="zh-CN" altLang="zh-CN"/>
              <a:t>：微短整数，数范围为</a:t>
            </a:r>
            <a:r>
              <a:rPr lang="en-US" altLang="zh-CN"/>
              <a:t>0</a:t>
            </a:r>
            <a:r>
              <a:rPr lang="zh-CN" altLang="zh-CN"/>
              <a:t>～</a:t>
            </a:r>
            <a:r>
              <a:rPr lang="en-US" altLang="zh-CN"/>
              <a:t>255</a:t>
            </a:r>
            <a:r>
              <a:rPr lang="zh-CN" altLang="zh-CN"/>
              <a:t>，长度为</a:t>
            </a:r>
            <a:r>
              <a:rPr lang="en-US" altLang="zh-CN"/>
              <a:t>1</a:t>
            </a:r>
            <a:r>
              <a:rPr lang="zh-CN" altLang="zh-CN"/>
              <a:t>字节，其精度为</a:t>
            </a:r>
            <a:r>
              <a:rPr lang="en-US" altLang="zh-CN"/>
              <a:t>3</a:t>
            </a:r>
            <a:r>
              <a:rPr lang="zh-CN" altLang="zh-CN"/>
              <a:t>，小数位数为</a:t>
            </a:r>
            <a:r>
              <a:rPr lang="en-US" altLang="zh-CN"/>
              <a:t>0</a:t>
            </a:r>
            <a:r>
              <a:rPr lang="zh-CN" altLang="zh-CN"/>
              <a:t>，长度为</a:t>
            </a:r>
            <a:r>
              <a:rPr lang="en-US" altLang="zh-CN"/>
              <a:t>1</a:t>
            </a:r>
            <a:r>
              <a:rPr lang="zh-CN" altLang="zh-CN"/>
              <a:t>字节。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diamond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4248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．精确数值型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精确数值型数据由整数部分和小数部分构成，其所有的数字都是有效位，能够以完整的精度存储十进制数。精确数值型包括</a:t>
            </a:r>
            <a:r>
              <a:rPr lang="en-US" altLang="zh-CN"/>
              <a:t>decimal</a:t>
            </a:r>
            <a:r>
              <a:rPr lang="zh-CN" altLang="zh-CN"/>
              <a:t>和</a:t>
            </a:r>
            <a:r>
              <a:rPr lang="en-US" altLang="zh-CN"/>
              <a:t>numeric</a:t>
            </a:r>
            <a:r>
              <a:rPr lang="zh-CN" altLang="zh-CN"/>
              <a:t>两类。但这两种数据类型在功能上完全等价。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声明精确数值型数据的格式是</a:t>
            </a:r>
            <a:r>
              <a:rPr lang="en-US" altLang="zh-CN"/>
              <a:t>numeric | decimal(p[,s])</a:t>
            </a:r>
            <a:r>
              <a:rPr lang="zh-CN" altLang="zh-CN"/>
              <a:t>，其中</a:t>
            </a:r>
            <a:r>
              <a:rPr lang="en-US" altLang="zh-CN"/>
              <a:t>p</a:t>
            </a:r>
            <a:r>
              <a:rPr lang="zh-CN" altLang="zh-CN"/>
              <a:t>为精度，</a:t>
            </a:r>
            <a:r>
              <a:rPr lang="en-US" altLang="zh-CN"/>
              <a:t>s</a:t>
            </a:r>
            <a:r>
              <a:rPr lang="zh-CN" altLang="zh-CN"/>
              <a:t>为小数位数，</a:t>
            </a:r>
            <a:r>
              <a:rPr lang="en-US" altLang="zh-CN"/>
              <a:t>s</a:t>
            </a:r>
            <a:r>
              <a:rPr lang="zh-CN" altLang="zh-CN"/>
              <a:t>的默认值为</a:t>
            </a:r>
            <a:r>
              <a:rPr lang="en-US" altLang="zh-CN"/>
              <a:t>0</a:t>
            </a:r>
            <a:r>
              <a:rPr lang="zh-CN" altLang="zh-CN"/>
              <a:t>。例如，指定某列为精确数值型，精度为</a:t>
            </a:r>
            <a:r>
              <a:rPr lang="en-US" altLang="zh-CN"/>
              <a:t>6</a:t>
            </a:r>
            <a:r>
              <a:rPr lang="zh-CN" altLang="zh-CN"/>
              <a:t>，小数位数为</a:t>
            </a:r>
            <a:r>
              <a:rPr lang="en-US" altLang="zh-CN"/>
              <a:t>3</a:t>
            </a:r>
            <a:r>
              <a:rPr lang="zh-CN" altLang="zh-CN"/>
              <a:t>，即</a:t>
            </a:r>
            <a:r>
              <a:rPr lang="en-US" altLang="zh-CN"/>
              <a:t>decimal(6,3)</a:t>
            </a:r>
            <a:r>
              <a:rPr lang="zh-CN" altLang="zh-CN"/>
              <a:t>，那么当向某记录的该列赋值</a:t>
            </a:r>
            <a:r>
              <a:rPr lang="en-US" altLang="zh-CN"/>
              <a:t>56.342 689</a:t>
            </a:r>
            <a:r>
              <a:rPr lang="zh-CN" altLang="zh-CN"/>
              <a:t>时，该列实际存储的是</a:t>
            </a:r>
            <a:r>
              <a:rPr lang="en-US" altLang="zh-CN"/>
              <a:t>56.343</a:t>
            </a:r>
            <a:r>
              <a:rPr lang="zh-CN" altLang="zh-CN"/>
              <a:t>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424862" cy="378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3</a:t>
            </a:r>
            <a:r>
              <a:rPr lang="zh-CN" altLang="zh-CN" b="1">
                <a:solidFill>
                  <a:srgbClr val="C00000"/>
                </a:solidFill>
              </a:rPr>
              <a:t>．浮点型</a:t>
            </a:r>
            <a:r>
              <a:rPr lang="en-US" altLang="zh-CN" b="1">
                <a:solidFill>
                  <a:srgbClr val="C00000"/>
                </a:solidFill>
              </a:rPr>
              <a:t> 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有两种近似数值数据类型：</a:t>
            </a:r>
            <a:r>
              <a:rPr lang="en-US" altLang="zh-CN"/>
              <a:t>float[(n)]</a:t>
            </a:r>
            <a:r>
              <a:rPr lang="zh-CN" altLang="zh-CN"/>
              <a:t>和</a:t>
            </a:r>
            <a:r>
              <a:rPr lang="en-US" altLang="zh-CN"/>
              <a:t>real</a:t>
            </a:r>
            <a:r>
              <a:rPr lang="zh-CN" altLang="zh-CN"/>
              <a:t>，两者通常都使用科学计数法表示数据，即形为：尾数</a:t>
            </a:r>
            <a:r>
              <a:rPr lang="en-US" altLang="zh-CN"/>
              <a:t>E</a:t>
            </a:r>
            <a:r>
              <a:rPr lang="zh-CN" altLang="zh-CN"/>
              <a:t>阶数，如</a:t>
            </a:r>
            <a:r>
              <a:rPr lang="en-US" altLang="zh-CN"/>
              <a:t>5.6432E20</a:t>
            </a:r>
            <a:r>
              <a:rPr lang="zh-CN" altLang="zh-CN"/>
              <a:t>，</a:t>
            </a:r>
            <a:r>
              <a:rPr lang="en-US" altLang="zh-CN"/>
              <a:t>−2.98E10</a:t>
            </a:r>
            <a:r>
              <a:rPr lang="zh-CN" altLang="zh-CN"/>
              <a:t>，</a:t>
            </a:r>
            <a:r>
              <a:rPr lang="en-US" altLang="zh-CN"/>
              <a:t>1.287659E−9</a:t>
            </a:r>
            <a:r>
              <a:rPr lang="zh-CN" altLang="zh-CN"/>
              <a:t>等。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real</a:t>
            </a:r>
            <a:r>
              <a:rPr lang="zh-CN" altLang="zh-CN"/>
              <a:t>：使用</a:t>
            </a:r>
            <a:r>
              <a:rPr lang="en-US" altLang="zh-CN"/>
              <a:t>4</a:t>
            </a:r>
            <a:r>
              <a:rPr lang="zh-CN" altLang="zh-CN"/>
              <a:t>字节存储数据，数范围为</a:t>
            </a:r>
            <a:r>
              <a:rPr lang="en-US" altLang="zh-CN"/>
              <a:t>−3.40E+38</a:t>
            </a:r>
            <a:r>
              <a:rPr lang="zh-CN" altLang="zh-CN"/>
              <a:t>～</a:t>
            </a:r>
            <a:r>
              <a:rPr lang="en-US" altLang="zh-CN"/>
              <a:t>3.40E+38</a:t>
            </a:r>
            <a:r>
              <a:rPr lang="zh-CN" altLang="zh-CN"/>
              <a:t>，数据精度为</a:t>
            </a:r>
            <a:r>
              <a:rPr lang="en-US" altLang="zh-CN"/>
              <a:t>7</a:t>
            </a:r>
            <a:r>
              <a:rPr lang="zh-CN" altLang="zh-CN"/>
              <a:t>位有效数字。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float</a:t>
            </a:r>
            <a:r>
              <a:rPr lang="zh-CN" altLang="zh-CN"/>
              <a:t>：</a:t>
            </a:r>
            <a:r>
              <a:rPr lang="en-US" altLang="zh-CN"/>
              <a:t>float</a:t>
            </a:r>
            <a:r>
              <a:rPr lang="zh-CN" altLang="zh-CN"/>
              <a:t>型数据的数范围为</a:t>
            </a:r>
            <a:r>
              <a:rPr lang="en-US" altLang="zh-CN"/>
              <a:t>−1.79E+308</a:t>
            </a:r>
            <a:r>
              <a:rPr lang="zh-CN" altLang="zh-CN"/>
              <a:t>～</a:t>
            </a:r>
            <a:r>
              <a:rPr lang="en-US" altLang="zh-CN"/>
              <a:t>1.79E+308</a:t>
            </a:r>
            <a:r>
              <a:rPr lang="zh-CN" altLang="zh-CN"/>
              <a:t>。定义中的</a:t>
            </a:r>
            <a:r>
              <a:rPr lang="en-US" altLang="zh-CN"/>
              <a:t>n</a:t>
            </a:r>
            <a:r>
              <a:rPr lang="zh-CN" altLang="zh-CN"/>
              <a:t>取值范围是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53</a:t>
            </a:r>
            <a:r>
              <a:rPr lang="zh-CN" altLang="zh-CN"/>
              <a:t>，用于指示其精度和存储大小。当</a:t>
            </a:r>
            <a:r>
              <a:rPr lang="en-US" altLang="zh-CN"/>
              <a:t>n</a:t>
            </a:r>
            <a:r>
              <a:rPr lang="zh-CN" altLang="zh-CN"/>
              <a:t>在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24</a:t>
            </a:r>
            <a:r>
              <a:rPr lang="zh-CN" altLang="zh-CN"/>
              <a:t>时，实际上将定义一个</a:t>
            </a:r>
            <a:r>
              <a:rPr lang="en-US" altLang="zh-CN"/>
              <a:t>real</a:t>
            </a:r>
            <a:r>
              <a:rPr lang="zh-CN" altLang="zh-CN"/>
              <a:t>型数据，存储长度为</a:t>
            </a:r>
            <a:r>
              <a:rPr lang="en-US" altLang="zh-CN"/>
              <a:t>4</a:t>
            </a:r>
            <a:r>
              <a:rPr lang="zh-CN" altLang="zh-CN"/>
              <a:t>字节，精度为</a:t>
            </a:r>
            <a:r>
              <a:rPr lang="en-US" altLang="zh-CN"/>
              <a:t>7</a:t>
            </a:r>
            <a:r>
              <a:rPr lang="zh-CN" altLang="zh-CN"/>
              <a:t>位有效数字。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diamond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323850" y="1557338"/>
            <a:ext cx="8424863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4</a:t>
            </a:r>
            <a:r>
              <a:rPr lang="zh-CN" altLang="zh-CN" b="1">
                <a:solidFill>
                  <a:srgbClr val="C00000"/>
                </a:solidFill>
              </a:rPr>
              <a:t>．货币型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en-US" altLang="zh-CN"/>
              <a:t>SQL Server</a:t>
            </a:r>
            <a:r>
              <a:rPr lang="zh-CN" altLang="zh-CN"/>
              <a:t>提供了两个专门用于处理货币的数据类型：</a:t>
            </a:r>
            <a:r>
              <a:rPr lang="en-US" altLang="zh-CN"/>
              <a:t>money</a:t>
            </a:r>
            <a:r>
              <a:rPr lang="zh-CN" altLang="zh-CN"/>
              <a:t>和</a:t>
            </a:r>
            <a:r>
              <a:rPr lang="en-US" altLang="zh-CN"/>
              <a:t>smallmoney</a:t>
            </a:r>
            <a:r>
              <a:rPr lang="zh-CN" altLang="zh-CN"/>
              <a:t>，它们用十进制数表示货币值。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money</a:t>
            </a:r>
            <a:r>
              <a:rPr lang="zh-CN" altLang="zh-CN"/>
              <a:t>：数据的数范围为</a:t>
            </a:r>
            <a:r>
              <a:rPr lang="en-US" altLang="zh-CN"/>
              <a:t>−263</a:t>
            </a:r>
            <a:r>
              <a:rPr lang="zh-CN" altLang="zh-CN"/>
              <a:t>～</a:t>
            </a:r>
            <a:r>
              <a:rPr lang="en-US" altLang="zh-CN"/>
              <a:t>263−1</a:t>
            </a:r>
            <a:r>
              <a:rPr lang="zh-CN" altLang="zh-CN"/>
              <a:t>，其精度为</a:t>
            </a:r>
            <a:r>
              <a:rPr lang="en-US" altLang="zh-CN"/>
              <a:t>19</a:t>
            </a:r>
            <a:r>
              <a:rPr lang="zh-CN" altLang="zh-CN"/>
              <a:t>，小数位数为</a:t>
            </a:r>
            <a:r>
              <a:rPr lang="en-US" altLang="zh-CN"/>
              <a:t>4</a:t>
            </a:r>
            <a:r>
              <a:rPr lang="zh-CN" altLang="zh-CN"/>
              <a:t>，长度为</a:t>
            </a:r>
            <a:r>
              <a:rPr lang="en-US" altLang="zh-CN"/>
              <a:t>8</a:t>
            </a:r>
            <a:r>
              <a:rPr lang="zh-CN" altLang="zh-CN"/>
              <a:t>字节。</a:t>
            </a:r>
            <a:r>
              <a:rPr lang="en-US" altLang="zh-CN"/>
              <a:t>money</a:t>
            </a:r>
            <a:r>
              <a:rPr lang="zh-CN" altLang="zh-CN"/>
              <a:t>的数范围与</a:t>
            </a:r>
            <a:r>
              <a:rPr lang="en-US" altLang="zh-CN"/>
              <a:t>bigint</a:t>
            </a:r>
            <a:r>
              <a:rPr lang="zh-CN" altLang="zh-CN"/>
              <a:t>相同，不同的只是</a:t>
            </a:r>
            <a:r>
              <a:rPr lang="en-US" altLang="zh-CN"/>
              <a:t>money</a:t>
            </a:r>
            <a:r>
              <a:rPr lang="zh-CN" altLang="zh-CN"/>
              <a:t>型有</a:t>
            </a:r>
            <a:r>
              <a:rPr lang="en-US" altLang="zh-CN"/>
              <a:t>4</a:t>
            </a:r>
            <a:r>
              <a:rPr lang="zh-CN" altLang="zh-CN"/>
              <a:t>位小数。实际上，</a:t>
            </a:r>
            <a:r>
              <a:rPr lang="en-US" altLang="zh-CN"/>
              <a:t>money</a:t>
            </a:r>
            <a:r>
              <a:rPr lang="zh-CN" altLang="zh-CN"/>
              <a:t>就是按照整数进行运算的，只是将小数点固定在末</a:t>
            </a:r>
            <a:r>
              <a:rPr lang="en-US" altLang="zh-CN"/>
              <a:t>4</a:t>
            </a:r>
            <a:r>
              <a:rPr lang="zh-CN" altLang="zh-CN"/>
              <a:t>位。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smallmoney</a:t>
            </a:r>
            <a:r>
              <a:rPr lang="zh-CN" altLang="zh-CN"/>
              <a:t>：数范围为</a:t>
            </a:r>
            <a:r>
              <a:rPr lang="en-US" altLang="zh-CN"/>
              <a:t>−231</a:t>
            </a:r>
            <a:r>
              <a:rPr lang="zh-CN" altLang="zh-CN"/>
              <a:t>～</a:t>
            </a:r>
            <a:r>
              <a:rPr lang="en-US" altLang="zh-CN"/>
              <a:t>231−1</a:t>
            </a:r>
            <a:r>
              <a:rPr lang="zh-CN" altLang="zh-CN"/>
              <a:t>，其精度为</a:t>
            </a:r>
            <a:r>
              <a:rPr lang="en-US" altLang="zh-CN"/>
              <a:t>10</a:t>
            </a:r>
            <a:r>
              <a:rPr lang="zh-CN" altLang="zh-CN"/>
              <a:t>，小数位数为</a:t>
            </a:r>
            <a:r>
              <a:rPr lang="en-US" altLang="zh-CN"/>
              <a:t>4</a:t>
            </a:r>
            <a:r>
              <a:rPr lang="zh-CN" altLang="zh-CN"/>
              <a:t>，长度为</a:t>
            </a:r>
            <a:r>
              <a:rPr lang="en-US" altLang="zh-CN"/>
              <a:t>4</a:t>
            </a:r>
            <a:r>
              <a:rPr lang="zh-CN" altLang="zh-CN"/>
              <a:t>字节。</a:t>
            </a:r>
            <a:endParaRPr lang="zh-CN" altLang="zh-CN"/>
          </a:p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5</a:t>
            </a:r>
            <a:r>
              <a:rPr lang="zh-CN" altLang="zh-CN" b="1">
                <a:solidFill>
                  <a:srgbClr val="C00000"/>
                </a:solidFill>
              </a:rPr>
              <a:t>．位型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en-US" altLang="zh-CN"/>
              <a:t>SQL Server</a:t>
            </a:r>
            <a:r>
              <a:rPr lang="zh-CN" altLang="zh-CN"/>
              <a:t>的位（</a:t>
            </a:r>
            <a:r>
              <a:rPr lang="en-US" altLang="zh-CN"/>
              <a:t>bit</a:t>
            </a:r>
            <a:r>
              <a:rPr lang="zh-CN" altLang="zh-CN"/>
              <a:t>）型数据相当于其他语言中的逻辑型数据，它只存储</a:t>
            </a:r>
            <a:r>
              <a:rPr lang="en-US" altLang="zh-CN"/>
              <a:t>0</a:t>
            </a:r>
            <a:r>
              <a:rPr lang="zh-CN" altLang="zh-CN"/>
              <a:t>和</a:t>
            </a:r>
            <a:r>
              <a:rPr lang="en-US" altLang="zh-CN"/>
              <a:t>1</a:t>
            </a:r>
            <a:r>
              <a:rPr lang="zh-CN" altLang="zh-CN"/>
              <a:t>，长度为</a:t>
            </a:r>
            <a:r>
              <a:rPr lang="en-US" altLang="zh-CN"/>
              <a:t>1</a:t>
            </a:r>
            <a:r>
              <a:rPr lang="zh-CN" altLang="zh-CN"/>
              <a:t>字节。但要注意，</a:t>
            </a:r>
            <a:r>
              <a:rPr lang="en-US" altLang="zh-CN"/>
              <a:t>SQL Server</a:t>
            </a:r>
            <a:r>
              <a:rPr lang="zh-CN" altLang="zh-CN"/>
              <a:t>对表中</a:t>
            </a:r>
            <a:r>
              <a:rPr lang="en-US" altLang="zh-CN"/>
              <a:t>bit</a:t>
            </a:r>
            <a:r>
              <a:rPr lang="zh-CN" altLang="zh-CN"/>
              <a:t>类型列的存储进行了优化：如果一个表中有不多于</a:t>
            </a:r>
            <a:r>
              <a:rPr lang="en-US" altLang="zh-CN"/>
              <a:t>8</a:t>
            </a:r>
            <a:r>
              <a:rPr lang="zh-CN" altLang="zh-CN"/>
              <a:t>个的</a:t>
            </a:r>
            <a:r>
              <a:rPr lang="en-US" altLang="zh-CN"/>
              <a:t>bit</a:t>
            </a:r>
            <a:r>
              <a:rPr lang="zh-CN" altLang="zh-CN"/>
              <a:t>列，则这些列将作为</a:t>
            </a:r>
            <a:r>
              <a:rPr lang="en-US" altLang="zh-CN"/>
              <a:t>1</a:t>
            </a:r>
            <a:r>
              <a:rPr lang="zh-CN" altLang="zh-CN"/>
              <a:t>字节存储；如果表中有</a:t>
            </a:r>
            <a:r>
              <a:rPr lang="en-US" altLang="zh-CN"/>
              <a:t>9</a:t>
            </a:r>
            <a:r>
              <a:rPr lang="zh-CN" altLang="zh-CN"/>
              <a:t>～</a:t>
            </a:r>
            <a:r>
              <a:rPr lang="en-US" altLang="zh-CN"/>
              <a:t>16</a:t>
            </a:r>
            <a:r>
              <a:rPr lang="zh-CN" altLang="zh-CN"/>
              <a:t>个</a:t>
            </a:r>
            <a:r>
              <a:rPr lang="en-US" altLang="zh-CN"/>
              <a:t>bit</a:t>
            </a:r>
            <a:r>
              <a:rPr lang="zh-CN" altLang="zh-CN"/>
              <a:t>列，则这些列将作为</a:t>
            </a:r>
            <a:r>
              <a:rPr lang="en-US" altLang="zh-CN"/>
              <a:t>2</a:t>
            </a:r>
            <a:r>
              <a:rPr lang="zh-CN" altLang="zh-CN"/>
              <a:t>字节存储，更多列的情况以此类推。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7411" name="TextBox 2"/>
          <p:cNvSpPr txBox="1">
            <a:spLocks noChangeArrowheads="1"/>
          </p:cNvSpPr>
          <p:nvPr/>
        </p:nvSpPr>
        <p:spPr bwMode="auto">
          <a:xfrm>
            <a:off x="323850" y="1484313"/>
            <a:ext cx="84963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6</a:t>
            </a:r>
            <a:r>
              <a:rPr lang="zh-CN" altLang="zh-CN" b="1">
                <a:solidFill>
                  <a:srgbClr val="C00000"/>
                </a:solidFill>
              </a:rPr>
              <a:t>．字符型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en-US" altLang="zh-CN"/>
              <a:t>SQL Server</a:t>
            </a:r>
            <a:r>
              <a:rPr lang="zh-CN" altLang="zh-CN"/>
              <a:t>字符型包括两类：固定长度（</a:t>
            </a:r>
            <a:r>
              <a:rPr lang="en-US" altLang="zh-CN"/>
              <a:t>char</a:t>
            </a:r>
            <a:r>
              <a:rPr lang="zh-CN" altLang="zh-CN"/>
              <a:t>）或可变长度（</a:t>
            </a:r>
            <a:r>
              <a:rPr lang="en-US" altLang="zh-CN"/>
              <a:t>varchar</a:t>
            </a:r>
            <a:r>
              <a:rPr lang="zh-CN" altLang="zh-CN"/>
              <a:t>）字符数据类型。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char[(n)]</a:t>
            </a:r>
            <a:r>
              <a:rPr lang="zh-CN" altLang="zh-CN"/>
              <a:t>：定长字符数据类型，其中</a:t>
            </a:r>
            <a:r>
              <a:rPr lang="en-US" altLang="zh-CN"/>
              <a:t>n</a:t>
            </a:r>
            <a:r>
              <a:rPr lang="zh-CN" altLang="zh-CN"/>
              <a:t>定义字符型数据的长度，</a:t>
            </a:r>
            <a:r>
              <a:rPr lang="en-US" altLang="zh-CN"/>
              <a:t>n</a:t>
            </a:r>
            <a:r>
              <a:rPr lang="zh-CN" altLang="zh-CN"/>
              <a:t>在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8 000</a:t>
            </a:r>
            <a:r>
              <a:rPr lang="zh-CN" altLang="zh-CN"/>
              <a:t>，默认为</a:t>
            </a:r>
            <a:r>
              <a:rPr lang="en-US" altLang="zh-CN"/>
              <a:t>1</a:t>
            </a:r>
            <a:r>
              <a:rPr lang="zh-CN" altLang="zh-CN"/>
              <a:t>。当表中的列定义为</a:t>
            </a:r>
            <a:r>
              <a:rPr lang="en-US" altLang="zh-CN"/>
              <a:t>char(n)</a:t>
            </a:r>
            <a:r>
              <a:rPr lang="zh-CN" altLang="zh-CN"/>
              <a:t>类型时，若实际存储的串长度不足</a:t>
            </a:r>
            <a:r>
              <a:rPr lang="en-US" altLang="zh-CN"/>
              <a:t>n</a:t>
            </a:r>
            <a:r>
              <a:rPr lang="zh-CN" altLang="zh-CN"/>
              <a:t>时，则在串的尾部添加空格以达到长度</a:t>
            </a:r>
            <a:r>
              <a:rPr lang="en-US" altLang="zh-CN"/>
              <a:t>n</a:t>
            </a:r>
            <a:r>
              <a:rPr lang="zh-CN" altLang="zh-CN"/>
              <a:t>，所以</a:t>
            </a:r>
            <a:r>
              <a:rPr lang="en-US" altLang="zh-CN"/>
              <a:t>char(n)</a:t>
            </a:r>
            <a:r>
              <a:rPr lang="zh-CN" altLang="zh-CN"/>
              <a:t>的长度为</a:t>
            </a:r>
            <a:r>
              <a:rPr lang="en-US" altLang="zh-CN"/>
              <a:t>n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例如，某列的数据类型为</a:t>
            </a:r>
            <a:r>
              <a:rPr lang="en-US" altLang="zh-CN"/>
              <a:t>char(20)</a:t>
            </a:r>
            <a:r>
              <a:rPr lang="zh-CN" altLang="zh-CN"/>
              <a:t>，而输入的字符串为</a:t>
            </a:r>
            <a:r>
              <a:rPr lang="en-US" altLang="zh-CN"/>
              <a:t>"ahjm1922"</a:t>
            </a:r>
            <a:r>
              <a:rPr lang="zh-CN" altLang="zh-CN"/>
              <a:t>，则存储的是字符</a:t>
            </a:r>
            <a:r>
              <a:rPr lang="en-US" altLang="zh-CN"/>
              <a:t>ahjm1922</a:t>
            </a:r>
            <a:r>
              <a:rPr lang="zh-CN" altLang="zh-CN"/>
              <a:t>和</a:t>
            </a:r>
            <a:r>
              <a:rPr lang="en-US" altLang="zh-CN"/>
              <a:t>12</a:t>
            </a:r>
            <a:r>
              <a:rPr lang="zh-CN" altLang="zh-CN"/>
              <a:t>个空格。若输入的字符个数超出了</a:t>
            </a:r>
            <a:r>
              <a:rPr lang="en-US" altLang="zh-CN"/>
              <a:t>n</a:t>
            </a:r>
            <a:r>
              <a:rPr lang="zh-CN" altLang="zh-CN"/>
              <a:t>，则超出的部分被截断。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varchar[(n)]</a:t>
            </a:r>
            <a:r>
              <a:rPr lang="zh-CN" altLang="zh-CN"/>
              <a:t>：变长字符数据类型，其中，</a:t>
            </a:r>
            <a:r>
              <a:rPr lang="en-US" altLang="zh-CN"/>
              <a:t>n</a:t>
            </a:r>
            <a:r>
              <a:rPr lang="zh-CN" altLang="zh-CN"/>
              <a:t>的规定与定长字符型</a:t>
            </a:r>
            <a:r>
              <a:rPr lang="en-US" altLang="zh-CN"/>
              <a:t>char</a:t>
            </a:r>
            <a:r>
              <a:rPr lang="zh-CN" altLang="zh-CN"/>
              <a:t>中的</a:t>
            </a:r>
            <a:r>
              <a:rPr lang="en-US" altLang="zh-CN"/>
              <a:t>n</a:t>
            </a:r>
            <a:r>
              <a:rPr lang="zh-CN" altLang="zh-CN"/>
              <a:t>完全相同，但这里</a:t>
            </a:r>
            <a:r>
              <a:rPr lang="en-US" altLang="zh-CN"/>
              <a:t>n</a:t>
            </a:r>
            <a:r>
              <a:rPr lang="zh-CN" altLang="zh-CN"/>
              <a:t>表示的是字符串可达到的最大长度。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8435" name="TextBox 2"/>
          <p:cNvSpPr txBox="1">
            <a:spLocks noChangeArrowheads="1"/>
          </p:cNvSpPr>
          <p:nvPr/>
        </p:nvSpPr>
        <p:spPr bwMode="auto">
          <a:xfrm>
            <a:off x="323850" y="1412875"/>
            <a:ext cx="8424863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3530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00000"/>
                </a:solidFill>
              </a:rPr>
              <a:t>7</a:t>
            </a:r>
            <a:r>
              <a:rPr lang="zh-CN" altLang="zh-CN" b="1" dirty="0">
                <a:solidFill>
                  <a:srgbClr val="C00000"/>
                </a:solidFill>
              </a:rPr>
              <a:t>．</a:t>
            </a:r>
            <a:r>
              <a:rPr lang="en-US" altLang="zh-CN" b="1" dirty="0" err="1">
                <a:solidFill>
                  <a:srgbClr val="C00000"/>
                </a:solidFill>
              </a:rPr>
              <a:t>unicode</a:t>
            </a:r>
            <a:r>
              <a:rPr lang="zh-CN" altLang="zh-CN" b="1" dirty="0">
                <a:solidFill>
                  <a:srgbClr val="C00000"/>
                </a:solidFill>
              </a:rPr>
              <a:t>字符型</a:t>
            </a:r>
            <a:endParaRPr lang="zh-CN" altLang="zh-CN" b="1" dirty="0">
              <a:solidFill>
                <a:srgbClr val="C00000"/>
              </a:solidFill>
            </a:endParaRPr>
          </a:p>
          <a:p>
            <a:pPr eaLnBrk="1" fontAlgn="ctr" hangingPunct="1"/>
            <a:r>
              <a:rPr lang="en-US" altLang="zh-CN" dirty="0" err="1"/>
              <a:t>unicode</a:t>
            </a:r>
            <a:r>
              <a:rPr lang="zh-CN" altLang="zh-CN" dirty="0"/>
              <a:t>字符型包括</a:t>
            </a:r>
            <a:r>
              <a:rPr lang="en-US" altLang="zh-CN" dirty="0" err="1"/>
              <a:t>nchar</a:t>
            </a:r>
            <a:r>
              <a:rPr lang="en-US" altLang="zh-CN" dirty="0"/>
              <a:t>[(n)]</a:t>
            </a:r>
            <a:r>
              <a:rPr lang="zh-CN" altLang="zh-CN" dirty="0"/>
              <a:t>和</a:t>
            </a:r>
            <a:r>
              <a:rPr lang="en-US" altLang="zh-CN" dirty="0" err="1"/>
              <a:t>nvarchar</a:t>
            </a:r>
            <a:r>
              <a:rPr lang="en-US" altLang="zh-CN" dirty="0"/>
              <a:t>[(n)]</a:t>
            </a:r>
            <a:r>
              <a:rPr lang="zh-CN" altLang="zh-CN" dirty="0"/>
              <a:t>两类。</a:t>
            </a:r>
            <a:r>
              <a:rPr lang="en-US" altLang="zh-CN" dirty="0" err="1"/>
              <a:t>nchar</a:t>
            </a:r>
            <a:r>
              <a:rPr lang="zh-CN" altLang="zh-CN" dirty="0"/>
              <a:t>是固定长度</a:t>
            </a:r>
            <a:r>
              <a:rPr lang="en-US" altLang="zh-CN" dirty="0"/>
              <a:t>Unicode</a:t>
            </a:r>
            <a:r>
              <a:rPr lang="zh-CN" altLang="zh-CN" dirty="0"/>
              <a:t>数据的数据类型，</a:t>
            </a:r>
            <a:r>
              <a:rPr lang="en-US" altLang="zh-CN" dirty="0" err="1"/>
              <a:t>nvarchar</a:t>
            </a:r>
            <a:r>
              <a:rPr lang="zh-CN" altLang="zh-CN" dirty="0"/>
              <a:t>是可变长度</a:t>
            </a:r>
            <a:r>
              <a:rPr lang="en-US" altLang="zh-CN" dirty="0" err="1"/>
              <a:t>unicode</a:t>
            </a:r>
            <a:r>
              <a:rPr lang="zh-CN" altLang="zh-CN" dirty="0"/>
              <a:t>数据的数据类型，二者均使用</a:t>
            </a:r>
            <a:r>
              <a:rPr lang="en-US" altLang="zh-CN" dirty="0"/>
              <a:t>UNICODE UCS-2</a:t>
            </a:r>
            <a:r>
              <a:rPr lang="zh-CN" altLang="zh-CN" dirty="0"/>
              <a:t>字符集。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 err="1"/>
              <a:t>nchar</a:t>
            </a:r>
            <a:r>
              <a:rPr lang="en-US" altLang="zh-CN" dirty="0"/>
              <a:t>[(n)]</a:t>
            </a:r>
            <a:r>
              <a:rPr lang="zh-CN" altLang="zh-CN" dirty="0"/>
              <a:t>：</a:t>
            </a:r>
            <a:r>
              <a:rPr lang="en-US" altLang="zh-CN" dirty="0" err="1"/>
              <a:t>nchar</a:t>
            </a:r>
            <a:r>
              <a:rPr lang="en-US" altLang="zh-CN" dirty="0"/>
              <a:t>[(n)]</a:t>
            </a:r>
            <a:r>
              <a:rPr lang="zh-CN" altLang="zh-CN" dirty="0"/>
              <a:t>为包含</a:t>
            </a:r>
            <a:r>
              <a:rPr lang="en-US" altLang="zh-CN" dirty="0"/>
              <a:t>n</a:t>
            </a:r>
            <a:r>
              <a:rPr lang="zh-CN" altLang="zh-CN" dirty="0"/>
              <a:t>个字符的固定长度</a:t>
            </a:r>
            <a:r>
              <a:rPr lang="en-US" altLang="zh-CN" dirty="0"/>
              <a:t>Unicode</a:t>
            </a:r>
            <a:r>
              <a:rPr lang="zh-CN" altLang="zh-CN" dirty="0"/>
              <a:t>字符型数据，</a:t>
            </a:r>
            <a:r>
              <a:rPr lang="en-US" altLang="zh-CN" dirty="0"/>
              <a:t>n</a:t>
            </a:r>
            <a:r>
              <a:rPr lang="zh-CN" altLang="zh-CN" dirty="0"/>
              <a:t>的值在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4 000</a:t>
            </a:r>
            <a:r>
              <a:rPr lang="zh-CN" altLang="zh-CN" dirty="0"/>
              <a:t>，长度为</a:t>
            </a:r>
            <a:r>
              <a:rPr lang="en-US" altLang="zh-CN" dirty="0"/>
              <a:t>2n</a:t>
            </a:r>
            <a:r>
              <a:rPr lang="zh-CN" altLang="zh-CN" dirty="0"/>
              <a:t>字节。若输入的字符串长度不足</a:t>
            </a:r>
            <a:r>
              <a:rPr lang="en-US" altLang="zh-CN" dirty="0"/>
              <a:t>n</a:t>
            </a:r>
            <a:r>
              <a:rPr lang="zh-CN" altLang="zh-CN" dirty="0"/>
              <a:t>，将以空白字符补足。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 err="1"/>
              <a:t>nvarchar</a:t>
            </a:r>
            <a:r>
              <a:rPr lang="en-US" altLang="zh-CN" dirty="0"/>
              <a:t>[(n)]</a:t>
            </a:r>
            <a:r>
              <a:rPr lang="zh-CN" altLang="zh-CN" dirty="0"/>
              <a:t>：</a:t>
            </a:r>
            <a:r>
              <a:rPr lang="en-US" altLang="zh-CN" dirty="0" err="1"/>
              <a:t>nvarchar</a:t>
            </a:r>
            <a:r>
              <a:rPr lang="en-US" altLang="zh-CN" dirty="0"/>
              <a:t>[(n)]</a:t>
            </a:r>
            <a:r>
              <a:rPr lang="zh-CN" altLang="zh-CN" dirty="0"/>
              <a:t>为最多包含</a:t>
            </a:r>
            <a:r>
              <a:rPr lang="en-US" altLang="zh-CN" dirty="0"/>
              <a:t>n</a:t>
            </a:r>
            <a:r>
              <a:rPr lang="zh-CN" altLang="zh-CN" dirty="0"/>
              <a:t>个字符的可变长度</a:t>
            </a:r>
            <a:r>
              <a:rPr lang="en-US" altLang="zh-CN" dirty="0"/>
              <a:t>Unicode</a:t>
            </a:r>
            <a:r>
              <a:rPr lang="zh-CN" altLang="zh-CN" dirty="0"/>
              <a:t>字符型数据，</a:t>
            </a:r>
            <a:r>
              <a:rPr lang="en-US" altLang="zh-CN" dirty="0"/>
              <a:t>n</a:t>
            </a:r>
            <a:r>
              <a:rPr lang="zh-CN" altLang="zh-CN" dirty="0"/>
              <a:t>的值在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4 000</a:t>
            </a:r>
            <a:r>
              <a:rPr lang="zh-CN" altLang="zh-CN" dirty="0"/>
              <a:t>，默认为</a:t>
            </a:r>
            <a:r>
              <a:rPr lang="en-US" altLang="zh-CN" dirty="0"/>
              <a:t>1</a:t>
            </a:r>
            <a:r>
              <a:rPr lang="zh-CN" altLang="zh-CN" dirty="0"/>
              <a:t>。长度是所输入字符个数的两倍。</a:t>
            </a:r>
            <a:endParaRPr lang="zh-CN" altLang="zh-CN" dirty="0"/>
          </a:p>
          <a:p>
            <a:pPr eaLnBrk="1" hangingPunct="1"/>
            <a:r>
              <a:rPr lang="en-US" altLang="zh-CN" b="1" dirty="0">
                <a:solidFill>
                  <a:srgbClr val="C00000"/>
                </a:solidFill>
              </a:rPr>
              <a:t>8</a:t>
            </a:r>
            <a:r>
              <a:rPr lang="zh-CN" altLang="zh-CN" b="1" dirty="0">
                <a:solidFill>
                  <a:srgbClr val="C00000"/>
                </a:solidFill>
              </a:rPr>
              <a:t>．文本型</a:t>
            </a:r>
            <a:endParaRPr lang="zh-CN" altLang="zh-CN" b="1" dirty="0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 dirty="0"/>
              <a:t>文本型包括</a:t>
            </a:r>
            <a:r>
              <a:rPr lang="en-US" altLang="zh-CN" dirty="0"/>
              <a:t>text</a:t>
            </a:r>
            <a:r>
              <a:rPr lang="zh-CN" altLang="zh-CN" dirty="0"/>
              <a:t>和</a:t>
            </a:r>
            <a:r>
              <a:rPr lang="en-US" altLang="zh-CN" dirty="0" err="1"/>
              <a:t>ntext</a:t>
            </a:r>
            <a:r>
              <a:rPr lang="zh-CN" altLang="zh-CN" dirty="0"/>
              <a:t>两类，分别对应</a:t>
            </a:r>
            <a:r>
              <a:rPr lang="en-US" altLang="zh-CN" dirty="0"/>
              <a:t>ASCII</a:t>
            </a:r>
            <a:r>
              <a:rPr lang="zh-CN" altLang="zh-CN" dirty="0"/>
              <a:t>字符和</a:t>
            </a:r>
            <a:r>
              <a:rPr lang="en-US" altLang="zh-CN" dirty="0"/>
              <a:t>Unicode</a:t>
            </a:r>
            <a:r>
              <a:rPr lang="zh-CN" altLang="zh-CN" dirty="0"/>
              <a:t>字符。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text</a:t>
            </a:r>
            <a:r>
              <a:rPr lang="zh-CN" altLang="zh-CN" dirty="0"/>
              <a:t>类型：可以表示最大长度为</a:t>
            </a:r>
            <a:r>
              <a:rPr lang="en-US" altLang="zh-CN" dirty="0"/>
              <a:t>2</a:t>
            </a:r>
            <a:r>
              <a:rPr lang="en-US" altLang="zh-CN" baseline="30000" dirty="0"/>
              <a:t>31</a:t>
            </a:r>
            <a:r>
              <a:rPr lang="en-US" altLang="zh-CN" dirty="0"/>
              <a:t>−1</a:t>
            </a:r>
            <a:r>
              <a:rPr lang="zh-CN" altLang="zh-CN" dirty="0"/>
              <a:t>个字符，其数据的存储长度为实际字符数个字节。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 err="1"/>
              <a:t>ntext</a:t>
            </a:r>
            <a:r>
              <a:rPr lang="zh-CN" altLang="zh-CN" dirty="0"/>
              <a:t>类型：可表示最大长度为</a:t>
            </a:r>
            <a:r>
              <a:rPr lang="en-US" altLang="zh-CN" dirty="0"/>
              <a:t>2</a:t>
            </a:r>
            <a:r>
              <a:rPr lang="en-US" altLang="zh-CN" baseline="30000" dirty="0"/>
              <a:t>30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</a:t>
            </a:r>
            <a:r>
              <a:rPr lang="zh-CN" altLang="zh-CN" dirty="0"/>
              <a:t>个</a:t>
            </a:r>
            <a:r>
              <a:rPr lang="en-US" altLang="zh-CN" dirty="0"/>
              <a:t>Unicode</a:t>
            </a:r>
            <a:r>
              <a:rPr lang="zh-CN" altLang="zh-CN" dirty="0"/>
              <a:t>字符，其数据的存储长度是实际字符个数的两倍（以字节为单位）。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19459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353425" cy="295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9</a:t>
            </a:r>
            <a:r>
              <a:rPr lang="zh-CN" altLang="zh-CN" b="1">
                <a:solidFill>
                  <a:srgbClr val="C00000"/>
                </a:solidFill>
              </a:rPr>
              <a:t>．二进制型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binary [(n) ]</a:t>
            </a:r>
            <a:r>
              <a:rPr lang="zh-CN" altLang="zh-CN"/>
              <a:t>：固定长度的</a:t>
            </a:r>
            <a:r>
              <a:rPr lang="en-US" altLang="zh-CN"/>
              <a:t>n</a:t>
            </a:r>
            <a:r>
              <a:rPr lang="zh-CN" altLang="zh-CN"/>
              <a:t>个字节二进制数据。</a:t>
            </a:r>
            <a:r>
              <a:rPr lang="en-US" altLang="zh-CN"/>
              <a:t>n</a:t>
            </a:r>
            <a:r>
              <a:rPr lang="zh-CN" altLang="zh-CN"/>
              <a:t>的取值范围为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8 000</a:t>
            </a:r>
            <a:r>
              <a:rPr lang="zh-CN" altLang="zh-CN"/>
              <a:t>，默认为</a:t>
            </a:r>
            <a:r>
              <a:rPr lang="en-US" altLang="zh-CN"/>
              <a:t>1</a:t>
            </a:r>
            <a:r>
              <a:rPr lang="zh-CN" altLang="zh-CN"/>
              <a:t>。</a:t>
            </a:r>
            <a:r>
              <a:rPr lang="en-US" altLang="zh-CN"/>
              <a:t>binary(n)</a:t>
            </a:r>
            <a:r>
              <a:rPr lang="zh-CN" altLang="zh-CN"/>
              <a:t>数据的存储长度为</a:t>
            </a:r>
            <a:r>
              <a:rPr lang="en-US" altLang="zh-CN"/>
              <a:t>n+4</a:t>
            </a:r>
            <a:r>
              <a:rPr lang="zh-CN" altLang="zh-CN"/>
              <a:t>个字节。若输入的数据长度小于</a:t>
            </a:r>
            <a:r>
              <a:rPr lang="en-US" altLang="zh-CN"/>
              <a:t>n</a:t>
            </a:r>
            <a:r>
              <a:rPr lang="zh-CN" altLang="zh-CN"/>
              <a:t>，则不足部分用</a:t>
            </a:r>
            <a:r>
              <a:rPr lang="en-US" altLang="zh-CN"/>
              <a:t>0</a:t>
            </a:r>
            <a:r>
              <a:rPr lang="zh-CN" altLang="zh-CN"/>
              <a:t>填充；若输入的数据长度大于</a:t>
            </a:r>
            <a:r>
              <a:rPr lang="en-US" altLang="zh-CN"/>
              <a:t>n</a:t>
            </a:r>
            <a:r>
              <a:rPr lang="zh-CN" altLang="zh-CN"/>
              <a:t>，则多余部分被截断。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varbinary [(n)]</a:t>
            </a:r>
            <a:r>
              <a:rPr lang="zh-CN" altLang="zh-CN"/>
              <a:t>：</a:t>
            </a:r>
            <a:r>
              <a:rPr lang="en-US" altLang="zh-CN"/>
              <a:t>n</a:t>
            </a:r>
            <a:r>
              <a:rPr lang="zh-CN" altLang="zh-CN"/>
              <a:t>个字节变长二进制数据。</a:t>
            </a:r>
            <a:r>
              <a:rPr lang="en-US" altLang="zh-CN"/>
              <a:t>n</a:t>
            </a:r>
            <a:r>
              <a:rPr lang="zh-CN" altLang="zh-CN"/>
              <a:t>取值范围为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8 000</a:t>
            </a:r>
            <a:r>
              <a:rPr lang="zh-CN" altLang="zh-CN"/>
              <a:t>，默认为</a:t>
            </a:r>
            <a:r>
              <a:rPr lang="en-US" altLang="zh-CN"/>
              <a:t>1</a:t>
            </a:r>
            <a:r>
              <a:rPr lang="zh-CN" altLang="zh-CN"/>
              <a:t>。</a:t>
            </a:r>
            <a:r>
              <a:rPr lang="en-US" altLang="zh-CN"/>
              <a:t>varbinary(n)</a:t>
            </a:r>
            <a:r>
              <a:rPr lang="zh-CN" altLang="zh-CN"/>
              <a:t>数据的存储长度为实际输入数据长度</a:t>
            </a:r>
            <a:r>
              <a:rPr lang="en-US" altLang="zh-CN"/>
              <a:t>+4</a:t>
            </a:r>
            <a:r>
              <a:rPr lang="zh-CN" altLang="zh-CN"/>
              <a:t>个字节。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diamond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395288" y="1341438"/>
            <a:ext cx="835342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10</a:t>
            </a:r>
            <a:r>
              <a:rPr lang="zh-CN" altLang="zh-CN" b="1">
                <a:solidFill>
                  <a:srgbClr val="C00000"/>
                </a:solidFill>
              </a:rPr>
              <a:t>．日期时间类型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日期时间类型数据用于存储日期和时间信息，日期时间数据类型包括</a:t>
            </a:r>
            <a:r>
              <a:rPr lang="en-US" altLang="zh-CN"/>
              <a:t>date</a:t>
            </a:r>
            <a:r>
              <a:rPr lang="zh-CN" altLang="zh-CN"/>
              <a:t>、</a:t>
            </a:r>
            <a:r>
              <a:rPr lang="en-US" altLang="zh-CN"/>
              <a:t>time</a:t>
            </a:r>
            <a:r>
              <a:rPr lang="zh-CN" altLang="zh-CN"/>
              <a:t>、</a:t>
            </a:r>
            <a:r>
              <a:rPr lang="en-US" altLang="zh-CN"/>
              <a:t>datetime2</a:t>
            </a:r>
            <a:r>
              <a:rPr lang="zh-CN" altLang="zh-CN"/>
              <a:t>和</a:t>
            </a:r>
            <a:r>
              <a:rPr lang="en-US" altLang="zh-CN"/>
              <a:t>datetimeoffset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datetime</a:t>
            </a:r>
            <a:r>
              <a:rPr lang="zh-CN" altLang="zh-CN"/>
              <a:t>：可表示的日期范围从</a:t>
            </a:r>
            <a:r>
              <a:rPr lang="en-US" altLang="zh-CN"/>
              <a:t>1753</a:t>
            </a:r>
            <a:r>
              <a:rPr lang="zh-CN" altLang="zh-CN"/>
              <a:t>年</a:t>
            </a:r>
            <a:r>
              <a:rPr lang="en-US" altLang="zh-CN"/>
              <a:t>1</a:t>
            </a:r>
            <a:r>
              <a:rPr lang="zh-CN" altLang="zh-CN"/>
              <a:t>月</a:t>
            </a:r>
            <a:r>
              <a:rPr lang="en-US" altLang="zh-CN"/>
              <a:t>1</a:t>
            </a:r>
            <a:r>
              <a:rPr lang="zh-CN" altLang="zh-CN"/>
              <a:t>日到</a:t>
            </a:r>
            <a:r>
              <a:rPr lang="en-US" altLang="zh-CN"/>
              <a:t>9999</a:t>
            </a:r>
            <a:r>
              <a:rPr lang="zh-CN" altLang="zh-CN"/>
              <a:t>年</a:t>
            </a:r>
            <a:r>
              <a:rPr lang="en-US" altLang="zh-CN"/>
              <a:t>12</a:t>
            </a:r>
            <a:r>
              <a:rPr lang="zh-CN" altLang="zh-CN"/>
              <a:t>月</a:t>
            </a:r>
            <a:r>
              <a:rPr lang="en-US" altLang="zh-CN"/>
              <a:t>31</a:t>
            </a:r>
            <a:r>
              <a:rPr lang="zh-CN" altLang="zh-CN"/>
              <a:t>日，精确度为</a:t>
            </a:r>
            <a:r>
              <a:rPr lang="en-US" altLang="zh-CN"/>
              <a:t>0.03s</a:t>
            </a:r>
            <a:r>
              <a:rPr lang="zh-CN" altLang="zh-CN"/>
              <a:t>（</a:t>
            </a:r>
            <a:r>
              <a:rPr lang="en-US" altLang="zh-CN"/>
              <a:t>3.33ms</a:t>
            </a:r>
            <a:r>
              <a:rPr lang="zh-CN" altLang="zh-CN"/>
              <a:t>或</a:t>
            </a:r>
            <a:r>
              <a:rPr lang="en-US" altLang="zh-CN"/>
              <a:t>0.00333s</a:t>
            </a:r>
            <a:r>
              <a:rPr lang="zh-CN" altLang="zh-CN"/>
              <a:t>）。例如，</a:t>
            </a:r>
            <a:r>
              <a:rPr lang="en-US" altLang="zh-CN"/>
              <a:t>1</a:t>
            </a:r>
            <a:r>
              <a:rPr lang="zh-CN" altLang="zh-CN"/>
              <a:t>～</a:t>
            </a:r>
            <a:r>
              <a:rPr lang="en-US" altLang="zh-CN"/>
              <a:t>3ms</a:t>
            </a:r>
            <a:r>
              <a:rPr lang="zh-CN" altLang="zh-CN"/>
              <a:t>的值都表示为</a:t>
            </a:r>
            <a:r>
              <a:rPr lang="en-US" altLang="zh-CN"/>
              <a:t>0ms</a:t>
            </a:r>
            <a:r>
              <a:rPr lang="zh-CN" altLang="zh-CN"/>
              <a:t>，</a:t>
            </a:r>
            <a:r>
              <a:rPr lang="en-US" altLang="zh-CN"/>
              <a:t>4</a:t>
            </a:r>
            <a:r>
              <a:rPr lang="zh-CN" altLang="zh-CN"/>
              <a:t>～</a:t>
            </a:r>
            <a:r>
              <a:rPr lang="en-US" altLang="zh-CN"/>
              <a:t>6ms</a:t>
            </a:r>
            <a:r>
              <a:rPr lang="zh-CN" altLang="zh-CN"/>
              <a:t>的值都表示为</a:t>
            </a:r>
            <a:r>
              <a:rPr lang="en-US" altLang="zh-CN"/>
              <a:t>4ms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/>
            <a:r>
              <a:rPr lang="zh-CN" altLang="zh-CN"/>
              <a:t>用户给出</a:t>
            </a:r>
            <a:r>
              <a:rPr lang="en-US" altLang="zh-CN"/>
              <a:t>datetime</a:t>
            </a:r>
            <a:r>
              <a:rPr lang="zh-CN" altLang="zh-CN"/>
              <a:t>类型数据值时，日期部分和时间部分分别给出。</a:t>
            </a:r>
            <a:endParaRPr lang="zh-CN" altLang="zh-CN"/>
          </a:p>
          <a:p>
            <a:pPr eaLnBrk="1" fontAlgn="ctr" hangingPunct="1"/>
            <a:r>
              <a:rPr lang="zh-CN" altLang="zh-CN"/>
              <a:t>日期部分的表示形式常用的格式如下：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60413" y="3746500"/>
          <a:ext cx="7621587" cy="2346960"/>
        </p:xfrm>
        <a:graphic>
          <a:graphicData uri="http://schemas.openxmlformats.org/drawingml/2006/table">
            <a:tbl>
              <a:tblPr/>
              <a:tblGrid>
                <a:gridCol w="1737722"/>
                <a:gridCol w="5883865"/>
              </a:tblGrid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 月 日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 Jan 20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 January 20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 日 月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 20 Jan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 日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[,]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Jan 20 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Jan 20,2001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Jan 20,01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 年 日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Jan 2001 20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 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[,]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 Jan 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 Jan,2001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 年 月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 2001 Jan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4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位数）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表示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年月日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20010120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010120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/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/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01/20/01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1/20/01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01/20/2001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1/20/2001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-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-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01-20-01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1-20-01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01-20-2001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1-20-2001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3302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.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.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01.20.01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1.20.01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01.20.2001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1.20.2001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4" marR="6857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21507" name="矩形 2"/>
          <p:cNvSpPr>
            <a:spLocks noChangeArrowheads="1"/>
          </p:cNvSpPr>
          <p:nvPr/>
        </p:nvSpPr>
        <p:spPr bwMode="auto">
          <a:xfrm>
            <a:off x="900113" y="1557338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ctr"/>
            <a:r>
              <a:rPr lang="zh-CN" altLang="zh-CN"/>
              <a:t>时间部分常用的表示格式如下：</a:t>
            </a:r>
            <a:endParaRPr lang="zh-CN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55650" y="2133600"/>
          <a:ext cx="7635875" cy="1265240"/>
        </p:xfrm>
        <a:graphic>
          <a:graphicData uri="http://schemas.openxmlformats.org/drawingml/2006/table">
            <a:tbl>
              <a:tblPr/>
              <a:tblGrid>
                <a:gridCol w="1828028"/>
                <a:gridCol w="5807847"/>
              </a:tblGrid>
              <a:tr h="316310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时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10:20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08:05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310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时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分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秒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20:15:18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20:15:18.2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310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时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分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秒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毫秒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20:15:18:200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6310">
                <a:tc>
                  <a:txBody>
                    <a:bodyPr/>
                    <a:lstStyle/>
                    <a:p>
                      <a:pPr indent="254000" algn="l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时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: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分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AM|PM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10:10AM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、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10:10PM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2804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smalldatetime</a:t>
            </a:r>
            <a:r>
              <a:rPr lang="zh-CN" altLang="zh-CN"/>
              <a:t>：可表示从</a:t>
            </a:r>
            <a:r>
              <a:rPr lang="en-US" altLang="zh-CN"/>
              <a:t>1900</a:t>
            </a:r>
            <a:r>
              <a:rPr lang="zh-CN" altLang="zh-CN"/>
              <a:t>年</a:t>
            </a:r>
            <a:r>
              <a:rPr lang="en-US" altLang="zh-CN"/>
              <a:t>1</a:t>
            </a:r>
            <a:r>
              <a:rPr lang="zh-CN" altLang="zh-CN"/>
              <a:t>月</a:t>
            </a:r>
            <a:r>
              <a:rPr lang="en-US" altLang="zh-CN"/>
              <a:t>1</a:t>
            </a:r>
            <a:r>
              <a:rPr lang="zh-CN" altLang="zh-CN"/>
              <a:t>日到</a:t>
            </a:r>
            <a:r>
              <a:rPr lang="en-US" altLang="zh-CN"/>
              <a:t>2079</a:t>
            </a:r>
            <a:r>
              <a:rPr lang="zh-CN" altLang="zh-CN"/>
              <a:t>年</a:t>
            </a:r>
            <a:r>
              <a:rPr lang="en-US" altLang="zh-CN"/>
              <a:t>6</a:t>
            </a:r>
            <a:r>
              <a:rPr lang="zh-CN" altLang="zh-CN"/>
              <a:t>月</a:t>
            </a:r>
            <a:r>
              <a:rPr lang="en-US" altLang="zh-CN"/>
              <a:t>6</a:t>
            </a:r>
            <a:r>
              <a:rPr lang="zh-CN" altLang="zh-CN"/>
              <a:t>日的日期和时间，数据精确到分钟。即</a:t>
            </a:r>
            <a:r>
              <a:rPr lang="en-US" altLang="zh-CN"/>
              <a:t>29.998s</a:t>
            </a:r>
            <a:r>
              <a:rPr lang="zh-CN" altLang="zh-CN"/>
              <a:t>或更低的值向下舍入为最接近的分钟，</a:t>
            </a:r>
            <a:r>
              <a:rPr lang="en-US" altLang="zh-CN"/>
              <a:t>29.999s</a:t>
            </a:r>
            <a:r>
              <a:rPr lang="zh-CN" altLang="zh-CN"/>
              <a:t>或更高的值向上舍入为最接近的分钟。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</a:t>
            </a:r>
            <a:r>
              <a:rPr lang="en-US" altLang="zh-CN"/>
              <a:t>date</a:t>
            </a:r>
            <a:r>
              <a:rPr lang="zh-CN" altLang="zh-CN"/>
              <a:t>：可以表示从公元元年</a:t>
            </a:r>
            <a:r>
              <a:rPr lang="en-US" altLang="zh-CN"/>
              <a:t>1</a:t>
            </a:r>
            <a:r>
              <a:rPr lang="zh-CN" altLang="zh-CN"/>
              <a:t>月</a:t>
            </a:r>
            <a:r>
              <a:rPr lang="en-US" altLang="zh-CN"/>
              <a:t>1</a:t>
            </a:r>
            <a:r>
              <a:rPr lang="zh-CN" altLang="zh-CN"/>
              <a:t>日到</a:t>
            </a:r>
            <a:r>
              <a:rPr lang="en-US" altLang="zh-CN"/>
              <a:t>9999</a:t>
            </a:r>
            <a:r>
              <a:rPr lang="zh-CN" altLang="zh-CN"/>
              <a:t>年</a:t>
            </a:r>
            <a:r>
              <a:rPr lang="en-US" altLang="zh-CN"/>
              <a:t>12</a:t>
            </a:r>
            <a:r>
              <a:rPr lang="zh-CN" altLang="zh-CN"/>
              <a:t>月</a:t>
            </a:r>
            <a:r>
              <a:rPr lang="en-US" altLang="zh-CN"/>
              <a:t>31</a:t>
            </a:r>
            <a:r>
              <a:rPr lang="zh-CN" altLang="zh-CN"/>
              <a:t>日的日期，</a:t>
            </a:r>
            <a:r>
              <a:rPr lang="en-US" altLang="zh-CN"/>
              <a:t>date</a:t>
            </a:r>
            <a:r>
              <a:rPr lang="zh-CN" altLang="zh-CN"/>
              <a:t>类型只存储日期数据，不存储时间数据，存储长度为</a:t>
            </a:r>
            <a:r>
              <a:rPr lang="en-US" altLang="zh-CN"/>
              <a:t>3</a:t>
            </a:r>
            <a:r>
              <a:rPr lang="zh-CN" altLang="zh-CN"/>
              <a:t>字节，表示形式与</a:t>
            </a:r>
            <a:r>
              <a:rPr lang="en-US" altLang="zh-CN"/>
              <a:t>datetime</a:t>
            </a:r>
            <a:r>
              <a:rPr lang="zh-CN" altLang="zh-CN"/>
              <a:t>数据类型的日期部分相同。</a:t>
            </a:r>
            <a:endParaRPr lang="zh-CN" altLang="zh-CN"/>
          </a:p>
          <a:p>
            <a:pPr eaLnBrk="1" hangingPunct="1"/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</a:t>
            </a:r>
            <a:r>
              <a:rPr lang="en-US" altLang="zh-CN"/>
              <a:t>time</a:t>
            </a:r>
            <a:r>
              <a:rPr lang="zh-CN" altLang="zh-CN"/>
              <a:t>：只存储时间数据，表示格式为“</a:t>
            </a:r>
            <a:r>
              <a:rPr lang="en-US" altLang="zh-CN"/>
              <a:t>hh:mm:ss[.nnnnnnn]</a:t>
            </a:r>
            <a:r>
              <a:rPr lang="zh-CN" altLang="zh-CN"/>
              <a:t>”。</a:t>
            </a:r>
            <a:r>
              <a:rPr lang="en-US" altLang="zh-CN"/>
              <a:t>hh</a:t>
            </a:r>
            <a:r>
              <a:rPr lang="zh-CN" altLang="zh-CN"/>
              <a:t>表示小时，范围为</a:t>
            </a:r>
            <a:r>
              <a:rPr lang="en-US" altLang="zh-CN"/>
              <a:t>0</a:t>
            </a:r>
            <a:r>
              <a:rPr lang="zh-CN" altLang="zh-CN"/>
              <a:t>～</a:t>
            </a:r>
            <a:r>
              <a:rPr lang="en-US" altLang="zh-CN"/>
              <a:t>23</a:t>
            </a:r>
            <a:r>
              <a:rPr lang="zh-CN" altLang="zh-CN"/>
              <a:t>。</a:t>
            </a:r>
            <a:r>
              <a:rPr lang="en-US" altLang="zh-CN"/>
              <a:t>mm</a:t>
            </a:r>
            <a:r>
              <a:rPr lang="zh-CN" altLang="zh-CN"/>
              <a:t>表示分钟，范围为</a:t>
            </a:r>
            <a:r>
              <a:rPr lang="en-US" altLang="zh-CN"/>
              <a:t>0</a:t>
            </a:r>
            <a:r>
              <a:rPr lang="zh-CN" altLang="zh-CN"/>
              <a:t>～</a:t>
            </a:r>
            <a:r>
              <a:rPr lang="en-US" altLang="zh-CN"/>
              <a:t>59</a:t>
            </a:r>
            <a:r>
              <a:rPr lang="zh-CN" altLang="zh-CN"/>
              <a:t>。</a:t>
            </a:r>
            <a:endParaRPr lang="zh-CN" altLang="zh-CN"/>
          </a:p>
          <a:p>
            <a:pPr eaLnBrk="1" hangingPunct="1"/>
            <a:r>
              <a:rPr lang="zh-CN" altLang="zh-CN"/>
              <a:t>（</a:t>
            </a:r>
            <a:r>
              <a:rPr lang="en-US" altLang="zh-CN"/>
              <a:t>5</a:t>
            </a:r>
            <a:r>
              <a:rPr lang="zh-CN" altLang="zh-CN"/>
              <a:t>）</a:t>
            </a:r>
            <a:r>
              <a:rPr lang="en-US" altLang="zh-CN"/>
              <a:t>datetime2</a:t>
            </a:r>
            <a:r>
              <a:rPr lang="zh-CN" altLang="zh-CN"/>
              <a:t>：也用于存储日期和时间信息。但是</a:t>
            </a:r>
            <a:r>
              <a:rPr lang="en-US" altLang="zh-CN"/>
              <a:t>datetime2</a:t>
            </a:r>
            <a:r>
              <a:rPr lang="zh-CN" altLang="zh-CN"/>
              <a:t>类型取值范围更广，日期部分取值范围从公元元年</a:t>
            </a:r>
            <a:r>
              <a:rPr lang="en-US" altLang="zh-CN"/>
              <a:t>1</a:t>
            </a:r>
            <a:r>
              <a:rPr lang="zh-CN" altLang="zh-CN"/>
              <a:t>月</a:t>
            </a:r>
            <a:r>
              <a:rPr lang="en-US" altLang="zh-CN"/>
              <a:t>1</a:t>
            </a:r>
            <a:r>
              <a:rPr lang="zh-CN" altLang="zh-CN"/>
              <a:t>日到</a:t>
            </a:r>
            <a:r>
              <a:rPr lang="en-US" altLang="zh-CN"/>
              <a:t>9999</a:t>
            </a:r>
            <a:r>
              <a:rPr lang="zh-CN" altLang="zh-CN"/>
              <a:t>年</a:t>
            </a:r>
            <a:r>
              <a:rPr lang="en-US" altLang="zh-CN"/>
              <a:t>12</a:t>
            </a:r>
            <a:r>
              <a:rPr lang="zh-CN" altLang="zh-CN"/>
              <a:t>月</a:t>
            </a:r>
            <a:r>
              <a:rPr lang="en-US" altLang="zh-CN"/>
              <a:t>31</a:t>
            </a:r>
            <a:r>
              <a:rPr lang="zh-CN" altLang="zh-CN"/>
              <a:t>日，时间部分的取值范围为</a:t>
            </a:r>
            <a:r>
              <a:rPr lang="en-US" altLang="zh-CN"/>
              <a:t>00:00:00.000 000 0</a:t>
            </a:r>
            <a:r>
              <a:rPr lang="zh-CN" altLang="zh-CN"/>
              <a:t>～</a:t>
            </a:r>
            <a:r>
              <a:rPr lang="en-US" altLang="zh-CN"/>
              <a:t>23:59:59.999 999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6</a:t>
            </a:r>
            <a:r>
              <a:rPr lang="zh-CN" altLang="zh-CN"/>
              <a:t>）</a:t>
            </a:r>
            <a:r>
              <a:rPr lang="en-US" altLang="zh-CN"/>
              <a:t>datetimeoffset</a:t>
            </a:r>
            <a:r>
              <a:rPr lang="zh-CN" altLang="zh-CN"/>
              <a:t>：也用于存储日期和时间信息，取值范围与</a:t>
            </a:r>
            <a:r>
              <a:rPr lang="en-US" altLang="zh-CN"/>
              <a:t>datetime2</a:t>
            </a:r>
            <a:r>
              <a:rPr lang="zh-CN" altLang="zh-CN"/>
              <a:t>类型相同。但</a:t>
            </a:r>
            <a:r>
              <a:rPr lang="en-US" altLang="zh-CN"/>
              <a:t>datetimeoffset</a:t>
            </a:r>
            <a:r>
              <a:rPr lang="zh-CN" altLang="zh-CN"/>
              <a:t>类型具有时区偏移量，此偏移量指定时间相对于协调世界时（</a:t>
            </a:r>
            <a:r>
              <a:rPr lang="en-US" altLang="zh-CN"/>
              <a:t>UTC</a:t>
            </a:r>
            <a:r>
              <a:rPr lang="zh-CN" altLang="zh-CN"/>
              <a:t>）偏移的小时和分钟数。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539750" y="1484313"/>
            <a:ext cx="8064500" cy="383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11</a:t>
            </a:r>
            <a:r>
              <a:rPr lang="zh-CN" altLang="zh-CN" b="1">
                <a:solidFill>
                  <a:srgbClr val="C00000"/>
                </a:solidFill>
              </a:rPr>
              <a:t>．时间戳型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标识符是</a:t>
            </a:r>
            <a:r>
              <a:rPr lang="en-US" altLang="zh-CN"/>
              <a:t>timestamp</a:t>
            </a:r>
            <a:r>
              <a:rPr lang="zh-CN" altLang="zh-CN"/>
              <a:t>。若创建表时定义一个列的数据类型为时间戳类型，那么每当对该表加入新行或修改已有行时，都由系统自动将一个计数器值加到该列，即将原来的时间戳值加上一个增量。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12</a:t>
            </a:r>
            <a:r>
              <a:rPr lang="zh-CN" altLang="zh-CN" b="1">
                <a:solidFill>
                  <a:srgbClr val="C00000"/>
                </a:solidFill>
              </a:rPr>
              <a:t>．图像数据类型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标识符是</a:t>
            </a:r>
            <a:r>
              <a:rPr lang="en-US" altLang="zh-CN"/>
              <a:t>image</a:t>
            </a:r>
            <a:r>
              <a:rPr lang="zh-CN" altLang="zh-CN"/>
              <a:t>，它用于存储图片、照片等。实际存储的是可变长度二进制数据，介于</a:t>
            </a:r>
            <a:r>
              <a:rPr lang="en-US" altLang="zh-CN"/>
              <a:t>0</a:t>
            </a:r>
            <a:r>
              <a:rPr lang="zh-CN" altLang="zh-CN"/>
              <a:t>与</a:t>
            </a:r>
            <a:r>
              <a:rPr lang="en-US" altLang="zh-CN"/>
              <a:t>231−1 (2 147 483 647)</a:t>
            </a:r>
            <a:r>
              <a:rPr lang="zh-CN" altLang="zh-CN"/>
              <a:t>字节。该类型是为了向下兼容而保留的数据类型，微软推荐用户使用</a:t>
            </a:r>
            <a:r>
              <a:rPr lang="en-US" altLang="zh-CN"/>
              <a:t>varbinary(MAX)</a:t>
            </a:r>
            <a:r>
              <a:rPr lang="zh-CN" altLang="zh-CN"/>
              <a:t>数据类型来替代</a:t>
            </a:r>
            <a:r>
              <a:rPr lang="en-US" altLang="zh-CN"/>
              <a:t>image</a:t>
            </a:r>
            <a:r>
              <a:rPr lang="zh-CN" altLang="zh-CN"/>
              <a:t>类型。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3.1.1  </a:t>
            </a:r>
            <a:r>
              <a:rPr lang="zh-CN" altLang="zh-CN" dirty="0">
                <a:effectLst/>
              </a:rPr>
              <a:t>数据类型</a:t>
            </a:r>
            <a:endParaRPr lang="zh-CN" altLang="en-US" dirty="0"/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13</a:t>
            </a:r>
            <a:r>
              <a:rPr lang="zh-CN" altLang="zh-CN" b="1">
                <a:solidFill>
                  <a:srgbClr val="C00000"/>
                </a:solidFill>
              </a:rPr>
              <a:t>．其他数据类型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cursor</a:t>
            </a:r>
            <a:r>
              <a:rPr lang="zh-CN" altLang="zh-CN"/>
              <a:t>：游标数据类型，用于创建游标变量或定义存储过程的输出参数。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sql_variant</a:t>
            </a:r>
            <a:r>
              <a:rPr lang="zh-CN" altLang="zh-CN"/>
              <a:t>：一种存储</a:t>
            </a:r>
            <a:r>
              <a:rPr lang="en-US" altLang="zh-CN"/>
              <a:t>SQL Server</a:t>
            </a:r>
            <a:r>
              <a:rPr lang="zh-CN" altLang="zh-CN"/>
              <a:t>支持的各种数据类型（除</a:t>
            </a:r>
            <a:r>
              <a:rPr lang="en-US" altLang="zh-CN"/>
              <a:t>text</a:t>
            </a:r>
            <a:r>
              <a:rPr lang="zh-CN" altLang="zh-CN"/>
              <a:t>、</a:t>
            </a:r>
            <a:r>
              <a:rPr lang="en-US" altLang="zh-CN"/>
              <a:t>ntext</a:t>
            </a:r>
            <a:r>
              <a:rPr lang="zh-CN" altLang="zh-CN"/>
              <a:t>、</a:t>
            </a:r>
            <a:r>
              <a:rPr lang="en-US" altLang="zh-CN"/>
              <a:t>image</a:t>
            </a:r>
            <a:r>
              <a:rPr lang="zh-CN" altLang="zh-CN"/>
              <a:t>、</a:t>
            </a:r>
            <a:r>
              <a:rPr lang="en-US" altLang="zh-CN"/>
              <a:t>timestamp</a:t>
            </a:r>
            <a:r>
              <a:rPr lang="zh-CN" altLang="zh-CN"/>
              <a:t>和</a:t>
            </a:r>
            <a:r>
              <a:rPr lang="en-US" altLang="zh-CN"/>
              <a:t>sql_variant</a:t>
            </a:r>
            <a:r>
              <a:rPr lang="zh-CN" altLang="zh-CN"/>
              <a:t>外）值的数据类型。</a:t>
            </a:r>
            <a:r>
              <a:rPr lang="en-US" altLang="zh-CN"/>
              <a:t>sql_variant</a:t>
            </a:r>
            <a:r>
              <a:rPr lang="zh-CN" altLang="zh-CN"/>
              <a:t>的最大长度可达</a:t>
            </a:r>
            <a:r>
              <a:rPr lang="en-US" altLang="zh-CN"/>
              <a:t>8 016</a:t>
            </a:r>
            <a:r>
              <a:rPr lang="zh-CN" altLang="zh-CN"/>
              <a:t>字节。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</a:t>
            </a:r>
            <a:r>
              <a:rPr lang="en-US" altLang="zh-CN"/>
              <a:t>table</a:t>
            </a:r>
            <a:r>
              <a:rPr lang="zh-CN" altLang="zh-CN"/>
              <a:t>：用于存储结果集的数据类型，结果集可以供后续处理。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</a:t>
            </a:r>
            <a:r>
              <a:rPr lang="en-US" altLang="zh-CN"/>
              <a:t>uniqueidentifier</a:t>
            </a:r>
            <a:r>
              <a:rPr lang="zh-CN" altLang="zh-CN"/>
              <a:t>：唯一标识符类型。系统将为这种类型的数据产生唯一标识值，它是一个</a:t>
            </a:r>
            <a:r>
              <a:rPr lang="en-US" altLang="zh-CN"/>
              <a:t>16</a:t>
            </a:r>
            <a:r>
              <a:rPr lang="zh-CN" altLang="zh-CN"/>
              <a:t>字节长的二进制数据。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5</a:t>
            </a:r>
            <a:r>
              <a:rPr lang="zh-CN" altLang="zh-CN"/>
              <a:t>）</a:t>
            </a:r>
            <a:r>
              <a:rPr lang="en-US" altLang="zh-CN"/>
              <a:t>xml</a:t>
            </a:r>
            <a:r>
              <a:rPr lang="zh-CN" altLang="zh-CN"/>
              <a:t>：用来在数据库中保存</a:t>
            </a:r>
            <a:r>
              <a:rPr lang="en-US" altLang="zh-CN"/>
              <a:t>xml</a:t>
            </a:r>
            <a:r>
              <a:rPr lang="zh-CN" altLang="zh-CN"/>
              <a:t>文档和片段的一种类型，但是此种类型的文件大小不能超过</a:t>
            </a:r>
            <a:r>
              <a:rPr lang="en-US" altLang="zh-CN"/>
              <a:t>2 GB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6</a:t>
            </a:r>
            <a:r>
              <a:rPr lang="zh-CN" altLang="zh-CN"/>
              <a:t>）</a:t>
            </a:r>
            <a:r>
              <a:rPr lang="en-US" altLang="zh-CN"/>
              <a:t>hierarchyid</a:t>
            </a:r>
            <a:r>
              <a:rPr lang="zh-CN" altLang="zh-CN"/>
              <a:t>：可表示层次结构中的位置。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3.1.2  </a:t>
            </a:r>
            <a:r>
              <a:rPr lang="zh-CN" altLang="zh-CN" dirty="0">
                <a:effectLst/>
              </a:rPr>
              <a:t>表结构设计</a:t>
            </a:r>
            <a:endParaRPr lang="zh-CN" altLang="zh-CN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750" y="1412875"/>
            <a:ext cx="8135938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学生表包含的列有学号、姓名、性别、出生时间、专业、总学分、备注。为了便于理解，本书基础部分使用中文列标题表示列名，后面的综合实习使用英文字母来表示列名。设计的</a:t>
            </a:r>
            <a:r>
              <a:rPr lang="en-US" altLang="zh-CN" dirty="0" err="1">
                <a:latin typeface="+mn-lt"/>
                <a:ea typeface="+mn-ea"/>
              </a:rPr>
              <a:t>xsb</a:t>
            </a:r>
            <a:r>
              <a:rPr lang="zh-CN" altLang="zh-CN" dirty="0">
                <a:latin typeface="+mn-lt"/>
                <a:ea typeface="+mn-ea"/>
              </a:rPr>
              <a:t>（数据库中学生表的名称）的表结构如表</a:t>
            </a:r>
            <a:r>
              <a:rPr lang="en-US" altLang="zh-CN" dirty="0">
                <a:latin typeface="+mn-lt"/>
                <a:ea typeface="+mn-ea"/>
              </a:rPr>
              <a:t>3.3</a:t>
            </a:r>
            <a:r>
              <a:rPr lang="zh-CN" altLang="zh-CN" dirty="0">
                <a:latin typeface="+mn-lt"/>
                <a:ea typeface="+mn-ea"/>
              </a:rPr>
              <a:t>所示。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8175" y="2636838"/>
          <a:ext cx="8023224" cy="2773680"/>
        </p:xfrm>
        <a:graphic>
          <a:graphicData uri="http://schemas.openxmlformats.org/drawingml/2006/table">
            <a:tbl>
              <a:tblPr/>
              <a:tblGrid>
                <a:gridCol w="888974"/>
                <a:gridCol w="1840527"/>
                <a:gridCol w="1004507"/>
                <a:gridCol w="1069629"/>
                <a:gridCol w="968270"/>
                <a:gridCol w="2251317"/>
              </a:tblGrid>
              <a:tr h="213336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列名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数据类型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长度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是否可空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说明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07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学号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主键，前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位表示班级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, 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中间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位为年级号，后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2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位为序号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36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姓名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8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36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性别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位型（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bit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1: 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男；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0: 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女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671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出生时间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日期型（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date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36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专业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12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671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总学分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int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671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备注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不定长字符型（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varchar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500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just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diamond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3.1.2  </a:t>
            </a:r>
            <a:r>
              <a:rPr lang="zh-CN" altLang="zh-CN" dirty="0">
                <a:effectLst/>
              </a:rPr>
              <a:t>表结构设计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12875"/>
            <a:ext cx="8207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参照</a:t>
            </a:r>
            <a:r>
              <a:rPr lang="en-US" altLang="zh-CN" dirty="0" err="1">
                <a:latin typeface="+mn-lt"/>
                <a:ea typeface="+mn-ea"/>
              </a:rPr>
              <a:t>xsb</a:t>
            </a:r>
            <a:r>
              <a:rPr lang="zh-CN" altLang="zh-CN" dirty="0">
                <a:latin typeface="+mn-lt"/>
                <a:ea typeface="+mn-ea"/>
              </a:rPr>
              <a:t>表结构的设计方法，同样可以设计出其他两个表的结构，表</a:t>
            </a:r>
            <a:r>
              <a:rPr lang="en-US" altLang="zh-CN" dirty="0">
                <a:latin typeface="+mn-lt"/>
                <a:ea typeface="+mn-ea"/>
              </a:rPr>
              <a:t>3.4</a:t>
            </a:r>
            <a:r>
              <a:rPr lang="zh-CN" altLang="zh-CN" dirty="0">
                <a:latin typeface="+mn-lt"/>
                <a:ea typeface="+mn-ea"/>
              </a:rPr>
              <a:t>所示为</a:t>
            </a:r>
            <a:r>
              <a:rPr lang="en-US" altLang="zh-CN" dirty="0" err="1">
                <a:latin typeface="+mn-lt"/>
                <a:ea typeface="+mn-ea"/>
              </a:rPr>
              <a:t>kcb</a:t>
            </a:r>
            <a:r>
              <a:rPr lang="zh-CN" altLang="zh-CN" dirty="0">
                <a:latin typeface="+mn-lt"/>
                <a:ea typeface="+mn-ea"/>
              </a:rPr>
              <a:t>的表结构，表</a:t>
            </a:r>
            <a:r>
              <a:rPr lang="en-US" altLang="zh-CN" dirty="0">
                <a:latin typeface="+mn-lt"/>
                <a:ea typeface="+mn-ea"/>
              </a:rPr>
              <a:t>3.5</a:t>
            </a:r>
            <a:r>
              <a:rPr lang="zh-CN" altLang="zh-CN" dirty="0">
                <a:latin typeface="+mn-lt"/>
                <a:ea typeface="+mn-ea"/>
              </a:rPr>
              <a:t>所示为</a:t>
            </a:r>
            <a:r>
              <a:rPr lang="en-US" altLang="zh-CN" dirty="0" err="1">
                <a:latin typeface="+mn-lt"/>
                <a:ea typeface="+mn-ea"/>
              </a:rPr>
              <a:t>cjb</a:t>
            </a:r>
            <a:r>
              <a:rPr lang="zh-CN" altLang="zh-CN" dirty="0">
                <a:latin typeface="+mn-lt"/>
                <a:ea typeface="+mn-ea"/>
              </a:rPr>
              <a:t>的表结构。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7700" y="2205038"/>
          <a:ext cx="8023226" cy="1493836"/>
        </p:xfrm>
        <a:graphic>
          <a:graphicData uri="http://schemas.openxmlformats.org/drawingml/2006/table">
            <a:tbl>
              <a:tblPr/>
              <a:tblGrid>
                <a:gridCol w="1036601"/>
                <a:gridCol w="2398994"/>
                <a:gridCol w="1008032"/>
                <a:gridCol w="1152037"/>
                <a:gridCol w="936030"/>
                <a:gridCol w="1491532"/>
              </a:tblGrid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列名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数据类型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长度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是否可空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说明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课程号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3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主键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课程名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811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开课学期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tinyint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范围为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8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学时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tinyint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405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学分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tinyint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0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范围为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6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4525" y="4221163"/>
          <a:ext cx="8023224" cy="1280160"/>
        </p:xfrm>
        <a:graphic>
          <a:graphicData uri="http://schemas.openxmlformats.org/drawingml/2006/table">
            <a:tbl>
              <a:tblPr/>
              <a:tblGrid>
                <a:gridCol w="1046228"/>
                <a:gridCol w="1742644"/>
                <a:gridCol w="961182"/>
                <a:gridCol w="1197588"/>
                <a:gridCol w="1029660"/>
                <a:gridCol w="2045922"/>
              </a:tblGrid>
              <a:tr h="213254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列名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数据类型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长度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是否可空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说明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508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学号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6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主键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508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课程号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定长字符型（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char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3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×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无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主键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254"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成绩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整数型（</a:t>
                      </a:r>
                      <a:r>
                        <a:rPr lang="en-US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int</a:t>
                      </a: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）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默认值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>
                          <a:effectLst/>
                          <a:latin typeface="Times New Roman" panose="02020603050405020304"/>
                          <a:ea typeface="方正书宋简体"/>
                        </a:rPr>
                        <a:t>√</a:t>
                      </a:r>
                      <a:endParaRPr lang="zh-CN" sz="1400" kern="100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0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54000" algn="ctr">
                        <a:spcBef>
                          <a:spcPts val="165"/>
                        </a:spcBef>
                        <a:spcAft>
                          <a:spcPts val="165"/>
                        </a:spcAft>
                      </a:pP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范围为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0</a:t>
                      </a:r>
                      <a:r>
                        <a:rPr lang="zh-CN" sz="1400" kern="10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～</a:t>
                      </a:r>
                      <a:r>
                        <a:rPr lang="en-US" sz="1400" kern="1000" dirty="0">
                          <a:effectLst/>
                          <a:latin typeface="Times New Roman" panose="02020603050405020304"/>
                          <a:ea typeface="方正书宋简体"/>
                        </a:rPr>
                        <a:t>100</a:t>
                      </a:r>
                      <a:endParaRPr lang="zh-CN" sz="1400" kern="1000" dirty="0">
                        <a:effectLst/>
                        <a:latin typeface="Times New Roman" panose="02020603050405020304"/>
                        <a:ea typeface="方正书宋简体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  </a:t>
            </a:r>
            <a:r>
              <a:rPr lang="zh-CN" altLang="zh-CN" dirty="0">
                <a:effectLst/>
              </a:rPr>
              <a:t>界面方式创建表结构</a:t>
            </a:r>
            <a:endParaRPr lang="zh-CN" altLang="zh-CN" dirty="0">
              <a:effectLst/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3.2.1  </a:t>
            </a:r>
            <a:r>
              <a:rPr lang="zh-CN" altLang="en-US" sz="2000" b="1" dirty="0"/>
              <a:t>创建表结构</a:t>
            </a:r>
            <a:endParaRPr lang="zh-CN" altLang="en-US" sz="2000" b="1" dirty="0"/>
          </a:p>
          <a:p>
            <a:pPr eaLnBrk="1" hangingPunct="1"/>
            <a:r>
              <a:rPr lang="zh-CN" altLang="en-US" dirty="0"/>
              <a:t>例如，通过“对象资源管理器”创建表</a:t>
            </a:r>
            <a:r>
              <a:rPr lang="en-US" altLang="zh-CN" dirty="0" err="1"/>
              <a:t>xsb</a:t>
            </a:r>
            <a:r>
              <a:rPr lang="zh-CN" altLang="en-US" dirty="0"/>
              <a:t>，步骤如下。</a:t>
            </a:r>
            <a:endParaRPr lang="zh-CN" altLang="en-US" dirty="0"/>
          </a:p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）启动“</a:t>
            </a:r>
            <a:r>
              <a:rPr lang="en-US" altLang="zh-CN" dirty="0"/>
              <a:t>SSMS”</a:t>
            </a:r>
            <a:r>
              <a:rPr lang="zh-CN" altLang="en-US" dirty="0"/>
              <a:t>，在“对象资源管理器”中展开“数据库”，右键单击“</a:t>
            </a:r>
            <a:r>
              <a:rPr lang="en-US" altLang="zh-CN" dirty="0" err="1"/>
              <a:t>pxscj</a:t>
            </a:r>
            <a:r>
              <a:rPr lang="en-US" altLang="zh-CN" dirty="0"/>
              <a:t>”</a:t>
            </a:r>
            <a:r>
              <a:rPr lang="zh-CN" altLang="en-US" dirty="0"/>
              <a:t>数据库菜单下的“表”选项，在弹出的快捷菜单中选择“新建表”菜单项，如图</a:t>
            </a:r>
            <a:r>
              <a:rPr lang="en-US" altLang="zh-CN" dirty="0"/>
              <a:t>3.1</a:t>
            </a:r>
            <a:r>
              <a:rPr lang="zh-CN" altLang="en-US" dirty="0"/>
              <a:t>所示。系统打开“表设计器”窗口。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068638"/>
            <a:ext cx="3313113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3.2.1  </a:t>
            </a:r>
            <a:r>
              <a:rPr lang="zh-CN" altLang="zh-CN" dirty="0">
                <a:effectLst/>
              </a:rPr>
              <a:t>创建表结构</a:t>
            </a:r>
            <a:endParaRPr lang="zh-CN" altLang="zh-CN" dirty="0">
              <a:effectLst/>
            </a:endParaRPr>
          </a:p>
        </p:txBody>
      </p:sp>
      <p:sp>
        <p:nvSpPr>
          <p:cNvPr id="28675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378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）在“表设计器”窗口中，根据附录</a:t>
            </a:r>
            <a:r>
              <a:rPr lang="en-US" altLang="zh-CN"/>
              <a:t>A</a:t>
            </a:r>
            <a:r>
              <a:rPr lang="zh-CN" altLang="zh-CN"/>
              <a:t>已经设计好的</a:t>
            </a:r>
            <a:r>
              <a:rPr lang="en-US" altLang="zh-CN"/>
              <a:t>xsb</a:t>
            </a:r>
            <a:r>
              <a:rPr lang="zh-CN" altLang="zh-CN"/>
              <a:t>的表结构分别输入或选择各列的名称、数据类型、是否允许为空值等属性。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删除“学号”和“姓名”字段“允许</a:t>
            </a:r>
            <a:r>
              <a:rPr lang="en-US" altLang="zh-CN"/>
              <a:t>Null</a:t>
            </a:r>
            <a:r>
              <a:rPr lang="zh-CN" altLang="zh-CN"/>
              <a:t>值”，使其不能为空。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）根据需要，可以在“列属性”选项卡中填入相应内容。在“专业”字段的“默认值或绑定”中输入“计算机”；相应的性别字段“默认值或绑定”设置为</a:t>
            </a:r>
            <a:r>
              <a:rPr lang="en-US" altLang="zh-CN"/>
              <a:t>1</a:t>
            </a:r>
            <a:r>
              <a:rPr lang="zh-CN" altLang="zh-CN"/>
              <a:t>；在总学分字段“默认值或绑定”设置为</a:t>
            </a:r>
            <a:r>
              <a:rPr lang="en-US" altLang="zh-CN"/>
              <a:t>0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）在“学号”列上右键单击鼠标，选择“设置主键”菜单项，选择“设为主键”选项，该字段前就会显示小钥匙图标。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3.2.1  </a:t>
            </a:r>
            <a:r>
              <a:rPr lang="zh-CN" altLang="zh-CN" dirty="0">
                <a:effectLst/>
              </a:rPr>
              <a:t>创建表结构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12875"/>
            <a:ext cx="83518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学生情况表（</a:t>
            </a:r>
            <a:r>
              <a:rPr lang="en-US" altLang="zh-CN" dirty="0" err="1">
                <a:latin typeface="+mn-lt"/>
                <a:ea typeface="+mn-ea"/>
              </a:rPr>
              <a:t>xsb</a:t>
            </a:r>
            <a:r>
              <a:rPr lang="zh-CN" altLang="zh-CN" dirty="0">
                <a:latin typeface="+mn-lt"/>
                <a:ea typeface="+mn-ea"/>
              </a:rPr>
              <a:t>）设计后的结果如图</a:t>
            </a:r>
            <a:r>
              <a:rPr lang="en-US" altLang="zh-CN" dirty="0">
                <a:latin typeface="+mn-lt"/>
                <a:ea typeface="+mn-ea"/>
              </a:rPr>
              <a:t>3.2</a:t>
            </a:r>
            <a:r>
              <a:rPr lang="zh-CN" altLang="zh-CN" dirty="0">
                <a:latin typeface="+mn-lt"/>
                <a:ea typeface="+mn-ea"/>
              </a:rPr>
              <a:t>所示，单击“</a:t>
            </a:r>
            <a:r>
              <a:rPr lang="en-US" altLang="zh-CN" dirty="0">
                <a:latin typeface="+mn-lt"/>
                <a:ea typeface="+mn-ea"/>
              </a:rPr>
              <a:t>    </a:t>
            </a:r>
            <a:r>
              <a:rPr lang="zh-CN" altLang="zh-CN" dirty="0">
                <a:latin typeface="+mn-lt"/>
                <a:ea typeface="+mn-ea"/>
              </a:rPr>
              <a:t>”保存图标保存设计表结构。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413" y="1412875"/>
            <a:ext cx="2635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060575"/>
            <a:ext cx="5184775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3.2.2  </a:t>
            </a:r>
            <a:r>
              <a:rPr lang="zh-CN" altLang="zh-CN" dirty="0">
                <a:effectLst/>
              </a:rPr>
              <a:t>修改表结构</a:t>
            </a:r>
            <a:endParaRPr lang="zh-CN" altLang="zh-CN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313" y="1412875"/>
            <a:ext cx="8135937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默认情况下，</a:t>
            </a:r>
            <a:r>
              <a:rPr lang="en-US" altLang="zh-CN" dirty="0">
                <a:latin typeface="+mn-lt"/>
                <a:ea typeface="+mn-ea"/>
              </a:rPr>
              <a:t>SQL Server</a:t>
            </a:r>
            <a:r>
              <a:rPr lang="zh-CN" altLang="zh-CN" dirty="0">
                <a:latin typeface="+mn-lt"/>
                <a:ea typeface="+mn-ea"/>
              </a:rPr>
              <a:t>用户不能通过界面方式修改表的结构。而需要先删除原来的表，再重新创建新表。如果需要通过界面方式修改表，在“</a:t>
            </a:r>
            <a:r>
              <a:rPr lang="en-US" altLang="zh-CN" dirty="0">
                <a:latin typeface="+mn-lt"/>
                <a:ea typeface="+mn-ea"/>
              </a:rPr>
              <a:t>SSMS</a:t>
            </a:r>
            <a:r>
              <a:rPr lang="zh-CN" altLang="zh-CN" dirty="0">
                <a:latin typeface="+mn-lt"/>
                <a:ea typeface="+mn-ea"/>
              </a:rPr>
              <a:t>”的面板中单击“工具”主菜单，选择“选项”子菜单，在出现的“选项”对话框中选择“设计器”，将“阻止保存要求重新创建表的更改”复选框前的勾去掉，如图</a:t>
            </a:r>
            <a:r>
              <a:rPr lang="en-US" altLang="zh-CN" dirty="0">
                <a:latin typeface="+mn-lt"/>
                <a:ea typeface="+mn-ea"/>
              </a:rPr>
              <a:t>3.3</a:t>
            </a:r>
            <a:r>
              <a:rPr lang="zh-CN" altLang="zh-CN" dirty="0">
                <a:latin typeface="+mn-lt"/>
                <a:ea typeface="+mn-ea"/>
              </a:rPr>
              <a:t>所示。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852738"/>
            <a:ext cx="5111750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3.2.2  </a:t>
            </a:r>
            <a:r>
              <a:rPr lang="zh-CN" altLang="zh-CN" dirty="0">
                <a:effectLst/>
              </a:rPr>
              <a:t>修改表结构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8313" y="1412875"/>
            <a:ext cx="8207375" cy="4246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</a:rPr>
              <a:t>1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+mn-ea"/>
              </a:rPr>
              <a:t>．更改表名</a:t>
            </a:r>
            <a:endParaRPr lang="zh-CN" altLang="zh-CN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在“对象资源管理器”中选择需要更名的表，右键单击鼠标，在弹出的快捷菜单上选择“重命名”菜单项，输入新的表名后确定。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</a:rPr>
              <a:t>2</a:t>
            </a:r>
            <a:r>
              <a:rPr lang="zh-CN" altLang="zh-CN" b="1" dirty="0">
                <a:solidFill>
                  <a:srgbClr val="C00000"/>
                </a:solidFill>
                <a:latin typeface="+mn-lt"/>
                <a:ea typeface="+mn-ea"/>
              </a:rPr>
              <a:t>．修改表结构</a:t>
            </a:r>
            <a:endParaRPr lang="zh-CN" altLang="zh-CN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修改表结构包括增加列、删除列、修改已有列的属性（列名、数据类型、是否为空值等）。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在“对象资源管理器”中展开“数据库”，在选择的数据库中选择修改表，右键单击鼠标，在弹出的快捷菜单中选择“设计”菜单项，打开“表设计器”窗口。系统列出已经存在的表结构，用户就像界面设计表结构一样修改表结构。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改变列的数据类型时，要求满足下列条件：</a:t>
            </a:r>
            <a:r>
              <a:rPr lang="en-US" altLang="zh-CN" dirty="0">
                <a:latin typeface="+mn-lt"/>
                <a:ea typeface="+mn-ea"/>
              </a:rPr>
              <a:t>	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1</a:t>
            </a:r>
            <a:r>
              <a:rPr lang="zh-CN" altLang="zh-CN" dirty="0">
                <a:latin typeface="+mn-lt"/>
                <a:ea typeface="+mn-ea"/>
              </a:rPr>
              <a:t>）原数据类型必须能够转换为新数据类型；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2</a:t>
            </a:r>
            <a:r>
              <a:rPr lang="zh-CN" altLang="zh-CN" dirty="0">
                <a:latin typeface="+mn-lt"/>
                <a:ea typeface="+mn-ea"/>
              </a:rPr>
              <a:t>）新数据类型不能为</a:t>
            </a:r>
            <a:r>
              <a:rPr lang="en-US" altLang="zh-CN" dirty="0">
                <a:latin typeface="+mn-lt"/>
                <a:ea typeface="+mn-ea"/>
              </a:rPr>
              <a:t>timestamp</a:t>
            </a:r>
            <a:r>
              <a:rPr lang="zh-CN" altLang="zh-CN" dirty="0">
                <a:latin typeface="+mn-lt"/>
                <a:ea typeface="+mn-ea"/>
              </a:rPr>
              <a:t>类型；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3</a:t>
            </a:r>
            <a:r>
              <a:rPr lang="zh-CN" altLang="zh-CN" dirty="0">
                <a:latin typeface="+mn-lt"/>
                <a:ea typeface="+mn-ea"/>
              </a:rPr>
              <a:t>）如果被修改列属性中有“标识规范”属性，则新数据类型必须是有效的“标识规范”数据类型。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3.2.3  </a:t>
            </a:r>
            <a:r>
              <a:rPr lang="zh-CN" altLang="zh-CN" dirty="0">
                <a:effectLst/>
              </a:rPr>
              <a:t>删除表</a:t>
            </a:r>
            <a:endParaRPr lang="zh-CN" altLang="zh-CN" dirty="0">
              <a:effectLst/>
            </a:endParaRPr>
          </a:p>
        </p:txBody>
      </p:sp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468313" y="1628775"/>
            <a:ext cx="8207375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/>
              <a:t>在“对象资源管理器”中展开“数据库”→选择数据库→选择表，右键单击鼠标，在弹出的快捷菜单上选择“删除”菜单项。系统弹出“删除对象”窗口。单击“确定”按钮即可删除指定表。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088" y="3789363"/>
            <a:ext cx="7921625" cy="2663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2036763"/>
            <a:ext cx="7921625" cy="14398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  </a:t>
            </a:r>
            <a:r>
              <a:rPr lang="zh-CN" altLang="zh-CN" dirty="0">
                <a:effectLst/>
              </a:rPr>
              <a:t>命令方式创建表结构</a:t>
            </a:r>
            <a:endParaRPr lang="zh-CN" altLang="zh-CN" dirty="0">
              <a:effectLst/>
            </a:endParaRPr>
          </a:p>
        </p:txBody>
      </p:sp>
      <p:sp>
        <p:nvSpPr>
          <p:cNvPr id="33797" name="TextBox 2"/>
          <p:cNvSpPr txBox="1">
            <a:spLocks noChangeArrowheads="1"/>
          </p:cNvSpPr>
          <p:nvPr/>
        </p:nvSpPr>
        <p:spPr bwMode="auto">
          <a:xfrm>
            <a:off x="323850" y="1412875"/>
            <a:ext cx="8424863" cy="54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35305" defTabSz="24955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24955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24955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24955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24955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24955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24955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24955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24955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3.3.1  </a:t>
            </a:r>
            <a:r>
              <a:rPr lang="zh-CN" altLang="zh-CN" sz="2000" b="1" dirty="0"/>
              <a:t>创建表结构：</a:t>
            </a:r>
            <a:r>
              <a:rPr lang="en-US" altLang="zh-CN" sz="2000" b="1" dirty="0"/>
              <a:t>CREATE TABLE</a:t>
            </a:r>
            <a:endParaRPr lang="zh-CN" altLang="zh-CN" sz="2000" b="1" dirty="0"/>
          </a:p>
          <a:p>
            <a:pPr eaLnBrk="1" fontAlgn="ctr" hangingPunct="1"/>
            <a:r>
              <a:rPr lang="zh-CN" altLang="zh-CN" dirty="0"/>
              <a:t>创建表使用</a:t>
            </a:r>
            <a:r>
              <a:rPr lang="en-US" altLang="zh-CN" dirty="0"/>
              <a:t>CREATE TABLE</a:t>
            </a:r>
            <a:r>
              <a:rPr lang="zh-CN" altLang="zh-CN" dirty="0"/>
              <a:t>命令，其语法格式如下：</a:t>
            </a:r>
            <a:endParaRPr lang="zh-CN" altLang="zh-CN" dirty="0"/>
          </a:p>
          <a:p>
            <a:pPr eaLnBrk="1" hangingPunct="1"/>
            <a:r>
              <a:rPr lang="en-US" altLang="zh-CN" sz="1600" dirty="0"/>
              <a:t>CREATE TABLE [</a:t>
            </a:r>
            <a:r>
              <a:rPr lang="zh-CN" altLang="zh-CN" sz="1600" dirty="0"/>
              <a:t>数据库名</a:t>
            </a:r>
            <a:r>
              <a:rPr lang="en-US" altLang="zh-CN" sz="1600" dirty="0"/>
              <a:t>. [</a:t>
            </a:r>
            <a:r>
              <a:rPr lang="zh-CN" altLang="zh-CN" sz="1600" dirty="0"/>
              <a:t>架构名</a:t>
            </a:r>
            <a:r>
              <a:rPr lang="en-US" altLang="zh-CN" sz="1600" dirty="0"/>
              <a:t>] . | </a:t>
            </a:r>
            <a:r>
              <a:rPr lang="zh-CN" altLang="zh-CN" sz="1600" dirty="0"/>
              <a:t>架构名</a:t>
            </a:r>
            <a:r>
              <a:rPr lang="en-US" altLang="zh-CN" sz="1600" dirty="0"/>
              <a:t>. ]</a:t>
            </a:r>
            <a:r>
              <a:rPr lang="zh-CN" altLang="zh-CN" sz="1600" dirty="0"/>
              <a:t>表名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(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&lt;</a:t>
            </a:r>
            <a:r>
              <a:rPr lang="zh-CN" altLang="zh-CN" sz="1600" dirty="0"/>
              <a:t>列定义</a:t>
            </a:r>
            <a:r>
              <a:rPr lang="en-US" altLang="zh-CN" sz="1600" dirty="0"/>
              <a:t>&gt;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……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&lt;</a:t>
            </a:r>
            <a:r>
              <a:rPr lang="zh-CN" altLang="zh-CN" sz="1600" dirty="0"/>
              <a:t>表约束</a:t>
            </a:r>
            <a:r>
              <a:rPr lang="en-US" altLang="zh-CN" sz="1600" dirty="0"/>
              <a:t>&gt; ]	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)  ……</a:t>
            </a:r>
            <a:endParaRPr lang="zh-CN" altLang="zh-CN" sz="1600" dirty="0"/>
          </a:p>
          <a:p>
            <a:pPr eaLnBrk="1" fontAlgn="ctr" hangingPunct="1"/>
            <a:r>
              <a:rPr lang="zh-CN" altLang="zh-CN" dirty="0"/>
              <a:t>其中，</a:t>
            </a:r>
            <a:r>
              <a:rPr lang="en-US" altLang="zh-CN" dirty="0"/>
              <a:t>&lt;</a:t>
            </a:r>
            <a:r>
              <a:rPr lang="zh-CN" altLang="zh-CN" dirty="0"/>
              <a:t>列定义</a:t>
            </a:r>
            <a:r>
              <a:rPr lang="en-US" altLang="zh-CN" dirty="0"/>
              <a:t>&gt;</a:t>
            </a:r>
            <a:r>
              <a:rPr lang="zh-CN" altLang="zh-CN" dirty="0"/>
              <a:t>为：</a:t>
            </a:r>
            <a:endParaRPr lang="zh-CN" altLang="zh-CN" dirty="0"/>
          </a:p>
          <a:p>
            <a:pPr eaLnBrk="1" hangingPunct="1"/>
            <a:r>
              <a:rPr lang="en-US" altLang="zh-CN" sz="1600" dirty="0"/>
              <a:t>    </a:t>
            </a:r>
            <a:r>
              <a:rPr lang="zh-CN" altLang="zh-CN" sz="1600" dirty="0"/>
              <a:t>列名 数据类型</a:t>
            </a:r>
            <a:r>
              <a:rPr lang="en-US" altLang="zh-CN" sz="1600" dirty="0"/>
              <a:t>									/*</a:t>
            </a:r>
            <a:r>
              <a:rPr lang="zh-CN" altLang="zh-CN" sz="1600" dirty="0"/>
              <a:t>指定列名、列的数据类型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FILESTREAM ]									/*</a:t>
            </a:r>
            <a:r>
              <a:rPr lang="zh-CN" altLang="zh-CN" sz="1600" dirty="0"/>
              <a:t>指定</a:t>
            </a:r>
            <a:r>
              <a:rPr lang="en-US" altLang="zh-CN" sz="1600" dirty="0"/>
              <a:t>FILESTREAM</a:t>
            </a:r>
            <a:r>
              <a:rPr lang="zh-CN" altLang="zh-CN" sz="1600" dirty="0"/>
              <a:t>属性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COLLATE</a:t>
            </a:r>
            <a:r>
              <a:rPr lang="zh-CN" altLang="zh-CN" sz="1600" dirty="0"/>
              <a:t>排序名</a:t>
            </a:r>
            <a:r>
              <a:rPr lang="en-US" altLang="zh-CN" sz="1600" dirty="0"/>
              <a:t>]								/*</a:t>
            </a:r>
            <a:r>
              <a:rPr lang="zh-CN" altLang="zh-CN" sz="1600" dirty="0"/>
              <a:t>指定排序规则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NULL | NOT NULL ]							/*</a:t>
            </a:r>
            <a:r>
              <a:rPr lang="zh-CN" altLang="zh-CN" sz="1600" dirty="0"/>
              <a:t>指定是否为空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    [ CONSTRAINT</a:t>
            </a:r>
            <a:r>
              <a:rPr lang="zh-CN" altLang="zh-CN" sz="1600" dirty="0"/>
              <a:t>约束名</a:t>
            </a:r>
            <a:r>
              <a:rPr lang="en-US" altLang="zh-CN" sz="1600" dirty="0"/>
              <a:t>]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    DEFAULT</a:t>
            </a:r>
            <a:r>
              <a:rPr lang="zh-CN" altLang="zh-CN" sz="1600" dirty="0"/>
              <a:t>常量表达式</a:t>
            </a:r>
            <a:r>
              <a:rPr lang="en-US" altLang="zh-CN" sz="1600" dirty="0"/>
              <a:t>						/*</a:t>
            </a:r>
            <a:r>
              <a:rPr lang="zh-CN" altLang="zh-CN" sz="1600" dirty="0"/>
              <a:t>指定默认值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]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| [ IDENTITY [ (</a:t>
            </a:r>
            <a:r>
              <a:rPr lang="zh-CN" altLang="zh-CN" sz="1600" dirty="0"/>
              <a:t>初值</a:t>
            </a:r>
            <a:r>
              <a:rPr lang="en-US" altLang="zh-CN" sz="1600" dirty="0"/>
              <a:t>, </a:t>
            </a:r>
            <a:r>
              <a:rPr lang="zh-CN" altLang="zh-CN" sz="1600" dirty="0"/>
              <a:t>增量</a:t>
            </a:r>
            <a:r>
              <a:rPr lang="en-US" altLang="zh-CN" sz="1600" dirty="0"/>
              <a:t>) ] [ NOT FOR REPLICATION ]] 	/*</a:t>
            </a:r>
            <a:r>
              <a:rPr lang="zh-CN" altLang="zh-CN" sz="1600" dirty="0"/>
              <a:t>指定列为标识列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ROWGUIDCOL ]								/*</a:t>
            </a:r>
            <a:r>
              <a:rPr lang="zh-CN" altLang="zh-CN" sz="1600" dirty="0"/>
              <a:t>指定列为全局标识符列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r>
              <a:rPr lang="en-US" altLang="zh-CN" sz="1600" dirty="0"/>
              <a:t>    [ &lt;</a:t>
            </a:r>
            <a:r>
              <a:rPr lang="zh-CN" altLang="zh-CN" sz="1600" dirty="0"/>
              <a:t>列约束</a:t>
            </a:r>
            <a:r>
              <a:rPr lang="en-US" altLang="zh-CN" sz="1600" dirty="0"/>
              <a:t>&gt; …  ] 								/*</a:t>
            </a:r>
            <a:r>
              <a:rPr lang="zh-CN" altLang="zh-CN" sz="1600" dirty="0"/>
              <a:t>指定列的约束</a:t>
            </a:r>
            <a:r>
              <a:rPr lang="en-US" altLang="zh-CN" sz="1600" dirty="0"/>
              <a:t>*/</a:t>
            </a:r>
            <a:endParaRPr lang="zh-CN" altLang="zh-CN" sz="1600" dirty="0"/>
          </a:p>
          <a:p>
            <a:pPr eaLnBrk="1" hangingPunct="1"/>
            <a:endParaRPr lang="zh-CN" altLang="en-US" sz="1600" dirty="0"/>
          </a:p>
        </p:txBody>
      </p:sp>
    </p:spTree>
  </p:cSld>
  <p:clrMapOvr>
    <a:masterClrMapping/>
  </p:clrMapOvr>
  <p:transition spd="slow">
    <p:wheel spokes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2420938"/>
            <a:ext cx="7920038" cy="36004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3.3.1  </a:t>
            </a:r>
            <a:r>
              <a:rPr lang="zh-CN" altLang="zh-CN" dirty="0">
                <a:effectLst/>
              </a:rPr>
              <a:t>创建表结构：</a:t>
            </a:r>
            <a:r>
              <a:rPr lang="en-US" altLang="zh-CN" dirty="0">
                <a:effectLst/>
              </a:rPr>
              <a:t>CREATE TABLE</a:t>
            </a:r>
            <a:endParaRPr lang="zh-CN" altLang="zh-CN" dirty="0">
              <a:effectLst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1557338"/>
            <a:ext cx="8280400" cy="480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【例</a:t>
            </a:r>
            <a:r>
              <a:rPr lang="en-US" altLang="zh-CN" dirty="0">
                <a:latin typeface="+mn-lt"/>
                <a:ea typeface="+mn-ea"/>
              </a:rPr>
              <a:t>3.1</a:t>
            </a:r>
            <a:r>
              <a:rPr lang="zh-CN" altLang="zh-CN" dirty="0">
                <a:latin typeface="+mn-lt"/>
                <a:ea typeface="+mn-ea"/>
              </a:rPr>
              <a:t>】 设已经创建了数据库</a:t>
            </a:r>
            <a:r>
              <a:rPr lang="en-US" altLang="zh-CN" dirty="0">
                <a:latin typeface="+mn-lt"/>
                <a:ea typeface="+mn-ea"/>
              </a:rPr>
              <a:t>test1</a:t>
            </a:r>
            <a:r>
              <a:rPr lang="zh-CN" altLang="zh-CN" dirty="0">
                <a:latin typeface="+mn-lt"/>
                <a:ea typeface="+mn-ea"/>
              </a:rPr>
              <a:t>，现在该数据库中需创建学生情况表</a:t>
            </a:r>
            <a:r>
              <a:rPr lang="en-US" altLang="zh-CN" dirty="0">
                <a:latin typeface="+mn-lt"/>
                <a:ea typeface="+mn-ea"/>
              </a:rPr>
              <a:t>xsb1</a:t>
            </a:r>
            <a:r>
              <a:rPr lang="zh-CN" altLang="zh-CN" dirty="0">
                <a:latin typeface="+mn-lt"/>
                <a:ea typeface="+mn-ea"/>
              </a:rPr>
              <a:t>，该表的结构如表</a:t>
            </a:r>
            <a:r>
              <a:rPr lang="en-US" altLang="zh-CN" dirty="0">
                <a:latin typeface="+mn-lt"/>
                <a:ea typeface="+mn-ea"/>
              </a:rPr>
              <a:t>3.3</a:t>
            </a:r>
            <a:r>
              <a:rPr lang="zh-CN" altLang="zh-CN" dirty="0">
                <a:latin typeface="+mn-lt"/>
                <a:ea typeface="+mn-ea"/>
              </a:rPr>
              <a:t>所示。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在“</a:t>
            </a:r>
            <a:r>
              <a:rPr lang="en-US" altLang="zh-CN" dirty="0">
                <a:latin typeface="+mn-lt"/>
                <a:ea typeface="+mn-ea"/>
              </a:rPr>
              <a:t>SSMS</a:t>
            </a:r>
            <a:r>
              <a:rPr lang="zh-CN" altLang="zh-CN" dirty="0">
                <a:latin typeface="+mn-lt"/>
                <a:ea typeface="+mn-ea"/>
              </a:rPr>
              <a:t>”中单击“新建查询”，在“查询编辑器”中输入下列</a:t>
            </a:r>
            <a:r>
              <a:rPr lang="en-US" altLang="zh-CN" dirty="0">
                <a:latin typeface="+mn-lt"/>
                <a:ea typeface="+mn-ea"/>
              </a:rPr>
              <a:t>T-SQL</a:t>
            </a:r>
            <a:r>
              <a:rPr lang="zh-CN" altLang="zh-CN" dirty="0">
                <a:latin typeface="+mn-lt"/>
                <a:ea typeface="+mn-ea"/>
              </a:rPr>
              <a:t>命令：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USE test1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CREATE TABLE xsb1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( 	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学号  </a:t>
            </a:r>
            <a:r>
              <a:rPr lang="en-US" altLang="zh-CN" dirty="0">
                <a:latin typeface="+mn-lt"/>
                <a:ea typeface="+mn-ea"/>
              </a:rPr>
              <a:t>	char(6)		 NOT NULL PRIMARY KEY,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姓名 </a:t>
            </a:r>
            <a:r>
              <a:rPr lang="en-US" altLang="zh-CN" dirty="0">
                <a:latin typeface="+mn-lt"/>
                <a:ea typeface="+mn-ea"/>
              </a:rPr>
              <a:t>  	char(8) 		 NOT NULL,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性别</a:t>
            </a:r>
            <a:r>
              <a:rPr lang="en-US" altLang="zh-CN" dirty="0">
                <a:latin typeface="+mn-lt"/>
                <a:ea typeface="+mn-ea"/>
              </a:rPr>
              <a:t> 	      bit 		 NULL DEFAULT 1,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出生时间</a:t>
            </a:r>
            <a:r>
              <a:rPr lang="en-US" altLang="zh-CN" dirty="0">
                <a:latin typeface="+mn-lt"/>
                <a:ea typeface="+mn-ea"/>
              </a:rPr>
              <a:t> date 	      	NULL,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专业  </a:t>
            </a:r>
            <a:r>
              <a:rPr lang="en-US" altLang="zh-CN" dirty="0">
                <a:latin typeface="+mn-lt"/>
                <a:ea typeface="+mn-ea"/>
              </a:rPr>
              <a:t>	char(12) 	 	NULL DEFAULT’</a:t>
            </a:r>
            <a:r>
              <a:rPr lang="zh-CN" altLang="zh-CN" dirty="0">
                <a:latin typeface="+mn-lt"/>
                <a:ea typeface="+mn-ea"/>
              </a:rPr>
              <a:t>计算机</a:t>
            </a:r>
            <a:r>
              <a:rPr lang="en-US" altLang="zh-CN" dirty="0">
                <a:latin typeface="+mn-lt"/>
                <a:ea typeface="+mn-ea"/>
              </a:rPr>
              <a:t>’,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总学分</a:t>
            </a:r>
            <a:r>
              <a:rPr lang="en-US" altLang="zh-CN" dirty="0">
                <a:latin typeface="+mn-lt"/>
                <a:ea typeface="+mn-ea"/>
              </a:rPr>
              <a:t> 	</a:t>
            </a:r>
            <a:r>
              <a:rPr lang="en-US" altLang="zh-CN" dirty="0" err="1">
                <a:latin typeface="+mn-lt"/>
                <a:ea typeface="+mn-ea"/>
              </a:rPr>
              <a:t>int</a:t>
            </a:r>
            <a:r>
              <a:rPr lang="en-US" altLang="zh-CN" dirty="0">
                <a:latin typeface="+mn-lt"/>
                <a:ea typeface="+mn-ea"/>
              </a:rPr>
              <a:t> 		NULL DEFAULT 0,	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	</a:t>
            </a:r>
            <a:r>
              <a:rPr lang="zh-CN" altLang="zh-CN" dirty="0">
                <a:latin typeface="+mn-lt"/>
                <a:ea typeface="+mn-ea"/>
              </a:rPr>
              <a:t>备注</a:t>
            </a:r>
            <a:r>
              <a:rPr lang="en-US" altLang="zh-CN" dirty="0">
                <a:latin typeface="+mn-lt"/>
                <a:ea typeface="+mn-ea"/>
              </a:rPr>
              <a:t>	</a:t>
            </a:r>
            <a:r>
              <a:rPr lang="en-US" altLang="zh-CN" dirty="0" err="1">
                <a:latin typeface="+mn-lt"/>
                <a:ea typeface="+mn-ea"/>
              </a:rPr>
              <a:t>varchar</a:t>
            </a:r>
            <a:r>
              <a:rPr lang="en-US" altLang="zh-CN" dirty="0">
                <a:latin typeface="+mn-lt"/>
                <a:ea typeface="+mn-ea"/>
              </a:rPr>
              <a:t>(500)  	NULL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)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3.3.1  </a:t>
            </a:r>
            <a:r>
              <a:rPr lang="zh-CN" altLang="zh-CN" dirty="0">
                <a:effectLst/>
              </a:rPr>
              <a:t>创建表结构：</a:t>
            </a:r>
            <a:r>
              <a:rPr lang="en-US" altLang="zh-CN" dirty="0">
                <a:effectLst/>
              </a:rPr>
              <a:t>CREATE TABLE</a:t>
            </a:r>
            <a:endParaRPr lang="zh-CN" altLang="en-US" dirty="0"/>
          </a:p>
        </p:txBody>
      </p:sp>
      <p:sp>
        <p:nvSpPr>
          <p:cNvPr id="35843" name="矩形 2"/>
          <p:cNvSpPr>
            <a:spLocks noChangeArrowheads="1"/>
          </p:cNvSpPr>
          <p:nvPr/>
        </p:nvSpPr>
        <p:spPr bwMode="auto">
          <a:xfrm>
            <a:off x="1187450" y="1341438"/>
            <a:ext cx="2554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ctr"/>
            <a:r>
              <a:rPr lang="zh-CN" altLang="zh-CN"/>
              <a:t>执行结果如图</a:t>
            </a:r>
            <a:r>
              <a:rPr lang="en-US" altLang="zh-CN"/>
              <a:t>3.4</a:t>
            </a:r>
            <a:r>
              <a:rPr lang="zh-CN" altLang="zh-CN"/>
              <a:t>所示。</a:t>
            </a:r>
            <a:endParaRPr lang="zh-CN" altLang="zh-CN"/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739900"/>
            <a:ext cx="527685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3500438"/>
            <a:ext cx="7775575" cy="20161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3.3.1  </a:t>
            </a:r>
            <a:r>
              <a:rPr lang="zh-CN" altLang="zh-CN" dirty="0">
                <a:effectLst/>
              </a:rPr>
              <a:t>创建表结构：</a:t>
            </a:r>
            <a:r>
              <a:rPr lang="en-US" altLang="zh-CN" dirty="0">
                <a:effectLst/>
              </a:rPr>
              <a:t>CREATE TABLE</a:t>
            </a:r>
            <a:endParaRPr lang="zh-CN" altLang="en-US" dirty="0"/>
          </a:p>
        </p:txBody>
      </p:sp>
      <p:sp>
        <p:nvSpPr>
          <p:cNvPr id="36868" name="TextBox 2"/>
          <p:cNvSpPr txBox="1">
            <a:spLocks noChangeArrowheads="1"/>
          </p:cNvSpPr>
          <p:nvPr/>
        </p:nvSpPr>
        <p:spPr bwMode="auto">
          <a:xfrm>
            <a:off x="468313" y="1557338"/>
            <a:ext cx="820737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首先使用</a:t>
            </a:r>
            <a:r>
              <a:rPr lang="en-US" altLang="zh-CN"/>
              <a:t>USE test1</a:t>
            </a:r>
            <a:r>
              <a:rPr lang="zh-CN" altLang="zh-CN"/>
              <a:t>语句将数据库</a:t>
            </a:r>
            <a:r>
              <a:rPr lang="en-US" altLang="zh-CN"/>
              <a:t>test1</a:t>
            </a:r>
            <a:r>
              <a:rPr lang="zh-CN" altLang="zh-CN"/>
              <a:t>指定为当前数据库，然后使用</a:t>
            </a:r>
            <a:r>
              <a:rPr lang="en-US" altLang="zh-CN"/>
              <a:t>CREATE TABLE</a:t>
            </a:r>
            <a:r>
              <a:rPr lang="zh-CN" altLang="zh-CN"/>
              <a:t>语句在该数据库中创建表</a:t>
            </a:r>
            <a:r>
              <a:rPr lang="en-US" altLang="zh-CN"/>
              <a:t>xsb1</a:t>
            </a:r>
            <a:r>
              <a:rPr lang="zh-CN" altLang="zh-CN"/>
              <a:t>。如果在“</a:t>
            </a:r>
            <a:r>
              <a:rPr lang="en-US" altLang="zh-CN"/>
              <a:t>SSMS</a:t>
            </a:r>
            <a:r>
              <a:rPr lang="zh-CN" altLang="zh-CN"/>
              <a:t>”中当前的数据库为“</a:t>
            </a:r>
            <a:r>
              <a:rPr lang="en-US" altLang="zh-CN"/>
              <a:t>test1</a:t>
            </a:r>
            <a:r>
              <a:rPr lang="zh-CN" altLang="zh-CN"/>
              <a:t>”，则不需要使用</a:t>
            </a:r>
            <a:r>
              <a:rPr lang="en-US" altLang="zh-CN"/>
              <a:t>USE test1</a:t>
            </a:r>
            <a:r>
              <a:rPr lang="zh-CN" altLang="zh-CN"/>
              <a:t>语句。</a:t>
            </a:r>
            <a:endParaRPr lang="zh-CN" altLang="zh-CN"/>
          </a:p>
          <a:p>
            <a:pPr eaLnBrk="1" fontAlgn="ctr" hangingPunct="1"/>
            <a:r>
              <a:rPr lang="zh-CN" altLang="zh-CN"/>
              <a:t>执行命令后，在</a:t>
            </a:r>
            <a:r>
              <a:rPr lang="en-US" altLang="zh-CN"/>
              <a:t>test1</a:t>
            </a:r>
            <a:r>
              <a:rPr lang="zh-CN" altLang="zh-CN"/>
              <a:t>数据库中就创建了</a:t>
            </a:r>
            <a:r>
              <a:rPr lang="en-US" altLang="zh-CN"/>
              <a:t>xsb1</a:t>
            </a:r>
            <a:r>
              <a:rPr lang="zh-CN" altLang="zh-CN"/>
              <a:t>表，并且当前数据库变成了“</a:t>
            </a:r>
            <a:r>
              <a:rPr lang="en-US" altLang="zh-CN"/>
              <a:t>test</a:t>
            </a:r>
            <a:r>
              <a:rPr lang="zh-CN" altLang="zh-CN"/>
              <a:t>”，此后在</a:t>
            </a:r>
            <a:r>
              <a:rPr lang="en-US" altLang="zh-CN"/>
              <a:t>test1</a:t>
            </a:r>
            <a:r>
              <a:rPr lang="zh-CN" altLang="zh-CN"/>
              <a:t>数据库中操作不需要使用“</a:t>
            </a:r>
            <a:r>
              <a:rPr lang="en-US" altLang="zh-CN"/>
              <a:t>USE test1</a:t>
            </a:r>
            <a:r>
              <a:rPr lang="zh-CN" altLang="zh-CN"/>
              <a:t>”命令。</a:t>
            </a:r>
            <a:endParaRPr lang="zh-CN" altLang="zh-CN"/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3.2</a:t>
            </a:r>
            <a:r>
              <a:rPr lang="zh-CN" altLang="zh-CN"/>
              <a:t>】 创建一个带计算列的表“</a:t>
            </a:r>
            <a:r>
              <a:rPr lang="en-US" altLang="zh-CN"/>
              <a:t>pcj</a:t>
            </a:r>
            <a:r>
              <a:rPr lang="zh-CN" altLang="zh-CN"/>
              <a:t>”，表中包含课程的课程号、总成绩和学习该课程的人数，以及课程的平均成绩。</a:t>
            </a:r>
            <a:endParaRPr lang="zh-CN" altLang="zh-CN"/>
          </a:p>
          <a:p>
            <a:pPr eaLnBrk="1" hangingPunct="1"/>
            <a:r>
              <a:rPr lang="en-US" altLang="zh-CN"/>
              <a:t>CREATE TABLE pcj</a:t>
            </a:r>
            <a:endParaRPr lang="zh-CN" altLang="zh-CN"/>
          </a:p>
          <a:p>
            <a:pPr eaLnBrk="1" hangingPunct="1"/>
            <a:r>
              <a:rPr lang="en-US" altLang="zh-CN"/>
              <a:t>(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课程号</a:t>
            </a:r>
            <a:r>
              <a:rPr lang="en-US" altLang="zh-CN"/>
              <a:t> 	char(3) 	PRIMARY KEY,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总成绩</a:t>
            </a:r>
            <a:r>
              <a:rPr lang="en-US" altLang="zh-CN"/>
              <a:t> 	real 	NOT NULL,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人数</a:t>
            </a:r>
            <a:r>
              <a:rPr lang="en-US" altLang="zh-CN"/>
              <a:t>   	int 	NOT NULL,</a:t>
            </a:r>
            <a:endParaRPr lang="zh-CN" altLang="zh-CN"/>
          </a:p>
          <a:p>
            <a:pPr eaLnBrk="1" hangingPunct="1"/>
            <a:r>
              <a:rPr lang="en-US" altLang="zh-CN"/>
              <a:t>    </a:t>
            </a:r>
            <a:r>
              <a:rPr lang="zh-CN" altLang="zh-CN"/>
              <a:t>平均成绩</a:t>
            </a:r>
            <a:r>
              <a:rPr lang="en-US" altLang="zh-CN"/>
              <a:t>AS</a:t>
            </a:r>
            <a:r>
              <a:rPr lang="zh-CN" altLang="zh-CN"/>
              <a:t>总成绩</a:t>
            </a:r>
            <a:r>
              <a:rPr lang="en-US" altLang="zh-CN"/>
              <a:t>/</a:t>
            </a:r>
            <a:r>
              <a:rPr lang="zh-CN" altLang="zh-CN"/>
              <a:t>人数</a:t>
            </a:r>
            <a:r>
              <a:rPr lang="en-US" altLang="zh-CN"/>
              <a:t>PERSISTED</a:t>
            </a:r>
            <a:endParaRPr lang="zh-CN" altLang="zh-CN"/>
          </a:p>
          <a:p>
            <a:pPr eaLnBrk="1" hangingPunct="1"/>
            <a:r>
              <a:rPr lang="en-US" altLang="zh-CN"/>
              <a:t>)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1844675"/>
            <a:ext cx="7848600" cy="43926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3.3.2  </a:t>
            </a:r>
            <a:r>
              <a:rPr lang="zh-CN" altLang="zh-CN" dirty="0">
                <a:effectLst/>
              </a:rPr>
              <a:t>修改表结构：</a:t>
            </a:r>
            <a:r>
              <a:rPr lang="en-US" altLang="zh-CN" dirty="0">
                <a:effectLst/>
              </a:rPr>
              <a:t>ALTER TABLE</a:t>
            </a:r>
            <a:endParaRPr lang="zh-CN" altLang="zh-CN" dirty="0">
              <a:effectLst/>
            </a:endParaRPr>
          </a:p>
        </p:txBody>
      </p:sp>
      <p:sp>
        <p:nvSpPr>
          <p:cNvPr id="37892" name="TextBox 2"/>
          <p:cNvSpPr txBox="1">
            <a:spLocks noChangeArrowheads="1"/>
          </p:cNvSpPr>
          <p:nvPr/>
        </p:nvSpPr>
        <p:spPr bwMode="auto">
          <a:xfrm>
            <a:off x="468313" y="1125538"/>
            <a:ext cx="82804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修改表结构可以使用</a:t>
            </a:r>
            <a:r>
              <a:rPr lang="en-US" altLang="zh-CN"/>
              <a:t>ALTER TABLE</a:t>
            </a:r>
            <a:r>
              <a:rPr lang="zh-CN" altLang="zh-CN"/>
              <a:t>命令，语法格式如下：</a:t>
            </a:r>
            <a:endParaRPr lang="zh-CN" altLang="zh-CN"/>
          </a:p>
          <a:p>
            <a:pPr eaLnBrk="1" hangingPunct="1"/>
            <a:r>
              <a:rPr lang="en-US" altLang="zh-CN" sz="1600"/>
              <a:t>ALTER TABLE [</a:t>
            </a:r>
            <a:r>
              <a:rPr lang="zh-CN" altLang="zh-CN" sz="1600"/>
              <a:t>数据库名</a:t>
            </a:r>
            <a:r>
              <a:rPr lang="en-US" altLang="zh-CN" sz="1600"/>
              <a:t>.[</a:t>
            </a:r>
            <a:r>
              <a:rPr lang="zh-CN" altLang="zh-CN" sz="1600"/>
              <a:t>架构名</a:t>
            </a:r>
            <a:r>
              <a:rPr lang="en-US" altLang="zh-CN" sz="1600"/>
              <a:t>]. | </a:t>
            </a:r>
            <a:r>
              <a:rPr lang="zh-CN" altLang="zh-CN" sz="1600"/>
              <a:t>架构名</a:t>
            </a:r>
            <a:r>
              <a:rPr lang="en-US" altLang="zh-CN" sz="1600"/>
              <a:t>. ]</a:t>
            </a:r>
            <a:r>
              <a:rPr lang="zh-CN" altLang="zh-CN" sz="1600"/>
              <a:t>表名</a:t>
            </a:r>
            <a:endParaRPr lang="zh-CN" altLang="zh-CN" sz="1600"/>
          </a:p>
          <a:p>
            <a:pPr eaLnBrk="1" hangingPunct="1"/>
            <a:r>
              <a:rPr lang="en-US" altLang="zh-CN" sz="1600"/>
              <a:t>{</a:t>
            </a:r>
            <a:endParaRPr lang="zh-CN" altLang="zh-CN" sz="1600"/>
          </a:p>
          <a:p>
            <a:pPr eaLnBrk="1" hangingPunct="1"/>
            <a:r>
              <a:rPr lang="en-US" altLang="zh-CN" sz="1600"/>
              <a:t>    ALTER COLUMN</a:t>
            </a:r>
            <a:r>
              <a:rPr lang="zh-CN" altLang="zh-CN" sz="1600"/>
              <a:t>列名</a:t>
            </a:r>
            <a:r>
              <a:rPr lang="en-US" altLang="zh-CN" sz="1600"/>
              <a:t>{…}								/*</a:t>
            </a:r>
            <a:r>
              <a:rPr lang="zh-CN" altLang="zh-CN" sz="1600"/>
              <a:t>修改已有列的属性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| ADD 												/*</a:t>
            </a:r>
            <a:r>
              <a:rPr lang="zh-CN" altLang="zh-CN" sz="1600"/>
              <a:t>添加列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{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&lt;</a:t>
            </a:r>
            <a:r>
              <a:rPr lang="zh-CN" altLang="zh-CN" sz="1600"/>
              <a:t>列定义</a:t>
            </a:r>
            <a:r>
              <a:rPr lang="en-US" altLang="zh-CN" sz="1600"/>
              <a:t>&gt;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| </a:t>
            </a:r>
            <a:r>
              <a:rPr lang="zh-CN" altLang="zh-CN" sz="1600"/>
              <a:t>列名</a:t>
            </a:r>
            <a:r>
              <a:rPr lang="en-US" altLang="zh-CN" sz="1600"/>
              <a:t>AS</a:t>
            </a:r>
            <a:r>
              <a:rPr lang="zh-CN" altLang="zh-CN" sz="1600"/>
              <a:t>表达式</a:t>
            </a:r>
            <a:r>
              <a:rPr lang="en-US" altLang="zh-CN" sz="1600"/>
              <a:t>[PERSISTED [NOT NULL]]			/*</a:t>
            </a:r>
            <a:r>
              <a:rPr lang="zh-CN" altLang="zh-CN" sz="1600"/>
              <a:t>定义计算列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| &lt;</a:t>
            </a:r>
            <a:r>
              <a:rPr lang="zh-CN" altLang="zh-CN" sz="1600"/>
              <a:t>表约束</a:t>
            </a:r>
            <a:r>
              <a:rPr lang="en-US" altLang="zh-CN" sz="1600"/>
              <a:t>&gt;</a:t>
            </a:r>
            <a:endParaRPr lang="zh-CN" altLang="zh-CN" sz="1600"/>
          </a:p>
          <a:p>
            <a:pPr eaLnBrk="1" hangingPunct="1"/>
            <a:r>
              <a:rPr lang="en-US" altLang="zh-CN" sz="1600"/>
              <a:t>    } [ , ... ]</a:t>
            </a:r>
            <a:endParaRPr lang="zh-CN" altLang="zh-CN" sz="1600"/>
          </a:p>
          <a:p>
            <a:pPr eaLnBrk="1" hangingPunct="1"/>
            <a:r>
              <a:rPr lang="en-US" altLang="zh-CN" sz="1600"/>
              <a:t>    | DROP</a:t>
            </a:r>
            <a:endParaRPr lang="zh-CN" altLang="zh-CN" sz="1600"/>
          </a:p>
          <a:p>
            <a:pPr eaLnBrk="1" hangingPunct="1"/>
            <a:r>
              <a:rPr lang="en-US" altLang="zh-CN" sz="1600"/>
              <a:t>    {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[ CONSTRAINT ]</a:t>
            </a:r>
            <a:r>
              <a:rPr lang="zh-CN" altLang="zh-CN" sz="1600"/>
              <a:t>约束名</a:t>
            </a:r>
            <a:r>
              <a:rPr lang="en-US" altLang="zh-CN" sz="1600"/>
              <a:t>								/*</a:t>
            </a:r>
            <a:r>
              <a:rPr lang="zh-CN" altLang="zh-CN" sz="1600"/>
              <a:t>删除约束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[ WITH ( &lt;</a:t>
            </a:r>
            <a:r>
              <a:rPr lang="zh-CN" altLang="zh-CN" sz="1600"/>
              <a:t>删除聚集约束选项</a:t>
            </a:r>
            <a:r>
              <a:rPr lang="en-US" altLang="zh-CN" sz="1600"/>
              <a:t>&gt; ... ) ]</a:t>
            </a:r>
            <a:endParaRPr lang="zh-CN" altLang="zh-CN" sz="1600"/>
          </a:p>
          <a:p>
            <a:pPr eaLnBrk="1" hangingPunct="1"/>
            <a:r>
              <a:rPr lang="en-US" altLang="zh-CN" sz="1600"/>
              <a:t>        | COLUMN</a:t>
            </a:r>
            <a:r>
              <a:rPr lang="zh-CN" altLang="zh-CN" sz="1600"/>
              <a:t>列名</a:t>
            </a:r>
            <a:r>
              <a:rPr lang="en-US" altLang="zh-CN" sz="1600"/>
              <a:t>									/*</a:t>
            </a:r>
            <a:r>
              <a:rPr lang="zh-CN" altLang="zh-CN" sz="1600"/>
              <a:t>删除列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    } [ , ... ]</a:t>
            </a:r>
            <a:endParaRPr lang="zh-CN" altLang="zh-CN" sz="1600"/>
          </a:p>
          <a:p>
            <a:pPr eaLnBrk="1" hangingPunct="1"/>
            <a:r>
              <a:rPr lang="en-US" altLang="zh-CN" sz="1600"/>
              <a:t>    | [ WITH { CHECK | NOCHECK } ] { CHECK | NOCHECK } CONSTRAINT { ALL | </a:t>
            </a:r>
            <a:r>
              <a:rPr lang="zh-CN" altLang="zh-CN" sz="1600"/>
              <a:t>约束名</a:t>
            </a:r>
            <a:r>
              <a:rPr lang="en-US" altLang="zh-CN" sz="1600"/>
              <a:t> }</a:t>
            </a:r>
            <a:endParaRPr lang="zh-CN" altLang="zh-CN" sz="1600"/>
          </a:p>
          <a:p>
            <a:pPr eaLnBrk="1" hangingPunct="1"/>
            <a:r>
              <a:rPr lang="en-US" altLang="zh-CN" sz="1600"/>
              <a:t>    ……</a:t>
            </a:r>
            <a:endParaRPr lang="zh-CN" altLang="zh-CN" sz="1600"/>
          </a:p>
          <a:p>
            <a:pPr eaLnBrk="1" hangingPunct="1"/>
            <a:r>
              <a:rPr lang="en-US" altLang="zh-CN" sz="1600"/>
              <a:t>}</a:t>
            </a:r>
            <a:endParaRPr lang="zh-CN" altLang="zh-CN" sz="1600"/>
          </a:p>
          <a:p>
            <a:pPr eaLnBrk="1" hangingPunct="1"/>
            <a:endParaRPr lang="zh-CN" altLang="en-US" sz="1600"/>
          </a:p>
        </p:txBody>
      </p:sp>
    </p:spTree>
  </p:cSld>
  <p:clrMapOvr>
    <a:masterClrMapping/>
  </p:clrMapOvr>
  <p:transition spd="slow">
    <p:wheel spokes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3.3.2  </a:t>
            </a:r>
            <a:r>
              <a:rPr lang="zh-CN" altLang="zh-CN" dirty="0">
                <a:effectLst/>
              </a:rPr>
              <a:t>修改表结构：</a:t>
            </a:r>
            <a:r>
              <a:rPr lang="en-US" altLang="zh-CN" dirty="0">
                <a:effectLst/>
              </a:rPr>
              <a:t>ALTER TABLE</a:t>
            </a:r>
            <a:endParaRPr lang="zh-CN" altLang="en-US" dirty="0"/>
          </a:p>
        </p:txBody>
      </p:sp>
      <p:sp>
        <p:nvSpPr>
          <p:cNvPr id="38915" name="TextBox 2"/>
          <p:cNvSpPr txBox="1">
            <a:spLocks noChangeArrowheads="1"/>
          </p:cNvSpPr>
          <p:nvPr/>
        </p:nvSpPr>
        <p:spPr bwMode="auto">
          <a:xfrm>
            <a:off x="395288" y="1412875"/>
            <a:ext cx="82804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．命令主体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）表名：要修改的表名。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ALTER COLUMN</a:t>
            </a:r>
            <a:r>
              <a:rPr lang="zh-CN" altLang="zh-CN"/>
              <a:t>子句：修改表中指定列的属性，“列名”给出要修改的列。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若表中该列所存数据的数据类型与将要修改的列类型冲突，则发生错误。例如，原来</a:t>
            </a:r>
            <a:r>
              <a:rPr lang="en-US" altLang="zh-CN"/>
              <a:t>char</a:t>
            </a:r>
            <a:r>
              <a:rPr lang="zh-CN" altLang="zh-CN"/>
              <a:t>类型的列要修改成</a:t>
            </a:r>
            <a:r>
              <a:rPr lang="en-US" altLang="zh-CN"/>
              <a:t>int</a:t>
            </a:r>
            <a:r>
              <a:rPr lang="zh-CN" altLang="zh-CN"/>
              <a:t>类型，而原来列值包含非数字字符，则无法修改。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</a:t>
            </a:r>
            <a:r>
              <a:rPr lang="en-US" altLang="zh-CN"/>
              <a:t>ADD</a:t>
            </a:r>
            <a:r>
              <a:rPr lang="zh-CN" altLang="zh-CN"/>
              <a:t>子句：向表中增加新列，新列的定义方法与</a:t>
            </a:r>
            <a:r>
              <a:rPr lang="en-US" altLang="zh-CN"/>
              <a:t>CREATE TABLE</a:t>
            </a:r>
            <a:r>
              <a:rPr lang="zh-CN" altLang="zh-CN"/>
              <a:t>命令中定义列的方法相同。一次还可以添加多个列，中间用逗号隔开。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</a:t>
            </a:r>
            <a:r>
              <a:rPr lang="en-US" altLang="zh-CN"/>
              <a:t>DROP</a:t>
            </a:r>
            <a:r>
              <a:rPr lang="zh-CN" altLang="zh-CN"/>
              <a:t>子句：从表中删除列或约束。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1989138"/>
            <a:ext cx="7920037" cy="19446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3.3.2  </a:t>
            </a:r>
            <a:r>
              <a:rPr lang="zh-CN" altLang="zh-CN" dirty="0">
                <a:effectLst/>
              </a:rPr>
              <a:t>修改表结构：</a:t>
            </a:r>
            <a:r>
              <a:rPr lang="en-US" altLang="zh-CN" dirty="0">
                <a:effectLst/>
              </a:rPr>
              <a:t>ALTER TABLE</a:t>
            </a:r>
            <a:endParaRPr lang="zh-CN" altLang="en-US" dirty="0"/>
          </a:p>
        </p:txBody>
      </p:sp>
      <p:sp>
        <p:nvSpPr>
          <p:cNvPr id="39940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351837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</a:t>
            </a:r>
            <a:r>
              <a:rPr lang="en-US" altLang="zh-CN" b="1">
                <a:solidFill>
                  <a:srgbClr val="C00000"/>
                </a:solidFill>
              </a:rPr>
              <a:t>ALTER COLUMN</a:t>
            </a:r>
            <a:r>
              <a:rPr lang="zh-CN" altLang="zh-CN" b="1">
                <a:solidFill>
                  <a:srgbClr val="C00000"/>
                </a:solidFill>
              </a:rPr>
              <a:t>子句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该子句的内容格式为：</a:t>
            </a:r>
            <a:endParaRPr lang="zh-CN" altLang="zh-CN"/>
          </a:p>
          <a:p>
            <a:pPr eaLnBrk="1" hangingPunct="1"/>
            <a:r>
              <a:rPr lang="en-US" altLang="zh-CN"/>
              <a:t>ALTER COLUMN</a:t>
            </a:r>
            <a:r>
              <a:rPr lang="zh-CN" altLang="zh-CN"/>
              <a:t>列名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	</a:t>
            </a:r>
            <a:r>
              <a:rPr lang="zh-CN" altLang="zh-CN"/>
              <a:t>类型名</a:t>
            </a:r>
            <a:r>
              <a:rPr lang="en-US" altLang="zh-CN"/>
              <a:t>[ ( </a:t>
            </a:r>
            <a:r>
              <a:rPr lang="zh-CN" altLang="zh-CN"/>
              <a:t>精度</a:t>
            </a:r>
            <a:r>
              <a:rPr lang="en-US" altLang="zh-CN"/>
              <a:t>[ , </a:t>
            </a:r>
            <a:r>
              <a:rPr lang="zh-CN" altLang="zh-CN"/>
              <a:t>位数</a:t>
            </a:r>
            <a:r>
              <a:rPr lang="en-US" altLang="zh-CN"/>
              <a:t>] ) ]</a:t>
            </a:r>
            <a:endParaRPr lang="zh-CN" altLang="zh-CN"/>
          </a:p>
          <a:p>
            <a:pPr eaLnBrk="1" hangingPunct="1"/>
            <a:r>
              <a:rPr lang="en-US" altLang="zh-CN"/>
              <a:t>		[ COLLATE</a:t>
            </a:r>
            <a:r>
              <a:rPr lang="zh-CN" altLang="zh-CN"/>
              <a:t>排序名</a:t>
            </a:r>
            <a:r>
              <a:rPr lang="en-US" altLang="zh-CN"/>
              <a:t>]</a:t>
            </a:r>
            <a:endParaRPr lang="zh-CN" altLang="zh-CN"/>
          </a:p>
          <a:p>
            <a:pPr eaLnBrk="1" hangingPunct="1"/>
            <a:r>
              <a:rPr lang="en-US" altLang="zh-CN"/>
              <a:t>		[ NULL | NOT NULL ]</a:t>
            </a:r>
            <a:endParaRPr lang="zh-CN" altLang="zh-CN"/>
          </a:p>
          <a:p>
            <a:pPr eaLnBrk="1" hangingPunct="1"/>
            <a:r>
              <a:rPr lang="en-US" altLang="zh-CN"/>
              <a:t>     ……</a:t>
            </a:r>
            <a:endParaRPr lang="zh-CN" altLang="zh-CN"/>
          </a:p>
          <a:p>
            <a:pPr eaLnBrk="1" hangingPunct="1"/>
            <a:r>
              <a:rPr lang="en-US" altLang="zh-CN"/>
              <a:t>}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）类型名：为被修改列的新的数据类型。当要修改成数值类型时，可以使用“</a:t>
            </a:r>
            <a:r>
              <a:rPr lang="en-US" altLang="zh-CN"/>
              <a:t>( </a:t>
            </a:r>
            <a:r>
              <a:rPr lang="zh-CN" altLang="zh-CN"/>
              <a:t>精度</a:t>
            </a:r>
            <a:r>
              <a:rPr lang="en-US" altLang="zh-CN"/>
              <a:t>[ , </a:t>
            </a:r>
            <a:r>
              <a:rPr lang="zh-CN" altLang="zh-CN"/>
              <a:t>位数</a:t>
            </a:r>
            <a:r>
              <a:rPr lang="en-US" altLang="zh-CN"/>
              <a:t>] )</a:t>
            </a:r>
            <a:r>
              <a:rPr lang="zh-CN" altLang="zh-CN"/>
              <a:t>”分别指定数值的精度和小数位数。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[NULL | NOT NULL]</a:t>
            </a:r>
            <a:r>
              <a:rPr lang="zh-CN" altLang="zh-CN"/>
              <a:t>：表示将列设置为是否可为空，设置成</a:t>
            </a:r>
            <a:r>
              <a:rPr lang="en-US" altLang="zh-CN"/>
              <a:t>NOT NULL</a:t>
            </a:r>
            <a:r>
              <a:rPr lang="zh-CN" altLang="zh-CN"/>
              <a:t>时要注意表中该列是否有空数据。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2349500"/>
            <a:ext cx="7920038" cy="14398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3.3.2  </a:t>
            </a:r>
            <a:r>
              <a:rPr lang="zh-CN" altLang="zh-CN" dirty="0">
                <a:effectLst/>
              </a:rPr>
              <a:t>修改表结构：</a:t>
            </a:r>
            <a:r>
              <a:rPr lang="en-US" altLang="zh-CN" dirty="0">
                <a:effectLst/>
              </a:rPr>
              <a:t>ALTER TABLE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288" y="1773238"/>
            <a:ext cx="82804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【例</a:t>
            </a:r>
            <a:r>
              <a:rPr lang="en-US" altLang="zh-CN" dirty="0">
                <a:latin typeface="+mn-lt"/>
                <a:ea typeface="+mn-ea"/>
              </a:rPr>
              <a:t>3.3</a:t>
            </a:r>
            <a:r>
              <a:rPr lang="zh-CN" altLang="zh-CN" dirty="0">
                <a:latin typeface="+mn-lt"/>
                <a:ea typeface="+mn-ea"/>
              </a:rPr>
              <a:t>】 在</a:t>
            </a:r>
            <a:r>
              <a:rPr lang="en-US" altLang="zh-CN" dirty="0">
                <a:latin typeface="+mn-lt"/>
                <a:ea typeface="+mn-ea"/>
              </a:rPr>
              <a:t>test1</a:t>
            </a:r>
            <a:r>
              <a:rPr lang="zh-CN" altLang="zh-CN" dirty="0">
                <a:latin typeface="+mn-lt"/>
                <a:ea typeface="+mn-ea"/>
              </a:rPr>
              <a:t>数据库</a:t>
            </a:r>
            <a:r>
              <a:rPr lang="en-US" altLang="zh-CN" dirty="0">
                <a:latin typeface="+mn-lt"/>
                <a:ea typeface="+mn-ea"/>
              </a:rPr>
              <a:t>xsb1</a:t>
            </a:r>
            <a:r>
              <a:rPr lang="zh-CN" altLang="zh-CN" dirty="0">
                <a:latin typeface="+mn-lt"/>
                <a:ea typeface="+mn-ea"/>
              </a:rPr>
              <a:t>表中增加“入学时间”列。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dirty="0">
                <a:latin typeface="+mn-lt"/>
                <a:ea typeface="+mn-ea"/>
              </a:rPr>
              <a:t>在</a:t>
            </a:r>
            <a:r>
              <a:rPr lang="en-US" altLang="zh-CN" dirty="0">
                <a:latin typeface="+mn-lt"/>
                <a:ea typeface="+mn-ea"/>
              </a:rPr>
              <a:t>SSMS</a:t>
            </a:r>
            <a:r>
              <a:rPr lang="zh-CN" altLang="zh-CN" dirty="0">
                <a:latin typeface="+mn-lt"/>
                <a:ea typeface="+mn-ea"/>
              </a:rPr>
              <a:t>中新建一个查询，并输入如下脚本：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USE test1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ALTER TABLE xsb1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    ADD</a:t>
            </a:r>
            <a:r>
              <a:rPr lang="zh-CN" altLang="zh-CN" dirty="0">
                <a:latin typeface="+mn-lt"/>
                <a:ea typeface="+mn-ea"/>
              </a:rPr>
              <a:t>入学时间</a:t>
            </a:r>
            <a:r>
              <a:rPr lang="en-US" altLang="zh-CN" dirty="0">
                <a:latin typeface="+mn-lt"/>
                <a:ea typeface="+mn-ea"/>
              </a:rPr>
              <a:t>date</a:t>
            </a:r>
            <a:endParaRPr lang="zh-CN" altLang="zh-CN" dirty="0">
              <a:latin typeface="+mn-lt"/>
              <a:ea typeface="+mn-ea"/>
            </a:endParaRPr>
          </a:p>
          <a:p>
            <a:pPr indent="4508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latin typeface="+mn-lt"/>
                <a:ea typeface="+mn-ea"/>
              </a:rPr>
              <a:t>GO</a:t>
            </a:r>
            <a:endParaRPr lang="zh-CN" altLang="zh-CN" dirty="0"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650" y="4411663"/>
            <a:ext cx="7993063" cy="828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650" y="2492375"/>
            <a:ext cx="7993063" cy="1657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3.3.2  </a:t>
            </a:r>
            <a:r>
              <a:rPr lang="zh-CN" altLang="zh-CN" dirty="0">
                <a:effectLst/>
              </a:rPr>
              <a:t>修改表结构：</a:t>
            </a:r>
            <a:r>
              <a:rPr lang="en-US" altLang="zh-CN" dirty="0">
                <a:effectLst/>
              </a:rPr>
              <a:t>ALTER TABLE</a:t>
            </a:r>
            <a:endParaRPr lang="zh-CN" altLang="en-US" dirty="0"/>
          </a:p>
        </p:txBody>
      </p:sp>
      <p:sp>
        <p:nvSpPr>
          <p:cNvPr id="41989" name="TextBox 2"/>
          <p:cNvSpPr txBox="1">
            <a:spLocks noChangeArrowheads="1"/>
          </p:cNvSpPr>
          <p:nvPr/>
        </p:nvSpPr>
        <p:spPr bwMode="auto">
          <a:xfrm>
            <a:off x="395288" y="1628775"/>
            <a:ext cx="835342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3.4</a:t>
            </a:r>
            <a:r>
              <a:rPr lang="zh-CN" altLang="zh-CN"/>
              <a:t>】 修改表</a:t>
            </a:r>
            <a:r>
              <a:rPr lang="en-US" altLang="zh-CN"/>
              <a:t>xsb1</a:t>
            </a:r>
            <a:r>
              <a:rPr lang="zh-CN" altLang="zh-CN"/>
              <a:t>中已有列的属性：将名为“姓名”的列长度由原来的</a:t>
            </a:r>
            <a:r>
              <a:rPr lang="en-US" altLang="zh-CN"/>
              <a:t>8</a:t>
            </a:r>
            <a:r>
              <a:rPr lang="zh-CN" altLang="zh-CN"/>
              <a:t>改为</a:t>
            </a:r>
            <a:r>
              <a:rPr lang="en-US" altLang="zh-CN"/>
              <a:t>10</a:t>
            </a:r>
            <a:r>
              <a:rPr lang="zh-CN" altLang="zh-CN"/>
              <a:t>；将名为“入学时间”的列的数据类型由原来的</a:t>
            </a:r>
            <a:r>
              <a:rPr lang="en-US" altLang="zh-CN"/>
              <a:t>date</a:t>
            </a:r>
            <a:r>
              <a:rPr lang="zh-CN" altLang="zh-CN"/>
              <a:t>改为</a:t>
            </a:r>
            <a:r>
              <a:rPr lang="en-US" altLang="zh-CN"/>
              <a:t>small datetime</a:t>
            </a:r>
            <a:r>
              <a:rPr lang="zh-CN" altLang="zh-CN"/>
              <a:t>。</a:t>
            </a:r>
            <a:endParaRPr lang="zh-CN" altLang="zh-CN"/>
          </a:p>
          <a:p>
            <a:pPr eaLnBrk="1" fontAlgn="ctr" hangingPunct="1"/>
            <a:r>
              <a:rPr lang="zh-CN" altLang="zh-CN"/>
              <a:t>新建一个查询，在查询分析器中输入并执行如下脚本：</a:t>
            </a:r>
            <a:endParaRPr lang="zh-CN" altLang="zh-CN"/>
          </a:p>
          <a:p>
            <a:pPr eaLnBrk="1" hangingPunct="1"/>
            <a:r>
              <a:rPr lang="en-US" altLang="zh-CN"/>
              <a:t>ALTER TABLE xsb1</a:t>
            </a:r>
            <a:endParaRPr lang="zh-CN" altLang="zh-CN"/>
          </a:p>
          <a:p>
            <a:pPr eaLnBrk="1" hangingPunct="1"/>
            <a:r>
              <a:rPr lang="en-US" altLang="zh-CN"/>
              <a:t>    ALTER COLUMN</a:t>
            </a:r>
            <a:r>
              <a:rPr lang="zh-CN" altLang="zh-CN"/>
              <a:t>姓名</a:t>
            </a:r>
            <a:r>
              <a:rPr lang="en-US" altLang="zh-CN"/>
              <a:t>char(10)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ALTER TABLE xsb1</a:t>
            </a:r>
            <a:endParaRPr lang="zh-CN" altLang="zh-CN"/>
          </a:p>
          <a:p>
            <a:pPr eaLnBrk="1" hangingPunct="1"/>
            <a:r>
              <a:rPr lang="en-US" altLang="zh-CN"/>
              <a:t>    ALTER COLUMN</a:t>
            </a:r>
            <a:r>
              <a:rPr lang="zh-CN" altLang="zh-CN"/>
              <a:t>入学时间</a:t>
            </a:r>
            <a:r>
              <a:rPr lang="en-US" altLang="zh-CN"/>
              <a:t>smalldatetime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fontAlgn="ctr" hangingPunct="1"/>
            <a:r>
              <a:rPr lang="zh-CN" altLang="zh-CN"/>
              <a:t>如果删除“入学时间”列，则命令如下：</a:t>
            </a:r>
            <a:endParaRPr lang="zh-CN" altLang="zh-CN"/>
          </a:p>
          <a:p>
            <a:pPr eaLnBrk="1" hangingPunct="1"/>
            <a:r>
              <a:rPr lang="en-US" altLang="zh-CN"/>
              <a:t>ALTER TABLE xsb1</a:t>
            </a:r>
            <a:endParaRPr lang="zh-CN" altLang="zh-CN"/>
          </a:p>
          <a:p>
            <a:pPr eaLnBrk="1" hangingPunct="1"/>
            <a:r>
              <a:rPr lang="en-US" altLang="zh-CN"/>
              <a:t>    DROP COLUMN</a:t>
            </a:r>
            <a:r>
              <a:rPr lang="zh-CN" altLang="zh-CN"/>
              <a:t>入学时间</a:t>
            </a:r>
            <a:endParaRPr lang="zh-CN" altLang="zh-CN"/>
          </a:p>
          <a:p>
            <a:pPr eaLnBrk="1" hangingPunct="1"/>
            <a:r>
              <a:rPr lang="en-US" altLang="zh-CN"/>
              <a:t>GO	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73125" y="3644900"/>
            <a:ext cx="7848600" cy="288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2060575"/>
            <a:ext cx="7848600" cy="2889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3.3.3  </a:t>
            </a:r>
            <a:r>
              <a:rPr lang="zh-CN" altLang="zh-CN" dirty="0">
                <a:effectLst/>
              </a:rPr>
              <a:t>删除表：</a:t>
            </a:r>
            <a:r>
              <a:rPr lang="en-US" altLang="zh-CN" dirty="0">
                <a:effectLst/>
              </a:rPr>
              <a:t>DROP TABLE</a:t>
            </a:r>
            <a:endParaRPr lang="zh-CN" altLang="en-US" dirty="0"/>
          </a:p>
        </p:txBody>
      </p:sp>
      <p:sp>
        <p:nvSpPr>
          <p:cNvPr id="43013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语法格式：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DROP TABLE [</a:t>
            </a:r>
            <a:r>
              <a:rPr lang="zh-CN" altLang="zh-CN"/>
              <a:t>数据库名</a:t>
            </a:r>
            <a:r>
              <a:rPr lang="en-US" altLang="zh-CN"/>
              <a:t>.[</a:t>
            </a:r>
            <a:r>
              <a:rPr lang="zh-CN" altLang="zh-CN"/>
              <a:t>架构名</a:t>
            </a:r>
            <a:r>
              <a:rPr lang="en-US" altLang="zh-CN"/>
              <a:t>]. | </a:t>
            </a:r>
            <a:r>
              <a:rPr lang="zh-CN" altLang="zh-CN"/>
              <a:t>架构名</a:t>
            </a:r>
            <a:r>
              <a:rPr lang="en-US" altLang="zh-CN"/>
              <a:t>. ]</a:t>
            </a:r>
            <a:r>
              <a:rPr lang="zh-CN" altLang="zh-CN"/>
              <a:t>表名</a:t>
            </a:r>
            <a:r>
              <a:rPr lang="en-US" altLang="zh-CN"/>
              <a:t>[ , ... ] [ ; ]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其中，“表名”是要被删除的表的名称。删除表后，数据库中不再存在（包括表结构）。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例如，删除</a:t>
            </a:r>
            <a:r>
              <a:rPr lang="en-US" altLang="zh-CN"/>
              <a:t>test1</a:t>
            </a:r>
            <a:r>
              <a:rPr lang="zh-CN" altLang="zh-CN"/>
              <a:t>数据库中的</a:t>
            </a:r>
            <a:r>
              <a:rPr lang="en-US" altLang="zh-CN"/>
              <a:t>pcj</a:t>
            </a:r>
            <a:r>
              <a:rPr lang="zh-CN" altLang="zh-CN"/>
              <a:t>表。命令如下：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DROP TABLE pcj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3.4  </a:t>
            </a:r>
            <a:r>
              <a:rPr lang="zh-CN" altLang="zh-CN" dirty="0">
                <a:effectLst/>
              </a:rPr>
              <a:t>界面方式操作表数据</a:t>
            </a:r>
            <a:endParaRPr lang="zh-CN" altLang="zh-CN" dirty="0">
              <a:effectLst/>
            </a:endParaRPr>
          </a:p>
        </p:txBody>
      </p:sp>
      <p:sp>
        <p:nvSpPr>
          <p:cNvPr id="44035" name="TextBox 2"/>
          <p:cNvSpPr txBox="1">
            <a:spLocks noChangeArrowheads="1"/>
          </p:cNvSpPr>
          <p:nvPr/>
        </p:nvSpPr>
        <p:spPr bwMode="auto">
          <a:xfrm>
            <a:off x="474663" y="1268413"/>
            <a:ext cx="8208962" cy="289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dirty="0"/>
              <a:t>3.4.1  </a:t>
            </a:r>
            <a:r>
              <a:rPr lang="zh-CN" altLang="zh-CN" sz="2000" b="1" dirty="0"/>
              <a:t>插入记录</a:t>
            </a:r>
            <a:endParaRPr lang="zh-CN" altLang="zh-CN" sz="2000" b="1" dirty="0"/>
          </a:p>
          <a:p>
            <a:pPr eaLnBrk="1" fontAlgn="ctr" hangingPunct="1"/>
            <a:r>
              <a:rPr lang="zh-CN" altLang="zh-CN" dirty="0"/>
              <a:t>【例</a:t>
            </a:r>
            <a:r>
              <a:rPr lang="en-US" altLang="zh-CN" dirty="0"/>
              <a:t>3.5</a:t>
            </a:r>
            <a:r>
              <a:rPr lang="zh-CN" altLang="zh-CN" dirty="0"/>
              <a:t>】 参考本书附录</a:t>
            </a:r>
            <a:r>
              <a:rPr lang="en-US" altLang="zh-CN" dirty="0"/>
              <a:t>A</a:t>
            </a:r>
            <a:r>
              <a:rPr lang="zh-CN" altLang="zh-CN" dirty="0"/>
              <a:t>中的数据样本，向表中插入数据。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输入时需要注意：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）没有输入数据的记录所有列显示为“</a:t>
            </a:r>
            <a:r>
              <a:rPr lang="en-US" altLang="zh-CN" dirty="0"/>
              <a:t>NULL</a:t>
            </a:r>
            <a:r>
              <a:rPr lang="zh-CN" altLang="zh-CN" dirty="0"/>
              <a:t>”。</a:t>
            </a:r>
            <a:endParaRPr lang="zh-CN" altLang="zh-CN" dirty="0"/>
          </a:p>
          <a:p>
            <a:pPr eaLnBrk="1" fontAlgn="ctr" hangingPunct="1"/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）若表的某些列（例如学号、姓名）不允许为空值，则必须为该列输入值，否则系统显示错误信息。已经输入内容的列系统显示“！”，如图</a:t>
            </a:r>
            <a:r>
              <a:rPr lang="en-US" altLang="zh-CN" dirty="0"/>
              <a:t>3.5</a:t>
            </a:r>
            <a:r>
              <a:rPr lang="zh-CN" altLang="zh-CN" dirty="0"/>
              <a:t>（</a:t>
            </a:r>
            <a:r>
              <a:rPr lang="en-US" altLang="zh-CN" dirty="0"/>
              <a:t>a</a:t>
            </a:r>
            <a:r>
              <a:rPr lang="zh-CN" altLang="zh-CN" dirty="0"/>
              <a:t>）所示。</a:t>
            </a:r>
            <a:endParaRPr lang="zh-CN" altLang="zh-CN" dirty="0"/>
          </a:p>
          <a:p>
            <a:pPr eaLnBrk="1" hangingPunct="1"/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）输入不允许为空值的列，其他列没有输入时，光标定位就可以定位到下一行，此时设置默认值的列就会填入默认值，如图</a:t>
            </a:r>
            <a:r>
              <a:rPr lang="en-US" altLang="zh-CN" dirty="0"/>
              <a:t>3.5</a:t>
            </a:r>
            <a:r>
              <a:rPr lang="zh-CN" altLang="zh-CN" dirty="0"/>
              <a:t>（</a:t>
            </a:r>
            <a:r>
              <a:rPr lang="en-US" altLang="zh-CN" dirty="0"/>
              <a:t>b</a:t>
            </a:r>
            <a:r>
              <a:rPr lang="zh-CN" altLang="zh-CN" dirty="0"/>
              <a:t>）所示。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63" y="3860800"/>
            <a:ext cx="539115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3.4.1  </a:t>
            </a:r>
            <a:r>
              <a:rPr lang="zh-CN" altLang="zh-CN" dirty="0">
                <a:effectLst/>
              </a:rPr>
              <a:t>插入记录</a:t>
            </a:r>
            <a:endParaRPr lang="zh-CN" altLang="en-US" dirty="0"/>
          </a:p>
        </p:txBody>
      </p:sp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3534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4</a:t>
            </a:r>
            <a:r>
              <a:rPr lang="zh-CN" altLang="zh-CN"/>
              <a:t>）性别字段为“</a:t>
            </a:r>
            <a:r>
              <a:rPr lang="en-US" altLang="zh-CN"/>
              <a:t>bit</a:t>
            </a:r>
            <a:r>
              <a:rPr lang="zh-CN" altLang="zh-CN"/>
              <a:t>”类型，用户需要输入“</a:t>
            </a:r>
            <a:r>
              <a:rPr lang="en-US" altLang="zh-CN"/>
              <a:t>1</a:t>
            </a:r>
            <a:r>
              <a:rPr lang="zh-CN" altLang="zh-CN"/>
              <a:t>”或者“</a:t>
            </a:r>
            <a:r>
              <a:rPr lang="en-US" altLang="zh-CN"/>
              <a:t>0</a:t>
            </a:r>
            <a:r>
              <a:rPr lang="zh-CN" altLang="zh-CN"/>
              <a:t>”，系统对应显示“</a:t>
            </a:r>
            <a:r>
              <a:rPr lang="en-US" altLang="zh-CN"/>
              <a:t>True</a:t>
            </a:r>
            <a:r>
              <a:rPr lang="zh-CN" altLang="zh-CN"/>
              <a:t>”和“</a:t>
            </a:r>
            <a:r>
              <a:rPr lang="en-US" altLang="zh-CN"/>
              <a:t>False</a:t>
            </a:r>
            <a:r>
              <a:rPr lang="zh-CN" altLang="zh-CN"/>
              <a:t>”。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5</a:t>
            </a:r>
            <a:r>
              <a:rPr lang="zh-CN" altLang="zh-CN"/>
              <a:t>）输入的记录中的主键（学号）字段列不能重复值，否则在光标试图定位到下一行时系统显示错误信息，如图</a:t>
            </a:r>
            <a:r>
              <a:rPr lang="en-US" altLang="zh-CN"/>
              <a:t>3.6</a:t>
            </a:r>
            <a:r>
              <a:rPr lang="zh-CN" altLang="zh-CN"/>
              <a:t>所示，并且不能离开该行。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924175"/>
            <a:ext cx="5338762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3.4.1  </a:t>
            </a:r>
            <a:r>
              <a:rPr lang="zh-CN" altLang="zh-CN" dirty="0">
                <a:effectLst/>
              </a:rPr>
              <a:t>插入记录</a:t>
            </a:r>
            <a:endParaRPr lang="zh-CN" altLang="en-US" dirty="0"/>
          </a:p>
        </p:txBody>
      </p:sp>
      <p:sp>
        <p:nvSpPr>
          <p:cNvPr id="46083" name="矩形 2"/>
          <p:cNvSpPr>
            <a:spLocks noChangeArrowheads="1"/>
          </p:cNvSpPr>
          <p:nvPr/>
        </p:nvSpPr>
        <p:spPr bwMode="auto">
          <a:xfrm>
            <a:off x="900113" y="1341438"/>
            <a:ext cx="355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ctr"/>
            <a:r>
              <a:rPr lang="zh-CN" altLang="zh-CN"/>
              <a:t>图</a:t>
            </a:r>
            <a:r>
              <a:rPr lang="en-US" altLang="zh-CN"/>
              <a:t>3.7</a:t>
            </a:r>
            <a:r>
              <a:rPr lang="zh-CN" altLang="zh-CN"/>
              <a:t>所示为插入数据后的</a:t>
            </a:r>
            <a:r>
              <a:rPr lang="en-US" altLang="zh-CN"/>
              <a:t>xsb</a:t>
            </a:r>
            <a:r>
              <a:rPr lang="zh-CN" altLang="zh-CN"/>
              <a:t>表。</a:t>
            </a:r>
            <a:endParaRPr lang="zh-CN" altLang="zh-CN"/>
          </a:p>
        </p:txBody>
      </p:sp>
      <p:pic>
        <p:nvPicPr>
          <p:cNvPr id="46084" name="Picture 2" descr="030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638" y="1746250"/>
            <a:ext cx="6330950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3.4.2  </a:t>
            </a:r>
            <a:r>
              <a:rPr lang="zh-CN" altLang="zh-CN" dirty="0">
                <a:effectLst/>
              </a:rPr>
              <a:t>删除记录</a:t>
            </a:r>
            <a:endParaRPr lang="zh-CN" altLang="en-US" dirty="0"/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490538" y="1773238"/>
            <a:ext cx="8280400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/>
              <a:t>当表中的某些记录不再需要时，要将其删除。在“对象资源管理器”中删除记录的方法是：在表数据窗口中定位需删除的记录行，单击该行最前面的黑色箭头处选择全行，右键单击鼠标，选择“删除”菜单项。选择“删除”后，将出现一个确认对话框，单击“是”按钮将删除所选择的记录，单击“否”按钮将不删除该记录。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3.4.3  </a:t>
            </a:r>
            <a:r>
              <a:rPr lang="zh-CN" altLang="zh-CN" dirty="0">
                <a:effectLst/>
              </a:rPr>
              <a:t>修改记录</a:t>
            </a:r>
            <a:endParaRPr lang="zh-CN" altLang="en-US" dirty="0"/>
          </a:p>
        </p:txBody>
      </p:sp>
      <p:sp>
        <p:nvSpPr>
          <p:cNvPr id="48131" name="矩形 2"/>
          <p:cNvSpPr>
            <a:spLocks noChangeArrowheads="1"/>
          </p:cNvSpPr>
          <p:nvPr/>
        </p:nvSpPr>
        <p:spPr bwMode="auto">
          <a:xfrm>
            <a:off x="468313" y="2133600"/>
            <a:ext cx="835183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indent="450850" fontAlgn="ctr">
              <a:lnSpc>
                <a:spcPct val="150000"/>
              </a:lnSpc>
            </a:pPr>
            <a:r>
              <a:rPr lang="zh-CN" altLang="zh-CN"/>
              <a:t>在操作表数据的窗口中修改记录数据的方法是：先定位被修改的记录字段，然后对该字段值进行修改，修改之后将光标移到下一行即可保存修改的内容。</a:t>
            </a:r>
            <a:endParaRPr lang="zh-CN" altLang="zh-CN"/>
          </a:p>
        </p:txBody>
      </p:sp>
    </p:spTree>
  </p:cSld>
  <p:clrMapOvr>
    <a:masterClrMapping/>
  </p:clrMapOvr>
  <p:transition spd="slow">
    <p:spli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00113" y="2420938"/>
            <a:ext cx="7848600" cy="17287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  </a:t>
            </a:r>
            <a:r>
              <a:rPr lang="zh-CN" altLang="zh-CN" dirty="0">
                <a:effectLst/>
              </a:rPr>
              <a:t>命令方式操作表数据</a:t>
            </a:r>
            <a:endParaRPr lang="zh-CN" altLang="zh-CN" dirty="0">
              <a:effectLst/>
            </a:endParaRPr>
          </a:p>
        </p:txBody>
      </p:sp>
      <p:sp>
        <p:nvSpPr>
          <p:cNvPr id="49156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80400" cy="31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 b="1" dirty="0"/>
              <a:t>3.5.1  </a:t>
            </a:r>
            <a:r>
              <a:rPr lang="zh-CN" altLang="zh-CN" sz="2000" b="1" dirty="0"/>
              <a:t>插入记录：</a:t>
            </a:r>
            <a:r>
              <a:rPr lang="en-US" altLang="zh-CN" sz="2000" b="1" dirty="0"/>
              <a:t>INSERT</a:t>
            </a:r>
            <a:endParaRPr lang="zh-CN" altLang="zh-CN" sz="2000" b="1" dirty="0"/>
          </a:p>
          <a:p>
            <a:pPr eaLnBrk="1" fontAlgn="ctr" hangingPunct="1">
              <a:lnSpc>
                <a:spcPct val="150000"/>
              </a:lnSpc>
            </a:pPr>
            <a:r>
              <a:rPr lang="zh-CN" altLang="zh-CN" dirty="0"/>
              <a:t>插入记录使用</a:t>
            </a:r>
            <a:r>
              <a:rPr lang="en-US" altLang="zh-CN" dirty="0"/>
              <a:t>INSERT</a:t>
            </a:r>
            <a:r>
              <a:rPr lang="zh-CN" altLang="zh-CN" dirty="0"/>
              <a:t>语句，语法格式如下：</a:t>
            </a:r>
            <a:endParaRPr lang="zh-CN" altLang="zh-CN" dirty="0"/>
          </a:p>
          <a:p>
            <a:pPr eaLnBrk="1" hangingPunct="1"/>
            <a:r>
              <a:rPr lang="en-US" altLang="zh-CN" dirty="0"/>
              <a:t>INSERT   [ TOP ( </a:t>
            </a:r>
            <a:r>
              <a:rPr lang="zh-CN" altLang="zh-CN" dirty="0"/>
              <a:t>表达式</a:t>
            </a:r>
            <a:r>
              <a:rPr lang="en-US" altLang="zh-CN" dirty="0"/>
              <a:t> ) [ PERCENT ] ]</a:t>
            </a:r>
            <a:endParaRPr lang="zh-CN" altLang="zh-CN" dirty="0"/>
          </a:p>
          <a:p>
            <a:pPr eaLnBrk="1" hangingPunct="1"/>
            <a:r>
              <a:rPr lang="en-US" altLang="zh-CN" dirty="0"/>
              <a:t>[ INTO ]  </a:t>
            </a:r>
            <a:r>
              <a:rPr lang="zh-CN" altLang="zh-CN" dirty="0"/>
              <a:t>表名</a:t>
            </a:r>
            <a:r>
              <a:rPr lang="en-US" altLang="zh-CN" dirty="0"/>
              <a:t> | </a:t>
            </a:r>
            <a:r>
              <a:rPr lang="zh-CN" altLang="zh-CN" dirty="0"/>
              <a:t>视图名</a:t>
            </a:r>
            <a:endParaRPr lang="zh-CN" altLang="zh-CN" dirty="0"/>
          </a:p>
          <a:p>
            <a:pPr eaLnBrk="1" hangingPunct="1"/>
            <a:r>
              <a:rPr lang="en-US" altLang="zh-CN" dirty="0"/>
              <a:t>[ ( </a:t>
            </a:r>
            <a:r>
              <a:rPr lang="zh-CN" altLang="zh-CN" dirty="0"/>
              <a:t>列表</a:t>
            </a:r>
            <a:r>
              <a:rPr lang="en-US" altLang="zh-CN" dirty="0"/>
              <a:t> ) ]</a:t>
            </a:r>
            <a:endParaRPr lang="zh-CN" altLang="zh-CN" dirty="0"/>
          </a:p>
          <a:p>
            <a:pPr eaLnBrk="1" hangingPunct="1"/>
            <a:r>
              <a:rPr lang="en-US" altLang="zh-CN" dirty="0"/>
              <a:t>VALUES (  DEFAULT |  NULL | </a:t>
            </a:r>
            <a:r>
              <a:rPr lang="zh-CN" altLang="zh-CN" dirty="0"/>
              <a:t>表达式</a:t>
            </a:r>
            <a:r>
              <a:rPr lang="en-US" altLang="zh-CN" dirty="0"/>
              <a:t>  …	 )	/*</a:t>
            </a:r>
            <a:r>
              <a:rPr lang="zh-CN" altLang="zh-CN" dirty="0"/>
              <a:t>指定列值</a:t>
            </a:r>
            <a:r>
              <a:rPr lang="en-US" altLang="zh-CN" dirty="0"/>
              <a:t>*/</a:t>
            </a:r>
            <a:endParaRPr lang="zh-CN" altLang="zh-CN" dirty="0"/>
          </a:p>
          <a:p>
            <a:pPr eaLnBrk="1" hangingPunct="1"/>
            <a:r>
              <a:rPr lang="en-US" altLang="zh-CN" dirty="0"/>
              <a:t>|  DEFAULT VALUES							/*</a:t>
            </a:r>
            <a:r>
              <a:rPr lang="zh-CN" altLang="zh-CN" dirty="0"/>
              <a:t>强制新行包含为每个列定义的默认值</a:t>
            </a:r>
            <a:r>
              <a:rPr lang="en-US" altLang="zh-CN" dirty="0"/>
              <a:t>*/</a:t>
            </a:r>
            <a:endParaRPr lang="zh-CN" altLang="zh-CN" dirty="0"/>
          </a:p>
          <a:p>
            <a:pPr eaLnBrk="1" hangingPunct="1"/>
            <a:r>
              <a:rPr lang="en-US" altLang="zh-CN" dirty="0"/>
              <a:t> </a:t>
            </a:r>
            <a:endParaRPr lang="zh-CN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088" y="2733675"/>
            <a:ext cx="7848600" cy="1343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1916113"/>
            <a:ext cx="7848600" cy="360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zh-CN" dirty="0">
              <a:effectLst/>
            </a:endParaRPr>
          </a:p>
        </p:txBody>
      </p:sp>
      <p:sp>
        <p:nvSpPr>
          <p:cNvPr id="50181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3.6</a:t>
            </a:r>
            <a:r>
              <a:rPr lang="zh-CN" altLang="zh-CN"/>
              <a:t>】 向</a:t>
            </a:r>
            <a:r>
              <a:rPr lang="en-US" altLang="zh-CN"/>
              <a:t>test1</a:t>
            </a:r>
            <a:r>
              <a:rPr lang="zh-CN" altLang="zh-CN"/>
              <a:t>数据库的表</a:t>
            </a:r>
            <a:r>
              <a:rPr lang="en-US" altLang="zh-CN"/>
              <a:t>xsb1</a:t>
            </a:r>
            <a:r>
              <a:rPr lang="zh-CN" altLang="zh-CN"/>
              <a:t>中插入如下一行数据：</a:t>
            </a:r>
            <a:endParaRPr lang="zh-CN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/>
              <a:t>191301, </a:t>
            </a:r>
            <a:r>
              <a:rPr lang="zh-CN" altLang="zh-CN"/>
              <a:t>王林</a:t>
            </a:r>
            <a:r>
              <a:rPr lang="en-US" altLang="zh-CN"/>
              <a:t>, 1, 1990-02-10, </a:t>
            </a:r>
            <a:r>
              <a:rPr lang="zh-CN" altLang="zh-CN"/>
              <a:t>计算机</a:t>
            </a:r>
            <a:r>
              <a:rPr lang="en-US" altLang="zh-CN"/>
              <a:t>, 50 , NULL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在“</a:t>
            </a:r>
            <a:r>
              <a:rPr lang="en-US" altLang="zh-CN"/>
              <a:t>SSMS</a:t>
            </a:r>
            <a:r>
              <a:rPr lang="zh-CN" altLang="zh-CN"/>
              <a:t>”中单击“新建查询”，在“查询编辑器”中输入下列</a:t>
            </a:r>
            <a:r>
              <a:rPr lang="en-US" altLang="zh-CN"/>
              <a:t>T-SQL</a:t>
            </a:r>
            <a:r>
              <a:rPr lang="zh-CN" altLang="zh-CN"/>
              <a:t>命令：</a:t>
            </a:r>
            <a:endParaRPr lang="zh-CN" altLang="zh-CN"/>
          </a:p>
          <a:p>
            <a:pPr eaLnBrk="1" hangingPunct="1"/>
            <a:r>
              <a:rPr lang="en-US" altLang="zh-CN"/>
              <a:t>USE test1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INSERT INTO  xsb1</a:t>
            </a:r>
            <a:endParaRPr lang="zh-CN" altLang="zh-CN"/>
          </a:p>
          <a:p>
            <a:pPr eaLnBrk="1" hangingPunct="1"/>
            <a:r>
              <a:rPr lang="en-US" altLang="zh-CN"/>
              <a:t>    VALUES('191301', '</a:t>
            </a:r>
            <a:r>
              <a:rPr lang="zh-CN" altLang="zh-CN"/>
              <a:t>王林</a:t>
            </a:r>
            <a:r>
              <a:rPr lang="en-US" altLang="zh-CN"/>
              <a:t>' , 1, '1990-02-10', '</a:t>
            </a:r>
            <a:r>
              <a:rPr lang="zh-CN" altLang="zh-CN"/>
              <a:t>计算机</a:t>
            </a:r>
            <a:r>
              <a:rPr lang="en-US" altLang="zh-CN"/>
              <a:t>',50, NULL)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en-US" dirty="0"/>
          </a:p>
        </p:txBody>
      </p:sp>
      <p:sp>
        <p:nvSpPr>
          <p:cNvPr id="51203" name="矩形 2"/>
          <p:cNvSpPr>
            <a:spLocks noChangeArrowheads="1"/>
          </p:cNvSpPr>
          <p:nvPr/>
        </p:nvSpPr>
        <p:spPr bwMode="auto">
          <a:xfrm>
            <a:off x="900113" y="1341438"/>
            <a:ext cx="32464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ctr"/>
            <a:r>
              <a:rPr lang="zh-CN" altLang="zh-CN"/>
              <a:t>语句的执行结果如图</a:t>
            </a:r>
            <a:r>
              <a:rPr lang="en-US" altLang="zh-CN"/>
              <a:t>3.8</a:t>
            </a:r>
            <a:r>
              <a:rPr lang="zh-CN" altLang="zh-CN"/>
              <a:t>所示。</a:t>
            </a:r>
            <a:endParaRPr lang="zh-CN" altLang="zh-CN"/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916113"/>
            <a:ext cx="6769100" cy="384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en-US" dirty="0"/>
          </a:p>
        </p:txBody>
      </p:sp>
      <p:sp>
        <p:nvSpPr>
          <p:cNvPr id="52227" name="TextBox 2"/>
          <p:cNvSpPr txBox="1">
            <a:spLocks noChangeArrowheads="1"/>
          </p:cNvSpPr>
          <p:nvPr/>
        </p:nvSpPr>
        <p:spPr bwMode="auto">
          <a:xfrm>
            <a:off x="900113" y="1484313"/>
            <a:ext cx="6985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/>
              <a:t>例如，如果重复执行上述命令，系统显示错误信息，如图</a:t>
            </a:r>
            <a:r>
              <a:rPr lang="en-US" altLang="zh-CN"/>
              <a:t>3.9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38" y="1916113"/>
            <a:ext cx="6227762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2750" y="2466975"/>
            <a:ext cx="8335963" cy="576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088" y="1628775"/>
            <a:ext cx="7921625" cy="576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en-US" dirty="0"/>
          </a:p>
        </p:txBody>
      </p:sp>
      <p:sp>
        <p:nvSpPr>
          <p:cNvPr id="53253" name="TextBox 2"/>
          <p:cNvSpPr txBox="1">
            <a:spLocks noChangeArrowheads="1"/>
          </p:cNvSpPr>
          <p:nvPr/>
        </p:nvSpPr>
        <p:spPr bwMode="auto">
          <a:xfrm>
            <a:off x="395288" y="1341438"/>
            <a:ext cx="84248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3.7</a:t>
            </a:r>
            <a:r>
              <a:rPr lang="zh-CN" altLang="zh-CN"/>
              <a:t>】 一次向</a:t>
            </a:r>
            <a:r>
              <a:rPr lang="en-US" altLang="zh-CN"/>
              <a:t>test1</a:t>
            </a:r>
            <a:r>
              <a:rPr lang="zh-CN" altLang="zh-CN"/>
              <a:t>数据库</a:t>
            </a:r>
            <a:r>
              <a:rPr lang="en-US" altLang="zh-CN"/>
              <a:t>xsb1</a:t>
            </a:r>
            <a:r>
              <a:rPr lang="zh-CN" altLang="zh-CN"/>
              <a:t>表中插入两行数据：</a:t>
            </a:r>
            <a:endParaRPr lang="zh-CN" altLang="zh-CN"/>
          </a:p>
          <a:p>
            <a:pPr eaLnBrk="1" hangingPunct="1"/>
            <a:r>
              <a:rPr lang="en-US" altLang="zh-CN"/>
              <a:t>'201301', '</a:t>
            </a:r>
            <a:r>
              <a:rPr lang="zh-CN" altLang="zh-CN"/>
              <a:t>王海</a:t>
            </a:r>
            <a:r>
              <a:rPr lang="en-US" altLang="zh-CN"/>
              <a:t>', 1, '1996-05-10', '</a:t>
            </a:r>
            <a:r>
              <a:rPr lang="zh-CN" altLang="zh-CN"/>
              <a:t>软件工程</a:t>
            </a:r>
            <a:r>
              <a:rPr lang="en-US" altLang="zh-CN"/>
              <a:t>', 50, NULL</a:t>
            </a:r>
            <a:endParaRPr lang="zh-CN" altLang="zh-CN"/>
          </a:p>
          <a:p>
            <a:pPr eaLnBrk="1" hangingPunct="1"/>
            <a:r>
              <a:rPr lang="en-US" altLang="zh-CN"/>
              <a:t>'201302', '</a:t>
            </a:r>
            <a:r>
              <a:rPr lang="zh-CN" altLang="zh-CN"/>
              <a:t>李娜</a:t>
            </a:r>
            <a:r>
              <a:rPr lang="en-US" altLang="zh-CN"/>
              <a:t>', 0, '1996-04-12', '</a:t>
            </a:r>
            <a:r>
              <a:rPr lang="zh-CN" altLang="zh-CN"/>
              <a:t>软件工程</a:t>
            </a:r>
            <a:r>
              <a:rPr lang="en-US" altLang="zh-CN"/>
              <a:t>', 52, NULL</a:t>
            </a:r>
            <a:endParaRPr lang="zh-CN" altLang="zh-CN"/>
          </a:p>
          <a:p>
            <a:pPr eaLnBrk="1" fontAlgn="ctr" hangingPunct="1"/>
            <a:r>
              <a:rPr lang="zh-CN" altLang="zh-CN"/>
              <a:t>命令如下：</a:t>
            </a:r>
            <a:endParaRPr lang="zh-CN" altLang="zh-CN"/>
          </a:p>
          <a:p>
            <a:pPr eaLnBrk="1" hangingPunct="1"/>
            <a:r>
              <a:rPr lang="en-US" altLang="zh-CN"/>
              <a:t>INSERT INTO xsb1 VALUES('201301', '</a:t>
            </a:r>
            <a:r>
              <a:rPr lang="zh-CN" altLang="zh-CN"/>
              <a:t>王海</a:t>
            </a:r>
            <a:r>
              <a:rPr lang="en-US" altLang="zh-CN"/>
              <a:t>', 1, '1991-05-10', '</a:t>
            </a:r>
            <a:r>
              <a:rPr lang="zh-CN" altLang="zh-CN"/>
              <a:t>软件工程</a:t>
            </a:r>
            <a:r>
              <a:rPr lang="en-US" altLang="zh-CN"/>
              <a:t>', 50, NULL), ('201302', '</a:t>
            </a:r>
            <a:r>
              <a:rPr lang="zh-CN" altLang="zh-CN"/>
              <a:t>李娜</a:t>
            </a:r>
            <a:r>
              <a:rPr lang="en-US" altLang="zh-CN"/>
              <a:t>', 0, '1991-04-12', '</a:t>
            </a:r>
            <a:r>
              <a:rPr lang="zh-CN" altLang="zh-CN"/>
              <a:t>软件工程</a:t>
            </a:r>
            <a:r>
              <a:rPr lang="en-US" altLang="zh-CN"/>
              <a:t>', 52, NULL)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执行结果如图</a:t>
            </a:r>
            <a:r>
              <a:rPr lang="en-US" altLang="zh-CN"/>
              <a:t>3.10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532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13125"/>
            <a:ext cx="6624638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1550" y="3213100"/>
            <a:ext cx="7704138" cy="107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en-US" dirty="0"/>
          </a:p>
        </p:txBody>
      </p:sp>
      <p:sp>
        <p:nvSpPr>
          <p:cNvPr id="54276" name="TextBox 2"/>
          <p:cNvSpPr txBox="1">
            <a:spLocks noChangeArrowheads="1"/>
          </p:cNvSpPr>
          <p:nvPr/>
        </p:nvSpPr>
        <p:spPr bwMode="auto">
          <a:xfrm>
            <a:off x="468313" y="1484313"/>
            <a:ext cx="82073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【例</a:t>
            </a:r>
            <a:r>
              <a:rPr lang="en-US" altLang="zh-CN"/>
              <a:t>3.8</a:t>
            </a:r>
            <a:r>
              <a:rPr lang="zh-CN" altLang="zh-CN"/>
              <a:t>】 从</a:t>
            </a:r>
            <a:r>
              <a:rPr lang="en-US" altLang="zh-CN"/>
              <a:t>test1</a:t>
            </a:r>
            <a:r>
              <a:rPr lang="zh-CN" altLang="zh-CN"/>
              <a:t>数据库表</a:t>
            </a:r>
            <a:r>
              <a:rPr lang="en-US" altLang="zh-CN"/>
              <a:t>xsb1</a:t>
            </a:r>
            <a:r>
              <a:rPr lang="zh-CN" altLang="zh-CN"/>
              <a:t>中生成计算机专业的学生表（</a:t>
            </a:r>
            <a:r>
              <a:rPr lang="en-US" altLang="zh-CN"/>
              <a:t>xsb2</a:t>
            </a:r>
            <a:r>
              <a:rPr lang="zh-CN" altLang="zh-CN"/>
              <a:t>），包括学号、姓名、出生时间、总学分、备注。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）用界面方式或者</a:t>
            </a:r>
            <a:r>
              <a:rPr lang="en-US" altLang="zh-CN"/>
              <a:t>CREATE TABLE</a:t>
            </a:r>
            <a:r>
              <a:rPr lang="zh-CN" altLang="zh-CN"/>
              <a:t>语句建立表</a:t>
            </a:r>
            <a:r>
              <a:rPr lang="en-US" altLang="zh-CN"/>
              <a:t>xsb2</a:t>
            </a:r>
            <a:r>
              <a:rPr lang="zh-CN" altLang="zh-CN"/>
              <a:t>，表结构与</a:t>
            </a:r>
            <a:r>
              <a:rPr lang="en-US" altLang="zh-CN"/>
              <a:t>xsb1</a:t>
            </a:r>
            <a:r>
              <a:rPr lang="zh-CN" altLang="zh-CN"/>
              <a:t>相同。</a:t>
            </a:r>
            <a:endParaRPr lang="zh-CN" altLang="zh-CN"/>
          </a:p>
          <a:p>
            <a:pPr eaLnBrk="1" fontAlgn="ctr" hangingPunct="1"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）用</a:t>
            </a:r>
            <a:r>
              <a:rPr lang="en-US" altLang="zh-CN"/>
              <a:t>INSERT</a:t>
            </a:r>
            <a:r>
              <a:rPr lang="zh-CN" altLang="zh-CN"/>
              <a:t>语句向</a:t>
            </a:r>
            <a:r>
              <a:rPr lang="en-US" altLang="zh-CN"/>
              <a:t>xsb2</a:t>
            </a:r>
            <a:r>
              <a:rPr lang="zh-CN" altLang="zh-CN"/>
              <a:t>表中插入数据：</a:t>
            </a:r>
            <a:endParaRPr lang="zh-CN" altLang="zh-CN"/>
          </a:p>
          <a:p>
            <a:pPr eaLnBrk="1" hangingPunct="1"/>
            <a:r>
              <a:rPr lang="en-US" altLang="zh-CN"/>
              <a:t>INSERT INTO xsb2</a:t>
            </a:r>
            <a:endParaRPr lang="zh-CN" altLang="zh-CN"/>
          </a:p>
          <a:p>
            <a:pPr eaLnBrk="1" hangingPunct="1"/>
            <a:r>
              <a:rPr lang="en-US" altLang="zh-CN"/>
              <a:t>    SELECT  *</a:t>
            </a:r>
            <a:endParaRPr lang="zh-CN" altLang="zh-CN"/>
          </a:p>
          <a:p>
            <a:pPr eaLnBrk="1" hangingPunct="1"/>
            <a:r>
              <a:rPr lang="en-US" altLang="zh-CN"/>
              <a:t>        FROM xsb1</a:t>
            </a:r>
            <a:endParaRPr lang="zh-CN" altLang="zh-CN"/>
          </a:p>
          <a:p>
            <a:pPr eaLnBrk="1" hangingPunct="1"/>
            <a:r>
              <a:rPr lang="en-US" altLang="zh-CN"/>
              <a:t>        WHERE</a:t>
            </a:r>
            <a:r>
              <a:rPr lang="zh-CN" altLang="zh-CN"/>
              <a:t>专业</a:t>
            </a:r>
            <a:r>
              <a:rPr lang="en-US" altLang="zh-CN"/>
              <a:t>= '</a:t>
            </a:r>
            <a:r>
              <a:rPr lang="zh-CN" altLang="zh-CN"/>
              <a:t>计算机</a:t>
            </a:r>
            <a:r>
              <a:rPr lang="en-US" altLang="zh-CN"/>
              <a:t>'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650" y="1844675"/>
            <a:ext cx="7920038" cy="504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3.5.1  </a:t>
            </a:r>
            <a:r>
              <a:rPr lang="zh-CN" altLang="zh-CN" dirty="0">
                <a:effectLst/>
              </a:rPr>
              <a:t>插入记录：</a:t>
            </a:r>
            <a:r>
              <a:rPr lang="en-US" altLang="zh-CN" dirty="0">
                <a:effectLst/>
              </a:rPr>
              <a:t>INSERT</a:t>
            </a:r>
            <a:endParaRPr lang="zh-CN" altLang="en-US" dirty="0"/>
          </a:p>
        </p:txBody>
      </p:sp>
      <p:sp>
        <p:nvSpPr>
          <p:cNvPr id="55300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280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）使用</a:t>
            </a:r>
            <a:r>
              <a:rPr lang="en-US" altLang="zh-CN"/>
              <a:t>SELECT</a:t>
            </a:r>
            <a:r>
              <a:rPr lang="zh-CN" altLang="zh-CN"/>
              <a:t>语句从</a:t>
            </a:r>
            <a:r>
              <a:rPr lang="en-US" altLang="zh-CN"/>
              <a:t>xsb2</a:t>
            </a:r>
            <a:r>
              <a:rPr lang="zh-CN" altLang="zh-CN"/>
              <a:t>表中查询结果：</a:t>
            </a:r>
            <a:endParaRPr lang="zh-CN" altLang="zh-CN"/>
          </a:p>
          <a:p>
            <a:pPr eaLnBrk="1" hangingPunct="1"/>
            <a:r>
              <a:rPr lang="en-US" altLang="zh-CN"/>
              <a:t>SELECT  *</a:t>
            </a:r>
            <a:endParaRPr lang="zh-CN" altLang="zh-CN"/>
          </a:p>
          <a:p>
            <a:pPr eaLnBrk="1" hangingPunct="1"/>
            <a:r>
              <a:rPr lang="en-US" altLang="zh-CN"/>
              <a:t>    FROM  xsb2				/* xsb1</a:t>
            </a:r>
            <a:r>
              <a:rPr lang="zh-CN" altLang="zh-CN"/>
              <a:t>表的内容</a:t>
            </a:r>
            <a:r>
              <a:rPr lang="en-US" altLang="zh-CN"/>
              <a:t>*/</a:t>
            </a:r>
            <a:endParaRPr lang="zh-CN" altLang="zh-CN"/>
          </a:p>
          <a:p>
            <a:pPr eaLnBrk="1" fontAlgn="ctr" hangingPunct="1"/>
            <a:r>
              <a:rPr lang="zh-CN" altLang="zh-CN"/>
              <a:t>执行结果如图</a:t>
            </a:r>
            <a:r>
              <a:rPr lang="en-US" altLang="zh-CN"/>
              <a:t>3.11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5530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08275"/>
            <a:ext cx="6480175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133600"/>
            <a:ext cx="7848600" cy="16557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3.5.2  </a:t>
            </a:r>
            <a:r>
              <a:rPr lang="zh-CN" altLang="zh-CN" dirty="0">
                <a:effectLst/>
              </a:rPr>
              <a:t>修改记录：</a:t>
            </a:r>
            <a:r>
              <a:rPr lang="en-US" altLang="zh-CN" dirty="0">
                <a:effectLst/>
              </a:rPr>
              <a:t>UPDATE</a:t>
            </a:r>
            <a:endParaRPr lang="zh-CN" altLang="zh-CN" dirty="0">
              <a:effectLst/>
            </a:endParaRPr>
          </a:p>
        </p:txBody>
      </p:sp>
      <p:sp>
        <p:nvSpPr>
          <p:cNvPr id="56324" name="TextBox 2"/>
          <p:cNvSpPr txBox="1">
            <a:spLocks noChangeArrowheads="1"/>
          </p:cNvSpPr>
          <p:nvPr/>
        </p:nvSpPr>
        <p:spPr bwMode="auto">
          <a:xfrm>
            <a:off x="395288" y="1557338"/>
            <a:ext cx="82804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在</a:t>
            </a:r>
            <a:r>
              <a:rPr lang="en-US" altLang="zh-CN"/>
              <a:t>T-SQL</a:t>
            </a:r>
            <a:r>
              <a:rPr lang="zh-CN" altLang="zh-CN"/>
              <a:t>中，</a:t>
            </a:r>
            <a:r>
              <a:rPr lang="en-US" altLang="zh-CN"/>
              <a:t>UPDATE</a:t>
            </a:r>
            <a:r>
              <a:rPr lang="zh-CN" altLang="zh-CN"/>
              <a:t>语句可以用来修改表中的数据行。</a:t>
            </a:r>
            <a:endParaRPr lang="zh-CN" altLang="zh-CN"/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UPDATE [ TOP ( </a:t>
            </a:r>
            <a:r>
              <a:rPr lang="zh-CN" altLang="zh-CN"/>
              <a:t>表达式</a:t>
            </a:r>
            <a:r>
              <a:rPr lang="en-US" altLang="zh-CN"/>
              <a:t> ) [ PERCENT ] ]</a:t>
            </a:r>
            <a:endParaRPr lang="zh-CN" altLang="zh-CN"/>
          </a:p>
          <a:p>
            <a:pPr eaLnBrk="1" hangingPunct="1"/>
            <a:r>
              <a:rPr lang="en-US" altLang="zh-CN"/>
              <a:t>{  </a:t>
            </a:r>
            <a:r>
              <a:rPr lang="zh-CN" altLang="zh-CN"/>
              <a:t>表名</a:t>
            </a:r>
            <a:r>
              <a:rPr lang="en-US" altLang="zh-CN"/>
              <a:t> | </a:t>
            </a:r>
            <a:r>
              <a:rPr lang="zh-CN" altLang="zh-CN"/>
              <a:t>视图名</a:t>
            </a:r>
            <a:r>
              <a:rPr lang="en-US" altLang="zh-CN"/>
              <a:t>	}</a:t>
            </a:r>
            <a:endParaRPr lang="zh-CN" altLang="zh-CN"/>
          </a:p>
          <a:p>
            <a:pPr eaLnBrk="1" hangingPunct="1"/>
            <a:r>
              <a:rPr lang="en-US" altLang="zh-CN"/>
              <a:t>SET { </a:t>
            </a:r>
            <a:r>
              <a:rPr lang="zh-CN" altLang="zh-CN"/>
              <a:t>列名</a:t>
            </a:r>
            <a:r>
              <a:rPr lang="en-US" altLang="zh-CN"/>
              <a:t>=</a:t>
            </a:r>
            <a:r>
              <a:rPr lang="zh-CN" altLang="zh-CN"/>
              <a:t>表达式</a:t>
            </a:r>
            <a:r>
              <a:rPr lang="en-US" altLang="zh-CN"/>
              <a:t>, …  }  		/*</a:t>
            </a:r>
            <a:r>
              <a:rPr lang="zh-CN" altLang="zh-CN"/>
              <a:t>赋予新值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[ FROM  &lt;</a:t>
            </a:r>
            <a:r>
              <a:rPr lang="zh-CN" altLang="zh-CN"/>
              <a:t>表源</a:t>
            </a:r>
            <a:r>
              <a:rPr lang="en-US" altLang="zh-CN"/>
              <a:t>&gt; …]</a:t>
            </a:r>
            <a:endParaRPr lang="zh-CN" altLang="zh-CN"/>
          </a:p>
          <a:p>
            <a:pPr eaLnBrk="1" hangingPunct="1"/>
            <a:r>
              <a:rPr lang="en-US" altLang="zh-CN"/>
              <a:t>[ WHERE &lt;</a:t>
            </a:r>
            <a:r>
              <a:rPr lang="zh-CN" altLang="zh-CN"/>
              <a:t>查找条件</a:t>
            </a:r>
            <a:r>
              <a:rPr lang="en-US" altLang="zh-CN"/>
              <a:t>&gt;	 | …  ] 		/*</a:t>
            </a:r>
            <a:r>
              <a:rPr lang="zh-CN" altLang="zh-CN"/>
              <a:t>指定条件</a:t>
            </a:r>
            <a:r>
              <a:rPr lang="en-US" altLang="zh-CN"/>
              <a:t>*/</a:t>
            </a:r>
            <a:endParaRPr lang="zh-CN" altLang="zh-CN"/>
          </a:p>
          <a:p>
            <a:pPr eaLnBrk="1" hangingPunct="1"/>
            <a:r>
              <a:rPr lang="en-US" altLang="zh-CN"/>
              <a:t>……</a:t>
            </a:r>
            <a:endParaRPr lang="zh-CN" altLang="zh-CN"/>
          </a:p>
          <a:p>
            <a:pPr eaLnBrk="1" fontAlgn="ctr" hangingPunct="1"/>
            <a:r>
              <a:rPr lang="zh-CN" altLang="zh-CN"/>
              <a:t>其中：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</a:t>
            </a:r>
            <a:r>
              <a:rPr lang="en-US" altLang="zh-CN"/>
              <a:t>SET</a:t>
            </a:r>
            <a:r>
              <a:rPr lang="zh-CN" altLang="zh-CN"/>
              <a:t>子句：用于指定要修改的列或变量名及其新值。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</a:t>
            </a:r>
            <a:r>
              <a:rPr lang="en-US" altLang="zh-CN"/>
              <a:t>FROM</a:t>
            </a:r>
            <a:r>
              <a:rPr lang="zh-CN" altLang="zh-CN"/>
              <a:t>子句：指定用表来为更新操作提供数据。</a:t>
            </a:r>
            <a:endParaRPr lang="zh-CN" altLang="zh-CN"/>
          </a:p>
          <a:p>
            <a:pPr eaLnBrk="1" fontAlgn="ctr" hangingPunct="1"/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</a:t>
            </a:r>
            <a:r>
              <a:rPr lang="en-US" altLang="zh-CN"/>
              <a:t>WHERE</a:t>
            </a:r>
            <a:r>
              <a:rPr lang="zh-CN" altLang="zh-CN"/>
              <a:t>子句：</a:t>
            </a:r>
            <a:r>
              <a:rPr lang="en-US" altLang="zh-CN"/>
              <a:t>WHERE</a:t>
            </a:r>
            <a:r>
              <a:rPr lang="zh-CN" altLang="zh-CN"/>
              <a:t>子句中的</a:t>
            </a:r>
            <a:r>
              <a:rPr lang="en-US" altLang="zh-CN"/>
              <a:t>&lt;</a:t>
            </a:r>
            <a:r>
              <a:rPr lang="zh-CN" altLang="zh-CN"/>
              <a:t>查找条件</a:t>
            </a:r>
            <a:r>
              <a:rPr lang="en-US" altLang="zh-CN"/>
              <a:t>&gt;</a:t>
            </a:r>
            <a:r>
              <a:rPr lang="zh-CN" altLang="zh-CN"/>
              <a:t>指明只对满足该条件的行进行修改，若省略该子句，则对表中的所有行进行修改。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088" y="2060575"/>
            <a:ext cx="7848600" cy="1873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3.5.2  </a:t>
            </a:r>
            <a:r>
              <a:rPr lang="zh-CN" altLang="zh-CN" dirty="0">
                <a:effectLst/>
              </a:rPr>
              <a:t>修改记录：</a:t>
            </a:r>
            <a:r>
              <a:rPr lang="en-US" altLang="zh-CN" dirty="0">
                <a:effectLst/>
              </a:rPr>
              <a:t>UPDATE</a:t>
            </a:r>
            <a:endParaRPr lang="zh-CN" altLang="en-US" dirty="0"/>
          </a:p>
        </p:txBody>
      </p:sp>
      <p:sp>
        <p:nvSpPr>
          <p:cNvPr id="57348" name="TextBox 2"/>
          <p:cNvSpPr txBox="1">
            <a:spLocks noChangeArrowheads="1"/>
          </p:cNvSpPr>
          <p:nvPr/>
        </p:nvSpPr>
        <p:spPr bwMode="auto">
          <a:xfrm>
            <a:off x="395288" y="1484313"/>
            <a:ext cx="82804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3.9</a:t>
            </a:r>
            <a:r>
              <a:rPr lang="zh-CN" altLang="zh-CN"/>
              <a:t>】 将</a:t>
            </a:r>
            <a:r>
              <a:rPr lang="en-US" altLang="zh-CN"/>
              <a:t>test1</a:t>
            </a:r>
            <a:r>
              <a:rPr lang="zh-CN" altLang="zh-CN"/>
              <a:t>数据库的</a:t>
            </a:r>
            <a:r>
              <a:rPr lang="en-US" altLang="zh-CN"/>
              <a:t>xsb1</a:t>
            </a:r>
            <a:r>
              <a:rPr lang="zh-CN" altLang="zh-CN"/>
              <a:t>表中学号为“</a:t>
            </a:r>
            <a:r>
              <a:rPr lang="en-US" altLang="zh-CN"/>
              <a:t>191301</a:t>
            </a:r>
            <a:r>
              <a:rPr lang="zh-CN" altLang="zh-CN"/>
              <a:t>”的学生的备注值改为“外校互认学分课程”，同时将总学分</a:t>
            </a:r>
            <a:r>
              <a:rPr lang="en-US" altLang="zh-CN"/>
              <a:t>+3</a:t>
            </a:r>
            <a:r>
              <a:rPr lang="zh-CN" altLang="zh-CN"/>
              <a:t>。</a:t>
            </a:r>
            <a:endParaRPr lang="zh-CN" altLang="zh-CN"/>
          </a:p>
          <a:p>
            <a:pPr eaLnBrk="1" hangingPunct="1"/>
            <a:r>
              <a:rPr lang="en-US" altLang="zh-CN"/>
              <a:t>USE test1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UPDATE xsb1</a:t>
            </a:r>
            <a:endParaRPr lang="zh-CN" altLang="zh-CN"/>
          </a:p>
          <a:p>
            <a:pPr eaLnBrk="1" hangingPunct="1"/>
            <a:r>
              <a:rPr lang="en-US" altLang="zh-CN"/>
              <a:t>    SET 	</a:t>
            </a:r>
            <a:r>
              <a:rPr lang="zh-CN" altLang="zh-CN"/>
              <a:t>备注</a:t>
            </a:r>
            <a:r>
              <a:rPr lang="en-US" altLang="zh-CN"/>
              <a:t> = '</a:t>
            </a:r>
            <a:r>
              <a:rPr lang="zh-CN" altLang="zh-CN"/>
              <a:t>外校互认学分课程</a:t>
            </a:r>
            <a:r>
              <a:rPr lang="en-US" altLang="zh-CN"/>
              <a:t>',</a:t>
            </a:r>
            <a:endParaRPr lang="zh-CN" altLang="zh-CN"/>
          </a:p>
          <a:p>
            <a:pPr eaLnBrk="1" hangingPunct="1"/>
            <a:r>
              <a:rPr lang="en-US" altLang="zh-CN"/>
              <a:t>          </a:t>
            </a:r>
            <a:r>
              <a:rPr lang="zh-CN" altLang="zh-CN"/>
              <a:t>总学分</a:t>
            </a:r>
            <a:r>
              <a:rPr lang="en-US" altLang="zh-CN"/>
              <a:t> = </a:t>
            </a:r>
            <a:r>
              <a:rPr lang="zh-CN" altLang="zh-CN"/>
              <a:t>总学分</a:t>
            </a:r>
            <a:r>
              <a:rPr lang="en-US" altLang="zh-CN"/>
              <a:t>+3</a:t>
            </a:r>
            <a:endParaRPr lang="zh-CN" altLang="zh-CN"/>
          </a:p>
          <a:p>
            <a:pPr eaLnBrk="1" hangingPunct="1"/>
            <a:r>
              <a:rPr lang="en-US" altLang="zh-CN"/>
              <a:t>	WHERE</a:t>
            </a:r>
            <a:r>
              <a:rPr lang="zh-CN" altLang="zh-CN"/>
              <a:t>学号</a:t>
            </a:r>
            <a:r>
              <a:rPr lang="en-US" altLang="zh-CN"/>
              <a:t>='191301'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fontAlgn="ctr" hangingPunct="1"/>
            <a:r>
              <a:rPr lang="zh-CN" altLang="zh-CN"/>
              <a:t>执行完上述语句后，</a:t>
            </a:r>
            <a:r>
              <a:rPr lang="en-US" altLang="zh-CN"/>
              <a:t>xsb1</a:t>
            </a:r>
            <a:r>
              <a:rPr lang="zh-CN" altLang="zh-CN"/>
              <a:t>表学号为“</a:t>
            </a:r>
            <a:r>
              <a:rPr lang="en-US" altLang="zh-CN"/>
              <a:t>191301</a:t>
            </a:r>
            <a:r>
              <a:rPr lang="zh-CN" altLang="zh-CN"/>
              <a:t>”的学生的记录如图</a:t>
            </a:r>
            <a:r>
              <a:rPr lang="en-US" altLang="zh-CN"/>
              <a:t>3.12</a:t>
            </a:r>
            <a:r>
              <a:rPr lang="zh-CN" altLang="zh-CN"/>
              <a:t>所示。</a:t>
            </a:r>
            <a:endParaRPr lang="zh-CN" altLang="zh-CN"/>
          </a:p>
          <a:p>
            <a:pPr eaLnBrk="1" hangingPunct="1"/>
            <a:endParaRPr lang="zh-CN" altLang="en-US"/>
          </a:p>
        </p:txBody>
      </p:sp>
      <p:pic>
        <p:nvPicPr>
          <p:cNvPr id="57349" name="Picture 2" descr="03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4348163"/>
            <a:ext cx="5329237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00113" y="3160713"/>
            <a:ext cx="7775575" cy="1541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0113" y="1989138"/>
            <a:ext cx="7775575" cy="86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3.5.3  </a:t>
            </a:r>
            <a:r>
              <a:rPr lang="zh-CN" altLang="zh-CN" dirty="0">
                <a:effectLst/>
              </a:rPr>
              <a:t>删除记录：</a:t>
            </a:r>
            <a:r>
              <a:rPr lang="en-US" altLang="zh-CN" dirty="0">
                <a:effectLst/>
              </a:rPr>
              <a:t>DELETE/TRUNCATE TABLE</a:t>
            </a:r>
            <a:endParaRPr lang="zh-CN" altLang="zh-CN" dirty="0">
              <a:effectLst/>
            </a:endParaRPr>
          </a:p>
        </p:txBody>
      </p:sp>
      <p:sp>
        <p:nvSpPr>
          <p:cNvPr id="58373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07375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1</a:t>
            </a:r>
            <a:r>
              <a:rPr lang="zh-CN" altLang="zh-CN" b="1">
                <a:solidFill>
                  <a:srgbClr val="C00000"/>
                </a:solidFill>
              </a:rPr>
              <a:t>．删除符合条件记录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DELETE [ TOP ( </a:t>
            </a:r>
            <a:r>
              <a:rPr lang="zh-CN" altLang="zh-CN"/>
              <a:t>表达式</a:t>
            </a:r>
            <a:r>
              <a:rPr lang="en-US" altLang="zh-CN"/>
              <a:t> ) [ PERCENT ] ]</a:t>
            </a:r>
            <a:endParaRPr lang="zh-CN" altLang="zh-CN"/>
          </a:p>
          <a:p>
            <a:pPr eaLnBrk="1" hangingPunct="1"/>
            <a:r>
              <a:rPr lang="en-US" altLang="zh-CN"/>
              <a:t>[ FROM  </a:t>
            </a:r>
            <a:r>
              <a:rPr lang="zh-CN" altLang="zh-CN"/>
              <a:t>表名</a:t>
            </a:r>
            <a:r>
              <a:rPr lang="en-US" altLang="zh-CN"/>
              <a:t> | </a:t>
            </a:r>
            <a:r>
              <a:rPr lang="zh-CN" altLang="zh-CN"/>
              <a:t>视图名</a:t>
            </a:r>
            <a:r>
              <a:rPr lang="en-US" altLang="zh-CN"/>
              <a:t> |  &lt;</a:t>
            </a:r>
            <a:r>
              <a:rPr lang="zh-CN" altLang="zh-CN"/>
              <a:t>表源</a:t>
            </a:r>
            <a:r>
              <a:rPr lang="en-US" altLang="zh-CN"/>
              <a:t>&gt; ]</a:t>
            </a:r>
            <a:endParaRPr lang="zh-CN" altLang="zh-CN"/>
          </a:p>
          <a:p>
            <a:pPr eaLnBrk="1" hangingPunct="1"/>
            <a:r>
              <a:rPr lang="en-US" altLang="zh-CN"/>
              <a:t>[ WHERE  &lt;</a:t>
            </a:r>
            <a:r>
              <a:rPr lang="zh-CN" altLang="zh-CN"/>
              <a:t>查找条件</a:t>
            </a:r>
            <a:r>
              <a:rPr lang="en-US" altLang="zh-CN"/>
              <a:t>&gt;  |	…  ] 			/*</a:t>
            </a:r>
            <a:r>
              <a:rPr lang="zh-CN" altLang="zh-CN"/>
              <a:t>指定条件</a:t>
            </a:r>
            <a:r>
              <a:rPr lang="en-US" altLang="zh-CN"/>
              <a:t>*/	</a:t>
            </a:r>
            <a:endParaRPr lang="zh-CN" altLang="zh-CN"/>
          </a:p>
          <a:p>
            <a:pPr eaLnBrk="1" fontAlgn="ctr" hangingPunct="1"/>
            <a:r>
              <a:rPr lang="zh-CN" altLang="zh-CN"/>
              <a:t>【例</a:t>
            </a:r>
            <a:r>
              <a:rPr lang="en-US" altLang="zh-CN"/>
              <a:t>3.10</a:t>
            </a:r>
            <a:r>
              <a:rPr lang="zh-CN" altLang="zh-CN"/>
              <a:t>】 将</a:t>
            </a:r>
            <a:r>
              <a:rPr lang="en-US" altLang="zh-CN"/>
              <a:t>test1</a:t>
            </a:r>
            <a:r>
              <a:rPr lang="zh-CN" altLang="zh-CN"/>
              <a:t>数据库的</a:t>
            </a:r>
            <a:r>
              <a:rPr lang="en-US" altLang="zh-CN"/>
              <a:t>xsb1</a:t>
            </a:r>
            <a:r>
              <a:rPr lang="zh-CN" altLang="zh-CN"/>
              <a:t>表中总学分为</a:t>
            </a:r>
            <a:r>
              <a:rPr lang="en-US" altLang="zh-CN"/>
              <a:t>0</a:t>
            </a:r>
            <a:r>
              <a:rPr lang="zh-CN" altLang="zh-CN"/>
              <a:t>的行删除，使用如下语句：</a:t>
            </a:r>
            <a:endParaRPr lang="zh-CN" altLang="zh-CN"/>
          </a:p>
          <a:p>
            <a:pPr eaLnBrk="1" hangingPunct="1"/>
            <a:r>
              <a:rPr lang="en-US" altLang="zh-CN"/>
              <a:t>USE test1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r>
              <a:rPr lang="en-US" altLang="zh-CN"/>
              <a:t>DELETE  </a:t>
            </a:r>
            <a:endParaRPr lang="zh-CN" altLang="zh-CN"/>
          </a:p>
          <a:p>
            <a:pPr eaLnBrk="1" hangingPunct="1"/>
            <a:r>
              <a:rPr lang="en-US" altLang="zh-CN"/>
              <a:t>    FROM  xsb1</a:t>
            </a:r>
            <a:endParaRPr lang="zh-CN" altLang="zh-CN"/>
          </a:p>
          <a:p>
            <a:pPr eaLnBrk="1" hangingPunct="1"/>
            <a:r>
              <a:rPr lang="en-US" altLang="zh-CN"/>
              <a:t>    WHERE</a:t>
            </a:r>
            <a:r>
              <a:rPr lang="zh-CN" altLang="zh-CN"/>
              <a:t>总学分</a:t>
            </a:r>
            <a:r>
              <a:rPr lang="en-US" altLang="zh-CN"/>
              <a:t> = 0</a:t>
            </a:r>
            <a:endParaRPr lang="zh-CN" altLang="zh-CN"/>
          </a:p>
          <a:p>
            <a:pPr eaLnBrk="1" hangingPunct="1"/>
            <a:r>
              <a:rPr lang="en-US" altLang="zh-CN"/>
              <a:t>GO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55675" y="2528888"/>
            <a:ext cx="7777163" cy="279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71550" y="3141663"/>
            <a:ext cx="7777163" cy="33829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effectLst/>
              </a:rPr>
              <a:t>3.5.3  </a:t>
            </a:r>
            <a:r>
              <a:rPr lang="zh-CN" altLang="zh-CN" dirty="0">
                <a:effectLst/>
              </a:rPr>
              <a:t>删除记录：</a:t>
            </a:r>
            <a:r>
              <a:rPr lang="en-US" altLang="zh-CN" dirty="0">
                <a:effectLst/>
              </a:rPr>
              <a:t>DELETE/TRUNCATE TABLE</a:t>
            </a:r>
            <a:endParaRPr lang="zh-CN" altLang="en-US" dirty="0"/>
          </a:p>
        </p:txBody>
      </p:sp>
      <p:sp>
        <p:nvSpPr>
          <p:cNvPr id="59397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28040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00000"/>
                </a:solidFill>
              </a:rPr>
              <a:t>2</a:t>
            </a:r>
            <a:r>
              <a:rPr lang="zh-CN" altLang="zh-CN" b="1">
                <a:solidFill>
                  <a:srgbClr val="C00000"/>
                </a:solidFill>
              </a:rPr>
              <a:t>．删除表中所有记录</a:t>
            </a:r>
            <a:endParaRPr lang="zh-CN" altLang="zh-CN" b="1">
              <a:solidFill>
                <a:srgbClr val="C00000"/>
              </a:solidFill>
            </a:endParaRPr>
          </a:p>
          <a:p>
            <a:pPr eaLnBrk="1" fontAlgn="ctr" hangingPunct="1"/>
            <a:r>
              <a:rPr lang="zh-CN" altLang="zh-CN"/>
              <a:t>使用</a:t>
            </a:r>
            <a:r>
              <a:rPr lang="en-US" altLang="zh-CN"/>
              <a:t>TRUNCATE TABLE</a:t>
            </a:r>
            <a:r>
              <a:rPr lang="zh-CN" altLang="zh-CN"/>
              <a:t>语句将删除指定表中的所有数据，因此也称为清除表数据语句。</a:t>
            </a:r>
            <a:endParaRPr lang="zh-CN" altLang="zh-CN"/>
          </a:p>
          <a:p>
            <a:pPr eaLnBrk="1" fontAlgn="ctr" hangingPunct="1"/>
            <a:r>
              <a:rPr lang="zh-CN" altLang="zh-CN"/>
              <a:t>语法格式：</a:t>
            </a:r>
            <a:endParaRPr lang="zh-CN" altLang="zh-CN"/>
          </a:p>
          <a:p>
            <a:pPr eaLnBrk="1" hangingPunct="1"/>
            <a:r>
              <a:rPr lang="en-US" altLang="zh-CN"/>
              <a:t>TRUNCATE TABLE  </a:t>
            </a:r>
            <a:r>
              <a:rPr lang="zh-CN" altLang="zh-CN"/>
              <a:t>表名</a:t>
            </a:r>
            <a:endParaRPr lang="zh-CN" altLang="zh-CN"/>
          </a:p>
          <a:p>
            <a:pPr eaLnBrk="1" fontAlgn="ctr" hangingPunct="1"/>
            <a:r>
              <a:rPr lang="zh-CN" altLang="zh-CN"/>
              <a:t>例如，删除</a:t>
            </a:r>
            <a:r>
              <a:rPr lang="en-US" altLang="zh-CN"/>
              <a:t>test1</a:t>
            </a:r>
            <a:r>
              <a:rPr lang="zh-CN" altLang="zh-CN"/>
              <a:t>数据库的</a:t>
            </a:r>
            <a:r>
              <a:rPr lang="en-US" altLang="zh-CN"/>
              <a:t>xsb1</a:t>
            </a:r>
            <a:r>
              <a:rPr lang="zh-CN" altLang="zh-CN"/>
              <a:t>和</a:t>
            </a:r>
            <a:r>
              <a:rPr lang="en-US" altLang="zh-CN"/>
              <a:t>xsb2</a:t>
            </a:r>
            <a:r>
              <a:rPr lang="zh-CN" altLang="zh-CN"/>
              <a:t>表中的所有行。</a:t>
            </a:r>
            <a:endParaRPr lang="zh-CN" altLang="zh-CN"/>
          </a:p>
          <a:p>
            <a:pPr eaLnBrk="1" hangingPunct="1"/>
            <a:r>
              <a:rPr lang="en-US" altLang="zh-CN" sz="1600"/>
              <a:t>USE test1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DELETE  xsb1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TRUNCATE TABLE xsb2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DROP TABLE xsb3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SELECT  * FROM  xsb1 		/*</a:t>
            </a:r>
            <a:r>
              <a:rPr lang="zh-CN" altLang="zh-CN" sz="1600"/>
              <a:t>显示没有记录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SELECT  * FROM  xsb2		/*</a:t>
            </a:r>
            <a:r>
              <a:rPr lang="zh-CN" altLang="zh-CN" sz="1600"/>
              <a:t>显示没有记录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r>
              <a:rPr lang="en-US" altLang="zh-CN" sz="1600"/>
              <a:t>SELECT  * FROM  xsb3		/*</a:t>
            </a:r>
            <a:r>
              <a:rPr lang="zh-CN" altLang="zh-CN" sz="1600"/>
              <a:t>显示错误信息，因为</a:t>
            </a:r>
            <a:r>
              <a:rPr lang="en-US" altLang="zh-CN" sz="1600"/>
              <a:t>xsb3</a:t>
            </a:r>
            <a:r>
              <a:rPr lang="zh-CN" altLang="zh-CN" sz="1600"/>
              <a:t>已经没有了</a:t>
            </a:r>
            <a:r>
              <a:rPr lang="en-US" altLang="zh-CN" sz="1600"/>
              <a:t>*/</a:t>
            </a:r>
            <a:endParaRPr lang="zh-CN" altLang="zh-CN" sz="1600"/>
          </a:p>
          <a:p>
            <a:pPr eaLnBrk="1" hangingPunct="1"/>
            <a:r>
              <a:rPr lang="en-US" altLang="zh-CN" sz="1600"/>
              <a:t>GO</a:t>
            </a:r>
            <a:endParaRPr lang="zh-CN" altLang="zh-CN" sz="1600"/>
          </a:p>
          <a:p>
            <a:pPr eaLnBrk="1" hangingPunct="1"/>
            <a:endParaRPr lang="zh-CN" altLang="en-US" sz="1600"/>
          </a:p>
        </p:txBody>
      </p:sp>
    </p:spTree>
  </p:cSld>
  <p:clrMapOvr>
    <a:masterClrMapping/>
  </p:clrMapOvr>
  <p:transition spd="slow">
    <p:blinds dir="vert"/>
  </p:transition>
</p:sld>
</file>

<file path=ppt/tags/tag1.xml><?xml version="1.0" encoding="utf-8"?>
<p:tagLst xmlns:p="http://schemas.openxmlformats.org/presentationml/2006/main">
  <p:tag name="KSO_WPP_MARK_KEY" val="a721d9e0-14e3-484a-bc70-79c3833f729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12843</Words>
  <Application>WPS 演示</Application>
  <PresentationFormat>全屏显示(4:3)</PresentationFormat>
  <Paragraphs>989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6" baseType="lpstr">
      <vt:lpstr>Arial</vt:lpstr>
      <vt:lpstr>宋体</vt:lpstr>
      <vt:lpstr>Wingdings</vt:lpstr>
      <vt:lpstr>Calibri</vt:lpstr>
      <vt:lpstr>Symbol</vt:lpstr>
      <vt:lpstr>Times New Roman</vt:lpstr>
      <vt:lpstr>方正书宋简体</vt:lpstr>
      <vt:lpstr>Candara</vt:lpstr>
      <vt:lpstr>华文新魏</vt:lpstr>
      <vt:lpstr>微软雅黑</vt:lpstr>
      <vt:lpstr>Arial Unicode MS</vt:lpstr>
      <vt:lpstr>华文楷体</vt:lpstr>
      <vt:lpstr>波形</vt:lpstr>
      <vt:lpstr>第3章  表的创建和操作</vt:lpstr>
      <vt:lpstr>PowerPoint 演示文稿</vt:lpstr>
      <vt:lpstr>表的分类</vt:lpstr>
      <vt:lpstr>表的分类--已分区表</vt:lpstr>
      <vt:lpstr>表的分类--临时表</vt:lpstr>
      <vt:lpstr>表的分类--系统表</vt:lpstr>
      <vt:lpstr>3.1  表结构和数据类型 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3.1.1  数据类型</vt:lpstr>
      <vt:lpstr>3.1.2  表结构设计</vt:lpstr>
      <vt:lpstr>3.1.2  表结构设计</vt:lpstr>
      <vt:lpstr>3.2  界面方式创建表结构</vt:lpstr>
      <vt:lpstr>3.2.1  创建表结构</vt:lpstr>
      <vt:lpstr>3.2.1  创建表结构</vt:lpstr>
      <vt:lpstr>3.2.2  修改表结构</vt:lpstr>
      <vt:lpstr>3.2.2  修改表结构</vt:lpstr>
      <vt:lpstr>3.2.3  删除表</vt:lpstr>
      <vt:lpstr>3.3  命令方式创建表结构</vt:lpstr>
      <vt:lpstr>3.3.1  创建表结构：CREATE TABLE</vt:lpstr>
      <vt:lpstr>3.3.1  创建表结构：CREATE TABLE</vt:lpstr>
      <vt:lpstr>3.3.1  创建表结构：CREATE TABLE</vt:lpstr>
      <vt:lpstr>3.3.2  修改表结构：ALTER TABLE</vt:lpstr>
      <vt:lpstr>3.3.2  修改表结构：ALTER TABLE</vt:lpstr>
      <vt:lpstr>3.3.2  修改表结构：ALTER TABLE</vt:lpstr>
      <vt:lpstr>3.3.2  修改表结构：ALTER TABLE</vt:lpstr>
      <vt:lpstr>3.3.2  修改表结构：ALTER TABLE</vt:lpstr>
      <vt:lpstr>3.3.3  删除表：DROP TABLE</vt:lpstr>
      <vt:lpstr>3.4  界面方式操作表数据</vt:lpstr>
      <vt:lpstr>3.4.1  插入记录</vt:lpstr>
      <vt:lpstr>3.4.1  插入记录</vt:lpstr>
      <vt:lpstr>3.4.2  删除记录</vt:lpstr>
      <vt:lpstr>3.4.3  修改记录</vt:lpstr>
      <vt:lpstr>3.5  命令方式操作表数据</vt:lpstr>
      <vt:lpstr>3.5.1  插入记录：INSERT</vt:lpstr>
      <vt:lpstr>3.5.1  插入记录：INSERT</vt:lpstr>
      <vt:lpstr>3.5.1  插入记录：INSERT</vt:lpstr>
      <vt:lpstr>3.5.1  插入记录：INSERT</vt:lpstr>
      <vt:lpstr>3.5.1  插入记录：INSERT</vt:lpstr>
      <vt:lpstr>3.5.1  插入记录：INSERT</vt:lpstr>
      <vt:lpstr>3.5.2  修改记录：UPDATE</vt:lpstr>
      <vt:lpstr>3.5.2  修改记录：UPDATE</vt:lpstr>
      <vt:lpstr>3.5.3  删除记录：DELETE/TRUNCATE TABLE</vt:lpstr>
      <vt:lpstr>3.5.3  删除记录：DELETE/TRUNCATE TABLE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表的创建和操作</dc:title>
  <dc:creator>Microsoft</dc:creator>
  <cp:lastModifiedBy>微信用户</cp:lastModifiedBy>
  <cp:revision>28</cp:revision>
  <dcterms:created xsi:type="dcterms:W3CDTF">2015-06-15T08:36:00Z</dcterms:created>
  <dcterms:modified xsi:type="dcterms:W3CDTF">2023-09-11T07:24:24Z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43DC872F9A0F40F49A4C1E60BD32A9EA_13</vt:lpwstr>
  </property>
  <property fmtid="{D5CDD505-2E9C-101B-9397-08002B2CF9AE}" pid="3" name="KSOProductBuildVer">
    <vt:lpwstr>2052-11.1.0.14309</vt:lpwstr>
  </property>
</Properties>
</file>