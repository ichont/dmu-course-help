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96"/>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40"/>
    <p:sldId id="293" r:id="rId41"/>
    <p:sldId id="294" r:id="rId42"/>
    <p:sldId id="295" r:id="rId43"/>
    <p:sldId id="296" r:id="rId44"/>
    <p:sldId id="297" r:id="rId45"/>
    <p:sldId id="344" r:id="rId46"/>
    <p:sldId id="345" r:id="rId47"/>
    <p:sldId id="298" r:id="rId48"/>
    <p:sldId id="346"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7" r:id="rId94"/>
    <p:sldId id="348" r:id="rId95"/>
  </p:sldIdLst>
  <p:sldSz cx="9144000" cy="6858000" type="screen4x3"/>
  <p:notesSz cx="6858000" cy="9144000"/>
  <p:custDataLst>
    <p:tags r:id="rId100"/>
  </p:custDataLst>
  <p:defaultTextStyle>
    <a:defPPr>
      <a:defRPr lang="zh-CN"/>
    </a:defPPr>
    <a:lvl1pPr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9" autoAdjust="0"/>
    <p:restoredTop sz="86344" autoAdjust="0"/>
  </p:normalViewPr>
  <p:slideViewPr>
    <p:cSldViewPr>
      <p:cViewPr>
        <p:scale>
          <a:sx n="80" d="100"/>
          <a:sy n="80" d="100"/>
        </p:scale>
        <p:origin x="-990" y="192"/>
      </p:cViewPr>
      <p:guideLst>
        <p:guide orient="horz" pos="2160"/>
        <p:guide pos="2880"/>
      </p:guideLst>
    </p:cSldViewPr>
  </p:slideViewPr>
  <p:outlineViewPr>
    <p:cViewPr>
      <p:scale>
        <a:sx n="33" d="100"/>
        <a:sy n="33" d="100"/>
      </p:scale>
      <p:origin x="0" y="10452"/>
    </p:cViewPr>
  </p:outlineViewPr>
  <p:notesTextViewPr>
    <p:cViewPr>
      <p:scale>
        <a:sx n="1" d="1"/>
        <a:sy n="1" d="1"/>
      </p:scale>
      <p:origin x="0" y="0"/>
    </p:cViewPr>
  </p:notesTextViewPr>
  <p:notesViewPr>
    <p:cSldViewPr>
      <p:cViewPr varScale="1">
        <p:scale>
          <a:sx n="65" d="100"/>
          <a:sy n="65" d="100"/>
        </p:scale>
        <p:origin x="-284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tableStyles" Target="tableStyles.xml"/><Relationship Id="rId98" Type="http://schemas.openxmlformats.org/officeDocument/2006/relationships/viewProps" Target="viewProps.xml"/><Relationship Id="rId97" Type="http://schemas.openxmlformats.org/officeDocument/2006/relationships/presProps" Target="presProps.xml"/><Relationship Id="rId96" Type="http://schemas.openxmlformats.org/officeDocument/2006/relationships/handoutMaster" Target="handoutMasters/handoutMaster1.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notesMaster" Target="notesMasters/notesMaster1.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0" Type="http://schemas.openxmlformats.org/officeDocument/2006/relationships/tags" Target="tags/tag1.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FBFCCFC-D231-40D6-B241-280DAEF4F59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1AC700C-677D-4895-B584-F2E2C1742E2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A44D3208-5B2D-4210-BE72-9EF83F197052}"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E6F10C30-3139-494E-BCEF-4070BD2E819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1379"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smtClean="0"/>
          </a:p>
        </p:txBody>
      </p:sp>
      <p:sp>
        <p:nvSpPr>
          <p:cNvPr id="93188"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6A356449-F3B0-4910-B951-443BCA1422FC}" type="slidenum">
              <a:rPr lang="zh-CN" altLang="en-US" smtClean="0"/>
            </a:fld>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2"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3"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4"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5"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94822E4C-F087-45E4-99FE-C04D92E28A6B}"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2A7D68B6-24A8-49BF-8CF4-B9758BD034EB}"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5508E921-035B-480F-87BD-9A5ED3681570}"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73DC779F-0A56-4549-A194-C126E95E713C}" type="slidenum">
              <a:rPr lang="zh-CN" altLang="en-US" smtClean="0"/>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0" name="Freeform 18"/>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1" name="Freeform 22"/>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2" name="Freeform 26"/>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3" name="Freeform 10"/>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fld id="{ABF78E2B-BBF1-4B71-80D1-91C78E51650F}"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11A3DBA0-1753-46BD-A2A5-EB44EAC1512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pPr>
              <a:defRPr/>
            </a:pPr>
            <a:fld id="{B221FC08-3259-484C-B69D-0CE56B803F12}"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5F6F7F52-3EFE-49C8-BEAB-3B432F3E1491}" type="slidenum">
              <a:rPr lang="zh-CN" altLang="en-US" smtClean="0"/>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8E371E7C-B6BB-4F16-864C-605D2C2223E7}" type="datetimeFigureOut">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F2B8D563-0D54-4212-8C5A-69C26AA0633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pPr>
              <a:defRPr/>
            </a:pPr>
            <a:fld id="{C891502F-09E6-4AA5-9492-CE9E2335D362}" type="datetimeFigureOut">
              <a:rPr lang="en-US" smtClean="0"/>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1EF118F0-A402-4DCF-A051-474096F59A0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Date Placeholder 1"/>
          <p:cNvSpPr>
            <a:spLocks noGrp="1"/>
          </p:cNvSpPr>
          <p:nvPr>
            <p:ph type="dt" sz="half" idx="10"/>
          </p:nvPr>
        </p:nvSpPr>
        <p:spPr/>
        <p:txBody>
          <a:bodyPr/>
          <a:lstStyle/>
          <a:p>
            <a:pPr>
              <a:defRPr/>
            </a:pPr>
            <a:fld id="{E6A728F2-8FF8-4422-8574-DFAE274BE553}" type="datetimeFigureOut">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4FABBB89-9F49-48FB-A66A-E20B59270B20}"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pPr>
              <a:defRPr/>
            </a:pPr>
            <a:fld id="{65DD37EA-7863-4418-9D9A-4B80E74E9F92}"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7D49BB2-F594-40C0-A635-F6C7B2F57AE7}" type="slidenum">
              <a:rPr lang="zh-CN" altLang="en-US" smtClean="0"/>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26"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27"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8"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9" name="Freeform 28"/>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1"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2"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3"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14" name="Freeform 10"/>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fld id="{F332D666-9432-40FB-94B7-5F85BA202DE9}" type="datetimeFigureOut">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2B7ECF5F-C8AA-41C2-AD88-9EF86E19F1E3}" type="slidenum">
              <a:rPr lang="zh-CN" altLang="en-US" smtClean="0"/>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a:p>
        </p:txBody>
      </p:sp>
      <p:sp>
        <p:nvSpPr>
          <p:cNvPr id="4" name="Date Placeholder 3"/>
          <p:cNvSpPr>
            <a:spLocks noGrp="1"/>
          </p:cNvSpPr>
          <p:nvPr>
            <p:ph type="dt" sz="half" idx="10"/>
          </p:nvPr>
        </p:nvSpPr>
        <p:spPr/>
        <p:txBody>
          <a:bodyPr/>
          <a:lstStyle/>
          <a:p>
            <a:pPr>
              <a:defRPr/>
            </a:pPr>
            <a:fld id="{424684FA-D821-4655-9049-8A2E71F33866}"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797B437-1718-4172-A488-6B57AC765831}"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pPr>
              <a:defRPr/>
            </a:pPr>
            <a:fld id="{3383B598-533A-4248-838E-1C61848AFB65}" type="datetimeFigureOut">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6B426FB6-2E1C-4706-A7A8-BCD43BF3AF50}" type="slidenum">
              <a:rPr lang="zh-CN" altLang="en-US" smtClean="0"/>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7"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8"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19"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0" name="Freeform 19"/>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ln>
          </p:spPr>
          <p:txBody>
            <a:bodyPr vert="horz" wrap="square" lIns="91440" tIns="45720" rIns="91440" bIns="45720" numCol="1" anchor="t" anchorCtr="0" compatLnSpc="1"/>
            <a:lstStyle/>
            <a:p>
              <a:endParaRPr lang="en-US"/>
            </a:p>
          </p:txBody>
        </p:sp>
        <p:sp>
          <p:nvSpPr>
            <p:cNvPr id="18" name="Freeform 18"/>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ln>
          </p:spPr>
          <p:txBody>
            <a:bodyPr vert="horz" wrap="square" lIns="91440" tIns="45720" rIns="91440" bIns="45720" numCol="1" anchor="t" anchorCtr="0" compatLnSpc="1"/>
            <a:lstStyle/>
            <a:p>
              <a:endParaRPr lang="en-US"/>
            </a:p>
          </p:txBody>
        </p:sp>
        <p:sp>
          <p:nvSpPr>
            <p:cNvPr id="19" name="Freeform 22"/>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p:nvSpPr>
            <p:cNvPr id="20" name="Freeform 26"/>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ln>
          </p:spPr>
          <p:txBody>
            <a:bodyPr vert="horz" wrap="square" lIns="91440" tIns="45720" rIns="91440" bIns="45720" numCol="1" anchor="t" anchorCtr="0" compatLnSpc="1"/>
            <a:lstStyle/>
            <a:p>
              <a:endParaRPr lang="en-US"/>
            </a:p>
          </p:txBody>
        </p:sp>
        <p:sp useBgFill="1">
          <p:nvSpPr>
            <p:cNvPr id="21" name="Freeform 10"/>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ln>
          </p:spPr>
          <p:txBody>
            <a:bodyPr vert="horz" wrap="square" lIns="91440" tIns="45720" rIns="91440" bIns="45720" numCol="1" anchor="t" anchorCtr="0" compatLnSpc="1"/>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pPr>
              <a:defRPr/>
            </a:pPr>
            <a:fld id="{A2BA5D7D-6DA2-49DB-843E-8E9CAA2DB28C}" type="datetimeFigureOut">
              <a:rPr lang="zh-CN" altLang="en-US" smtClean="0"/>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pPr>
              <a:defRPr/>
            </a:pPr>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pPr>
              <a:defRPr/>
            </a:pPr>
            <a:fld id="{AA2BA3A5-5D6E-46E0-A242-08C123FEC0E3}" type="slidenum">
              <a:rPr lang="zh-CN" altLang="en-US" smtClean="0"/>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anose="05050102010706020507" pitchFamily="18" charset="2"/>
        <a:buChar char=""/>
        <a:defRPr sz="2400" kern="1200">
          <a:solidFill>
            <a:schemeClr val="tx2"/>
          </a:solidFill>
          <a:latin typeface="+mn-lt"/>
          <a:ea typeface="+mn-ea"/>
          <a:cs typeface="+mn-cs"/>
        </a:defRPr>
      </a:lvl1pPr>
      <a:lvl2pPr marL="576580" indent="-274320" algn="l" defTabSz="914400" rtl="0" eaLnBrk="1" latinLnBrk="0" hangingPunct="1">
        <a:spcBef>
          <a:spcPct val="20000"/>
        </a:spcBef>
        <a:buClr>
          <a:schemeClr val="accent1"/>
        </a:buClr>
        <a:buSzPct val="100000"/>
        <a:buFont typeface="Symbol" panose="05050102010706020507" pitchFamily="18" charset="2"/>
        <a:buChar char=""/>
        <a:defRPr sz="2200" kern="1200">
          <a:solidFill>
            <a:schemeClr val="tx2"/>
          </a:solidFill>
          <a:latin typeface="+mn-lt"/>
          <a:ea typeface="+mn-ea"/>
          <a:cs typeface="+mn-cs"/>
        </a:defRPr>
      </a:lvl2pPr>
      <a:lvl3pPr marL="855980" indent="-228600" algn="l" defTabSz="914400" rtl="0" eaLnBrk="1" latinLnBrk="0" hangingPunct="1">
        <a:spcBef>
          <a:spcPct val="20000"/>
        </a:spcBef>
        <a:buClr>
          <a:schemeClr val="accent1"/>
        </a:buClr>
        <a:buSzPct val="100000"/>
        <a:buFont typeface="Symbol" panose="05050102010706020507"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anose="05050102010706020507"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anose="05050102010706020507"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5"/>
        </a:spcBef>
        <a:buClr>
          <a:schemeClr val="accent1"/>
        </a:buClr>
        <a:buFont typeface="Symbol" panose="05050102010706020507"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slide" Target="slide80.xml"/><Relationship Id="rId2" Type="http://schemas.openxmlformats.org/officeDocument/2006/relationships/slide" Target="slide63.xml"/><Relationship Id="rId1"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9.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0.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2.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4.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7.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0.png"/><Relationship Id="rId1" Type="http://schemas.openxmlformats.org/officeDocument/2006/relationships/image" Target="../media/image29.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zh-CN" altLang="zh-CN" dirty="0">
                <a:solidFill>
                  <a:srgbClr val="000000"/>
                </a:solidFill>
                <a:effectLst/>
              </a:rPr>
              <a:t>第</a:t>
            </a:r>
            <a:r>
              <a:rPr lang="en-US" altLang="zh-CN" dirty="0">
                <a:solidFill>
                  <a:srgbClr val="000000"/>
                </a:solidFill>
                <a:effectLst/>
              </a:rPr>
              <a:t>4</a:t>
            </a:r>
            <a:r>
              <a:rPr lang="zh-CN" altLang="zh-CN" dirty="0" smtClean="0">
                <a:solidFill>
                  <a:srgbClr val="000000"/>
                </a:solidFill>
                <a:effectLst/>
              </a:rPr>
              <a:t>章</a:t>
            </a:r>
            <a:r>
              <a:rPr lang="en-US" altLang="zh-CN" dirty="0" smtClean="0">
                <a:solidFill>
                  <a:srgbClr val="000000"/>
                </a:solidFill>
                <a:effectLst/>
              </a:rPr>
              <a:t>  </a:t>
            </a:r>
            <a:r>
              <a:rPr lang="zh-CN" altLang="zh-CN" dirty="0" smtClean="0">
                <a:solidFill>
                  <a:srgbClr val="000000"/>
                </a:solidFill>
                <a:effectLst/>
              </a:rPr>
              <a:t>数据库</a:t>
            </a:r>
            <a:r>
              <a:rPr lang="zh-CN" altLang="zh-CN" dirty="0">
                <a:solidFill>
                  <a:srgbClr val="000000"/>
                </a:solidFill>
                <a:effectLst/>
              </a:rPr>
              <a:t>的查询、视图和</a:t>
            </a:r>
            <a:r>
              <a:rPr lang="zh-CN" altLang="zh-CN" dirty="0" smtClean="0">
                <a:solidFill>
                  <a:srgbClr val="000000"/>
                </a:solidFill>
                <a:effectLst/>
              </a:rPr>
              <a:t>游标</a:t>
            </a:r>
            <a:endParaRPr lang="zh-CN" altLang="en-US" dirty="0">
              <a:solidFill>
                <a:srgbClr val="000000"/>
              </a:solidFill>
            </a:endParaRPr>
          </a:p>
        </p:txBody>
      </p:sp>
      <p:sp>
        <p:nvSpPr>
          <p:cNvPr id="6147" name="TextBox 4"/>
          <p:cNvSpPr txBox="1">
            <a:spLocks noChangeArrowheads="1"/>
          </p:cNvSpPr>
          <p:nvPr/>
        </p:nvSpPr>
        <p:spPr bwMode="auto">
          <a:xfrm>
            <a:off x="900113" y="2133600"/>
            <a:ext cx="4967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1" action="ppaction://hlinksldjump"/>
              </a:rPr>
              <a:t>4.1</a:t>
            </a:r>
            <a:r>
              <a:rPr lang="zh-CN" altLang="zh-CN" sz="2400" b="1">
                <a:hlinkClick r:id="rId1" action="ppaction://hlinksldjump"/>
              </a:rPr>
              <a:t>  数据库的查询：</a:t>
            </a:r>
            <a:r>
              <a:rPr lang="en-US" altLang="zh-CN" sz="2400" b="1">
                <a:hlinkClick r:id="rId1" action="ppaction://hlinksldjump"/>
              </a:rPr>
              <a:t>SELECT</a:t>
            </a:r>
            <a:endParaRPr lang="zh-CN" altLang="zh-CN" sz="2400" b="1"/>
          </a:p>
        </p:txBody>
      </p:sp>
      <p:sp>
        <p:nvSpPr>
          <p:cNvPr id="6148" name="TextBox 5"/>
          <p:cNvSpPr txBox="1">
            <a:spLocks noChangeArrowheads="1"/>
          </p:cNvSpPr>
          <p:nvPr/>
        </p:nvSpPr>
        <p:spPr bwMode="auto">
          <a:xfrm>
            <a:off x="900113" y="2827338"/>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2" action="ppaction://hlinksldjump"/>
              </a:rPr>
              <a:t>4.2  </a:t>
            </a:r>
            <a:r>
              <a:rPr lang="zh-CN" altLang="zh-CN" sz="2400" b="1">
                <a:hlinkClick r:id="rId2" action="ppaction://hlinksldjump"/>
              </a:rPr>
              <a:t>视</a:t>
            </a:r>
            <a:r>
              <a:rPr lang="en-US" altLang="zh-CN" sz="2400" b="1">
                <a:hlinkClick r:id="rId2" action="ppaction://hlinksldjump"/>
              </a:rPr>
              <a:t>    </a:t>
            </a:r>
            <a:r>
              <a:rPr lang="zh-CN" altLang="zh-CN" sz="2400" b="1">
                <a:hlinkClick r:id="rId2" action="ppaction://hlinksldjump"/>
              </a:rPr>
              <a:t>图</a:t>
            </a:r>
            <a:endParaRPr lang="zh-CN" altLang="zh-CN" sz="2400" b="1"/>
          </a:p>
        </p:txBody>
      </p:sp>
      <p:sp>
        <p:nvSpPr>
          <p:cNvPr id="6149" name="TextBox 6"/>
          <p:cNvSpPr txBox="1">
            <a:spLocks noChangeArrowheads="1"/>
          </p:cNvSpPr>
          <p:nvPr/>
        </p:nvSpPr>
        <p:spPr bwMode="auto">
          <a:xfrm>
            <a:off x="900113" y="3522663"/>
            <a:ext cx="49672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a:hlinkClick r:id="rId3" action="ppaction://hlinksldjump"/>
              </a:rPr>
              <a:t>4.3  </a:t>
            </a:r>
            <a:r>
              <a:rPr lang="zh-CN" altLang="zh-CN" sz="2400" b="1">
                <a:hlinkClick r:id="rId3" action="ppaction://hlinksldjump"/>
              </a:rPr>
              <a:t>游</a:t>
            </a:r>
            <a:r>
              <a:rPr lang="en-US" altLang="zh-CN" sz="2400" b="1">
                <a:hlinkClick r:id="rId3" action="ppaction://hlinksldjump"/>
              </a:rPr>
              <a:t>    </a:t>
            </a:r>
            <a:r>
              <a:rPr lang="zh-CN" altLang="zh-CN" sz="2400" b="1">
                <a:hlinkClick r:id="rId3" action="ppaction://hlinksldjump"/>
              </a:rPr>
              <a:t>标</a:t>
            </a:r>
            <a:endParaRPr lang="zh-CN" altLang="zh-CN" sz="2400" b="1"/>
          </a:p>
        </p:txBody>
      </p:sp>
    </p:spTree>
  </p:cSld>
  <p:clrMapOvr>
    <a:masterClrMapping/>
  </p:clrMapOvr>
  <p:transition spd="slow">
    <p:blinds dir="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41363" y="2420938"/>
            <a:ext cx="7993062" cy="542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3814763"/>
            <a:ext cx="7993063" cy="2016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a:t>
            </a:r>
            <a:r>
              <a:rPr lang="x-none" altLang="zh-CN" dirty="0">
                <a:effectLst/>
              </a:rPr>
              <a:t>  </a:t>
            </a:r>
            <a:r>
              <a:rPr lang="zh-CN" altLang="zh-CN" dirty="0">
                <a:effectLst/>
              </a:rPr>
              <a:t>数据库的查询：</a:t>
            </a:r>
            <a:r>
              <a:rPr lang="en-US" altLang="zh-CN" dirty="0" smtClean="0">
                <a:effectLst/>
              </a:rPr>
              <a:t>SELECT</a:t>
            </a:r>
            <a:endParaRPr lang="zh-CN" altLang="en-US" dirty="0"/>
          </a:p>
        </p:txBody>
      </p:sp>
      <p:sp>
        <p:nvSpPr>
          <p:cNvPr id="7173" name="TextBox 2"/>
          <p:cNvSpPr txBox="1">
            <a:spLocks noChangeArrowheads="1"/>
          </p:cNvSpPr>
          <p:nvPr/>
        </p:nvSpPr>
        <p:spPr bwMode="auto">
          <a:xfrm>
            <a:off x="371475" y="1557338"/>
            <a:ext cx="888047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当用户登录到</a:t>
            </a:r>
            <a:r>
              <a:rPr lang="en-US" altLang="zh-CN"/>
              <a:t>SQL Server</a:t>
            </a:r>
            <a:r>
              <a:rPr lang="zh-CN" altLang="zh-CN"/>
              <a:t>后，即被指定一个默认数据库，通常是</a:t>
            </a:r>
            <a:r>
              <a:rPr lang="en-US" altLang="zh-CN"/>
              <a:t>master</a:t>
            </a:r>
            <a:r>
              <a:rPr lang="zh-CN" altLang="zh-CN"/>
              <a:t>数据库。使用“</a:t>
            </a:r>
            <a:r>
              <a:rPr lang="en-US" altLang="zh-CN"/>
              <a:t>USE</a:t>
            </a:r>
            <a:r>
              <a:rPr lang="zh-CN" altLang="zh-CN"/>
              <a:t>数据库名”可以选择当前要操作的数据库。例如，要选择</a:t>
            </a:r>
            <a:r>
              <a:rPr lang="en-US" altLang="zh-CN"/>
              <a:t>pxscj</a:t>
            </a:r>
            <a:r>
              <a:rPr lang="zh-CN" altLang="zh-CN"/>
              <a:t>为当前数据库，可以使用如下语句实现：</a:t>
            </a:r>
            <a:endParaRPr lang="zh-CN" altLang="zh-CN"/>
          </a:p>
          <a:p>
            <a:pPr eaLnBrk="1" hangingPunct="1"/>
            <a:r>
              <a:rPr lang="en-US" altLang="zh-CN"/>
              <a:t>USE pxscj</a:t>
            </a:r>
            <a:endParaRPr lang="zh-CN" altLang="zh-CN"/>
          </a:p>
          <a:p>
            <a:pPr eaLnBrk="1" hangingPunct="1"/>
            <a:r>
              <a:rPr lang="en-US" altLang="zh-CN"/>
              <a:t>GO</a:t>
            </a:r>
            <a:endParaRPr lang="zh-CN" altLang="zh-CN"/>
          </a:p>
          <a:p>
            <a:pPr eaLnBrk="1" fontAlgn="ctr" hangingPunct="1"/>
            <a:r>
              <a:rPr lang="zh-CN" altLang="zh-CN"/>
              <a:t>一旦选择了当前数据库后，若对操作的数据库对象加以限定，则其后的命令均是针对当前数据库中的表或视图等进行的。</a:t>
            </a:r>
            <a:endParaRPr lang="zh-CN" altLang="zh-CN"/>
          </a:p>
          <a:p>
            <a:pPr eaLnBrk="1" fontAlgn="ctr" hangingPunct="1"/>
            <a:r>
              <a:rPr lang="zh-CN" altLang="zh-CN"/>
              <a:t>下面介绍</a:t>
            </a:r>
            <a:r>
              <a:rPr lang="en-US" altLang="zh-CN"/>
              <a:t>SELECT</a:t>
            </a:r>
            <a:r>
              <a:rPr lang="zh-CN" altLang="zh-CN"/>
              <a:t>语句，它是</a:t>
            </a:r>
            <a:r>
              <a:rPr lang="en-US" altLang="zh-CN"/>
              <a:t>T-SQL</a:t>
            </a:r>
            <a:r>
              <a:rPr lang="zh-CN" altLang="zh-CN"/>
              <a:t>的核心。语法主体格式如下：</a:t>
            </a:r>
            <a:endParaRPr lang="zh-CN" altLang="zh-CN"/>
          </a:p>
          <a:p>
            <a:pPr eaLnBrk="1" hangingPunct="1"/>
            <a:r>
              <a:rPr lang="en-US" altLang="zh-CN"/>
              <a:t>SELECT &lt;</a:t>
            </a:r>
            <a:r>
              <a:rPr lang="zh-CN" altLang="zh-CN"/>
              <a:t>输出列</a:t>
            </a:r>
            <a:r>
              <a:rPr lang="en-US" altLang="zh-CN"/>
              <a:t>&gt;		/*</a:t>
            </a:r>
            <a:r>
              <a:rPr lang="zh-CN" altLang="zh-CN"/>
              <a:t>指定查询结果输出列</a:t>
            </a:r>
            <a:r>
              <a:rPr lang="en-US" altLang="zh-CN"/>
              <a:t>*/</a:t>
            </a:r>
            <a:endParaRPr lang="zh-CN" altLang="zh-CN"/>
          </a:p>
          <a:p>
            <a:pPr eaLnBrk="1" hangingPunct="1"/>
            <a:r>
              <a:rPr lang="en-US" altLang="zh-CN"/>
              <a:t> [ INTO</a:t>
            </a:r>
            <a:r>
              <a:rPr lang="zh-CN" altLang="zh-CN"/>
              <a:t>新表</a:t>
            </a:r>
            <a:r>
              <a:rPr lang="en-US" altLang="zh-CN"/>
              <a:t>] 			/*</a:t>
            </a:r>
            <a:r>
              <a:rPr lang="zh-CN" altLang="zh-CN"/>
              <a:t>指定查询结果存入新表</a:t>
            </a:r>
            <a:r>
              <a:rPr lang="en-US" altLang="zh-CN"/>
              <a:t>*/</a:t>
            </a:r>
            <a:endParaRPr lang="zh-CN" altLang="zh-CN"/>
          </a:p>
          <a:p>
            <a:pPr eaLnBrk="1" hangingPunct="1"/>
            <a:r>
              <a:rPr lang="en-US" altLang="zh-CN"/>
              <a:t> [ FROM { &lt;</a:t>
            </a:r>
            <a:r>
              <a:rPr lang="zh-CN" altLang="zh-CN"/>
              <a:t>表源</a:t>
            </a:r>
            <a:r>
              <a:rPr lang="en-US" altLang="zh-CN"/>
              <a:t>&gt; } [ , ... ] ] 	/*</a:t>
            </a:r>
            <a:r>
              <a:rPr lang="zh-CN" altLang="zh-CN"/>
              <a:t>指定查询源：表或视图</a:t>
            </a:r>
            <a:r>
              <a:rPr lang="en-US" altLang="zh-CN"/>
              <a:t>*/</a:t>
            </a:r>
            <a:endParaRPr lang="zh-CN" altLang="zh-CN"/>
          </a:p>
          <a:p>
            <a:pPr eaLnBrk="1" hangingPunct="1"/>
            <a:r>
              <a:rPr lang="en-US" altLang="zh-CN"/>
              <a:t> [ WHERE &lt;</a:t>
            </a:r>
            <a:r>
              <a:rPr lang="zh-CN" altLang="zh-CN"/>
              <a:t>条件</a:t>
            </a:r>
            <a:r>
              <a:rPr lang="en-US" altLang="zh-CN"/>
              <a:t>&gt; ] 		 /*</a:t>
            </a:r>
            <a:r>
              <a:rPr lang="zh-CN" altLang="zh-CN"/>
              <a:t>指定查询条件</a:t>
            </a:r>
            <a:r>
              <a:rPr lang="en-US" altLang="zh-CN"/>
              <a:t>*/</a:t>
            </a:r>
            <a:endParaRPr lang="zh-CN" altLang="zh-CN"/>
          </a:p>
          <a:p>
            <a:pPr eaLnBrk="1" hangingPunct="1"/>
            <a:r>
              <a:rPr lang="en-US" altLang="zh-CN"/>
              <a:t> [GROUP BY &lt;</a:t>
            </a:r>
            <a:r>
              <a:rPr lang="zh-CN" altLang="zh-CN"/>
              <a:t>分组条件</a:t>
            </a:r>
            <a:r>
              <a:rPr lang="en-US" altLang="zh-CN"/>
              <a:t>&gt; ]  	 /*</a:t>
            </a:r>
            <a:r>
              <a:rPr lang="zh-CN" altLang="zh-CN"/>
              <a:t>指定查询结果分组条件</a:t>
            </a:r>
            <a:r>
              <a:rPr lang="en-US" altLang="zh-CN"/>
              <a:t>*/</a:t>
            </a:r>
            <a:endParaRPr lang="zh-CN" altLang="zh-CN"/>
          </a:p>
          <a:p>
            <a:pPr eaLnBrk="1" hangingPunct="1"/>
            <a:r>
              <a:rPr lang="en-US" altLang="zh-CN"/>
              <a:t> [ HAVING &lt;</a:t>
            </a:r>
            <a:r>
              <a:rPr lang="zh-CN" altLang="zh-CN"/>
              <a:t>分组统计条件</a:t>
            </a:r>
            <a:r>
              <a:rPr lang="en-US" altLang="zh-CN"/>
              <a:t>&gt;]  	/*</a:t>
            </a:r>
            <a:r>
              <a:rPr lang="zh-CN" altLang="zh-CN"/>
              <a:t>指定查询结果分组统计条件</a:t>
            </a:r>
            <a:r>
              <a:rPr lang="en-US" altLang="zh-CN"/>
              <a:t>*/</a:t>
            </a:r>
            <a:endParaRPr lang="zh-CN" altLang="zh-CN"/>
          </a:p>
          <a:p>
            <a:pPr eaLnBrk="1" hangingPunct="1"/>
            <a:r>
              <a:rPr lang="en-US" altLang="zh-CN"/>
              <a:t> [ ORDER BY &lt;</a:t>
            </a:r>
            <a:r>
              <a:rPr lang="zh-CN" altLang="zh-CN"/>
              <a:t>排序顺序</a:t>
            </a:r>
            <a:r>
              <a:rPr lang="en-US" altLang="zh-CN"/>
              <a:t>&gt;] 	/*</a:t>
            </a:r>
            <a:r>
              <a:rPr lang="zh-CN" altLang="zh-CN"/>
              <a:t>指定查询结果排序顺序</a:t>
            </a:r>
            <a:r>
              <a:rPr lang="en-US" altLang="zh-CN"/>
              <a:t>*/</a:t>
            </a:r>
            <a:endParaRPr lang="zh-CN" altLang="en-US"/>
          </a:p>
        </p:txBody>
      </p:sp>
    </p:spTree>
  </p:cSld>
  <p:clrMapOvr>
    <a:masterClrMapping/>
  </p:clrMapOvr>
  <p:transition spd="slow">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63588" y="4868863"/>
            <a:ext cx="7993062"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384425"/>
            <a:ext cx="7993063" cy="1295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zh-CN" dirty="0">
              <a:effectLst/>
            </a:endParaRPr>
          </a:p>
        </p:txBody>
      </p:sp>
      <p:sp>
        <p:nvSpPr>
          <p:cNvPr id="3" name="TextBox 2"/>
          <p:cNvSpPr txBox="1"/>
          <p:nvPr/>
        </p:nvSpPr>
        <p:spPr>
          <a:xfrm>
            <a:off x="395288" y="1484313"/>
            <a:ext cx="8353425" cy="4524375"/>
          </a:xfrm>
          <a:prstGeom prst="rect">
            <a:avLst/>
          </a:prstGeom>
          <a:noFill/>
        </p:spPr>
        <p:txBody>
          <a:bodyPr>
            <a:spAutoFit/>
          </a:bodyPr>
          <a:lstStyle/>
          <a:p>
            <a:pPr indent="446405" fontAlgn="auto">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．选择所有列</a:t>
            </a:r>
            <a:endParaRPr lang="zh-CN" altLang="zh-CN" b="1" dirty="0">
              <a:solidFill>
                <a:srgbClr val="C00000"/>
              </a:solidFill>
              <a:latin typeface="+mn-lt"/>
              <a:ea typeface="+mn-ea"/>
            </a:endParaRPr>
          </a:p>
          <a:p>
            <a:pPr indent="446405" fontAlgn="ctr">
              <a:spcBef>
                <a:spcPts val="0"/>
              </a:spcBef>
              <a:spcAft>
                <a:spcPts val="0"/>
              </a:spcAft>
              <a:defRPr/>
            </a:pPr>
            <a:r>
              <a:rPr lang="zh-CN" altLang="zh-CN" dirty="0">
                <a:latin typeface="+mn-lt"/>
                <a:ea typeface="+mn-ea"/>
              </a:rPr>
              <a:t>使用“</a:t>
            </a:r>
            <a:r>
              <a:rPr lang="en-US" altLang="zh-CN" dirty="0">
                <a:latin typeface="+mn-lt"/>
                <a:ea typeface="+mn-ea"/>
              </a:rPr>
              <a:t>*</a:t>
            </a:r>
            <a:r>
              <a:rPr lang="zh-CN" altLang="zh-CN" dirty="0">
                <a:latin typeface="+mn-lt"/>
                <a:ea typeface="+mn-ea"/>
              </a:rPr>
              <a:t>”表示选择一个表或视图中的所有列。</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a:t>
            </a:r>
            <a:r>
              <a:rPr lang="en-US" altLang="zh-CN" dirty="0">
                <a:latin typeface="+mn-lt"/>
                <a:ea typeface="+mn-ea"/>
              </a:rPr>
              <a:t>4.1</a:t>
            </a:r>
            <a:r>
              <a:rPr lang="zh-CN" altLang="zh-CN" dirty="0">
                <a:latin typeface="+mn-lt"/>
                <a:ea typeface="+mn-ea"/>
              </a:rPr>
              <a:t>】 查询</a:t>
            </a:r>
            <a:r>
              <a:rPr lang="en-US" altLang="zh-CN" dirty="0" err="1">
                <a:latin typeface="+mn-lt"/>
                <a:ea typeface="+mn-ea"/>
              </a:rPr>
              <a:t>pxscj</a:t>
            </a:r>
            <a:r>
              <a:rPr lang="zh-CN" altLang="zh-CN" dirty="0">
                <a:latin typeface="+mn-lt"/>
                <a:ea typeface="+mn-ea"/>
              </a:rPr>
              <a:t>数据库中</a:t>
            </a:r>
            <a:r>
              <a:rPr lang="en-US" altLang="zh-CN" dirty="0" err="1">
                <a:latin typeface="+mn-lt"/>
                <a:ea typeface="+mn-ea"/>
              </a:rPr>
              <a:t>xsb</a:t>
            </a:r>
            <a:r>
              <a:rPr lang="zh-CN" altLang="zh-CN" dirty="0">
                <a:latin typeface="+mn-lt"/>
                <a:ea typeface="+mn-ea"/>
              </a:rPr>
              <a:t>表的所有数据。</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b="1" dirty="0">
                <a:solidFill>
                  <a:srgbClr val="C00000"/>
                </a:solidFill>
                <a:latin typeface="+mn-lt"/>
                <a:ea typeface="+mn-ea"/>
              </a:rPr>
              <a:t>2</a:t>
            </a:r>
            <a:r>
              <a:rPr lang="zh-CN" altLang="zh-CN" b="1" dirty="0">
                <a:solidFill>
                  <a:srgbClr val="C00000"/>
                </a:solidFill>
                <a:latin typeface="+mn-lt"/>
                <a:ea typeface="+mn-ea"/>
              </a:rPr>
              <a:t>．选择一个表中指定的列</a:t>
            </a:r>
            <a:endParaRPr lang="zh-CN" altLang="zh-CN" b="1" dirty="0">
              <a:solidFill>
                <a:srgbClr val="C00000"/>
              </a:solidFill>
              <a:latin typeface="+mn-lt"/>
              <a:ea typeface="+mn-ea"/>
            </a:endParaRPr>
          </a:p>
          <a:p>
            <a:pPr indent="446405" fontAlgn="ctr">
              <a:spcBef>
                <a:spcPts val="0"/>
              </a:spcBef>
              <a:spcAft>
                <a:spcPts val="0"/>
              </a:spcAft>
              <a:defRPr/>
            </a:pPr>
            <a:r>
              <a:rPr lang="zh-CN" altLang="zh-CN" dirty="0">
                <a:latin typeface="+mn-lt"/>
                <a:ea typeface="+mn-ea"/>
              </a:rPr>
              <a:t>使用</a:t>
            </a:r>
            <a:r>
              <a:rPr lang="en-US" altLang="zh-CN" dirty="0">
                <a:latin typeface="+mn-lt"/>
                <a:ea typeface="+mn-ea"/>
              </a:rPr>
              <a:t>SELECT</a:t>
            </a:r>
            <a:r>
              <a:rPr lang="zh-CN" altLang="zh-CN" dirty="0">
                <a:latin typeface="+mn-lt"/>
                <a:ea typeface="+mn-ea"/>
              </a:rPr>
              <a:t>语句选择一个表中的某些列，各列名之间要以逗号分隔。</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a:t>
            </a:r>
            <a:r>
              <a:rPr lang="en-US" altLang="zh-CN" dirty="0">
                <a:latin typeface="+mn-lt"/>
                <a:ea typeface="+mn-ea"/>
              </a:rPr>
              <a:t>4.2</a:t>
            </a:r>
            <a:r>
              <a:rPr lang="zh-CN" altLang="zh-CN" dirty="0">
                <a:latin typeface="+mn-lt"/>
                <a:ea typeface="+mn-ea"/>
              </a:rPr>
              <a:t>】 查询</a:t>
            </a:r>
            <a:r>
              <a:rPr lang="en-US" altLang="zh-CN" dirty="0" err="1">
                <a:latin typeface="+mn-lt"/>
                <a:ea typeface="+mn-ea"/>
              </a:rPr>
              <a:t>xsb</a:t>
            </a:r>
            <a:r>
              <a:rPr lang="zh-CN" altLang="zh-CN" dirty="0">
                <a:latin typeface="+mn-lt"/>
                <a:ea typeface="+mn-ea"/>
              </a:rPr>
              <a:t>表中计算机专业同学的学号、姓名和总学分，查询</a:t>
            </a:r>
            <a:r>
              <a:rPr lang="en-US" altLang="zh-CN" dirty="0" err="1">
                <a:latin typeface="+mn-lt"/>
                <a:ea typeface="+mn-ea"/>
              </a:rPr>
              <a:t>xsb</a:t>
            </a:r>
            <a:r>
              <a:rPr lang="zh-CN" altLang="zh-CN" dirty="0">
                <a:latin typeface="+mn-lt"/>
                <a:ea typeface="+mn-ea"/>
              </a:rPr>
              <a:t>表中所有列。</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a:t>
            </a:r>
            <a:r>
              <a:rPr lang="zh-CN" altLang="zh-CN" dirty="0">
                <a:latin typeface="+mn-lt"/>
                <a:ea typeface="+mn-ea"/>
              </a:rPr>
              <a:t>学号</a:t>
            </a:r>
            <a:r>
              <a:rPr lang="en-US" altLang="zh-CN" dirty="0">
                <a:latin typeface="+mn-lt"/>
                <a:ea typeface="+mn-ea"/>
              </a:rPr>
              <a:t>, </a:t>
            </a:r>
            <a:r>
              <a:rPr lang="zh-CN" altLang="zh-CN" dirty="0">
                <a:latin typeface="+mn-lt"/>
                <a:ea typeface="+mn-ea"/>
              </a:rPr>
              <a:t>姓名</a:t>
            </a:r>
            <a:r>
              <a:rPr lang="en-US" altLang="zh-CN" dirty="0">
                <a:latin typeface="+mn-lt"/>
                <a:ea typeface="+mn-ea"/>
              </a:rPr>
              <a:t>, </a:t>
            </a:r>
            <a:r>
              <a:rPr lang="zh-CN" altLang="zh-CN" dirty="0">
                <a:latin typeface="+mn-lt"/>
                <a:ea typeface="+mn-ea"/>
              </a:rPr>
              <a:t>总学分</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专业</a:t>
            </a:r>
            <a:r>
              <a:rPr lang="en-US" altLang="zh-CN" dirty="0">
                <a:latin typeface="+mn-lt"/>
                <a:ea typeface="+mn-ea"/>
              </a:rPr>
              <a:t> = '</a:t>
            </a:r>
            <a:r>
              <a:rPr lang="zh-CN" altLang="zh-CN" dirty="0">
                <a:latin typeface="+mn-lt"/>
                <a:ea typeface="+mn-ea"/>
              </a:rPr>
              <a:t>计算机</a:t>
            </a:r>
            <a:r>
              <a:rPr lang="en-US" altLang="zh-CN" dirty="0">
                <a:latin typeface="+mn-lt"/>
                <a:ea typeface="+mn-ea"/>
              </a:rPr>
              <a:t>'</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9219" name="矩形 2"/>
          <p:cNvSpPr>
            <a:spLocks noChangeArrowheads="1"/>
          </p:cNvSpPr>
          <p:nvPr/>
        </p:nvSpPr>
        <p:spPr bwMode="auto">
          <a:xfrm>
            <a:off x="1068388" y="1341438"/>
            <a:ext cx="34766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ctr"/>
            <a:r>
              <a:rPr lang="zh-CN" altLang="zh-CN"/>
              <a:t>执行后的结果窗口如图</a:t>
            </a:r>
            <a:r>
              <a:rPr lang="en-US" altLang="zh-CN"/>
              <a:t>4.1</a:t>
            </a:r>
            <a:r>
              <a:rPr lang="zh-CN" altLang="zh-CN"/>
              <a:t>所示。</a:t>
            </a:r>
            <a:endParaRPr lang="zh-CN" altLang="zh-CN"/>
          </a:p>
        </p:txBody>
      </p:sp>
      <p:pic>
        <p:nvPicPr>
          <p:cNvPr id="922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86000" y="1844675"/>
            <a:ext cx="4589463" cy="402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10243" name="TextBox 2"/>
          <p:cNvSpPr txBox="1">
            <a:spLocks noChangeArrowheads="1"/>
          </p:cNvSpPr>
          <p:nvPr/>
        </p:nvSpPr>
        <p:spPr bwMode="auto">
          <a:xfrm>
            <a:off x="468313" y="1412875"/>
            <a:ext cx="820737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．定义列别名</a:t>
            </a:r>
            <a:endParaRPr lang="zh-CN" altLang="zh-CN" b="1">
              <a:solidFill>
                <a:srgbClr val="C00000"/>
              </a:solidFill>
            </a:endParaRPr>
          </a:p>
          <a:p>
            <a:pPr eaLnBrk="1" fontAlgn="ctr" hangingPunct="1"/>
            <a:r>
              <a:rPr lang="zh-CN" altLang="zh-CN"/>
              <a:t>【例</a:t>
            </a:r>
            <a:r>
              <a:rPr lang="en-US" altLang="zh-CN"/>
              <a:t>4.3</a:t>
            </a:r>
            <a:r>
              <a:rPr lang="zh-CN" altLang="zh-CN"/>
              <a:t>】 查询</a:t>
            </a:r>
            <a:r>
              <a:rPr lang="en-US" altLang="zh-CN"/>
              <a:t>xsb</a:t>
            </a:r>
            <a:r>
              <a:rPr lang="zh-CN" altLang="zh-CN"/>
              <a:t>表中计算机系同学的学号、姓名和总学分，结果中各列的标题分别指定为</a:t>
            </a:r>
            <a:r>
              <a:rPr lang="en-US" altLang="zh-CN"/>
              <a:t>number</a:t>
            </a:r>
            <a:r>
              <a:rPr lang="zh-CN" altLang="zh-CN"/>
              <a:t>、</a:t>
            </a:r>
            <a:r>
              <a:rPr lang="en-US" altLang="zh-CN"/>
              <a:t>name</a:t>
            </a:r>
            <a:r>
              <a:rPr lang="zh-CN" altLang="zh-CN"/>
              <a:t>和</a:t>
            </a:r>
            <a:r>
              <a:rPr lang="en-US" altLang="zh-CN"/>
              <a:t>mark</a:t>
            </a:r>
            <a:r>
              <a:rPr lang="zh-CN" altLang="zh-CN"/>
              <a:t>。代码如下，执行结果如图</a:t>
            </a:r>
            <a:r>
              <a:rPr lang="en-US" altLang="zh-CN"/>
              <a:t>4.2</a:t>
            </a:r>
            <a:r>
              <a:rPr lang="zh-CN" altLang="zh-CN"/>
              <a:t>所示。</a:t>
            </a:r>
            <a:endParaRPr lang="zh-CN" altLang="zh-CN"/>
          </a:p>
          <a:p>
            <a:pPr eaLnBrk="1" hangingPunct="1"/>
            <a:endParaRPr lang="zh-CN" altLang="en-US"/>
          </a:p>
        </p:txBody>
      </p:sp>
      <p:pic>
        <p:nvPicPr>
          <p:cNvPr id="1024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08288" y="2420938"/>
            <a:ext cx="3527425" cy="351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088" y="4005263"/>
            <a:ext cx="7848600"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27088" y="2781300"/>
            <a:ext cx="7848600"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1484313"/>
            <a:ext cx="7848600" cy="8651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11270" name="TextBox 2"/>
          <p:cNvSpPr txBox="1">
            <a:spLocks noChangeArrowheads="1"/>
          </p:cNvSpPr>
          <p:nvPr/>
        </p:nvSpPr>
        <p:spPr bwMode="auto">
          <a:xfrm>
            <a:off x="468313" y="1484313"/>
            <a:ext cx="8207375"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a:t>SELECT</a:t>
            </a:r>
            <a:r>
              <a:rPr lang="zh-CN" altLang="zh-CN"/>
              <a:t>学号</a:t>
            </a:r>
            <a:r>
              <a:rPr lang="en-US" altLang="zh-CN"/>
              <a:t>AS number, </a:t>
            </a:r>
            <a:r>
              <a:rPr lang="zh-CN" altLang="zh-CN"/>
              <a:t>姓名</a:t>
            </a:r>
            <a:r>
              <a:rPr lang="en-US" altLang="zh-CN"/>
              <a:t>AS name, </a:t>
            </a:r>
            <a:r>
              <a:rPr lang="zh-CN" altLang="zh-CN"/>
              <a:t>总学分</a:t>
            </a:r>
            <a:r>
              <a:rPr lang="en-US" altLang="zh-CN"/>
              <a:t>AS mark</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计算机</a:t>
            </a:r>
            <a:r>
              <a:rPr lang="en-US" altLang="zh-CN"/>
              <a:t>'</a:t>
            </a:r>
            <a:endParaRPr lang="zh-CN" altLang="zh-CN"/>
          </a:p>
          <a:p>
            <a:pPr eaLnBrk="1" fontAlgn="ctr" hangingPunct="1">
              <a:lnSpc>
                <a:spcPct val="150000"/>
              </a:lnSpc>
            </a:pPr>
            <a:r>
              <a:rPr lang="zh-CN" altLang="zh-CN"/>
              <a:t>更改查询结果中的列标题也可以使用“列别名</a:t>
            </a:r>
            <a:r>
              <a:rPr lang="en-US" altLang="zh-CN"/>
              <a:t>=</a:t>
            </a:r>
            <a:r>
              <a:rPr lang="zh-CN" altLang="zh-CN"/>
              <a:t>表达式”的形式。例如：</a:t>
            </a:r>
            <a:endParaRPr lang="zh-CN" altLang="zh-CN"/>
          </a:p>
          <a:p>
            <a:pPr eaLnBrk="1" hangingPunct="1"/>
            <a:r>
              <a:rPr lang="en-US" altLang="zh-CN"/>
              <a:t>SELECT  number = </a:t>
            </a:r>
            <a:r>
              <a:rPr lang="zh-CN" altLang="zh-CN"/>
              <a:t>学号</a:t>
            </a:r>
            <a:r>
              <a:rPr lang="en-US" altLang="zh-CN"/>
              <a:t>, name = </a:t>
            </a:r>
            <a:r>
              <a:rPr lang="zh-CN" altLang="zh-CN"/>
              <a:t>姓名</a:t>
            </a:r>
            <a:r>
              <a:rPr lang="en-US" altLang="zh-CN"/>
              <a:t>, mark = </a:t>
            </a:r>
            <a:r>
              <a:rPr lang="zh-CN" altLang="zh-CN"/>
              <a:t>总学分</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计算机</a:t>
            </a:r>
            <a:r>
              <a:rPr lang="en-US" altLang="zh-CN"/>
              <a:t>'</a:t>
            </a:r>
            <a:endParaRPr lang="zh-CN" altLang="zh-CN"/>
          </a:p>
          <a:p>
            <a:pPr eaLnBrk="1" fontAlgn="ctr" hangingPunct="1">
              <a:lnSpc>
                <a:spcPct val="150000"/>
              </a:lnSpc>
            </a:pPr>
            <a:r>
              <a:rPr lang="zh-CN" altLang="zh-CN"/>
              <a:t>当自定义的列标题中含有空格时，必须使用引号将标题括起来。例如：</a:t>
            </a:r>
            <a:endParaRPr lang="zh-CN" altLang="zh-CN"/>
          </a:p>
          <a:p>
            <a:pPr eaLnBrk="1" hangingPunct="1"/>
            <a:r>
              <a:rPr lang="en-US" altLang="zh-CN"/>
              <a:t>SELECT  'Student number ' = </a:t>
            </a:r>
            <a:r>
              <a:rPr lang="zh-CN" altLang="zh-CN"/>
              <a:t>学号</a:t>
            </a:r>
            <a:r>
              <a:rPr lang="en-US" altLang="zh-CN"/>
              <a:t>,</a:t>
            </a:r>
            <a:r>
              <a:rPr lang="zh-CN" altLang="zh-CN"/>
              <a:t>姓名</a:t>
            </a:r>
            <a:r>
              <a:rPr lang="en-US" altLang="zh-CN"/>
              <a:t>AS  'Student name', mark = </a:t>
            </a:r>
            <a:r>
              <a:rPr lang="zh-CN" altLang="zh-CN"/>
              <a:t>总学分</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计算机</a:t>
            </a:r>
            <a:r>
              <a:rPr lang="en-US" altLang="zh-CN"/>
              <a:t>'</a:t>
            </a:r>
            <a:endParaRPr lang="zh-CN" altLang="zh-CN"/>
          </a:p>
          <a:p>
            <a:pPr eaLnBrk="1" hangingPunct="1"/>
            <a:endParaRPr lang="zh-CN" altLang="en-US"/>
          </a:p>
        </p:txBody>
      </p:sp>
    </p:spTree>
  </p:cSld>
  <p:clrMapOvr>
    <a:masterClrMapping/>
  </p:clrMapOvr>
  <p:transition spd="slow">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036763"/>
            <a:ext cx="7775575" cy="15843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12292" name="TextBox 2"/>
          <p:cNvSpPr txBox="1">
            <a:spLocks noChangeArrowheads="1"/>
          </p:cNvSpPr>
          <p:nvPr/>
        </p:nvSpPr>
        <p:spPr bwMode="auto">
          <a:xfrm>
            <a:off x="468313" y="1412875"/>
            <a:ext cx="8207375"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4</a:t>
            </a:r>
            <a:r>
              <a:rPr lang="zh-CN" altLang="zh-CN" b="1">
                <a:solidFill>
                  <a:srgbClr val="C00000"/>
                </a:solidFill>
              </a:rPr>
              <a:t>．替换查询结果中的数据</a:t>
            </a:r>
            <a:endParaRPr lang="zh-CN" altLang="zh-CN" b="1">
              <a:solidFill>
                <a:srgbClr val="C00000"/>
              </a:solidFill>
            </a:endParaRPr>
          </a:p>
          <a:p>
            <a:pPr eaLnBrk="1" fontAlgn="ctr" hangingPunct="1"/>
            <a:r>
              <a:rPr lang="zh-CN" altLang="zh-CN"/>
              <a:t>要替换查询结果中的数据，则要使用查询中的</a:t>
            </a:r>
            <a:r>
              <a:rPr lang="en-US" altLang="zh-CN"/>
              <a:t>CASE</a:t>
            </a:r>
            <a:r>
              <a:rPr lang="zh-CN" altLang="zh-CN"/>
              <a:t>表达式，格式为：</a:t>
            </a:r>
            <a:endParaRPr lang="zh-CN" altLang="zh-CN"/>
          </a:p>
          <a:p>
            <a:pPr eaLnBrk="1" hangingPunct="1"/>
            <a:r>
              <a:rPr lang="en-US" altLang="zh-CN"/>
              <a:t>CASE</a:t>
            </a:r>
            <a:endParaRPr lang="zh-CN" altLang="zh-CN"/>
          </a:p>
          <a:p>
            <a:pPr eaLnBrk="1" hangingPunct="1"/>
            <a:r>
              <a:rPr lang="en-US" altLang="zh-CN"/>
              <a:t>     WHEN</a:t>
            </a:r>
            <a:r>
              <a:rPr lang="zh-CN" altLang="zh-CN"/>
              <a:t>条件</a:t>
            </a:r>
            <a:r>
              <a:rPr lang="en-US" altLang="zh-CN"/>
              <a:t>1 THEN</a:t>
            </a:r>
            <a:r>
              <a:rPr lang="zh-CN" altLang="zh-CN"/>
              <a:t>表达式</a:t>
            </a:r>
            <a:r>
              <a:rPr lang="en-US" altLang="zh-CN"/>
              <a:t>1</a:t>
            </a:r>
            <a:endParaRPr lang="zh-CN" altLang="zh-CN"/>
          </a:p>
          <a:p>
            <a:pPr eaLnBrk="1" hangingPunct="1"/>
            <a:r>
              <a:rPr lang="en-US" altLang="zh-CN"/>
              <a:t>     WHEN</a:t>
            </a:r>
            <a:r>
              <a:rPr lang="zh-CN" altLang="zh-CN"/>
              <a:t>条件</a:t>
            </a:r>
            <a:r>
              <a:rPr lang="en-US" altLang="zh-CN"/>
              <a:t>2 THEN</a:t>
            </a:r>
            <a:r>
              <a:rPr lang="zh-CN" altLang="zh-CN"/>
              <a:t>表达式</a:t>
            </a:r>
            <a:r>
              <a:rPr lang="en-US" altLang="zh-CN"/>
              <a:t>2</a:t>
            </a:r>
            <a:endParaRPr lang="zh-CN" altLang="zh-CN"/>
          </a:p>
          <a:p>
            <a:pPr eaLnBrk="1" hangingPunct="1"/>
            <a:r>
              <a:rPr lang="en-US" altLang="zh-CN"/>
              <a:t>        ……</a:t>
            </a:r>
            <a:endParaRPr lang="zh-CN" altLang="zh-CN"/>
          </a:p>
          <a:p>
            <a:pPr eaLnBrk="1" hangingPunct="1"/>
            <a:r>
              <a:rPr lang="en-US" altLang="zh-CN"/>
              <a:t>     ELSE</a:t>
            </a:r>
            <a:r>
              <a:rPr lang="zh-CN" altLang="zh-CN"/>
              <a:t>表达式</a:t>
            </a:r>
            <a:endParaRPr lang="zh-CN" altLang="zh-CN"/>
          </a:p>
          <a:p>
            <a:pPr eaLnBrk="1" hangingPunct="1"/>
            <a:r>
              <a:rPr lang="en-US" altLang="zh-CN"/>
              <a:t>END</a:t>
            </a:r>
            <a:endParaRPr lang="zh-CN" altLang="zh-CN"/>
          </a:p>
          <a:p>
            <a:pPr eaLnBrk="1" fontAlgn="ctr" hangingPunct="1"/>
            <a:r>
              <a:rPr lang="zh-CN" altLang="zh-CN"/>
              <a:t>【例</a:t>
            </a:r>
            <a:r>
              <a:rPr lang="en-US" altLang="zh-CN"/>
              <a:t>4.4</a:t>
            </a:r>
            <a:r>
              <a:rPr lang="zh-CN" altLang="zh-CN"/>
              <a:t>】 查询</a:t>
            </a:r>
            <a:r>
              <a:rPr lang="en-US" altLang="zh-CN"/>
              <a:t>xsb</a:t>
            </a:r>
            <a:r>
              <a:rPr lang="zh-CN" altLang="zh-CN"/>
              <a:t>表中计算机系各同学的学号、姓名和总学分，对其总学分按以下规则进行替换：若总学分为空值，则替换为“尚未选课”；若总学分小于</a:t>
            </a:r>
            <a:r>
              <a:rPr lang="en-US" altLang="zh-CN"/>
              <a:t>50</a:t>
            </a:r>
            <a:r>
              <a:rPr lang="zh-CN" altLang="zh-CN"/>
              <a:t>，则替换为“不及格”；若总学分在</a:t>
            </a:r>
            <a:r>
              <a:rPr lang="en-US" altLang="zh-CN"/>
              <a:t>50</a:t>
            </a:r>
            <a:r>
              <a:rPr lang="zh-CN" altLang="zh-CN"/>
              <a:t>与</a:t>
            </a:r>
            <a:r>
              <a:rPr lang="en-US" altLang="zh-CN"/>
              <a:t>52</a:t>
            </a:r>
            <a:r>
              <a:rPr lang="zh-CN" altLang="zh-CN"/>
              <a:t>之间，则替换为“合格”；若总学分大于</a:t>
            </a:r>
            <a:r>
              <a:rPr lang="en-US" altLang="zh-CN"/>
              <a:t>52</a:t>
            </a:r>
            <a:r>
              <a:rPr lang="zh-CN" altLang="zh-CN"/>
              <a:t>，则替换为“优秀”。列标题更改为“等级”。</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700213"/>
            <a:ext cx="7775575" cy="33131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3" name="TextBox 2"/>
          <p:cNvSpPr txBox="1"/>
          <p:nvPr/>
        </p:nvSpPr>
        <p:spPr>
          <a:xfrm>
            <a:off x="468313" y="1412875"/>
            <a:ext cx="8207375" cy="3970338"/>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代码如下，执行结果如图</a:t>
            </a:r>
            <a:r>
              <a:rPr lang="en-US" altLang="zh-CN" dirty="0">
                <a:latin typeface="+mn-lt"/>
                <a:ea typeface="+mn-ea"/>
              </a:rPr>
              <a:t>4.3</a:t>
            </a:r>
            <a:r>
              <a:rPr lang="zh-CN" altLang="zh-CN" dirty="0">
                <a:latin typeface="+mn-lt"/>
                <a:ea typeface="+mn-ea"/>
              </a:rPr>
              <a:t>所示。</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a:t>
            </a:r>
            <a:r>
              <a:rPr lang="zh-CN" altLang="zh-CN" dirty="0">
                <a:latin typeface="+mn-lt"/>
                <a:ea typeface="+mn-ea"/>
              </a:rPr>
              <a:t>学号</a:t>
            </a:r>
            <a:r>
              <a:rPr lang="en-US" altLang="zh-CN" dirty="0">
                <a:latin typeface="+mn-lt"/>
                <a:ea typeface="+mn-ea"/>
              </a:rPr>
              <a:t>, </a:t>
            </a:r>
            <a:r>
              <a:rPr lang="zh-CN" altLang="zh-CN" dirty="0">
                <a:latin typeface="+mn-lt"/>
                <a:ea typeface="+mn-ea"/>
              </a:rPr>
              <a:t>姓名</a:t>
            </a:r>
            <a:r>
              <a:rPr lang="en-US" altLang="zh-CN" dirty="0">
                <a:latin typeface="+mn-lt"/>
                <a:ea typeface="+mn-ea"/>
              </a:rPr>
              <a:t>, </a:t>
            </a:r>
            <a:r>
              <a:rPr lang="zh-CN" altLang="zh-CN" dirty="0">
                <a:latin typeface="+mn-lt"/>
                <a:ea typeface="+mn-ea"/>
              </a:rPr>
              <a:t>等级</a:t>
            </a: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CASE</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WHEN</a:t>
            </a:r>
            <a:r>
              <a:rPr lang="zh-CN" altLang="zh-CN" dirty="0">
                <a:latin typeface="+mn-lt"/>
                <a:ea typeface="+mn-ea"/>
              </a:rPr>
              <a:t>总学分</a:t>
            </a:r>
            <a:r>
              <a:rPr lang="en-US" altLang="zh-CN" dirty="0">
                <a:latin typeface="+mn-lt"/>
                <a:ea typeface="+mn-ea"/>
              </a:rPr>
              <a:t>IS NULL THEN '</a:t>
            </a:r>
            <a:r>
              <a:rPr lang="zh-CN" altLang="zh-CN" dirty="0">
                <a:latin typeface="+mn-lt"/>
                <a:ea typeface="+mn-ea"/>
              </a:rPr>
              <a:t>尚未选课</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WHEN</a:t>
            </a:r>
            <a:r>
              <a:rPr lang="zh-CN" altLang="zh-CN" dirty="0">
                <a:latin typeface="+mn-lt"/>
                <a:ea typeface="+mn-ea"/>
              </a:rPr>
              <a:t>总学分</a:t>
            </a:r>
            <a:r>
              <a:rPr lang="en-US" altLang="zh-CN" dirty="0">
                <a:latin typeface="+mn-lt"/>
                <a:ea typeface="+mn-ea"/>
              </a:rPr>
              <a:t> &lt; 50 THEN '</a:t>
            </a:r>
            <a:r>
              <a:rPr lang="zh-CN" altLang="zh-CN" dirty="0">
                <a:latin typeface="+mn-lt"/>
                <a:ea typeface="+mn-ea"/>
              </a:rPr>
              <a:t>不及格</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WHEN</a:t>
            </a:r>
            <a:r>
              <a:rPr lang="zh-CN" altLang="zh-CN" dirty="0">
                <a:latin typeface="+mn-lt"/>
                <a:ea typeface="+mn-ea"/>
              </a:rPr>
              <a:t>总学分</a:t>
            </a:r>
            <a:r>
              <a:rPr lang="en-US" altLang="zh-CN" dirty="0">
                <a:latin typeface="+mn-lt"/>
                <a:ea typeface="+mn-ea"/>
              </a:rPr>
              <a:t> &gt;=50 and</a:t>
            </a:r>
            <a:r>
              <a:rPr lang="zh-CN" altLang="zh-CN" dirty="0">
                <a:latin typeface="+mn-lt"/>
                <a:ea typeface="+mn-ea"/>
              </a:rPr>
              <a:t>总学分</a:t>
            </a:r>
            <a:r>
              <a:rPr lang="en-US" altLang="zh-CN" dirty="0">
                <a:latin typeface="+mn-lt"/>
                <a:ea typeface="+mn-ea"/>
              </a:rPr>
              <a:t>&lt;=52 THEN '</a:t>
            </a:r>
            <a:r>
              <a:rPr lang="zh-CN" altLang="zh-CN" dirty="0">
                <a:latin typeface="+mn-lt"/>
                <a:ea typeface="+mn-ea"/>
              </a:rPr>
              <a:t>合格</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ELSE '</a:t>
            </a:r>
            <a:r>
              <a:rPr lang="zh-CN" altLang="zh-CN" dirty="0">
                <a:latin typeface="+mn-lt"/>
                <a:ea typeface="+mn-ea"/>
              </a:rPr>
              <a:t>优秀</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END</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专业</a:t>
            </a:r>
            <a:r>
              <a:rPr lang="en-US" altLang="zh-CN" dirty="0">
                <a:latin typeface="+mn-lt"/>
                <a:ea typeface="+mn-ea"/>
              </a:rPr>
              <a:t>= '</a:t>
            </a:r>
            <a:r>
              <a:rPr lang="zh-CN" altLang="zh-CN" dirty="0">
                <a:latin typeface="+mn-lt"/>
                <a:ea typeface="+mn-ea"/>
              </a:rPr>
              <a:t>计算机</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1331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659563" y="2212975"/>
            <a:ext cx="2016125" cy="279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121025"/>
            <a:ext cx="7848600" cy="13874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276475"/>
            <a:ext cx="7848600"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14341" name="TextBox 2"/>
          <p:cNvSpPr txBox="1">
            <a:spLocks noChangeArrowheads="1"/>
          </p:cNvSpPr>
          <p:nvPr/>
        </p:nvSpPr>
        <p:spPr bwMode="auto">
          <a:xfrm>
            <a:off x="468313" y="1412875"/>
            <a:ext cx="8280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5</a:t>
            </a:r>
            <a:r>
              <a:rPr lang="zh-CN" altLang="zh-CN" b="1">
                <a:solidFill>
                  <a:srgbClr val="C00000"/>
                </a:solidFill>
              </a:rPr>
              <a:t>．计算列值</a:t>
            </a:r>
            <a:endParaRPr lang="zh-CN" altLang="zh-CN" b="1">
              <a:solidFill>
                <a:srgbClr val="C00000"/>
              </a:solidFill>
            </a:endParaRPr>
          </a:p>
          <a:p>
            <a:pPr eaLnBrk="1" fontAlgn="ctr" hangingPunct="1"/>
            <a:r>
              <a:rPr lang="zh-CN" altLang="zh-CN"/>
              <a:t>使用</a:t>
            </a:r>
            <a:r>
              <a:rPr lang="en-US" altLang="zh-CN"/>
              <a:t>SELECT</a:t>
            </a:r>
            <a:r>
              <a:rPr lang="zh-CN" altLang="zh-CN"/>
              <a:t>对列进行查询时，在结果中可以输出对列值计算后的值，即</a:t>
            </a:r>
            <a:r>
              <a:rPr lang="en-US" altLang="zh-CN"/>
              <a:t>SELECT</a:t>
            </a:r>
            <a:r>
              <a:rPr lang="zh-CN" altLang="zh-CN"/>
              <a:t>子句可使用表达式作为结果，格式为：</a:t>
            </a:r>
            <a:endParaRPr lang="zh-CN" altLang="zh-CN"/>
          </a:p>
          <a:p>
            <a:pPr eaLnBrk="1" hangingPunct="1"/>
            <a:r>
              <a:rPr lang="en-US" altLang="zh-CN"/>
              <a:t>SELECT</a:t>
            </a:r>
            <a:r>
              <a:rPr lang="zh-CN" altLang="zh-CN"/>
              <a:t>表达式</a:t>
            </a:r>
            <a:r>
              <a:rPr lang="en-US" altLang="zh-CN"/>
              <a:t>[ , </a:t>
            </a:r>
            <a:r>
              <a:rPr lang="zh-CN" altLang="zh-CN"/>
              <a:t>表达式</a:t>
            </a:r>
            <a:r>
              <a:rPr lang="en-US" altLang="zh-CN"/>
              <a:t>]</a:t>
            </a:r>
            <a:endParaRPr lang="zh-CN" altLang="zh-CN"/>
          </a:p>
          <a:p>
            <a:pPr eaLnBrk="1" fontAlgn="ctr" hangingPunct="1"/>
            <a:r>
              <a:rPr lang="zh-CN" altLang="zh-CN"/>
              <a:t>【例</a:t>
            </a:r>
            <a:r>
              <a:rPr lang="en-US" altLang="zh-CN"/>
              <a:t>4.5</a:t>
            </a:r>
            <a:r>
              <a:rPr lang="zh-CN" altLang="zh-CN"/>
              <a:t>】 按</a:t>
            </a:r>
            <a:r>
              <a:rPr lang="en-US" altLang="zh-CN"/>
              <a:t>120</a:t>
            </a:r>
            <a:r>
              <a:rPr lang="zh-CN" altLang="zh-CN"/>
              <a:t>分计算成绩并显示学号为“</a:t>
            </a:r>
            <a:r>
              <a:rPr lang="en-US" altLang="zh-CN"/>
              <a:t>191301</a:t>
            </a:r>
            <a:r>
              <a:rPr lang="zh-CN" altLang="zh-CN"/>
              <a:t>”的学生的成绩情况。</a:t>
            </a:r>
            <a:endParaRPr lang="zh-CN" altLang="zh-CN"/>
          </a:p>
          <a:p>
            <a:pPr eaLnBrk="1" fontAlgn="ctr" hangingPunct="1"/>
            <a:r>
              <a:rPr lang="zh-CN" altLang="zh-CN"/>
              <a:t>代码如下，执行结果如图</a:t>
            </a:r>
            <a:r>
              <a:rPr lang="en-US" altLang="zh-CN"/>
              <a:t>4.4</a:t>
            </a:r>
            <a:r>
              <a:rPr lang="zh-CN" altLang="zh-CN"/>
              <a:t>所示。</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SELECT  </a:t>
            </a:r>
            <a:r>
              <a:rPr lang="zh-CN" altLang="zh-CN"/>
              <a:t>学号</a:t>
            </a:r>
            <a:r>
              <a:rPr lang="en-US" altLang="zh-CN"/>
              <a:t>, </a:t>
            </a:r>
            <a:r>
              <a:rPr lang="zh-CN" altLang="zh-CN"/>
              <a:t>课程号</a:t>
            </a:r>
            <a:r>
              <a:rPr lang="en-US" altLang="zh-CN"/>
              <a:t>, </a:t>
            </a:r>
            <a:r>
              <a:rPr lang="zh-CN" altLang="zh-CN"/>
              <a:t>成绩</a:t>
            </a:r>
            <a:r>
              <a:rPr lang="en-US" altLang="zh-CN"/>
              <a:t>120=</a:t>
            </a:r>
            <a:r>
              <a:rPr lang="zh-CN" altLang="zh-CN"/>
              <a:t>成绩</a:t>
            </a:r>
            <a:r>
              <a:rPr lang="en-US" altLang="zh-CN"/>
              <a:t>*1.20</a:t>
            </a:r>
            <a:endParaRPr lang="zh-CN" altLang="zh-CN"/>
          </a:p>
          <a:p>
            <a:pPr eaLnBrk="1" hangingPunct="1"/>
            <a:r>
              <a:rPr lang="en-US" altLang="zh-CN"/>
              <a:t>     FROM cjb</a:t>
            </a:r>
            <a:endParaRPr lang="zh-CN" altLang="zh-CN"/>
          </a:p>
          <a:p>
            <a:pPr eaLnBrk="1" hangingPunct="1"/>
            <a:r>
              <a:rPr lang="en-US" altLang="zh-CN"/>
              <a:t>     WHERE</a:t>
            </a:r>
            <a:r>
              <a:rPr lang="zh-CN" altLang="zh-CN"/>
              <a:t>学号</a:t>
            </a:r>
            <a:r>
              <a:rPr lang="en-US" altLang="zh-CN"/>
              <a:t>= '191301'</a:t>
            </a:r>
            <a:endParaRPr lang="zh-CN" altLang="zh-CN"/>
          </a:p>
          <a:p>
            <a:pPr eaLnBrk="1" hangingPunct="1"/>
            <a:endParaRPr lang="zh-CN" altLang="en-US"/>
          </a:p>
        </p:txBody>
      </p:sp>
      <p:pic>
        <p:nvPicPr>
          <p:cNvPr id="143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32363" y="4508500"/>
            <a:ext cx="2414587" cy="202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4292600"/>
            <a:ext cx="7775575" cy="865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636838"/>
            <a:ext cx="7775575"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15365" name="TextBox 2"/>
          <p:cNvSpPr txBox="1">
            <a:spLocks noChangeArrowheads="1"/>
          </p:cNvSpPr>
          <p:nvPr/>
        </p:nvSpPr>
        <p:spPr bwMode="auto">
          <a:xfrm>
            <a:off x="468313" y="1484313"/>
            <a:ext cx="820737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6</a:t>
            </a:r>
            <a:r>
              <a:rPr lang="zh-CN" altLang="zh-CN" b="1">
                <a:solidFill>
                  <a:srgbClr val="C00000"/>
                </a:solidFill>
              </a:rPr>
              <a:t>．消除结果集中的重复行</a:t>
            </a:r>
            <a:endParaRPr lang="zh-CN" altLang="zh-CN" b="1">
              <a:solidFill>
                <a:srgbClr val="C00000"/>
              </a:solidFill>
            </a:endParaRPr>
          </a:p>
          <a:p>
            <a:pPr eaLnBrk="1" fontAlgn="ctr" hangingPunct="1"/>
            <a:r>
              <a:rPr lang="zh-CN" altLang="zh-CN"/>
              <a:t>对表只选择某些列时，可能会出现重复行。例如，若对</a:t>
            </a:r>
            <a:r>
              <a:rPr lang="en-US" altLang="zh-CN"/>
              <a:t>pxscj</a:t>
            </a:r>
            <a:r>
              <a:rPr lang="zh-CN" altLang="zh-CN"/>
              <a:t>数据库的</a:t>
            </a:r>
            <a:r>
              <a:rPr lang="en-US" altLang="zh-CN"/>
              <a:t>xsb</a:t>
            </a:r>
            <a:r>
              <a:rPr lang="zh-CN" altLang="zh-CN"/>
              <a:t>表只选择专业和总学分，则出现多行重复的情况。可以使用</a:t>
            </a:r>
            <a:r>
              <a:rPr lang="en-US" altLang="zh-CN"/>
              <a:t>DISTINCT</a:t>
            </a:r>
            <a:r>
              <a:rPr lang="zh-CN" altLang="zh-CN"/>
              <a:t>关键字消除结果集中的重复行，其格式是：</a:t>
            </a:r>
            <a:endParaRPr lang="zh-CN" altLang="zh-CN"/>
          </a:p>
          <a:p>
            <a:pPr eaLnBrk="1" hangingPunct="1"/>
            <a:r>
              <a:rPr lang="en-US" altLang="zh-CN"/>
              <a:t>SELECT  DISTINCT | ALL  </a:t>
            </a:r>
            <a:r>
              <a:rPr lang="zh-CN" altLang="zh-CN"/>
              <a:t>列名</a:t>
            </a:r>
            <a:r>
              <a:rPr lang="en-US" altLang="zh-CN"/>
              <a:t>[ , </a:t>
            </a:r>
            <a:r>
              <a:rPr lang="zh-CN" altLang="zh-CN"/>
              <a:t>列名</a:t>
            </a:r>
            <a:r>
              <a:rPr lang="en-US" altLang="zh-CN"/>
              <a:t>…]</a:t>
            </a:r>
            <a:endParaRPr lang="zh-CN" altLang="zh-CN"/>
          </a:p>
          <a:p>
            <a:pPr eaLnBrk="1" fontAlgn="ctr" hangingPunct="1"/>
            <a:r>
              <a:rPr lang="zh-CN" altLang="zh-CN"/>
              <a:t>关键字</a:t>
            </a:r>
            <a:r>
              <a:rPr lang="en-US" altLang="zh-CN"/>
              <a:t>DISTINCT</a:t>
            </a:r>
            <a:r>
              <a:rPr lang="zh-CN" altLang="zh-CN"/>
              <a:t>的含义是：对结果集中的重复行只选择一个，保证行的唯一性。</a:t>
            </a:r>
            <a:endParaRPr lang="zh-CN" altLang="zh-CN"/>
          </a:p>
          <a:p>
            <a:pPr eaLnBrk="1" fontAlgn="ctr" hangingPunct="1"/>
            <a:r>
              <a:rPr lang="zh-CN" altLang="zh-CN"/>
              <a:t>【例</a:t>
            </a:r>
            <a:r>
              <a:rPr lang="en-US" altLang="zh-CN"/>
              <a:t>4.6</a:t>
            </a:r>
            <a:r>
              <a:rPr lang="zh-CN" altLang="zh-CN"/>
              <a:t>】 对</a:t>
            </a:r>
            <a:r>
              <a:rPr lang="en-US" altLang="zh-CN"/>
              <a:t>pxscj</a:t>
            </a:r>
            <a:r>
              <a:rPr lang="zh-CN" altLang="zh-CN"/>
              <a:t>数据库的</a:t>
            </a:r>
            <a:r>
              <a:rPr lang="en-US" altLang="zh-CN"/>
              <a:t>xsb</a:t>
            </a:r>
            <a:r>
              <a:rPr lang="zh-CN" altLang="zh-CN"/>
              <a:t>表只选择专业和总学分，消除结果集中的重复行。</a:t>
            </a:r>
            <a:endParaRPr lang="zh-CN" altLang="zh-CN"/>
          </a:p>
          <a:p>
            <a:pPr eaLnBrk="1" fontAlgn="ctr" hangingPunct="1"/>
            <a:r>
              <a:rPr lang="zh-CN" altLang="zh-CN"/>
              <a:t>代码如下，执行结果如图</a:t>
            </a:r>
            <a:r>
              <a:rPr lang="en-US" altLang="zh-CN"/>
              <a:t>4.5</a:t>
            </a:r>
            <a:r>
              <a:rPr lang="zh-CN" altLang="zh-CN"/>
              <a:t>所示。</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SELECT DISTINCT</a:t>
            </a:r>
            <a:r>
              <a:rPr lang="zh-CN" altLang="zh-CN"/>
              <a:t>专业</a:t>
            </a:r>
            <a:r>
              <a:rPr lang="en-US" altLang="zh-CN"/>
              <a:t>FROM xsb</a:t>
            </a:r>
            <a:endParaRPr lang="zh-CN" altLang="zh-CN"/>
          </a:p>
          <a:p>
            <a:pPr eaLnBrk="1" hangingPunct="1"/>
            <a:endParaRPr lang="zh-CN" altLang="en-US"/>
          </a:p>
        </p:txBody>
      </p:sp>
      <p:pic>
        <p:nvPicPr>
          <p:cNvPr id="1536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319838" y="4265613"/>
            <a:ext cx="2355850" cy="190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66775" y="2708275"/>
            <a:ext cx="7848600" cy="2524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5121275"/>
            <a:ext cx="7848600" cy="5048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16389" name="TextBox 2"/>
          <p:cNvSpPr txBox="1">
            <a:spLocks noChangeArrowheads="1"/>
          </p:cNvSpPr>
          <p:nvPr/>
        </p:nvSpPr>
        <p:spPr bwMode="auto">
          <a:xfrm>
            <a:off x="468313" y="1341438"/>
            <a:ext cx="8280400" cy="549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7</a:t>
            </a:r>
            <a:r>
              <a:rPr lang="zh-CN" altLang="zh-CN" b="1">
                <a:solidFill>
                  <a:srgbClr val="C00000"/>
                </a:solidFill>
              </a:rPr>
              <a:t>．限制结果集返回行数</a:t>
            </a:r>
            <a:endParaRPr lang="zh-CN" altLang="zh-CN" b="1">
              <a:solidFill>
                <a:srgbClr val="C00000"/>
              </a:solidFill>
            </a:endParaRPr>
          </a:p>
          <a:p>
            <a:pPr eaLnBrk="1" fontAlgn="ctr" hangingPunct="1">
              <a:lnSpc>
                <a:spcPct val="150000"/>
              </a:lnSpc>
            </a:pPr>
            <a:r>
              <a:rPr lang="zh-CN" altLang="zh-CN"/>
              <a:t>如果</a:t>
            </a:r>
            <a:r>
              <a:rPr lang="en-US" altLang="zh-CN"/>
              <a:t>SELECT</a:t>
            </a:r>
            <a:r>
              <a:rPr lang="zh-CN" altLang="zh-CN"/>
              <a:t>语句返回的结果集的行数非常多，那么可以使用</a:t>
            </a:r>
            <a:r>
              <a:rPr lang="en-US" altLang="zh-CN"/>
              <a:t>TOP</a:t>
            </a:r>
            <a:r>
              <a:rPr lang="zh-CN" altLang="zh-CN"/>
              <a:t>选项限制其返回的行数。</a:t>
            </a:r>
            <a:r>
              <a:rPr lang="en-US" altLang="zh-CN"/>
              <a:t>TOP</a:t>
            </a:r>
            <a:r>
              <a:rPr lang="zh-CN" altLang="zh-CN"/>
              <a:t>选项的基本格式为：</a:t>
            </a:r>
            <a:endParaRPr lang="zh-CN" altLang="zh-CN"/>
          </a:p>
          <a:p>
            <a:pPr eaLnBrk="1" hangingPunct="1">
              <a:lnSpc>
                <a:spcPct val="150000"/>
              </a:lnSpc>
            </a:pPr>
            <a:r>
              <a:rPr lang="en-US" altLang="zh-CN"/>
              <a:t>[ TOP</a:t>
            </a:r>
            <a:r>
              <a:rPr lang="zh-CN" altLang="zh-CN"/>
              <a:t>表达式</a:t>
            </a:r>
            <a:r>
              <a:rPr lang="en-US" altLang="zh-CN"/>
              <a:t>[ PERCENT ] [ WITH TIES ] ]</a:t>
            </a:r>
            <a:endParaRPr lang="zh-CN" altLang="zh-CN"/>
          </a:p>
          <a:p>
            <a:pPr eaLnBrk="1" fontAlgn="ctr" hangingPunct="1">
              <a:lnSpc>
                <a:spcPct val="150000"/>
              </a:lnSpc>
            </a:pPr>
            <a:r>
              <a:rPr lang="zh-CN" altLang="zh-CN"/>
              <a:t>指示只能从查询结果集返回指定的第一组行或指定的百分比数目的行。“表达式”可以是指定数目或百分比数目的行。若带</a:t>
            </a:r>
            <a:r>
              <a:rPr lang="en-US" altLang="zh-CN"/>
              <a:t>PERCENT</a:t>
            </a:r>
            <a:r>
              <a:rPr lang="zh-CN" altLang="zh-CN"/>
              <a:t>关键字，则表示返回结果集的前（表达式值）</a:t>
            </a:r>
            <a:r>
              <a:rPr lang="en-US" altLang="zh-CN"/>
              <a:t>%</a:t>
            </a:r>
            <a:r>
              <a:rPr lang="zh-CN" altLang="zh-CN"/>
              <a:t>行。</a:t>
            </a:r>
            <a:endParaRPr lang="zh-CN" altLang="zh-CN"/>
          </a:p>
          <a:p>
            <a:pPr eaLnBrk="1" fontAlgn="ctr" hangingPunct="1">
              <a:lnSpc>
                <a:spcPct val="150000"/>
              </a:lnSpc>
            </a:pPr>
            <a:r>
              <a:rPr lang="zh-CN" altLang="zh-CN"/>
              <a:t>【例</a:t>
            </a:r>
            <a:r>
              <a:rPr lang="en-US" altLang="zh-CN"/>
              <a:t>4.7</a:t>
            </a:r>
            <a:r>
              <a:rPr lang="zh-CN" altLang="zh-CN"/>
              <a:t>】 对</a:t>
            </a:r>
            <a:r>
              <a:rPr lang="en-US" altLang="zh-CN"/>
              <a:t>pxscj</a:t>
            </a:r>
            <a:r>
              <a:rPr lang="zh-CN" altLang="zh-CN"/>
              <a:t>数据库的</a:t>
            </a:r>
            <a:r>
              <a:rPr lang="en-US" altLang="zh-CN"/>
              <a:t>xsb</a:t>
            </a:r>
            <a:r>
              <a:rPr lang="zh-CN" altLang="zh-CN"/>
              <a:t>表选择姓名、专业和总学分，返回结果集的前</a:t>
            </a:r>
            <a:r>
              <a:rPr lang="en-US" altLang="zh-CN"/>
              <a:t>6</a:t>
            </a:r>
            <a:r>
              <a:rPr lang="zh-CN" altLang="zh-CN"/>
              <a:t>行。</a:t>
            </a:r>
            <a:endParaRPr lang="zh-CN" altLang="zh-CN"/>
          </a:p>
          <a:p>
            <a:pPr eaLnBrk="1" hangingPunct="1"/>
            <a:r>
              <a:rPr lang="en-US" altLang="zh-CN"/>
              <a:t>SELECT TOP 6 </a:t>
            </a:r>
            <a:r>
              <a:rPr lang="zh-CN" altLang="zh-CN"/>
              <a:t>姓名</a:t>
            </a:r>
            <a:r>
              <a:rPr lang="en-US" altLang="zh-CN"/>
              <a:t>,</a:t>
            </a:r>
            <a:r>
              <a:rPr lang="zh-CN" altLang="zh-CN"/>
              <a:t>专业</a:t>
            </a:r>
            <a:r>
              <a:rPr lang="en-US" altLang="zh-CN"/>
              <a:t>,</a:t>
            </a:r>
            <a:r>
              <a:rPr lang="zh-CN" altLang="zh-CN"/>
              <a:t>总学分</a:t>
            </a:r>
            <a:endParaRPr lang="zh-CN" altLang="zh-CN"/>
          </a:p>
          <a:p>
            <a:pPr eaLnBrk="1" hangingPunct="1"/>
            <a:r>
              <a:rPr lang="en-US" altLang="zh-CN"/>
              <a:t>     FROM xsb</a:t>
            </a:r>
            <a:endParaRPr lang="en-US" altLang="zh-CN"/>
          </a:p>
          <a:p>
            <a:pPr eaLnBrk="1" hangingPunct="1"/>
            <a:r>
              <a:rPr lang="en-US" altLang="zh-CN" b="1">
                <a:solidFill>
                  <a:srgbClr val="C00000"/>
                </a:solidFill>
              </a:rPr>
              <a:t>8</a:t>
            </a:r>
            <a:r>
              <a:rPr lang="zh-CN" altLang="zh-CN" b="1">
                <a:solidFill>
                  <a:srgbClr val="C00000"/>
                </a:solidFill>
              </a:rPr>
              <a:t>．选择用户定义数据类型列</a:t>
            </a:r>
            <a:endParaRPr lang="zh-CN" altLang="zh-CN" b="1">
              <a:solidFill>
                <a:srgbClr val="C00000"/>
              </a:solidFill>
            </a:endParaRPr>
          </a:p>
          <a:p>
            <a:pPr eaLnBrk="1" fontAlgn="ctr" hangingPunct="1"/>
            <a:r>
              <a:rPr lang="zh-CN" altLang="zh-CN"/>
              <a:t>有关用户定义数据类型的内容将在后面章节详细讨论。</a:t>
            </a:r>
            <a:endParaRPr lang="zh-CN" altLang="zh-CN"/>
          </a:p>
          <a:p>
            <a:pPr eaLnBrk="1" hangingPunct="1"/>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17411" name="TextBox 2"/>
          <p:cNvSpPr txBox="1">
            <a:spLocks noChangeArrowheads="1"/>
          </p:cNvSpPr>
          <p:nvPr/>
        </p:nvSpPr>
        <p:spPr bwMode="auto">
          <a:xfrm>
            <a:off x="755650" y="1484313"/>
            <a:ext cx="58324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9</a:t>
            </a:r>
            <a:r>
              <a:rPr lang="zh-CN" altLang="zh-CN" b="1">
                <a:solidFill>
                  <a:srgbClr val="C00000"/>
                </a:solidFill>
              </a:rPr>
              <a:t>．聚合函数</a:t>
            </a:r>
            <a:endParaRPr lang="zh-CN" altLang="zh-CN" b="1">
              <a:solidFill>
                <a:srgbClr val="C00000"/>
              </a:solidFill>
            </a:endParaRPr>
          </a:p>
          <a:p>
            <a:pPr eaLnBrk="1" fontAlgn="ctr" hangingPunct="1"/>
            <a:r>
              <a:rPr lang="en-US" altLang="zh-CN"/>
              <a:t>SQL Server</a:t>
            </a:r>
            <a:r>
              <a:rPr lang="zh-CN" altLang="zh-CN"/>
              <a:t>所提供的聚合函数如表</a:t>
            </a:r>
            <a:r>
              <a:rPr lang="en-US" altLang="zh-CN"/>
              <a:t>4.1</a:t>
            </a:r>
            <a:r>
              <a:rPr lang="zh-CN" altLang="zh-CN"/>
              <a:t>所示。</a:t>
            </a:r>
            <a:endParaRPr lang="zh-CN" altLang="zh-CN"/>
          </a:p>
          <a:p>
            <a:pPr eaLnBrk="1" hangingPunct="1"/>
            <a:endParaRPr lang="zh-CN" altLang="en-US"/>
          </a:p>
        </p:txBody>
      </p:sp>
      <p:graphicFrame>
        <p:nvGraphicFramePr>
          <p:cNvPr id="5" name="表格 4"/>
          <p:cNvGraphicFramePr>
            <a:graphicFrameLocks noGrp="1"/>
          </p:cNvGraphicFramePr>
          <p:nvPr/>
        </p:nvGraphicFramePr>
        <p:xfrm>
          <a:off x="539750" y="2205038"/>
          <a:ext cx="8137525" cy="3887783"/>
        </p:xfrm>
        <a:graphic>
          <a:graphicData uri="http://schemas.openxmlformats.org/drawingml/2006/table">
            <a:tbl>
              <a:tblPr/>
              <a:tblGrid>
                <a:gridCol w="2351745"/>
                <a:gridCol w="5785780"/>
              </a:tblGrid>
              <a:tr h="228693">
                <a:tc>
                  <a:txBody>
                    <a:bodyPr/>
                    <a:lstStyle/>
                    <a:p>
                      <a:pPr indent="254000" algn="ctr">
                        <a:spcBef>
                          <a:spcPts val="120"/>
                        </a:spcBef>
                        <a:spcAft>
                          <a:spcPts val="120"/>
                        </a:spcAft>
                      </a:pPr>
                      <a:r>
                        <a:rPr lang="zh-CN" sz="1400" kern="1000">
                          <a:effectLst/>
                          <a:latin typeface="Times New Roman" panose="02020603050405020304"/>
                          <a:ea typeface="方正书宋简体"/>
                        </a:rPr>
                        <a:t>函数名</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ctr">
                        <a:spcBef>
                          <a:spcPts val="120"/>
                        </a:spcBef>
                        <a:spcAft>
                          <a:spcPts val="120"/>
                        </a:spcAft>
                      </a:pPr>
                      <a:r>
                        <a:rPr lang="zh-CN" sz="1400" kern="1000">
                          <a:effectLst/>
                          <a:latin typeface="Times New Roman" panose="02020603050405020304"/>
                          <a:ea typeface="方正书宋简体"/>
                        </a:rPr>
                        <a:t>说明</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AVG</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求组中值的平均值</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57388">
                <a:tc>
                  <a:txBody>
                    <a:bodyPr/>
                    <a:lstStyle/>
                    <a:p>
                      <a:pPr indent="254000" algn="just">
                        <a:spcBef>
                          <a:spcPts val="165"/>
                        </a:spcBef>
                        <a:spcAft>
                          <a:spcPts val="165"/>
                        </a:spcAft>
                      </a:pPr>
                      <a:r>
                        <a:rPr lang="en-US" sz="1400" kern="1000">
                          <a:effectLst/>
                          <a:latin typeface="Times New Roman" panose="02020603050405020304"/>
                          <a:ea typeface="方正书宋简体"/>
                        </a:rPr>
                        <a:t>BINARY</a:t>
                      </a:r>
                      <a:r>
                        <a:rPr lang="en-US" sz="1400" kern="1000">
                          <a:effectLst/>
                          <a:latin typeface="宋体" panose="02010600030101010101" pitchFamily="2" charset="-122"/>
                          <a:ea typeface="方正书宋简体"/>
                        </a:rPr>
                        <a:t>_</a:t>
                      </a:r>
                      <a:r>
                        <a:rPr lang="en-US" sz="1400" kern="1000">
                          <a:effectLst/>
                          <a:latin typeface="Times New Roman" panose="02020603050405020304"/>
                          <a:ea typeface="方正书宋简体"/>
                        </a:rPr>
                        <a:t>CHECKSUM</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9240" algn="just">
                        <a:spcBef>
                          <a:spcPts val="165"/>
                        </a:spcBef>
                        <a:spcAft>
                          <a:spcPts val="165"/>
                        </a:spcAft>
                      </a:pPr>
                      <a:r>
                        <a:rPr lang="zh-CN" sz="1400" kern="1000" spc="30">
                          <a:effectLst/>
                          <a:latin typeface="Times New Roman" panose="02020603050405020304"/>
                          <a:ea typeface="方正书宋简体"/>
                        </a:rPr>
                        <a:t>返回对表中的行或表达式列表计算的二进制校验值，可用于检测表中行的更改</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CHECKSUM</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返回在表的行上或在表达式列表上计算的校验值，用于生成哈希索引</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CHECKSUM</a:t>
                      </a:r>
                      <a:r>
                        <a:rPr lang="en-US" sz="1400" kern="1000">
                          <a:effectLst/>
                          <a:latin typeface="宋体" panose="02010600030101010101" pitchFamily="2" charset="-122"/>
                          <a:ea typeface="方正书宋简体"/>
                        </a:rPr>
                        <a:t>_</a:t>
                      </a:r>
                      <a:r>
                        <a:rPr lang="en-US" sz="1400" kern="1000">
                          <a:effectLst/>
                          <a:latin typeface="Times New Roman" panose="02020603050405020304"/>
                          <a:ea typeface="方正书宋简体"/>
                        </a:rPr>
                        <a:t>AGG</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返回组中值的校验值</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COUNT</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求组中项数，返回</a:t>
                      </a:r>
                      <a:r>
                        <a:rPr lang="en-US" sz="1400" kern="1000">
                          <a:effectLst/>
                          <a:latin typeface="Times New Roman" panose="02020603050405020304"/>
                          <a:ea typeface="方正书宋简体"/>
                        </a:rPr>
                        <a:t>int</a:t>
                      </a:r>
                      <a:r>
                        <a:rPr lang="zh-CN" sz="1400" kern="1000">
                          <a:effectLst/>
                          <a:latin typeface="Times New Roman" panose="02020603050405020304"/>
                          <a:ea typeface="方正书宋简体"/>
                        </a:rPr>
                        <a:t>类型整数</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COUNT</a:t>
                      </a:r>
                      <a:r>
                        <a:rPr lang="en-US" sz="1400" kern="1000">
                          <a:effectLst/>
                          <a:latin typeface="宋体" panose="02010600030101010101" pitchFamily="2" charset="-122"/>
                          <a:ea typeface="方正书宋简体"/>
                        </a:rPr>
                        <a:t>_</a:t>
                      </a:r>
                      <a:r>
                        <a:rPr lang="en-US" sz="1400" kern="1000">
                          <a:effectLst/>
                          <a:latin typeface="Times New Roman" panose="02020603050405020304"/>
                          <a:ea typeface="方正书宋简体"/>
                        </a:rPr>
                        <a:t>BIG</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求组中项数，返回</a:t>
                      </a:r>
                      <a:r>
                        <a:rPr lang="en-US" sz="1400" kern="1000">
                          <a:effectLst/>
                          <a:latin typeface="Times New Roman" panose="02020603050405020304"/>
                          <a:ea typeface="方正书宋简体"/>
                        </a:rPr>
                        <a:t>bigint</a:t>
                      </a:r>
                      <a:r>
                        <a:rPr lang="zh-CN" sz="1400" kern="1000">
                          <a:effectLst/>
                          <a:latin typeface="Times New Roman" panose="02020603050405020304"/>
                          <a:ea typeface="方正书宋简体"/>
                        </a:rPr>
                        <a:t>类型整数</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GROUPING</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产生一个附加的列</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GROUPING</a:t>
                      </a:r>
                      <a:r>
                        <a:rPr lang="en-US" sz="1400" kern="1000">
                          <a:effectLst/>
                          <a:latin typeface="宋体" panose="02010600030101010101" pitchFamily="2" charset="-122"/>
                          <a:ea typeface="方正书宋简体"/>
                        </a:rPr>
                        <a:t>_</a:t>
                      </a:r>
                      <a:r>
                        <a:rPr lang="en-US" sz="1400" kern="1000">
                          <a:effectLst/>
                          <a:latin typeface="Times New Roman" panose="02020603050405020304"/>
                          <a:ea typeface="方正书宋简体"/>
                        </a:rPr>
                        <a:t>ID</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为聚合列列表中的每一行创建一个值以标识聚合级别</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MAX</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求最大值</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MIN</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求最小值</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SUM</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返回表达式中所有值的和</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STDEV</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返回给定表达式中所有值的统计标准偏差</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STDEVP</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返回给定表达式中所有值的填充统计标准偏差</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VAR</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a:effectLst/>
                          <a:latin typeface="Times New Roman" panose="02020603050405020304"/>
                          <a:ea typeface="方正书宋简体"/>
                        </a:rPr>
                        <a:t>返回给定表达式中所有值的统计方差</a:t>
                      </a:r>
                      <a:endParaRPr lang="zh-CN" sz="1400" kern="100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28693">
                <a:tc>
                  <a:txBody>
                    <a:bodyPr/>
                    <a:lstStyle/>
                    <a:p>
                      <a:pPr indent="254000" algn="just">
                        <a:spcBef>
                          <a:spcPts val="165"/>
                        </a:spcBef>
                        <a:spcAft>
                          <a:spcPts val="165"/>
                        </a:spcAft>
                      </a:pPr>
                      <a:r>
                        <a:rPr lang="en-US" sz="1400" kern="1000">
                          <a:effectLst/>
                          <a:latin typeface="Times New Roman" panose="02020603050405020304"/>
                          <a:ea typeface="方正书宋简体"/>
                        </a:rPr>
                        <a:t>VARP</a:t>
                      </a:r>
                      <a:endParaRPr lang="zh-CN" sz="1400" kern="1000">
                        <a:effectLst/>
                        <a:latin typeface="Times New Roman" panose="02020603050405020304"/>
                        <a:ea typeface="方正书宋简体"/>
                      </a:endParaRPr>
                    </a:p>
                  </a:txBody>
                  <a:tcPr marL="68585" marR="68585"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54000" algn="just">
                        <a:spcBef>
                          <a:spcPts val="165"/>
                        </a:spcBef>
                        <a:spcAft>
                          <a:spcPts val="165"/>
                        </a:spcAft>
                      </a:pPr>
                      <a:r>
                        <a:rPr lang="zh-CN" sz="1400" kern="1000" dirty="0">
                          <a:effectLst/>
                          <a:latin typeface="Times New Roman" panose="02020603050405020304"/>
                          <a:ea typeface="方正书宋简体"/>
                        </a:rPr>
                        <a:t>返回给定表达式中所有值的填充的统计方差</a:t>
                      </a:r>
                      <a:endParaRPr lang="zh-CN" sz="1400" kern="1000" dirty="0">
                        <a:effectLst/>
                        <a:latin typeface="Times New Roman" panose="02020603050405020304"/>
                        <a:ea typeface="方正书宋简体"/>
                      </a:endParaRPr>
                    </a:p>
                  </a:txBody>
                  <a:tcPr marL="68585" marR="68585"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00113" y="2060575"/>
            <a:ext cx="777557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3716338"/>
            <a:ext cx="7775575" cy="576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18437" name="TextBox 2"/>
          <p:cNvSpPr txBox="1">
            <a:spLocks noChangeArrowheads="1"/>
          </p:cNvSpPr>
          <p:nvPr/>
        </p:nvSpPr>
        <p:spPr bwMode="auto">
          <a:xfrm>
            <a:off x="539750" y="1484313"/>
            <a:ext cx="8135938"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1</a:t>
            </a:r>
            <a:r>
              <a:rPr lang="zh-CN" altLang="zh-CN"/>
              <a:t>）</a:t>
            </a:r>
            <a:r>
              <a:rPr lang="en-US" altLang="zh-CN"/>
              <a:t>SUM</a:t>
            </a:r>
            <a:r>
              <a:rPr lang="zh-CN" altLang="zh-CN"/>
              <a:t>和</a:t>
            </a:r>
            <a:r>
              <a:rPr lang="en-US" altLang="zh-CN"/>
              <a:t>AVG</a:t>
            </a:r>
            <a:endParaRPr lang="zh-CN" altLang="zh-CN"/>
          </a:p>
          <a:p>
            <a:pPr eaLnBrk="1" fontAlgn="ctr" hangingPunct="1"/>
            <a:r>
              <a:rPr lang="en-US" altLang="zh-CN"/>
              <a:t>SUM</a:t>
            </a:r>
            <a:r>
              <a:rPr lang="zh-CN" altLang="zh-CN"/>
              <a:t>和</a:t>
            </a:r>
            <a:r>
              <a:rPr lang="en-US" altLang="zh-CN"/>
              <a:t>AVG</a:t>
            </a:r>
            <a:r>
              <a:rPr lang="zh-CN" altLang="zh-CN"/>
              <a:t>分别用于求表达式中所有值项的总和与平均值，语法格式为：</a:t>
            </a:r>
            <a:endParaRPr lang="zh-CN" altLang="zh-CN"/>
          </a:p>
          <a:p>
            <a:pPr eaLnBrk="1" hangingPunct="1"/>
            <a:r>
              <a:rPr lang="en-US" altLang="zh-CN"/>
              <a:t>SUM /AVG ( [ ALL | DISTINCT ]</a:t>
            </a:r>
            <a:r>
              <a:rPr lang="zh-CN" altLang="zh-CN"/>
              <a:t>表达式</a:t>
            </a:r>
            <a:r>
              <a:rPr lang="en-US" altLang="zh-CN"/>
              <a:t> )</a:t>
            </a:r>
            <a:endParaRPr lang="zh-CN" altLang="zh-CN"/>
          </a:p>
          <a:p>
            <a:pPr eaLnBrk="1" fontAlgn="ctr" hangingPunct="1"/>
            <a:r>
              <a:rPr lang="zh-CN" altLang="zh-CN"/>
              <a:t>其中，“表达式”可以是常量、列、函数或表达式，其数据类型只能是</a:t>
            </a:r>
            <a:r>
              <a:rPr lang="en-US" altLang="zh-CN"/>
              <a:t>int</a:t>
            </a:r>
            <a:r>
              <a:rPr lang="zh-CN" altLang="zh-CN"/>
              <a:t>、</a:t>
            </a:r>
            <a:r>
              <a:rPr lang="en-US" altLang="zh-CN"/>
              <a:t>smallint</a:t>
            </a:r>
            <a:r>
              <a:rPr lang="zh-CN" altLang="zh-CN"/>
              <a:t>、</a:t>
            </a:r>
            <a:r>
              <a:rPr lang="en-US" altLang="zh-CN"/>
              <a:t>tinyint</a:t>
            </a:r>
            <a:r>
              <a:rPr lang="zh-CN" altLang="zh-CN"/>
              <a:t>、</a:t>
            </a:r>
            <a:r>
              <a:rPr lang="en-US" altLang="zh-CN"/>
              <a:t>bigint</a:t>
            </a:r>
            <a:r>
              <a:rPr lang="zh-CN" altLang="zh-CN"/>
              <a:t>、</a:t>
            </a:r>
            <a:r>
              <a:rPr lang="en-US" altLang="zh-CN"/>
              <a:t>decimal</a:t>
            </a:r>
            <a:r>
              <a:rPr lang="zh-CN" altLang="zh-CN"/>
              <a:t>、</a:t>
            </a:r>
            <a:r>
              <a:rPr lang="en-US" altLang="zh-CN"/>
              <a:t>numeric</a:t>
            </a:r>
            <a:r>
              <a:rPr lang="zh-CN" altLang="zh-CN"/>
              <a:t>、</a:t>
            </a:r>
            <a:r>
              <a:rPr lang="en-US" altLang="zh-CN"/>
              <a:t>float</a:t>
            </a:r>
            <a:r>
              <a:rPr lang="zh-CN" altLang="zh-CN"/>
              <a:t>、</a:t>
            </a:r>
            <a:r>
              <a:rPr lang="en-US" altLang="zh-CN"/>
              <a:t>real</a:t>
            </a:r>
            <a:r>
              <a:rPr lang="zh-CN" altLang="zh-CN"/>
              <a:t>、</a:t>
            </a:r>
            <a:r>
              <a:rPr lang="en-US" altLang="zh-CN"/>
              <a:t>money</a:t>
            </a:r>
            <a:r>
              <a:rPr lang="zh-CN" altLang="zh-CN"/>
              <a:t>和</a:t>
            </a:r>
            <a:r>
              <a:rPr lang="en-US" altLang="zh-CN"/>
              <a:t>smallmoney</a:t>
            </a:r>
            <a:r>
              <a:rPr lang="zh-CN" altLang="zh-CN"/>
              <a:t>。</a:t>
            </a:r>
            <a:r>
              <a:rPr lang="en-US" altLang="zh-CN"/>
              <a:t>ALL</a:t>
            </a:r>
            <a:r>
              <a:rPr lang="zh-CN" altLang="zh-CN"/>
              <a:t>表示对所有值进行运算，</a:t>
            </a:r>
            <a:r>
              <a:rPr lang="en-US" altLang="zh-CN"/>
              <a:t>DISTINCT</a:t>
            </a:r>
            <a:r>
              <a:rPr lang="zh-CN" altLang="zh-CN"/>
              <a:t>表示去除重复值，默认为</a:t>
            </a:r>
            <a:r>
              <a:rPr lang="en-US" altLang="zh-CN"/>
              <a:t>ALL</a:t>
            </a:r>
            <a:r>
              <a:rPr lang="zh-CN" altLang="zh-CN"/>
              <a:t>。</a:t>
            </a:r>
            <a:r>
              <a:rPr lang="en-US" altLang="zh-CN"/>
              <a:t>SUM / AVG</a:t>
            </a:r>
            <a:r>
              <a:rPr lang="zh-CN" altLang="zh-CN"/>
              <a:t>忽略</a:t>
            </a:r>
            <a:r>
              <a:rPr lang="en-US" altLang="zh-CN"/>
              <a:t>NULL</a:t>
            </a:r>
            <a:r>
              <a:rPr lang="zh-CN" altLang="zh-CN"/>
              <a:t>值。</a:t>
            </a:r>
            <a:endParaRPr lang="zh-CN" altLang="zh-CN"/>
          </a:p>
          <a:p>
            <a:pPr eaLnBrk="1" fontAlgn="ctr" hangingPunct="1"/>
            <a:r>
              <a:rPr lang="zh-CN" altLang="zh-CN"/>
              <a:t>【例</a:t>
            </a:r>
            <a:r>
              <a:rPr lang="en-US" altLang="zh-CN"/>
              <a:t>4.8</a:t>
            </a:r>
            <a:r>
              <a:rPr lang="zh-CN" altLang="zh-CN"/>
              <a:t>】 求所有课程的总学分和选修</a:t>
            </a:r>
            <a:r>
              <a:rPr lang="en-US" altLang="zh-CN"/>
              <a:t>101</a:t>
            </a:r>
            <a:r>
              <a:rPr lang="zh-CN" altLang="zh-CN"/>
              <a:t>课程的学生的平均成绩。</a:t>
            </a:r>
            <a:r>
              <a:rPr lang="en-US" altLang="zh-CN"/>
              <a:t> </a:t>
            </a:r>
            <a:endParaRPr lang="zh-CN" altLang="zh-CN"/>
          </a:p>
          <a:p>
            <a:pPr eaLnBrk="1" hangingPunct="1"/>
            <a:r>
              <a:rPr lang="en-US" altLang="zh-CN"/>
              <a:t>SELECT SUM(</a:t>
            </a:r>
            <a:r>
              <a:rPr lang="zh-CN" altLang="zh-CN"/>
              <a:t>学分</a:t>
            </a:r>
            <a:r>
              <a:rPr lang="en-US" altLang="zh-CN"/>
              <a:t>) AS '</a:t>
            </a:r>
            <a:r>
              <a:rPr lang="zh-CN" altLang="zh-CN"/>
              <a:t>总学分</a:t>
            </a:r>
            <a:r>
              <a:rPr lang="en-US" altLang="zh-CN"/>
              <a:t>'</a:t>
            </a:r>
            <a:endParaRPr lang="zh-CN" altLang="zh-CN"/>
          </a:p>
          <a:p>
            <a:pPr eaLnBrk="1" hangingPunct="1"/>
            <a:r>
              <a:rPr lang="en-US" altLang="zh-CN"/>
              <a:t>     FROM kcb  </a:t>
            </a:r>
            <a:endParaRPr lang="zh-CN" altLang="zh-CN"/>
          </a:p>
          <a:p>
            <a:pPr eaLnBrk="1" hangingPunct="1"/>
            <a:r>
              <a:rPr lang="zh-CN" altLang="zh-CN"/>
              <a:t>执行结果如图</a:t>
            </a:r>
            <a:r>
              <a:rPr lang="en-US" altLang="zh-CN"/>
              <a:t>4.6</a:t>
            </a:r>
            <a:r>
              <a:rPr lang="zh-CN" altLang="zh-CN"/>
              <a:t>所示。 </a:t>
            </a:r>
            <a:endParaRPr lang="zh-CN" altLang="en-US"/>
          </a:p>
        </p:txBody>
      </p:sp>
      <p:pic>
        <p:nvPicPr>
          <p:cNvPr id="184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00563" y="4292600"/>
            <a:ext cx="3155950" cy="151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4292600"/>
            <a:ext cx="7775575" cy="865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349500"/>
            <a:ext cx="7775575" cy="3587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19461" name="TextBox 2"/>
          <p:cNvSpPr txBox="1">
            <a:spLocks noChangeArrowheads="1"/>
          </p:cNvSpPr>
          <p:nvPr/>
        </p:nvSpPr>
        <p:spPr bwMode="auto">
          <a:xfrm>
            <a:off x="468313" y="1412875"/>
            <a:ext cx="8207375"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a:t>
            </a:r>
            <a:r>
              <a:rPr lang="en-US" altLang="zh-CN"/>
              <a:t>2</a:t>
            </a:r>
            <a:r>
              <a:rPr lang="zh-CN" altLang="zh-CN"/>
              <a:t>）</a:t>
            </a:r>
            <a:r>
              <a:rPr lang="en-US" altLang="zh-CN"/>
              <a:t>MAX</a:t>
            </a:r>
            <a:r>
              <a:rPr lang="zh-CN" altLang="zh-CN"/>
              <a:t>和</a:t>
            </a:r>
            <a:r>
              <a:rPr lang="en-US" altLang="zh-CN"/>
              <a:t>MIN</a:t>
            </a:r>
            <a:endParaRPr lang="zh-CN" altLang="zh-CN"/>
          </a:p>
          <a:p>
            <a:pPr eaLnBrk="1" fontAlgn="ctr" hangingPunct="1">
              <a:lnSpc>
                <a:spcPct val="150000"/>
              </a:lnSpc>
            </a:pPr>
            <a:r>
              <a:rPr lang="en-US" altLang="zh-CN"/>
              <a:t>MAX</a:t>
            </a:r>
            <a:r>
              <a:rPr lang="zh-CN" altLang="zh-CN"/>
              <a:t>和</a:t>
            </a:r>
            <a:r>
              <a:rPr lang="en-US" altLang="zh-CN"/>
              <a:t>MIN</a:t>
            </a:r>
            <a:r>
              <a:rPr lang="zh-CN" altLang="zh-CN"/>
              <a:t>分别用于求表达式中所有值项的最大值与最小值，语法格式为：</a:t>
            </a:r>
            <a:endParaRPr lang="zh-CN" altLang="zh-CN"/>
          </a:p>
          <a:p>
            <a:pPr eaLnBrk="1" hangingPunct="1">
              <a:lnSpc>
                <a:spcPct val="150000"/>
              </a:lnSpc>
            </a:pPr>
            <a:r>
              <a:rPr lang="en-US" altLang="zh-CN"/>
              <a:t>MAX / MIN ( [ ALL | DISTINCT ]</a:t>
            </a:r>
            <a:r>
              <a:rPr lang="zh-CN" altLang="zh-CN"/>
              <a:t>表达式</a:t>
            </a:r>
            <a:r>
              <a:rPr lang="en-US" altLang="zh-CN"/>
              <a:t> )</a:t>
            </a:r>
            <a:endParaRPr lang="zh-CN" altLang="zh-CN"/>
          </a:p>
          <a:p>
            <a:pPr eaLnBrk="1" fontAlgn="ctr" hangingPunct="1">
              <a:lnSpc>
                <a:spcPct val="150000"/>
              </a:lnSpc>
            </a:pPr>
            <a:r>
              <a:rPr lang="zh-CN" altLang="zh-CN"/>
              <a:t>其中，“表达式”可以是常量、列、函数或表达式，其数据类型可以是数字、字符和时间日期类型。</a:t>
            </a:r>
            <a:r>
              <a:rPr lang="en-US" altLang="zh-CN"/>
              <a:t>ALL</a:t>
            </a:r>
            <a:r>
              <a:rPr lang="zh-CN" altLang="zh-CN"/>
              <a:t>、</a:t>
            </a:r>
            <a:r>
              <a:rPr lang="en-US" altLang="zh-CN"/>
              <a:t>DISTINCT</a:t>
            </a:r>
            <a:r>
              <a:rPr lang="zh-CN" altLang="zh-CN"/>
              <a:t>的含义及默认值与</a:t>
            </a:r>
            <a:r>
              <a:rPr lang="en-US" altLang="zh-CN"/>
              <a:t>SUM/AVG</a:t>
            </a:r>
            <a:r>
              <a:rPr lang="zh-CN" altLang="zh-CN"/>
              <a:t>函数相同。</a:t>
            </a:r>
            <a:r>
              <a:rPr lang="en-US" altLang="zh-CN"/>
              <a:t>MAX/MIN</a:t>
            </a:r>
            <a:r>
              <a:rPr lang="zh-CN" altLang="zh-CN"/>
              <a:t>忽略</a:t>
            </a:r>
            <a:r>
              <a:rPr lang="en-US" altLang="zh-CN"/>
              <a:t>NULL</a:t>
            </a:r>
            <a:r>
              <a:rPr lang="zh-CN" altLang="zh-CN"/>
              <a:t>值。</a:t>
            </a:r>
            <a:endParaRPr lang="zh-CN" altLang="zh-CN"/>
          </a:p>
          <a:p>
            <a:pPr eaLnBrk="1" fontAlgn="ctr" hangingPunct="1">
              <a:lnSpc>
                <a:spcPct val="150000"/>
              </a:lnSpc>
            </a:pPr>
            <a:r>
              <a:rPr lang="zh-CN" altLang="zh-CN"/>
              <a:t>【例</a:t>
            </a:r>
            <a:r>
              <a:rPr lang="en-US" altLang="zh-CN"/>
              <a:t>4.9</a:t>
            </a:r>
            <a:r>
              <a:rPr lang="zh-CN" altLang="zh-CN"/>
              <a:t>】 求选修</a:t>
            </a:r>
            <a:r>
              <a:rPr lang="en-US" altLang="zh-CN"/>
              <a:t>101</a:t>
            </a:r>
            <a:r>
              <a:rPr lang="zh-CN" altLang="zh-CN"/>
              <a:t>课程的学生的最高分和最低分。</a:t>
            </a:r>
            <a:endParaRPr lang="zh-CN" altLang="zh-CN"/>
          </a:p>
          <a:p>
            <a:pPr eaLnBrk="1" hangingPunct="1"/>
            <a:r>
              <a:rPr lang="en-US" altLang="zh-CN"/>
              <a:t>SELECT  MAX(</a:t>
            </a:r>
            <a:r>
              <a:rPr lang="zh-CN" altLang="zh-CN"/>
              <a:t>成绩</a:t>
            </a:r>
            <a:r>
              <a:rPr lang="en-US" altLang="zh-CN"/>
              <a:t>) AS '</a:t>
            </a:r>
            <a:r>
              <a:rPr lang="zh-CN" altLang="zh-CN"/>
              <a:t>计算机基础最高分</a:t>
            </a:r>
            <a:r>
              <a:rPr lang="en-US" altLang="zh-CN"/>
              <a:t>' , MIN(</a:t>
            </a:r>
            <a:r>
              <a:rPr lang="zh-CN" altLang="zh-CN"/>
              <a:t>成绩</a:t>
            </a:r>
            <a:r>
              <a:rPr lang="en-US" altLang="zh-CN"/>
              <a:t>) AS '</a:t>
            </a:r>
            <a:r>
              <a:rPr lang="zh-CN" altLang="zh-CN"/>
              <a:t>计算机基础最低分</a:t>
            </a:r>
            <a:r>
              <a:rPr lang="en-US" altLang="zh-CN"/>
              <a:t>'</a:t>
            </a:r>
            <a:endParaRPr lang="zh-CN" altLang="zh-CN"/>
          </a:p>
          <a:p>
            <a:pPr eaLnBrk="1" hangingPunct="1"/>
            <a:r>
              <a:rPr lang="en-US" altLang="zh-CN"/>
              <a:t>     FROM  cjb   </a:t>
            </a:r>
            <a:endParaRPr lang="zh-CN" altLang="zh-CN"/>
          </a:p>
          <a:p>
            <a:pPr eaLnBrk="1" hangingPunct="1"/>
            <a:r>
              <a:rPr lang="en-US" altLang="zh-CN"/>
              <a:t>     WHERE</a:t>
            </a:r>
            <a:r>
              <a:rPr lang="zh-CN" altLang="zh-CN"/>
              <a:t>课程号</a:t>
            </a:r>
            <a:r>
              <a:rPr lang="en-US" altLang="zh-CN"/>
              <a:t> = '101'</a:t>
            </a:r>
            <a:endParaRPr lang="zh-CN" altLang="zh-CN"/>
          </a:p>
          <a:p>
            <a:pPr eaLnBrk="1" hangingPunct="1"/>
            <a:endParaRPr lang="zh-CN" altLang="en-US"/>
          </a:p>
        </p:txBody>
      </p:sp>
    </p:spTree>
  </p:cSld>
  <p:clrMapOvr>
    <a:masterClrMapping/>
  </p:clrMapOvr>
  <p:transition spd="slow">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55650" y="2060575"/>
            <a:ext cx="7993063" cy="279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3213100"/>
            <a:ext cx="7993063" cy="18716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3" name="TextBox 2"/>
          <p:cNvSpPr txBox="1"/>
          <p:nvPr/>
        </p:nvSpPr>
        <p:spPr>
          <a:xfrm>
            <a:off x="395288" y="1484313"/>
            <a:ext cx="8353425" cy="3970337"/>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a:t>
            </a:r>
            <a:r>
              <a:rPr lang="en-US" altLang="zh-CN" dirty="0">
                <a:latin typeface="+mn-lt"/>
                <a:ea typeface="+mn-ea"/>
              </a:rPr>
              <a:t>COUNT</a:t>
            </a:r>
            <a:endParaRPr lang="zh-CN" altLang="zh-CN" dirty="0">
              <a:latin typeface="+mn-lt"/>
              <a:ea typeface="+mn-ea"/>
            </a:endParaRPr>
          </a:p>
          <a:p>
            <a:pPr indent="446405" fontAlgn="ctr">
              <a:spcBef>
                <a:spcPts val="0"/>
              </a:spcBef>
              <a:spcAft>
                <a:spcPts val="0"/>
              </a:spcAft>
              <a:defRPr/>
            </a:pPr>
            <a:r>
              <a:rPr lang="en-US" altLang="zh-CN" dirty="0">
                <a:latin typeface="+mn-lt"/>
                <a:ea typeface="+mn-ea"/>
              </a:rPr>
              <a:t>COUNT</a:t>
            </a:r>
            <a:r>
              <a:rPr lang="zh-CN" altLang="zh-CN" dirty="0">
                <a:latin typeface="+mn-lt"/>
                <a:ea typeface="+mn-ea"/>
              </a:rPr>
              <a:t>用于统计组中满足条件的行数或总行数，格式为：</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COUNT ( { [ ALL | DISTINCT ]</a:t>
            </a:r>
            <a:r>
              <a:rPr lang="zh-CN" altLang="zh-CN" dirty="0">
                <a:latin typeface="+mn-lt"/>
                <a:ea typeface="+mn-ea"/>
              </a:rPr>
              <a:t>表达式</a:t>
            </a:r>
            <a:r>
              <a:rPr lang="en-US" altLang="zh-CN" dirty="0">
                <a:latin typeface="+mn-lt"/>
                <a:ea typeface="+mn-ea"/>
              </a:rPr>
              <a:t> } | * )</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其中，“表达式”的数据类型是除</a:t>
            </a:r>
            <a:r>
              <a:rPr lang="en-US" altLang="zh-CN" dirty="0">
                <a:latin typeface="+mn-lt"/>
                <a:ea typeface="+mn-ea"/>
              </a:rPr>
              <a:t>text</a:t>
            </a:r>
            <a:r>
              <a:rPr lang="zh-CN" altLang="zh-CN" dirty="0">
                <a:latin typeface="+mn-lt"/>
                <a:ea typeface="+mn-ea"/>
              </a:rPr>
              <a:t>、</a:t>
            </a:r>
            <a:r>
              <a:rPr lang="en-US" altLang="zh-CN" dirty="0">
                <a:latin typeface="+mn-lt"/>
                <a:ea typeface="+mn-ea"/>
              </a:rPr>
              <a:t>image</a:t>
            </a:r>
            <a:r>
              <a:rPr lang="zh-CN" altLang="zh-CN" dirty="0">
                <a:latin typeface="+mn-lt"/>
                <a:ea typeface="+mn-ea"/>
              </a:rPr>
              <a:t>或</a:t>
            </a:r>
            <a:r>
              <a:rPr lang="en-US" altLang="zh-CN" dirty="0" err="1">
                <a:latin typeface="+mn-lt"/>
                <a:ea typeface="+mn-ea"/>
              </a:rPr>
              <a:t>ntext</a:t>
            </a:r>
            <a:r>
              <a:rPr lang="zh-CN" altLang="zh-CN" dirty="0">
                <a:latin typeface="+mn-lt"/>
                <a:ea typeface="+mn-ea"/>
              </a:rPr>
              <a:t>之外的任何类型。</a:t>
            </a:r>
            <a:r>
              <a:rPr lang="en-US" altLang="zh-CN" dirty="0">
                <a:latin typeface="+mn-lt"/>
                <a:ea typeface="+mn-ea"/>
              </a:rPr>
              <a:t>ALL</a:t>
            </a:r>
            <a:r>
              <a:rPr lang="zh-CN" altLang="zh-CN" dirty="0">
                <a:latin typeface="+mn-lt"/>
                <a:ea typeface="+mn-ea"/>
              </a:rPr>
              <a:t>、</a:t>
            </a:r>
            <a:r>
              <a:rPr lang="en-US" altLang="zh-CN" dirty="0">
                <a:latin typeface="+mn-lt"/>
                <a:ea typeface="+mn-ea"/>
              </a:rPr>
              <a:t>DISTINCT</a:t>
            </a:r>
            <a:r>
              <a:rPr lang="zh-CN" altLang="zh-CN" dirty="0">
                <a:latin typeface="+mn-lt"/>
                <a:ea typeface="+mn-ea"/>
              </a:rPr>
              <a:t>的含义及默认值与</a:t>
            </a:r>
            <a:r>
              <a:rPr lang="en-US" altLang="zh-CN" dirty="0">
                <a:latin typeface="+mn-lt"/>
                <a:ea typeface="+mn-ea"/>
              </a:rPr>
              <a:t>SUM/AVG</a:t>
            </a:r>
            <a:r>
              <a:rPr lang="zh-CN" altLang="zh-CN" dirty="0">
                <a:latin typeface="+mn-lt"/>
                <a:ea typeface="+mn-ea"/>
              </a:rPr>
              <a:t>函数相同，</a:t>
            </a:r>
            <a:r>
              <a:rPr lang="en-US" altLang="zh-CN" dirty="0">
                <a:latin typeface="+mn-lt"/>
                <a:ea typeface="+mn-ea"/>
              </a:rPr>
              <a:t>COUNT</a:t>
            </a:r>
            <a:r>
              <a:rPr lang="zh-CN" altLang="zh-CN" dirty="0">
                <a:latin typeface="+mn-lt"/>
                <a:ea typeface="+mn-ea"/>
              </a:rPr>
              <a:t>忽略</a:t>
            </a:r>
            <a:r>
              <a:rPr lang="en-US" altLang="zh-CN" dirty="0">
                <a:latin typeface="+mn-lt"/>
                <a:ea typeface="+mn-ea"/>
              </a:rPr>
              <a:t>NULL</a:t>
            </a:r>
            <a:r>
              <a:rPr lang="zh-CN" altLang="zh-CN" dirty="0">
                <a:latin typeface="+mn-lt"/>
                <a:ea typeface="+mn-ea"/>
              </a:rPr>
              <a:t>值。</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a:t>
            </a:r>
            <a:r>
              <a:rPr lang="en-US" altLang="zh-CN" dirty="0">
                <a:latin typeface="+mn-lt"/>
                <a:ea typeface="+mn-ea"/>
              </a:rPr>
              <a:t>4.10</a:t>
            </a:r>
            <a:r>
              <a:rPr lang="zh-CN" altLang="zh-CN" dirty="0">
                <a:latin typeface="+mn-lt"/>
                <a:ea typeface="+mn-ea"/>
              </a:rPr>
              <a:t>】 求学生的总数、总学分在</a:t>
            </a:r>
            <a:r>
              <a:rPr lang="en-US" altLang="zh-CN" dirty="0">
                <a:latin typeface="+mn-lt"/>
                <a:ea typeface="+mn-ea"/>
              </a:rPr>
              <a:t>50</a:t>
            </a:r>
            <a:r>
              <a:rPr lang="zh-CN" altLang="zh-CN" dirty="0">
                <a:latin typeface="+mn-lt"/>
                <a:ea typeface="+mn-ea"/>
              </a:rPr>
              <a:t>分以上的人数和专业个数。</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COUNT(*) AS  '</a:t>
            </a:r>
            <a:r>
              <a:rPr lang="zh-CN" altLang="zh-CN" dirty="0">
                <a:latin typeface="+mn-lt"/>
                <a:ea typeface="+mn-ea"/>
              </a:rPr>
              <a:t>学生总数</a:t>
            </a:r>
            <a:r>
              <a:rPr lang="en-US" altLang="zh-CN" dirty="0">
                <a:latin typeface="+mn-lt"/>
                <a:ea typeface="+mn-ea"/>
              </a:rPr>
              <a:t>' , COUNT(DISTINCT</a:t>
            </a:r>
            <a:r>
              <a:rPr lang="zh-CN" altLang="zh-CN" dirty="0">
                <a:latin typeface="+mn-lt"/>
                <a:ea typeface="+mn-ea"/>
              </a:rPr>
              <a:t>专业</a:t>
            </a:r>
            <a:r>
              <a:rPr lang="en-US" altLang="zh-CN" dirty="0">
                <a:latin typeface="+mn-lt"/>
                <a:ea typeface="+mn-ea"/>
              </a:rPr>
              <a:t>)  AS  ‘</a:t>
            </a:r>
            <a:r>
              <a:rPr lang="zh-CN" altLang="zh-CN" dirty="0">
                <a:latin typeface="+mn-lt"/>
                <a:ea typeface="+mn-ea"/>
              </a:rPr>
              <a:t>专业个数</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r>
              <a:rPr lang="en-US" altLang="zh-CN" dirty="0">
                <a:latin typeface="+mn-lt"/>
                <a:ea typeface="+mn-ea"/>
              </a:rPr>
              <a: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COUNT(</a:t>
            </a:r>
            <a:r>
              <a:rPr lang="zh-CN" altLang="zh-CN" dirty="0">
                <a:latin typeface="+mn-lt"/>
                <a:ea typeface="+mn-ea"/>
              </a:rPr>
              <a:t>总学分</a:t>
            </a:r>
            <a:r>
              <a:rPr lang="en-US" altLang="zh-CN" dirty="0">
                <a:latin typeface="+mn-lt"/>
                <a:ea typeface="+mn-ea"/>
              </a:rPr>
              <a:t>)  AS  '</a:t>
            </a:r>
            <a:r>
              <a:rPr lang="zh-CN" altLang="zh-CN" dirty="0">
                <a:latin typeface="+mn-lt"/>
                <a:ea typeface="+mn-ea"/>
              </a:rPr>
              <a:t>总学分</a:t>
            </a:r>
            <a:r>
              <a:rPr lang="en-US" altLang="zh-CN" dirty="0">
                <a:latin typeface="+mn-lt"/>
                <a:ea typeface="+mn-ea"/>
              </a:rPr>
              <a:t>&gt;50</a:t>
            </a:r>
            <a:r>
              <a:rPr lang="zh-CN" altLang="zh-CN" dirty="0">
                <a:latin typeface="+mn-lt"/>
                <a:ea typeface="+mn-ea"/>
              </a:rPr>
              <a:t>分人数</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总学分</a:t>
            </a:r>
            <a:r>
              <a:rPr lang="en-US" altLang="zh-CN" dirty="0">
                <a:latin typeface="+mn-lt"/>
                <a:ea typeface="+mn-ea"/>
              </a:rPr>
              <a:t>&gt;50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GO</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4.1.1  </a:t>
            </a:r>
            <a:r>
              <a:rPr lang="zh-CN" altLang="zh-CN" dirty="0">
                <a:effectLst/>
              </a:rPr>
              <a:t>选择查询结果输出列：</a:t>
            </a:r>
            <a:r>
              <a:rPr lang="en-US" altLang="zh-CN" dirty="0">
                <a:effectLst/>
              </a:rPr>
              <a:t>*/</a:t>
            </a:r>
            <a:r>
              <a:rPr lang="zh-CN" altLang="zh-CN" dirty="0">
                <a:effectLst/>
              </a:rPr>
              <a:t>列表</a:t>
            </a:r>
            <a:endParaRPr lang="zh-CN" altLang="en-US" dirty="0"/>
          </a:p>
        </p:txBody>
      </p:sp>
      <p:sp>
        <p:nvSpPr>
          <p:cNvPr id="21507" name="矩形 2"/>
          <p:cNvSpPr>
            <a:spLocks noChangeArrowheads="1"/>
          </p:cNvSpPr>
          <p:nvPr/>
        </p:nvSpPr>
        <p:spPr bwMode="auto">
          <a:xfrm>
            <a:off x="900113" y="1341438"/>
            <a:ext cx="2552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ctr"/>
            <a:r>
              <a:rPr lang="zh-CN" altLang="zh-CN"/>
              <a:t>执行结果如图</a:t>
            </a:r>
            <a:r>
              <a:rPr lang="en-US" altLang="zh-CN"/>
              <a:t>4.7</a:t>
            </a:r>
            <a:r>
              <a:rPr lang="zh-CN" altLang="zh-CN"/>
              <a:t>所示。</a:t>
            </a:r>
            <a:endParaRPr lang="zh-CN" altLang="zh-CN"/>
          </a:p>
        </p:txBody>
      </p:sp>
      <p:pic>
        <p:nvPicPr>
          <p:cNvPr id="2150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92275" y="1817688"/>
            <a:ext cx="5543550" cy="319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35025" y="3357563"/>
            <a:ext cx="7848600"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492375"/>
            <a:ext cx="7848600"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zh-CN" dirty="0">
              <a:effectLst/>
            </a:endParaRPr>
          </a:p>
        </p:txBody>
      </p:sp>
      <p:sp>
        <p:nvSpPr>
          <p:cNvPr id="3" name="TextBox 2"/>
          <p:cNvSpPr txBox="1"/>
          <p:nvPr/>
        </p:nvSpPr>
        <p:spPr>
          <a:xfrm>
            <a:off x="468313" y="1341438"/>
            <a:ext cx="8207375" cy="3416300"/>
          </a:xfrm>
          <a:prstGeom prst="rect">
            <a:avLst/>
          </a:prstGeom>
          <a:noFill/>
        </p:spPr>
        <p:txBody>
          <a:bodyPr>
            <a:spAutoFit/>
          </a:bodyPr>
          <a:lstStyle/>
          <a:p>
            <a:pPr indent="446405" fontAlgn="auto">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．表达式比较</a:t>
            </a:r>
            <a:endParaRPr lang="zh-CN" altLang="zh-CN" b="1" dirty="0">
              <a:solidFill>
                <a:srgbClr val="C00000"/>
              </a:solidFill>
              <a:latin typeface="+mn-lt"/>
              <a:ea typeface="+mn-ea"/>
            </a:endParaRPr>
          </a:p>
          <a:p>
            <a:pPr indent="446405" fontAlgn="ctr">
              <a:spcBef>
                <a:spcPts val="0"/>
              </a:spcBef>
              <a:spcAft>
                <a:spcPts val="0"/>
              </a:spcAft>
              <a:defRPr/>
            </a:pPr>
            <a:r>
              <a:rPr lang="zh-CN" altLang="zh-CN" dirty="0">
                <a:latin typeface="+mn-lt"/>
                <a:ea typeface="+mn-ea"/>
              </a:rPr>
              <a:t>比较运算符用于比较两个表达式值，共有</a:t>
            </a:r>
            <a:r>
              <a:rPr lang="en-US" altLang="zh-CN" dirty="0">
                <a:latin typeface="+mn-lt"/>
                <a:ea typeface="+mn-ea"/>
              </a:rPr>
              <a:t>9</a:t>
            </a:r>
            <a:r>
              <a:rPr lang="zh-CN" altLang="zh-CN" dirty="0">
                <a:latin typeface="+mn-lt"/>
                <a:ea typeface="+mn-ea"/>
              </a:rPr>
              <a:t>个，分别是</a:t>
            </a:r>
            <a:r>
              <a:rPr lang="en-US" altLang="zh-CN" dirty="0">
                <a:latin typeface="+mn-lt"/>
                <a:ea typeface="+mn-ea"/>
              </a:rPr>
              <a:t> =</a:t>
            </a:r>
            <a:r>
              <a:rPr lang="zh-CN" altLang="zh-CN" dirty="0">
                <a:latin typeface="+mn-lt"/>
                <a:ea typeface="+mn-ea"/>
              </a:rPr>
              <a:t>（等于）、</a:t>
            </a:r>
            <a:r>
              <a:rPr lang="en-US" altLang="zh-CN" dirty="0">
                <a:latin typeface="+mn-lt"/>
                <a:ea typeface="+mn-ea"/>
              </a:rPr>
              <a:t>&lt;</a:t>
            </a:r>
            <a:r>
              <a:rPr lang="zh-CN" altLang="zh-CN" dirty="0">
                <a:latin typeface="+mn-lt"/>
                <a:ea typeface="+mn-ea"/>
              </a:rPr>
              <a:t>（小于）、</a:t>
            </a:r>
            <a:r>
              <a:rPr lang="en-US" altLang="zh-CN" dirty="0">
                <a:latin typeface="+mn-lt"/>
                <a:ea typeface="+mn-ea"/>
              </a:rPr>
              <a:t>&lt;=</a:t>
            </a:r>
            <a:r>
              <a:rPr lang="zh-CN" altLang="zh-CN" dirty="0">
                <a:latin typeface="+mn-lt"/>
                <a:ea typeface="+mn-ea"/>
              </a:rPr>
              <a:t>（小于等于）、</a:t>
            </a:r>
            <a:r>
              <a:rPr lang="en-US" altLang="zh-CN" dirty="0">
                <a:latin typeface="+mn-lt"/>
                <a:ea typeface="+mn-ea"/>
              </a:rPr>
              <a:t>&gt;</a:t>
            </a:r>
            <a:r>
              <a:rPr lang="zh-CN" altLang="zh-CN" dirty="0">
                <a:latin typeface="+mn-lt"/>
                <a:ea typeface="+mn-ea"/>
              </a:rPr>
              <a:t>（大于）、</a:t>
            </a:r>
            <a:r>
              <a:rPr lang="en-US" altLang="zh-CN" dirty="0">
                <a:latin typeface="+mn-lt"/>
                <a:ea typeface="+mn-ea"/>
              </a:rPr>
              <a:t>&gt;=</a:t>
            </a:r>
            <a:r>
              <a:rPr lang="zh-CN" altLang="zh-CN" dirty="0">
                <a:latin typeface="+mn-lt"/>
                <a:ea typeface="+mn-ea"/>
              </a:rPr>
              <a:t>（大于等于）、</a:t>
            </a:r>
            <a:r>
              <a:rPr lang="en-US" altLang="zh-CN" dirty="0">
                <a:latin typeface="+mn-lt"/>
                <a:ea typeface="+mn-ea"/>
              </a:rPr>
              <a:t>&lt;&gt;</a:t>
            </a:r>
            <a:r>
              <a:rPr lang="zh-CN" altLang="zh-CN" dirty="0">
                <a:latin typeface="+mn-lt"/>
                <a:ea typeface="+mn-ea"/>
              </a:rPr>
              <a:t>（不等于）、</a:t>
            </a:r>
            <a:r>
              <a:rPr lang="en-US" altLang="zh-CN" dirty="0">
                <a:latin typeface="+mn-lt"/>
                <a:ea typeface="+mn-ea"/>
              </a:rPr>
              <a:t>!=</a:t>
            </a:r>
            <a:r>
              <a:rPr lang="zh-CN" altLang="zh-CN" dirty="0">
                <a:latin typeface="+mn-lt"/>
                <a:ea typeface="+mn-ea"/>
              </a:rPr>
              <a:t>（不等于）、</a:t>
            </a:r>
            <a:r>
              <a:rPr lang="en-US" altLang="zh-CN" dirty="0">
                <a:latin typeface="+mn-lt"/>
                <a:ea typeface="+mn-ea"/>
              </a:rPr>
              <a:t>!&lt;</a:t>
            </a:r>
            <a:r>
              <a:rPr lang="zh-CN" altLang="zh-CN" dirty="0">
                <a:latin typeface="+mn-lt"/>
                <a:ea typeface="+mn-ea"/>
              </a:rPr>
              <a:t>（不小于）、</a:t>
            </a:r>
            <a:r>
              <a:rPr lang="en-US" altLang="zh-CN" dirty="0">
                <a:latin typeface="+mn-lt"/>
                <a:ea typeface="+mn-ea"/>
              </a:rPr>
              <a:t>!&gt;</a:t>
            </a:r>
            <a:r>
              <a:rPr lang="zh-CN" altLang="zh-CN" dirty="0">
                <a:latin typeface="+mn-lt"/>
                <a:ea typeface="+mn-ea"/>
              </a:rPr>
              <a:t>（不大于）。比较运算的格式为：</a:t>
            </a:r>
            <a:endParaRPr lang="zh-CN" altLang="zh-CN" dirty="0">
              <a:latin typeface="+mn-lt"/>
              <a:ea typeface="+mn-ea"/>
            </a:endParaRPr>
          </a:p>
          <a:p>
            <a:pPr indent="446405" fontAlgn="auto">
              <a:spcBef>
                <a:spcPts val="0"/>
              </a:spcBef>
              <a:spcAft>
                <a:spcPts val="0"/>
              </a:spcAft>
              <a:defRPr/>
            </a:pPr>
            <a:r>
              <a:rPr lang="zh-CN" altLang="zh-CN" dirty="0">
                <a:latin typeface="+mn-lt"/>
                <a:ea typeface="+mn-ea"/>
              </a:rPr>
              <a:t>表达式</a:t>
            </a:r>
            <a:r>
              <a:rPr lang="en-US" altLang="zh-CN" dirty="0">
                <a:latin typeface="+mn-lt"/>
                <a:ea typeface="+mn-ea"/>
              </a:rPr>
              <a:t>1  {</a:t>
            </a:r>
            <a:r>
              <a:rPr lang="zh-CN" altLang="zh-CN" dirty="0">
                <a:latin typeface="+mn-lt"/>
                <a:ea typeface="+mn-ea"/>
              </a:rPr>
              <a:t>比较运算符</a:t>
            </a:r>
            <a:r>
              <a:rPr lang="en-US" altLang="zh-CN" dirty="0">
                <a:latin typeface="+mn-lt"/>
                <a:ea typeface="+mn-ea"/>
              </a:rPr>
              <a:t>} </a:t>
            </a:r>
            <a:r>
              <a:rPr lang="zh-CN" altLang="zh-CN" dirty="0">
                <a:latin typeface="+mn-lt"/>
                <a:ea typeface="+mn-ea"/>
              </a:rPr>
              <a:t>表达式</a:t>
            </a:r>
            <a:r>
              <a:rPr lang="en-US" altLang="zh-CN" dirty="0">
                <a:latin typeface="+mn-lt"/>
                <a:ea typeface="+mn-ea"/>
              </a:rPr>
              <a:t>2</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其中，“表达式”是除</a:t>
            </a:r>
            <a:r>
              <a:rPr lang="en-US" altLang="zh-CN" dirty="0">
                <a:latin typeface="+mn-lt"/>
                <a:ea typeface="+mn-ea"/>
              </a:rPr>
              <a:t>text</a:t>
            </a:r>
            <a:r>
              <a:rPr lang="zh-CN" altLang="zh-CN" dirty="0">
                <a:latin typeface="+mn-lt"/>
                <a:ea typeface="+mn-ea"/>
              </a:rPr>
              <a:t>、</a:t>
            </a:r>
            <a:r>
              <a:rPr lang="en-US" altLang="zh-CN" dirty="0" err="1">
                <a:latin typeface="+mn-lt"/>
                <a:ea typeface="+mn-ea"/>
              </a:rPr>
              <a:t>ntext</a:t>
            </a:r>
            <a:r>
              <a:rPr lang="zh-CN" altLang="zh-CN" dirty="0">
                <a:latin typeface="+mn-lt"/>
                <a:ea typeface="+mn-ea"/>
              </a:rPr>
              <a:t>和</a:t>
            </a:r>
            <a:r>
              <a:rPr lang="en-US" altLang="zh-CN" dirty="0">
                <a:latin typeface="+mn-lt"/>
                <a:ea typeface="+mn-ea"/>
              </a:rPr>
              <a:t>image</a:t>
            </a:r>
            <a:r>
              <a:rPr lang="zh-CN" altLang="zh-CN" dirty="0">
                <a:latin typeface="+mn-lt"/>
                <a:ea typeface="+mn-ea"/>
              </a:rPr>
              <a:t>以外类型的表达式。</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a:t>
            </a:r>
            <a:r>
              <a:rPr lang="en-US" altLang="zh-CN" dirty="0">
                <a:latin typeface="+mn-lt"/>
                <a:ea typeface="+mn-ea"/>
              </a:rPr>
              <a:t>4.11</a:t>
            </a:r>
            <a:r>
              <a:rPr lang="zh-CN" altLang="zh-CN" dirty="0">
                <a:latin typeface="+mn-lt"/>
                <a:ea typeface="+mn-ea"/>
              </a:rPr>
              <a:t>】 查询</a:t>
            </a:r>
            <a:r>
              <a:rPr lang="en-US" altLang="zh-CN" dirty="0" err="1">
                <a:latin typeface="+mn-lt"/>
                <a:ea typeface="+mn-ea"/>
              </a:rPr>
              <a:t>xsb</a:t>
            </a:r>
            <a:r>
              <a:rPr lang="zh-CN" altLang="zh-CN" dirty="0">
                <a:latin typeface="+mn-lt"/>
                <a:ea typeface="+mn-ea"/>
              </a:rPr>
              <a:t>表中通信工程专业总学分大于等于</a:t>
            </a:r>
            <a:r>
              <a:rPr lang="en-US" altLang="zh-CN" dirty="0">
                <a:latin typeface="+mn-lt"/>
                <a:ea typeface="+mn-ea"/>
              </a:rPr>
              <a:t>42</a:t>
            </a:r>
            <a:r>
              <a:rPr lang="zh-CN" altLang="zh-CN" dirty="0">
                <a:latin typeface="+mn-lt"/>
                <a:ea typeface="+mn-ea"/>
              </a:rPr>
              <a:t>的同学的情况。</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专业</a:t>
            </a:r>
            <a:r>
              <a:rPr lang="en-US" altLang="zh-CN" dirty="0">
                <a:latin typeface="+mn-lt"/>
                <a:ea typeface="+mn-ea"/>
              </a:rPr>
              <a:t>= '</a:t>
            </a:r>
            <a:r>
              <a:rPr lang="zh-CN" altLang="zh-CN" dirty="0">
                <a:latin typeface="+mn-lt"/>
                <a:ea typeface="+mn-ea"/>
              </a:rPr>
              <a:t>通信工程</a:t>
            </a:r>
            <a:r>
              <a:rPr lang="en-US" altLang="zh-CN" dirty="0">
                <a:latin typeface="+mn-lt"/>
                <a:ea typeface="+mn-ea"/>
              </a:rPr>
              <a:t>'  AND</a:t>
            </a:r>
            <a:r>
              <a:rPr lang="zh-CN" altLang="zh-CN" dirty="0">
                <a:latin typeface="+mn-lt"/>
                <a:ea typeface="+mn-ea"/>
              </a:rPr>
              <a:t>总学分</a:t>
            </a:r>
            <a:r>
              <a:rPr lang="en-US" altLang="zh-CN" dirty="0">
                <a:latin typeface="+mn-lt"/>
                <a:ea typeface="+mn-ea"/>
              </a:rPr>
              <a:t> &gt;= 42</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执行结果如图</a:t>
            </a:r>
            <a:r>
              <a:rPr lang="en-US" altLang="zh-CN" dirty="0">
                <a:latin typeface="+mn-lt"/>
                <a:ea typeface="+mn-ea"/>
              </a:rPr>
              <a:t>4.8</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225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11638" y="4246563"/>
            <a:ext cx="2997200" cy="220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2916238"/>
            <a:ext cx="7775575" cy="8001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349500"/>
            <a:ext cx="7775575"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23557" name="TextBox 2"/>
          <p:cNvSpPr txBox="1">
            <a:spLocks noChangeArrowheads="1"/>
          </p:cNvSpPr>
          <p:nvPr/>
        </p:nvSpPr>
        <p:spPr bwMode="auto">
          <a:xfrm>
            <a:off x="468313" y="1484313"/>
            <a:ext cx="820737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．模式匹配</a:t>
            </a:r>
            <a:endParaRPr lang="zh-CN" altLang="zh-CN" b="1">
              <a:solidFill>
                <a:srgbClr val="C00000"/>
              </a:solidFill>
            </a:endParaRPr>
          </a:p>
          <a:p>
            <a:pPr eaLnBrk="1" fontAlgn="ctr" hangingPunct="1"/>
            <a:r>
              <a:rPr lang="en-US" altLang="zh-CN"/>
              <a:t>LIKE</a:t>
            </a:r>
            <a:r>
              <a:rPr lang="zh-CN" altLang="zh-CN"/>
              <a:t>谓词用于指出字符串是否与指定的字符串相匹配，返回逻辑值</a:t>
            </a:r>
            <a:r>
              <a:rPr lang="en-US" altLang="zh-CN"/>
              <a:t>TRUE</a:t>
            </a:r>
            <a:r>
              <a:rPr lang="zh-CN" altLang="zh-CN"/>
              <a:t>或</a:t>
            </a:r>
            <a:r>
              <a:rPr lang="en-US" altLang="zh-CN"/>
              <a:t>FALSE</a:t>
            </a:r>
            <a:r>
              <a:rPr lang="zh-CN" altLang="zh-CN"/>
              <a:t>。</a:t>
            </a:r>
            <a:r>
              <a:rPr lang="en-US" altLang="zh-CN"/>
              <a:t>LIKE</a:t>
            </a:r>
            <a:r>
              <a:rPr lang="zh-CN" altLang="zh-CN"/>
              <a:t>谓词表达式的格式为：</a:t>
            </a:r>
            <a:endParaRPr lang="zh-CN" altLang="zh-CN"/>
          </a:p>
          <a:p>
            <a:pPr eaLnBrk="1" hangingPunct="1"/>
            <a:r>
              <a:rPr lang="zh-CN" altLang="zh-CN"/>
              <a:t>表达式</a:t>
            </a:r>
            <a:r>
              <a:rPr lang="en-US" altLang="zh-CN"/>
              <a:t>[ NOT ] LIKE</a:t>
            </a:r>
            <a:r>
              <a:rPr lang="zh-CN" altLang="zh-CN"/>
              <a:t>模式串</a:t>
            </a:r>
            <a:r>
              <a:rPr lang="en-US" altLang="zh-CN"/>
              <a:t>[ ESCAPE</a:t>
            </a:r>
            <a:r>
              <a:rPr lang="zh-CN" altLang="zh-CN"/>
              <a:t>转义符</a:t>
            </a:r>
            <a:r>
              <a:rPr lang="en-US" altLang="zh-CN"/>
              <a:t>]</a:t>
            </a:r>
            <a:endParaRPr lang="zh-CN" altLang="zh-CN"/>
          </a:p>
          <a:p>
            <a:pPr eaLnBrk="1" fontAlgn="ctr" hangingPunct="1"/>
            <a:r>
              <a:rPr lang="zh-CN" altLang="zh-CN"/>
              <a:t>【例</a:t>
            </a:r>
            <a:r>
              <a:rPr lang="en-US" altLang="zh-CN"/>
              <a:t>4.12</a:t>
            </a:r>
            <a:r>
              <a:rPr lang="zh-CN" altLang="zh-CN"/>
              <a:t>】 查询</a:t>
            </a:r>
            <a:r>
              <a:rPr lang="en-US" altLang="zh-CN"/>
              <a:t>xsb</a:t>
            </a:r>
            <a:r>
              <a:rPr lang="zh-CN" altLang="zh-CN"/>
              <a:t>表中姓“王”且单名的学生情况。</a:t>
            </a:r>
            <a:endParaRPr lang="zh-CN" altLang="zh-CN"/>
          </a:p>
          <a:p>
            <a:pPr eaLnBrk="1" hangingPunct="1"/>
            <a:r>
              <a:rPr lang="en-US" altLang="zh-CN"/>
              <a:t>SELECT  *</a:t>
            </a:r>
            <a:endParaRPr lang="zh-CN" altLang="zh-CN"/>
          </a:p>
          <a:p>
            <a:pPr eaLnBrk="1" hangingPunct="1"/>
            <a:r>
              <a:rPr lang="en-US" altLang="zh-CN"/>
              <a:t>     FROM xsb</a:t>
            </a:r>
            <a:endParaRPr lang="zh-CN" altLang="zh-CN"/>
          </a:p>
          <a:p>
            <a:pPr eaLnBrk="1" hangingPunct="1"/>
            <a:r>
              <a:rPr lang="en-US" altLang="zh-CN"/>
              <a:t>     WHERE</a:t>
            </a:r>
            <a:r>
              <a:rPr lang="zh-CN" altLang="zh-CN"/>
              <a:t>姓名</a:t>
            </a:r>
            <a:r>
              <a:rPr lang="en-US" altLang="zh-CN"/>
              <a:t>LIKE '</a:t>
            </a:r>
            <a:r>
              <a:rPr lang="zh-CN" altLang="zh-CN"/>
              <a:t>王</a:t>
            </a:r>
            <a:r>
              <a:rPr lang="en-US" altLang="zh-CN"/>
              <a:t>_ '</a:t>
            </a:r>
            <a:endParaRPr lang="zh-CN" altLang="zh-CN"/>
          </a:p>
          <a:p>
            <a:pPr eaLnBrk="1" fontAlgn="ctr" hangingPunct="1"/>
            <a:r>
              <a:rPr lang="zh-CN" altLang="zh-CN"/>
              <a:t>执行结果如图</a:t>
            </a:r>
            <a:r>
              <a:rPr lang="en-US" altLang="zh-CN"/>
              <a:t>4.9</a:t>
            </a:r>
            <a:r>
              <a:rPr lang="zh-CN" altLang="zh-CN"/>
              <a:t>所示。</a:t>
            </a:r>
            <a:endParaRPr lang="zh-CN" altLang="zh-CN"/>
          </a:p>
          <a:p>
            <a:pPr eaLnBrk="1" hangingPunct="1"/>
            <a:endParaRPr lang="zh-CN" altLang="en-US"/>
          </a:p>
        </p:txBody>
      </p:sp>
      <p:pic>
        <p:nvPicPr>
          <p:cNvPr id="2355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95400" y="4149725"/>
            <a:ext cx="6445250" cy="176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71550" y="2133600"/>
            <a:ext cx="7704138"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24580" name="TextBox 2"/>
          <p:cNvSpPr txBox="1">
            <a:spLocks noChangeArrowheads="1"/>
          </p:cNvSpPr>
          <p:nvPr/>
        </p:nvSpPr>
        <p:spPr bwMode="auto">
          <a:xfrm>
            <a:off x="539750" y="1557338"/>
            <a:ext cx="8135938"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4.13</a:t>
            </a:r>
            <a:r>
              <a:rPr lang="zh-CN" altLang="zh-CN"/>
              <a:t>】 查询</a:t>
            </a:r>
            <a:r>
              <a:rPr lang="en-US" altLang="zh-CN"/>
              <a:t>xsb</a:t>
            </a:r>
            <a:r>
              <a:rPr lang="zh-CN" altLang="zh-CN"/>
              <a:t>表中学号倒数第</a:t>
            </a:r>
            <a:r>
              <a:rPr lang="en-US" altLang="zh-CN"/>
              <a:t>5</a:t>
            </a:r>
            <a:r>
              <a:rPr lang="zh-CN" altLang="zh-CN"/>
              <a:t>个数字为</a:t>
            </a:r>
            <a:r>
              <a:rPr lang="en-US" altLang="zh-CN"/>
              <a:t>9</a:t>
            </a:r>
            <a:r>
              <a:rPr lang="zh-CN" altLang="zh-CN"/>
              <a:t>，最后</a:t>
            </a:r>
            <a:r>
              <a:rPr lang="en-US" altLang="zh-CN"/>
              <a:t>1</a:t>
            </a:r>
            <a:r>
              <a:rPr lang="zh-CN" altLang="zh-CN"/>
              <a:t>个数在</a:t>
            </a:r>
            <a:r>
              <a:rPr lang="en-US" altLang="zh-CN"/>
              <a:t>1</a:t>
            </a:r>
            <a:r>
              <a:rPr lang="zh-CN" altLang="zh-CN"/>
              <a:t>至</a:t>
            </a:r>
            <a:r>
              <a:rPr lang="en-US" altLang="zh-CN"/>
              <a:t>5</a:t>
            </a:r>
            <a:r>
              <a:rPr lang="zh-CN" altLang="zh-CN"/>
              <a:t>之间的学生学号、姓名及专业。</a:t>
            </a:r>
            <a:endParaRPr lang="zh-CN" altLang="zh-CN"/>
          </a:p>
          <a:p>
            <a:pPr eaLnBrk="1" hangingPunct="1"/>
            <a:r>
              <a:rPr lang="en-US" altLang="zh-CN"/>
              <a:t>SELECT</a:t>
            </a:r>
            <a:r>
              <a:rPr lang="zh-CN" altLang="zh-CN"/>
              <a:t>学号</a:t>
            </a:r>
            <a:r>
              <a:rPr lang="en-US" altLang="zh-CN"/>
              <a:t>,</a:t>
            </a:r>
            <a:r>
              <a:rPr lang="zh-CN" altLang="zh-CN"/>
              <a:t>姓名</a:t>
            </a:r>
            <a:r>
              <a:rPr lang="en-US" altLang="zh-CN"/>
              <a:t>,</a:t>
            </a:r>
            <a:r>
              <a:rPr lang="zh-CN" altLang="zh-CN"/>
              <a:t>专业</a:t>
            </a:r>
            <a:endParaRPr lang="zh-CN" altLang="zh-CN"/>
          </a:p>
          <a:p>
            <a:pPr eaLnBrk="1" hangingPunct="1"/>
            <a:r>
              <a:rPr lang="en-US" altLang="zh-CN"/>
              <a:t>     FROM xsb</a:t>
            </a:r>
            <a:endParaRPr lang="zh-CN" altLang="zh-CN"/>
          </a:p>
          <a:p>
            <a:pPr eaLnBrk="1" hangingPunct="1"/>
            <a:r>
              <a:rPr lang="en-US" altLang="zh-CN"/>
              <a:t>     WHERE</a:t>
            </a:r>
            <a:r>
              <a:rPr lang="zh-CN" altLang="zh-CN"/>
              <a:t>学号</a:t>
            </a:r>
            <a:r>
              <a:rPr lang="en-US" altLang="zh-CN"/>
              <a:t>LIKE '%9_ _ _[1-5]' </a:t>
            </a:r>
            <a:endParaRPr lang="zh-CN" altLang="zh-CN"/>
          </a:p>
          <a:p>
            <a:pPr eaLnBrk="1" fontAlgn="ctr" hangingPunct="1"/>
            <a:r>
              <a:rPr lang="zh-CN" altLang="zh-CN"/>
              <a:t>执行结果如图</a:t>
            </a:r>
            <a:r>
              <a:rPr lang="en-US" altLang="zh-CN"/>
              <a:t>4.10</a:t>
            </a:r>
            <a:r>
              <a:rPr lang="zh-CN" altLang="zh-CN"/>
              <a:t>所示。</a:t>
            </a:r>
            <a:endParaRPr lang="zh-CN" altLang="zh-CN"/>
          </a:p>
          <a:p>
            <a:pPr eaLnBrk="1" hangingPunct="1"/>
            <a:endParaRPr lang="zh-CN" altLang="en-US"/>
          </a:p>
        </p:txBody>
      </p:sp>
      <p:pic>
        <p:nvPicPr>
          <p:cNvPr id="2458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40150" y="3213100"/>
            <a:ext cx="2919413"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71550" y="4149725"/>
            <a:ext cx="7777163"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71550" y="2997200"/>
            <a:ext cx="7777163"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3" name="TextBox 2"/>
          <p:cNvSpPr txBox="1"/>
          <p:nvPr/>
        </p:nvSpPr>
        <p:spPr>
          <a:xfrm>
            <a:off x="468313" y="1628775"/>
            <a:ext cx="8280400" cy="3694113"/>
          </a:xfrm>
          <a:prstGeom prst="rect">
            <a:avLst/>
          </a:prstGeom>
          <a:noFill/>
        </p:spPr>
        <p:txBody>
          <a:bodyPr>
            <a:spAutoFit/>
          </a:bodyPr>
          <a:lstStyle/>
          <a:p>
            <a:pPr indent="446405" fontAlgn="auto">
              <a:lnSpc>
                <a:spcPct val="150000"/>
              </a:lnSpc>
              <a:spcBef>
                <a:spcPts val="0"/>
              </a:spcBef>
              <a:spcAft>
                <a:spcPts val="0"/>
              </a:spcAft>
              <a:defRPr/>
            </a:pPr>
            <a:r>
              <a:rPr lang="en-US" altLang="zh-CN" b="1" dirty="0">
                <a:solidFill>
                  <a:srgbClr val="C00000"/>
                </a:solidFill>
                <a:latin typeface="+mn-lt"/>
                <a:ea typeface="+mn-ea"/>
              </a:rPr>
              <a:t>3</a:t>
            </a:r>
            <a:r>
              <a:rPr lang="zh-CN" altLang="zh-CN" b="1" dirty="0">
                <a:solidFill>
                  <a:srgbClr val="C00000"/>
                </a:solidFill>
                <a:latin typeface="+mn-lt"/>
                <a:ea typeface="+mn-ea"/>
              </a:rPr>
              <a:t>．范围比较</a:t>
            </a:r>
            <a:endParaRPr lang="zh-CN" altLang="zh-CN" b="1" dirty="0">
              <a:solidFill>
                <a:srgbClr val="C00000"/>
              </a:solidFill>
              <a:latin typeface="+mn-lt"/>
              <a:ea typeface="+mn-ea"/>
            </a:endParaRPr>
          </a:p>
          <a:p>
            <a:pPr indent="446405" fontAlgn="ctr">
              <a:lnSpc>
                <a:spcPct val="150000"/>
              </a:lnSpc>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）当要查询的条件是某个值的范围时，可以使用</a:t>
            </a:r>
            <a:r>
              <a:rPr lang="en-US" altLang="zh-CN" dirty="0">
                <a:latin typeface="+mn-lt"/>
                <a:ea typeface="+mn-ea"/>
              </a:rPr>
              <a:t>BETWEEN</a:t>
            </a:r>
            <a:r>
              <a:rPr lang="zh-CN" altLang="zh-CN" dirty="0">
                <a:latin typeface="+mn-lt"/>
                <a:ea typeface="+mn-ea"/>
              </a:rPr>
              <a:t>关键字。</a:t>
            </a:r>
            <a:r>
              <a:rPr lang="en-US" altLang="zh-CN" dirty="0">
                <a:latin typeface="+mn-lt"/>
                <a:ea typeface="+mn-ea"/>
              </a:rPr>
              <a:t>BETWEEN</a:t>
            </a:r>
            <a:r>
              <a:rPr lang="zh-CN" altLang="zh-CN" dirty="0">
                <a:latin typeface="+mn-lt"/>
                <a:ea typeface="+mn-ea"/>
              </a:rPr>
              <a:t>关键字指出查询范围，格式为：</a:t>
            </a:r>
            <a:endParaRPr lang="zh-CN" altLang="zh-CN" dirty="0">
              <a:latin typeface="+mn-lt"/>
              <a:ea typeface="+mn-ea"/>
            </a:endParaRPr>
          </a:p>
          <a:p>
            <a:pPr indent="446405" fontAlgn="auto">
              <a:lnSpc>
                <a:spcPct val="150000"/>
              </a:lnSpc>
              <a:spcBef>
                <a:spcPts val="0"/>
              </a:spcBef>
              <a:spcAft>
                <a:spcPts val="0"/>
              </a:spcAft>
              <a:defRPr/>
            </a:pPr>
            <a:r>
              <a:rPr lang="zh-CN" altLang="zh-CN" dirty="0">
                <a:latin typeface="+mn-lt"/>
                <a:ea typeface="+mn-ea"/>
              </a:rPr>
              <a:t>表达式</a:t>
            </a:r>
            <a:r>
              <a:rPr lang="en-US" altLang="zh-CN" dirty="0">
                <a:latin typeface="+mn-lt"/>
                <a:ea typeface="+mn-ea"/>
              </a:rPr>
              <a:t>[ NOT ] BETWEEN</a:t>
            </a:r>
            <a:r>
              <a:rPr lang="zh-CN" altLang="zh-CN" dirty="0">
                <a:latin typeface="+mn-lt"/>
                <a:ea typeface="+mn-ea"/>
              </a:rPr>
              <a:t>表达式</a:t>
            </a:r>
            <a:r>
              <a:rPr lang="en-US" altLang="zh-CN" dirty="0">
                <a:latin typeface="+mn-lt"/>
                <a:ea typeface="+mn-ea"/>
              </a:rPr>
              <a:t>1 AND</a:t>
            </a:r>
            <a:r>
              <a:rPr lang="zh-CN" altLang="zh-CN" dirty="0">
                <a:latin typeface="+mn-lt"/>
                <a:ea typeface="+mn-ea"/>
              </a:rPr>
              <a:t>表达式</a:t>
            </a:r>
            <a:r>
              <a:rPr lang="en-US" altLang="zh-CN" dirty="0">
                <a:latin typeface="+mn-lt"/>
                <a:ea typeface="+mn-ea"/>
              </a:rPr>
              <a:t>2</a:t>
            </a:r>
            <a:endParaRPr lang="zh-CN" altLang="zh-CN" dirty="0">
              <a:latin typeface="+mn-lt"/>
              <a:ea typeface="+mn-ea"/>
            </a:endParaRPr>
          </a:p>
          <a:p>
            <a:pPr indent="446405" fontAlgn="ctr">
              <a:lnSpc>
                <a:spcPct val="150000"/>
              </a:lnSpc>
              <a:spcBef>
                <a:spcPts val="0"/>
              </a:spcBef>
              <a:spcAft>
                <a:spcPts val="0"/>
              </a:spcAft>
              <a:defRPr/>
            </a:pPr>
            <a:r>
              <a:rPr lang="zh-CN" altLang="zh-CN" dirty="0">
                <a:latin typeface="+mn-lt"/>
                <a:ea typeface="+mn-ea"/>
              </a:rPr>
              <a:t>当不使用</a:t>
            </a:r>
            <a:r>
              <a:rPr lang="en-US" altLang="zh-CN" dirty="0">
                <a:latin typeface="+mn-lt"/>
                <a:ea typeface="+mn-ea"/>
              </a:rPr>
              <a:t>NOT</a:t>
            </a:r>
            <a:r>
              <a:rPr lang="zh-CN" altLang="zh-CN" dirty="0">
                <a:latin typeface="+mn-lt"/>
                <a:ea typeface="+mn-ea"/>
              </a:rPr>
              <a:t>时，若“表达式”的值在“表达式</a:t>
            </a:r>
            <a:r>
              <a:rPr lang="en-US" altLang="zh-CN" dirty="0">
                <a:latin typeface="+mn-lt"/>
                <a:ea typeface="+mn-ea"/>
              </a:rPr>
              <a:t>1</a:t>
            </a:r>
            <a:r>
              <a:rPr lang="zh-CN" altLang="zh-CN" dirty="0">
                <a:latin typeface="+mn-lt"/>
                <a:ea typeface="+mn-ea"/>
              </a:rPr>
              <a:t>”与“表达式</a:t>
            </a:r>
            <a:r>
              <a:rPr lang="en-US" altLang="zh-CN" dirty="0">
                <a:latin typeface="+mn-lt"/>
                <a:ea typeface="+mn-ea"/>
              </a:rPr>
              <a:t>2</a:t>
            </a:r>
            <a:r>
              <a:rPr lang="zh-CN" altLang="zh-CN" dirty="0">
                <a:latin typeface="+mn-lt"/>
                <a:ea typeface="+mn-ea"/>
              </a:rPr>
              <a:t>”之间（包括这两个值），则返回</a:t>
            </a:r>
            <a:r>
              <a:rPr lang="en-US" altLang="zh-CN" dirty="0">
                <a:latin typeface="+mn-lt"/>
                <a:ea typeface="+mn-ea"/>
              </a:rPr>
              <a:t>TRUE</a:t>
            </a:r>
            <a:r>
              <a:rPr lang="zh-CN" altLang="zh-CN" dirty="0">
                <a:latin typeface="+mn-lt"/>
                <a:ea typeface="+mn-ea"/>
              </a:rPr>
              <a:t>，否则返回</a:t>
            </a:r>
            <a:r>
              <a:rPr lang="en-US" altLang="zh-CN" dirty="0">
                <a:latin typeface="+mn-lt"/>
                <a:ea typeface="+mn-ea"/>
              </a:rPr>
              <a:t>FALSE</a:t>
            </a:r>
            <a:r>
              <a:rPr lang="zh-CN" altLang="zh-CN" dirty="0">
                <a:latin typeface="+mn-lt"/>
                <a:ea typeface="+mn-ea"/>
              </a:rPr>
              <a:t>；当使用</a:t>
            </a:r>
            <a:r>
              <a:rPr lang="en-US" altLang="zh-CN" dirty="0">
                <a:latin typeface="+mn-lt"/>
                <a:ea typeface="+mn-ea"/>
              </a:rPr>
              <a:t>NOT</a:t>
            </a:r>
            <a:r>
              <a:rPr lang="zh-CN" altLang="zh-CN" dirty="0">
                <a:latin typeface="+mn-lt"/>
                <a:ea typeface="+mn-ea"/>
              </a:rPr>
              <a:t>时，返回值刚好相反。</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a:t>
            </a:r>
            <a:r>
              <a:rPr lang="zh-CN" altLang="zh-CN" dirty="0">
                <a:latin typeface="+mn-lt"/>
                <a:ea typeface="+mn-ea"/>
              </a:rPr>
              <a:t>学号</a:t>
            </a:r>
            <a:r>
              <a:rPr lang="en-US" altLang="zh-CN" dirty="0">
                <a:latin typeface="+mn-lt"/>
                <a:ea typeface="+mn-ea"/>
              </a:rPr>
              <a:t>, </a:t>
            </a:r>
            <a:r>
              <a:rPr lang="zh-CN" altLang="zh-CN" dirty="0">
                <a:latin typeface="+mn-lt"/>
                <a:ea typeface="+mn-ea"/>
              </a:rPr>
              <a:t>姓名</a:t>
            </a:r>
            <a:r>
              <a:rPr lang="en-US" altLang="zh-CN" dirty="0">
                <a:latin typeface="+mn-lt"/>
                <a:ea typeface="+mn-ea"/>
              </a:rPr>
              <a:t>, </a:t>
            </a:r>
            <a:r>
              <a:rPr lang="zh-CN" altLang="zh-CN" dirty="0">
                <a:latin typeface="+mn-lt"/>
                <a:ea typeface="+mn-ea"/>
              </a:rPr>
              <a:t>专业</a:t>
            </a:r>
            <a:r>
              <a:rPr lang="en-US" altLang="zh-CN" dirty="0">
                <a:latin typeface="+mn-lt"/>
                <a:ea typeface="+mn-ea"/>
              </a:rPr>
              <a:t>, </a:t>
            </a:r>
            <a:r>
              <a:rPr lang="zh-CN" altLang="zh-CN" dirty="0">
                <a:latin typeface="+mn-lt"/>
                <a:ea typeface="+mn-ea"/>
              </a:rPr>
              <a:t>出生时间</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出生时间</a:t>
            </a:r>
            <a:r>
              <a:rPr lang="en-US" altLang="zh-CN" dirty="0">
                <a:latin typeface="+mn-lt"/>
                <a:ea typeface="+mn-ea"/>
              </a:rPr>
              <a:t>NOT BETWEEN '1995-1-1' and '1995-12-31'</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088" y="4113213"/>
            <a:ext cx="7993062" cy="7921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27088" y="2997200"/>
            <a:ext cx="7993062"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420938"/>
            <a:ext cx="7993062"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26630" name="TextBox 2"/>
          <p:cNvSpPr txBox="1">
            <a:spLocks noChangeArrowheads="1"/>
          </p:cNvSpPr>
          <p:nvPr/>
        </p:nvSpPr>
        <p:spPr bwMode="auto">
          <a:xfrm>
            <a:off x="395288" y="1557338"/>
            <a:ext cx="8424862"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2</a:t>
            </a:r>
            <a:r>
              <a:rPr lang="zh-CN" altLang="zh-CN"/>
              <a:t>）使用</a:t>
            </a:r>
            <a:r>
              <a:rPr lang="en-US" altLang="zh-CN"/>
              <a:t>IN</a:t>
            </a:r>
            <a:r>
              <a:rPr lang="zh-CN" altLang="zh-CN"/>
              <a:t>关键字可以指定一个值表，值表中列出所有可能的值，当与值表中的任何一个匹配时，即返回</a:t>
            </a:r>
            <a:r>
              <a:rPr lang="en-US" altLang="zh-CN"/>
              <a:t>TRUE</a:t>
            </a:r>
            <a:r>
              <a:rPr lang="zh-CN" altLang="zh-CN"/>
              <a:t>，否则返回</a:t>
            </a:r>
            <a:r>
              <a:rPr lang="en-US" altLang="zh-CN"/>
              <a:t>FALSE</a:t>
            </a:r>
            <a:r>
              <a:rPr lang="zh-CN" altLang="zh-CN"/>
              <a:t>。使用</a:t>
            </a:r>
            <a:r>
              <a:rPr lang="en-US" altLang="zh-CN"/>
              <a:t>IN</a:t>
            </a:r>
            <a:r>
              <a:rPr lang="zh-CN" altLang="zh-CN"/>
              <a:t>关键字指定值表的格式为：</a:t>
            </a:r>
            <a:endParaRPr lang="zh-CN" altLang="zh-CN"/>
          </a:p>
          <a:p>
            <a:pPr eaLnBrk="1" hangingPunct="1"/>
            <a:r>
              <a:rPr lang="zh-CN" altLang="zh-CN"/>
              <a:t>表达式</a:t>
            </a:r>
            <a:r>
              <a:rPr lang="en-US" altLang="zh-CN"/>
              <a:t>IN ( </a:t>
            </a:r>
            <a:r>
              <a:rPr lang="zh-CN" altLang="zh-CN"/>
              <a:t>表达式</a:t>
            </a:r>
            <a:r>
              <a:rPr lang="en-US" altLang="zh-CN"/>
              <a:t>[, …])</a:t>
            </a:r>
            <a:endParaRPr lang="zh-CN" altLang="zh-CN"/>
          </a:p>
          <a:p>
            <a:pPr eaLnBrk="1" fontAlgn="ctr" hangingPunct="1"/>
            <a:r>
              <a:rPr lang="zh-CN" altLang="zh-CN"/>
              <a:t>【例</a:t>
            </a:r>
            <a:r>
              <a:rPr lang="en-US" altLang="zh-CN"/>
              <a:t>4.15</a:t>
            </a:r>
            <a:r>
              <a:rPr lang="zh-CN" altLang="zh-CN"/>
              <a:t>】 查询</a:t>
            </a:r>
            <a:r>
              <a:rPr lang="en-US" altLang="zh-CN"/>
              <a:t>xsb</a:t>
            </a:r>
            <a:r>
              <a:rPr lang="zh-CN" altLang="zh-CN"/>
              <a:t>表中专业为“软件工程”或“通信工程”学生的情况。</a:t>
            </a:r>
            <a:endParaRPr lang="zh-CN" altLang="zh-CN"/>
          </a:p>
          <a:p>
            <a:pPr eaLnBrk="1" hangingPunct="1"/>
            <a:r>
              <a:rPr lang="en-US" altLang="zh-CN"/>
              <a:t>SELECT  *</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IN ('</a:t>
            </a:r>
            <a:r>
              <a:rPr lang="zh-CN" altLang="zh-CN"/>
              <a:t>软件工程</a:t>
            </a:r>
            <a:r>
              <a:rPr lang="en-US" altLang="zh-CN"/>
              <a:t>', '</a:t>
            </a:r>
            <a:r>
              <a:rPr lang="zh-CN" altLang="zh-CN"/>
              <a:t>通信工程</a:t>
            </a:r>
            <a:r>
              <a:rPr lang="en-US" altLang="zh-CN"/>
              <a:t>')</a:t>
            </a:r>
            <a:endParaRPr lang="zh-CN" altLang="zh-CN"/>
          </a:p>
          <a:p>
            <a:pPr eaLnBrk="1" fontAlgn="ctr" hangingPunct="1"/>
            <a:r>
              <a:rPr lang="zh-CN" altLang="zh-CN"/>
              <a:t>该语句与下列语句等价：</a:t>
            </a:r>
            <a:endParaRPr lang="zh-CN" altLang="zh-CN"/>
          </a:p>
          <a:p>
            <a:pPr eaLnBrk="1" hangingPunct="1"/>
            <a:r>
              <a:rPr lang="en-US" altLang="zh-CN"/>
              <a:t>SELECT  *</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计算机</a:t>
            </a:r>
            <a:r>
              <a:rPr lang="en-US" altLang="zh-CN"/>
              <a:t>' OR</a:t>
            </a:r>
            <a:r>
              <a:rPr lang="zh-CN" altLang="zh-CN"/>
              <a:t>专业</a:t>
            </a:r>
            <a:r>
              <a:rPr lang="en-US" altLang="zh-CN"/>
              <a:t>= '</a:t>
            </a:r>
            <a:r>
              <a:rPr lang="zh-CN" altLang="zh-CN"/>
              <a:t>通信工程</a:t>
            </a:r>
            <a:r>
              <a:rPr lang="en-US" altLang="zh-CN"/>
              <a:t>' </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22338" y="4076700"/>
            <a:ext cx="7850187" cy="865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492375"/>
            <a:ext cx="7848600"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27653" name="TextBox 2"/>
          <p:cNvSpPr txBox="1">
            <a:spLocks noChangeArrowheads="1"/>
          </p:cNvSpPr>
          <p:nvPr/>
        </p:nvSpPr>
        <p:spPr bwMode="auto">
          <a:xfrm>
            <a:off x="468313" y="1557338"/>
            <a:ext cx="8280400"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4</a:t>
            </a:r>
            <a:r>
              <a:rPr lang="zh-CN" altLang="zh-CN" b="1">
                <a:solidFill>
                  <a:srgbClr val="C00000"/>
                </a:solidFill>
              </a:rPr>
              <a:t>．空值比较</a:t>
            </a:r>
            <a:endParaRPr lang="zh-CN" altLang="zh-CN" b="1">
              <a:solidFill>
                <a:srgbClr val="C00000"/>
              </a:solidFill>
            </a:endParaRPr>
          </a:p>
          <a:p>
            <a:pPr eaLnBrk="1" fontAlgn="ctr" hangingPunct="1">
              <a:lnSpc>
                <a:spcPct val="150000"/>
              </a:lnSpc>
            </a:pPr>
            <a:r>
              <a:rPr lang="zh-CN" altLang="zh-CN"/>
              <a:t>当需要判定一个表达式的值是否为空值时，使用</a:t>
            </a:r>
            <a:r>
              <a:rPr lang="en-US" altLang="zh-CN"/>
              <a:t>IS NULL</a:t>
            </a:r>
            <a:r>
              <a:rPr lang="zh-CN" altLang="zh-CN"/>
              <a:t>关键字，格式为：</a:t>
            </a:r>
            <a:endParaRPr lang="zh-CN" altLang="zh-CN"/>
          </a:p>
          <a:p>
            <a:pPr eaLnBrk="1" hangingPunct="1">
              <a:lnSpc>
                <a:spcPct val="150000"/>
              </a:lnSpc>
            </a:pPr>
            <a:r>
              <a:rPr lang="zh-CN" altLang="zh-CN"/>
              <a:t>表达式</a:t>
            </a:r>
            <a:r>
              <a:rPr lang="en-US" altLang="zh-CN"/>
              <a:t>IS [ NOT ] NULL</a:t>
            </a:r>
            <a:endParaRPr lang="zh-CN" altLang="zh-CN"/>
          </a:p>
          <a:p>
            <a:pPr eaLnBrk="1" fontAlgn="ctr" hangingPunct="1">
              <a:lnSpc>
                <a:spcPct val="150000"/>
              </a:lnSpc>
            </a:pPr>
            <a:r>
              <a:rPr lang="zh-CN" altLang="zh-CN"/>
              <a:t>当不使用</a:t>
            </a:r>
            <a:r>
              <a:rPr lang="en-US" altLang="zh-CN"/>
              <a:t>NOT</a:t>
            </a:r>
            <a:r>
              <a:rPr lang="zh-CN" altLang="zh-CN"/>
              <a:t>时，若表达式的值为空值，则返回</a:t>
            </a:r>
            <a:r>
              <a:rPr lang="en-US" altLang="zh-CN"/>
              <a:t>TRUE</a:t>
            </a:r>
            <a:r>
              <a:rPr lang="zh-CN" altLang="zh-CN"/>
              <a:t>，否则返回</a:t>
            </a:r>
            <a:r>
              <a:rPr lang="en-US" altLang="zh-CN"/>
              <a:t>FALSE</a:t>
            </a:r>
            <a:r>
              <a:rPr lang="zh-CN" altLang="zh-CN"/>
              <a:t>；当使用</a:t>
            </a:r>
            <a:r>
              <a:rPr lang="en-US" altLang="zh-CN"/>
              <a:t>NOT</a:t>
            </a:r>
            <a:r>
              <a:rPr lang="zh-CN" altLang="zh-CN"/>
              <a:t>时，结果刚好相反。</a:t>
            </a:r>
            <a:endParaRPr lang="zh-CN" altLang="zh-CN"/>
          </a:p>
          <a:p>
            <a:pPr eaLnBrk="1" fontAlgn="ctr" hangingPunct="1">
              <a:lnSpc>
                <a:spcPct val="150000"/>
              </a:lnSpc>
            </a:pPr>
            <a:r>
              <a:rPr lang="zh-CN" altLang="zh-CN"/>
              <a:t>【例</a:t>
            </a:r>
            <a:r>
              <a:rPr lang="en-US" altLang="zh-CN"/>
              <a:t>4.16</a:t>
            </a:r>
            <a:r>
              <a:rPr lang="zh-CN" altLang="zh-CN"/>
              <a:t>】 查询备注为空（没有备注内容）的学生。</a:t>
            </a:r>
            <a:endParaRPr lang="zh-CN" altLang="zh-CN"/>
          </a:p>
          <a:p>
            <a:pPr eaLnBrk="1" hangingPunct="1"/>
            <a:r>
              <a:rPr lang="en-US" altLang="zh-CN"/>
              <a:t>SELECT  *</a:t>
            </a:r>
            <a:endParaRPr lang="zh-CN" altLang="zh-CN"/>
          </a:p>
          <a:p>
            <a:pPr eaLnBrk="1" hangingPunct="1"/>
            <a:r>
              <a:rPr lang="en-US" altLang="zh-CN"/>
              <a:t>     FROM  xsb</a:t>
            </a:r>
            <a:endParaRPr lang="zh-CN" altLang="zh-CN"/>
          </a:p>
          <a:p>
            <a:pPr eaLnBrk="1" hangingPunct="1"/>
            <a:r>
              <a:rPr lang="en-US" altLang="zh-CN"/>
              <a:t>     WHERE</a:t>
            </a:r>
            <a:r>
              <a:rPr lang="zh-CN" altLang="zh-CN"/>
              <a:t>备注</a:t>
            </a:r>
            <a:r>
              <a:rPr lang="en-US" altLang="zh-CN"/>
              <a:t>IS NULL</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4076700"/>
            <a:ext cx="7775575"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28676" name="TextBox 2"/>
          <p:cNvSpPr txBox="1">
            <a:spLocks noChangeArrowheads="1"/>
          </p:cNvSpPr>
          <p:nvPr/>
        </p:nvSpPr>
        <p:spPr bwMode="auto">
          <a:xfrm>
            <a:off x="468313" y="1557338"/>
            <a:ext cx="820737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5</a:t>
            </a:r>
            <a:r>
              <a:rPr lang="zh-CN" altLang="zh-CN" b="1">
                <a:solidFill>
                  <a:srgbClr val="C00000"/>
                </a:solidFill>
              </a:rPr>
              <a:t>．子查询</a:t>
            </a:r>
            <a:endParaRPr lang="zh-CN" altLang="zh-CN" b="1">
              <a:solidFill>
                <a:srgbClr val="C00000"/>
              </a:solidFill>
            </a:endParaRPr>
          </a:p>
          <a:p>
            <a:pPr eaLnBrk="1" fontAlgn="ctr" hangingPunct="1">
              <a:lnSpc>
                <a:spcPct val="150000"/>
              </a:lnSpc>
            </a:pPr>
            <a:r>
              <a:rPr lang="en-US" altLang="zh-CN"/>
              <a:t>T-SQL</a:t>
            </a:r>
            <a:r>
              <a:rPr lang="zh-CN" altLang="zh-CN"/>
              <a:t>允许</a:t>
            </a:r>
            <a:r>
              <a:rPr lang="en-US" altLang="zh-CN"/>
              <a:t>SELECT</a:t>
            </a:r>
            <a:r>
              <a:rPr lang="zh-CN" altLang="zh-CN"/>
              <a:t>多层嵌套使用，用来表示复杂的查询。子查询除了可以用在</a:t>
            </a:r>
            <a:r>
              <a:rPr lang="en-US" altLang="zh-CN"/>
              <a:t>SELECT</a:t>
            </a:r>
            <a:r>
              <a:rPr lang="zh-CN" altLang="zh-CN"/>
              <a:t>语句中，还可以用在</a:t>
            </a:r>
            <a:r>
              <a:rPr lang="en-US" altLang="zh-CN"/>
              <a:t>INSERT</a:t>
            </a:r>
            <a:r>
              <a:rPr lang="zh-CN" altLang="zh-CN"/>
              <a:t>、</a:t>
            </a:r>
            <a:r>
              <a:rPr lang="en-US" altLang="zh-CN"/>
              <a:t>UPDATE</a:t>
            </a:r>
            <a:r>
              <a:rPr lang="zh-CN" altLang="zh-CN"/>
              <a:t>及</a:t>
            </a:r>
            <a:r>
              <a:rPr lang="en-US" altLang="zh-CN"/>
              <a:t>DELETE</a:t>
            </a:r>
            <a:r>
              <a:rPr lang="zh-CN" altLang="zh-CN"/>
              <a:t>语句中。子查询通常与</a:t>
            </a:r>
            <a:r>
              <a:rPr lang="en-US" altLang="zh-CN"/>
              <a:t>IN</a:t>
            </a:r>
            <a:r>
              <a:rPr lang="zh-CN" altLang="zh-CN"/>
              <a:t>、</a:t>
            </a:r>
            <a:r>
              <a:rPr lang="en-US" altLang="zh-CN"/>
              <a:t>EXIST</a:t>
            </a:r>
            <a:r>
              <a:rPr lang="zh-CN" altLang="zh-CN"/>
              <a:t>谓词及比较运算符结合使用。</a:t>
            </a:r>
            <a:endParaRPr lang="zh-CN" altLang="zh-CN"/>
          </a:p>
          <a:p>
            <a:pPr eaLnBrk="1" fontAlgn="ctr" hangingPunct="1">
              <a:lnSpc>
                <a:spcPct val="150000"/>
              </a:lnSpc>
            </a:pPr>
            <a:r>
              <a:rPr lang="zh-CN" altLang="zh-CN"/>
              <a:t>（</a:t>
            </a:r>
            <a:r>
              <a:rPr lang="en-US" altLang="zh-CN"/>
              <a:t>1</a:t>
            </a:r>
            <a:r>
              <a:rPr lang="zh-CN" altLang="zh-CN"/>
              <a:t>）</a:t>
            </a:r>
            <a:r>
              <a:rPr lang="en-US" altLang="zh-CN"/>
              <a:t>IN</a:t>
            </a:r>
            <a:r>
              <a:rPr lang="zh-CN" altLang="zh-CN"/>
              <a:t>子查询</a:t>
            </a:r>
            <a:endParaRPr lang="zh-CN" altLang="zh-CN"/>
          </a:p>
          <a:p>
            <a:pPr eaLnBrk="1" fontAlgn="ctr" hangingPunct="1">
              <a:lnSpc>
                <a:spcPct val="150000"/>
              </a:lnSpc>
            </a:pPr>
            <a:r>
              <a:rPr lang="en-US" altLang="zh-CN"/>
              <a:t>IN</a:t>
            </a:r>
            <a:r>
              <a:rPr lang="zh-CN" altLang="zh-CN"/>
              <a:t>子查询用于判断一个给定值是否在子查询结果集中，格式为：</a:t>
            </a:r>
            <a:endParaRPr lang="zh-CN" altLang="zh-CN"/>
          </a:p>
          <a:p>
            <a:pPr eaLnBrk="1" hangingPunct="1">
              <a:lnSpc>
                <a:spcPct val="150000"/>
              </a:lnSpc>
            </a:pPr>
            <a:r>
              <a:rPr lang="zh-CN" altLang="zh-CN"/>
              <a:t>表达式</a:t>
            </a:r>
            <a:r>
              <a:rPr lang="en-US" altLang="zh-CN"/>
              <a:t>[ NOT ] IN  ( </a:t>
            </a:r>
            <a:r>
              <a:rPr lang="zh-CN" altLang="zh-CN"/>
              <a:t>子查询</a:t>
            </a:r>
            <a:r>
              <a:rPr lang="en-US" altLang="zh-CN"/>
              <a:t> )</a:t>
            </a:r>
            <a:endParaRPr lang="zh-CN" altLang="zh-CN"/>
          </a:p>
          <a:p>
            <a:pPr eaLnBrk="1" fontAlgn="ctr" hangingPunct="1">
              <a:lnSpc>
                <a:spcPct val="150000"/>
              </a:lnSpc>
            </a:pPr>
            <a:r>
              <a:rPr lang="zh-CN" altLang="zh-CN"/>
              <a:t>当表达式与子查询的结果表中的某个值相等时，</a:t>
            </a:r>
            <a:r>
              <a:rPr lang="en-US" altLang="zh-CN"/>
              <a:t>IN</a:t>
            </a:r>
            <a:r>
              <a:rPr lang="zh-CN" altLang="zh-CN"/>
              <a:t>谓词返回</a:t>
            </a:r>
            <a:r>
              <a:rPr lang="en-US" altLang="zh-CN"/>
              <a:t>TRUE</a:t>
            </a:r>
            <a:r>
              <a:rPr lang="zh-CN" altLang="zh-CN"/>
              <a:t>，否则返回</a:t>
            </a:r>
            <a:r>
              <a:rPr lang="en-US" altLang="zh-CN"/>
              <a:t>FALSE</a:t>
            </a:r>
            <a:r>
              <a:rPr lang="zh-CN" altLang="zh-CN"/>
              <a:t>；若使用了</a:t>
            </a:r>
            <a:r>
              <a:rPr lang="en-US" altLang="zh-CN"/>
              <a:t>NOT</a:t>
            </a:r>
            <a:r>
              <a:rPr lang="zh-CN" altLang="zh-CN"/>
              <a:t>，则返回的值刚好相反。</a:t>
            </a:r>
            <a:endParaRPr lang="zh-CN" altLang="zh-CN"/>
          </a:p>
          <a:p>
            <a:pPr eaLnBrk="1" hangingPunct="1">
              <a:lnSpc>
                <a:spcPct val="150000"/>
              </a:lnSpc>
            </a:pPr>
            <a:endParaRPr lang="zh-CN" altLang="en-US"/>
          </a:p>
        </p:txBody>
      </p:sp>
    </p:spTree>
  </p:cSld>
  <p:clrMapOvr>
    <a:masterClrMapping/>
  </p:clrMapOvr>
  <p:transition spd="slow">
    <p:blinds dir="vert"/>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797425"/>
            <a:ext cx="7848600" cy="279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060575"/>
            <a:ext cx="7848600" cy="2447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29701" name="TextBox 2"/>
          <p:cNvSpPr txBox="1">
            <a:spLocks noChangeArrowheads="1"/>
          </p:cNvSpPr>
          <p:nvPr/>
        </p:nvSpPr>
        <p:spPr bwMode="auto">
          <a:xfrm>
            <a:off x="395288" y="1484313"/>
            <a:ext cx="8280400"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4.17</a:t>
            </a:r>
            <a:r>
              <a:rPr lang="zh-CN" altLang="zh-CN"/>
              <a:t>】 查找选修了课程号为</a:t>
            </a:r>
            <a:r>
              <a:rPr lang="en-US" altLang="zh-CN"/>
              <a:t>206</a:t>
            </a:r>
            <a:r>
              <a:rPr lang="zh-CN" altLang="zh-CN"/>
              <a:t>的学生的情况。</a:t>
            </a:r>
            <a:endParaRPr lang="zh-CN" altLang="zh-CN"/>
          </a:p>
          <a:p>
            <a:pPr eaLnBrk="1" fontAlgn="ctr" hangingPunct="1"/>
            <a:r>
              <a:rPr lang="zh-CN" altLang="zh-CN"/>
              <a:t>在“查询分析器”窗口中输入并执行如下查询脚本：</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SELECT * </a:t>
            </a:r>
            <a:endParaRPr lang="zh-CN" altLang="zh-CN"/>
          </a:p>
          <a:p>
            <a:pPr eaLnBrk="1" hangingPunct="1"/>
            <a:r>
              <a:rPr lang="en-US" altLang="zh-CN"/>
              <a:t>     FROM  xsb</a:t>
            </a:r>
            <a:endParaRPr lang="zh-CN" altLang="zh-CN"/>
          </a:p>
          <a:p>
            <a:pPr eaLnBrk="1" hangingPunct="1"/>
            <a:r>
              <a:rPr lang="en-US" altLang="zh-CN"/>
              <a:t>     WHERE</a:t>
            </a:r>
            <a:r>
              <a:rPr lang="zh-CN" altLang="zh-CN"/>
              <a:t>学号</a:t>
            </a:r>
            <a:r>
              <a:rPr lang="en-US" altLang="zh-CN"/>
              <a:t>IN</a:t>
            </a:r>
            <a:endParaRPr lang="zh-CN" altLang="zh-CN"/>
          </a:p>
          <a:p>
            <a:pPr eaLnBrk="1" hangingPunct="1"/>
            <a:r>
              <a:rPr lang="en-US" altLang="zh-CN"/>
              <a:t>           ( 	SELECT</a:t>
            </a:r>
            <a:r>
              <a:rPr lang="zh-CN" altLang="zh-CN"/>
              <a:t>学号 </a:t>
            </a:r>
            <a:endParaRPr lang="zh-CN" altLang="zh-CN"/>
          </a:p>
          <a:p>
            <a:pPr eaLnBrk="1" hangingPunct="1"/>
            <a:r>
              <a:rPr lang="en-US" altLang="zh-CN"/>
              <a:t>                    FROM cjb</a:t>
            </a:r>
            <a:endParaRPr lang="zh-CN" altLang="zh-CN"/>
          </a:p>
          <a:p>
            <a:pPr eaLnBrk="1" hangingPunct="1"/>
            <a:r>
              <a:rPr lang="en-US" altLang="zh-CN"/>
              <a:t>                    WHERE</a:t>
            </a:r>
            <a:r>
              <a:rPr lang="zh-CN" altLang="zh-CN"/>
              <a:t>课程号</a:t>
            </a:r>
            <a:r>
              <a:rPr lang="en-US" altLang="zh-CN"/>
              <a:t> = '206'</a:t>
            </a:r>
            <a:endParaRPr lang="zh-CN" altLang="zh-CN"/>
          </a:p>
          <a:p>
            <a:pPr eaLnBrk="1" hangingPunct="1"/>
            <a:r>
              <a:rPr lang="en-US" altLang="zh-CN"/>
              <a:t>          )</a:t>
            </a:r>
            <a:endParaRPr lang="zh-CN" altLang="zh-CN"/>
          </a:p>
          <a:p>
            <a:pPr eaLnBrk="1" fontAlgn="ctr" hangingPunct="1"/>
            <a:r>
              <a:rPr lang="zh-CN" altLang="zh-CN"/>
              <a:t>本例中，先执行子查询：</a:t>
            </a:r>
            <a:endParaRPr lang="zh-CN" altLang="zh-CN"/>
          </a:p>
          <a:p>
            <a:pPr eaLnBrk="1" hangingPunct="1"/>
            <a:r>
              <a:rPr lang="en-US" altLang="zh-CN"/>
              <a:t>SELECT</a:t>
            </a:r>
            <a:r>
              <a:rPr lang="zh-CN" altLang="zh-CN"/>
              <a:t>学号</a:t>
            </a:r>
            <a:r>
              <a:rPr lang="en-US" altLang="zh-CN"/>
              <a:t>FROM  cjb  WHERE</a:t>
            </a:r>
            <a:r>
              <a:rPr lang="zh-CN" altLang="zh-CN"/>
              <a:t>课程名</a:t>
            </a:r>
            <a:r>
              <a:rPr lang="en-US" altLang="zh-CN"/>
              <a:t> = '206'</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844675"/>
            <a:ext cx="7848600" cy="36099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30724" name="TextBox 2"/>
          <p:cNvSpPr txBox="1">
            <a:spLocks noChangeArrowheads="1"/>
          </p:cNvSpPr>
          <p:nvPr/>
        </p:nvSpPr>
        <p:spPr bwMode="auto">
          <a:xfrm>
            <a:off x="395288" y="1484313"/>
            <a:ext cx="835342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97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4.18</a:t>
            </a:r>
            <a:r>
              <a:rPr lang="zh-CN" altLang="zh-CN"/>
              <a:t>】 查找未选修离散数学的学生情况。</a:t>
            </a:r>
            <a:endParaRPr lang="zh-CN" altLang="zh-CN"/>
          </a:p>
          <a:p>
            <a:pPr eaLnBrk="1" hangingPunct="1"/>
            <a:r>
              <a:rPr lang="en-US" altLang="zh-CN"/>
              <a:t>SELECT  * </a:t>
            </a:r>
            <a:endParaRPr lang="zh-CN" altLang="zh-CN"/>
          </a:p>
          <a:p>
            <a:pPr eaLnBrk="1" hangingPunct="1"/>
            <a:r>
              <a:rPr lang="en-US" altLang="zh-CN"/>
              <a:t>     FROM  xsb</a:t>
            </a:r>
            <a:endParaRPr lang="zh-CN" altLang="zh-CN"/>
          </a:p>
          <a:p>
            <a:pPr eaLnBrk="1" hangingPunct="1"/>
            <a:r>
              <a:rPr lang="en-US" altLang="zh-CN"/>
              <a:t>     WHERE</a:t>
            </a:r>
            <a:r>
              <a:rPr lang="zh-CN" altLang="zh-CN"/>
              <a:t>学号</a:t>
            </a:r>
            <a:r>
              <a:rPr lang="en-US" altLang="zh-CN"/>
              <a:t>NOT IN</a:t>
            </a:r>
            <a:endParaRPr lang="zh-CN" altLang="zh-CN"/>
          </a:p>
          <a:p>
            <a:pPr eaLnBrk="1" hangingPunct="1"/>
            <a:r>
              <a:rPr lang="en-US" altLang="zh-CN"/>
              <a:t>        ( </a:t>
            </a:r>
            <a:endParaRPr lang="zh-CN" altLang="zh-CN"/>
          </a:p>
          <a:p>
            <a:pPr eaLnBrk="1" hangingPunct="1"/>
            <a:r>
              <a:rPr lang="en-US" altLang="zh-CN"/>
              <a:t>           SELECT</a:t>
            </a:r>
            <a:r>
              <a:rPr lang="zh-CN" altLang="zh-CN"/>
              <a:t>学号</a:t>
            </a:r>
            <a:endParaRPr lang="zh-CN" altLang="zh-CN"/>
          </a:p>
          <a:p>
            <a:pPr eaLnBrk="1" hangingPunct="1"/>
            <a:r>
              <a:rPr lang="en-US" altLang="zh-CN"/>
              <a:t>                FROM cjb</a:t>
            </a:r>
            <a:endParaRPr lang="zh-CN" altLang="zh-CN"/>
          </a:p>
          <a:p>
            <a:pPr eaLnBrk="1" hangingPunct="1"/>
            <a:r>
              <a:rPr lang="en-US" altLang="zh-CN"/>
              <a:t>                WHERE</a:t>
            </a:r>
            <a:r>
              <a:rPr lang="zh-CN" altLang="zh-CN"/>
              <a:t>课程号</a:t>
            </a:r>
            <a:r>
              <a:rPr lang="en-US" altLang="zh-CN"/>
              <a:t>IN</a:t>
            </a:r>
            <a:endParaRPr lang="zh-CN" altLang="zh-CN"/>
          </a:p>
          <a:p>
            <a:pPr eaLnBrk="1" hangingPunct="1"/>
            <a:r>
              <a:rPr lang="en-US" altLang="zh-CN"/>
              <a:t>                        ( </a:t>
            </a:r>
            <a:endParaRPr lang="zh-CN" altLang="zh-CN"/>
          </a:p>
          <a:p>
            <a:pPr eaLnBrk="1" hangingPunct="1"/>
            <a:r>
              <a:rPr lang="en-US" altLang="zh-CN"/>
              <a:t>                            SELECT</a:t>
            </a:r>
            <a:r>
              <a:rPr lang="zh-CN" altLang="zh-CN"/>
              <a:t>课程号</a:t>
            </a:r>
            <a:endParaRPr lang="zh-CN" altLang="zh-CN"/>
          </a:p>
          <a:p>
            <a:pPr eaLnBrk="1" hangingPunct="1"/>
            <a:r>
              <a:rPr lang="en-US" altLang="zh-CN"/>
              <a:t>                                FROM kcb</a:t>
            </a:r>
            <a:endParaRPr lang="zh-CN" altLang="zh-CN"/>
          </a:p>
          <a:p>
            <a:pPr eaLnBrk="1" hangingPunct="1"/>
            <a:r>
              <a:rPr lang="en-US" altLang="zh-CN"/>
              <a:t>                                WHERE  </a:t>
            </a:r>
            <a:r>
              <a:rPr lang="zh-CN" altLang="zh-CN"/>
              <a:t>课程名</a:t>
            </a:r>
            <a:r>
              <a:rPr lang="en-US" altLang="zh-CN"/>
              <a:t> = '</a:t>
            </a:r>
            <a:r>
              <a:rPr lang="zh-CN" altLang="zh-CN"/>
              <a:t>离散数学</a:t>
            </a:r>
            <a:r>
              <a:rPr lang="en-US" altLang="zh-CN"/>
              <a:t>' </a:t>
            </a:r>
            <a:endParaRPr lang="zh-CN" altLang="zh-CN"/>
          </a:p>
          <a:p>
            <a:pPr eaLnBrk="1" hangingPunct="1"/>
            <a:r>
              <a:rPr lang="en-US" altLang="zh-CN"/>
              <a:t>                        )</a:t>
            </a:r>
            <a:endParaRPr lang="zh-CN" altLang="zh-CN"/>
          </a:p>
          <a:p>
            <a:pPr eaLnBrk="1" hangingPunct="1"/>
            <a:r>
              <a:rPr lang="en-US" altLang="zh-CN"/>
              <a:t>          )</a:t>
            </a:r>
            <a:endParaRPr lang="zh-CN" altLang="zh-CN"/>
          </a:p>
        </p:txBody>
      </p:sp>
    </p:spTree>
  </p:cSld>
  <p:clrMapOvr>
    <a:masterClrMapping/>
  </p:clrMapOvr>
  <p:transition spd="slow">
    <p:blinds dir="vert"/>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2276475"/>
            <a:ext cx="7921625" cy="3159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3068638"/>
            <a:ext cx="7921625" cy="23050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31749" name="TextBox 2"/>
          <p:cNvSpPr txBox="1">
            <a:spLocks noChangeArrowheads="1"/>
          </p:cNvSpPr>
          <p:nvPr/>
        </p:nvSpPr>
        <p:spPr bwMode="auto">
          <a:xfrm>
            <a:off x="468313" y="1412875"/>
            <a:ext cx="8280400"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2</a:t>
            </a:r>
            <a:r>
              <a:rPr lang="zh-CN" altLang="zh-CN"/>
              <a:t>）比较子查询</a:t>
            </a:r>
            <a:endParaRPr lang="zh-CN" altLang="zh-CN"/>
          </a:p>
          <a:p>
            <a:pPr eaLnBrk="1" fontAlgn="ctr" hangingPunct="1"/>
            <a:r>
              <a:rPr lang="zh-CN" altLang="zh-CN"/>
              <a:t>这种子查询可以认为是</a:t>
            </a:r>
            <a:r>
              <a:rPr lang="en-US" altLang="zh-CN"/>
              <a:t>IN</a:t>
            </a:r>
            <a:r>
              <a:rPr lang="zh-CN" altLang="zh-CN"/>
              <a:t>子查询的扩展，它使表达式的值与子查询的结果进行比较运算，格式为：</a:t>
            </a:r>
            <a:endParaRPr lang="zh-CN" altLang="zh-CN"/>
          </a:p>
          <a:p>
            <a:pPr eaLnBrk="1" hangingPunct="1"/>
            <a:r>
              <a:rPr lang="zh-CN" altLang="zh-CN"/>
              <a:t>表达式</a:t>
            </a:r>
            <a:r>
              <a:rPr lang="en-US" altLang="zh-CN"/>
              <a:t>  {</a:t>
            </a:r>
            <a:r>
              <a:rPr lang="zh-CN" altLang="zh-CN"/>
              <a:t>比较运算符</a:t>
            </a:r>
            <a:r>
              <a:rPr lang="en-US" altLang="zh-CN"/>
              <a:t>} { ALL | SOME | ANY } ( </a:t>
            </a:r>
            <a:r>
              <a:rPr lang="zh-CN" altLang="zh-CN"/>
              <a:t>子查询</a:t>
            </a:r>
            <a:r>
              <a:rPr lang="en-US" altLang="zh-CN"/>
              <a:t> )</a:t>
            </a:r>
            <a:endParaRPr lang="zh-CN" altLang="zh-CN"/>
          </a:p>
          <a:p>
            <a:pPr eaLnBrk="1" fontAlgn="ctr" hangingPunct="1"/>
            <a:r>
              <a:rPr lang="zh-CN" altLang="zh-CN"/>
              <a:t>其中，</a:t>
            </a:r>
            <a:r>
              <a:rPr lang="en-US" altLang="zh-CN"/>
              <a:t>ALL</a:t>
            </a:r>
            <a:r>
              <a:rPr lang="zh-CN" altLang="zh-CN"/>
              <a:t>、</a:t>
            </a:r>
            <a:r>
              <a:rPr lang="en-US" altLang="zh-CN"/>
              <a:t>SOME</a:t>
            </a:r>
            <a:r>
              <a:rPr lang="zh-CN" altLang="zh-CN"/>
              <a:t>和</a:t>
            </a:r>
            <a:r>
              <a:rPr lang="en-US" altLang="zh-CN"/>
              <a:t>ANY</a:t>
            </a:r>
            <a:r>
              <a:rPr lang="zh-CN" altLang="zh-CN"/>
              <a:t>说明对比较运算的限制。</a:t>
            </a:r>
            <a:endParaRPr lang="zh-CN" altLang="zh-CN"/>
          </a:p>
          <a:p>
            <a:pPr eaLnBrk="1" fontAlgn="ctr" hangingPunct="1"/>
            <a:r>
              <a:rPr lang="zh-CN" altLang="zh-CN"/>
              <a:t>【例</a:t>
            </a:r>
            <a:r>
              <a:rPr lang="en-US" altLang="zh-CN"/>
              <a:t>4.19</a:t>
            </a:r>
            <a:r>
              <a:rPr lang="zh-CN" altLang="zh-CN"/>
              <a:t>】 查找选修了离散数学的学生学号。</a:t>
            </a:r>
            <a:endParaRPr lang="zh-CN" altLang="zh-CN"/>
          </a:p>
          <a:p>
            <a:pPr eaLnBrk="1" hangingPunct="1"/>
            <a:r>
              <a:rPr lang="en-US" altLang="zh-CN"/>
              <a:t>SELECT</a:t>
            </a:r>
            <a:r>
              <a:rPr lang="zh-CN" altLang="zh-CN"/>
              <a:t>学号</a:t>
            </a:r>
            <a:endParaRPr lang="zh-CN" altLang="zh-CN"/>
          </a:p>
          <a:p>
            <a:pPr eaLnBrk="1" hangingPunct="1"/>
            <a:r>
              <a:rPr lang="en-US" altLang="zh-CN"/>
              <a:t>     FROM cjb</a:t>
            </a:r>
            <a:endParaRPr lang="zh-CN" altLang="zh-CN"/>
          </a:p>
          <a:p>
            <a:pPr eaLnBrk="1" hangingPunct="1"/>
            <a:r>
              <a:rPr lang="en-US" altLang="zh-CN"/>
              <a:t>     WHERE  </a:t>
            </a:r>
            <a:r>
              <a:rPr lang="zh-CN" altLang="zh-CN"/>
              <a:t>课程号</a:t>
            </a:r>
            <a:r>
              <a:rPr lang="en-US" altLang="zh-CN"/>
              <a:t> =</a:t>
            </a:r>
            <a:endParaRPr lang="zh-CN" altLang="zh-CN"/>
          </a:p>
          <a:p>
            <a:pPr eaLnBrk="1" hangingPunct="1"/>
            <a:r>
              <a:rPr lang="en-US" altLang="zh-CN"/>
              <a:t>           ( </a:t>
            </a:r>
            <a:endParaRPr lang="zh-CN" altLang="zh-CN"/>
          </a:p>
          <a:p>
            <a:pPr eaLnBrk="1" hangingPunct="1"/>
            <a:r>
              <a:rPr lang="en-US" altLang="zh-CN"/>
              <a:t>               SELECT</a:t>
            </a:r>
            <a:r>
              <a:rPr lang="zh-CN" altLang="zh-CN"/>
              <a:t>课程号</a:t>
            </a:r>
            <a:endParaRPr lang="zh-CN" altLang="zh-CN"/>
          </a:p>
          <a:p>
            <a:pPr eaLnBrk="1" hangingPunct="1"/>
            <a:r>
              <a:rPr lang="en-US" altLang="zh-CN"/>
              <a:t>                         FROM kcb</a:t>
            </a:r>
            <a:endParaRPr lang="zh-CN" altLang="zh-CN"/>
          </a:p>
          <a:p>
            <a:pPr eaLnBrk="1" hangingPunct="1"/>
            <a:r>
              <a:rPr lang="en-US" altLang="zh-CN"/>
              <a:t>                         WHERE</a:t>
            </a:r>
            <a:r>
              <a:rPr lang="zh-CN" altLang="zh-CN"/>
              <a:t>课程名</a:t>
            </a:r>
            <a:r>
              <a:rPr lang="en-US" altLang="zh-CN"/>
              <a:t> ='</a:t>
            </a:r>
            <a:r>
              <a:rPr lang="zh-CN" altLang="zh-CN"/>
              <a:t>离散数学</a:t>
            </a:r>
            <a:r>
              <a:rPr lang="en-US" altLang="zh-CN"/>
              <a:t>'</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71550" y="4292600"/>
            <a:ext cx="7704138" cy="21605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71550" y="1844675"/>
            <a:ext cx="7704138" cy="21605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32773" name="TextBox 2"/>
          <p:cNvSpPr txBox="1">
            <a:spLocks noChangeArrowheads="1"/>
          </p:cNvSpPr>
          <p:nvPr/>
        </p:nvSpPr>
        <p:spPr bwMode="auto">
          <a:xfrm>
            <a:off x="468313" y="1484313"/>
            <a:ext cx="8207375" cy="535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4.20</a:t>
            </a:r>
            <a:r>
              <a:rPr lang="zh-CN" altLang="zh-CN"/>
              <a:t>】 查找比所有计算机系的学生年龄都大的学生。</a:t>
            </a:r>
            <a:endParaRPr lang="zh-CN" altLang="zh-CN"/>
          </a:p>
          <a:p>
            <a:pPr eaLnBrk="1" hangingPunct="1"/>
            <a:r>
              <a:rPr lang="en-US" altLang="zh-CN"/>
              <a:t>SELECT  * </a:t>
            </a:r>
            <a:endParaRPr lang="zh-CN" altLang="zh-CN"/>
          </a:p>
          <a:p>
            <a:pPr eaLnBrk="1" hangingPunct="1"/>
            <a:r>
              <a:rPr lang="en-US" altLang="zh-CN"/>
              <a:t>     FROM  xsb</a:t>
            </a:r>
            <a:endParaRPr lang="zh-CN" altLang="zh-CN"/>
          </a:p>
          <a:p>
            <a:pPr eaLnBrk="1" hangingPunct="1"/>
            <a:r>
              <a:rPr lang="en-US" altLang="zh-CN"/>
              <a:t>     WHERE </a:t>
            </a:r>
            <a:r>
              <a:rPr lang="zh-CN" altLang="zh-CN"/>
              <a:t>出生时间</a:t>
            </a:r>
            <a:r>
              <a:rPr lang="en-US" altLang="zh-CN"/>
              <a:t> &lt;ALL</a:t>
            </a:r>
            <a:endParaRPr lang="zh-CN" altLang="zh-CN"/>
          </a:p>
          <a:p>
            <a:pPr eaLnBrk="1" hangingPunct="1"/>
            <a:r>
              <a:rPr lang="en-US" altLang="zh-CN"/>
              <a:t>           ( </a:t>
            </a:r>
            <a:endParaRPr lang="zh-CN" altLang="zh-CN"/>
          </a:p>
          <a:p>
            <a:pPr eaLnBrk="1" hangingPunct="1"/>
            <a:r>
              <a:rPr lang="en-US" altLang="zh-CN"/>
              <a:t>               SELECT</a:t>
            </a:r>
            <a:r>
              <a:rPr lang="zh-CN" altLang="zh-CN"/>
              <a:t>出生时间</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计算机</a:t>
            </a:r>
            <a:r>
              <a:rPr lang="en-US" altLang="zh-CN"/>
              <a:t>'</a:t>
            </a:r>
            <a:endParaRPr lang="zh-CN" altLang="zh-CN"/>
          </a:p>
          <a:p>
            <a:pPr eaLnBrk="1" hangingPunct="1"/>
            <a:r>
              <a:rPr lang="en-US" altLang="zh-CN"/>
              <a:t>           )</a:t>
            </a:r>
            <a:endParaRPr lang="zh-CN" altLang="zh-CN"/>
          </a:p>
          <a:p>
            <a:pPr eaLnBrk="1" fontAlgn="ctr" hangingPunct="1"/>
            <a:r>
              <a:rPr lang="zh-CN" altLang="zh-CN"/>
              <a:t>【例</a:t>
            </a:r>
            <a:r>
              <a:rPr lang="en-US" altLang="zh-CN"/>
              <a:t>4.21</a:t>
            </a:r>
            <a:r>
              <a:rPr lang="zh-CN" altLang="zh-CN"/>
              <a:t>】 查找</a:t>
            </a:r>
            <a:r>
              <a:rPr lang="en-US" altLang="zh-CN"/>
              <a:t>206</a:t>
            </a:r>
            <a:r>
              <a:rPr lang="zh-CN" altLang="zh-CN"/>
              <a:t>号课程成绩不低于</a:t>
            </a:r>
            <a:r>
              <a:rPr lang="en-US" altLang="zh-CN"/>
              <a:t>101</a:t>
            </a:r>
            <a:r>
              <a:rPr lang="zh-CN" altLang="zh-CN"/>
              <a:t>号课程最低成绩的学生学号。</a:t>
            </a:r>
            <a:endParaRPr lang="zh-CN" altLang="zh-CN"/>
          </a:p>
          <a:p>
            <a:pPr eaLnBrk="1" hangingPunct="1"/>
            <a:r>
              <a:rPr lang="en-US" altLang="zh-CN"/>
              <a:t>SELECT</a:t>
            </a:r>
            <a:r>
              <a:rPr lang="zh-CN" altLang="zh-CN"/>
              <a:t>学号</a:t>
            </a:r>
            <a:r>
              <a:rPr lang="en-US" altLang="zh-CN"/>
              <a:t> </a:t>
            </a:r>
            <a:endParaRPr lang="zh-CN" altLang="zh-CN"/>
          </a:p>
          <a:p>
            <a:pPr eaLnBrk="1" hangingPunct="1"/>
            <a:r>
              <a:rPr lang="en-US" altLang="zh-CN"/>
              <a:t>     FROM  cjb</a:t>
            </a:r>
            <a:endParaRPr lang="zh-CN" altLang="zh-CN"/>
          </a:p>
          <a:p>
            <a:pPr eaLnBrk="1" hangingPunct="1"/>
            <a:r>
              <a:rPr lang="en-US" altLang="zh-CN"/>
              <a:t>     WHERE   </a:t>
            </a:r>
            <a:r>
              <a:rPr lang="zh-CN" altLang="zh-CN"/>
              <a:t>课程号</a:t>
            </a:r>
            <a:r>
              <a:rPr lang="en-US" altLang="zh-CN"/>
              <a:t> = '206'  AND</a:t>
            </a:r>
            <a:r>
              <a:rPr lang="zh-CN" altLang="zh-CN"/>
              <a:t>成绩</a:t>
            </a:r>
            <a:r>
              <a:rPr lang="en-US" altLang="zh-CN"/>
              <a:t> !&lt; ANY</a:t>
            </a:r>
            <a:endParaRPr lang="zh-CN" altLang="zh-CN"/>
          </a:p>
          <a:p>
            <a:pPr eaLnBrk="1" hangingPunct="1"/>
            <a:r>
              <a:rPr lang="en-US" altLang="zh-CN"/>
              <a:t>                (</a:t>
            </a:r>
            <a:endParaRPr lang="zh-CN" altLang="zh-CN"/>
          </a:p>
          <a:p>
            <a:pPr eaLnBrk="1" hangingPunct="1"/>
            <a:r>
              <a:rPr lang="en-US" altLang="zh-CN"/>
              <a:t>                    SELECT</a:t>
            </a:r>
            <a:r>
              <a:rPr lang="zh-CN" altLang="zh-CN"/>
              <a:t>成绩</a:t>
            </a:r>
            <a:endParaRPr lang="zh-CN" altLang="zh-CN"/>
          </a:p>
          <a:p>
            <a:pPr eaLnBrk="1" hangingPunct="1"/>
            <a:r>
              <a:rPr lang="en-US" altLang="zh-CN"/>
              <a:t>                         FROM  cjb</a:t>
            </a:r>
            <a:endParaRPr lang="zh-CN" altLang="zh-CN"/>
          </a:p>
          <a:p>
            <a:pPr eaLnBrk="1" hangingPunct="1"/>
            <a:r>
              <a:rPr lang="en-US" altLang="zh-CN"/>
              <a:t>                         WHERE</a:t>
            </a:r>
            <a:r>
              <a:rPr lang="zh-CN" altLang="zh-CN"/>
              <a:t>课程号</a:t>
            </a:r>
            <a:r>
              <a:rPr lang="en-US" altLang="zh-CN"/>
              <a:t> = '101'</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3287713"/>
            <a:ext cx="7848600" cy="23018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708275"/>
            <a:ext cx="7848600"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33797" name="TextBox 2"/>
          <p:cNvSpPr txBox="1">
            <a:spLocks noChangeArrowheads="1"/>
          </p:cNvSpPr>
          <p:nvPr/>
        </p:nvSpPr>
        <p:spPr bwMode="auto">
          <a:xfrm>
            <a:off x="468313" y="1557338"/>
            <a:ext cx="8207375"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3</a:t>
            </a:r>
            <a:r>
              <a:rPr lang="zh-CN" altLang="zh-CN"/>
              <a:t>）</a:t>
            </a:r>
            <a:r>
              <a:rPr lang="en-US" altLang="zh-CN"/>
              <a:t>EXISTS</a:t>
            </a:r>
            <a:r>
              <a:rPr lang="zh-CN" altLang="zh-CN"/>
              <a:t>子查询</a:t>
            </a:r>
            <a:endParaRPr lang="zh-CN" altLang="zh-CN"/>
          </a:p>
          <a:p>
            <a:pPr eaLnBrk="1" fontAlgn="ctr" hangingPunct="1"/>
            <a:r>
              <a:rPr lang="en-US" altLang="zh-CN"/>
              <a:t>EXISTS</a:t>
            </a:r>
            <a:r>
              <a:rPr lang="zh-CN" altLang="zh-CN"/>
              <a:t>谓词用于测试子查询的结果是否为空表，若子查询的结果集不为空，则</a:t>
            </a:r>
            <a:r>
              <a:rPr lang="en-US" altLang="zh-CN"/>
              <a:t>EXISTS</a:t>
            </a:r>
            <a:r>
              <a:rPr lang="zh-CN" altLang="zh-CN"/>
              <a:t>返回</a:t>
            </a:r>
            <a:r>
              <a:rPr lang="en-US" altLang="zh-CN"/>
              <a:t>TRUE</a:t>
            </a:r>
            <a:r>
              <a:rPr lang="zh-CN" altLang="zh-CN"/>
              <a:t>，否则返回</a:t>
            </a:r>
            <a:r>
              <a:rPr lang="en-US" altLang="zh-CN"/>
              <a:t>FALSE</a:t>
            </a:r>
            <a:r>
              <a:rPr lang="zh-CN" altLang="zh-CN"/>
              <a:t>。</a:t>
            </a:r>
            <a:r>
              <a:rPr lang="en-US" altLang="zh-CN"/>
              <a:t>EXISTS</a:t>
            </a:r>
            <a:r>
              <a:rPr lang="zh-CN" altLang="zh-CN"/>
              <a:t>还可与</a:t>
            </a:r>
            <a:r>
              <a:rPr lang="en-US" altLang="zh-CN"/>
              <a:t>NOT</a:t>
            </a:r>
            <a:r>
              <a:rPr lang="zh-CN" altLang="zh-CN"/>
              <a:t>结合使用，即</a:t>
            </a:r>
            <a:r>
              <a:rPr lang="en-US" altLang="zh-CN"/>
              <a:t>NOT EXISTS</a:t>
            </a:r>
            <a:r>
              <a:rPr lang="zh-CN" altLang="zh-CN"/>
              <a:t>，其返回值与</a:t>
            </a:r>
            <a:r>
              <a:rPr lang="en-US" altLang="zh-CN"/>
              <a:t>EXISTS</a:t>
            </a:r>
            <a:r>
              <a:rPr lang="zh-CN" altLang="zh-CN"/>
              <a:t>刚好相反。其格式为：</a:t>
            </a:r>
            <a:endParaRPr lang="zh-CN" altLang="zh-CN"/>
          </a:p>
          <a:p>
            <a:pPr eaLnBrk="1" hangingPunct="1"/>
            <a:r>
              <a:rPr lang="en-US" altLang="zh-CN"/>
              <a:t>[ NOT ] EXISTS ( </a:t>
            </a:r>
            <a:r>
              <a:rPr lang="zh-CN" altLang="zh-CN"/>
              <a:t>子查询</a:t>
            </a:r>
            <a:r>
              <a:rPr lang="en-US" altLang="zh-CN"/>
              <a:t> )</a:t>
            </a:r>
            <a:endParaRPr lang="zh-CN" altLang="zh-CN"/>
          </a:p>
          <a:p>
            <a:pPr eaLnBrk="1" fontAlgn="ctr" hangingPunct="1"/>
            <a:r>
              <a:rPr lang="zh-CN" altLang="zh-CN"/>
              <a:t>【例</a:t>
            </a:r>
            <a:r>
              <a:rPr lang="en-US" altLang="zh-CN"/>
              <a:t>4.22</a:t>
            </a:r>
            <a:r>
              <a:rPr lang="zh-CN" altLang="zh-CN"/>
              <a:t>】 查找选修</a:t>
            </a:r>
            <a:r>
              <a:rPr lang="en-US" altLang="zh-CN"/>
              <a:t>206</a:t>
            </a:r>
            <a:r>
              <a:rPr lang="zh-CN" altLang="zh-CN"/>
              <a:t>号课程的学生姓名。</a:t>
            </a:r>
            <a:endParaRPr lang="zh-CN" altLang="zh-CN"/>
          </a:p>
          <a:p>
            <a:pPr eaLnBrk="1" hangingPunct="1"/>
            <a:r>
              <a:rPr lang="en-US" altLang="zh-CN"/>
              <a:t>SELECT</a:t>
            </a:r>
            <a:r>
              <a:rPr lang="zh-CN" altLang="zh-CN"/>
              <a:t>姓名</a:t>
            </a:r>
            <a:endParaRPr lang="zh-CN" altLang="zh-CN"/>
          </a:p>
          <a:p>
            <a:pPr eaLnBrk="1" hangingPunct="1"/>
            <a:r>
              <a:rPr lang="en-US" altLang="zh-CN"/>
              <a:t>     FROM  xsb</a:t>
            </a:r>
            <a:endParaRPr lang="zh-CN" altLang="zh-CN"/>
          </a:p>
          <a:p>
            <a:pPr eaLnBrk="1" hangingPunct="1"/>
            <a:r>
              <a:rPr lang="en-US" altLang="zh-CN"/>
              <a:t>     WHERE   EXISTS</a:t>
            </a:r>
            <a:endParaRPr lang="zh-CN" altLang="zh-CN"/>
          </a:p>
          <a:p>
            <a:pPr eaLnBrk="1" hangingPunct="1"/>
            <a:r>
              <a:rPr lang="en-US" altLang="zh-CN"/>
              <a:t>                ( </a:t>
            </a:r>
            <a:endParaRPr lang="zh-CN" altLang="zh-CN"/>
          </a:p>
          <a:p>
            <a:pPr eaLnBrk="1" hangingPunct="1"/>
            <a:r>
              <a:rPr lang="en-US" altLang="zh-CN"/>
              <a:t>                    SELECT  *</a:t>
            </a:r>
            <a:endParaRPr lang="zh-CN" altLang="zh-CN"/>
          </a:p>
          <a:p>
            <a:pPr eaLnBrk="1" hangingPunct="1"/>
            <a:r>
              <a:rPr lang="en-US" altLang="zh-CN"/>
              <a:t>                         FROM  cjb</a:t>
            </a:r>
            <a:endParaRPr lang="zh-CN" altLang="zh-CN"/>
          </a:p>
          <a:p>
            <a:pPr eaLnBrk="1" hangingPunct="1"/>
            <a:r>
              <a:rPr lang="en-US" altLang="zh-CN"/>
              <a:t>                         WHERE</a:t>
            </a:r>
            <a:r>
              <a:rPr lang="zh-CN" altLang="zh-CN"/>
              <a:t>学号</a:t>
            </a:r>
            <a:r>
              <a:rPr lang="en-US" altLang="zh-CN"/>
              <a:t> = xsb.</a:t>
            </a:r>
            <a:r>
              <a:rPr lang="zh-CN" altLang="zh-CN"/>
              <a:t>学号</a:t>
            </a:r>
            <a:r>
              <a:rPr lang="en-US" altLang="zh-CN"/>
              <a:t>AND</a:t>
            </a:r>
            <a:r>
              <a:rPr lang="zh-CN" altLang="zh-CN"/>
              <a:t>课程号</a:t>
            </a:r>
            <a:r>
              <a:rPr lang="en-US" altLang="zh-CN"/>
              <a:t> = '206'</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773238"/>
            <a:ext cx="7848600" cy="36718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34820" name="TextBox 2"/>
          <p:cNvSpPr txBox="1">
            <a:spLocks noChangeArrowheads="1"/>
          </p:cNvSpPr>
          <p:nvPr/>
        </p:nvSpPr>
        <p:spPr bwMode="auto">
          <a:xfrm>
            <a:off x="468313" y="1484313"/>
            <a:ext cx="82073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4.23</a:t>
            </a:r>
            <a:r>
              <a:rPr lang="zh-CN" altLang="zh-CN"/>
              <a:t>】 查找选修了全部课程的同学的姓名。</a:t>
            </a:r>
            <a:endParaRPr lang="zh-CN" altLang="zh-CN"/>
          </a:p>
          <a:p>
            <a:pPr eaLnBrk="1" hangingPunct="1"/>
            <a:r>
              <a:rPr lang="en-US" altLang="zh-CN"/>
              <a:t>SELECT</a:t>
            </a:r>
            <a:r>
              <a:rPr lang="zh-CN" altLang="zh-CN"/>
              <a:t>姓名</a:t>
            </a:r>
            <a:endParaRPr lang="zh-CN" altLang="zh-CN"/>
          </a:p>
          <a:p>
            <a:pPr eaLnBrk="1" hangingPunct="1"/>
            <a:r>
              <a:rPr lang="en-US" altLang="zh-CN"/>
              <a:t>     FROM xsb</a:t>
            </a:r>
            <a:endParaRPr lang="zh-CN" altLang="zh-CN"/>
          </a:p>
          <a:p>
            <a:pPr eaLnBrk="1" hangingPunct="1"/>
            <a:r>
              <a:rPr lang="en-US" altLang="zh-CN"/>
              <a:t>     WHERE NOT EXISTS</a:t>
            </a:r>
            <a:endParaRPr lang="zh-CN" altLang="zh-CN"/>
          </a:p>
          <a:p>
            <a:pPr eaLnBrk="1" hangingPunct="1"/>
            <a:r>
              <a:rPr lang="en-US" altLang="zh-CN"/>
              <a:t>                (	</a:t>
            </a:r>
            <a:endParaRPr lang="zh-CN" altLang="zh-CN"/>
          </a:p>
          <a:p>
            <a:pPr eaLnBrk="1" hangingPunct="1"/>
            <a:r>
              <a:rPr lang="en-US" altLang="zh-CN"/>
              <a:t>                    SELECT *</a:t>
            </a:r>
            <a:endParaRPr lang="zh-CN" altLang="zh-CN"/>
          </a:p>
          <a:p>
            <a:pPr eaLnBrk="1" hangingPunct="1"/>
            <a:r>
              <a:rPr lang="en-US" altLang="zh-CN"/>
              <a:t>                         FROM kcb</a:t>
            </a:r>
            <a:endParaRPr lang="zh-CN" altLang="zh-CN"/>
          </a:p>
          <a:p>
            <a:pPr eaLnBrk="1" hangingPunct="1"/>
            <a:r>
              <a:rPr lang="en-US" altLang="zh-CN"/>
              <a:t>                         WHERE NOT EXISTS</a:t>
            </a:r>
            <a:endParaRPr lang="zh-CN" altLang="zh-CN"/>
          </a:p>
          <a:p>
            <a:pPr eaLnBrk="1" hangingPunct="1"/>
            <a:r>
              <a:rPr lang="en-US" altLang="zh-CN"/>
              <a:t>                               (</a:t>
            </a:r>
            <a:endParaRPr lang="zh-CN" altLang="zh-CN"/>
          </a:p>
          <a:p>
            <a:pPr eaLnBrk="1" hangingPunct="1"/>
            <a:r>
              <a:rPr lang="en-US" altLang="zh-CN"/>
              <a:t>                                   SELECT  *</a:t>
            </a:r>
            <a:endParaRPr lang="zh-CN" altLang="zh-CN"/>
          </a:p>
          <a:p>
            <a:pPr eaLnBrk="1" hangingPunct="1"/>
            <a:r>
              <a:rPr lang="en-US" altLang="zh-CN"/>
              <a:t>                                        FROM cjb</a:t>
            </a:r>
            <a:endParaRPr lang="zh-CN" altLang="zh-CN"/>
          </a:p>
          <a:p>
            <a:pPr eaLnBrk="1" hangingPunct="1"/>
            <a:r>
              <a:rPr lang="en-US" altLang="zh-CN"/>
              <a:t>                                        WHERE</a:t>
            </a:r>
            <a:r>
              <a:rPr lang="zh-CN" altLang="zh-CN"/>
              <a:t>学号</a:t>
            </a:r>
            <a:r>
              <a:rPr lang="en-US" altLang="zh-CN"/>
              <a:t>=xsb.</a:t>
            </a:r>
            <a:r>
              <a:rPr lang="zh-CN" altLang="zh-CN"/>
              <a:t>学号</a:t>
            </a:r>
            <a:r>
              <a:rPr lang="en-US" altLang="zh-CN"/>
              <a:t>AND</a:t>
            </a:r>
            <a:r>
              <a:rPr lang="zh-CN" altLang="zh-CN"/>
              <a:t>课程号</a:t>
            </a:r>
            <a:r>
              <a:rPr lang="en-US" altLang="zh-CN"/>
              <a:t>=kcb.</a:t>
            </a:r>
            <a:r>
              <a:rPr lang="zh-CN" altLang="zh-CN"/>
              <a:t>课程号</a:t>
            </a:r>
            <a:endParaRPr lang="zh-CN" altLang="zh-CN"/>
          </a:p>
          <a:p>
            <a:pPr eaLnBrk="1" hangingPunct="1"/>
            <a:r>
              <a:rPr lang="en-US" altLang="zh-CN"/>
              <a:t>                              )</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085975"/>
            <a:ext cx="7921625" cy="22320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4.1.2  </a:t>
            </a:r>
            <a:r>
              <a:rPr lang="zh-CN" altLang="zh-CN" dirty="0">
                <a:effectLst/>
              </a:rPr>
              <a:t>选择查询条件：</a:t>
            </a:r>
            <a:r>
              <a:rPr lang="en-US" altLang="zh-CN" dirty="0">
                <a:effectLst/>
              </a:rPr>
              <a:t>WHERE</a:t>
            </a:r>
            <a:endParaRPr lang="zh-CN" altLang="en-US" dirty="0"/>
          </a:p>
        </p:txBody>
      </p:sp>
      <p:sp>
        <p:nvSpPr>
          <p:cNvPr id="3" name="TextBox 2"/>
          <p:cNvSpPr txBox="1"/>
          <p:nvPr/>
        </p:nvSpPr>
        <p:spPr>
          <a:xfrm>
            <a:off x="395288" y="1484313"/>
            <a:ext cx="8353425" cy="3140075"/>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【例</a:t>
            </a:r>
            <a:r>
              <a:rPr lang="en-US" altLang="zh-CN" dirty="0">
                <a:latin typeface="+mn-lt"/>
                <a:ea typeface="+mn-ea"/>
              </a:rPr>
              <a:t>4.24</a:t>
            </a:r>
            <a:r>
              <a:rPr lang="zh-CN" altLang="zh-CN" dirty="0">
                <a:latin typeface="+mn-lt"/>
                <a:ea typeface="+mn-ea"/>
              </a:rPr>
              <a:t>】 从</a:t>
            </a:r>
            <a:r>
              <a:rPr lang="en-US" altLang="zh-CN" dirty="0" err="1">
                <a:latin typeface="+mn-lt"/>
                <a:ea typeface="+mn-ea"/>
              </a:rPr>
              <a:t>xsb</a:t>
            </a:r>
            <a:r>
              <a:rPr lang="zh-CN" altLang="zh-CN" dirty="0">
                <a:latin typeface="+mn-lt"/>
                <a:ea typeface="+mn-ea"/>
              </a:rPr>
              <a:t>表中查找所有女学生的姓名、学号及其与“</a:t>
            </a:r>
            <a:r>
              <a:rPr lang="en-US" altLang="zh-CN" dirty="0">
                <a:latin typeface="+mn-lt"/>
                <a:ea typeface="+mn-ea"/>
              </a:rPr>
              <a:t>191301</a:t>
            </a:r>
            <a:r>
              <a:rPr lang="zh-CN" altLang="zh-CN" dirty="0">
                <a:latin typeface="+mn-lt"/>
                <a:ea typeface="+mn-ea"/>
              </a:rPr>
              <a:t>”号学生的年龄差距。</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a:t>
            </a:r>
            <a:r>
              <a:rPr lang="zh-CN" altLang="zh-CN" dirty="0">
                <a:latin typeface="+mn-lt"/>
                <a:ea typeface="+mn-ea"/>
              </a:rPr>
              <a:t>学号</a:t>
            </a:r>
            <a:r>
              <a:rPr lang="en-US" altLang="zh-CN" dirty="0">
                <a:latin typeface="+mn-lt"/>
                <a:ea typeface="+mn-ea"/>
              </a:rPr>
              <a:t>, </a:t>
            </a:r>
            <a:r>
              <a:rPr lang="zh-CN" altLang="zh-CN" dirty="0">
                <a:latin typeface="+mn-lt"/>
                <a:ea typeface="+mn-ea"/>
              </a:rPr>
              <a:t>姓名</a:t>
            </a:r>
            <a:r>
              <a:rPr lang="en-US" altLang="zh-CN" dirty="0">
                <a:latin typeface="+mn-lt"/>
                <a:ea typeface="+mn-ea"/>
              </a:rPr>
              <a:t>, YEAR(</a:t>
            </a:r>
            <a:r>
              <a:rPr lang="zh-CN" altLang="zh-CN" dirty="0">
                <a:latin typeface="+mn-lt"/>
                <a:ea typeface="+mn-ea"/>
              </a:rPr>
              <a:t>出生时间</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YEAR( ( SELECT</a:t>
            </a:r>
            <a:r>
              <a:rPr lang="zh-CN" altLang="zh-CN" dirty="0">
                <a:latin typeface="+mn-lt"/>
                <a:ea typeface="+mn-ea"/>
              </a:rPr>
              <a:t>出生时间</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学号</a:t>
            </a:r>
            <a:r>
              <a:rPr lang="en-US" altLang="zh-CN" dirty="0">
                <a:latin typeface="+mn-lt"/>
                <a:ea typeface="+mn-ea"/>
              </a:rPr>
              <a:t>='191301'</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AS</a:t>
            </a:r>
            <a:r>
              <a:rPr lang="zh-CN" altLang="zh-CN" dirty="0">
                <a:latin typeface="+mn-lt"/>
                <a:ea typeface="+mn-ea"/>
              </a:rPr>
              <a:t>年龄差距</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a:t>
            </a:r>
            <a:r>
              <a:rPr lang="zh-CN" altLang="zh-CN" dirty="0">
                <a:latin typeface="+mn-lt"/>
                <a:ea typeface="+mn-ea"/>
              </a:rPr>
              <a:t>性别</a:t>
            </a:r>
            <a:r>
              <a:rPr lang="en-US" altLang="zh-CN" dirty="0">
                <a:latin typeface="+mn-lt"/>
                <a:ea typeface="+mn-ea"/>
              </a:rPr>
              <a:t>=0</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47738" y="4292600"/>
            <a:ext cx="7632700" cy="1368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71550" y="2636838"/>
            <a:ext cx="7632700" cy="13684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4.1.3  </a:t>
            </a:r>
            <a:r>
              <a:rPr lang="zh-CN" altLang="zh-CN" dirty="0">
                <a:effectLst/>
              </a:rPr>
              <a:t>指定查询对象：</a:t>
            </a:r>
            <a:r>
              <a:rPr lang="en-US" altLang="zh-CN" dirty="0">
                <a:effectLst/>
              </a:rPr>
              <a:t>FROM</a:t>
            </a:r>
            <a:endParaRPr lang="zh-CN" altLang="zh-CN" dirty="0">
              <a:effectLst/>
            </a:endParaRPr>
          </a:p>
        </p:txBody>
      </p:sp>
      <p:sp>
        <p:nvSpPr>
          <p:cNvPr id="36869" name="TextBox 2"/>
          <p:cNvSpPr txBox="1">
            <a:spLocks noChangeArrowheads="1"/>
          </p:cNvSpPr>
          <p:nvPr/>
        </p:nvSpPr>
        <p:spPr bwMode="auto">
          <a:xfrm>
            <a:off x="539750" y="1484313"/>
            <a:ext cx="8064500"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．表或视图名</a:t>
            </a:r>
            <a:endParaRPr lang="zh-CN" altLang="zh-CN" b="1">
              <a:solidFill>
                <a:srgbClr val="C00000"/>
              </a:solidFill>
            </a:endParaRPr>
          </a:p>
          <a:p>
            <a:pPr eaLnBrk="1" fontAlgn="ctr" hangingPunct="1"/>
            <a:r>
              <a:rPr lang="zh-CN" altLang="zh-CN"/>
              <a:t>表或视图名指定</a:t>
            </a:r>
            <a:r>
              <a:rPr lang="en-US" altLang="zh-CN"/>
              <a:t>SELECT</a:t>
            </a:r>
            <a:r>
              <a:rPr lang="zh-CN" altLang="zh-CN"/>
              <a:t>语句要查询的表或视图，表和视图可以是一个或多个，有关视图的内容在下一节中介绍。</a:t>
            </a:r>
            <a:endParaRPr lang="zh-CN" altLang="zh-CN"/>
          </a:p>
          <a:p>
            <a:pPr eaLnBrk="1" fontAlgn="ctr" hangingPunct="1"/>
            <a:r>
              <a:rPr lang="zh-CN" altLang="zh-CN"/>
              <a:t>【例</a:t>
            </a:r>
            <a:r>
              <a:rPr lang="en-US" altLang="zh-CN"/>
              <a:t>4.25</a:t>
            </a:r>
            <a:r>
              <a:rPr lang="zh-CN" altLang="zh-CN"/>
              <a:t>】 查找</a:t>
            </a:r>
            <a:r>
              <a:rPr lang="en-US" altLang="zh-CN"/>
              <a:t>kcb</a:t>
            </a:r>
            <a:r>
              <a:rPr lang="zh-CN" altLang="zh-CN"/>
              <a:t>表中</a:t>
            </a:r>
            <a:r>
              <a:rPr lang="en-US" altLang="zh-CN"/>
              <a:t>101</a:t>
            </a:r>
            <a:r>
              <a:rPr lang="zh-CN" altLang="zh-CN"/>
              <a:t>号课程的开课学期。</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SELECT</a:t>
            </a:r>
            <a:r>
              <a:rPr lang="zh-CN" altLang="zh-CN"/>
              <a:t>开课学期</a:t>
            </a:r>
            <a:endParaRPr lang="zh-CN" altLang="zh-CN"/>
          </a:p>
          <a:p>
            <a:pPr eaLnBrk="1" hangingPunct="1"/>
            <a:r>
              <a:rPr lang="en-US" altLang="zh-CN"/>
              <a:t>     FROM kcb</a:t>
            </a:r>
            <a:endParaRPr lang="zh-CN" altLang="zh-CN"/>
          </a:p>
          <a:p>
            <a:pPr eaLnBrk="1" hangingPunct="1"/>
            <a:r>
              <a:rPr lang="en-US" altLang="zh-CN"/>
              <a:t>     WHERE</a:t>
            </a:r>
            <a:r>
              <a:rPr lang="zh-CN" altLang="zh-CN"/>
              <a:t>课程号</a:t>
            </a:r>
            <a:r>
              <a:rPr lang="en-US" altLang="zh-CN"/>
              <a:t>= '101‘</a:t>
            </a:r>
            <a:endParaRPr lang="en-US" altLang="zh-CN"/>
          </a:p>
          <a:p>
            <a:pPr eaLnBrk="1" fontAlgn="ctr" hangingPunct="1"/>
            <a:r>
              <a:rPr lang="zh-CN" altLang="zh-CN"/>
              <a:t>【例</a:t>
            </a:r>
            <a:r>
              <a:rPr lang="en-US" altLang="zh-CN"/>
              <a:t>4.26</a:t>
            </a:r>
            <a:r>
              <a:rPr lang="zh-CN" altLang="zh-CN"/>
              <a:t>】 查找</a:t>
            </a:r>
            <a:r>
              <a:rPr lang="en-US" altLang="zh-CN"/>
              <a:t>191301</a:t>
            </a:r>
            <a:r>
              <a:rPr lang="zh-CN" altLang="zh-CN"/>
              <a:t>号学生计算机基础课的成绩。</a:t>
            </a:r>
            <a:endParaRPr lang="zh-CN" altLang="zh-CN"/>
          </a:p>
          <a:p>
            <a:pPr eaLnBrk="1" hangingPunct="1"/>
            <a:r>
              <a:rPr lang="en-US" altLang="zh-CN"/>
              <a:t>SELECT</a:t>
            </a:r>
            <a:r>
              <a:rPr lang="zh-CN" altLang="zh-CN"/>
              <a:t>成绩</a:t>
            </a:r>
            <a:endParaRPr lang="zh-CN" altLang="zh-CN"/>
          </a:p>
          <a:p>
            <a:pPr eaLnBrk="1" hangingPunct="1"/>
            <a:r>
              <a:rPr lang="en-US" altLang="zh-CN"/>
              <a:t>     FROM cjb, kcb</a:t>
            </a:r>
            <a:endParaRPr lang="zh-CN" altLang="zh-CN"/>
          </a:p>
          <a:p>
            <a:pPr eaLnBrk="1" hangingPunct="1"/>
            <a:r>
              <a:rPr lang="en-US" altLang="zh-CN"/>
              <a:t>     WHERE cjb.</a:t>
            </a:r>
            <a:r>
              <a:rPr lang="zh-CN" altLang="zh-CN"/>
              <a:t>课程号</a:t>
            </a:r>
            <a:r>
              <a:rPr lang="en-US" altLang="zh-CN"/>
              <a:t>=kcb.</a:t>
            </a:r>
            <a:r>
              <a:rPr lang="zh-CN" altLang="zh-CN"/>
              <a:t>课程号</a:t>
            </a:r>
            <a:endParaRPr lang="zh-CN" altLang="zh-CN"/>
          </a:p>
          <a:p>
            <a:pPr eaLnBrk="1" hangingPunct="1"/>
            <a:r>
              <a:rPr lang="en-US" altLang="zh-CN"/>
              <a:t>               AND</a:t>
            </a:r>
            <a:r>
              <a:rPr lang="zh-CN" altLang="zh-CN"/>
              <a:t>学号</a:t>
            </a:r>
            <a:r>
              <a:rPr lang="en-US" altLang="zh-CN"/>
              <a:t>='191301'</a:t>
            </a:r>
            <a:endParaRPr lang="zh-CN" altLang="zh-CN"/>
          </a:p>
          <a:p>
            <a:pPr eaLnBrk="1" hangingPunct="1"/>
            <a:r>
              <a:rPr lang="en-US" altLang="zh-CN"/>
              <a:t>               AND</a:t>
            </a:r>
            <a:r>
              <a:rPr lang="zh-CN" altLang="zh-CN"/>
              <a:t>课程名</a:t>
            </a:r>
            <a:r>
              <a:rPr lang="en-US" altLang="zh-CN"/>
              <a:t>='</a:t>
            </a:r>
            <a:r>
              <a:rPr lang="zh-CN" altLang="zh-CN"/>
              <a:t>计算机基础</a:t>
            </a:r>
            <a:r>
              <a:rPr lang="en-US" altLang="zh-CN"/>
              <a:t>'</a:t>
            </a:r>
            <a:endParaRPr lang="zh-CN" altLang="zh-CN"/>
          </a:p>
          <a:p>
            <a:pPr eaLnBrk="1" hangingPunct="1"/>
            <a:r>
              <a:rPr lang="zh-CN" altLang="zh-CN"/>
              <a:t>可以使用</a:t>
            </a:r>
            <a:r>
              <a:rPr lang="en-US" altLang="zh-CN"/>
              <a:t>AS</a:t>
            </a:r>
            <a:r>
              <a:rPr lang="zh-CN" altLang="zh-CN"/>
              <a:t>选项为表指定别名，</a:t>
            </a:r>
            <a:r>
              <a:rPr lang="en-US" altLang="zh-CN"/>
              <a:t>AS</a:t>
            </a:r>
            <a:r>
              <a:rPr lang="zh-CN" altLang="zh-CN"/>
              <a:t>关键字也可以省略，直接给出别名即可。</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492375"/>
            <a:ext cx="7848600" cy="36734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4.1.3  </a:t>
            </a:r>
            <a:r>
              <a:rPr lang="zh-CN" altLang="zh-CN" dirty="0">
                <a:effectLst/>
              </a:rPr>
              <a:t>指定查询对象：</a:t>
            </a:r>
            <a:r>
              <a:rPr lang="en-US" altLang="zh-CN" dirty="0">
                <a:effectLst/>
              </a:rPr>
              <a:t>FROM</a:t>
            </a:r>
            <a:endParaRPr lang="zh-CN" altLang="en-US" dirty="0"/>
          </a:p>
        </p:txBody>
      </p:sp>
      <p:sp>
        <p:nvSpPr>
          <p:cNvPr id="37892" name="TextBox 2"/>
          <p:cNvSpPr txBox="1">
            <a:spLocks noChangeArrowheads="1"/>
          </p:cNvSpPr>
          <p:nvPr/>
        </p:nvSpPr>
        <p:spPr bwMode="auto">
          <a:xfrm>
            <a:off x="468313" y="1341438"/>
            <a:ext cx="82804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4.27</a:t>
            </a:r>
            <a:r>
              <a:rPr lang="zh-CN" altLang="zh-CN"/>
              <a:t>】 查找选修了与学号为</a:t>
            </a:r>
            <a:r>
              <a:rPr lang="en-US" altLang="zh-CN"/>
              <a:t>191302</a:t>
            </a:r>
            <a:r>
              <a:rPr lang="zh-CN" altLang="zh-CN"/>
              <a:t>的同学所选修的课程完全相同的同学的学号。</a:t>
            </a:r>
            <a:endParaRPr lang="zh-CN" altLang="zh-CN"/>
          </a:p>
          <a:p>
            <a:pPr eaLnBrk="1" fontAlgn="ctr" hangingPunct="1"/>
            <a:r>
              <a:rPr lang="zh-CN" altLang="zh-CN"/>
              <a:t>分析：本例即要查找这样的学号</a:t>
            </a:r>
            <a:r>
              <a:rPr lang="en-US" altLang="zh-CN"/>
              <a:t>y</a:t>
            </a:r>
            <a:r>
              <a:rPr lang="zh-CN" altLang="zh-CN"/>
              <a:t>，对所有的课程号</a:t>
            </a:r>
            <a:r>
              <a:rPr lang="en-US" altLang="zh-CN"/>
              <a:t>x</a:t>
            </a:r>
            <a:r>
              <a:rPr lang="zh-CN" altLang="zh-CN"/>
              <a:t>，若</a:t>
            </a:r>
            <a:r>
              <a:rPr lang="en-US" altLang="zh-CN"/>
              <a:t>191302</a:t>
            </a:r>
            <a:r>
              <a:rPr lang="zh-CN" altLang="zh-CN"/>
              <a:t>号同学选修了该课，那么</a:t>
            </a:r>
            <a:r>
              <a:rPr lang="en-US" altLang="zh-CN"/>
              <a:t>y</a:t>
            </a:r>
            <a:r>
              <a:rPr lang="zh-CN" altLang="zh-CN"/>
              <a:t>也选修了该课。</a:t>
            </a:r>
            <a:endParaRPr lang="zh-CN" altLang="zh-CN"/>
          </a:p>
          <a:p>
            <a:pPr eaLnBrk="1" hangingPunct="1"/>
            <a:r>
              <a:rPr lang="en-US" altLang="zh-CN"/>
              <a:t>SELECT  DISTINCT</a:t>
            </a:r>
            <a:r>
              <a:rPr lang="zh-CN" altLang="zh-CN"/>
              <a:t>学号</a:t>
            </a:r>
            <a:endParaRPr lang="zh-CN" altLang="zh-CN"/>
          </a:p>
          <a:p>
            <a:pPr eaLnBrk="1" hangingPunct="1"/>
            <a:r>
              <a:rPr lang="en-US" altLang="zh-CN"/>
              <a:t>     FROM cjb AS CJ1</a:t>
            </a:r>
            <a:endParaRPr lang="zh-CN" altLang="zh-CN"/>
          </a:p>
          <a:p>
            <a:pPr eaLnBrk="1" hangingPunct="1"/>
            <a:r>
              <a:rPr lang="en-US" altLang="zh-CN"/>
              <a:t>     WHERE NOT EXISTS</a:t>
            </a:r>
            <a:endParaRPr lang="zh-CN" altLang="zh-CN"/>
          </a:p>
          <a:p>
            <a:pPr eaLnBrk="1" hangingPunct="1"/>
            <a:r>
              <a:rPr lang="en-US" altLang="zh-CN"/>
              <a:t>           (  </a:t>
            </a:r>
            <a:endParaRPr lang="zh-CN" altLang="zh-CN"/>
          </a:p>
          <a:p>
            <a:pPr eaLnBrk="1" hangingPunct="1"/>
            <a:r>
              <a:rPr lang="en-US" altLang="zh-CN"/>
              <a:t>               SELECT  *</a:t>
            </a:r>
            <a:endParaRPr lang="zh-CN" altLang="zh-CN"/>
          </a:p>
          <a:p>
            <a:pPr eaLnBrk="1" hangingPunct="1"/>
            <a:r>
              <a:rPr lang="en-US" altLang="zh-CN"/>
              <a:t>                    FROM  cjb  AS  CJ2</a:t>
            </a:r>
            <a:endParaRPr lang="zh-CN" altLang="zh-CN"/>
          </a:p>
          <a:p>
            <a:pPr eaLnBrk="1" hangingPunct="1"/>
            <a:r>
              <a:rPr lang="en-US" altLang="zh-CN"/>
              <a:t>                    WHERE  CJ2.</a:t>
            </a:r>
            <a:r>
              <a:rPr lang="zh-CN" altLang="zh-CN"/>
              <a:t>学号</a:t>
            </a:r>
            <a:r>
              <a:rPr lang="en-US" altLang="zh-CN"/>
              <a:t> = '191302'   AND  NOT EXISTS</a:t>
            </a:r>
            <a:endParaRPr lang="zh-CN" altLang="zh-CN"/>
          </a:p>
          <a:p>
            <a:pPr eaLnBrk="1" hangingPunct="1"/>
            <a:r>
              <a:rPr lang="en-US" altLang="zh-CN"/>
              <a:t>                          (   </a:t>
            </a:r>
            <a:endParaRPr lang="zh-CN" altLang="zh-CN"/>
          </a:p>
          <a:p>
            <a:pPr eaLnBrk="1" hangingPunct="1"/>
            <a:r>
              <a:rPr lang="en-US" altLang="zh-CN"/>
              <a:t>                              SELECT *</a:t>
            </a:r>
            <a:endParaRPr lang="zh-CN" altLang="zh-CN"/>
          </a:p>
          <a:p>
            <a:pPr eaLnBrk="1" hangingPunct="1"/>
            <a:r>
              <a:rPr lang="en-US" altLang="zh-CN"/>
              <a:t>                                   FROM cjb AS CJ3</a:t>
            </a:r>
            <a:endParaRPr lang="zh-CN" altLang="zh-CN"/>
          </a:p>
          <a:p>
            <a:pPr eaLnBrk="1" hangingPunct="1"/>
            <a:r>
              <a:rPr lang="en-US" altLang="zh-CN"/>
              <a:t>                                   WHERE CJ3. </a:t>
            </a:r>
            <a:r>
              <a:rPr lang="zh-CN" altLang="zh-CN"/>
              <a:t>学号</a:t>
            </a:r>
            <a:r>
              <a:rPr lang="en-US" altLang="zh-CN"/>
              <a:t>= CJ1.</a:t>
            </a:r>
            <a:r>
              <a:rPr lang="zh-CN" altLang="zh-CN"/>
              <a:t>学号</a:t>
            </a:r>
            <a:r>
              <a:rPr lang="en-US" altLang="zh-CN"/>
              <a:t>AND  CJ3.</a:t>
            </a:r>
            <a:r>
              <a:rPr lang="zh-CN" altLang="zh-CN"/>
              <a:t>课程号</a:t>
            </a:r>
            <a:r>
              <a:rPr lang="en-US" altLang="zh-CN"/>
              <a:t> = CJ2.</a:t>
            </a:r>
            <a:r>
              <a:rPr lang="zh-CN" altLang="zh-CN"/>
              <a:t>课程号</a:t>
            </a:r>
            <a:endParaRPr lang="zh-CN" altLang="zh-CN"/>
          </a:p>
          <a:p>
            <a:pPr eaLnBrk="1" hangingPunct="1"/>
            <a:r>
              <a:rPr lang="en-US" altLang="zh-CN"/>
              <a:t>                         )</a:t>
            </a:r>
            <a:endParaRPr lang="zh-CN" altLang="zh-CN"/>
          </a:p>
          <a:p>
            <a:pPr eaLnBrk="1" hangingPunct="1"/>
            <a:r>
              <a:rPr lang="en-US" altLang="zh-CN"/>
              <a:t>          )</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636838"/>
            <a:ext cx="7775575" cy="16557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4.1.3  </a:t>
            </a:r>
            <a:r>
              <a:rPr lang="zh-CN" altLang="zh-CN" dirty="0">
                <a:effectLst/>
              </a:rPr>
              <a:t>指定查询对象：</a:t>
            </a:r>
            <a:r>
              <a:rPr lang="en-US" altLang="zh-CN" dirty="0">
                <a:effectLst/>
              </a:rPr>
              <a:t>FROM</a:t>
            </a:r>
            <a:endParaRPr lang="zh-CN" altLang="en-US" dirty="0"/>
          </a:p>
        </p:txBody>
      </p:sp>
      <p:sp>
        <p:nvSpPr>
          <p:cNvPr id="38916" name="TextBox 2"/>
          <p:cNvSpPr txBox="1">
            <a:spLocks noChangeArrowheads="1"/>
          </p:cNvSpPr>
          <p:nvPr/>
        </p:nvSpPr>
        <p:spPr bwMode="auto">
          <a:xfrm>
            <a:off x="468313" y="1484313"/>
            <a:ext cx="8207375"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．导出表</a:t>
            </a:r>
            <a:r>
              <a:rPr lang="en-US" altLang="zh-CN" b="1">
                <a:solidFill>
                  <a:srgbClr val="C00000"/>
                </a:solidFill>
              </a:rPr>
              <a:t>(</a:t>
            </a:r>
            <a:r>
              <a:rPr lang="zh-CN" altLang="en-US" b="1">
                <a:solidFill>
                  <a:srgbClr val="C00000"/>
                </a:solidFill>
              </a:rPr>
              <a:t>别名结果集</a:t>
            </a:r>
            <a:r>
              <a:rPr lang="en-US" altLang="zh-CN" b="1">
                <a:solidFill>
                  <a:srgbClr val="C00000"/>
                </a:solidFill>
              </a:rPr>
              <a:t>)</a:t>
            </a:r>
            <a:endParaRPr lang="zh-CN" altLang="zh-CN" b="1">
              <a:solidFill>
                <a:srgbClr val="C00000"/>
              </a:solidFill>
            </a:endParaRPr>
          </a:p>
          <a:p>
            <a:pPr eaLnBrk="1" fontAlgn="ctr" hangingPunct="1"/>
            <a:r>
              <a:rPr lang="zh-CN" altLang="zh-CN"/>
              <a:t>导出表表示由子查询中</a:t>
            </a:r>
            <a:r>
              <a:rPr lang="en-US" altLang="zh-CN"/>
              <a:t>SELECT</a:t>
            </a:r>
            <a:r>
              <a:rPr lang="zh-CN" altLang="zh-CN"/>
              <a:t>语句的执行而返回的表，但必须使用</a:t>
            </a:r>
            <a:r>
              <a:rPr lang="en-US" altLang="zh-CN"/>
              <a:t>AS</a:t>
            </a:r>
            <a:r>
              <a:rPr lang="zh-CN" altLang="zh-CN"/>
              <a:t>关键字为子查询产生的中间表定义一个别名。</a:t>
            </a:r>
            <a:endParaRPr lang="zh-CN" altLang="zh-CN"/>
          </a:p>
          <a:p>
            <a:pPr eaLnBrk="1" fontAlgn="ctr" hangingPunct="1"/>
            <a:r>
              <a:rPr lang="zh-CN" altLang="zh-CN"/>
              <a:t>【例</a:t>
            </a:r>
            <a:r>
              <a:rPr lang="en-US" altLang="zh-CN"/>
              <a:t>4.28</a:t>
            </a:r>
            <a:r>
              <a:rPr lang="zh-CN" altLang="zh-CN"/>
              <a:t>】 从</a:t>
            </a:r>
            <a:r>
              <a:rPr lang="en-US" altLang="zh-CN"/>
              <a:t>xsb</a:t>
            </a:r>
            <a:r>
              <a:rPr lang="zh-CN" altLang="zh-CN"/>
              <a:t>表中查找总学分大于</a:t>
            </a:r>
            <a:r>
              <a:rPr lang="en-US" altLang="zh-CN"/>
              <a:t>50</a:t>
            </a:r>
            <a:r>
              <a:rPr lang="zh-CN" altLang="zh-CN"/>
              <a:t>的男同学的姓名和学号。</a:t>
            </a:r>
            <a:endParaRPr lang="zh-CN" altLang="zh-CN"/>
          </a:p>
          <a:p>
            <a:pPr eaLnBrk="1" hangingPunct="1"/>
            <a:r>
              <a:rPr lang="en-US" altLang="zh-CN"/>
              <a:t>SELECT</a:t>
            </a:r>
            <a:r>
              <a:rPr lang="zh-CN" altLang="zh-CN"/>
              <a:t>姓名</a:t>
            </a:r>
            <a:r>
              <a:rPr lang="en-US" altLang="zh-CN"/>
              <a:t>,</a:t>
            </a:r>
            <a:r>
              <a:rPr lang="zh-CN" altLang="zh-CN"/>
              <a:t>学号</a:t>
            </a:r>
            <a:r>
              <a:rPr lang="en-US" altLang="zh-CN"/>
              <a:t>,</a:t>
            </a:r>
            <a:r>
              <a:rPr lang="zh-CN" altLang="zh-CN"/>
              <a:t>总学分</a:t>
            </a:r>
            <a:endParaRPr lang="zh-CN" altLang="zh-CN"/>
          </a:p>
          <a:p>
            <a:pPr eaLnBrk="1" hangingPunct="1"/>
            <a:r>
              <a:rPr lang="en-US" altLang="zh-CN"/>
              <a:t>   FROM (  SELECT  </a:t>
            </a:r>
            <a:r>
              <a:rPr lang="zh-CN" altLang="zh-CN"/>
              <a:t>姓名</a:t>
            </a:r>
            <a:r>
              <a:rPr lang="en-US" altLang="zh-CN"/>
              <a:t>, </a:t>
            </a:r>
            <a:r>
              <a:rPr lang="zh-CN" altLang="zh-CN"/>
              <a:t>学号</a:t>
            </a:r>
            <a:r>
              <a:rPr lang="en-US" altLang="zh-CN"/>
              <a:t>, </a:t>
            </a:r>
            <a:r>
              <a:rPr lang="zh-CN" altLang="zh-CN"/>
              <a:t>性别</a:t>
            </a:r>
            <a:r>
              <a:rPr lang="en-US" altLang="zh-CN"/>
              <a:t>, </a:t>
            </a:r>
            <a:r>
              <a:rPr lang="zh-CN" altLang="zh-CN"/>
              <a:t>总学分</a:t>
            </a:r>
            <a:endParaRPr lang="zh-CN" altLang="zh-CN"/>
          </a:p>
          <a:p>
            <a:pPr eaLnBrk="1" hangingPunct="1"/>
            <a:r>
              <a:rPr lang="en-US" altLang="zh-CN"/>
              <a:t>                    FROM xsb</a:t>
            </a:r>
            <a:endParaRPr lang="zh-CN" altLang="zh-CN"/>
          </a:p>
          <a:p>
            <a:pPr eaLnBrk="1" hangingPunct="1"/>
            <a:r>
              <a:rPr lang="en-US" altLang="zh-CN"/>
              <a:t>                    WHERE</a:t>
            </a:r>
            <a:r>
              <a:rPr lang="zh-CN" altLang="zh-CN"/>
              <a:t>总学分</a:t>
            </a:r>
            <a:r>
              <a:rPr lang="en-US" altLang="zh-CN"/>
              <a:t>&gt;=50</a:t>
            </a:r>
            <a:endParaRPr lang="zh-CN" altLang="zh-CN"/>
          </a:p>
          <a:p>
            <a:pPr eaLnBrk="1" hangingPunct="1"/>
            <a:r>
              <a:rPr lang="en-US" altLang="zh-CN"/>
              <a:t>          )  AS student</a:t>
            </a:r>
            <a:endParaRPr lang="zh-CN" altLang="zh-CN"/>
          </a:p>
          <a:p>
            <a:pPr eaLnBrk="1" hangingPunct="1"/>
            <a:r>
              <a:rPr lang="en-US" altLang="zh-CN"/>
              <a:t>   WHERE</a:t>
            </a:r>
            <a:r>
              <a:rPr lang="zh-CN" altLang="zh-CN"/>
              <a:t>性别</a:t>
            </a:r>
            <a:r>
              <a:rPr lang="en-US" altLang="zh-CN"/>
              <a:t>=1</a:t>
            </a:r>
            <a:endParaRPr lang="zh-CN" altLang="zh-CN"/>
          </a:p>
          <a:p>
            <a:pPr eaLnBrk="1" fontAlgn="ctr" hangingPunct="1"/>
            <a:r>
              <a:rPr lang="zh-CN" altLang="zh-CN"/>
              <a:t>执行结果如图</a:t>
            </a:r>
            <a:r>
              <a:rPr lang="en-US" altLang="zh-CN"/>
              <a:t>4.11</a:t>
            </a:r>
            <a:r>
              <a:rPr lang="zh-CN" altLang="zh-CN"/>
              <a:t>所示。</a:t>
            </a:r>
            <a:endParaRPr lang="zh-CN" altLang="zh-CN"/>
          </a:p>
          <a:p>
            <a:pPr eaLnBrk="1" hangingPunct="1"/>
            <a:endParaRPr lang="zh-CN" altLang="en-US"/>
          </a:p>
        </p:txBody>
      </p:sp>
      <p:pic>
        <p:nvPicPr>
          <p:cNvPr id="3891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938588" y="4411663"/>
            <a:ext cx="2217737"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71550" y="1844675"/>
            <a:ext cx="7704138"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4.1.3  </a:t>
            </a:r>
            <a:r>
              <a:rPr lang="zh-CN" altLang="zh-CN" dirty="0">
                <a:effectLst/>
              </a:rPr>
              <a:t>指定查询对象：</a:t>
            </a:r>
            <a:r>
              <a:rPr lang="en-US" altLang="zh-CN" dirty="0">
                <a:effectLst/>
              </a:rPr>
              <a:t>FROM</a:t>
            </a:r>
            <a:endParaRPr lang="zh-CN" altLang="en-US" dirty="0"/>
          </a:p>
        </p:txBody>
      </p:sp>
      <p:sp>
        <p:nvSpPr>
          <p:cNvPr id="39940" name="TextBox 2"/>
          <p:cNvSpPr txBox="1">
            <a:spLocks noChangeArrowheads="1"/>
          </p:cNvSpPr>
          <p:nvPr/>
        </p:nvSpPr>
        <p:spPr bwMode="auto">
          <a:xfrm>
            <a:off x="468313" y="1484313"/>
            <a:ext cx="8207375"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4.29</a:t>
            </a:r>
            <a:r>
              <a:rPr lang="zh-CN" altLang="zh-CN"/>
              <a:t>】 在</a:t>
            </a:r>
            <a:r>
              <a:rPr lang="en-US" altLang="zh-CN"/>
              <a:t>xsb</a:t>
            </a:r>
            <a:r>
              <a:rPr lang="zh-CN" altLang="zh-CN"/>
              <a:t>表中查找</a:t>
            </a:r>
            <a:r>
              <a:rPr lang="en-US" altLang="zh-CN"/>
              <a:t>1995</a:t>
            </a:r>
            <a:r>
              <a:rPr lang="zh-CN" altLang="zh-CN"/>
              <a:t>年</a:t>
            </a:r>
            <a:r>
              <a:rPr lang="en-US" altLang="zh-CN"/>
              <a:t>1</a:t>
            </a:r>
            <a:r>
              <a:rPr lang="zh-CN" altLang="zh-CN"/>
              <a:t>月</a:t>
            </a:r>
            <a:r>
              <a:rPr lang="en-US" altLang="zh-CN"/>
              <a:t>1</a:t>
            </a:r>
            <a:r>
              <a:rPr lang="zh-CN" altLang="zh-CN"/>
              <a:t>日以前出生的学生的姓名和专业。</a:t>
            </a:r>
            <a:endParaRPr lang="zh-CN" altLang="zh-CN"/>
          </a:p>
          <a:p>
            <a:pPr eaLnBrk="1" hangingPunct="1"/>
            <a:r>
              <a:rPr lang="en-US" altLang="zh-CN"/>
              <a:t>SELECT  student.name, student.speciality</a:t>
            </a:r>
            <a:endParaRPr lang="zh-CN" altLang="zh-CN"/>
          </a:p>
          <a:p>
            <a:pPr eaLnBrk="1" hangingPunct="1"/>
            <a:r>
              <a:rPr lang="en-US" altLang="zh-CN"/>
              <a:t>     FROM  ( SELECT * FROM xsb WHERE</a:t>
            </a:r>
            <a:r>
              <a:rPr lang="zh-CN" altLang="zh-CN"/>
              <a:t>出生时间</a:t>
            </a:r>
            <a:r>
              <a:rPr lang="en-US" altLang="zh-CN"/>
              <a:t>&lt;'19950101' )  </a:t>
            </a:r>
            <a:endParaRPr lang="zh-CN" altLang="zh-CN"/>
          </a:p>
          <a:p>
            <a:pPr eaLnBrk="1" hangingPunct="1"/>
            <a:r>
              <a:rPr lang="en-US" altLang="zh-CN"/>
              <a:t>     AS student( num, name, sex, birthday, speciality,score, mem )</a:t>
            </a:r>
            <a:endParaRPr lang="zh-CN" altLang="zh-CN"/>
          </a:p>
          <a:p>
            <a:pPr eaLnBrk="1" fontAlgn="ctr" hangingPunct="1"/>
            <a:r>
              <a:rPr lang="zh-CN" altLang="zh-CN"/>
              <a:t>执行结果如图</a:t>
            </a:r>
            <a:r>
              <a:rPr lang="en-US" altLang="zh-CN"/>
              <a:t>4.12</a:t>
            </a:r>
            <a:r>
              <a:rPr lang="zh-CN" altLang="zh-CN"/>
              <a:t>所示。</a:t>
            </a:r>
            <a:endParaRPr lang="zh-CN" altLang="zh-CN"/>
          </a:p>
          <a:p>
            <a:pPr eaLnBrk="1" hangingPunct="1"/>
            <a:endParaRPr lang="zh-CN" altLang="en-US"/>
          </a:p>
        </p:txBody>
      </p:sp>
      <p:pic>
        <p:nvPicPr>
          <p:cNvPr id="3994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665538" y="2924175"/>
            <a:ext cx="2317750"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600325"/>
            <a:ext cx="7848600" cy="1295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4.1.4  </a:t>
            </a:r>
            <a:r>
              <a:rPr lang="zh-CN" altLang="zh-CN" dirty="0">
                <a:effectLst/>
              </a:rPr>
              <a:t>连接：</a:t>
            </a:r>
            <a:r>
              <a:rPr lang="en-US" altLang="zh-CN" dirty="0">
                <a:effectLst/>
              </a:rPr>
              <a:t>=/JOIN</a:t>
            </a:r>
            <a:endParaRPr lang="zh-CN" altLang="zh-CN" dirty="0">
              <a:effectLst/>
            </a:endParaRPr>
          </a:p>
        </p:txBody>
      </p:sp>
      <p:sp>
        <p:nvSpPr>
          <p:cNvPr id="40964" name="TextBox 2"/>
          <p:cNvSpPr txBox="1">
            <a:spLocks noChangeArrowheads="1"/>
          </p:cNvSpPr>
          <p:nvPr/>
        </p:nvSpPr>
        <p:spPr bwMode="auto">
          <a:xfrm>
            <a:off x="468313" y="1412875"/>
            <a:ext cx="8207375" cy="313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．连接谓词</a:t>
            </a:r>
            <a:endParaRPr lang="zh-CN" altLang="zh-CN" b="1">
              <a:solidFill>
                <a:srgbClr val="C00000"/>
              </a:solidFill>
            </a:endParaRPr>
          </a:p>
          <a:p>
            <a:pPr eaLnBrk="1" fontAlgn="ctr" hangingPunct="1"/>
            <a:r>
              <a:rPr lang="zh-CN" altLang="zh-CN"/>
              <a:t>可以在</a:t>
            </a:r>
            <a:r>
              <a:rPr lang="en-US" altLang="zh-CN"/>
              <a:t>SELECT</a:t>
            </a:r>
            <a:r>
              <a:rPr lang="zh-CN" altLang="zh-CN"/>
              <a:t>语句的</a:t>
            </a:r>
            <a:r>
              <a:rPr lang="en-US" altLang="zh-CN"/>
              <a:t>WHERE</a:t>
            </a:r>
            <a:r>
              <a:rPr lang="zh-CN" altLang="zh-CN"/>
              <a:t>子句中使用比较运算符给出连接条件对表进行连接，这种表示形式称为连接谓词表示形式。</a:t>
            </a:r>
            <a:endParaRPr lang="zh-CN" altLang="zh-CN"/>
          </a:p>
          <a:p>
            <a:pPr eaLnBrk="1" fontAlgn="ctr" hangingPunct="1"/>
            <a:r>
              <a:rPr lang="zh-CN" altLang="zh-CN"/>
              <a:t>【例</a:t>
            </a:r>
            <a:r>
              <a:rPr lang="en-US" altLang="zh-CN"/>
              <a:t>4.30</a:t>
            </a:r>
            <a:r>
              <a:rPr lang="zh-CN" altLang="zh-CN"/>
              <a:t>】 查找</a:t>
            </a:r>
            <a:r>
              <a:rPr lang="en-US" altLang="zh-CN"/>
              <a:t>pxscj</a:t>
            </a:r>
            <a:r>
              <a:rPr lang="zh-CN" altLang="zh-CN"/>
              <a:t>数据库每个学生的情况以及选修的课程情况。</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SELECT xsb.* , cjb.*</a:t>
            </a:r>
            <a:endParaRPr lang="zh-CN" altLang="zh-CN"/>
          </a:p>
          <a:p>
            <a:pPr eaLnBrk="1" hangingPunct="1"/>
            <a:r>
              <a:rPr lang="en-US" altLang="zh-CN"/>
              <a:t>     FROM  xsb , cjb</a:t>
            </a:r>
            <a:endParaRPr lang="zh-CN" altLang="zh-CN"/>
          </a:p>
          <a:p>
            <a:pPr eaLnBrk="1" hangingPunct="1"/>
            <a:r>
              <a:rPr lang="en-US" altLang="zh-CN"/>
              <a:t>     WHERE xsb.</a:t>
            </a:r>
            <a:r>
              <a:rPr lang="zh-CN" altLang="zh-CN"/>
              <a:t>学号</a:t>
            </a:r>
            <a:r>
              <a:rPr lang="en-US" altLang="zh-CN"/>
              <a:t> = cjb.</a:t>
            </a:r>
            <a:r>
              <a:rPr lang="zh-CN" altLang="zh-CN"/>
              <a:t>学号</a:t>
            </a:r>
            <a:endParaRPr lang="zh-CN" altLang="zh-CN"/>
          </a:p>
          <a:p>
            <a:pPr eaLnBrk="1" fontAlgn="ctr" hangingPunct="1"/>
            <a:r>
              <a:rPr lang="zh-CN" altLang="zh-CN"/>
              <a:t>结果表将包含</a:t>
            </a:r>
            <a:r>
              <a:rPr lang="en-US" altLang="zh-CN"/>
              <a:t>xsb</a:t>
            </a:r>
            <a:r>
              <a:rPr lang="zh-CN" altLang="zh-CN"/>
              <a:t>表和</a:t>
            </a:r>
            <a:r>
              <a:rPr lang="en-US" altLang="zh-CN"/>
              <a:t>cjb</a:t>
            </a:r>
            <a:r>
              <a:rPr lang="zh-CN" altLang="zh-CN"/>
              <a:t>表的所有列。</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933825"/>
            <a:ext cx="7848600" cy="7905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276475"/>
            <a:ext cx="7848600"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4.1.4  </a:t>
            </a:r>
            <a:r>
              <a:rPr lang="zh-CN" altLang="zh-CN" dirty="0">
                <a:effectLst/>
              </a:rPr>
              <a:t>连接：</a:t>
            </a:r>
            <a:r>
              <a:rPr lang="en-US" altLang="zh-CN" dirty="0">
                <a:effectLst/>
              </a:rPr>
              <a:t>=/JOIN</a:t>
            </a:r>
            <a:endParaRPr lang="zh-CN" altLang="en-US" dirty="0"/>
          </a:p>
        </p:txBody>
      </p:sp>
      <p:sp>
        <p:nvSpPr>
          <p:cNvPr id="3" name="TextBox 2"/>
          <p:cNvSpPr txBox="1"/>
          <p:nvPr/>
        </p:nvSpPr>
        <p:spPr>
          <a:xfrm>
            <a:off x="468313" y="1412875"/>
            <a:ext cx="8280400" cy="3970338"/>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）自然连接</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它在目标列中去除相同的字段名。</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a:t>
            </a:r>
            <a:r>
              <a:rPr lang="en-US" altLang="zh-CN" dirty="0">
                <a:latin typeface="+mn-lt"/>
                <a:ea typeface="+mn-ea"/>
              </a:rPr>
              <a:t>4.31</a:t>
            </a:r>
            <a:r>
              <a:rPr lang="zh-CN" altLang="zh-CN" dirty="0">
                <a:latin typeface="+mn-lt"/>
                <a:ea typeface="+mn-ea"/>
              </a:rPr>
              <a:t>】 自然连接查询。</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 xsb.* , </a:t>
            </a:r>
            <a:r>
              <a:rPr lang="en-US" altLang="zh-CN" dirty="0" err="1">
                <a:latin typeface="+mn-lt"/>
                <a:ea typeface="+mn-ea"/>
              </a:rPr>
              <a:t>cjb</a:t>
            </a:r>
            <a:r>
              <a:rPr lang="en-US" altLang="zh-CN" dirty="0">
                <a:latin typeface="+mn-lt"/>
                <a:ea typeface="+mn-ea"/>
              </a:rPr>
              <a:t>.</a:t>
            </a:r>
            <a:r>
              <a:rPr lang="zh-CN" altLang="zh-CN" dirty="0">
                <a:latin typeface="+mn-lt"/>
                <a:ea typeface="+mn-ea"/>
              </a:rPr>
              <a:t>课程号</a:t>
            </a:r>
            <a:r>
              <a:rPr lang="en-US" altLang="zh-CN" dirty="0">
                <a:latin typeface="+mn-lt"/>
                <a:ea typeface="+mn-ea"/>
              </a:rPr>
              <a:t>, </a:t>
            </a:r>
            <a:r>
              <a:rPr lang="en-US" altLang="zh-CN" dirty="0" err="1">
                <a:latin typeface="+mn-lt"/>
                <a:ea typeface="+mn-ea"/>
              </a:rPr>
              <a:t>cjb</a:t>
            </a:r>
            <a:r>
              <a:rPr lang="en-US" altLang="zh-CN" dirty="0">
                <a:latin typeface="+mn-lt"/>
                <a:ea typeface="+mn-ea"/>
              </a:rPr>
              <a:t>.</a:t>
            </a:r>
            <a:r>
              <a:rPr lang="zh-CN" altLang="zh-CN" dirty="0">
                <a:latin typeface="+mn-lt"/>
                <a:ea typeface="+mn-ea"/>
              </a:rPr>
              <a:t>成绩</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r>
              <a:rPr lang="en-US" altLang="zh-CN" dirty="0">
                <a:latin typeface="+mn-lt"/>
                <a:ea typeface="+mn-ea"/>
              </a:rPr>
              <a:t> , </a:t>
            </a:r>
            <a:r>
              <a:rPr lang="en-US" altLang="zh-CN" dirty="0" err="1">
                <a:latin typeface="+mn-lt"/>
                <a:ea typeface="+mn-ea"/>
              </a:rPr>
              <a:t>cjb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 </a:t>
            </a:r>
            <a:r>
              <a:rPr lang="en-US" altLang="zh-CN" dirty="0" err="1">
                <a:latin typeface="+mn-lt"/>
                <a:ea typeface="+mn-ea"/>
              </a:rPr>
              <a:t>xsb</a:t>
            </a:r>
            <a:r>
              <a:rPr lang="en-US" altLang="zh-CN" dirty="0">
                <a:latin typeface="+mn-lt"/>
                <a:ea typeface="+mn-ea"/>
              </a:rPr>
              <a:t>.</a:t>
            </a:r>
            <a:r>
              <a:rPr lang="zh-CN" altLang="zh-CN" dirty="0">
                <a:latin typeface="+mn-lt"/>
                <a:ea typeface="+mn-ea"/>
              </a:rPr>
              <a:t>学号</a:t>
            </a:r>
            <a:r>
              <a:rPr lang="en-US" altLang="zh-CN" dirty="0">
                <a:latin typeface="+mn-lt"/>
                <a:ea typeface="+mn-ea"/>
              </a:rPr>
              <a:t>= </a:t>
            </a:r>
            <a:r>
              <a:rPr lang="en-US" altLang="zh-CN" dirty="0" err="1">
                <a:latin typeface="+mn-lt"/>
                <a:ea typeface="+mn-ea"/>
              </a:rPr>
              <a:t>cjb</a:t>
            </a:r>
            <a:r>
              <a:rPr lang="en-US" altLang="zh-CN" dirty="0">
                <a:latin typeface="+mn-lt"/>
                <a:ea typeface="+mn-ea"/>
              </a:rPr>
              <a:t>.</a:t>
            </a:r>
            <a:r>
              <a:rPr lang="zh-CN" altLang="zh-CN" dirty="0">
                <a:latin typeface="+mn-lt"/>
                <a:ea typeface="+mn-ea"/>
              </a:rPr>
              <a:t>学号</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本例所得的结果表包含以下字段：学号、姓名、性别、出生时间、专业、总学分、备注、课程号、成绩。</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【例</a:t>
            </a:r>
            <a:r>
              <a:rPr lang="en-US" altLang="zh-CN" dirty="0">
                <a:latin typeface="+mn-lt"/>
                <a:ea typeface="+mn-ea"/>
              </a:rPr>
              <a:t>4.32</a:t>
            </a:r>
            <a:r>
              <a:rPr lang="zh-CN" altLang="zh-CN" dirty="0">
                <a:latin typeface="+mn-lt"/>
                <a:ea typeface="+mn-ea"/>
              </a:rPr>
              <a:t>】 查找选修了</a:t>
            </a:r>
            <a:r>
              <a:rPr lang="en-US" altLang="zh-CN" dirty="0">
                <a:latin typeface="+mn-lt"/>
                <a:ea typeface="+mn-ea"/>
              </a:rPr>
              <a:t>206</a:t>
            </a:r>
            <a:r>
              <a:rPr lang="zh-CN" altLang="zh-CN" dirty="0">
                <a:latin typeface="+mn-lt"/>
                <a:ea typeface="+mn-ea"/>
              </a:rPr>
              <a:t>号课程且成绩在</a:t>
            </a:r>
            <a:r>
              <a:rPr lang="en-US" altLang="zh-CN" dirty="0">
                <a:latin typeface="+mn-lt"/>
                <a:ea typeface="+mn-ea"/>
              </a:rPr>
              <a:t>80</a:t>
            </a:r>
            <a:r>
              <a:rPr lang="zh-CN" altLang="zh-CN" dirty="0">
                <a:latin typeface="+mn-lt"/>
                <a:ea typeface="+mn-ea"/>
              </a:rPr>
              <a:t>分以上的学生姓名及成绩。</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a:t>
            </a:r>
            <a:r>
              <a:rPr lang="zh-CN" altLang="zh-CN" dirty="0">
                <a:latin typeface="+mn-lt"/>
                <a:ea typeface="+mn-ea"/>
              </a:rPr>
              <a:t>姓名</a:t>
            </a:r>
            <a:r>
              <a:rPr lang="en-US" altLang="zh-CN" dirty="0">
                <a:latin typeface="+mn-lt"/>
                <a:ea typeface="+mn-ea"/>
              </a:rPr>
              <a:t>, </a:t>
            </a:r>
            <a:r>
              <a:rPr lang="zh-CN" altLang="zh-CN" dirty="0">
                <a:latin typeface="+mn-lt"/>
                <a:ea typeface="+mn-ea"/>
              </a:rPr>
              <a:t>成绩</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r>
              <a:rPr lang="en-US" altLang="zh-CN" dirty="0">
                <a:latin typeface="+mn-lt"/>
                <a:ea typeface="+mn-ea"/>
              </a:rPr>
              <a:t> , </a:t>
            </a:r>
            <a:r>
              <a:rPr lang="en-US" altLang="zh-CN" dirty="0" err="1">
                <a:latin typeface="+mn-lt"/>
                <a:ea typeface="+mn-ea"/>
              </a:rPr>
              <a:t>cjb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WHERE </a:t>
            </a:r>
            <a:r>
              <a:rPr lang="en-US" altLang="zh-CN" dirty="0" err="1">
                <a:latin typeface="+mn-lt"/>
                <a:ea typeface="+mn-ea"/>
              </a:rPr>
              <a:t>xsb</a:t>
            </a:r>
            <a:r>
              <a:rPr lang="en-US" altLang="zh-CN" dirty="0">
                <a:latin typeface="+mn-lt"/>
                <a:ea typeface="+mn-ea"/>
              </a:rPr>
              <a:t>.</a:t>
            </a:r>
            <a:r>
              <a:rPr lang="zh-CN" altLang="zh-CN" dirty="0">
                <a:latin typeface="+mn-lt"/>
                <a:ea typeface="+mn-ea"/>
              </a:rPr>
              <a:t>学号</a:t>
            </a:r>
            <a:r>
              <a:rPr lang="en-US" altLang="zh-CN" dirty="0">
                <a:latin typeface="+mn-lt"/>
                <a:ea typeface="+mn-ea"/>
              </a:rPr>
              <a:t> = </a:t>
            </a:r>
            <a:r>
              <a:rPr lang="en-US" altLang="zh-CN" dirty="0" err="1">
                <a:latin typeface="+mn-lt"/>
                <a:ea typeface="+mn-ea"/>
              </a:rPr>
              <a:t>cjb</a:t>
            </a:r>
            <a:r>
              <a:rPr lang="en-US" altLang="zh-CN" dirty="0">
                <a:latin typeface="+mn-lt"/>
                <a:ea typeface="+mn-ea"/>
              </a:rPr>
              <a:t>.</a:t>
            </a:r>
            <a:r>
              <a:rPr lang="zh-CN" altLang="zh-CN" dirty="0">
                <a:latin typeface="+mn-lt"/>
                <a:ea typeface="+mn-ea"/>
              </a:rPr>
              <a:t>学号</a:t>
            </a:r>
            <a:r>
              <a:rPr lang="en-US" altLang="zh-CN" dirty="0">
                <a:latin typeface="+mn-lt"/>
                <a:ea typeface="+mn-ea"/>
              </a:rPr>
              <a:t>AND</a:t>
            </a:r>
            <a:r>
              <a:rPr lang="zh-CN" altLang="zh-CN" dirty="0">
                <a:latin typeface="+mn-lt"/>
                <a:ea typeface="+mn-ea"/>
              </a:rPr>
              <a:t>课程号</a:t>
            </a:r>
            <a:r>
              <a:rPr lang="en-US" altLang="zh-CN" dirty="0">
                <a:latin typeface="+mn-lt"/>
                <a:ea typeface="+mn-ea"/>
              </a:rPr>
              <a:t> = '206' AND</a:t>
            </a:r>
            <a:r>
              <a:rPr lang="zh-CN" altLang="zh-CN" dirty="0">
                <a:latin typeface="+mn-lt"/>
                <a:ea typeface="+mn-ea"/>
              </a:rPr>
              <a:t>成绩</a:t>
            </a:r>
            <a:r>
              <a:rPr lang="en-US" altLang="zh-CN" dirty="0">
                <a:latin typeface="+mn-lt"/>
                <a:ea typeface="+mn-ea"/>
              </a:rPr>
              <a:t> &gt;= 80</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执行结果如图</a:t>
            </a:r>
            <a:r>
              <a:rPr lang="en-US" altLang="zh-CN" dirty="0">
                <a:latin typeface="+mn-lt"/>
                <a:ea typeface="+mn-ea"/>
              </a:rPr>
              <a:t>4.13</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852738"/>
            <a:ext cx="7848600" cy="16557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4.1.4  </a:t>
            </a:r>
            <a:r>
              <a:rPr lang="zh-CN" altLang="zh-CN" dirty="0">
                <a:effectLst/>
              </a:rPr>
              <a:t>连接：</a:t>
            </a:r>
            <a:r>
              <a:rPr lang="en-US" altLang="zh-CN" dirty="0">
                <a:effectLst/>
              </a:rPr>
              <a:t>=/JOIN</a:t>
            </a:r>
            <a:endParaRPr lang="zh-CN" altLang="en-US" dirty="0"/>
          </a:p>
        </p:txBody>
      </p:sp>
      <p:sp>
        <p:nvSpPr>
          <p:cNvPr id="43012" name="TextBox 2"/>
          <p:cNvSpPr txBox="1">
            <a:spLocks noChangeArrowheads="1"/>
          </p:cNvSpPr>
          <p:nvPr/>
        </p:nvSpPr>
        <p:spPr bwMode="auto">
          <a:xfrm>
            <a:off x="468313" y="1484313"/>
            <a:ext cx="8207375" cy="369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a:t>
            </a:r>
            <a:r>
              <a:rPr lang="en-US" altLang="zh-CN"/>
              <a:t>2</a:t>
            </a:r>
            <a:r>
              <a:rPr lang="zh-CN" altLang="zh-CN"/>
              <a:t>）多表连接</a:t>
            </a:r>
            <a:endParaRPr lang="zh-CN" altLang="zh-CN"/>
          </a:p>
          <a:p>
            <a:pPr eaLnBrk="1" fontAlgn="ctr" hangingPunct="1"/>
            <a:r>
              <a:rPr lang="zh-CN" altLang="zh-CN"/>
              <a:t>有时用户所需要的字段来自两个以上的表，那么就要对两个以上的表进行连接，称之为多表连接。</a:t>
            </a:r>
            <a:endParaRPr lang="zh-CN" altLang="zh-CN"/>
          </a:p>
          <a:p>
            <a:pPr eaLnBrk="1" fontAlgn="ctr" hangingPunct="1"/>
            <a:r>
              <a:rPr lang="zh-CN" altLang="zh-CN"/>
              <a:t>【例</a:t>
            </a:r>
            <a:r>
              <a:rPr lang="en-US" altLang="zh-CN"/>
              <a:t>4.33</a:t>
            </a:r>
            <a:r>
              <a:rPr lang="zh-CN" altLang="zh-CN"/>
              <a:t>】 查找选修了“计算机基础”课程且成绩在</a:t>
            </a:r>
            <a:r>
              <a:rPr lang="en-US" altLang="zh-CN"/>
              <a:t>80</a:t>
            </a:r>
            <a:r>
              <a:rPr lang="zh-CN" altLang="zh-CN"/>
              <a:t>分以上的学生学号、姓名、课程名及成绩。</a:t>
            </a:r>
            <a:endParaRPr lang="zh-CN" altLang="zh-CN"/>
          </a:p>
          <a:p>
            <a:pPr eaLnBrk="1" hangingPunct="1"/>
            <a:r>
              <a:rPr lang="en-US" altLang="zh-CN"/>
              <a:t>SELECT xsb.</a:t>
            </a:r>
            <a:r>
              <a:rPr lang="zh-CN" altLang="zh-CN"/>
              <a:t>学号</a:t>
            </a:r>
            <a:r>
              <a:rPr lang="en-US" altLang="zh-CN"/>
              <a:t>, </a:t>
            </a:r>
            <a:r>
              <a:rPr lang="zh-CN" altLang="zh-CN"/>
              <a:t>姓名</a:t>
            </a:r>
            <a:r>
              <a:rPr lang="en-US" altLang="zh-CN"/>
              <a:t>, </a:t>
            </a:r>
            <a:r>
              <a:rPr lang="zh-CN" altLang="zh-CN"/>
              <a:t>课程名</a:t>
            </a:r>
            <a:r>
              <a:rPr lang="en-US" altLang="zh-CN"/>
              <a:t>, </a:t>
            </a:r>
            <a:r>
              <a:rPr lang="zh-CN" altLang="zh-CN"/>
              <a:t>成绩</a:t>
            </a:r>
            <a:endParaRPr lang="zh-CN" altLang="zh-CN"/>
          </a:p>
          <a:p>
            <a:pPr eaLnBrk="1" hangingPunct="1"/>
            <a:r>
              <a:rPr lang="en-US" altLang="zh-CN"/>
              <a:t>     FROM  xsb , kcb , cjb</a:t>
            </a:r>
            <a:endParaRPr lang="zh-CN" altLang="zh-CN"/>
          </a:p>
          <a:p>
            <a:pPr eaLnBrk="1" hangingPunct="1"/>
            <a:r>
              <a:rPr lang="en-US" altLang="zh-CN"/>
              <a:t>     WHERE  xsb.</a:t>
            </a:r>
            <a:r>
              <a:rPr lang="zh-CN" altLang="zh-CN"/>
              <a:t>学号</a:t>
            </a:r>
            <a:r>
              <a:rPr lang="en-US" altLang="zh-CN"/>
              <a:t> = cjb.</a:t>
            </a:r>
            <a:r>
              <a:rPr lang="zh-CN" altLang="zh-CN"/>
              <a:t>学号 </a:t>
            </a:r>
            <a:endParaRPr lang="zh-CN" altLang="zh-CN"/>
          </a:p>
          <a:p>
            <a:pPr eaLnBrk="1" hangingPunct="1"/>
            <a:r>
              <a:rPr lang="en-US" altLang="zh-CN"/>
              <a:t>          AND  kcb.</a:t>
            </a:r>
            <a:r>
              <a:rPr lang="zh-CN" altLang="zh-CN"/>
              <a:t>课程号</a:t>
            </a:r>
            <a:r>
              <a:rPr lang="en-US" altLang="zh-CN"/>
              <a:t> = cjb.</a:t>
            </a:r>
            <a:r>
              <a:rPr lang="zh-CN" altLang="zh-CN"/>
              <a:t>课程号</a:t>
            </a:r>
            <a:endParaRPr lang="zh-CN" altLang="zh-CN"/>
          </a:p>
          <a:p>
            <a:pPr eaLnBrk="1" hangingPunct="1"/>
            <a:r>
              <a:rPr lang="en-US" altLang="zh-CN"/>
              <a:t>          AND  </a:t>
            </a:r>
            <a:r>
              <a:rPr lang="zh-CN" altLang="zh-CN"/>
              <a:t>课程名</a:t>
            </a:r>
            <a:r>
              <a:rPr lang="en-US" altLang="zh-CN"/>
              <a:t> = '</a:t>
            </a:r>
            <a:r>
              <a:rPr lang="zh-CN" altLang="zh-CN"/>
              <a:t>计算机基础</a:t>
            </a:r>
            <a:r>
              <a:rPr lang="en-US" altLang="zh-CN"/>
              <a:t>'  </a:t>
            </a:r>
            <a:endParaRPr lang="zh-CN" altLang="zh-CN"/>
          </a:p>
          <a:p>
            <a:pPr eaLnBrk="1" hangingPunct="1"/>
            <a:r>
              <a:rPr lang="en-US" altLang="zh-CN"/>
              <a:t>          AND  </a:t>
            </a:r>
            <a:r>
              <a:rPr lang="zh-CN" altLang="zh-CN"/>
              <a:t>成绩</a:t>
            </a:r>
            <a:r>
              <a:rPr lang="en-US" altLang="zh-CN"/>
              <a:t> &gt;= 80</a:t>
            </a:r>
            <a:endParaRPr lang="zh-CN" altLang="zh-CN"/>
          </a:p>
          <a:p>
            <a:pPr eaLnBrk="1" fontAlgn="ctr" hangingPunct="1"/>
            <a:r>
              <a:rPr lang="zh-CN" altLang="zh-CN"/>
              <a:t>执行结果如图</a:t>
            </a:r>
            <a:r>
              <a:rPr lang="en-US" altLang="zh-CN"/>
              <a:t>4.14</a:t>
            </a:r>
            <a:r>
              <a:rPr lang="zh-CN" altLang="zh-CN"/>
              <a:t>所示。</a:t>
            </a:r>
            <a:endParaRPr lang="zh-CN" altLang="zh-CN"/>
          </a:p>
          <a:p>
            <a:pPr eaLnBrk="1" hangingPunct="1"/>
            <a:endParaRPr lang="zh-CN" altLang="en-US"/>
          </a:p>
        </p:txBody>
      </p:sp>
      <p:pic>
        <p:nvPicPr>
          <p:cNvPr id="4301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084888" y="2852738"/>
            <a:ext cx="2590800" cy="252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3213100"/>
            <a:ext cx="7848600" cy="18716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4.1.4  </a:t>
            </a:r>
            <a:r>
              <a:rPr lang="zh-CN" altLang="zh-CN" dirty="0">
                <a:effectLst/>
              </a:rPr>
              <a:t>连接：</a:t>
            </a:r>
            <a:r>
              <a:rPr lang="en-US" altLang="zh-CN" dirty="0">
                <a:effectLst/>
              </a:rPr>
              <a:t>=/JOIN</a:t>
            </a:r>
            <a:endParaRPr lang="zh-CN" altLang="en-US" dirty="0"/>
          </a:p>
        </p:txBody>
      </p:sp>
      <p:sp>
        <p:nvSpPr>
          <p:cNvPr id="3" name="TextBox 2"/>
          <p:cNvSpPr txBox="1"/>
          <p:nvPr/>
        </p:nvSpPr>
        <p:spPr>
          <a:xfrm>
            <a:off x="395288" y="1484313"/>
            <a:ext cx="8280400" cy="3970337"/>
          </a:xfrm>
          <a:prstGeom prst="rect">
            <a:avLst/>
          </a:prstGeom>
          <a:noFill/>
        </p:spPr>
        <p:txBody>
          <a:bodyPr>
            <a:spAutoFit/>
          </a:bodyPr>
          <a:lstStyle/>
          <a:p>
            <a:pPr indent="446405" fontAlgn="auto">
              <a:lnSpc>
                <a:spcPct val="150000"/>
              </a:lnSpc>
              <a:spcBef>
                <a:spcPts val="0"/>
              </a:spcBef>
              <a:spcAft>
                <a:spcPts val="0"/>
              </a:spcAft>
              <a:defRPr/>
            </a:pPr>
            <a:r>
              <a:rPr lang="en-US" altLang="zh-CN" b="1" dirty="0">
                <a:solidFill>
                  <a:srgbClr val="C00000"/>
                </a:solidFill>
                <a:latin typeface="+mn-lt"/>
                <a:ea typeface="+mn-ea"/>
              </a:rPr>
              <a:t>2</a:t>
            </a:r>
            <a:r>
              <a:rPr lang="zh-CN" altLang="zh-CN" b="1" dirty="0">
                <a:solidFill>
                  <a:srgbClr val="C00000"/>
                </a:solidFill>
                <a:latin typeface="+mn-lt"/>
                <a:ea typeface="+mn-ea"/>
              </a:rPr>
              <a:t>．以</a:t>
            </a:r>
            <a:r>
              <a:rPr lang="en-US" altLang="zh-CN" b="1" dirty="0">
                <a:solidFill>
                  <a:srgbClr val="C00000"/>
                </a:solidFill>
                <a:latin typeface="+mn-lt"/>
                <a:ea typeface="+mn-ea"/>
              </a:rPr>
              <a:t>JOIN</a:t>
            </a:r>
            <a:r>
              <a:rPr lang="zh-CN" altLang="zh-CN" b="1" dirty="0">
                <a:solidFill>
                  <a:srgbClr val="C00000"/>
                </a:solidFill>
                <a:latin typeface="+mn-lt"/>
                <a:ea typeface="+mn-ea"/>
              </a:rPr>
              <a:t>关键字指定的连接</a:t>
            </a:r>
            <a:endParaRPr lang="zh-CN" altLang="zh-CN" b="1" dirty="0">
              <a:solidFill>
                <a:srgbClr val="C00000"/>
              </a:solidFill>
              <a:latin typeface="+mn-lt"/>
              <a:ea typeface="+mn-ea"/>
            </a:endParaRPr>
          </a:p>
          <a:p>
            <a:pPr indent="446405" fontAlgn="ctr">
              <a:lnSpc>
                <a:spcPct val="150000"/>
              </a:lnSpc>
              <a:spcBef>
                <a:spcPts val="0"/>
              </a:spcBef>
              <a:spcAft>
                <a:spcPts val="0"/>
              </a:spcAft>
              <a:defRPr/>
            </a:pPr>
            <a:r>
              <a:rPr lang="en-US" altLang="zh-CN" dirty="0">
                <a:latin typeface="+mn-lt"/>
                <a:ea typeface="+mn-ea"/>
              </a:rPr>
              <a:t>T-SQL</a:t>
            </a:r>
            <a:r>
              <a:rPr lang="zh-CN" altLang="zh-CN" dirty="0">
                <a:latin typeface="+mn-lt"/>
                <a:ea typeface="+mn-ea"/>
              </a:rPr>
              <a:t>扩展了以</a:t>
            </a:r>
            <a:r>
              <a:rPr lang="en-US" altLang="zh-CN" dirty="0">
                <a:latin typeface="+mn-lt"/>
                <a:ea typeface="+mn-ea"/>
              </a:rPr>
              <a:t>JOIN</a:t>
            </a:r>
            <a:r>
              <a:rPr lang="zh-CN" altLang="zh-CN" dirty="0">
                <a:latin typeface="+mn-lt"/>
                <a:ea typeface="+mn-ea"/>
              </a:rPr>
              <a:t>关键字指定连接的表示方式，使表的连接运算能力有所增强。</a:t>
            </a:r>
            <a:r>
              <a:rPr lang="en-US" altLang="zh-CN" dirty="0">
                <a:latin typeface="+mn-lt"/>
                <a:ea typeface="+mn-ea"/>
              </a:rPr>
              <a:t>FROM</a:t>
            </a:r>
            <a:r>
              <a:rPr lang="zh-CN" altLang="zh-CN" dirty="0">
                <a:latin typeface="+mn-lt"/>
                <a:ea typeface="+mn-ea"/>
              </a:rPr>
              <a:t>子句的</a:t>
            </a:r>
            <a:r>
              <a:rPr lang="en-US" altLang="zh-CN" dirty="0">
                <a:latin typeface="+mn-lt"/>
                <a:ea typeface="+mn-ea"/>
              </a:rPr>
              <a:t>&lt;</a:t>
            </a:r>
            <a:r>
              <a:rPr lang="zh-CN" altLang="zh-CN" dirty="0">
                <a:latin typeface="+mn-lt"/>
                <a:ea typeface="+mn-ea"/>
              </a:rPr>
              <a:t>连接表</a:t>
            </a:r>
            <a:r>
              <a:rPr lang="en-US" altLang="zh-CN" dirty="0">
                <a:latin typeface="+mn-lt"/>
                <a:ea typeface="+mn-ea"/>
              </a:rPr>
              <a:t>&gt;</a:t>
            </a:r>
            <a:r>
              <a:rPr lang="zh-CN" altLang="zh-CN" dirty="0">
                <a:latin typeface="+mn-lt"/>
                <a:ea typeface="+mn-ea"/>
              </a:rPr>
              <a:t>表示将多个表连接起来。</a:t>
            </a:r>
            <a:endParaRPr lang="zh-CN" altLang="zh-CN" dirty="0">
              <a:latin typeface="+mn-lt"/>
              <a:ea typeface="+mn-ea"/>
            </a:endParaRPr>
          </a:p>
          <a:p>
            <a:pPr indent="446405" fontAlgn="ctr">
              <a:lnSpc>
                <a:spcPct val="150000"/>
              </a:lnSpc>
              <a:spcBef>
                <a:spcPts val="0"/>
              </a:spcBef>
              <a:spcAft>
                <a:spcPts val="0"/>
              </a:spcAft>
              <a:defRPr/>
            </a:pPr>
            <a:r>
              <a:rPr lang="zh-CN" altLang="zh-CN" dirty="0">
                <a:latin typeface="+mn-lt"/>
                <a:ea typeface="+mn-ea"/>
              </a:rPr>
              <a:t>格式如下：</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&lt;</a:t>
            </a:r>
            <a:r>
              <a:rPr lang="zh-CN" altLang="zh-CN" dirty="0">
                <a:latin typeface="+mn-lt"/>
                <a:ea typeface="+mn-ea"/>
              </a:rPr>
              <a:t>连接表</a:t>
            </a:r>
            <a:r>
              <a:rPr lang="en-US" altLang="zh-CN" dirty="0">
                <a:latin typeface="+mn-lt"/>
                <a:ea typeface="+mn-ea"/>
              </a:rPr>
              <a:t>&gt;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&lt;</a:t>
            </a:r>
            <a:r>
              <a:rPr lang="zh-CN" altLang="zh-CN" dirty="0">
                <a:latin typeface="+mn-lt"/>
                <a:ea typeface="+mn-ea"/>
              </a:rPr>
              <a:t>表源</a:t>
            </a:r>
            <a:r>
              <a:rPr lang="en-US" altLang="zh-CN" dirty="0">
                <a:latin typeface="+mn-lt"/>
                <a:ea typeface="+mn-ea"/>
              </a:rPr>
              <a:t>&gt; &lt;</a:t>
            </a:r>
            <a:r>
              <a:rPr lang="zh-CN" altLang="zh-CN" dirty="0">
                <a:latin typeface="+mn-lt"/>
                <a:ea typeface="+mn-ea"/>
              </a:rPr>
              <a:t>类型</a:t>
            </a:r>
            <a:r>
              <a:rPr lang="en-US" altLang="zh-CN" dirty="0">
                <a:latin typeface="+mn-lt"/>
                <a:ea typeface="+mn-ea"/>
              </a:rPr>
              <a:t>&gt; &lt;</a:t>
            </a:r>
            <a:r>
              <a:rPr lang="zh-CN" altLang="zh-CN" dirty="0">
                <a:latin typeface="+mn-lt"/>
                <a:ea typeface="+mn-ea"/>
              </a:rPr>
              <a:t>表源</a:t>
            </a:r>
            <a:r>
              <a:rPr lang="en-US" altLang="zh-CN" dirty="0">
                <a:latin typeface="+mn-lt"/>
                <a:ea typeface="+mn-ea"/>
              </a:rPr>
              <a:t>&gt; ON &lt;</a:t>
            </a:r>
            <a:r>
              <a:rPr lang="zh-CN" altLang="zh-CN" dirty="0">
                <a:latin typeface="+mn-lt"/>
                <a:ea typeface="+mn-ea"/>
              </a:rPr>
              <a:t>查询条件</a:t>
            </a:r>
            <a:r>
              <a:rPr lang="en-US" altLang="zh-CN" dirty="0">
                <a:latin typeface="+mn-lt"/>
                <a:ea typeface="+mn-ea"/>
              </a:rPr>
              <a:t>&gt;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&lt;</a:t>
            </a:r>
            <a:r>
              <a:rPr lang="zh-CN" altLang="zh-CN" dirty="0">
                <a:latin typeface="+mn-lt"/>
                <a:ea typeface="+mn-ea"/>
              </a:rPr>
              <a:t>表源</a:t>
            </a:r>
            <a:r>
              <a:rPr lang="en-US" altLang="zh-CN" dirty="0">
                <a:latin typeface="+mn-lt"/>
                <a:ea typeface="+mn-ea"/>
              </a:rPr>
              <a:t>&gt; CROSS JOIN &lt;</a:t>
            </a:r>
            <a:r>
              <a:rPr lang="zh-CN" altLang="zh-CN" dirty="0">
                <a:latin typeface="+mn-lt"/>
                <a:ea typeface="+mn-ea"/>
              </a:rPr>
              <a:t>表源</a:t>
            </a:r>
            <a:r>
              <a:rPr lang="en-US" altLang="zh-CN" dirty="0">
                <a:latin typeface="+mn-lt"/>
                <a:ea typeface="+mn-ea"/>
              </a:rPr>
              <a:t>&gt;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a:t>
            </a:r>
            <a:r>
              <a:rPr lang="zh-CN" altLang="zh-CN" dirty="0">
                <a:latin typeface="+mn-lt"/>
                <a:ea typeface="+mn-ea"/>
              </a:rPr>
              <a:t>左表源</a:t>
            </a:r>
            <a:r>
              <a:rPr lang="en-US" altLang="zh-CN" dirty="0">
                <a:latin typeface="+mn-lt"/>
                <a:ea typeface="+mn-ea"/>
              </a:rPr>
              <a:t> { CROSS | OUTER } APPLY</a:t>
            </a:r>
            <a:r>
              <a:rPr lang="zh-CN" altLang="zh-CN" dirty="0">
                <a:latin typeface="+mn-lt"/>
                <a:ea typeface="+mn-ea"/>
              </a:rPr>
              <a:t>右表源</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 [ ( ) &lt;</a:t>
            </a:r>
            <a:r>
              <a:rPr lang="zh-CN" altLang="zh-CN" dirty="0">
                <a:latin typeface="+mn-lt"/>
                <a:ea typeface="+mn-ea"/>
              </a:rPr>
              <a:t>连接表</a:t>
            </a:r>
            <a:r>
              <a:rPr lang="en-US" altLang="zh-CN" dirty="0">
                <a:latin typeface="+mn-lt"/>
                <a:ea typeface="+mn-ea"/>
              </a:rPr>
              <a:t>&gt; [ ] ]</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4076700"/>
            <a:ext cx="7775575" cy="10810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708275"/>
            <a:ext cx="7775575"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4.1.4  </a:t>
            </a:r>
            <a:r>
              <a:rPr lang="zh-CN" altLang="zh-CN" dirty="0">
                <a:effectLst/>
              </a:rPr>
              <a:t>连接：</a:t>
            </a:r>
            <a:r>
              <a:rPr lang="en-US" altLang="zh-CN" dirty="0">
                <a:effectLst/>
              </a:rPr>
              <a:t>=/JOIN</a:t>
            </a:r>
            <a:endParaRPr lang="zh-CN" altLang="en-US" dirty="0"/>
          </a:p>
        </p:txBody>
      </p:sp>
      <p:sp>
        <p:nvSpPr>
          <p:cNvPr id="45061" name="TextBox 2"/>
          <p:cNvSpPr txBox="1">
            <a:spLocks noChangeArrowheads="1"/>
          </p:cNvSpPr>
          <p:nvPr/>
        </p:nvSpPr>
        <p:spPr bwMode="auto">
          <a:xfrm>
            <a:off x="468313" y="1557338"/>
            <a:ext cx="8207375"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① 内连接。</a:t>
            </a:r>
            <a:endParaRPr lang="zh-CN" altLang="zh-CN"/>
          </a:p>
          <a:p>
            <a:pPr eaLnBrk="1" fontAlgn="ctr" hangingPunct="1"/>
            <a:r>
              <a:rPr lang="zh-CN" altLang="zh-CN"/>
              <a:t>指定了</a:t>
            </a:r>
            <a:r>
              <a:rPr lang="en-US" altLang="zh-CN"/>
              <a:t>INNER</a:t>
            </a:r>
            <a:r>
              <a:rPr lang="zh-CN" altLang="zh-CN"/>
              <a:t>关键字的连接是内连接，内连接按照</a:t>
            </a:r>
            <a:r>
              <a:rPr lang="en-US" altLang="zh-CN"/>
              <a:t>ON</a:t>
            </a:r>
            <a:r>
              <a:rPr lang="zh-CN" altLang="zh-CN"/>
              <a:t>所指定的连接条件合并两个表，返回满足条件的行。</a:t>
            </a:r>
            <a:endParaRPr lang="zh-CN" altLang="zh-CN"/>
          </a:p>
          <a:p>
            <a:pPr eaLnBrk="1" fontAlgn="ctr" hangingPunct="1"/>
            <a:r>
              <a:rPr lang="zh-CN" altLang="zh-CN"/>
              <a:t>【例</a:t>
            </a:r>
            <a:r>
              <a:rPr lang="en-US" altLang="zh-CN"/>
              <a:t>4.34</a:t>
            </a:r>
            <a:r>
              <a:rPr lang="zh-CN" altLang="zh-CN"/>
              <a:t>】 查找</a:t>
            </a:r>
            <a:r>
              <a:rPr lang="en-US" altLang="zh-CN"/>
              <a:t>pxscj</a:t>
            </a:r>
            <a:r>
              <a:rPr lang="zh-CN" altLang="zh-CN"/>
              <a:t>数据库中每个学生的情况以及选修的课程情况。</a:t>
            </a:r>
            <a:endParaRPr lang="zh-CN" altLang="zh-CN"/>
          </a:p>
          <a:p>
            <a:pPr eaLnBrk="1" hangingPunct="1"/>
            <a:r>
              <a:rPr lang="en-US" altLang="zh-CN"/>
              <a:t>SELECT  *</a:t>
            </a:r>
            <a:endParaRPr lang="zh-CN" altLang="zh-CN"/>
          </a:p>
          <a:p>
            <a:pPr eaLnBrk="1" hangingPunct="1"/>
            <a:r>
              <a:rPr lang="en-US" altLang="zh-CN"/>
              <a:t>     FROM  xsb  INNER  JOIN  cjb</a:t>
            </a:r>
            <a:endParaRPr lang="zh-CN" altLang="zh-CN"/>
          </a:p>
          <a:p>
            <a:pPr eaLnBrk="1" hangingPunct="1"/>
            <a:r>
              <a:rPr lang="en-US" altLang="zh-CN"/>
              <a:t>          ON  xsb.</a:t>
            </a:r>
            <a:r>
              <a:rPr lang="zh-CN" altLang="zh-CN"/>
              <a:t>学号</a:t>
            </a:r>
            <a:r>
              <a:rPr lang="en-US" altLang="zh-CN"/>
              <a:t> =cjb.</a:t>
            </a:r>
            <a:r>
              <a:rPr lang="zh-CN" altLang="zh-CN"/>
              <a:t>学号</a:t>
            </a:r>
            <a:endParaRPr lang="zh-CN" altLang="zh-CN"/>
          </a:p>
          <a:p>
            <a:pPr eaLnBrk="1" fontAlgn="ctr" hangingPunct="1"/>
            <a:r>
              <a:rPr lang="zh-CN" altLang="zh-CN"/>
              <a:t>执行的结果将包含</a:t>
            </a:r>
            <a:r>
              <a:rPr lang="en-US" altLang="zh-CN"/>
              <a:t>xsb</a:t>
            </a:r>
            <a:r>
              <a:rPr lang="zh-CN" altLang="zh-CN"/>
              <a:t>表和</a:t>
            </a:r>
            <a:r>
              <a:rPr lang="en-US" altLang="zh-CN"/>
              <a:t>cjb</a:t>
            </a:r>
            <a:r>
              <a:rPr lang="zh-CN" altLang="zh-CN"/>
              <a:t>表的所有字段（不去除重复字段—学号）。</a:t>
            </a:r>
            <a:endParaRPr lang="en-US" altLang="zh-CN"/>
          </a:p>
          <a:p>
            <a:pPr eaLnBrk="1" fontAlgn="ctr" hangingPunct="1"/>
            <a:r>
              <a:rPr lang="zh-CN" altLang="zh-CN"/>
              <a:t>【例</a:t>
            </a:r>
            <a:r>
              <a:rPr lang="en-US" altLang="zh-CN"/>
              <a:t>4.35</a:t>
            </a:r>
            <a:r>
              <a:rPr lang="zh-CN" altLang="zh-CN"/>
              <a:t>】 查询选修了</a:t>
            </a:r>
            <a:r>
              <a:rPr lang="en-US" altLang="zh-CN"/>
              <a:t>206</a:t>
            </a:r>
            <a:r>
              <a:rPr lang="zh-CN" altLang="zh-CN"/>
              <a:t>课程且成绩大于</a:t>
            </a:r>
            <a:r>
              <a:rPr lang="en-US" altLang="zh-CN"/>
              <a:t>80</a:t>
            </a:r>
            <a:r>
              <a:rPr lang="zh-CN" altLang="zh-CN"/>
              <a:t>的学生姓名和成绩？</a:t>
            </a:r>
            <a:endParaRPr lang="zh-CN" altLang="zh-CN"/>
          </a:p>
          <a:p>
            <a:pPr eaLnBrk="1" hangingPunct="1"/>
            <a:r>
              <a:rPr lang="en-US" altLang="zh-CN"/>
              <a:t>SELECT</a:t>
            </a:r>
            <a:r>
              <a:rPr lang="zh-CN" altLang="zh-CN"/>
              <a:t>姓名</a:t>
            </a:r>
            <a:r>
              <a:rPr lang="en-US" altLang="zh-CN"/>
              <a:t>, </a:t>
            </a:r>
            <a:r>
              <a:rPr lang="zh-CN" altLang="zh-CN"/>
              <a:t>成绩</a:t>
            </a:r>
            <a:endParaRPr lang="zh-CN" altLang="zh-CN"/>
          </a:p>
          <a:p>
            <a:pPr eaLnBrk="1" hangingPunct="1"/>
            <a:r>
              <a:rPr lang="en-US" altLang="zh-CN"/>
              <a:t>     FROM xsb JOIN cjb</a:t>
            </a:r>
            <a:endParaRPr lang="zh-CN" altLang="zh-CN"/>
          </a:p>
          <a:p>
            <a:pPr eaLnBrk="1" hangingPunct="1"/>
            <a:r>
              <a:rPr lang="en-US" altLang="zh-CN"/>
              <a:t>          ON xsb.</a:t>
            </a:r>
            <a:r>
              <a:rPr lang="zh-CN" altLang="zh-CN"/>
              <a:t>学号</a:t>
            </a:r>
            <a:r>
              <a:rPr lang="en-US" altLang="zh-CN"/>
              <a:t> = cjb.</a:t>
            </a:r>
            <a:r>
              <a:rPr lang="zh-CN" altLang="zh-CN"/>
              <a:t>学号</a:t>
            </a:r>
            <a:r>
              <a:rPr lang="en-US" altLang="zh-CN"/>
              <a:t> </a:t>
            </a:r>
            <a:endParaRPr lang="zh-CN" altLang="zh-CN"/>
          </a:p>
          <a:p>
            <a:pPr eaLnBrk="1" hangingPunct="1"/>
            <a:r>
              <a:rPr lang="en-US" altLang="zh-CN"/>
              <a:t>     WHERE</a:t>
            </a:r>
            <a:r>
              <a:rPr lang="zh-CN" altLang="zh-CN"/>
              <a:t>课程号</a:t>
            </a:r>
            <a:r>
              <a:rPr lang="en-US" altLang="zh-CN"/>
              <a:t> = '206'  AND</a:t>
            </a:r>
            <a:r>
              <a:rPr lang="zh-CN" altLang="zh-CN"/>
              <a:t>成绩</a:t>
            </a:r>
            <a:r>
              <a:rPr lang="en-US" altLang="zh-CN"/>
              <a:t>&gt;=80</a:t>
            </a:r>
            <a:endParaRPr lang="zh-CN" altLang="zh-CN"/>
          </a:p>
          <a:p>
            <a:pPr eaLnBrk="1" fontAlgn="ctr" hangingPunct="1"/>
            <a:r>
              <a:rPr lang="zh-CN" altLang="zh-CN"/>
              <a:t>内连接还可以用于多个表的连接。</a:t>
            </a:r>
            <a:endParaRPr lang="zh-CN" altLang="zh-CN"/>
          </a:p>
          <a:p>
            <a:pPr eaLnBrk="1" fontAlgn="ctr" hangingPunct="1"/>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4076700"/>
            <a:ext cx="7775575" cy="865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133600"/>
            <a:ext cx="7775575" cy="13668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4.1.4  </a:t>
            </a:r>
            <a:r>
              <a:rPr lang="zh-CN" altLang="zh-CN" dirty="0">
                <a:effectLst/>
              </a:rPr>
              <a:t>连接：</a:t>
            </a:r>
            <a:r>
              <a:rPr lang="en-US" altLang="zh-CN" dirty="0">
                <a:effectLst/>
              </a:rPr>
              <a:t>=/JOIN</a:t>
            </a:r>
            <a:endParaRPr lang="zh-CN" altLang="en-US" dirty="0"/>
          </a:p>
        </p:txBody>
      </p:sp>
      <p:sp>
        <p:nvSpPr>
          <p:cNvPr id="46085" name="TextBox 2"/>
          <p:cNvSpPr txBox="1">
            <a:spLocks noChangeArrowheads="1"/>
          </p:cNvSpPr>
          <p:nvPr/>
        </p:nvSpPr>
        <p:spPr bwMode="auto">
          <a:xfrm>
            <a:off x="468313" y="1557338"/>
            <a:ext cx="8207375" cy="369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4.36</a:t>
            </a:r>
            <a:r>
              <a:rPr lang="zh-CN" altLang="zh-CN"/>
              <a:t>】 用</a:t>
            </a:r>
            <a:r>
              <a:rPr lang="en-US" altLang="zh-CN"/>
              <a:t>FROM</a:t>
            </a:r>
            <a:r>
              <a:rPr lang="zh-CN" altLang="zh-CN"/>
              <a:t>子句的</a:t>
            </a:r>
            <a:r>
              <a:rPr lang="en-US" altLang="zh-CN"/>
              <a:t>JOIN</a:t>
            </a:r>
            <a:r>
              <a:rPr lang="zh-CN" altLang="zh-CN"/>
              <a:t>关键字表达下列查询：查找选修了“计算机基础”课程且成绩在</a:t>
            </a:r>
            <a:r>
              <a:rPr lang="en-US" altLang="zh-CN"/>
              <a:t>80</a:t>
            </a:r>
            <a:r>
              <a:rPr lang="zh-CN" altLang="zh-CN"/>
              <a:t>分以上的学生学号、姓名、课程名及成绩。</a:t>
            </a:r>
            <a:endParaRPr lang="zh-CN" altLang="zh-CN"/>
          </a:p>
          <a:p>
            <a:pPr eaLnBrk="1" hangingPunct="1"/>
            <a:r>
              <a:rPr lang="en-US" altLang="zh-CN"/>
              <a:t>SELECT 	xsb.</a:t>
            </a:r>
            <a:r>
              <a:rPr lang="zh-CN" altLang="zh-CN"/>
              <a:t>学号</a:t>
            </a:r>
            <a:r>
              <a:rPr lang="en-US" altLang="zh-CN"/>
              <a:t>, </a:t>
            </a:r>
            <a:r>
              <a:rPr lang="zh-CN" altLang="zh-CN"/>
              <a:t>姓名</a:t>
            </a:r>
            <a:r>
              <a:rPr lang="en-US" altLang="zh-CN"/>
              <a:t>, </a:t>
            </a:r>
            <a:r>
              <a:rPr lang="zh-CN" altLang="zh-CN"/>
              <a:t>课程名</a:t>
            </a:r>
            <a:r>
              <a:rPr lang="en-US" altLang="zh-CN"/>
              <a:t>, </a:t>
            </a:r>
            <a:r>
              <a:rPr lang="zh-CN" altLang="zh-CN"/>
              <a:t>成绩</a:t>
            </a:r>
            <a:endParaRPr lang="zh-CN" altLang="zh-CN"/>
          </a:p>
          <a:p>
            <a:pPr eaLnBrk="1" hangingPunct="1"/>
            <a:r>
              <a:rPr lang="en-US" altLang="zh-CN"/>
              <a:t>     FROM xsb JOIN cjb JOIN kcb  </a:t>
            </a:r>
            <a:endParaRPr lang="zh-CN" altLang="zh-CN"/>
          </a:p>
          <a:p>
            <a:pPr eaLnBrk="1" hangingPunct="1"/>
            <a:r>
              <a:rPr lang="en-US" altLang="zh-CN"/>
              <a:t>          ON  cjb.</a:t>
            </a:r>
            <a:r>
              <a:rPr lang="zh-CN" altLang="zh-CN"/>
              <a:t>课程号</a:t>
            </a:r>
            <a:r>
              <a:rPr lang="en-US" altLang="zh-CN"/>
              <a:t> = kcb.</a:t>
            </a:r>
            <a:r>
              <a:rPr lang="zh-CN" altLang="zh-CN"/>
              <a:t>课程号</a:t>
            </a:r>
            <a:r>
              <a:rPr lang="en-US" altLang="zh-CN"/>
              <a:t>  </a:t>
            </a:r>
            <a:endParaRPr lang="zh-CN" altLang="zh-CN"/>
          </a:p>
          <a:p>
            <a:pPr eaLnBrk="1" hangingPunct="1"/>
            <a:r>
              <a:rPr lang="en-US" altLang="zh-CN"/>
              <a:t>          ON  xsb.</a:t>
            </a:r>
            <a:r>
              <a:rPr lang="zh-CN" altLang="zh-CN"/>
              <a:t>学号</a:t>
            </a:r>
            <a:r>
              <a:rPr lang="en-US" altLang="zh-CN"/>
              <a:t> = cjb.</a:t>
            </a:r>
            <a:r>
              <a:rPr lang="zh-CN" altLang="zh-CN"/>
              <a:t>学号</a:t>
            </a:r>
            <a:r>
              <a:rPr lang="en-US" altLang="zh-CN"/>
              <a:t> </a:t>
            </a:r>
            <a:endParaRPr lang="zh-CN" altLang="zh-CN"/>
          </a:p>
          <a:p>
            <a:pPr eaLnBrk="1" hangingPunct="1"/>
            <a:r>
              <a:rPr lang="en-US" altLang="zh-CN"/>
              <a:t>     WHERE</a:t>
            </a:r>
            <a:r>
              <a:rPr lang="zh-CN" altLang="zh-CN"/>
              <a:t>课程名</a:t>
            </a:r>
            <a:r>
              <a:rPr lang="en-US" altLang="zh-CN"/>
              <a:t>= '</a:t>
            </a:r>
            <a:r>
              <a:rPr lang="zh-CN" altLang="zh-CN"/>
              <a:t>计算机基础</a:t>
            </a:r>
            <a:r>
              <a:rPr lang="en-US" altLang="zh-CN"/>
              <a:t>'  AND</a:t>
            </a:r>
            <a:r>
              <a:rPr lang="zh-CN" altLang="zh-CN"/>
              <a:t>成绩</a:t>
            </a:r>
            <a:r>
              <a:rPr lang="en-US" altLang="zh-CN"/>
              <a:t>&gt;=80</a:t>
            </a:r>
            <a:endParaRPr lang="zh-CN" altLang="zh-CN"/>
          </a:p>
          <a:p>
            <a:pPr eaLnBrk="1" fontAlgn="ctr" hangingPunct="1"/>
            <a:r>
              <a:rPr lang="zh-CN" altLang="zh-CN"/>
              <a:t>作为一种特例，可以将一个表与它自身进行连接，称为自连接。</a:t>
            </a:r>
            <a:endParaRPr lang="zh-CN" altLang="zh-CN"/>
          </a:p>
          <a:p>
            <a:pPr eaLnBrk="1" fontAlgn="ctr" hangingPunct="1"/>
            <a:r>
              <a:rPr lang="zh-CN" altLang="zh-CN"/>
              <a:t>【例</a:t>
            </a:r>
            <a:r>
              <a:rPr lang="en-US" altLang="zh-CN"/>
              <a:t>4.37</a:t>
            </a:r>
            <a:r>
              <a:rPr lang="zh-CN" altLang="zh-CN"/>
              <a:t>】 查找不同课程成绩相同的学生的学号、课程号和成绩。</a:t>
            </a:r>
            <a:endParaRPr lang="zh-CN" altLang="zh-CN"/>
          </a:p>
          <a:p>
            <a:pPr eaLnBrk="1" hangingPunct="1"/>
            <a:r>
              <a:rPr lang="en-US" altLang="zh-CN"/>
              <a:t>SELECT a.</a:t>
            </a:r>
            <a:r>
              <a:rPr lang="zh-CN" altLang="zh-CN"/>
              <a:t>学号</a:t>
            </a:r>
            <a:r>
              <a:rPr lang="en-US" altLang="zh-CN"/>
              <a:t>, a.</a:t>
            </a:r>
            <a:r>
              <a:rPr lang="zh-CN" altLang="zh-CN"/>
              <a:t>课程号</a:t>
            </a:r>
            <a:r>
              <a:rPr lang="en-US" altLang="zh-CN"/>
              <a:t>, b.</a:t>
            </a:r>
            <a:r>
              <a:rPr lang="zh-CN" altLang="zh-CN"/>
              <a:t>课程号</a:t>
            </a:r>
            <a:r>
              <a:rPr lang="en-US" altLang="zh-CN"/>
              <a:t>, a.</a:t>
            </a:r>
            <a:r>
              <a:rPr lang="zh-CN" altLang="zh-CN"/>
              <a:t>成绩</a:t>
            </a:r>
            <a:endParaRPr lang="zh-CN" altLang="zh-CN"/>
          </a:p>
          <a:p>
            <a:pPr eaLnBrk="1" hangingPunct="1"/>
            <a:r>
              <a:rPr lang="en-US" altLang="zh-CN"/>
              <a:t>     FROM cjb a  JOIN  cjb b</a:t>
            </a:r>
            <a:endParaRPr lang="zh-CN" altLang="zh-CN"/>
          </a:p>
          <a:p>
            <a:pPr eaLnBrk="1" hangingPunct="1"/>
            <a:r>
              <a:rPr lang="en-US" altLang="zh-CN"/>
              <a:t>          ON  a.</a:t>
            </a:r>
            <a:r>
              <a:rPr lang="zh-CN" altLang="zh-CN"/>
              <a:t>成绩</a:t>
            </a:r>
            <a:r>
              <a:rPr lang="en-US" altLang="zh-CN"/>
              <a:t>=b.</a:t>
            </a:r>
            <a:r>
              <a:rPr lang="zh-CN" altLang="zh-CN"/>
              <a:t>成绩</a:t>
            </a:r>
            <a:r>
              <a:rPr lang="en-US" altLang="zh-CN"/>
              <a:t>AND  a.</a:t>
            </a:r>
            <a:r>
              <a:rPr lang="zh-CN" altLang="zh-CN"/>
              <a:t>学号</a:t>
            </a:r>
            <a:r>
              <a:rPr lang="en-US" altLang="zh-CN"/>
              <a:t>=b.</a:t>
            </a:r>
            <a:r>
              <a:rPr lang="zh-CN" altLang="zh-CN"/>
              <a:t>学号</a:t>
            </a:r>
            <a:r>
              <a:rPr lang="en-US" altLang="zh-CN"/>
              <a:t>AND  a.</a:t>
            </a:r>
            <a:r>
              <a:rPr lang="zh-CN" altLang="zh-CN"/>
              <a:t>课程号</a:t>
            </a:r>
            <a:r>
              <a:rPr lang="en-US" altLang="zh-CN"/>
              <a:t>!=b.</a:t>
            </a:r>
            <a:r>
              <a:rPr lang="zh-CN" altLang="zh-CN"/>
              <a:t>课程号</a:t>
            </a:r>
            <a:endParaRPr lang="zh-CN" altLang="zh-CN"/>
          </a:p>
          <a:p>
            <a:pPr eaLnBrk="1" hangingPunct="1"/>
            <a:r>
              <a:rPr lang="zh-CN" altLang="zh-CN"/>
              <a:t>执行结果如图</a:t>
            </a:r>
            <a:r>
              <a:rPr lang="en-US" altLang="zh-CN"/>
              <a:t>4.15</a:t>
            </a:r>
            <a:r>
              <a:rPr lang="zh-CN" altLang="zh-CN"/>
              <a:t>所示。 </a:t>
            </a:r>
            <a:endParaRPr lang="zh-CN" altLang="en-US"/>
          </a:p>
        </p:txBody>
      </p:sp>
      <p:pic>
        <p:nvPicPr>
          <p:cNvPr id="4608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21100" y="5249863"/>
            <a:ext cx="265112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4.1.4  </a:t>
            </a:r>
            <a:r>
              <a:rPr lang="zh-CN" altLang="zh-CN" dirty="0">
                <a:effectLst/>
              </a:rPr>
              <a:t>连接：</a:t>
            </a:r>
            <a:r>
              <a:rPr lang="en-US" altLang="zh-CN" dirty="0">
                <a:effectLst/>
              </a:rPr>
              <a:t>=/JOIN</a:t>
            </a:r>
            <a:endParaRPr lang="zh-CN" altLang="en-US" dirty="0"/>
          </a:p>
        </p:txBody>
      </p:sp>
      <p:sp>
        <p:nvSpPr>
          <p:cNvPr id="3" name="TextBox 2"/>
          <p:cNvSpPr txBox="1"/>
          <p:nvPr/>
        </p:nvSpPr>
        <p:spPr>
          <a:xfrm>
            <a:off x="395288" y="1484313"/>
            <a:ext cx="8280400" cy="4248150"/>
          </a:xfrm>
          <a:prstGeom prst="rect">
            <a:avLst/>
          </a:prstGeom>
          <a:noFill/>
        </p:spPr>
        <p:txBody>
          <a:bodyPr>
            <a:spAutoFit/>
          </a:bodyPr>
          <a:lstStyle/>
          <a:p>
            <a:pPr indent="446405" fontAlgn="ctr">
              <a:lnSpc>
                <a:spcPct val="150000"/>
              </a:lnSpc>
              <a:spcBef>
                <a:spcPts val="0"/>
              </a:spcBef>
              <a:spcAft>
                <a:spcPts val="0"/>
              </a:spcAft>
              <a:defRPr/>
            </a:pPr>
            <a:r>
              <a:rPr lang="zh-CN" altLang="zh-CN" dirty="0">
                <a:latin typeface="+mn-lt"/>
                <a:ea typeface="+mn-ea"/>
              </a:rPr>
              <a:t>② 外连接。</a:t>
            </a:r>
            <a:endParaRPr lang="zh-CN" altLang="zh-CN" dirty="0">
              <a:latin typeface="+mn-lt"/>
              <a:ea typeface="+mn-ea"/>
            </a:endParaRPr>
          </a:p>
          <a:p>
            <a:pPr indent="446405" fontAlgn="ctr">
              <a:lnSpc>
                <a:spcPct val="150000"/>
              </a:lnSpc>
              <a:spcBef>
                <a:spcPts val="0"/>
              </a:spcBef>
              <a:spcAft>
                <a:spcPts val="0"/>
              </a:spcAft>
              <a:defRPr/>
            </a:pPr>
            <a:r>
              <a:rPr lang="zh-CN" altLang="zh-CN" dirty="0">
                <a:latin typeface="+mn-lt"/>
                <a:ea typeface="+mn-ea"/>
              </a:rPr>
              <a:t>指定了</a:t>
            </a:r>
            <a:r>
              <a:rPr lang="en-US" altLang="zh-CN" dirty="0">
                <a:latin typeface="+mn-lt"/>
                <a:ea typeface="+mn-ea"/>
              </a:rPr>
              <a:t>OUTER</a:t>
            </a:r>
            <a:r>
              <a:rPr lang="zh-CN" altLang="zh-CN" dirty="0">
                <a:latin typeface="+mn-lt"/>
                <a:ea typeface="+mn-ea"/>
              </a:rPr>
              <a:t>关键字的连接为外连接，外连接的结果表不但包含满足连接条件的行，还包括相应表中的所有行。外连接包括以下</a:t>
            </a:r>
            <a:r>
              <a:rPr lang="en-US" altLang="zh-CN" dirty="0">
                <a:latin typeface="+mn-lt"/>
                <a:ea typeface="+mn-ea"/>
              </a:rPr>
              <a:t>3</a:t>
            </a:r>
            <a:r>
              <a:rPr lang="zh-CN" altLang="zh-CN" dirty="0">
                <a:latin typeface="+mn-lt"/>
                <a:ea typeface="+mn-ea"/>
              </a:rPr>
              <a:t>种。</a:t>
            </a:r>
            <a:endParaRPr lang="zh-CN" altLang="zh-CN" dirty="0">
              <a:latin typeface="+mn-lt"/>
              <a:ea typeface="+mn-ea"/>
            </a:endParaRPr>
          </a:p>
          <a:p>
            <a:pPr marL="285750" indent="-285750" fontAlgn="ctr">
              <a:lnSpc>
                <a:spcPct val="150000"/>
              </a:lnSpc>
              <a:spcBef>
                <a:spcPts val="0"/>
              </a:spcBef>
              <a:spcAft>
                <a:spcPts val="0"/>
              </a:spcAft>
              <a:buFont typeface="Wingdings" panose="05000000000000000000" pitchFamily="2" charset="2"/>
              <a:buChar char="l"/>
              <a:defRPr/>
            </a:pPr>
            <a:r>
              <a:rPr lang="zh-CN" altLang="zh-CN" dirty="0">
                <a:latin typeface="+mn-lt"/>
                <a:ea typeface="+mn-ea"/>
              </a:rPr>
              <a:t>左外连接（</a:t>
            </a:r>
            <a:r>
              <a:rPr lang="en-US" altLang="zh-CN" dirty="0">
                <a:latin typeface="+mn-lt"/>
                <a:ea typeface="+mn-ea"/>
              </a:rPr>
              <a:t>LEFT OUTER JOIN</a:t>
            </a:r>
            <a:r>
              <a:rPr lang="zh-CN" altLang="zh-CN" dirty="0">
                <a:latin typeface="+mn-lt"/>
                <a:ea typeface="+mn-ea"/>
              </a:rPr>
              <a:t>）：结果表中除了包括满足连接条件的行外，还包括左表的所有行。</a:t>
            </a:r>
            <a:endParaRPr lang="zh-CN" altLang="zh-CN" dirty="0">
              <a:latin typeface="+mn-lt"/>
              <a:ea typeface="+mn-ea"/>
            </a:endParaRPr>
          </a:p>
          <a:p>
            <a:pPr marL="285750" indent="-285750" fontAlgn="ctr">
              <a:lnSpc>
                <a:spcPct val="150000"/>
              </a:lnSpc>
              <a:spcBef>
                <a:spcPts val="0"/>
              </a:spcBef>
              <a:spcAft>
                <a:spcPts val="0"/>
              </a:spcAft>
              <a:buFont typeface="Wingdings" panose="05000000000000000000" pitchFamily="2" charset="2"/>
              <a:buChar char="l"/>
              <a:defRPr/>
            </a:pPr>
            <a:r>
              <a:rPr lang="zh-CN" altLang="zh-CN" dirty="0">
                <a:latin typeface="+mn-lt"/>
                <a:ea typeface="+mn-ea"/>
              </a:rPr>
              <a:t>右外连接（</a:t>
            </a:r>
            <a:r>
              <a:rPr lang="en-US" altLang="zh-CN" dirty="0">
                <a:latin typeface="+mn-lt"/>
                <a:ea typeface="+mn-ea"/>
              </a:rPr>
              <a:t>RIGHT OUTER JOIN</a:t>
            </a:r>
            <a:r>
              <a:rPr lang="zh-CN" altLang="zh-CN" dirty="0">
                <a:latin typeface="+mn-lt"/>
                <a:ea typeface="+mn-ea"/>
              </a:rPr>
              <a:t>）：结果表中除了包括满足连接条件的行外，还包括右表的所有行。</a:t>
            </a:r>
            <a:endParaRPr lang="zh-CN" altLang="zh-CN" dirty="0">
              <a:latin typeface="+mn-lt"/>
              <a:ea typeface="+mn-ea"/>
            </a:endParaRPr>
          </a:p>
          <a:p>
            <a:pPr marL="285750" indent="-285750" fontAlgn="ctr">
              <a:lnSpc>
                <a:spcPct val="150000"/>
              </a:lnSpc>
              <a:spcBef>
                <a:spcPts val="0"/>
              </a:spcBef>
              <a:spcAft>
                <a:spcPts val="0"/>
              </a:spcAft>
              <a:buFont typeface="Wingdings" panose="05000000000000000000" pitchFamily="2" charset="2"/>
              <a:buChar char="l"/>
              <a:defRPr/>
            </a:pPr>
            <a:r>
              <a:rPr lang="zh-CN" altLang="zh-CN" dirty="0">
                <a:latin typeface="+mn-lt"/>
                <a:ea typeface="+mn-ea"/>
              </a:rPr>
              <a:t>完全外连接（</a:t>
            </a:r>
            <a:r>
              <a:rPr lang="en-US" altLang="zh-CN" dirty="0">
                <a:latin typeface="+mn-lt"/>
                <a:ea typeface="+mn-ea"/>
              </a:rPr>
              <a:t>FULL OUTER JOIN</a:t>
            </a:r>
            <a:r>
              <a:rPr lang="zh-CN" altLang="zh-CN" dirty="0">
                <a:latin typeface="+mn-lt"/>
                <a:ea typeface="+mn-ea"/>
              </a:rPr>
              <a:t>）：结果表中除了包括满足连接条件的行外，还包括两个表的所有行。</a:t>
            </a:r>
            <a:endParaRPr lang="zh-CN" altLang="zh-CN" dirty="0">
              <a:latin typeface="+mn-lt"/>
              <a:ea typeface="+mn-ea"/>
            </a:endParaRPr>
          </a:p>
          <a:p>
            <a:pPr indent="446405" fontAlgn="auto">
              <a:lnSpc>
                <a:spcPct val="150000"/>
              </a:lnSpc>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644900"/>
            <a:ext cx="7775575"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1989138"/>
            <a:ext cx="7775575"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4.1.4  </a:t>
            </a:r>
            <a:r>
              <a:rPr lang="zh-CN" altLang="zh-CN" dirty="0">
                <a:effectLst/>
              </a:rPr>
              <a:t>连接：</a:t>
            </a:r>
            <a:r>
              <a:rPr lang="en-US" altLang="zh-CN" dirty="0">
                <a:effectLst/>
              </a:rPr>
              <a:t>=/JOIN</a:t>
            </a:r>
            <a:endParaRPr lang="zh-CN" altLang="en-US" dirty="0"/>
          </a:p>
        </p:txBody>
      </p:sp>
      <p:sp>
        <p:nvSpPr>
          <p:cNvPr id="48133" name="TextBox 2"/>
          <p:cNvSpPr txBox="1">
            <a:spLocks noChangeArrowheads="1"/>
          </p:cNvSpPr>
          <p:nvPr/>
        </p:nvSpPr>
        <p:spPr bwMode="auto">
          <a:xfrm>
            <a:off x="468313" y="1412875"/>
            <a:ext cx="820737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4.38</a:t>
            </a:r>
            <a:r>
              <a:rPr lang="zh-CN" altLang="zh-CN"/>
              <a:t>】 查找所有学生情况，以及他们选修的课程号，若学生未选修任何课，也要包括其情况。</a:t>
            </a:r>
            <a:endParaRPr lang="zh-CN" altLang="zh-CN"/>
          </a:p>
          <a:p>
            <a:pPr eaLnBrk="1" hangingPunct="1"/>
            <a:r>
              <a:rPr lang="en-US" altLang="zh-CN"/>
              <a:t>SELECT xsb.* , </a:t>
            </a:r>
            <a:r>
              <a:rPr lang="zh-CN" altLang="zh-CN"/>
              <a:t>课程号</a:t>
            </a:r>
            <a:endParaRPr lang="zh-CN" altLang="zh-CN"/>
          </a:p>
          <a:p>
            <a:pPr eaLnBrk="1" hangingPunct="1"/>
            <a:r>
              <a:rPr lang="en-US" altLang="zh-CN"/>
              <a:t>     FROM  xsb  LEFT OUTER JOIN cjb</a:t>
            </a:r>
            <a:endParaRPr lang="zh-CN" altLang="zh-CN"/>
          </a:p>
          <a:p>
            <a:pPr eaLnBrk="1" hangingPunct="1"/>
            <a:r>
              <a:rPr lang="en-US" altLang="zh-CN"/>
              <a:t>          ON  xsb.</a:t>
            </a:r>
            <a:r>
              <a:rPr lang="zh-CN" altLang="zh-CN"/>
              <a:t>学号</a:t>
            </a:r>
            <a:r>
              <a:rPr lang="en-US" altLang="zh-CN"/>
              <a:t> = cjb.</a:t>
            </a:r>
            <a:r>
              <a:rPr lang="zh-CN" altLang="zh-CN"/>
              <a:t>学号</a:t>
            </a:r>
            <a:endParaRPr lang="zh-CN" altLang="zh-CN"/>
          </a:p>
          <a:p>
            <a:pPr eaLnBrk="1" fontAlgn="ctr" hangingPunct="1"/>
            <a:r>
              <a:rPr lang="zh-CN" altLang="zh-CN"/>
              <a:t>本例执行时，若有学生未选任何课程，则结果表中相应行的课程号字段值为</a:t>
            </a:r>
            <a:r>
              <a:rPr lang="en-US" altLang="zh-CN"/>
              <a:t>NULL</a:t>
            </a:r>
            <a:r>
              <a:rPr lang="zh-CN" altLang="zh-CN"/>
              <a:t>。</a:t>
            </a:r>
            <a:endParaRPr lang="zh-CN" altLang="zh-CN"/>
          </a:p>
          <a:p>
            <a:pPr eaLnBrk="1" fontAlgn="ctr" hangingPunct="1"/>
            <a:r>
              <a:rPr lang="zh-CN" altLang="zh-CN"/>
              <a:t>【例</a:t>
            </a:r>
            <a:r>
              <a:rPr lang="en-US" altLang="zh-CN"/>
              <a:t>4.39</a:t>
            </a:r>
            <a:r>
              <a:rPr lang="zh-CN" altLang="zh-CN"/>
              <a:t>】 查找被选修了的课程的情况和所有开设的课程名。</a:t>
            </a:r>
            <a:endParaRPr lang="zh-CN" altLang="zh-CN"/>
          </a:p>
          <a:p>
            <a:pPr eaLnBrk="1" hangingPunct="1"/>
            <a:r>
              <a:rPr lang="en-US" altLang="zh-CN"/>
              <a:t>SELECT cjb.* , </a:t>
            </a:r>
            <a:r>
              <a:rPr lang="zh-CN" altLang="zh-CN"/>
              <a:t>课程名</a:t>
            </a:r>
            <a:endParaRPr lang="zh-CN" altLang="zh-CN"/>
          </a:p>
          <a:p>
            <a:pPr eaLnBrk="1" hangingPunct="1"/>
            <a:r>
              <a:rPr lang="en-US" altLang="zh-CN"/>
              <a:t>     FROM cjb RIGHT JOIN  kcb</a:t>
            </a:r>
            <a:endParaRPr lang="zh-CN" altLang="zh-CN"/>
          </a:p>
          <a:p>
            <a:pPr eaLnBrk="1" hangingPunct="1"/>
            <a:r>
              <a:rPr lang="en-US" altLang="zh-CN"/>
              <a:t>          ON  cjb.</a:t>
            </a:r>
            <a:r>
              <a:rPr lang="zh-CN" altLang="zh-CN"/>
              <a:t>课程号</a:t>
            </a:r>
            <a:r>
              <a:rPr lang="en-US" altLang="zh-CN"/>
              <a:t>= kcb.</a:t>
            </a:r>
            <a:r>
              <a:rPr lang="zh-CN" altLang="zh-CN"/>
              <a:t>课程号</a:t>
            </a:r>
            <a:endParaRPr lang="zh-CN" altLang="zh-CN"/>
          </a:p>
          <a:p>
            <a:pPr eaLnBrk="1" fontAlgn="ctr" hangingPunct="1"/>
            <a:r>
              <a:rPr lang="zh-CN" altLang="zh-CN"/>
              <a:t>本例执行时，若某课程未被选修，则结果表中相应行的学号、课程号和成绩字段值均为</a:t>
            </a:r>
            <a:r>
              <a:rPr lang="en-US" altLang="zh-CN"/>
              <a:t>NULL</a:t>
            </a:r>
            <a:r>
              <a:rPr lang="zh-CN" altLang="zh-CN"/>
              <a:t>。</a:t>
            </a:r>
            <a:endParaRPr lang="zh-CN" altLang="zh-CN"/>
          </a:p>
          <a:p>
            <a:pPr eaLnBrk="1" hangingPunct="1"/>
            <a:endParaRPr lang="zh-CN" altLang="en-US"/>
          </a:p>
        </p:txBody>
      </p:sp>
    </p:spTree>
  </p:cSld>
  <p:clrMapOvr>
    <a:masterClrMapping/>
  </p:clrMapOvr>
  <p:transition spd="med">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609600" y="639763"/>
            <a:ext cx="7315200" cy="1570037"/>
          </a:xfrm>
          <a:prstGeom prst="rect">
            <a:avLst/>
          </a:prstGeom>
          <a:noFill/>
          <a:ln w="9525">
            <a:solidFill>
              <a:schemeClr val="tx1"/>
            </a:solidFill>
            <a:miter lim="800000"/>
          </a:ln>
        </p:spPr>
        <p:txBody>
          <a:bodyPr anchor="ctr">
            <a:spAutoFit/>
          </a:bodyPr>
          <a:lstStyle/>
          <a:p>
            <a:pPr>
              <a:defRPr/>
            </a:pPr>
            <a:r>
              <a:rPr lang="zh-CN" altLang="en-US" sz="1600" dirty="0">
                <a:latin typeface="Arial" panose="020B0604020202020204" pitchFamily="34" charset="0"/>
              </a:rPr>
              <a:t>任务一：查询班级名称和该班级学生姓名。</a:t>
            </a:r>
            <a:endParaRPr lang="en-US" altLang="zh-CN" sz="1600" dirty="0">
              <a:latin typeface="Arial" panose="020B0604020202020204" pitchFamily="34" charset="0"/>
            </a:endParaRPr>
          </a:p>
          <a:p>
            <a:pPr>
              <a:defRPr/>
            </a:pPr>
            <a:r>
              <a:rPr lang="zh-CN" altLang="en-US" sz="1600" dirty="0">
                <a:latin typeface="Arial" panose="020B0604020202020204" pitchFamily="34" charset="0"/>
              </a:rPr>
              <a:t>            （班级下没有学生的班级名称也要求显示出来）</a:t>
            </a:r>
            <a:endParaRPr lang="en-US" altLang="zh-CN" sz="1600" dirty="0">
              <a:latin typeface="Arial" panose="020B0604020202020204" pitchFamily="34" charset="0"/>
            </a:endParaRPr>
          </a:p>
          <a:p>
            <a:pPr>
              <a:defRPr/>
            </a:pPr>
            <a:r>
              <a:rPr lang="en-US" altLang="zh-CN" sz="1600" dirty="0">
                <a:solidFill>
                  <a:schemeClr val="tx2">
                    <a:lumMod val="60000"/>
                    <a:lumOff val="40000"/>
                  </a:schemeClr>
                </a:solidFill>
                <a:latin typeface="Arial" panose="020B0604020202020204" pitchFamily="34" charset="0"/>
              </a:rPr>
              <a:t>SELECT </a:t>
            </a:r>
            <a:r>
              <a:rPr lang="en-US" altLang="zh-CN" sz="1600" dirty="0" err="1">
                <a:solidFill>
                  <a:schemeClr val="tx2">
                    <a:lumMod val="60000"/>
                    <a:lumOff val="40000"/>
                  </a:schemeClr>
                </a:solidFill>
                <a:latin typeface="Arial" panose="020B0604020202020204" pitchFamily="34" charset="0"/>
              </a:rPr>
              <a:t>Class.cla_name,Student.stu_name</a:t>
            </a:r>
            <a:r>
              <a:rPr lang="en-US" altLang="zh-CN" sz="1600" dirty="0">
                <a:solidFill>
                  <a:schemeClr val="tx2">
                    <a:lumMod val="60000"/>
                    <a:lumOff val="40000"/>
                  </a:schemeClr>
                </a:solidFill>
                <a:latin typeface="Arial" panose="020B0604020202020204" pitchFamily="34" charset="0"/>
              </a:rPr>
              <a:t> </a:t>
            </a:r>
            <a:endParaRPr lang="en-US" altLang="zh-CN" sz="1600" dirty="0">
              <a:solidFill>
                <a:schemeClr val="tx2">
                  <a:lumMod val="60000"/>
                  <a:lumOff val="40000"/>
                </a:schemeClr>
              </a:solidFill>
              <a:latin typeface="Arial" panose="020B0604020202020204" pitchFamily="34" charset="0"/>
            </a:endParaRPr>
          </a:p>
          <a:p>
            <a:pPr>
              <a:defRPr/>
            </a:pPr>
            <a:r>
              <a:rPr lang="en-US" altLang="zh-CN" sz="1600" dirty="0">
                <a:solidFill>
                  <a:schemeClr val="tx2">
                    <a:lumMod val="60000"/>
                    <a:lumOff val="40000"/>
                  </a:schemeClr>
                </a:solidFill>
                <a:latin typeface="Arial" panose="020B0604020202020204" pitchFamily="34" charset="0"/>
              </a:rPr>
              <a:t>FROM Class LEFT OUTER JOIN Student</a:t>
            </a:r>
            <a:endParaRPr lang="en-US" altLang="zh-CN" sz="1600" dirty="0">
              <a:solidFill>
                <a:schemeClr val="tx2">
                  <a:lumMod val="60000"/>
                  <a:lumOff val="40000"/>
                </a:schemeClr>
              </a:solidFill>
              <a:latin typeface="Arial" panose="020B0604020202020204" pitchFamily="34" charset="0"/>
            </a:endParaRPr>
          </a:p>
          <a:p>
            <a:pPr>
              <a:defRPr/>
            </a:pPr>
            <a:r>
              <a:rPr lang="en-US" altLang="zh-CN" sz="1600" dirty="0">
                <a:solidFill>
                  <a:schemeClr val="tx2">
                    <a:lumMod val="60000"/>
                    <a:lumOff val="40000"/>
                  </a:schemeClr>
                </a:solidFill>
                <a:latin typeface="Arial" panose="020B0604020202020204" pitchFamily="34" charset="0"/>
              </a:rPr>
              <a:t>ON </a:t>
            </a:r>
            <a:r>
              <a:rPr lang="en-US" altLang="zh-CN" sz="1600" dirty="0" err="1">
                <a:solidFill>
                  <a:schemeClr val="tx2">
                    <a:lumMod val="60000"/>
                    <a:lumOff val="40000"/>
                  </a:schemeClr>
                </a:solidFill>
                <a:latin typeface="Arial" panose="020B0604020202020204" pitchFamily="34" charset="0"/>
              </a:rPr>
              <a:t>Class.cla_id</a:t>
            </a:r>
            <a:r>
              <a:rPr lang="en-US" altLang="zh-CN" sz="1600" dirty="0">
                <a:solidFill>
                  <a:schemeClr val="tx2">
                    <a:lumMod val="60000"/>
                    <a:lumOff val="40000"/>
                  </a:schemeClr>
                </a:solidFill>
                <a:latin typeface="Arial" panose="020B0604020202020204" pitchFamily="34" charset="0"/>
              </a:rPr>
              <a:t>=</a:t>
            </a:r>
            <a:r>
              <a:rPr lang="en-US" altLang="zh-CN" sz="1600" dirty="0" err="1">
                <a:solidFill>
                  <a:schemeClr val="tx2">
                    <a:lumMod val="60000"/>
                    <a:lumOff val="40000"/>
                  </a:schemeClr>
                </a:solidFill>
                <a:latin typeface="Arial" panose="020B0604020202020204" pitchFamily="34" charset="0"/>
              </a:rPr>
              <a:t>Student.stu_classid</a:t>
            </a:r>
            <a:endParaRPr lang="en-US" altLang="zh-CN" sz="1600" dirty="0">
              <a:solidFill>
                <a:schemeClr val="tx2">
                  <a:lumMod val="60000"/>
                  <a:lumOff val="40000"/>
                </a:schemeClr>
              </a:solidFill>
              <a:latin typeface="Arial" panose="020B0604020202020204" pitchFamily="34" charset="0"/>
            </a:endParaRPr>
          </a:p>
          <a:p>
            <a:pPr>
              <a:defRPr/>
            </a:pPr>
            <a:endParaRPr lang="en-US" altLang="zh-CN" sz="1600" dirty="0">
              <a:solidFill>
                <a:schemeClr val="tx2">
                  <a:lumMod val="60000"/>
                  <a:lumOff val="40000"/>
                </a:schemeClr>
              </a:solidFill>
              <a:latin typeface="Arial" panose="020B0604020202020204" pitchFamily="34" charset="0"/>
            </a:endParaRPr>
          </a:p>
        </p:txBody>
      </p:sp>
      <p:sp>
        <p:nvSpPr>
          <p:cNvPr id="5" name="Text Box 6"/>
          <p:cNvSpPr txBox="1">
            <a:spLocks noChangeArrowheads="1"/>
          </p:cNvSpPr>
          <p:nvPr/>
        </p:nvSpPr>
        <p:spPr bwMode="auto">
          <a:xfrm>
            <a:off x="685800" y="254000"/>
            <a:ext cx="1371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pPr>
            <a:r>
              <a:rPr lang="en-US" altLang="zh-CN" b="1">
                <a:solidFill>
                  <a:srgbClr val="003366"/>
                </a:solidFill>
                <a:latin typeface="Arial" panose="020B0604020202020204" pitchFamily="34" charset="0"/>
              </a:rPr>
              <a:t>1.</a:t>
            </a:r>
            <a:r>
              <a:rPr lang="zh-CN" altLang="en-US" b="1">
                <a:solidFill>
                  <a:srgbClr val="003366"/>
                </a:solidFill>
                <a:latin typeface="Arial" panose="020B0604020202020204" pitchFamily="34" charset="0"/>
              </a:rPr>
              <a:t>左外连接</a:t>
            </a:r>
            <a:r>
              <a:rPr lang="zh-CN" altLang="en-US">
                <a:latin typeface="Arial" panose="020B0604020202020204" pitchFamily="34" charset="0"/>
              </a:rPr>
              <a:t> </a:t>
            </a:r>
            <a:endParaRPr lang="zh-CN" altLang="en-US">
              <a:latin typeface="Arial" panose="020B0604020202020204" pitchFamily="34" charset="0"/>
            </a:endParaRPr>
          </a:p>
        </p:txBody>
      </p:sp>
      <p:pic>
        <p:nvPicPr>
          <p:cNvPr id="6758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0025" y="614363"/>
            <a:ext cx="8742363" cy="565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advTm="0">
    <p:blinds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67587"/>
                                        </p:tgtEl>
                                        <p:attrNameLst>
                                          <p:attrName>style.visibility</p:attrName>
                                        </p:attrNameLst>
                                      </p:cBhvr>
                                      <p:to>
                                        <p:strVal val="visible"/>
                                      </p:to>
                                    </p:set>
                                    <p:animEffect transition="in" filter="wheel(1)">
                                      <p:cBhvr>
                                        <p:cTn id="17" dur="2000"/>
                                        <p:tgtEl>
                                          <p:spTgt spid="67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ChangeArrowheads="1"/>
          </p:cNvSpPr>
          <p:nvPr/>
        </p:nvSpPr>
        <p:spPr bwMode="auto">
          <a:xfrm>
            <a:off x="381000" y="609600"/>
            <a:ext cx="7315200" cy="1600200"/>
          </a:xfrm>
          <a:prstGeom prst="rect">
            <a:avLst/>
          </a:prstGeom>
          <a:noFill/>
          <a:ln w="9525">
            <a:solidFill>
              <a:schemeClr val="tx1"/>
            </a:solidFill>
            <a:miter lim="800000"/>
          </a:ln>
        </p:spPr>
        <p:txBody>
          <a:bodyPr anchor="ctr">
            <a:spAutoFit/>
          </a:bodyPr>
          <a:lstStyle/>
          <a:p>
            <a:pPr>
              <a:defRPr/>
            </a:pPr>
            <a:r>
              <a:rPr lang="zh-CN" altLang="en-US" sz="1600" dirty="0">
                <a:latin typeface="Arial" panose="020B0604020202020204" pitchFamily="34" charset="0"/>
              </a:rPr>
              <a:t>任务二：查询课程名称和授课教师姓名。</a:t>
            </a:r>
            <a:endParaRPr lang="zh-CN" altLang="en-US" sz="1600" dirty="0">
              <a:latin typeface="Arial" panose="020B0604020202020204" pitchFamily="34" charset="0"/>
            </a:endParaRPr>
          </a:p>
          <a:p>
            <a:pPr>
              <a:defRPr/>
            </a:pPr>
            <a:r>
              <a:rPr lang="zh-CN" altLang="en-US" sz="1600" dirty="0">
                <a:latin typeface="Arial" panose="020B0604020202020204" pitchFamily="34" charset="0"/>
              </a:rPr>
              <a:t>            （没有授课的教师的姓名也要求显示出来）</a:t>
            </a:r>
            <a:endParaRPr lang="en-US" altLang="zh-CN" sz="1600" dirty="0">
              <a:latin typeface="Arial" panose="020B0604020202020204" pitchFamily="34" charset="0"/>
            </a:endParaRPr>
          </a:p>
          <a:p>
            <a:pPr>
              <a:defRPr/>
            </a:pPr>
            <a:r>
              <a:rPr lang="en-US" altLang="zh-CN" sz="1600" dirty="0">
                <a:solidFill>
                  <a:schemeClr val="tx2">
                    <a:lumMod val="60000"/>
                    <a:lumOff val="40000"/>
                  </a:schemeClr>
                </a:solidFill>
                <a:latin typeface="Arial" panose="020B0604020202020204" pitchFamily="34" charset="0"/>
              </a:rPr>
              <a:t>SELECT </a:t>
            </a:r>
            <a:r>
              <a:rPr lang="en-US" altLang="zh-CN" sz="1600" dirty="0" err="1">
                <a:solidFill>
                  <a:schemeClr val="tx2">
                    <a:lumMod val="60000"/>
                    <a:lumOff val="40000"/>
                  </a:schemeClr>
                </a:solidFill>
                <a:latin typeface="Arial" panose="020B0604020202020204" pitchFamily="34" charset="0"/>
              </a:rPr>
              <a:t>Course.cou_name,Teacher.tea_name</a:t>
            </a:r>
            <a:endParaRPr lang="en-US" altLang="zh-CN" sz="1600" dirty="0">
              <a:solidFill>
                <a:schemeClr val="tx2">
                  <a:lumMod val="60000"/>
                  <a:lumOff val="40000"/>
                </a:schemeClr>
              </a:solidFill>
              <a:latin typeface="Arial" panose="020B0604020202020204" pitchFamily="34" charset="0"/>
            </a:endParaRPr>
          </a:p>
          <a:p>
            <a:pPr>
              <a:defRPr/>
            </a:pPr>
            <a:r>
              <a:rPr lang="en-US" altLang="zh-CN" sz="1600" dirty="0">
                <a:solidFill>
                  <a:schemeClr val="tx2">
                    <a:lumMod val="60000"/>
                    <a:lumOff val="40000"/>
                  </a:schemeClr>
                </a:solidFill>
                <a:latin typeface="Arial" panose="020B0604020202020204" pitchFamily="34" charset="0"/>
              </a:rPr>
              <a:t>FROM Course </a:t>
            </a:r>
            <a:r>
              <a:rPr lang="en-US" altLang="zh-CN" sz="1600" dirty="0">
                <a:solidFill>
                  <a:srgbClr val="FF0000"/>
                </a:solidFill>
                <a:latin typeface="Arial" panose="020B0604020202020204" pitchFamily="34" charset="0"/>
              </a:rPr>
              <a:t>RIGHT </a:t>
            </a:r>
            <a:r>
              <a:rPr lang="en-US" altLang="zh-CN" sz="1600" dirty="0">
                <a:latin typeface="Arial" panose="020B0604020202020204" pitchFamily="34" charset="0"/>
              </a:rPr>
              <a:t>OUTER JOIN </a:t>
            </a:r>
            <a:r>
              <a:rPr lang="en-US" altLang="zh-CN" sz="1600" dirty="0">
                <a:solidFill>
                  <a:schemeClr val="tx2">
                    <a:lumMod val="60000"/>
                    <a:lumOff val="40000"/>
                  </a:schemeClr>
                </a:solidFill>
                <a:latin typeface="Arial" panose="020B0604020202020204" pitchFamily="34" charset="0"/>
              </a:rPr>
              <a:t>Teacher</a:t>
            </a:r>
            <a:endParaRPr lang="en-US" altLang="zh-CN" sz="1600" dirty="0">
              <a:solidFill>
                <a:schemeClr val="tx2">
                  <a:lumMod val="60000"/>
                  <a:lumOff val="40000"/>
                </a:schemeClr>
              </a:solidFill>
              <a:latin typeface="Arial" panose="020B0604020202020204" pitchFamily="34" charset="0"/>
            </a:endParaRPr>
          </a:p>
          <a:p>
            <a:pPr>
              <a:defRPr/>
            </a:pPr>
            <a:r>
              <a:rPr lang="en-US" altLang="zh-CN" sz="1600" dirty="0">
                <a:solidFill>
                  <a:schemeClr val="tx2">
                    <a:lumMod val="60000"/>
                    <a:lumOff val="40000"/>
                  </a:schemeClr>
                </a:solidFill>
                <a:latin typeface="Arial" panose="020B0604020202020204" pitchFamily="34" charset="0"/>
              </a:rPr>
              <a:t>ON </a:t>
            </a:r>
            <a:r>
              <a:rPr lang="en-US" altLang="zh-CN" sz="1600" dirty="0" err="1">
                <a:solidFill>
                  <a:schemeClr val="tx2">
                    <a:lumMod val="60000"/>
                    <a:lumOff val="40000"/>
                  </a:schemeClr>
                </a:solidFill>
                <a:latin typeface="Arial" panose="020B0604020202020204" pitchFamily="34" charset="0"/>
              </a:rPr>
              <a:t>Course.cou_teano</a:t>
            </a:r>
            <a:r>
              <a:rPr lang="en-US" altLang="zh-CN" sz="1600" dirty="0">
                <a:solidFill>
                  <a:schemeClr val="tx2">
                    <a:lumMod val="60000"/>
                    <a:lumOff val="40000"/>
                  </a:schemeClr>
                </a:solidFill>
                <a:latin typeface="Arial" panose="020B0604020202020204" pitchFamily="34" charset="0"/>
              </a:rPr>
              <a:t>=</a:t>
            </a:r>
            <a:r>
              <a:rPr lang="en-US" altLang="zh-CN" sz="1600" dirty="0" err="1">
                <a:solidFill>
                  <a:schemeClr val="tx2">
                    <a:lumMod val="60000"/>
                    <a:lumOff val="40000"/>
                  </a:schemeClr>
                </a:solidFill>
                <a:latin typeface="Arial" panose="020B0604020202020204" pitchFamily="34" charset="0"/>
              </a:rPr>
              <a:t>Teacher.tea_no</a:t>
            </a:r>
            <a:endParaRPr lang="en-US" altLang="zh-CN" sz="1600" dirty="0">
              <a:latin typeface="Arial" panose="020B0604020202020204" pitchFamily="34" charset="0"/>
            </a:endParaRPr>
          </a:p>
          <a:p>
            <a:pPr>
              <a:defRPr/>
            </a:pPr>
            <a:endParaRPr lang="zh-CN" altLang="en-US" dirty="0">
              <a:latin typeface="Arial" panose="020B0604020202020204" pitchFamily="34" charset="0"/>
            </a:endParaRPr>
          </a:p>
        </p:txBody>
      </p:sp>
      <p:sp>
        <p:nvSpPr>
          <p:cNvPr id="5" name="Text Box 8"/>
          <p:cNvSpPr txBox="1">
            <a:spLocks noChangeArrowheads="1"/>
          </p:cNvSpPr>
          <p:nvPr/>
        </p:nvSpPr>
        <p:spPr bwMode="auto">
          <a:xfrm>
            <a:off x="457200" y="223838"/>
            <a:ext cx="13716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pPr>
            <a:r>
              <a:rPr lang="en-US" altLang="zh-CN" b="1">
                <a:solidFill>
                  <a:srgbClr val="003366"/>
                </a:solidFill>
                <a:latin typeface="Arial" panose="020B0604020202020204" pitchFamily="34" charset="0"/>
              </a:rPr>
              <a:t>2.</a:t>
            </a:r>
            <a:r>
              <a:rPr lang="zh-CN" altLang="en-US" b="1">
                <a:solidFill>
                  <a:srgbClr val="003366"/>
                </a:solidFill>
                <a:latin typeface="Arial" panose="020B0604020202020204" pitchFamily="34" charset="0"/>
              </a:rPr>
              <a:t>右外连接</a:t>
            </a:r>
            <a:r>
              <a:rPr lang="zh-CN" altLang="en-US">
                <a:latin typeface="Arial" panose="020B0604020202020204" pitchFamily="34" charset="0"/>
              </a:rPr>
              <a:t> </a:t>
            </a:r>
            <a:endParaRPr lang="zh-CN" altLang="en-US">
              <a:latin typeface="Arial" panose="020B0604020202020204" pitchFamily="34" charset="0"/>
            </a:endParaRPr>
          </a:p>
        </p:txBody>
      </p:sp>
      <p:pic>
        <p:nvPicPr>
          <p:cNvPr id="68611"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04800" y="2095500"/>
            <a:ext cx="7432675" cy="44577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advTm="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68611"/>
                                        </p:tgtEl>
                                        <p:attrNameLst>
                                          <p:attrName>style.visibility</p:attrName>
                                        </p:attrNameLst>
                                      </p:cBhvr>
                                      <p:to>
                                        <p:strVal val="visible"/>
                                      </p:to>
                                    </p:set>
                                    <p:anim calcmode="lin" valueType="num">
                                      <p:cBhvr additive="base">
                                        <p:cTn id="17" dur="500" fill="hold"/>
                                        <p:tgtEl>
                                          <p:spTgt spid="68611"/>
                                        </p:tgtEl>
                                        <p:attrNameLst>
                                          <p:attrName>ppt_x</p:attrName>
                                        </p:attrNameLst>
                                      </p:cBhvr>
                                      <p:tavLst>
                                        <p:tav tm="0">
                                          <p:val>
                                            <p:strVal val="#ppt_x"/>
                                          </p:val>
                                        </p:tav>
                                        <p:tav tm="100000">
                                          <p:val>
                                            <p:strVal val="#ppt_x"/>
                                          </p:val>
                                        </p:tav>
                                      </p:tavLst>
                                    </p:anim>
                                    <p:anim calcmode="lin" valueType="num">
                                      <p:cBhvr additive="base">
                                        <p:cTn id="18" dur="500" fill="hold"/>
                                        <p:tgtEl>
                                          <p:spTgt spid="686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3429000"/>
            <a:ext cx="7848600" cy="5762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4.1.4  </a:t>
            </a:r>
            <a:r>
              <a:rPr lang="zh-CN" altLang="zh-CN" dirty="0">
                <a:effectLst/>
              </a:rPr>
              <a:t>连接：</a:t>
            </a:r>
            <a:r>
              <a:rPr lang="en-US" altLang="zh-CN" dirty="0">
                <a:effectLst/>
              </a:rPr>
              <a:t>=/JOIN</a:t>
            </a:r>
            <a:endParaRPr lang="zh-CN" altLang="en-US" dirty="0"/>
          </a:p>
        </p:txBody>
      </p:sp>
      <p:sp>
        <p:nvSpPr>
          <p:cNvPr id="51204" name="TextBox 2"/>
          <p:cNvSpPr txBox="1">
            <a:spLocks noChangeArrowheads="1"/>
          </p:cNvSpPr>
          <p:nvPr/>
        </p:nvSpPr>
        <p:spPr bwMode="auto">
          <a:xfrm>
            <a:off x="395288" y="1341438"/>
            <a:ext cx="8280400" cy="355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③ 交叉连接。</a:t>
            </a:r>
            <a:endParaRPr lang="zh-CN" altLang="zh-CN"/>
          </a:p>
          <a:p>
            <a:pPr eaLnBrk="1" fontAlgn="ctr" hangingPunct="1">
              <a:lnSpc>
                <a:spcPct val="150000"/>
              </a:lnSpc>
            </a:pPr>
            <a:r>
              <a:rPr lang="zh-CN" altLang="zh-CN"/>
              <a:t>交叉连接实际上是将两个表进行笛卡尔积运算，结果表是由第一个表的每一行与第二个表的每一行拼接后形成的表，因此结果表的行数等于两个表的行数之积。</a:t>
            </a:r>
            <a:endParaRPr lang="zh-CN" altLang="zh-CN"/>
          </a:p>
          <a:p>
            <a:pPr eaLnBrk="1" fontAlgn="ctr" hangingPunct="1">
              <a:lnSpc>
                <a:spcPct val="150000"/>
              </a:lnSpc>
            </a:pPr>
            <a:r>
              <a:rPr lang="zh-CN" altLang="zh-CN"/>
              <a:t>【例</a:t>
            </a:r>
            <a:r>
              <a:rPr lang="en-US" altLang="zh-CN"/>
              <a:t>4.40</a:t>
            </a:r>
            <a:r>
              <a:rPr lang="zh-CN" altLang="zh-CN"/>
              <a:t>】 列出学生所有可能的选课情况。</a:t>
            </a:r>
            <a:endParaRPr lang="zh-CN" altLang="zh-CN"/>
          </a:p>
          <a:p>
            <a:pPr eaLnBrk="1" hangingPunct="1"/>
            <a:r>
              <a:rPr lang="en-US" altLang="zh-CN"/>
              <a:t>SELECT</a:t>
            </a:r>
            <a:r>
              <a:rPr lang="zh-CN" altLang="zh-CN"/>
              <a:t>学号</a:t>
            </a:r>
            <a:r>
              <a:rPr lang="en-US" altLang="zh-CN"/>
              <a:t>, </a:t>
            </a:r>
            <a:r>
              <a:rPr lang="zh-CN" altLang="zh-CN"/>
              <a:t>姓名</a:t>
            </a:r>
            <a:r>
              <a:rPr lang="en-US" altLang="zh-CN"/>
              <a:t>, </a:t>
            </a:r>
            <a:r>
              <a:rPr lang="zh-CN" altLang="zh-CN"/>
              <a:t>课程号</a:t>
            </a:r>
            <a:r>
              <a:rPr lang="en-US" altLang="zh-CN"/>
              <a:t>, </a:t>
            </a:r>
            <a:r>
              <a:rPr lang="zh-CN" altLang="zh-CN"/>
              <a:t>课程名</a:t>
            </a:r>
            <a:endParaRPr lang="zh-CN" altLang="zh-CN"/>
          </a:p>
          <a:p>
            <a:pPr eaLnBrk="1" hangingPunct="1"/>
            <a:r>
              <a:rPr lang="en-US" altLang="zh-CN"/>
              <a:t>     FROM xsb CROSS JOIN kcb</a:t>
            </a:r>
            <a:endParaRPr lang="zh-CN" altLang="zh-CN"/>
          </a:p>
          <a:p>
            <a:pPr eaLnBrk="1" fontAlgn="ctr" hangingPunct="1">
              <a:lnSpc>
                <a:spcPct val="150000"/>
              </a:lnSpc>
            </a:pPr>
            <a:r>
              <a:rPr lang="zh-CN" altLang="zh-CN"/>
              <a:t>交叉连接也可以使用</a:t>
            </a:r>
            <a:r>
              <a:rPr lang="en-US" altLang="zh-CN"/>
              <a:t>WHERE</a:t>
            </a:r>
            <a:r>
              <a:rPr lang="zh-CN" altLang="zh-CN"/>
              <a:t>子句进行条件限定。</a:t>
            </a:r>
            <a:endParaRPr lang="zh-CN" altLang="zh-CN"/>
          </a:p>
          <a:p>
            <a:pPr eaLnBrk="1" hangingPunct="1">
              <a:lnSpc>
                <a:spcPct val="150000"/>
              </a:lnSpc>
            </a:pPr>
            <a:endParaRPr lang="zh-CN" altLang="en-US"/>
          </a:p>
        </p:txBody>
      </p:sp>
    </p:spTree>
  </p:cSld>
  <p:clrMapOvr>
    <a:masterClrMapping/>
  </p:clrMapOvr>
  <p:transition spd="slow">
    <p:blinds dir="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1517650"/>
            <a:ext cx="6389688" cy="508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6"/>
          <p:cNvSpPr>
            <a:spLocks noChangeArrowheads="1"/>
          </p:cNvSpPr>
          <p:nvPr/>
        </p:nvSpPr>
        <p:spPr bwMode="auto">
          <a:xfrm>
            <a:off x="533400" y="457200"/>
            <a:ext cx="7315200" cy="862013"/>
          </a:xfrm>
          <a:prstGeom prst="rect">
            <a:avLst/>
          </a:prstGeom>
          <a:noFill/>
          <a:ln w="9525">
            <a:solidFill>
              <a:schemeClr val="tx1"/>
            </a:solidFill>
            <a:miter lim="800000"/>
          </a:ln>
        </p:spPr>
        <p:txBody>
          <a:bodyPr anchor="ctr">
            <a:spAutoFit/>
          </a:bodyPr>
          <a:lstStyle/>
          <a:p>
            <a:pPr>
              <a:defRPr/>
            </a:pPr>
            <a:r>
              <a:rPr lang="zh-CN" altLang="en-US" sz="1600" dirty="0">
                <a:latin typeface="Arial" panose="020B0604020202020204" pitchFamily="34" charset="0"/>
              </a:rPr>
              <a:t>任务：交叉连接查询教师表和部门表。</a:t>
            </a:r>
            <a:endParaRPr lang="en-US" altLang="zh-CN" sz="1600" dirty="0">
              <a:latin typeface="Arial" panose="020B0604020202020204" pitchFamily="34" charset="0"/>
            </a:endParaRPr>
          </a:p>
          <a:p>
            <a:pPr>
              <a:defRPr/>
            </a:pPr>
            <a:r>
              <a:rPr lang="en-US" altLang="zh-CN" sz="1600" dirty="0">
                <a:solidFill>
                  <a:schemeClr val="tx2">
                    <a:lumMod val="60000"/>
                    <a:lumOff val="40000"/>
                  </a:schemeClr>
                </a:solidFill>
                <a:latin typeface="Arial" panose="020B0604020202020204" pitchFamily="34" charset="0"/>
              </a:rPr>
              <a:t>SELECT *</a:t>
            </a:r>
            <a:endParaRPr lang="en-US" altLang="zh-CN" sz="1600" dirty="0">
              <a:solidFill>
                <a:schemeClr val="tx2">
                  <a:lumMod val="60000"/>
                  <a:lumOff val="40000"/>
                </a:schemeClr>
              </a:solidFill>
              <a:latin typeface="Arial" panose="020B0604020202020204" pitchFamily="34" charset="0"/>
            </a:endParaRPr>
          </a:p>
          <a:p>
            <a:pPr>
              <a:defRPr/>
            </a:pPr>
            <a:r>
              <a:rPr lang="en-US" altLang="zh-CN" sz="1600" dirty="0">
                <a:solidFill>
                  <a:schemeClr val="tx2">
                    <a:lumMod val="60000"/>
                    <a:lumOff val="40000"/>
                  </a:schemeClr>
                </a:solidFill>
                <a:latin typeface="Arial" panose="020B0604020202020204" pitchFamily="34" charset="0"/>
              </a:rPr>
              <a:t>FROM Teacher CROSS JOIN Department</a:t>
            </a:r>
            <a:r>
              <a:rPr lang="zh-CN" altLang="en-US" dirty="0">
                <a:latin typeface="Arial" panose="020B0604020202020204" pitchFamily="34" charset="0"/>
              </a:rPr>
              <a:t> </a:t>
            </a:r>
            <a:endParaRPr lang="zh-CN" altLang="en-US" dirty="0">
              <a:latin typeface="Arial" panose="020B0604020202020204" pitchFamily="34" charset="0"/>
            </a:endParaRPr>
          </a:p>
        </p:txBody>
      </p:sp>
    </p:spTree>
  </p:cSld>
  <p:clrMapOvr>
    <a:masterClrMapping/>
  </p:clrMapOvr>
  <p:transition spd="med" advTm="0">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9634"/>
                                        </p:tgtEl>
                                        <p:attrNameLst>
                                          <p:attrName>style.visibility</p:attrName>
                                        </p:attrNameLst>
                                      </p:cBhvr>
                                      <p:to>
                                        <p:strVal val="visible"/>
                                      </p:to>
                                    </p:set>
                                    <p:anim calcmode="lin" valueType="num">
                                      <p:cBhvr additive="base">
                                        <p:cTn id="12" dur="500" fill="hold"/>
                                        <p:tgtEl>
                                          <p:spTgt spid="69634"/>
                                        </p:tgtEl>
                                        <p:attrNameLst>
                                          <p:attrName>ppt_x</p:attrName>
                                        </p:attrNameLst>
                                      </p:cBhvr>
                                      <p:tavLst>
                                        <p:tav tm="0">
                                          <p:val>
                                            <p:strVal val="#ppt_x"/>
                                          </p:val>
                                        </p:tav>
                                        <p:tav tm="100000">
                                          <p:val>
                                            <p:strVal val="#ppt_x"/>
                                          </p:val>
                                        </p:tav>
                                      </p:tavLst>
                                    </p:anim>
                                    <p:anim calcmode="lin" valueType="num">
                                      <p:cBhvr additive="base">
                                        <p:cTn id="13" dur="500" fill="hold"/>
                                        <p:tgtEl>
                                          <p:spTgt spid="696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088" y="4941888"/>
            <a:ext cx="7848600" cy="7905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420938"/>
            <a:ext cx="7848600" cy="19446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4.1.5  </a:t>
            </a:r>
            <a:r>
              <a:rPr lang="zh-CN" altLang="zh-CN" dirty="0">
                <a:effectLst/>
              </a:rPr>
              <a:t>指定查询结果分组方法：</a:t>
            </a:r>
            <a:r>
              <a:rPr lang="en-US" altLang="zh-CN" dirty="0">
                <a:effectLst/>
              </a:rPr>
              <a:t>GROUP </a:t>
            </a:r>
            <a:r>
              <a:rPr lang="en-US" altLang="zh-CN" dirty="0" smtClean="0">
                <a:effectLst/>
              </a:rPr>
              <a:t>BY</a:t>
            </a:r>
            <a:endParaRPr lang="zh-CN" altLang="en-US" dirty="0"/>
          </a:p>
        </p:txBody>
      </p:sp>
      <p:sp>
        <p:nvSpPr>
          <p:cNvPr id="53253" name="TextBox 2"/>
          <p:cNvSpPr txBox="1">
            <a:spLocks noChangeArrowheads="1"/>
          </p:cNvSpPr>
          <p:nvPr/>
        </p:nvSpPr>
        <p:spPr bwMode="auto">
          <a:xfrm>
            <a:off x="395288" y="1557338"/>
            <a:ext cx="8280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a:t>这里介绍</a:t>
            </a:r>
            <a:r>
              <a:rPr lang="en-US" altLang="zh-CN"/>
              <a:t>ISO</a:t>
            </a:r>
            <a:r>
              <a:rPr lang="zh-CN" altLang="zh-CN"/>
              <a:t>标准的</a:t>
            </a:r>
            <a:r>
              <a:rPr lang="en-US" altLang="zh-CN"/>
              <a:t>GROUP BY</a:t>
            </a:r>
            <a:r>
              <a:rPr lang="zh-CN" altLang="zh-CN"/>
              <a:t>子句。</a:t>
            </a:r>
            <a:endParaRPr lang="zh-CN" altLang="zh-CN"/>
          </a:p>
          <a:p>
            <a:pPr eaLnBrk="1" fontAlgn="ctr" hangingPunct="1">
              <a:lnSpc>
                <a:spcPct val="150000"/>
              </a:lnSpc>
            </a:pPr>
            <a:r>
              <a:rPr lang="zh-CN" altLang="zh-CN"/>
              <a:t>语法格式如下：</a:t>
            </a:r>
            <a:endParaRPr lang="zh-CN" altLang="zh-CN"/>
          </a:p>
          <a:p>
            <a:pPr eaLnBrk="1" hangingPunct="1"/>
            <a:r>
              <a:rPr lang="en-US" altLang="zh-CN"/>
              <a:t>GROUP BY</a:t>
            </a:r>
            <a:endParaRPr lang="zh-CN" altLang="zh-CN"/>
          </a:p>
          <a:p>
            <a:pPr eaLnBrk="1" hangingPunct="1"/>
            <a:r>
              <a:rPr lang="en-US" altLang="zh-CN"/>
              <a:t>{</a:t>
            </a:r>
            <a:endParaRPr lang="zh-CN" altLang="zh-CN"/>
          </a:p>
          <a:p>
            <a:pPr eaLnBrk="1" hangingPunct="1"/>
            <a:r>
              <a:rPr lang="en-US" altLang="zh-CN"/>
              <a:t>     &lt;</a:t>
            </a:r>
            <a:r>
              <a:rPr lang="zh-CN" altLang="zh-CN"/>
              <a:t>列表达式</a:t>
            </a:r>
            <a:r>
              <a:rPr lang="en-US" altLang="zh-CN"/>
              <a:t>&gt;</a:t>
            </a:r>
            <a:endParaRPr lang="zh-CN" altLang="zh-CN"/>
          </a:p>
          <a:p>
            <a:pPr eaLnBrk="1" hangingPunct="1"/>
            <a:r>
              <a:rPr lang="en-US" altLang="zh-CN"/>
              <a:t>     | ROLLUP ( &lt;</a:t>
            </a:r>
            <a:r>
              <a:rPr lang="zh-CN" altLang="zh-CN"/>
              <a:t>复合元素列表</a:t>
            </a:r>
            <a:r>
              <a:rPr lang="en-US" altLang="zh-CN"/>
              <a:t>&gt; )</a:t>
            </a:r>
            <a:endParaRPr lang="zh-CN" altLang="zh-CN"/>
          </a:p>
          <a:p>
            <a:pPr eaLnBrk="1" hangingPunct="1"/>
            <a:r>
              <a:rPr lang="en-US" altLang="zh-CN"/>
              <a:t>     | CUBE (&lt;</a:t>
            </a:r>
            <a:r>
              <a:rPr lang="zh-CN" altLang="zh-CN"/>
              <a:t>复合元素列表</a:t>
            </a:r>
            <a:r>
              <a:rPr lang="en-US" altLang="zh-CN"/>
              <a:t>&gt;)</a:t>
            </a:r>
            <a:endParaRPr lang="zh-CN" altLang="zh-CN"/>
          </a:p>
          <a:p>
            <a:pPr eaLnBrk="1" hangingPunct="1"/>
            <a:r>
              <a:rPr lang="en-US" altLang="zh-CN"/>
              <a:t>     | GROUPING SETS ( &lt;</a:t>
            </a:r>
            <a:r>
              <a:rPr lang="zh-CN" altLang="zh-CN"/>
              <a:t>分组集合项列表</a:t>
            </a:r>
            <a:r>
              <a:rPr lang="en-US" altLang="zh-CN"/>
              <a:t>&gt;)</a:t>
            </a:r>
            <a:endParaRPr lang="zh-CN" altLang="zh-CN"/>
          </a:p>
          <a:p>
            <a:pPr eaLnBrk="1" hangingPunct="1"/>
            <a:r>
              <a:rPr lang="en-US" altLang="zh-CN"/>
              <a:t>}</a:t>
            </a:r>
            <a:endParaRPr lang="en-US" altLang="zh-CN"/>
          </a:p>
          <a:p>
            <a:pPr eaLnBrk="1" fontAlgn="ctr" hangingPunct="1"/>
            <a:r>
              <a:rPr lang="en-US" altLang="zh-CN"/>
              <a:t>ISO</a:t>
            </a:r>
            <a:r>
              <a:rPr lang="zh-CN" altLang="zh-CN"/>
              <a:t>标准的</a:t>
            </a:r>
            <a:r>
              <a:rPr lang="en-US" altLang="zh-CN"/>
              <a:t>GROUP BY</a:t>
            </a:r>
            <a:r>
              <a:rPr lang="zh-CN" altLang="zh-CN"/>
              <a:t>子句只有在数据库兼容级别时才能使用。设置数据库的兼容级别可以使用</a:t>
            </a:r>
            <a:r>
              <a:rPr lang="en-US" altLang="zh-CN"/>
              <a:t>ALTER DATABASE</a:t>
            </a:r>
            <a:r>
              <a:rPr lang="zh-CN" altLang="zh-CN"/>
              <a:t>语句，语法格式如下：</a:t>
            </a:r>
            <a:endParaRPr lang="zh-CN" altLang="zh-CN"/>
          </a:p>
          <a:p>
            <a:pPr eaLnBrk="1" hangingPunct="1"/>
            <a:r>
              <a:rPr lang="en-US" altLang="zh-CN"/>
              <a:t>ALTER DATABASE</a:t>
            </a:r>
            <a:r>
              <a:rPr lang="zh-CN" altLang="zh-CN"/>
              <a:t>数据库名</a:t>
            </a:r>
            <a:endParaRPr lang="zh-CN" altLang="zh-CN"/>
          </a:p>
          <a:p>
            <a:pPr eaLnBrk="1" hangingPunct="1"/>
            <a:r>
              <a:rPr lang="en-US" altLang="zh-CN"/>
              <a:t>     SET COMPATIBILITY_LEVEL = { 90 | 100 | 110 }</a:t>
            </a:r>
            <a:endParaRPr lang="zh-CN" altLang="zh-CN"/>
          </a:p>
          <a:p>
            <a:pPr eaLnBrk="1" fontAlgn="ctr" hangingPunct="1"/>
            <a:r>
              <a:rPr lang="en-US" altLang="zh-CN"/>
              <a:t>90</a:t>
            </a:r>
            <a:r>
              <a:rPr lang="zh-CN" altLang="zh-CN"/>
              <a:t>、</a:t>
            </a:r>
            <a:r>
              <a:rPr lang="en-US" altLang="zh-CN"/>
              <a:t>100</a:t>
            </a:r>
            <a:r>
              <a:rPr lang="zh-CN" altLang="zh-CN"/>
              <a:t>和</a:t>
            </a:r>
            <a:r>
              <a:rPr lang="en-US" altLang="zh-CN"/>
              <a:t>110</a:t>
            </a:r>
            <a:r>
              <a:rPr lang="zh-CN" altLang="zh-CN"/>
              <a:t>分别代表</a:t>
            </a:r>
            <a:r>
              <a:rPr lang="en-US" altLang="zh-CN"/>
              <a:t>SQL Server 2005</a:t>
            </a:r>
            <a:r>
              <a:rPr lang="zh-CN" altLang="zh-CN"/>
              <a:t>、</a:t>
            </a:r>
            <a:r>
              <a:rPr lang="en-US" altLang="zh-CN"/>
              <a:t>SQL Server 2008</a:t>
            </a:r>
            <a:r>
              <a:rPr lang="zh-CN" altLang="zh-CN"/>
              <a:t>和</a:t>
            </a:r>
            <a:r>
              <a:rPr lang="en-US" altLang="zh-CN"/>
              <a:t>SQL Server 2012</a:t>
            </a:r>
            <a:r>
              <a:rPr lang="zh-CN" altLang="zh-CN"/>
              <a:t>。</a:t>
            </a:r>
            <a:endParaRPr lang="zh-CN" altLang="zh-CN"/>
          </a:p>
          <a:p>
            <a:pPr eaLnBrk="1" hangingPunct="1"/>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276475"/>
            <a:ext cx="7775575" cy="865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4.1.5  </a:t>
            </a:r>
            <a:r>
              <a:rPr lang="zh-CN" altLang="zh-CN" dirty="0">
                <a:effectLst/>
              </a:rPr>
              <a:t>指定查询结果分组方法：</a:t>
            </a:r>
            <a:r>
              <a:rPr lang="en-US" altLang="zh-CN" dirty="0">
                <a:effectLst/>
              </a:rPr>
              <a:t>GROUP BY</a:t>
            </a:r>
            <a:endParaRPr lang="zh-CN" altLang="en-US" dirty="0"/>
          </a:p>
        </p:txBody>
      </p:sp>
      <p:sp>
        <p:nvSpPr>
          <p:cNvPr id="54276" name="TextBox 2"/>
          <p:cNvSpPr txBox="1">
            <a:spLocks noChangeArrowheads="1"/>
          </p:cNvSpPr>
          <p:nvPr/>
        </p:nvSpPr>
        <p:spPr bwMode="auto">
          <a:xfrm>
            <a:off x="468313" y="1412875"/>
            <a:ext cx="8207375"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4.41</a:t>
            </a:r>
            <a:r>
              <a:rPr lang="zh-CN" altLang="zh-CN"/>
              <a:t>】 在</a:t>
            </a:r>
            <a:r>
              <a:rPr lang="en-US" altLang="zh-CN"/>
              <a:t>pxscj</a:t>
            </a:r>
            <a:r>
              <a:rPr lang="zh-CN" altLang="zh-CN"/>
              <a:t>数据库上产生一个结果集，包括每个专业的男生、女生人数，总人数及学生总人数。</a:t>
            </a:r>
            <a:endParaRPr lang="zh-CN" altLang="zh-CN"/>
          </a:p>
          <a:p>
            <a:pPr eaLnBrk="1" fontAlgn="ctr" hangingPunct="1"/>
            <a:r>
              <a:rPr lang="zh-CN" altLang="zh-CN"/>
              <a:t>代码如下，执行结果如图</a:t>
            </a:r>
            <a:r>
              <a:rPr lang="en-US" altLang="zh-CN"/>
              <a:t>4.16</a:t>
            </a:r>
            <a:r>
              <a:rPr lang="zh-CN" altLang="zh-CN"/>
              <a:t>所示。</a:t>
            </a:r>
            <a:endParaRPr lang="zh-CN" altLang="zh-CN"/>
          </a:p>
          <a:p>
            <a:pPr eaLnBrk="1" hangingPunct="1"/>
            <a:r>
              <a:rPr lang="en-US" altLang="zh-CN"/>
              <a:t>SELECT</a:t>
            </a:r>
            <a:r>
              <a:rPr lang="zh-CN" altLang="zh-CN"/>
              <a:t>专业</a:t>
            </a:r>
            <a:r>
              <a:rPr lang="en-US" altLang="zh-CN"/>
              <a:t>, </a:t>
            </a:r>
            <a:r>
              <a:rPr lang="zh-CN" altLang="zh-CN"/>
              <a:t>性别</a:t>
            </a:r>
            <a:r>
              <a:rPr lang="en-US" altLang="zh-CN"/>
              <a:t> , COUNT(*) AS '</a:t>
            </a:r>
            <a:r>
              <a:rPr lang="zh-CN" altLang="zh-CN"/>
              <a:t>人数</a:t>
            </a:r>
            <a:r>
              <a:rPr lang="en-US" altLang="zh-CN"/>
              <a:t>'</a:t>
            </a:r>
            <a:endParaRPr lang="zh-CN" altLang="zh-CN"/>
          </a:p>
          <a:p>
            <a:pPr eaLnBrk="1" hangingPunct="1"/>
            <a:r>
              <a:rPr lang="en-US" altLang="zh-CN"/>
              <a:t>     FROM xsb</a:t>
            </a:r>
            <a:endParaRPr lang="zh-CN" altLang="zh-CN"/>
          </a:p>
          <a:p>
            <a:pPr eaLnBrk="1" hangingPunct="1"/>
            <a:r>
              <a:rPr lang="en-US" altLang="zh-CN"/>
              <a:t>     GROUP BY ROLLUP(</a:t>
            </a:r>
            <a:r>
              <a:rPr lang="zh-CN" altLang="zh-CN"/>
              <a:t>专业</a:t>
            </a:r>
            <a:r>
              <a:rPr lang="en-US" altLang="zh-CN"/>
              <a:t>,</a:t>
            </a:r>
            <a:r>
              <a:rPr lang="zh-CN" altLang="zh-CN"/>
              <a:t>性别</a:t>
            </a:r>
            <a:r>
              <a:rPr lang="en-US" altLang="zh-CN"/>
              <a:t>)</a:t>
            </a:r>
            <a:endParaRPr lang="zh-CN" altLang="zh-CN"/>
          </a:p>
          <a:p>
            <a:pPr eaLnBrk="1" hangingPunct="1"/>
            <a:endParaRPr lang="zh-CN" altLang="en-US"/>
          </a:p>
        </p:txBody>
      </p:sp>
      <p:pic>
        <p:nvPicPr>
          <p:cNvPr id="54277"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92500" y="3148013"/>
            <a:ext cx="2303463" cy="19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349500"/>
            <a:ext cx="7777162" cy="9350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4.1.5  </a:t>
            </a:r>
            <a:r>
              <a:rPr lang="zh-CN" altLang="zh-CN" dirty="0">
                <a:effectLst/>
              </a:rPr>
              <a:t>指定查询结果分组方法：</a:t>
            </a:r>
            <a:r>
              <a:rPr lang="en-US" altLang="zh-CN" dirty="0">
                <a:effectLst/>
              </a:rPr>
              <a:t>GROUP BY</a:t>
            </a:r>
            <a:endParaRPr lang="zh-CN" altLang="en-US" dirty="0"/>
          </a:p>
        </p:txBody>
      </p:sp>
      <p:sp>
        <p:nvSpPr>
          <p:cNvPr id="3" name="TextBox 2"/>
          <p:cNvSpPr txBox="1"/>
          <p:nvPr/>
        </p:nvSpPr>
        <p:spPr>
          <a:xfrm>
            <a:off x="468313" y="1484313"/>
            <a:ext cx="8135937" cy="2032000"/>
          </a:xfrm>
          <a:prstGeom prst="rect">
            <a:avLst/>
          </a:prstGeom>
          <a:noFill/>
        </p:spPr>
        <p:txBody>
          <a:bodyPr>
            <a:spAutoFit/>
          </a:bodyPr>
          <a:lstStyle/>
          <a:p>
            <a:pPr indent="446405" fontAlgn="ctr">
              <a:spcBef>
                <a:spcPts val="0"/>
              </a:spcBef>
              <a:spcAft>
                <a:spcPts val="0"/>
              </a:spcAft>
              <a:defRPr/>
            </a:pPr>
            <a:r>
              <a:rPr lang="zh-CN" altLang="zh-CN" dirty="0">
                <a:latin typeface="+mn-lt"/>
                <a:ea typeface="+mn-ea"/>
              </a:rPr>
              <a:t>【例</a:t>
            </a:r>
            <a:r>
              <a:rPr lang="en-US" altLang="zh-CN" dirty="0">
                <a:latin typeface="+mn-lt"/>
                <a:ea typeface="+mn-ea"/>
              </a:rPr>
              <a:t>4.42</a:t>
            </a:r>
            <a:r>
              <a:rPr lang="zh-CN" altLang="zh-CN" dirty="0">
                <a:latin typeface="+mn-lt"/>
                <a:ea typeface="+mn-ea"/>
              </a:rPr>
              <a:t>】 在</a:t>
            </a:r>
            <a:r>
              <a:rPr lang="en-US" altLang="zh-CN" dirty="0" err="1">
                <a:latin typeface="+mn-lt"/>
                <a:ea typeface="+mn-ea"/>
              </a:rPr>
              <a:t>pxscj</a:t>
            </a:r>
            <a:r>
              <a:rPr lang="zh-CN" altLang="zh-CN" dirty="0">
                <a:latin typeface="+mn-lt"/>
                <a:ea typeface="+mn-ea"/>
              </a:rPr>
              <a:t>数据库上产生一个结果集，包括每个专业的男生、女生人数，总人数，以及男生总数、女生总数、学生总人数。</a:t>
            </a:r>
            <a:endParaRPr lang="zh-CN" altLang="zh-CN" dirty="0">
              <a:latin typeface="+mn-lt"/>
              <a:ea typeface="+mn-ea"/>
            </a:endParaRPr>
          </a:p>
          <a:p>
            <a:pPr indent="446405" fontAlgn="ctr">
              <a:spcBef>
                <a:spcPts val="0"/>
              </a:spcBef>
              <a:spcAft>
                <a:spcPts val="0"/>
              </a:spcAft>
              <a:defRPr/>
            </a:pPr>
            <a:r>
              <a:rPr lang="zh-CN" altLang="zh-CN" dirty="0">
                <a:latin typeface="+mn-lt"/>
                <a:ea typeface="+mn-ea"/>
              </a:rPr>
              <a:t>代码如下，执行结果如图</a:t>
            </a:r>
            <a:r>
              <a:rPr lang="en-US" altLang="zh-CN" dirty="0">
                <a:latin typeface="+mn-lt"/>
                <a:ea typeface="+mn-ea"/>
              </a:rPr>
              <a:t>4.17</a:t>
            </a:r>
            <a:r>
              <a:rPr lang="zh-CN" altLang="zh-CN" dirty="0">
                <a:latin typeface="+mn-lt"/>
                <a:ea typeface="+mn-ea"/>
              </a:rPr>
              <a:t>所示。</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SELECT</a:t>
            </a:r>
            <a:r>
              <a:rPr lang="zh-CN" altLang="zh-CN" dirty="0">
                <a:latin typeface="+mn-lt"/>
                <a:ea typeface="+mn-ea"/>
              </a:rPr>
              <a:t>专业</a:t>
            </a:r>
            <a:r>
              <a:rPr lang="en-US" altLang="zh-CN" dirty="0">
                <a:latin typeface="+mn-lt"/>
                <a:ea typeface="+mn-ea"/>
              </a:rPr>
              <a:t>, </a:t>
            </a:r>
            <a:r>
              <a:rPr lang="zh-CN" altLang="zh-CN" dirty="0">
                <a:latin typeface="+mn-lt"/>
                <a:ea typeface="+mn-ea"/>
              </a:rPr>
              <a:t>性别</a:t>
            </a:r>
            <a:r>
              <a:rPr lang="en-US" altLang="zh-CN" dirty="0">
                <a:latin typeface="+mn-lt"/>
                <a:ea typeface="+mn-ea"/>
              </a:rPr>
              <a:t>, COUNT(*) AS '</a:t>
            </a:r>
            <a:r>
              <a:rPr lang="zh-CN" altLang="zh-CN" dirty="0">
                <a:latin typeface="+mn-lt"/>
                <a:ea typeface="+mn-ea"/>
              </a:rPr>
              <a:t>人数</a:t>
            </a:r>
            <a:r>
              <a:rPr lang="en-US" altLang="zh-CN" dirty="0">
                <a:latin typeface="+mn-lt"/>
                <a:ea typeface="+mn-ea"/>
              </a:rPr>
              <a:t>'</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46405" fontAlgn="auto">
              <a:spcBef>
                <a:spcPts val="0"/>
              </a:spcBef>
              <a:spcAft>
                <a:spcPts val="0"/>
              </a:spcAft>
              <a:defRPr/>
            </a:pPr>
            <a:r>
              <a:rPr lang="en-US" altLang="zh-CN" dirty="0">
                <a:latin typeface="+mn-lt"/>
                <a:ea typeface="+mn-ea"/>
              </a:rPr>
              <a:t>     GROUP BY CUBE(</a:t>
            </a:r>
            <a:r>
              <a:rPr lang="zh-CN" altLang="zh-CN" dirty="0">
                <a:latin typeface="+mn-lt"/>
                <a:ea typeface="+mn-ea"/>
              </a:rPr>
              <a:t>专业</a:t>
            </a:r>
            <a:r>
              <a:rPr lang="en-US" altLang="zh-CN" dirty="0">
                <a:latin typeface="+mn-lt"/>
                <a:ea typeface="+mn-ea"/>
              </a:rPr>
              <a:t>,</a:t>
            </a:r>
            <a:r>
              <a:rPr lang="zh-CN" altLang="zh-CN" dirty="0">
                <a:latin typeface="+mn-lt"/>
                <a:ea typeface="+mn-ea"/>
              </a:rPr>
              <a:t>性别</a:t>
            </a:r>
            <a:r>
              <a:rPr lang="en-US" altLang="zh-CN" dirty="0">
                <a:latin typeface="+mn-lt"/>
                <a:ea typeface="+mn-ea"/>
              </a:rPr>
              <a:t>) </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5530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13138" y="3284538"/>
            <a:ext cx="1995487" cy="202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844675"/>
            <a:ext cx="7848600"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4.1.5  </a:t>
            </a:r>
            <a:r>
              <a:rPr lang="zh-CN" altLang="zh-CN" dirty="0">
                <a:effectLst/>
              </a:rPr>
              <a:t>指定查询结果分组方法：</a:t>
            </a:r>
            <a:r>
              <a:rPr lang="en-US" altLang="zh-CN" dirty="0">
                <a:effectLst/>
              </a:rPr>
              <a:t>GROUP BY</a:t>
            </a:r>
            <a:endParaRPr lang="zh-CN" altLang="en-US" dirty="0"/>
          </a:p>
        </p:txBody>
      </p:sp>
      <p:sp>
        <p:nvSpPr>
          <p:cNvPr id="56324" name="TextBox 2"/>
          <p:cNvSpPr txBox="1">
            <a:spLocks noChangeArrowheads="1"/>
          </p:cNvSpPr>
          <p:nvPr/>
        </p:nvSpPr>
        <p:spPr bwMode="auto">
          <a:xfrm>
            <a:off x="468313" y="1484313"/>
            <a:ext cx="82804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4.43</a:t>
            </a:r>
            <a:r>
              <a:rPr lang="zh-CN" altLang="zh-CN"/>
              <a:t>】 生成一个结果集，分别根据专业和性别对人数进行聚合。</a:t>
            </a:r>
            <a:endParaRPr lang="zh-CN" altLang="zh-CN"/>
          </a:p>
          <a:p>
            <a:pPr eaLnBrk="1" hangingPunct="1"/>
            <a:r>
              <a:rPr lang="en-US" altLang="zh-CN"/>
              <a:t>SELECT</a:t>
            </a:r>
            <a:r>
              <a:rPr lang="zh-CN" altLang="zh-CN"/>
              <a:t>专业</a:t>
            </a:r>
            <a:r>
              <a:rPr lang="en-US" altLang="zh-CN"/>
              <a:t>, </a:t>
            </a:r>
            <a:r>
              <a:rPr lang="zh-CN" altLang="zh-CN"/>
              <a:t>性别</a:t>
            </a:r>
            <a:r>
              <a:rPr lang="en-US" altLang="zh-CN"/>
              <a:t>, COUNT(*) AS '</a:t>
            </a:r>
            <a:r>
              <a:rPr lang="zh-CN" altLang="zh-CN"/>
              <a:t>人数</a:t>
            </a:r>
            <a:r>
              <a:rPr lang="en-US" altLang="zh-CN"/>
              <a:t>'</a:t>
            </a:r>
            <a:endParaRPr lang="zh-CN" altLang="zh-CN"/>
          </a:p>
          <a:p>
            <a:pPr eaLnBrk="1" hangingPunct="1"/>
            <a:r>
              <a:rPr lang="en-US" altLang="zh-CN"/>
              <a:t>     FROM xsb</a:t>
            </a:r>
            <a:endParaRPr lang="zh-CN" altLang="zh-CN"/>
          </a:p>
          <a:p>
            <a:pPr eaLnBrk="1" hangingPunct="1"/>
            <a:r>
              <a:rPr lang="en-US" altLang="zh-CN"/>
              <a:t>     GROUP BY  GROUPING SETS(</a:t>
            </a:r>
            <a:r>
              <a:rPr lang="zh-CN" altLang="zh-CN"/>
              <a:t>专业</a:t>
            </a:r>
            <a:r>
              <a:rPr lang="en-US" altLang="zh-CN"/>
              <a:t>,</a:t>
            </a:r>
            <a:r>
              <a:rPr lang="zh-CN" altLang="zh-CN"/>
              <a:t>性别</a:t>
            </a:r>
            <a:r>
              <a:rPr lang="en-US" altLang="zh-CN"/>
              <a:t>)</a:t>
            </a:r>
            <a:endParaRPr lang="zh-CN" altLang="zh-CN"/>
          </a:p>
          <a:p>
            <a:pPr eaLnBrk="1" fontAlgn="ctr" hangingPunct="1"/>
            <a:r>
              <a:rPr lang="zh-CN" altLang="zh-CN"/>
              <a:t>代码如下，执行结果如图</a:t>
            </a:r>
            <a:r>
              <a:rPr lang="en-US" altLang="zh-CN"/>
              <a:t>4.18</a:t>
            </a:r>
            <a:r>
              <a:rPr lang="zh-CN" altLang="zh-CN"/>
              <a:t>所示。</a:t>
            </a:r>
            <a:endParaRPr lang="zh-CN" altLang="zh-CN"/>
          </a:p>
          <a:p>
            <a:pPr eaLnBrk="1" hangingPunct="1"/>
            <a:endParaRPr lang="zh-CN" altLang="en-US"/>
          </a:p>
        </p:txBody>
      </p:sp>
      <p:pic>
        <p:nvPicPr>
          <p:cNvPr id="56325"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41688" y="3238500"/>
            <a:ext cx="2533650"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3716338"/>
            <a:ext cx="7921625" cy="16573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349500"/>
            <a:ext cx="7921625"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sz="2800" dirty="0">
                <a:effectLst/>
              </a:rPr>
              <a:t>4.1.6  </a:t>
            </a:r>
            <a:r>
              <a:rPr lang="zh-CN" altLang="zh-CN" sz="2800" dirty="0">
                <a:effectLst/>
              </a:rPr>
              <a:t>指定查询结果分组后筛选条件：</a:t>
            </a:r>
            <a:r>
              <a:rPr lang="en-US" altLang="zh-CN" sz="2800" dirty="0">
                <a:effectLst/>
              </a:rPr>
              <a:t>HAVING</a:t>
            </a:r>
            <a:endParaRPr lang="zh-CN" altLang="zh-CN" sz="2800" dirty="0">
              <a:effectLst/>
            </a:endParaRPr>
          </a:p>
        </p:txBody>
      </p:sp>
      <p:sp>
        <p:nvSpPr>
          <p:cNvPr id="57349" name="TextBox 2"/>
          <p:cNvSpPr txBox="1">
            <a:spLocks noChangeArrowheads="1"/>
          </p:cNvSpPr>
          <p:nvPr/>
        </p:nvSpPr>
        <p:spPr bwMode="auto">
          <a:xfrm>
            <a:off x="395288" y="1484313"/>
            <a:ext cx="835342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例如，查找</a:t>
            </a:r>
            <a:r>
              <a:rPr lang="en-US" altLang="zh-CN"/>
              <a:t>pxscj</a:t>
            </a:r>
            <a:r>
              <a:rPr lang="zh-CN" altLang="zh-CN"/>
              <a:t>数据库中平均成绩在</a:t>
            </a:r>
            <a:r>
              <a:rPr lang="en-US" altLang="zh-CN"/>
              <a:t>85</a:t>
            </a:r>
            <a:r>
              <a:rPr lang="zh-CN" altLang="zh-CN"/>
              <a:t>分以上的学生，就是在</a:t>
            </a:r>
            <a:r>
              <a:rPr lang="en-US" altLang="zh-CN"/>
              <a:t>cjb</a:t>
            </a:r>
            <a:r>
              <a:rPr lang="zh-CN" altLang="zh-CN"/>
              <a:t>表上按学号分组后筛选出符合平均成绩大于等于</a:t>
            </a:r>
            <a:r>
              <a:rPr lang="en-US" altLang="zh-CN"/>
              <a:t>85</a:t>
            </a:r>
            <a:r>
              <a:rPr lang="zh-CN" altLang="zh-CN"/>
              <a:t>的学生。</a:t>
            </a:r>
            <a:endParaRPr lang="zh-CN" altLang="zh-CN"/>
          </a:p>
          <a:p>
            <a:pPr eaLnBrk="1" fontAlgn="ctr" hangingPunct="1"/>
            <a:r>
              <a:rPr lang="en-US" altLang="zh-CN"/>
              <a:t>HAVING</a:t>
            </a:r>
            <a:r>
              <a:rPr lang="zh-CN" altLang="zh-CN"/>
              <a:t>子句的格式为：</a:t>
            </a:r>
            <a:endParaRPr lang="zh-CN" altLang="zh-CN"/>
          </a:p>
          <a:p>
            <a:pPr eaLnBrk="1" hangingPunct="1"/>
            <a:r>
              <a:rPr lang="en-US" altLang="zh-CN"/>
              <a:t>[ HAVING &lt;</a:t>
            </a:r>
            <a:r>
              <a:rPr lang="zh-CN" altLang="zh-CN"/>
              <a:t>查询条件</a:t>
            </a:r>
            <a:r>
              <a:rPr lang="en-US" altLang="zh-CN"/>
              <a:t>&gt; ]</a:t>
            </a:r>
            <a:endParaRPr lang="zh-CN" altLang="zh-CN"/>
          </a:p>
          <a:p>
            <a:pPr eaLnBrk="1" fontAlgn="ctr" hangingPunct="1"/>
            <a:r>
              <a:rPr lang="zh-CN" altLang="zh-CN"/>
              <a:t>其中，</a:t>
            </a:r>
            <a:r>
              <a:rPr lang="en-US" altLang="zh-CN"/>
              <a:t>&lt;</a:t>
            </a:r>
            <a:r>
              <a:rPr lang="zh-CN" altLang="zh-CN"/>
              <a:t>查询条件</a:t>
            </a:r>
            <a:r>
              <a:rPr lang="en-US" altLang="zh-CN"/>
              <a:t>&gt;</a:t>
            </a:r>
            <a:r>
              <a:rPr lang="zh-CN" altLang="zh-CN"/>
              <a:t>与</a:t>
            </a:r>
            <a:r>
              <a:rPr lang="en-US" altLang="zh-CN"/>
              <a:t>WHERE</a:t>
            </a:r>
            <a:r>
              <a:rPr lang="zh-CN" altLang="zh-CN"/>
              <a:t>子句的查询条件类似，不过</a:t>
            </a:r>
            <a:r>
              <a:rPr lang="en-US" altLang="zh-CN"/>
              <a:t>HAVING</a:t>
            </a:r>
            <a:r>
              <a:rPr lang="zh-CN" altLang="zh-CN"/>
              <a:t>子句中可以使用聚合函数，而</a:t>
            </a:r>
            <a:r>
              <a:rPr lang="en-US" altLang="zh-CN"/>
              <a:t>WHERE</a:t>
            </a:r>
            <a:r>
              <a:rPr lang="zh-CN" altLang="zh-CN"/>
              <a:t>子句中不可以。</a:t>
            </a:r>
            <a:endParaRPr lang="zh-CN" altLang="zh-CN"/>
          </a:p>
          <a:p>
            <a:pPr eaLnBrk="1" fontAlgn="ctr" hangingPunct="1"/>
            <a:r>
              <a:rPr lang="zh-CN" altLang="zh-CN"/>
              <a:t>【例</a:t>
            </a:r>
            <a:r>
              <a:rPr lang="en-US" altLang="zh-CN"/>
              <a:t>4.44</a:t>
            </a:r>
            <a:r>
              <a:rPr lang="zh-CN" altLang="zh-CN"/>
              <a:t>】 查找平均成绩在</a:t>
            </a:r>
            <a:r>
              <a:rPr lang="en-US" altLang="zh-CN"/>
              <a:t>85</a:t>
            </a:r>
            <a:r>
              <a:rPr lang="zh-CN" altLang="zh-CN"/>
              <a:t>分以上的学生的学号和平均成绩。</a:t>
            </a:r>
            <a:endParaRPr lang="zh-CN" altLang="zh-CN"/>
          </a:p>
          <a:p>
            <a:pPr eaLnBrk="1" fontAlgn="ctr" hangingPunct="1"/>
            <a:r>
              <a:rPr lang="zh-CN" altLang="zh-CN"/>
              <a:t>代码如下，执行结果如图</a:t>
            </a:r>
            <a:r>
              <a:rPr lang="en-US" altLang="zh-CN"/>
              <a:t>4.19</a:t>
            </a:r>
            <a:r>
              <a:rPr lang="zh-CN" altLang="zh-CN"/>
              <a:t>所示。</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SELECT</a:t>
            </a:r>
            <a:r>
              <a:rPr lang="zh-CN" altLang="zh-CN"/>
              <a:t>学号</a:t>
            </a:r>
            <a:r>
              <a:rPr lang="en-US" altLang="zh-CN"/>
              <a:t>, AVG(</a:t>
            </a:r>
            <a:r>
              <a:rPr lang="zh-CN" altLang="zh-CN"/>
              <a:t>成绩</a:t>
            </a:r>
            <a:r>
              <a:rPr lang="en-US" altLang="zh-CN"/>
              <a:t>) AS '</a:t>
            </a:r>
            <a:r>
              <a:rPr lang="zh-CN" altLang="zh-CN"/>
              <a:t>平均成绩</a:t>
            </a:r>
            <a:r>
              <a:rPr lang="en-US" altLang="zh-CN"/>
              <a:t>'</a:t>
            </a:r>
            <a:endParaRPr lang="zh-CN" altLang="zh-CN"/>
          </a:p>
          <a:p>
            <a:pPr eaLnBrk="1" hangingPunct="1"/>
            <a:r>
              <a:rPr lang="en-US" altLang="zh-CN"/>
              <a:t>     FROM cjb</a:t>
            </a:r>
            <a:endParaRPr lang="zh-CN" altLang="zh-CN"/>
          </a:p>
          <a:p>
            <a:pPr eaLnBrk="1" hangingPunct="1"/>
            <a:r>
              <a:rPr lang="en-US" altLang="zh-CN"/>
              <a:t>     GROUP BY</a:t>
            </a:r>
            <a:r>
              <a:rPr lang="zh-CN" altLang="zh-CN"/>
              <a:t>学号</a:t>
            </a:r>
            <a:endParaRPr lang="zh-CN" altLang="zh-CN"/>
          </a:p>
          <a:p>
            <a:pPr eaLnBrk="1" hangingPunct="1"/>
            <a:r>
              <a:rPr lang="en-US" altLang="zh-CN"/>
              <a:t>     HAVING  AVG(</a:t>
            </a:r>
            <a:r>
              <a:rPr lang="zh-CN" altLang="zh-CN"/>
              <a:t>成绩</a:t>
            </a:r>
            <a:r>
              <a:rPr lang="en-US" altLang="zh-CN"/>
              <a:t>) &gt; =85</a:t>
            </a:r>
            <a:endParaRPr lang="zh-CN" altLang="zh-CN"/>
          </a:p>
          <a:p>
            <a:pPr eaLnBrk="1" hangingPunct="1"/>
            <a:endParaRPr lang="zh-CN" altLang="en-US"/>
          </a:p>
        </p:txBody>
      </p:sp>
      <p:pic>
        <p:nvPicPr>
          <p:cNvPr id="573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88125" y="3819525"/>
            <a:ext cx="2160588" cy="145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429000"/>
            <a:ext cx="7775575" cy="25923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1844675"/>
            <a:ext cx="7775575"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sz="2800" dirty="0">
                <a:ln w="12700" cmpd="sng">
                  <a:solidFill>
                    <a:srgbClr val="F79646">
                      <a:satMod val="120000"/>
                      <a:shade val="80000"/>
                    </a:srgbClr>
                  </a:solidFill>
                  <a:prstDash val="solid"/>
                </a:ln>
                <a:solidFill>
                  <a:srgbClr val="F79646">
                    <a:tint val="1000"/>
                  </a:srgbClr>
                </a:solidFill>
                <a:effectLst/>
              </a:rPr>
              <a:t>4.1.6  </a:t>
            </a:r>
            <a:r>
              <a:rPr lang="zh-CN" altLang="zh-CN" sz="2800" dirty="0">
                <a:ln w="12700" cmpd="sng">
                  <a:solidFill>
                    <a:srgbClr val="F79646">
                      <a:satMod val="120000"/>
                      <a:shade val="80000"/>
                    </a:srgbClr>
                  </a:solidFill>
                  <a:prstDash val="solid"/>
                </a:ln>
                <a:solidFill>
                  <a:srgbClr val="F79646">
                    <a:tint val="1000"/>
                  </a:srgbClr>
                </a:solidFill>
                <a:effectLst/>
              </a:rPr>
              <a:t>指定查询结果分组后筛选条件：</a:t>
            </a:r>
            <a:r>
              <a:rPr lang="en-US" altLang="zh-CN" sz="2800" dirty="0">
                <a:ln w="12700" cmpd="sng">
                  <a:solidFill>
                    <a:srgbClr val="F79646">
                      <a:satMod val="120000"/>
                      <a:shade val="80000"/>
                    </a:srgbClr>
                  </a:solidFill>
                  <a:prstDash val="solid"/>
                </a:ln>
                <a:solidFill>
                  <a:srgbClr val="F79646">
                    <a:tint val="1000"/>
                  </a:srgbClr>
                </a:solidFill>
                <a:effectLst/>
              </a:rPr>
              <a:t>HAVING</a:t>
            </a:r>
            <a:endParaRPr lang="zh-CN" altLang="en-US" dirty="0"/>
          </a:p>
        </p:txBody>
      </p:sp>
      <p:sp>
        <p:nvSpPr>
          <p:cNvPr id="58373" name="TextBox 2"/>
          <p:cNvSpPr txBox="1">
            <a:spLocks noChangeArrowheads="1"/>
          </p:cNvSpPr>
          <p:nvPr/>
        </p:nvSpPr>
        <p:spPr bwMode="auto">
          <a:xfrm>
            <a:off x="395288" y="1484313"/>
            <a:ext cx="82804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464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4.45</a:t>
            </a:r>
            <a:r>
              <a:rPr lang="zh-CN" altLang="zh-CN"/>
              <a:t>】 查找选修课程超过</a:t>
            </a:r>
            <a:r>
              <a:rPr lang="en-US" altLang="zh-CN"/>
              <a:t>2</a:t>
            </a:r>
            <a:r>
              <a:rPr lang="zh-CN" altLang="zh-CN"/>
              <a:t>门且成绩都在</a:t>
            </a:r>
            <a:r>
              <a:rPr lang="en-US" altLang="zh-CN"/>
              <a:t>80</a:t>
            </a:r>
            <a:r>
              <a:rPr lang="zh-CN" altLang="zh-CN"/>
              <a:t>分以上的学生的学号。</a:t>
            </a:r>
            <a:endParaRPr lang="zh-CN" altLang="zh-CN"/>
          </a:p>
          <a:p>
            <a:pPr eaLnBrk="1" hangingPunct="1"/>
            <a:r>
              <a:rPr lang="en-US" altLang="zh-CN"/>
              <a:t>SELECT</a:t>
            </a:r>
            <a:r>
              <a:rPr lang="zh-CN" altLang="zh-CN"/>
              <a:t>学号</a:t>
            </a:r>
            <a:r>
              <a:rPr lang="en-US" altLang="zh-CN"/>
              <a:t> </a:t>
            </a:r>
            <a:endParaRPr lang="zh-CN" altLang="zh-CN"/>
          </a:p>
          <a:p>
            <a:pPr eaLnBrk="1" hangingPunct="1"/>
            <a:r>
              <a:rPr lang="en-US" altLang="zh-CN"/>
              <a:t>     FROM cjb</a:t>
            </a:r>
            <a:endParaRPr lang="zh-CN" altLang="zh-CN"/>
          </a:p>
          <a:p>
            <a:pPr eaLnBrk="1" hangingPunct="1"/>
            <a:r>
              <a:rPr lang="en-US" altLang="zh-CN"/>
              <a:t>     WHERE</a:t>
            </a:r>
            <a:r>
              <a:rPr lang="zh-CN" altLang="zh-CN"/>
              <a:t>成绩</a:t>
            </a:r>
            <a:r>
              <a:rPr lang="en-US" altLang="zh-CN"/>
              <a:t> &gt;= 80</a:t>
            </a:r>
            <a:endParaRPr lang="zh-CN" altLang="zh-CN"/>
          </a:p>
          <a:p>
            <a:pPr eaLnBrk="1" hangingPunct="1"/>
            <a:r>
              <a:rPr lang="en-US" altLang="zh-CN"/>
              <a:t>     GROUP BY</a:t>
            </a:r>
            <a:r>
              <a:rPr lang="zh-CN" altLang="zh-CN"/>
              <a:t>学号</a:t>
            </a:r>
            <a:r>
              <a:rPr lang="en-US" altLang="zh-CN"/>
              <a:t>HAVING   COUNT(*) &gt; 2</a:t>
            </a:r>
            <a:endParaRPr lang="zh-CN" altLang="zh-CN"/>
          </a:p>
          <a:p>
            <a:pPr eaLnBrk="1" fontAlgn="ctr" hangingPunct="1"/>
            <a:r>
              <a:rPr lang="zh-CN" altLang="zh-CN"/>
              <a:t>【例</a:t>
            </a:r>
            <a:r>
              <a:rPr lang="en-US" altLang="zh-CN"/>
              <a:t>4.46</a:t>
            </a:r>
            <a:r>
              <a:rPr lang="zh-CN" altLang="zh-CN"/>
              <a:t>】 查找通信工程专业平均成绩在</a:t>
            </a:r>
            <a:r>
              <a:rPr lang="en-US" altLang="zh-CN"/>
              <a:t>85</a:t>
            </a:r>
            <a:r>
              <a:rPr lang="zh-CN" altLang="zh-CN"/>
              <a:t>分以上的学生的学号和平均成绩。</a:t>
            </a:r>
            <a:endParaRPr lang="zh-CN" altLang="zh-CN"/>
          </a:p>
          <a:p>
            <a:pPr eaLnBrk="1" fontAlgn="ctr" hangingPunct="1"/>
            <a:r>
              <a:rPr lang="zh-CN" altLang="zh-CN"/>
              <a:t>代码如下，执行结果如图</a:t>
            </a:r>
            <a:r>
              <a:rPr lang="en-US" altLang="zh-CN"/>
              <a:t>4.20</a:t>
            </a:r>
            <a:r>
              <a:rPr lang="zh-CN" altLang="zh-CN"/>
              <a:t>所示。</a:t>
            </a:r>
            <a:endParaRPr lang="en-US" altLang="zh-CN"/>
          </a:p>
          <a:p>
            <a:pPr eaLnBrk="1" hangingPunct="1"/>
            <a:r>
              <a:rPr lang="en-US" altLang="zh-CN"/>
              <a:t>SELECT</a:t>
            </a:r>
            <a:r>
              <a:rPr lang="zh-CN" altLang="zh-CN"/>
              <a:t>学号</a:t>
            </a:r>
            <a:r>
              <a:rPr lang="en-US" altLang="zh-CN"/>
              <a:t>, AVG(</a:t>
            </a:r>
            <a:r>
              <a:rPr lang="zh-CN" altLang="zh-CN"/>
              <a:t>成绩</a:t>
            </a:r>
            <a:r>
              <a:rPr lang="en-US" altLang="zh-CN"/>
              <a:t>) AS '</a:t>
            </a:r>
            <a:r>
              <a:rPr lang="zh-CN" altLang="zh-CN"/>
              <a:t>平均成绩</a:t>
            </a:r>
            <a:r>
              <a:rPr lang="en-US" altLang="zh-CN"/>
              <a:t>'</a:t>
            </a:r>
            <a:endParaRPr lang="zh-CN" altLang="zh-CN"/>
          </a:p>
          <a:p>
            <a:pPr eaLnBrk="1" hangingPunct="1"/>
            <a:r>
              <a:rPr lang="en-US" altLang="zh-CN"/>
              <a:t>     FROM cjb</a:t>
            </a:r>
            <a:endParaRPr lang="zh-CN" altLang="zh-CN"/>
          </a:p>
          <a:p>
            <a:pPr eaLnBrk="1" hangingPunct="1"/>
            <a:r>
              <a:rPr lang="en-US" altLang="zh-CN"/>
              <a:t>     WHERE</a:t>
            </a:r>
            <a:r>
              <a:rPr lang="zh-CN" altLang="zh-CN"/>
              <a:t>学号</a:t>
            </a:r>
            <a:r>
              <a:rPr lang="en-US" altLang="zh-CN"/>
              <a:t>IN</a:t>
            </a:r>
            <a:endParaRPr lang="zh-CN" altLang="zh-CN"/>
          </a:p>
          <a:p>
            <a:pPr eaLnBrk="1" hangingPunct="1"/>
            <a:r>
              <a:rPr lang="en-US" altLang="zh-CN"/>
              <a:t>           (</a:t>
            </a:r>
            <a:endParaRPr lang="zh-CN" altLang="zh-CN"/>
          </a:p>
          <a:p>
            <a:pPr eaLnBrk="1" hangingPunct="1"/>
            <a:r>
              <a:rPr lang="en-US" altLang="zh-CN"/>
              <a:t>               SELECT</a:t>
            </a:r>
            <a:r>
              <a:rPr lang="zh-CN" altLang="zh-CN"/>
              <a:t>学号</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 '</a:t>
            </a:r>
            <a:r>
              <a:rPr lang="zh-CN" altLang="zh-CN"/>
              <a:t>通信工程</a:t>
            </a:r>
            <a:r>
              <a:rPr lang="en-US" altLang="zh-CN"/>
              <a:t>'</a:t>
            </a:r>
            <a:endParaRPr lang="zh-CN" altLang="zh-CN"/>
          </a:p>
          <a:p>
            <a:pPr eaLnBrk="1" hangingPunct="1"/>
            <a:r>
              <a:rPr lang="en-US" altLang="zh-CN"/>
              <a:t>          )</a:t>
            </a:r>
            <a:endParaRPr lang="zh-CN" altLang="zh-CN"/>
          </a:p>
          <a:p>
            <a:pPr eaLnBrk="1" hangingPunct="1"/>
            <a:r>
              <a:rPr lang="en-US" altLang="zh-CN"/>
              <a:t>     GROUP BY</a:t>
            </a:r>
            <a:r>
              <a:rPr lang="zh-CN" altLang="zh-CN"/>
              <a:t>学号</a:t>
            </a:r>
            <a:r>
              <a:rPr lang="en-US" altLang="zh-CN"/>
              <a:t>HAVING AVG(</a:t>
            </a:r>
            <a:r>
              <a:rPr lang="zh-CN" altLang="zh-CN"/>
              <a:t>成绩</a:t>
            </a:r>
            <a:r>
              <a:rPr lang="en-US" altLang="zh-CN"/>
              <a:t>) &gt; =85</a:t>
            </a:r>
            <a:endParaRPr lang="zh-CN" altLang="zh-CN"/>
          </a:p>
          <a:p>
            <a:pPr eaLnBrk="1" fontAlgn="ctr" hangingPunct="1"/>
            <a:endParaRPr lang="zh-CN" altLang="zh-CN"/>
          </a:p>
          <a:p>
            <a:pPr eaLnBrk="1" hangingPunct="1"/>
            <a:endParaRPr lang="zh-CN" altLang="en-US"/>
          </a:p>
        </p:txBody>
      </p:sp>
      <p:pic>
        <p:nvPicPr>
          <p:cNvPr id="583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516688" y="4581525"/>
            <a:ext cx="1943100" cy="109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133600"/>
            <a:ext cx="7775575" cy="13668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sz="3200" dirty="0">
                <a:effectLst/>
              </a:rPr>
              <a:t>4.1.7  </a:t>
            </a:r>
            <a:r>
              <a:rPr lang="zh-CN" altLang="zh-CN" sz="3200" dirty="0">
                <a:effectLst/>
              </a:rPr>
              <a:t>指定查询结果排序顺序：</a:t>
            </a:r>
            <a:r>
              <a:rPr lang="en-US" altLang="zh-CN" sz="3200" dirty="0">
                <a:effectLst/>
              </a:rPr>
              <a:t>ORDER BY</a:t>
            </a:r>
            <a:endParaRPr lang="zh-CN" altLang="zh-CN" sz="3200" dirty="0">
              <a:effectLst/>
            </a:endParaRPr>
          </a:p>
        </p:txBody>
      </p:sp>
      <p:sp>
        <p:nvSpPr>
          <p:cNvPr id="59396" name="TextBox 2"/>
          <p:cNvSpPr txBox="1">
            <a:spLocks noChangeArrowheads="1"/>
          </p:cNvSpPr>
          <p:nvPr/>
        </p:nvSpPr>
        <p:spPr bwMode="auto">
          <a:xfrm>
            <a:off x="468313" y="1557338"/>
            <a:ext cx="8207375" cy="258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在应用中经常要对查询的结果排序输出，如将学生成绩由高到低排序。在</a:t>
            </a:r>
            <a:r>
              <a:rPr lang="en-US" altLang="zh-CN"/>
              <a:t>SELECT</a:t>
            </a:r>
            <a:r>
              <a:rPr lang="zh-CN" altLang="zh-CN"/>
              <a:t>语句中，使用</a:t>
            </a:r>
            <a:r>
              <a:rPr lang="en-US" altLang="zh-CN"/>
              <a:t>ORDER BY</a:t>
            </a:r>
            <a:r>
              <a:rPr lang="zh-CN" altLang="zh-CN"/>
              <a:t>子句对查询结果进行排序。</a:t>
            </a:r>
            <a:r>
              <a:rPr lang="en-US" altLang="zh-CN"/>
              <a:t>ORDER BY</a:t>
            </a:r>
            <a:r>
              <a:rPr lang="zh-CN" altLang="zh-CN"/>
              <a:t>子句的格式为：</a:t>
            </a:r>
            <a:endParaRPr lang="zh-CN" altLang="zh-CN"/>
          </a:p>
          <a:p>
            <a:pPr eaLnBrk="1" hangingPunct="1"/>
            <a:r>
              <a:rPr lang="en-US" altLang="zh-CN"/>
              <a:t>[ ORDER BY</a:t>
            </a:r>
            <a:endParaRPr lang="zh-CN" altLang="zh-CN"/>
          </a:p>
          <a:p>
            <a:pPr eaLnBrk="1" hangingPunct="1"/>
            <a:r>
              <a:rPr lang="en-US" altLang="zh-CN"/>
              <a:t>{     </a:t>
            </a:r>
            <a:r>
              <a:rPr lang="zh-CN" altLang="zh-CN"/>
              <a:t>排序表达式</a:t>
            </a:r>
            <a:endParaRPr lang="zh-CN" altLang="zh-CN"/>
          </a:p>
          <a:p>
            <a:pPr eaLnBrk="1" hangingPunct="1"/>
            <a:r>
              <a:rPr lang="en-US" altLang="zh-CN"/>
              <a:t>      [ COLLATE</a:t>
            </a:r>
            <a:r>
              <a:rPr lang="zh-CN" altLang="zh-CN"/>
              <a:t>排序名</a:t>
            </a:r>
            <a:r>
              <a:rPr lang="en-US" altLang="zh-CN"/>
              <a:t>]</a:t>
            </a:r>
            <a:endParaRPr lang="zh-CN" altLang="zh-CN"/>
          </a:p>
          <a:p>
            <a:pPr eaLnBrk="1" hangingPunct="1"/>
            <a:r>
              <a:rPr lang="en-US" altLang="zh-CN"/>
              <a:t>      [ ASC | DESC ]</a:t>
            </a:r>
            <a:endParaRPr lang="zh-CN" altLang="zh-CN"/>
          </a:p>
          <a:p>
            <a:pPr eaLnBrk="1" hangingPunct="1"/>
            <a:r>
              <a:rPr lang="en-US" altLang="zh-CN"/>
              <a:t>} ]</a:t>
            </a:r>
            <a:endParaRPr lang="zh-CN" altLang="zh-CN"/>
          </a:p>
          <a:p>
            <a:pPr eaLnBrk="1" hangingPunct="1"/>
            <a:r>
              <a:rPr lang="zh-CN" altLang="zh-CN"/>
              <a:t>其中，“排序表达式”可以是列名、表达式或一个正整数，当它是一个正整数时，表示按表中该位置上的列排序。</a:t>
            </a:r>
            <a:endParaRPr lang="zh-CN" altLang="en-US"/>
          </a:p>
        </p:txBody>
      </p:sp>
    </p:spTree>
  </p:cSld>
  <p:clrMapOvr>
    <a:masterClrMapping/>
  </p:clrMapOvr>
  <p:transition spd="slow">
    <p:blinds dir="vert"/>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429000"/>
            <a:ext cx="7848600" cy="19446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060575"/>
            <a:ext cx="7848600" cy="10810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4.1.7  </a:t>
            </a:r>
            <a:r>
              <a:rPr lang="zh-CN" altLang="zh-CN" dirty="0">
                <a:effectLst/>
              </a:rPr>
              <a:t>指定查询结果排序顺序：</a:t>
            </a:r>
            <a:r>
              <a:rPr lang="en-US" altLang="zh-CN" dirty="0">
                <a:effectLst/>
              </a:rPr>
              <a:t>ORDER BY</a:t>
            </a:r>
            <a:endParaRPr lang="zh-CN" altLang="en-US" dirty="0"/>
          </a:p>
        </p:txBody>
      </p:sp>
      <p:sp>
        <p:nvSpPr>
          <p:cNvPr id="60421" name="TextBox 2"/>
          <p:cNvSpPr txBox="1">
            <a:spLocks noChangeArrowheads="1"/>
          </p:cNvSpPr>
          <p:nvPr/>
        </p:nvSpPr>
        <p:spPr bwMode="auto">
          <a:xfrm>
            <a:off x="468313" y="1484313"/>
            <a:ext cx="8280400"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．对查询的结果排序输出</a:t>
            </a:r>
            <a:endParaRPr lang="zh-CN" altLang="zh-CN" b="1">
              <a:solidFill>
                <a:srgbClr val="C00000"/>
              </a:solidFill>
            </a:endParaRPr>
          </a:p>
          <a:p>
            <a:pPr eaLnBrk="1" fontAlgn="ctr" hangingPunct="1"/>
            <a:r>
              <a:rPr lang="zh-CN" altLang="zh-CN"/>
              <a:t>【例</a:t>
            </a:r>
            <a:r>
              <a:rPr lang="en-US" altLang="zh-CN"/>
              <a:t>4.47</a:t>
            </a:r>
            <a:r>
              <a:rPr lang="zh-CN" altLang="zh-CN"/>
              <a:t>】 将通信工程专业的学生按出生时间先后顺序排序。</a:t>
            </a:r>
            <a:endParaRPr lang="zh-CN" altLang="zh-CN"/>
          </a:p>
          <a:p>
            <a:pPr eaLnBrk="1" hangingPunct="1"/>
            <a:r>
              <a:rPr lang="en-US" altLang="zh-CN"/>
              <a:t>SELECT  *</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通信工程</a:t>
            </a:r>
            <a:r>
              <a:rPr lang="en-US" altLang="zh-CN"/>
              <a:t>'</a:t>
            </a:r>
            <a:endParaRPr lang="zh-CN" altLang="zh-CN"/>
          </a:p>
          <a:p>
            <a:pPr eaLnBrk="1" hangingPunct="1"/>
            <a:r>
              <a:rPr lang="en-US" altLang="zh-CN"/>
              <a:t>     ORDER BY</a:t>
            </a:r>
            <a:r>
              <a:rPr lang="zh-CN" altLang="zh-CN"/>
              <a:t>出生时间</a:t>
            </a:r>
            <a:endParaRPr lang="zh-CN" altLang="zh-CN"/>
          </a:p>
          <a:p>
            <a:pPr eaLnBrk="1" fontAlgn="ctr" hangingPunct="1"/>
            <a:r>
              <a:rPr lang="zh-CN" altLang="zh-CN"/>
              <a:t>【例</a:t>
            </a:r>
            <a:r>
              <a:rPr lang="en-US" altLang="zh-CN"/>
              <a:t>4.48</a:t>
            </a:r>
            <a:r>
              <a:rPr lang="zh-CN" altLang="zh-CN"/>
              <a:t>】 将计算机专业学生的“计算机基础”课程成绩按降序排列。</a:t>
            </a:r>
            <a:endParaRPr lang="zh-CN" altLang="zh-CN"/>
          </a:p>
          <a:p>
            <a:pPr eaLnBrk="1" hangingPunct="1"/>
            <a:r>
              <a:rPr lang="en-US" altLang="zh-CN"/>
              <a:t>SELECT</a:t>
            </a:r>
            <a:r>
              <a:rPr lang="zh-CN" altLang="zh-CN"/>
              <a:t>姓名</a:t>
            </a:r>
            <a:r>
              <a:rPr lang="en-US" altLang="zh-CN"/>
              <a:t>, </a:t>
            </a:r>
            <a:r>
              <a:rPr lang="zh-CN" altLang="zh-CN"/>
              <a:t>课程名</a:t>
            </a:r>
            <a:r>
              <a:rPr lang="en-US" altLang="zh-CN"/>
              <a:t>, </a:t>
            </a:r>
            <a:r>
              <a:rPr lang="zh-CN" altLang="zh-CN"/>
              <a:t>成绩</a:t>
            </a:r>
            <a:endParaRPr lang="zh-CN" altLang="zh-CN"/>
          </a:p>
          <a:p>
            <a:pPr eaLnBrk="1" hangingPunct="1"/>
            <a:r>
              <a:rPr lang="en-US" altLang="zh-CN"/>
              <a:t>     FROM xsb, kcb, cjb</a:t>
            </a:r>
            <a:endParaRPr lang="zh-CN" altLang="zh-CN"/>
          </a:p>
          <a:p>
            <a:pPr eaLnBrk="1" hangingPunct="1"/>
            <a:r>
              <a:rPr lang="en-US" altLang="zh-CN"/>
              <a:t>     WHERE xsb.</a:t>
            </a:r>
            <a:r>
              <a:rPr lang="zh-CN" altLang="zh-CN"/>
              <a:t>学号</a:t>
            </a:r>
            <a:r>
              <a:rPr lang="en-US" altLang="zh-CN"/>
              <a:t> = cjb.</a:t>
            </a:r>
            <a:r>
              <a:rPr lang="zh-CN" altLang="zh-CN"/>
              <a:t>学号</a:t>
            </a:r>
            <a:r>
              <a:rPr lang="en-US" altLang="zh-CN"/>
              <a:t> </a:t>
            </a:r>
            <a:endParaRPr lang="zh-CN" altLang="zh-CN"/>
          </a:p>
          <a:p>
            <a:pPr eaLnBrk="1" hangingPunct="1"/>
            <a:r>
              <a:rPr lang="en-US" altLang="zh-CN"/>
              <a:t>          AND  cjb.</a:t>
            </a:r>
            <a:r>
              <a:rPr lang="zh-CN" altLang="zh-CN"/>
              <a:t>课程号</a:t>
            </a:r>
            <a:r>
              <a:rPr lang="en-US" altLang="zh-CN"/>
              <a:t> = kcb.</a:t>
            </a:r>
            <a:r>
              <a:rPr lang="zh-CN" altLang="zh-CN"/>
              <a:t>课程号</a:t>
            </a:r>
            <a:r>
              <a:rPr lang="en-US" altLang="zh-CN"/>
              <a:t> </a:t>
            </a:r>
            <a:endParaRPr lang="zh-CN" altLang="zh-CN"/>
          </a:p>
          <a:p>
            <a:pPr eaLnBrk="1" hangingPunct="1"/>
            <a:r>
              <a:rPr lang="en-US" altLang="zh-CN"/>
              <a:t>          AND  </a:t>
            </a:r>
            <a:r>
              <a:rPr lang="zh-CN" altLang="zh-CN"/>
              <a:t>课程名</a:t>
            </a:r>
            <a:r>
              <a:rPr lang="en-US" altLang="zh-CN"/>
              <a:t>= '</a:t>
            </a:r>
            <a:r>
              <a:rPr lang="zh-CN" altLang="zh-CN"/>
              <a:t>计算机基础</a:t>
            </a:r>
            <a:r>
              <a:rPr lang="en-US" altLang="zh-CN"/>
              <a:t>'</a:t>
            </a:r>
            <a:endParaRPr lang="zh-CN" altLang="zh-CN"/>
          </a:p>
          <a:p>
            <a:pPr eaLnBrk="1" hangingPunct="1"/>
            <a:r>
              <a:rPr lang="en-US" altLang="zh-CN"/>
              <a:t>          AND</a:t>
            </a:r>
            <a:r>
              <a:rPr lang="zh-CN" altLang="zh-CN"/>
              <a:t>专业</a:t>
            </a:r>
            <a:r>
              <a:rPr lang="en-US" altLang="zh-CN"/>
              <a:t>= '</a:t>
            </a:r>
            <a:r>
              <a:rPr lang="zh-CN" altLang="zh-CN"/>
              <a:t>计算机</a:t>
            </a:r>
            <a:r>
              <a:rPr lang="en-US" altLang="zh-CN"/>
              <a:t>'</a:t>
            </a:r>
            <a:endParaRPr lang="zh-CN" altLang="zh-CN"/>
          </a:p>
          <a:p>
            <a:pPr eaLnBrk="1" hangingPunct="1"/>
            <a:r>
              <a:rPr lang="en-US" altLang="zh-CN"/>
              <a:t>     ORDER BY</a:t>
            </a:r>
            <a:r>
              <a:rPr lang="zh-CN" altLang="zh-CN"/>
              <a:t>成绩</a:t>
            </a:r>
            <a:r>
              <a:rPr lang="en-US" altLang="zh-CN"/>
              <a:t>DESC</a:t>
            </a:r>
            <a:endParaRPr lang="zh-CN" altLang="zh-CN"/>
          </a:p>
          <a:p>
            <a:pPr eaLnBrk="1" hangingPunct="1"/>
            <a:endParaRPr lang="zh-CN" altLang="en-US"/>
          </a:p>
        </p:txBody>
      </p:sp>
    </p:spTree>
  </p:cSld>
  <p:clrMapOvr>
    <a:masterClrMapping/>
  </p:clrMapOvr>
  <p:transition spd="med">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27100" y="4244975"/>
            <a:ext cx="7777163" cy="12239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349500"/>
            <a:ext cx="7775575"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4.1.7  </a:t>
            </a:r>
            <a:r>
              <a:rPr lang="zh-CN" altLang="zh-CN" dirty="0">
                <a:effectLst/>
              </a:rPr>
              <a:t>指定查询结果排序顺序：</a:t>
            </a:r>
            <a:r>
              <a:rPr lang="en-US" altLang="zh-CN" dirty="0">
                <a:effectLst/>
              </a:rPr>
              <a:t>ORDER BY</a:t>
            </a:r>
            <a:endParaRPr lang="zh-CN" altLang="en-US" dirty="0"/>
          </a:p>
        </p:txBody>
      </p:sp>
      <p:sp>
        <p:nvSpPr>
          <p:cNvPr id="61445" name="TextBox 2"/>
          <p:cNvSpPr txBox="1">
            <a:spLocks noChangeArrowheads="1"/>
          </p:cNvSpPr>
          <p:nvPr/>
        </p:nvSpPr>
        <p:spPr bwMode="auto">
          <a:xfrm>
            <a:off x="468313" y="1484313"/>
            <a:ext cx="82073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．对结果排序附加汇总</a:t>
            </a:r>
            <a:endParaRPr lang="zh-CN" altLang="zh-CN" b="1">
              <a:solidFill>
                <a:srgbClr val="C00000"/>
              </a:solidFill>
            </a:endParaRPr>
          </a:p>
          <a:p>
            <a:pPr eaLnBrk="1" fontAlgn="ctr" hangingPunct="1"/>
            <a:r>
              <a:rPr lang="zh-CN" altLang="zh-CN"/>
              <a:t>【例</a:t>
            </a:r>
            <a:r>
              <a:rPr lang="en-US" altLang="zh-CN"/>
              <a:t>4.49</a:t>
            </a:r>
            <a:r>
              <a:rPr lang="zh-CN" altLang="zh-CN"/>
              <a:t>】 查找通信工程专业学生的学号、姓名、出生时间，并产生一个学生总人数行。</a:t>
            </a:r>
            <a:endParaRPr lang="zh-CN" altLang="zh-CN"/>
          </a:p>
          <a:p>
            <a:pPr eaLnBrk="1" hangingPunct="1"/>
            <a:r>
              <a:rPr lang="en-US" altLang="zh-CN"/>
              <a:t>SELECT</a:t>
            </a:r>
            <a:r>
              <a:rPr lang="zh-CN" altLang="zh-CN"/>
              <a:t>学号</a:t>
            </a:r>
            <a:r>
              <a:rPr lang="en-US" altLang="zh-CN"/>
              <a:t>, </a:t>
            </a:r>
            <a:r>
              <a:rPr lang="zh-CN" altLang="zh-CN"/>
              <a:t>姓名</a:t>
            </a:r>
            <a:r>
              <a:rPr lang="en-US" altLang="zh-CN"/>
              <a:t>, </a:t>
            </a:r>
            <a:r>
              <a:rPr lang="zh-CN" altLang="zh-CN"/>
              <a:t>出生时间</a:t>
            </a:r>
            <a:endParaRPr lang="zh-CN" altLang="zh-CN"/>
          </a:p>
          <a:p>
            <a:pPr eaLnBrk="1" hangingPunct="1"/>
            <a:r>
              <a:rPr lang="en-US" altLang="zh-CN"/>
              <a:t>     FROM   xsb</a:t>
            </a:r>
            <a:endParaRPr lang="zh-CN" altLang="zh-CN"/>
          </a:p>
          <a:p>
            <a:pPr eaLnBrk="1" hangingPunct="1"/>
            <a:r>
              <a:rPr lang="en-US" altLang="zh-CN"/>
              <a:t>     WHERE  </a:t>
            </a:r>
            <a:r>
              <a:rPr lang="zh-CN" altLang="zh-CN"/>
              <a:t>专业</a:t>
            </a:r>
            <a:r>
              <a:rPr lang="en-US" altLang="zh-CN"/>
              <a:t>= '</a:t>
            </a:r>
            <a:r>
              <a:rPr lang="zh-CN" altLang="zh-CN"/>
              <a:t>通信工程</a:t>
            </a:r>
            <a:r>
              <a:rPr lang="en-US" altLang="zh-CN"/>
              <a:t>'</a:t>
            </a:r>
            <a:endParaRPr lang="zh-CN" altLang="zh-CN"/>
          </a:p>
          <a:p>
            <a:pPr eaLnBrk="1" hangingPunct="1"/>
            <a:r>
              <a:rPr lang="en-US" altLang="zh-CN"/>
              <a:t>     COMPUTE  COUNT(</a:t>
            </a:r>
            <a:r>
              <a:rPr lang="zh-CN" altLang="zh-CN"/>
              <a:t>学号</a:t>
            </a:r>
            <a:r>
              <a:rPr lang="en-US" altLang="zh-CN"/>
              <a:t>)</a:t>
            </a:r>
            <a:endParaRPr lang="zh-CN" altLang="zh-CN"/>
          </a:p>
          <a:p>
            <a:pPr eaLnBrk="1" fontAlgn="ctr" hangingPunct="1"/>
            <a:r>
              <a:rPr lang="en-US" altLang="zh-CN"/>
              <a:t>COMPUTE</a:t>
            </a:r>
            <a:r>
              <a:rPr lang="zh-CN" altLang="zh-CN"/>
              <a:t>子句产生附加的汇总行，其列标题是系统自定的，对于</a:t>
            </a:r>
            <a:r>
              <a:rPr lang="en-US" altLang="zh-CN"/>
              <a:t>COUNT</a:t>
            </a:r>
            <a:r>
              <a:rPr lang="zh-CN" altLang="zh-CN"/>
              <a:t>函数为</a:t>
            </a:r>
            <a:r>
              <a:rPr lang="en-US" altLang="zh-CN"/>
              <a:t>cnt</a:t>
            </a:r>
            <a:r>
              <a:rPr lang="zh-CN" altLang="zh-CN"/>
              <a:t>，对于</a:t>
            </a:r>
            <a:r>
              <a:rPr lang="en-US" altLang="zh-CN"/>
              <a:t>AVG</a:t>
            </a:r>
            <a:r>
              <a:rPr lang="zh-CN" altLang="zh-CN"/>
              <a:t>函数为</a:t>
            </a:r>
            <a:r>
              <a:rPr lang="en-US" altLang="zh-CN"/>
              <a:t>avg</a:t>
            </a:r>
            <a:r>
              <a:rPr lang="zh-CN" altLang="zh-CN"/>
              <a:t>，对于</a:t>
            </a:r>
            <a:r>
              <a:rPr lang="en-US" altLang="zh-CN"/>
              <a:t>SUM</a:t>
            </a:r>
            <a:r>
              <a:rPr lang="zh-CN" altLang="zh-CN"/>
              <a:t>函数为</a:t>
            </a:r>
            <a:r>
              <a:rPr lang="en-US" altLang="zh-CN"/>
              <a:t>sum</a:t>
            </a:r>
            <a:r>
              <a:rPr lang="zh-CN" altLang="zh-CN"/>
              <a:t>，等等。</a:t>
            </a:r>
            <a:endParaRPr lang="zh-CN" altLang="zh-CN"/>
          </a:p>
          <a:p>
            <a:pPr eaLnBrk="1" fontAlgn="ctr" hangingPunct="1"/>
            <a:r>
              <a:rPr lang="zh-CN" altLang="zh-CN"/>
              <a:t>【例</a:t>
            </a:r>
            <a:r>
              <a:rPr lang="en-US" altLang="zh-CN"/>
              <a:t>4.50</a:t>
            </a:r>
            <a:r>
              <a:rPr lang="zh-CN" altLang="zh-CN"/>
              <a:t>】 将学生按专业排序，并汇总各专业人数和平均学分。</a:t>
            </a:r>
            <a:endParaRPr lang="zh-CN" altLang="zh-CN"/>
          </a:p>
          <a:p>
            <a:pPr eaLnBrk="1" hangingPunct="1"/>
            <a:r>
              <a:rPr lang="en-US" altLang="zh-CN"/>
              <a:t>SELECT</a:t>
            </a:r>
            <a:r>
              <a:rPr lang="zh-CN" altLang="zh-CN"/>
              <a:t>学号</a:t>
            </a:r>
            <a:r>
              <a:rPr lang="en-US" altLang="zh-CN"/>
              <a:t>, </a:t>
            </a:r>
            <a:r>
              <a:rPr lang="zh-CN" altLang="zh-CN"/>
              <a:t>姓名</a:t>
            </a:r>
            <a:r>
              <a:rPr lang="en-US" altLang="zh-CN"/>
              <a:t>, </a:t>
            </a:r>
            <a:r>
              <a:rPr lang="zh-CN" altLang="zh-CN"/>
              <a:t>出生时间</a:t>
            </a:r>
            <a:r>
              <a:rPr lang="en-US" altLang="zh-CN"/>
              <a:t>, </a:t>
            </a:r>
            <a:r>
              <a:rPr lang="zh-CN" altLang="zh-CN"/>
              <a:t>总学分</a:t>
            </a:r>
            <a:endParaRPr lang="zh-CN" altLang="zh-CN"/>
          </a:p>
          <a:p>
            <a:pPr eaLnBrk="1" hangingPunct="1"/>
            <a:r>
              <a:rPr lang="en-US" altLang="zh-CN"/>
              <a:t>     FROM  xsb</a:t>
            </a:r>
            <a:endParaRPr lang="zh-CN" altLang="zh-CN"/>
          </a:p>
          <a:p>
            <a:pPr eaLnBrk="1" hangingPunct="1"/>
            <a:r>
              <a:rPr lang="en-US" altLang="zh-CN"/>
              <a:t>     ORDER BY</a:t>
            </a:r>
            <a:r>
              <a:rPr lang="zh-CN" altLang="zh-CN"/>
              <a:t>专业</a:t>
            </a:r>
            <a:endParaRPr lang="zh-CN" altLang="zh-CN"/>
          </a:p>
          <a:p>
            <a:pPr eaLnBrk="1" hangingPunct="1"/>
            <a:r>
              <a:rPr lang="en-US" altLang="zh-CN"/>
              <a:t>     COMPUTE  COUNT(</a:t>
            </a:r>
            <a:r>
              <a:rPr lang="zh-CN" altLang="zh-CN"/>
              <a:t>学号</a:t>
            </a:r>
            <a:r>
              <a:rPr lang="en-US" altLang="zh-CN"/>
              <a:t>),  AVG(</a:t>
            </a:r>
            <a:r>
              <a:rPr lang="zh-CN" altLang="zh-CN"/>
              <a:t>总学分</a:t>
            </a:r>
            <a:r>
              <a:rPr lang="en-US" altLang="zh-CN"/>
              <a:t>)  BY</a:t>
            </a:r>
            <a:r>
              <a:rPr lang="zh-CN" altLang="zh-CN"/>
              <a:t>专业</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005263"/>
            <a:ext cx="7921625" cy="11525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852738"/>
            <a:ext cx="792162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4.1.8  </a:t>
            </a:r>
            <a:r>
              <a:rPr lang="zh-CN" altLang="zh-CN" dirty="0">
                <a:effectLst/>
              </a:rPr>
              <a:t>其他：</a:t>
            </a:r>
            <a:r>
              <a:rPr lang="en-US" altLang="zh-CN" dirty="0">
                <a:effectLst/>
              </a:rPr>
              <a:t>INTO/UNION/EXCEPT/ CTE</a:t>
            </a:r>
            <a:endParaRPr lang="zh-CN" altLang="zh-CN" dirty="0">
              <a:effectLst/>
            </a:endParaRPr>
          </a:p>
        </p:txBody>
      </p:sp>
      <p:sp>
        <p:nvSpPr>
          <p:cNvPr id="3" name="TextBox 2"/>
          <p:cNvSpPr txBox="1"/>
          <p:nvPr/>
        </p:nvSpPr>
        <p:spPr>
          <a:xfrm>
            <a:off x="468313" y="1484313"/>
            <a:ext cx="8280400" cy="3970337"/>
          </a:xfrm>
          <a:prstGeom prst="rect">
            <a:avLst/>
          </a:prstGeom>
          <a:noFill/>
        </p:spPr>
        <p:txBody>
          <a:bodyPr>
            <a:spAutoFit/>
          </a:bodyPr>
          <a:lstStyle/>
          <a:p>
            <a:pPr indent="450850" fontAlgn="auto">
              <a:lnSpc>
                <a:spcPct val="150000"/>
              </a:lnSpc>
              <a:spcBef>
                <a:spcPts val="0"/>
              </a:spcBef>
              <a:spcAft>
                <a:spcPts val="0"/>
              </a:spcAft>
              <a:defRPr/>
            </a:pPr>
            <a:r>
              <a:rPr lang="en-US" altLang="zh-CN" b="1" dirty="0">
                <a:solidFill>
                  <a:srgbClr val="C00000"/>
                </a:solidFill>
                <a:latin typeface="+mn-lt"/>
                <a:ea typeface="+mn-ea"/>
              </a:rPr>
              <a:t>1</a:t>
            </a:r>
            <a:r>
              <a:rPr lang="zh-CN" altLang="zh-CN" b="1" dirty="0">
                <a:solidFill>
                  <a:srgbClr val="C00000"/>
                </a:solidFill>
                <a:latin typeface="+mn-lt"/>
                <a:ea typeface="+mn-ea"/>
              </a:rPr>
              <a:t>．</a:t>
            </a:r>
            <a:r>
              <a:rPr lang="en-US" altLang="zh-CN" b="1" dirty="0">
                <a:solidFill>
                  <a:srgbClr val="C00000"/>
                </a:solidFill>
                <a:latin typeface="+mn-lt"/>
                <a:ea typeface="+mn-ea"/>
              </a:rPr>
              <a:t>INTO</a:t>
            </a:r>
            <a:endParaRPr lang="zh-CN" altLang="zh-CN" b="1" dirty="0">
              <a:solidFill>
                <a:srgbClr val="C00000"/>
              </a:solidFill>
              <a:latin typeface="+mn-lt"/>
              <a:ea typeface="+mn-ea"/>
            </a:endParaRPr>
          </a:p>
          <a:p>
            <a:pPr indent="450850" fontAlgn="ctr">
              <a:lnSpc>
                <a:spcPct val="150000"/>
              </a:lnSpc>
              <a:spcBef>
                <a:spcPts val="0"/>
              </a:spcBef>
              <a:spcAft>
                <a:spcPts val="0"/>
              </a:spcAft>
              <a:defRPr/>
            </a:pPr>
            <a:r>
              <a:rPr lang="zh-CN" altLang="zh-CN" dirty="0">
                <a:latin typeface="+mn-lt"/>
                <a:ea typeface="+mn-ea"/>
              </a:rPr>
              <a:t>使用</a:t>
            </a:r>
            <a:r>
              <a:rPr lang="en-US" altLang="zh-CN" dirty="0">
                <a:latin typeface="+mn-lt"/>
                <a:ea typeface="+mn-ea"/>
              </a:rPr>
              <a:t>INTO</a:t>
            </a:r>
            <a:r>
              <a:rPr lang="zh-CN" altLang="zh-CN" dirty="0">
                <a:latin typeface="+mn-lt"/>
                <a:ea typeface="+mn-ea"/>
              </a:rPr>
              <a:t>子句可以将</a:t>
            </a:r>
            <a:r>
              <a:rPr lang="en-US" altLang="zh-CN" dirty="0">
                <a:latin typeface="+mn-lt"/>
                <a:ea typeface="+mn-ea"/>
              </a:rPr>
              <a:t>SELECT</a:t>
            </a:r>
            <a:r>
              <a:rPr lang="zh-CN" altLang="zh-CN" dirty="0">
                <a:latin typeface="+mn-lt"/>
                <a:ea typeface="+mn-ea"/>
              </a:rPr>
              <a:t>查询所得的结果保存到一个新建的表中。</a:t>
            </a:r>
            <a:r>
              <a:rPr lang="en-US" altLang="zh-CN" dirty="0">
                <a:latin typeface="+mn-lt"/>
                <a:ea typeface="+mn-ea"/>
              </a:rPr>
              <a:t>INTO</a:t>
            </a:r>
            <a:r>
              <a:rPr lang="zh-CN" altLang="zh-CN" dirty="0">
                <a:latin typeface="+mn-lt"/>
                <a:ea typeface="+mn-ea"/>
              </a:rPr>
              <a:t>子句的格式为：</a:t>
            </a:r>
            <a:endParaRPr lang="zh-CN" altLang="zh-CN" dirty="0">
              <a:latin typeface="+mn-lt"/>
              <a:ea typeface="+mn-ea"/>
            </a:endParaRPr>
          </a:p>
          <a:p>
            <a:pPr indent="450850" fontAlgn="auto">
              <a:lnSpc>
                <a:spcPct val="150000"/>
              </a:lnSpc>
              <a:spcBef>
                <a:spcPts val="0"/>
              </a:spcBef>
              <a:spcAft>
                <a:spcPts val="0"/>
              </a:spcAft>
              <a:defRPr/>
            </a:pPr>
            <a:r>
              <a:rPr lang="en-US" altLang="zh-CN" dirty="0">
                <a:latin typeface="+mn-lt"/>
                <a:ea typeface="+mn-ea"/>
              </a:rPr>
              <a:t>[ INTO</a:t>
            </a:r>
            <a:r>
              <a:rPr lang="zh-CN" altLang="zh-CN" dirty="0">
                <a:latin typeface="+mn-lt"/>
                <a:ea typeface="+mn-ea"/>
              </a:rPr>
              <a:t>新表</a:t>
            </a:r>
            <a:r>
              <a:rPr lang="en-US" altLang="zh-CN" dirty="0">
                <a:latin typeface="+mn-lt"/>
                <a:ea typeface="+mn-ea"/>
              </a:rPr>
              <a:t>]</a:t>
            </a:r>
            <a:endParaRPr lang="zh-CN" altLang="zh-CN" dirty="0">
              <a:latin typeface="+mn-lt"/>
              <a:ea typeface="+mn-ea"/>
            </a:endParaRPr>
          </a:p>
          <a:p>
            <a:pPr indent="450850" fontAlgn="ctr">
              <a:lnSpc>
                <a:spcPct val="150000"/>
              </a:lnSpc>
              <a:spcBef>
                <a:spcPts val="0"/>
              </a:spcBef>
              <a:spcAft>
                <a:spcPts val="0"/>
              </a:spcAft>
              <a:defRPr/>
            </a:pPr>
            <a:r>
              <a:rPr lang="zh-CN" altLang="zh-CN" dirty="0">
                <a:latin typeface="+mn-lt"/>
                <a:ea typeface="+mn-ea"/>
              </a:rPr>
              <a:t>其中，“新表”是要创建的新表名。</a:t>
            </a:r>
            <a:endParaRPr lang="zh-CN" altLang="zh-CN" dirty="0">
              <a:latin typeface="+mn-lt"/>
              <a:ea typeface="+mn-ea"/>
            </a:endParaRPr>
          </a:p>
          <a:p>
            <a:pPr indent="450850" fontAlgn="ctr">
              <a:lnSpc>
                <a:spcPct val="150000"/>
              </a:lnSpc>
              <a:spcBef>
                <a:spcPts val="0"/>
              </a:spcBef>
              <a:spcAft>
                <a:spcPts val="0"/>
              </a:spcAft>
              <a:defRPr/>
            </a:pPr>
            <a:r>
              <a:rPr lang="zh-CN" altLang="zh-CN" dirty="0">
                <a:latin typeface="+mn-lt"/>
                <a:ea typeface="+mn-ea"/>
              </a:rPr>
              <a:t>【例</a:t>
            </a:r>
            <a:r>
              <a:rPr lang="en-US" altLang="zh-CN" dirty="0">
                <a:latin typeface="+mn-lt"/>
                <a:ea typeface="+mn-ea"/>
              </a:rPr>
              <a:t>4.51</a:t>
            </a:r>
            <a:r>
              <a:rPr lang="zh-CN" altLang="zh-CN" dirty="0">
                <a:latin typeface="+mn-lt"/>
                <a:ea typeface="+mn-ea"/>
              </a:rPr>
              <a:t>】 由</a:t>
            </a:r>
            <a:r>
              <a:rPr lang="en-US" altLang="zh-CN" dirty="0" err="1">
                <a:latin typeface="+mn-lt"/>
                <a:ea typeface="+mn-ea"/>
              </a:rPr>
              <a:t>xsb</a:t>
            </a:r>
            <a:r>
              <a:rPr lang="zh-CN" altLang="zh-CN" dirty="0">
                <a:latin typeface="+mn-lt"/>
                <a:ea typeface="+mn-ea"/>
              </a:rPr>
              <a:t>表创建“计算机学生”表，包括学号和姓名。</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SELECT</a:t>
            </a:r>
            <a:r>
              <a:rPr lang="zh-CN" altLang="zh-CN" dirty="0">
                <a:latin typeface="+mn-lt"/>
                <a:ea typeface="+mn-ea"/>
              </a:rPr>
              <a:t>学号</a:t>
            </a:r>
            <a:r>
              <a:rPr lang="en-US" altLang="zh-CN" dirty="0">
                <a:latin typeface="+mn-lt"/>
                <a:ea typeface="+mn-ea"/>
              </a:rPr>
              <a:t>, </a:t>
            </a:r>
            <a:r>
              <a:rPr lang="zh-CN" altLang="zh-CN" dirty="0">
                <a:latin typeface="+mn-lt"/>
                <a:ea typeface="+mn-ea"/>
              </a:rPr>
              <a:t>姓名</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INTO</a:t>
            </a:r>
            <a:r>
              <a:rPr lang="zh-CN" altLang="zh-CN" dirty="0">
                <a:latin typeface="+mn-lt"/>
                <a:ea typeface="+mn-ea"/>
              </a:rPr>
              <a:t>计算机系学生</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WHERE</a:t>
            </a:r>
            <a:r>
              <a:rPr lang="zh-CN" altLang="zh-CN" dirty="0">
                <a:latin typeface="+mn-lt"/>
                <a:ea typeface="+mn-ea"/>
              </a:rPr>
              <a:t>专业</a:t>
            </a:r>
            <a:r>
              <a:rPr lang="en-US" altLang="zh-CN" dirty="0">
                <a:latin typeface="+mn-lt"/>
                <a:ea typeface="+mn-ea"/>
              </a:rPr>
              <a:t>= '</a:t>
            </a:r>
            <a:r>
              <a:rPr lang="zh-CN" altLang="zh-CN" dirty="0">
                <a:latin typeface="+mn-lt"/>
                <a:ea typeface="+mn-ea"/>
              </a:rPr>
              <a:t>计算机</a:t>
            </a:r>
            <a:r>
              <a:rPr lang="en-US" altLang="zh-CN" dirty="0">
                <a:latin typeface="+mn-lt"/>
                <a:ea typeface="+mn-ea"/>
              </a:rPr>
              <a:t>'</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med">
    <p:fade/>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924175"/>
            <a:ext cx="7921625" cy="9366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4.1.8  </a:t>
            </a:r>
            <a:r>
              <a:rPr lang="zh-CN" altLang="zh-CN" dirty="0">
                <a:effectLst/>
              </a:rPr>
              <a:t>其他：</a:t>
            </a:r>
            <a:r>
              <a:rPr lang="en-US" altLang="zh-CN" dirty="0">
                <a:effectLst/>
              </a:rPr>
              <a:t>INTO/UNION/EXCEPT/ CTE</a:t>
            </a:r>
            <a:endParaRPr lang="zh-CN" altLang="en-US" dirty="0"/>
          </a:p>
        </p:txBody>
      </p:sp>
      <p:sp>
        <p:nvSpPr>
          <p:cNvPr id="63492" name="TextBox 2"/>
          <p:cNvSpPr txBox="1">
            <a:spLocks noChangeArrowheads="1"/>
          </p:cNvSpPr>
          <p:nvPr/>
        </p:nvSpPr>
        <p:spPr bwMode="auto">
          <a:xfrm>
            <a:off x="395288" y="1628775"/>
            <a:ext cx="8353425"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2</a:t>
            </a:r>
            <a:r>
              <a:rPr lang="zh-CN" altLang="zh-CN" b="1">
                <a:solidFill>
                  <a:srgbClr val="C00000"/>
                </a:solidFill>
              </a:rPr>
              <a:t>．</a:t>
            </a:r>
            <a:r>
              <a:rPr lang="en-US" altLang="zh-CN" b="1">
                <a:solidFill>
                  <a:srgbClr val="C00000"/>
                </a:solidFill>
              </a:rPr>
              <a:t>UNION</a:t>
            </a:r>
            <a:endParaRPr lang="zh-CN" altLang="zh-CN" b="1">
              <a:solidFill>
                <a:srgbClr val="C00000"/>
              </a:solidFill>
            </a:endParaRPr>
          </a:p>
          <a:p>
            <a:pPr eaLnBrk="1" fontAlgn="ctr" hangingPunct="1">
              <a:lnSpc>
                <a:spcPct val="150000"/>
              </a:lnSpc>
            </a:pPr>
            <a:r>
              <a:rPr lang="zh-CN" altLang="zh-CN"/>
              <a:t>使用</a:t>
            </a:r>
            <a:r>
              <a:rPr lang="en-US" altLang="zh-CN"/>
              <a:t>UNION</a:t>
            </a:r>
            <a:r>
              <a:rPr lang="zh-CN" altLang="zh-CN"/>
              <a:t>子句可以将两个或多个</a:t>
            </a:r>
            <a:r>
              <a:rPr lang="en-US" altLang="zh-CN"/>
              <a:t>SELECT</a:t>
            </a:r>
            <a:r>
              <a:rPr lang="zh-CN" altLang="zh-CN"/>
              <a:t>查询的结果合并成一个结果集，其格式为：</a:t>
            </a:r>
            <a:endParaRPr lang="zh-CN" altLang="zh-CN"/>
          </a:p>
          <a:p>
            <a:pPr eaLnBrk="1" hangingPunct="1"/>
            <a:r>
              <a:rPr lang="en-US" altLang="zh-CN"/>
              <a:t>{ &lt;</a:t>
            </a:r>
            <a:r>
              <a:rPr lang="zh-CN" altLang="zh-CN"/>
              <a:t>查询规范</a:t>
            </a:r>
            <a:r>
              <a:rPr lang="en-US" altLang="zh-CN"/>
              <a:t>&gt; | (&lt;</a:t>
            </a:r>
            <a:r>
              <a:rPr lang="zh-CN" altLang="zh-CN"/>
              <a:t>查询表达式</a:t>
            </a:r>
            <a:r>
              <a:rPr lang="en-US" altLang="zh-CN"/>
              <a:t>&gt; ) }</a:t>
            </a:r>
            <a:endParaRPr lang="zh-CN" altLang="zh-CN"/>
          </a:p>
          <a:p>
            <a:pPr eaLnBrk="1" hangingPunct="1"/>
            <a:r>
              <a:rPr lang="en-US" altLang="zh-CN"/>
              <a:t>     UNION [ A LL ] &lt;</a:t>
            </a:r>
            <a:r>
              <a:rPr lang="zh-CN" altLang="zh-CN"/>
              <a:t>查询规范</a:t>
            </a:r>
            <a:r>
              <a:rPr lang="en-US" altLang="zh-CN"/>
              <a:t>&gt; | (&lt;</a:t>
            </a:r>
            <a:r>
              <a:rPr lang="zh-CN" altLang="zh-CN"/>
              <a:t>查询表达式</a:t>
            </a:r>
            <a:r>
              <a:rPr lang="en-US" altLang="zh-CN"/>
              <a:t>&gt; )</a:t>
            </a:r>
            <a:endParaRPr lang="zh-CN" altLang="zh-CN"/>
          </a:p>
          <a:p>
            <a:pPr eaLnBrk="1" hangingPunct="1"/>
            <a:r>
              <a:rPr lang="en-US" altLang="zh-CN"/>
              <a:t>      [ UNION [ A LL ] &lt;</a:t>
            </a:r>
            <a:r>
              <a:rPr lang="zh-CN" altLang="zh-CN"/>
              <a:t>查询规范</a:t>
            </a:r>
            <a:r>
              <a:rPr lang="en-US" altLang="zh-CN"/>
              <a:t>&gt; | (&lt;</a:t>
            </a:r>
            <a:r>
              <a:rPr lang="zh-CN" altLang="zh-CN"/>
              <a:t>查询表达式</a:t>
            </a:r>
            <a:r>
              <a:rPr lang="en-US" altLang="zh-CN"/>
              <a:t>&gt; ) […] ]</a:t>
            </a:r>
            <a:endParaRPr lang="zh-CN" altLang="zh-CN"/>
          </a:p>
          <a:p>
            <a:pPr eaLnBrk="1" fontAlgn="ctr" hangingPunct="1">
              <a:lnSpc>
                <a:spcPct val="150000"/>
              </a:lnSpc>
            </a:pPr>
            <a:r>
              <a:rPr lang="zh-CN" altLang="zh-CN"/>
              <a:t>其中，</a:t>
            </a:r>
            <a:r>
              <a:rPr lang="en-US" altLang="zh-CN"/>
              <a:t>&lt;</a:t>
            </a:r>
            <a:r>
              <a:rPr lang="zh-CN" altLang="zh-CN"/>
              <a:t>查询规范</a:t>
            </a:r>
            <a:r>
              <a:rPr lang="en-US" altLang="zh-CN"/>
              <a:t>&gt;</a:t>
            </a:r>
            <a:r>
              <a:rPr lang="zh-CN" altLang="zh-CN"/>
              <a:t>和</a:t>
            </a:r>
            <a:r>
              <a:rPr lang="en-US" altLang="zh-CN"/>
              <a:t>&lt;</a:t>
            </a:r>
            <a:r>
              <a:rPr lang="zh-CN" altLang="zh-CN"/>
              <a:t>查询表达式</a:t>
            </a:r>
            <a:r>
              <a:rPr lang="en-US" altLang="zh-CN"/>
              <a:t>&gt;</a:t>
            </a:r>
            <a:r>
              <a:rPr lang="zh-CN" altLang="zh-CN"/>
              <a:t>都是</a:t>
            </a:r>
            <a:r>
              <a:rPr lang="en-US" altLang="zh-CN"/>
              <a:t>SELECT</a:t>
            </a:r>
            <a:r>
              <a:rPr lang="zh-CN" altLang="zh-CN"/>
              <a:t>查询语句。</a:t>
            </a:r>
            <a:endParaRPr lang="zh-CN" altLang="zh-CN"/>
          </a:p>
          <a:p>
            <a:pPr eaLnBrk="1" fontAlgn="ctr" hangingPunct="1">
              <a:lnSpc>
                <a:spcPct val="150000"/>
              </a:lnSpc>
            </a:pPr>
            <a:r>
              <a:rPr lang="zh-CN" altLang="zh-CN"/>
              <a:t>使用</a:t>
            </a:r>
            <a:r>
              <a:rPr lang="en-US" altLang="zh-CN"/>
              <a:t>UNION</a:t>
            </a:r>
            <a:r>
              <a:rPr lang="zh-CN" altLang="zh-CN"/>
              <a:t>组合两个查询的结果集的基本规则是：</a:t>
            </a:r>
            <a:endParaRPr lang="zh-CN" altLang="zh-CN"/>
          </a:p>
          <a:p>
            <a:pPr eaLnBrk="1" fontAlgn="ctr" hangingPunct="1">
              <a:lnSpc>
                <a:spcPct val="150000"/>
              </a:lnSpc>
            </a:pPr>
            <a:r>
              <a:rPr lang="zh-CN" altLang="zh-CN"/>
              <a:t>（</a:t>
            </a:r>
            <a:r>
              <a:rPr lang="en-US" altLang="zh-CN"/>
              <a:t>1</a:t>
            </a:r>
            <a:r>
              <a:rPr lang="zh-CN" altLang="zh-CN"/>
              <a:t>）所有查询中的列数和列的顺序必须相同；</a:t>
            </a:r>
            <a:endParaRPr lang="zh-CN" altLang="zh-CN"/>
          </a:p>
          <a:p>
            <a:pPr eaLnBrk="1" fontAlgn="ctr" hangingPunct="1">
              <a:lnSpc>
                <a:spcPct val="150000"/>
              </a:lnSpc>
            </a:pPr>
            <a:r>
              <a:rPr lang="zh-CN" altLang="zh-CN"/>
              <a:t>（</a:t>
            </a:r>
            <a:r>
              <a:rPr lang="en-US" altLang="zh-CN"/>
              <a:t>2</a:t>
            </a:r>
            <a:r>
              <a:rPr lang="zh-CN" altLang="zh-CN"/>
              <a:t>）数据类型必须兼容。</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2060575"/>
            <a:ext cx="7921625" cy="19446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4.1.8  </a:t>
            </a:r>
            <a:r>
              <a:rPr lang="zh-CN" altLang="zh-CN" dirty="0">
                <a:effectLst/>
              </a:rPr>
              <a:t>其他：</a:t>
            </a:r>
            <a:r>
              <a:rPr lang="en-US" altLang="zh-CN" dirty="0">
                <a:effectLst/>
              </a:rPr>
              <a:t>INTO/UNION/EXCEPT/ CTE</a:t>
            </a:r>
            <a:endParaRPr lang="zh-CN" altLang="en-US" dirty="0"/>
          </a:p>
        </p:txBody>
      </p:sp>
      <p:sp>
        <p:nvSpPr>
          <p:cNvPr id="64516" name="TextBox 2"/>
          <p:cNvSpPr txBox="1">
            <a:spLocks noChangeArrowheads="1"/>
          </p:cNvSpPr>
          <p:nvPr/>
        </p:nvSpPr>
        <p:spPr bwMode="auto">
          <a:xfrm>
            <a:off x="395288" y="1484313"/>
            <a:ext cx="8353425"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4.52</a:t>
            </a:r>
            <a:r>
              <a:rPr lang="zh-CN" altLang="zh-CN"/>
              <a:t>】 在“计算机学生”表和“通信工程学生”表查找学号为</a:t>
            </a:r>
            <a:r>
              <a:rPr lang="en-US" altLang="zh-CN"/>
              <a:t>191301</a:t>
            </a:r>
            <a:r>
              <a:rPr lang="zh-CN" altLang="zh-CN"/>
              <a:t>和学号为</a:t>
            </a:r>
            <a:r>
              <a:rPr lang="en-US" altLang="zh-CN"/>
              <a:t>221301</a:t>
            </a:r>
            <a:r>
              <a:rPr lang="zh-CN" altLang="zh-CN"/>
              <a:t>的两位同学的姓名。</a:t>
            </a:r>
            <a:endParaRPr lang="zh-CN" altLang="zh-CN"/>
          </a:p>
          <a:p>
            <a:pPr eaLnBrk="1" hangingPunct="1"/>
            <a:r>
              <a:rPr lang="en-US" altLang="zh-CN"/>
              <a:t>SELECT *</a:t>
            </a:r>
            <a:endParaRPr lang="zh-CN" altLang="zh-CN"/>
          </a:p>
          <a:p>
            <a:pPr eaLnBrk="1" hangingPunct="1"/>
            <a:r>
              <a:rPr lang="en-US" altLang="zh-CN"/>
              <a:t>     FROM</a:t>
            </a:r>
            <a:r>
              <a:rPr lang="zh-CN" altLang="zh-CN"/>
              <a:t>计算机学生</a:t>
            </a:r>
            <a:endParaRPr lang="zh-CN" altLang="zh-CN"/>
          </a:p>
          <a:p>
            <a:pPr eaLnBrk="1" hangingPunct="1"/>
            <a:r>
              <a:rPr lang="en-US" altLang="zh-CN"/>
              <a:t>     WHERE</a:t>
            </a:r>
            <a:r>
              <a:rPr lang="zh-CN" altLang="zh-CN"/>
              <a:t>学号</a:t>
            </a:r>
            <a:r>
              <a:rPr lang="en-US" altLang="zh-CN"/>
              <a:t>= '191301'</a:t>
            </a:r>
            <a:endParaRPr lang="zh-CN" altLang="zh-CN"/>
          </a:p>
          <a:p>
            <a:pPr eaLnBrk="1" hangingPunct="1"/>
            <a:r>
              <a:rPr lang="en-US" altLang="zh-CN"/>
              <a:t>UNION ALL</a:t>
            </a:r>
            <a:endParaRPr lang="zh-CN" altLang="zh-CN"/>
          </a:p>
          <a:p>
            <a:pPr eaLnBrk="1" hangingPunct="1"/>
            <a:r>
              <a:rPr lang="en-US" altLang="zh-CN"/>
              <a:t>SELECT *</a:t>
            </a:r>
            <a:endParaRPr lang="zh-CN" altLang="zh-CN"/>
          </a:p>
          <a:p>
            <a:pPr eaLnBrk="1" hangingPunct="1"/>
            <a:r>
              <a:rPr lang="en-US" altLang="zh-CN"/>
              <a:t>     FROM</a:t>
            </a:r>
            <a:r>
              <a:rPr lang="zh-CN" altLang="zh-CN"/>
              <a:t>通信工程学生</a:t>
            </a:r>
            <a:endParaRPr lang="zh-CN" altLang="zh-CN"/>
          </a:p>
          <a:p>
            <a:pPr eaLnBrk="1" hangingPunct="1"/>
            <a:r>
              <a:rPr lang="en-US" altLang="zh-CN"/>
              <a:t>     WHERE</a:t>
            </a:r>
            <a:r>
              <a:rPr lang="zh-CN" altLang="zh-CN"/>
              <a:t>学号</a:t>
            </a:r>
            <a:r>
              <a:rPr lang="en-US" altLang="zh-CN"/>
              <a:t>= '221301'</a:t>
            </a:r>
            <a:endParaRPr lang="zh-CN" altLang="zh-CN"/>
          </a:p>
          <a:p>
            <a:pPr eaLnBrk="1" hangingPunct="1"/>
            <a:r>
              <a:rPr lang="zh-CN" altLang="zh-CN"/>
              <a:t>执行结果如图</a:t>
            </a:r>
            <a:r>
              <a:rPr lang="en-US" altLang="zh-CN"/>
              <a:t>4.21</a:t>
            </a:r>
            <a:r>
              <a:rPr lang="zh-CN" altLang="zh-CN"/>
              <a:t>所示。 </a:t>
            </a:r>
            <a:endParaRPr lang="zh-CN" altLang="en-US"/>
          </a:p>
        </p:txBody>
      </p:sp>
      <p:pic>
        <p:nvPicPr>
          <p:cNvPr id="64517"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10000" y="4319588"/>
            <a:ext cx="155416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755650" y="3716338"/>
            <a:ext cx="7993063" cy="86518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755650" y="2060575"/>
            <a:ext cx="7993063"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4.1.8  </a:t>
            </a:r>
            <a:r>
              <a:rPr lang="zh-CN" altLang="zh-CN" dirty="0">
                <a:effectLst/>
              </a:rPr>
              <a:t>其他：</a:t>
            </a:r>
            <a:r>
              <a:rPr lang="en-US" altLang="zh-CN" dirty="0">
                <a:effectLst/>
              </a:rPr>
              <a:t>INTO/UNION/EXCEPT/ CTE</a:t>
            </a:r>
            <a:endParaRPr lang="zh-CN" altLang="en-US" dirty="0"/>
          </a:p>
        </p:txBody>
      </p:sp>
      <p:sp>
        <p:nvSpPr>
          <p:cNvPr id="3" name="TextBox 2"/>
          <p:cNvSpPr txBox="1"/>
          <p:nvPr/>
        </p:nvSpPr>
        <p:spPr>
          <a:xfrm>
            <a:off x="395288" y="1484313"/>
            <a:ext cx="8353425" cy="3694112"/>
          </a:xfrm>
          <a:prstGeom prst="rect">
            <a:avLst/>
          </a:prstGeom>
          <a:noFill/>
        </p:spPr>
        <p:txBody>
          <a:bodyPr>
            <a:spAutoFit/>
          </a:bodyPr>
          <a:lstStyle/>
          <a:p>
            <a:pPr indent="450850" fontAlgn="auto">
              <a:spcBef>
                <a:spcPts val="0"/>
              </a:spcBef>
              <a:spcAft>
                <a:spcPts val="0"/>
              </a:spcAft>
              <a:defRPr/>
            </a:pPr>
            <a:r>
              <a:rPr lang="en-US" altLang="zh-CN" b="1" dirty="0">
                <a:solidFill>
                  <a:srgbClr val="C00000"/>
                </a:solidFill>
                <a:latin typeface="+mn-lt"/>
                <a:ea typeface="+mn-ea"/>
              </a:rPr>
              <a:t>3</a:t>
            </a:r>
            <a:r>
              <a:rPr lang="zh-CN" altLang="zh-CN" b="1" dirty="0">
                <a:solidFill>
                  <a:srgbClr val="C00000"/>
                </a:solidFill>
                <a:latin typeface="+mn-lt"/>
                <a:ea typeface="+mn-ea"/>
              </a:rPr>
              <a:t>．</a:t>
            </a:r>
            <a:r>
              <a:rPr lang="en-US" altLang="zh-CN" b="1" dirty="0">
                <a:solidFill>
                  <a:srgbClr val="C00000"/>
                </a:solidFill>
                <a:latin typeface="+mn-lt"/>
                <a:ea typeface="+mn-ea"/>
              </a:rPr>
              <a:t>EXCEPT</a:t>
            </a:r>
            <a:r>
              <a:rPr lang="zh-CN" altLang="zh-CN" b="1" dirty="0">
                <a:solidFill>
                  <a:srgbClr val="C00000"/>
                </a:solidFill>
                <a:latin typeface="+mn-lt"/>
                <a:ea typeface="+mn-ea"/>
              </a:rPr>
              <a:t>和</a:t>
            </a:r>
            <a:r>
              <a:rPr lang="en-US" altLang="zh-CN" b="1" dirty="0">
                <a:solidFill>
                  <a:srgbClr val="C00000"/>
                </a:solidFill>
                <a:latin typeface="+mn-lt"/>
                <a:ea typeface="+mn-ea"/>
              </a:rPr>
              <a:t>INTERSECT</a:t>
            </a:r>
            <a:endParaRPr lang="zh-CN" altLang="zh-CN" b="1" dirty="0">
              <a:solidFill>
                <a:srgbClr val="C00000"/>
              </a:solidFill>
              <a:latin typeface="+mn-lt"/>
              <a:ea typeface="+mn-ea"/>
            </a:endParaRPr>
          </a:p>
          <a:p>
            <a:pPr indent="450850" fontAlgn="ctr">
              <a:spcBef>
                <a:spcPts val="0"/>
              </a:spcBef>
              <a:spcAft>
                <a:spcPts val="0"/>
              </a:spcAft>
              <a:defRPr/>
            </a:pPr>
            <a:r>
              <a:rPr lang="en-US" altLang="zh-CN" dirty="0">
                <a:latin typeface="+mn-lt"/>
                <a:ea typeface="+mn-ea"/>
              </a:rPr>
              <a:t>EXCEPT</a:t>
            </a:r>
            <a:r>
              <a:rPr lang="zh-CN" altLang="zh-CN" dirty="0">
                <a:latin typeface="+mn-lt"/>
                <a:ea typeface="+mn-ea"/>
              </a:rPr>
              <a:t>和</a:t>
            </a:r>
            <a:r>
              <a:rPr lang="en-US" altLang="zh-CN" dirty="0">
                <a:latin typeface="+mn-lt"/>
                <a:ea typeface="+mn-ea"/>
              </a:rPr>
              <a:t>INTERSECT</a:t>
            </a:r>
            <a:r>
              <a:rPr lang="zh-CN" altLang="zh-CN" dirty="0">
                <a:latin typeface="+mn-lt"/>
                <a:ea typeface="+mn-ea"/>
              </a:rPr>
              <a:t>用于比较两个查询的结果，返回非重复值。语法格式如下：</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&lt;</a:t>
            </a:r>
            <a:r>
              <a:rPr lang="zh-CN" altLang="zh-CN" dirty="0">
                <a:latin typeface="+mn-lt"/>
                <a:ea typeface="+mn-ea"/>
              </a:rPr>
              <a:t>查询规范</a:t>
            </a:r>
            <a:r>
              <a:rPr lang="en-US" altLang="zh-CN" dirty="0">
                <a:latin typeface="+mn-lt"/>
                <a:ea typeface="+mn-ea"/>
              </a:rPr>
              <a:t>&gt; | ( &lt;</a:t>
            </a:r>
            <a:r>
              <a:rPr lang="zh-CN" altLang="zh-CN" dirty="0">
                <a:latin typeface="+mn-lt"/>
                <a:ea typeface="+mn-ea"/>
              </a:rPr>
              <a:t>查询表达式</a:t>
            </a:r>
            <a:r>
              <a:rPr lang="en-US" altLang="zh-CN" dirty="0">
                <a:latin typeface="+mn-lt"/>
                <a:ea typeface="+mn-ea"/>
              </a:rPr>
              <a:t>&gt; )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EXCEPT | INTERSECT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&lt;</a:t>
            </a:r>
            <a:r>
              <a:rPr lang="zh-CN" altLang="zh-CN" dirty="0">
                <a:latin typeface="+mn-lt"/>
                <a:ea typeface="+mn-ea"/>
              </a:rPr>
              <a:t>查询规范</a:t>
            </a:r>
            <a:r>
              <a:rPr lang="en-US" altLang="zh-CN" dirty="0">
                <a:latin typeface="+mn-lt"/>
                <a:ea typeface="+mn-ea"/>
              </a:rPr>
              <a:t>&gt; | ( &lt;</a:t>
            </a:r>
            <a:r>
              <a:rPr lang="zh-CN" altLang="zh-CN" dirty="0">
                <a:latin typeface="+mn-lt"/>
                <a:ea typeface="+mn-ea"/>
              </a:rPr>
              <a:t>查询表达式</a:t>
            </a:r>
            <a:r>
              <a:rPr lang="en-US" altLang="zh-CN" dirty="0">
                <a:latin typeface="+mn-lt"/>
                <a:ea typeface="+mn-ea"/>
              </a:rPr>
              <a:t>&gt; ) }</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其中，</a:t>
            </a:r>
            <a:r>
              <a:rPr lang="en-US" altLang="zh-CN" dirty="0">
                <a:latin typeface="+mn-lt"/>
                <a:ea typeface="+mn-ea"/>
              </a:rPr>
              <a:t>&lt;</a:t>
            </a:r>
            <a:r>
              <a:rPr lang="zh-CN" altLang="zh-CN" dirty="0">
                <a:latin typeface="+mn-lt"/>
                <a:ea typeface="+mn-ea"/>
              </a:rPr>
              <a:t>查询规范</a:t>
            </a:r>
            <a:r>
              <a:rPr lang="en-US" altLang="zh-CN" dirty="0">
                <a:latin typeface="+mn-lt"/>
                <a:ea typeface="+mn-ea"/>
              </a:rPr>
              <a:t>&gt;</a:t>
            </a:r>
            <a:r>
              <a:rPr lang="zh-CN" altLang="zh-CN" dirty="0">
                <a:latin typeface="+mn-lt"/>
                <a:ea typeface="+mn-ea"/>
              </a:rPr>
              <a:t>和</a:t>
            </a:r>
            <a:r>
              <a:rPr lang="en-US" altLang="zh-CN" dirty="0">
                <a:latin typeface="+mn-lt"/>
                <a:ea typeface="+mn-ea"/>
              </a:rPr>
              <a:t>&lt;</a:t>
            </a:r>
            <a:r>
              <a:rPr lang="zh-CN" altLang="zh-CN" dirty="0">
                <a:latin typeface="+mn-lt"/>
                <a:ea typeface="+mn-ea"/>
              </a:rPr>
              <a:t>查询表达式</a:t>
            </a:r>
            <a:r>
              <a:rPr lang="en-US" altLang="zh-CN" dirty="0">
                <a:latin typeface="+mn-lt"/>
                <a:ea typeface="+mn-ea"/>
              </a:rPr>
              <a:t>&gt;</a:t>
            </a:r>
            <a:r>
              <a:rPr lang="zh-CN" altLang="zh-CN" dirty="0">
                <a:latin typeface="+mn-lt"/>
                <a:ea typeface="+mn-ea"/>
              </a:rPr>
              <a:t>都是</a:t>
            </a:r>
            <a:r>
              <a:rPr lang="en-US" altLang="zh-CN" dirty="0">
                <a:latin typeface="+mn-lt"/>
                <a:ea typeface="+mn-ea"/>
              </a:rPr>
              <a:t>SELECT</a:t>
            </a:r>
            <a:r>
              <a:rPr lang="zh-CN" altLang="zh-CN" dirty="0">
                <a:latin typeface="+mn-lt"/>
                <a:ea typeface="+mn-ea"/>
              </a:rPr>
              <a:t>查询语句。使用</a:t>
            </a:r>
            <a:r>
              <a:rPr lang="en-US" altLang="zh-CN" dirty="0">
                <a:latin typeface="+mn-lt"/>
                <a:ea typeface="+mn-ea"/>
              </a:rPr>
              <a:t>EXCEPT</a:t>
            </a:r>
            <a:r>
              <a:rPr lang="zh-CN" altLang="zh-CN" dirty="0">
                <a:latin typeface="+mn-lt"/>
                <a:ea typeface="+mn-ea"/>
              </a:rPr>
              <a:t>和</a:t>
            </a:r>
            <a:r>
              <a:rPr lang="en-US" altLang="zh-CN" dirty="0">
                <a:latin typeface="+mn-lt"/>
                <a:ea typeface="+mn-ea"/>
              </a:rPr>
              <a:t>INTERSECT</a:t>
            </a:r>
            <a:r>
              <a:rPr lang="zh-CN" altLang="zh-CN" dirty="0">
                <a:latin typeface="+mn-lt"/>
                <a:ea typeface="+mn-ea"/>
              </a:rPr>
              <a:t>比较两个查询的规则和</a:t>
            </a:r>
            <a:r>
              <a:rPr lang="en-US" altLang="zh-CN" dirty="0">
                <a:latin typeface="+mn-lt"/>
                <a:ea typeface="+mn-ea"/>
              </a:rPr>
              <a:t>UNION</a:t>
            </a:r>
            <a:r>
              <a:rPr lang="zh-CN" altLang="zh-CN" dirty="0">
                <a:latin typeface="+mn-lt"/>
                <a:ea typeface="+mn-ea"/>
              </a:rPr>
              <a:t>语句一样。</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【例</a:t>
            </a:r>
            <a:r>
              <a:rPr lang="en-US" altLang="zh-CN" dirty="0">
                <a:latin typeface="+mn-lt"/>
                <a:ea typeface="+mn-ea"/>
              </a:rPr>
              <a:t>4.53</a:t>
            </a:r>
            <a:r>
              <a:rPr lang="zh-CN" altLang="zh-CN" dirty="0">
                <a:latin typeface="+mn-lt"/>
                <a:ea typeface="+mn-ea"/>
              </a:rPr>
              <a:t>】 查找专业为计算机但性别不为男的学生信息。</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SELECT * FROM </a:t>
            </a:r>
            <a:r>
              <a:rPr lang="en-US" altLang="zh-CN" dirty="0" err="1">
                <a:latin typeface="+mn-lt"/>
                <a:ea typeface="+mn-ea"/>
              </a:rPr>
              <a:t>xsb</a:t>
            </a:r>
            <a:r>
              <a:rPr lang="en-US" altLang="zh-CN" dirty="0">
                <a:latin typeface="+mn-lt"/>
                <a:ea typeface="+mn-ea"/>
              </a:rPr>
              <a:t> WHERE</a:t>
            </a:r>
            <a:r>
              <a:rPr lang="zh-CN" altLang="zh-CN" dirty="0">
                <a:latin typeface="+mn-lt"/>
                <a:ea typeface="+mn-ea"/>
              </a:rPr>
              <a:t>专业</a:t>
            </a:r>
            <a:r>
              <a:rPr lang="en-US" altLang="zh-CN" dirty="0">
                <a:latin typeface="+mn-lt"/>
                <a:ea typeface="+mn-ea"/>
              </a:rPr>
              <a:t>= '</a:t>
            </a:r>
            <a:r>
              <a:rPr lang="zh-CN" altLang="zh-CN" dirty="0">
                <a:latin typeface="+mn-lt"/>
                <a:ea typeface="+mn-ea"/>
              </a:rPr>
              <a:t>计算机</a:t>
            </a:r>
            <a:r>
              <a:rPr lang="en-US" altLang="zh-CN" dirty="0">
                <a:latin typeface="+mn-lt"/>
                <a:ea typeface="+mn-ea"/>
              </a:rPr>
              <a: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EXCEPT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SELECT * FROM </a:t>
            </a:r>
            <a:r>
              <a:rPr lang="en-US" altLang="zh-CN" dirty="0" err="1">
                <a:latin typeface="+mn-lt"/>
                <a:ea typeface="+mn-ea"/>
              </a:rPr>
              <a:t>xsb</a:t>
            </a:r>
            <a:r>
              <a:rPr lang="en-US" altLang="zh-CN" dirty="0">
                <a:latin typeface="+mn-lt"/>
                <a:ea typeface="+mn-ea"/>
              </a:rPr>
              <a:t> WHERE</a:t>
            </a:r>
            <a:r>
              <a:rPr lang="zh-CN" altLang="zh-CN" dirty="0">
                <a:latin typeface="+mn-lt"/>
                <a:ea typeface="+mn-ea"/>
              </a:rPr>
              <a:t>性别</a:t>
            </a:r>
            <a:r>
              <a:rPr lang="en-US" altLang="zh-CN" dirty="0">
                <a:latin typeface="+mn-lt"/>
                <a:ea typeface="+mn-ea"/>
              </a:rPr>
              <a:t>=1</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执行结果如图</a:t>
            </a:r>
            <a:r>
              <a:rPr lang="en-US" altLang="zh-CN" dirty="0">
                <a:latin typeface="+mn-lt"/>
                <a:ea typeface="+mn-ea"/>
              </a:rPr>
              <a:t>4.22</a:t>
            </a:r>
            <a:r>
              <a:rPr lang="zh-CN" altLang="zh-CN" dirty="0">
                <a:latin typeface="+mn-lt"/>
                <a:ea typeface="+mn-ea"/>
              </a:rPr>
              <a:t>所示。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655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268538" y="4941888"/>
            <a:ext cx="5040312" cy="115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4213" y="1773238"/>
            <a:ext cx="7991475" cy="9350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4.1.8  </a:t>
            </a:r>
            <a:r>
              <a:rPr lang="zh-CN" altLang="zh-CN" dirty="0">
                <a:effectLst/>
              </a:rPr>
              <a:t>其他：</a:t>
            </a:r>
            <a:r>
              <a:rPr lang="en-US" altLang="zh-CN" dirty="0">
                <a:effectLst/>
              </a:rPr>
              <a:t>INTO/UNION/EXCEPT/ CTE</a:t>
            </a:r>
            <a:endParaRPr lang="zh-CN" altLang="en-US" dirty="0"/>
          </a:p>
        </p:txBody>
      </p:sp>
      <p:sp>
        <p:nvSpPr>
          <p:cNvPr id="66564" name="TextBox 2"/>
          <p:cNvSpPr txBox="1">
            <a:spLocks noChangeArrowheads="1"/>
          </p:cNvSpPr>
          <p:nvPr/>
        </p:nvSpPr>
        <p:spPr bwMode="auto">
          <a:xfrm>
            <a:off x="395288" y="1484313"/>
            <a:ext cx="82804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4.54</a:t>
            </a:r>
            <a:r>
              <a:rPr lang="zh-CN" altLang="zh-CN"/>
              <a:t>】 查找总学分大于</a:t>
            </a:r>
            <a:r>
              <a:rPr lang="en-US" altLang="zh-CN"/>
              <a:t>42</a:t>
            </a:r>
            <a:r>
              <a:rPr lang="zh-CN" altLang="zh-CN"/>
              <a:t>且性别为男的学生信息。</a:t>
            </a:r>
            <a:endParaRPr lang="zh-CN" altLang="zh-CN"/>
          </a:p>
          <a:p>
            <a:pPr eaLnBrk="1" hangingPunct="1"/>
            <a:r>
              <a:rPr lang="en-US" altLang="zh-CN"/>
              <a:t>SELECT * FROM xsb WHERE</a:t>
            </a:r>
            <a:r>
              <a:rPr lang="zh-CN" altLang="zh-CN"/>
              <a:t>总学分</a:t>
            </a:r>
            <a:r>
              <a:rPr lang="en-US" altLang="zh-CN"/>
              <a:t>&gt;42</a:t>
            </a:r>
            <a:endParaRPr lang="zh-CN" altLang="zh-CN"/>
          </a:p>
          <a:p>
            <a:pPr eaLnBrk="1" hangingPunct="1"/>
            <a:r>
              <a:rPr lang="en-US" altLang="zh-CN"/>
              <a:t>     INTERSECT</a:t>
            </a:r>
            <a:endParaRPr lang="zh-CN" altLang="zh-CN"/>
          </a:p>
          <a:p>
            <a:pPr eaLnBrk="1" hangingPunct="1"/>
            <a:r>
              <a:rPr lang="en-US" altLang="zh-CN"/>
              <a:t>     SELECT * FROM xsb WHERE</a:t>
            </a:r>
            <a:r>
              <a:rPr lang="zh-CN" altLang="zh-CN"/>
              <a:t>性别</a:t>
            </a:r>
            <a:r>
              <a:rPr lang="en-US" altLang="zh-CN"/>
              <a:t>=1</a:t>
            </a:r>
            <a:endParaRPr lang="zh-CN" altLang="zh-CN"/>
          </a:p>
          <a:p>
            <a:pPr eaLnBrk="1" hangingPunct="1"/>
            <a:endParaRPr lang="zh-CN" altLang="en-US"/>
          </a:p>
        </p:txBody>
      </p:sp>
    </p:spTree>
  </p:cSld>
  <p:clrMapOvr>
    <a:masterClrMapping/>
  </p:clrMapOvr>
  <p:transition spd="med">
    <p:fade/>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789363"/>
            <a:ext cx="7848600"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852738"/>
            <a:ext cx="7848600" cy="5762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4.1.8  </a:t>
            </a:r>
            <a:r>
              <a:rPr lang="zh-CN" altLang="zh-CN" dirty="0">
                <a:effectLst/>
              </a:rPr>
              <a:t>其他：</a:t>
            </a:r>
            <a:r>
              <a:rPr lang="en-US" altLang="zh-CN" dirty="0">
                <a:effectLst/>
              </a:rPr>
              <a:t>INTO/UNION/EXCEPT/ CTE</a:t>
            </a:r>
            <a:endParaRPr lang="zh-CN" altLang="en-US" dirty="0"/>
          </a:p>
        </p:txBody>
      </p:sp>
      <p:sp>
        <p:nvSpPr>
          <p:cNvPr id="67589" name="TextBox 2"/>
          <p:cNvSpPr txBox="1">
            <a:spLocks noChangeArrowheads="1"/>
          </p:cNvSpPr>
          <p:nvPr/>
        </p:nvSpPr>
        <p:spPr bwMode="auto">
          <a:xfrm>
            <a:off x="468313" y="1557338"/>
            <a:ext cx="82804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dirty="0">
                <a:solidFill>
                  <a:srgbClr val="C00000"/>
                </a:solidFill>
              </a:rPr>
              <a:t>4</a:t>
            </a:r>
            <a:r>
              <a:rPr lang="zh-CN" altLang="zh-CN" b="1" dirty="0">
                <a:solidFill>
                  <a:srgbClr val="C00000"/>
                </a:solidFill>
              </a:rPr>
              <a:t>．</a:t>
            </a:r>
            <a:r>
              <a:rPr lang="en-US" altLang="zh-CN" b="1" dirty="0">
                <a:solidFill>
                  <a:srgbClr val="C00000"/>
                </a:solidFill>
              </a:rPr>
              <a:t>CTE</a:t>
            </a:r>
            <a:endParaRPr lang="zh-CN" altLang="zh-CN" b="1" dirty="0">
              <a:solidFill>
                <a:srgbClr val="C00000"/>
              </a:solidFill>
            </a:endParaRPr>
          </a:p>
          <a:p>
            <a:pPr eaLnBrk="1" fontAlgn="ctr" hangingPunct="1">
              <a:lnSpc>
                <a:spcPct val="150000"/>
              </a:lnSpc>
            </a:pPr>
            <a:r>
              <a:rPr lang="zh-CN" altLang="zh-CN" dirty="0"/>
              <a:t>在</a:t>
            </a:r>
            <a:r>
              <a:rPr lang="en-US" altLang="zh-CN" dirty="0"/>
              <a:t>SELECT</a:t>
            </a:r>
            <a:r>
              <a:rPr lang="zh-CN" altLang="zh-CN" dirty="0"/>
              <a:t>语句的最前面可以使用一条</a:t>
            </a:r>
            <a:r>
              <a:rPr lang="en-US" altLang="zh-CN" dirty="0"/>
              <a:t>WITH</a:t>
            </a:r>
            <a:r>
              <a:rPr lang="zh-CN" altLang="zh-CN" dirty="0"/>
              <a:t>子句来指定临时结果集，语法格式如下：</a:t>
            </a:r>
            <a:endParaRPr lang="zh-CN" altLang="zh-CN" dirty="0"/>
          </a:p>
          <a:p>
            <a:pPr eaLnBrk="1" hangingPunct="1"/>
            <a:r>
              <a:rPr lang="en-US" altLang="zh-CN" dirty="0"/>
              <a:t>[ WITH &lt;</a:t>
            </a:r>
            <a:r>
              <a:rPr lang="zh-CN" altLang="zh-CN" dirty="0"/>
              <a:t>公用表表达式</a:t>
            </a:r>
            <a:r>
              <a:rPr lang="en-US" altLang="zh-CN" dirty="0"/>
              <a:t>&gt; [ , ... ] ]</a:t>
            </a:r>
            <a:endParaRPr lang="zh-CN" altLang="zh-CN" dirty="0"/>
          </a:p>
          <a:p>
            <a:pPr eaLnBrk="1" hangingPunct="1"/>
            <a:r>
              <a:rPr lang="en-US" altLang="zh-CN" dirty="0"/>
              <a:t>SELECT ......</a:t>
            </a:r>
            <a:endParaRPr lang="zh-CN" altLang="zh-CN" dirty="0"/>
          </a:p>
          <a:p>
            <a:pPr eaLnBrk="1" fontAlgn="ctr" hangingPunct="1">
              <a:lnSpc>
                <a:spcPct val="150000"/>
              </a:lnSpc>
            </a:pPr>
            <a:r>
              <a:rPr lang="zh-CN" altLang="zh-CN" dirty="0"/>
              <a:t>其中：</a:t>
            </a:r>
            <a:endParaRPr lang="zh-CN" altLang="zh-CN" dirty="0"/>
          </a:p>
          <a:p>
            <a:pPr eaLnBrk="1" hangingPunct="1"/>
            <a:r>
              <a:rPr lang="en-US" altLang="zh-CN" dirty="0"/>
              <a:t>&lt;</a:t>
            </a:r>
            <a:r>
              <a:rPr lang="zh-CN" altLang="zh-CN" dirty="0"/>
              <a:t>公用表表达式</a:t>
            </a:r>
            <a:r>
              <a:rPr lang="en-US" altLang="zh-CN" dirty="0"/>
              <a:t>&gt;::=</a:t>
            </a:r>
            <a:endParaRPr lang="zh-CN" altLang="zh-CN" dirty="0"/>
          </a:p>
          <a:p>
            <a:pPr eaLnBrk="1" hangingPunct="1"/>
            <a:r>
              <a:rPr lang="en-US" altLang="zh-CN" dirty="0"/>
              <a:t>     </a:t>
            </a:r>
            <a:r>
              <a:rPr lang="zh-CN" altLang="zh-CN" dirty="0"/>
              <a:t>表达式名</a:t>
            </a:r>
            <a:r>
              <a:rPr lang="en-US" altLang="zh-CN" dirty="0"/>
              <a:t> [ ( </a:t>
            </a:r>
            <a:r>
              <a:rPr lang="zh-CN" altLang="zh-CN" dirty="0"/>
              <a:t>列名</a:t>
            </a:r>
            <a:r>
              <a:rPr lang="en-US" altLang="zh-CN" dirty="0"/>
              <a:t>[ , ... ] ) ]</a:t>
            </a:r>
            <a:endParaRPr lang="zh-CN" altLang="zh-CN" dirty="0"/>
          </a:p>
          <a:p>
            <a:pPr eaLnBrk="1" hangingPunct="1"/>
            <a:r>
              <a:rPr lang="en-US" altLang="zh-CN" dirty="0"/>
              <a:t>     AS  ( CTE</a:t>
            </a:r>
            <a:r>
              <a:rPr lang="zh-CN" altLang="zh-CN" dirty="0"/>
              <a:t>查询定义</a:t>
            </a:r>
            <a:r>
              <a:rPr lang="en-US" altLang="zh-CN" dirty="0"/>
              <a:t> )</a:t>
            </a:r>
            <a:endParaRPr lang="zh-CN" altLang="zh-CN" dirty="0"/>
          </a:p>
          <a:p>
            <a:pPr eaLnBrk="1" hangingPunct="1"/>
            <a:endParaRPr lang="zh-CN" altLang="en-US" dirty="0"/>
          </a:p>
        </p:txBody>
      </p:sp>
    </p:spTree>
  </p:cSld>
  <p:clrMapOvr>
    <a:masterClrMapping/>
  </p:clrMapOvr>
  <p:transition spd="slow">
    <p:blinds dir="vert"/>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55650" y="2420938"/>
            <a:ext cx="7993063" cy="23034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4.1.8  </a:t>
            </a:r>
            <a:r>
              <a:rPr lang="zh-CN" altLang="zh-CN" dirty="0">
                <a:effectLst/>
              </a:rPr>
              <a:t>其他：</a:t>
            </a:r>
            <a:r>
              <a:rPr lang="en-US" altLang="zh-CN" dirty="0">
                <a:effectLst/>
              </a:rPr>
              <a:t>INTO/UNION/EXCEPT/ CTE</a:t>
            </a:r>
            <a:endParaRPr lang="zh-CN" altLang="en-US" dirty="0"/>
          </a:p>
        </p:txBody>
      </p:sp>
      <p:sp>
        <p:nvSpPr>
          <p:cNvPr id="3" name="TextBox 2"/>
          <p:cNvSpPr txBox="1"/>
          <p:nvPr/>
        </p:nvSpPr>
        <p:spPr>
          <a:xfrm>
            <a:off x="395288" y="1557338"/>
            <a:ext cx="8353425" cy="3416300"/>
          </a:xfrm>
          <a:prstGeom prst="rect">
            <a:avLst/>
          </a:prstGeom>
          <a:noFill/>
        </p:spPr>
        <p:txBody>
          <a:bodyPr>
            <a:spAutoFit/>
          </a:bodyPr>
          <a:lstStyle/>
          <a:p>
            <a:pPr indent="450850" fontAlgn="ctr">
              <a:spcBef>
                <a:spcPts val="0"/>
              </a:spcBef>
              <a:spcAft>
                <a:spcPts val="0"/>
              </a:spcAft>
              <a:defRPr/>
            </a:pPr>
            <a:r>
              <a:rPr lang="zh-CN" altLang="zh-CN" dirty="0">
                <a:latin typeface="+mn-lt"/>
                <a:ea typeface="+mn-ea"/>
              </a:rPr>
              <a:t>【例</a:t>
            </a:r>
            <a:r>
              <a:rPr lang="en-US" altLang="zh-CN" dirty="0">
                <a:latin typeface="+mn-lt"/>
                <a:ea typeface="+mn-ea"/>
              </a:rPr>
              <a:t>4.55</a:t>
            </a:r>
            <a:r>
              <a:rPr lang="zh-CN" altLang="zh-CN" dirty="0">
                <a:latin typeface="+mn-lt"/>
                <a:ea typeface="+mn-ea"/>
              </a:rPr>
              <a:t>】 使用</a:t>
            </a:r>
            <a:r>
              <a:rPr lang="en-US" altLang="zh-CN" dirty="0">
                <a:latin typeface="+mn-lt"/>
                <a:ea typeface="+mn-ea"/>
              </a:rPr>
              <a:t>CTE</a:t>
            </a:r>
            <a:r>
              <a:rPr lang="zh-CN" altLang="zh-CN" dirty="0">
                <a:latin typeface="+mn-lt"/>
                <a:ea typeface="+mn-ea"/>
              </a:rPr>
              <a:t>从</a:t>
            </a:r>
            <a:r>
              <a:rPr lang="en-US" altLang="zh-CN" dirty="0" err="1">
                <a:latin typeface="+mn-lt"/>
                <a:ea typeface="+mn-ea"/>
              </a:rPr>
              <a:t>cjb</a:t>
            </a:r>
            <a:r>
              <a:rPr lang="zh-CN" altLang="zh-CN" dirty="0">
                <a:latin typeface="+mn-lt"/>
                <a:ea typeface="+mn-ea"/>
              </a:rPr>
              <a:t>表中查询选择</a:t>
            </a:r>
            <a:r>
              <a:rPr lang="en-US" altLang="zh-CN" dirty="0">
                <a:latin typeface="+mn-lt"/>
                <a:ea typeface="+mn-ea"/>
              </a:rPr>
              <a:t>101</a:t>
            </a:r>
            <a:r>
              <a:rPr lang="zh-CN" altLang="zh-CN" dirty="0">
                <a:latin typeface="+mn-lt"/>
                <a:ea typeface="+mn-ea"/>
              </a:rPr>
              <a:t>号课程的学生学号、成绩，并定义新的列名为</a:t>
            </a:r>
            <a:r>
              <a:rPr lang="en-US" altLang="zh-CN" dirty="0">
                <a:latin typeface="+mn-lt"/>
                <a:ea typeface="+mn-ea"/>
              </a:rPr>
              <a:t>number</a:t>
            </a:r>
            <a:r>
              <a:rPr lang="zh-CN" altLang="zh-CN" dirty="0">
                <a:latin typeface="+mn-lt"/>
                <a:ea typeface="+mn-ea"/>
              </a:rPr>
              <a:t>、</a:t>
            </a:r>
            <a:r>
              <a:rPr lang="en-US" altLang="zh-CN" dirty="0">
                <a:latin typeface="+mn-lt"/>
                <a:ea typeface="+mn-ea"/>
              </a:rPr>
              <a:t>point</a:t>
            </a:r>
            <a:r>
              <a:rPr lang="zh-CN" altLang="zh-CN" dirty="0">
                <a:latin typeface="+mn-lt"/>
                <a:ea typeface="+mn-ea"/>
              </a:rPr>
              <a:t>。再使用</a:t>
            </a:r>
            <a:r>
              <a:rPr lang="en-US" altLang="zh-CN" dirty="0">
                <a:latin typeface="+mn-lt"/>
                <a:ea typeface="+mn-ea"/>
              </a:rPr>
              <a:t>SELECT</a:t>
            </a:r>
            <a:r>
              <a:rPr lang="zh-CN" altLang="zh-CN" dirty="0">
                <a:latin typeface="+mn-lt"/>
                <a:ea typeface="+mn-ea"/>
              </a:rPr>
              <a:t>语句从</a:t>
            </a:r>
            <a:r>
              <a:rPr lang="en-US" altLang="zh-CN" dirty="0">
                <a:latin typeface="+mn-lt"/>
                <a:ea typeface="+mn-ea"/>
              </a:rPr>
              <a:t>CTE</a:t>
            </a:r>
            <a:r>
              <a:rPr lang="zh-CN" altLang="zh-CN" dirty="0">
                <a:latin typeface="+mn-lt"/>
                <a:ea typeface="+mn-ea"/>
              </a:rPr>
              <a:t>和</a:t>
            </a:r>
            <a:r>
              <a:rPr lang="en-US" altLang="zh-CN" dirty="0" err="1">
                <a:latin typeface="+mn-lt"/>
                <a:ea typeface="+mn-ea"/>
              </a:rPr>
              <a:t>xsb</a:t>
            </a:r>
            <a:r>
              <a:rPr lang="zh-CN" altLang="zh-CN" dirty="0">
                <a:latin typeface="+mn-lt"/>
                <a:ea typeface="+mn-ea"/>
              </a:rPr>
              <a:t>中查询姓名为“王林”的学生学号和成绩情况。 代码如下，执行结果如图</a:t>
            </a:r>
            <a:r>
              <a:rPr lang="en-US" altLang="zh-CN" dirty="0">
                <a:latin typeface="+mn-lt"/>
                <a:ea typeface="+mn-ea"/>
              </a:rPr>
              <a:t>4.23</a:t>
            </a:r>
            <a:r>
              <a:rPr lang="zh-CN" altLang="zh-CN" dirty="0">
                <a:latin typeface="+mn-lt"/>
                <a:ea typeface="+mn-ea"/>
              </a:rPr>
              <a:t>所示。</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WITH </a:t>
            </a:r>
            <a:r>
              <a:rPr lang="en-US" altLang="zh-CN" dirty="0" err="1">
                <a:latin typeface="+mn-lt"/>
                <a:ea typeface="+mn-ea"/>
              </a:rPr>
              <a:t>cte_stu</a:t>
            </a:r>
            <a:r>
              <a:rPr lang="en-US" altLang="zh-CN" dirty="0">
                <a:latin typeface="+mn-lt"/>
                <a:ea typeface="+mn-ea"/>
              </a:rPr>
              <a:t>(</a:t>
            </a:r>
            <a:r>
              <a:rPr lang="en-US" altLang="zh-CN" dirty="0" err="1">
                <a:latin typeface="+mn-lt"/>
                <a:ea typeface="+mn-ea"/>
              </a:rPr>
              <a:t>number,point</a:t>
            </a:r>
            <a:r>
              <a:rPr lang="en-US" altLang="zh-CN" dirty="0">
                <a:latin typeface="+mn-lt"/>
                <a:ea typeface="+mn-ea"/>
              </a:rPr>
              <a: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AS (SELECT</a:t>
            </a:r>
            <a:r>
              <a:rPr lang="zh-CN" altLang="zh-CN" dirty="0">
                <a:latin typeface="+mn-lt"/>
                <a:ea typeface="+mn-ea"/>
              </a:rPr>
              <a:t>学号</a:t>
            </a:r>
            <a:r>
              <a:rPr lang="en-US" altLang="zh-CN" dirty="0">
                <a:latin typeface="+mn-lt"/>
                <a:ea typeface="+mn-ea"/>
              </a:rPr>
              <a:t>,</a:t>
            </a:r>
            <a:r>
              <a:rPr lang="zh-CN" altLang="zh-CN" dirty="0">
                <a:latin typeface="+mn-lt"/>
                <a:ea typeface="+mn-ea"/>
              </a:rPr>
              <a:t>成绩</a:t>
            </a:r>
            <a:r>
              <a:rPr lang="en-US" altLang="zh-CN" dirty="0">
                <a:latin typeface="+mn-lt"/>
                <a:ea typeface="+mn-ea"/>
              </a:rPr>
              <a:t>FROM </a:t>
            </a:r>
            <a:r>
              <a:rPr lang="en-US" altLang="zh-CN" dirty="0" err="1">
                <a:latin typeface="+mn-lt"/>
                <a:ea typeface="+mn-ea"/>
              </a:rPr>
              <a:t>cjb</a:t>
            </a:r>
            <a:r>
              <a:rPr lang="en-US" altLang="zh-CN" dirty="0">
                <a:latin typeface="+mn-lt"/>
                <a:ea typeface="+mn-ea"/>
              </a:rPr>
              <a:t> WHERE</a:t>
            </a:r>
            <a:r>
              <a:rPr lang="zh-CN" altLang="zh-CN" dirty="0">
                <a:latin typeface="+mn-lt"/>
                <a:ea typeface="+mn-ea"/>
              </a:rPr>
              <a:t>课程号</a:t>
            </a:r>
            <a:r>
              <a:rPr lang="en-US" altLang="zh-CN" dirty="0">
                <a:latin typeface="+mn-lt"/>
                <a:ea typeface="+mn-ea"/>
              </a:rPr>
              <a:t>='101')</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SELECT number, point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FROM </a:t>
            </a:r>
            <a:r>
              <a:rPr lang="en-US" altLang="zh-CN" dirty="0" err="1">
                <a:latin typeface="+mn-lt"/>
                <a:ea typeface="+mn-ea"/>
              </a:rPr>
              <a:t>cte_stu</a:t>
            </a:r>
            <a:r>
              <a:rPr lang="en-US" altLang="zh-CN" dirty="0">
                <a:latin typeface="+mn-lt"/>
                <a:ea typeface="+mn-ea"/>
              </a:rPr>
              <a:t>, </a:t>
            </a:r>
            <a:r>
              <a:rPr lang="en-US" altLang="zh-CN" dirty="0" err="1">
                <a:latin typeface="+mn-lt"/>
                <a:ea typeface="+mn-ea"/>
              </a:rPr>
              <a:t>xsb</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WHERE  </a:t>
            </a:r>
            <a:r>
              <a:rPr lang="en-US" altLang="zh-CN" dirty="0" err="1">
                <a:latin typeface="+mn-lt"/>
                <a:ea typeface="+mn-ea"/>
              </a:rPr>
              <a:t>xsb</a:t>
            </a:r>
            <a:r>
              <a:rPr lang="en-US" altLang="zh-CN" dirty="0">
                <a:latin typeface="+mn-lt"/>
                <a:ea typeface="+mn-ea"/>
              </a:rPr>
              <a:t>.</a:t>
            </a:r>
            <a:r>
              <a:rPr lang="zh-CN" altLang="zh-CN" dirty="0">
                <a:latin typeface="+mn-lt"/>
                <a:ea typeface="+mn-ea"/>
              </a:rPr>
              <a:t>姓名</a:t>
            </a:r>
            <a:r>
              <a:rPr lang="en-US" altLang="zh-CN" dirty="0">
                <a:latin typeface="+mn-lt"/>
                <a:ea typeface="+mn-ea"/>
              </a:rPr>
              <a:t>='</a:t>
            </a:r>
            <a:r>
              <a:rPr lang="zh-CN" altLang="zh-CN" dirty="0">
                <a:latin typeface="+mn-lt"/>
                <a:ea typeface="+mn-ea"/>
              </a:rPr>
              <a:t>王林</a:t>
            </a:r>
            <a:r>
              <a:rPr lang="en-US" altLang="zh-CN" dirty="0">
                <a:latin typeface="+mn-lt"/>
                <a:ea typeface="+mn-ea"/>
              </a:rPr>
              <a:t>'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AND </a:t>
            </a:r>
            <a:r>
              <a:rPr lang="en-US" altLang="zh-CN" dirty="0" err="1">
                <a:latin typeface="+mn-lt"/>
                <a:ea typeface="+mn-ea"/>
              </a:rPr>
              <a:t>xsb</a:t>
            </a:r>
            <a:r>
              <a:rPr lang="en-US" altLang="zh-CN" dirty="0">
                <a:latin typeface="+mn-lt"/>
                <a:ea typeface="+mn-ea"/>
              </a:rPr>
              <a:t>.</a:t>
            </a:r>
            <a:r>
              <a:rPr lang="zh-CN" altLang="zh-CN" dirty="0">
                <a:latin typeface="+mn-lt"/>
                <a:ea typeface="+mn-ea"/>
              </a:rPr>
              <a:t>学号</a:t>
            </a:r>
            <a:r>
              <a:rPr lang="en-US" altLang="zh-CN" dirty="0">
                <a:latin typeface="+mn-lt"/>
                <a:ea typeface="+mn-ea"/>
              </a:rPr>
              <a:t>=</a:t>
            </a:r>
            <a:r>
              <a:rPr lang="en-US" altLang="zh-CN" dirty="0" err="1">
                <a:latin typeface="+mn-lt"/>
                <a:ea typeface="+mn-ea"/>
              </a:rPr>
              <a:t>cte_stu.number</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pic>
        <p:nvPicPr>
          <p:cNvPr id="6861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76825" y="4841875"/>
            <a:ext cx="1835150" cy="808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zoom dir="in"/>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4.2  </a:t>
            </a:r>
            <a:r>
              <a:rPr lang="zh-CN" altLang="zh-CN" dirty="0">
                <a:effectLst/>
              </a:rPr>
              <a:t>视</a:t>
            </a:r>
            <a:r>
              <a:rPr lang="en-US" altLang="zh-CN" dirty="0">
                <a:effectLst/>
              </a:rPr>
              <a:t>    </a:t>
            </a:r>
            <a:r>
              <a:rPr lang="zh-CN" altLang="zh-CN" dirty="0">
                <a:effectLst/>
              </a:rPr>
              <a:t>图</a:t>
            </a:r>
            <a:endParaRPr lang="zh-CN" altLang="zh-CN" dirty="0">
              <a:effectLst/>
            </a:endParaRPr>
          </a:p>
        </p:txBody>
      </p:sp>
      <p:sp>
        <p:nvSpPr>
          <p:cNvPr id="3" name="TextBox 2"/>
          <p:cNvSpPr txBox="1"/>
          <p:nvPr/>
        </p:nvSpPr>
        <p:spPr>
          <a:xfrm>
            <a:off x="468313" y="1484313"/>
            <a:ext cx="8280400" cy="5078412"/>
          </a:xfrm>
          <a:prstGeom prst="rect">
            <a:avLst/>
          </a:prstGeom>
          <a:noFill/>
        </p:spPr>
        <p:txBody>
          <a:bodyPr>
            <a:spAutoFit/>
          </a:bodyPr>
          <a:lstStyle/>
          <a:p>
            <a:pPr indent="450850" fontAlgn="auto">
              <a:spcBef>
                <a:spcPts val="0"/>
              </a:spcBef>
              <a:spcAft>
                <a:spcPts val="0"/>
              </a:spcAft>
              <a:defRPr/>
            </a:pPr>
            <a:r>
              <a:rPr lang="en-US" altLang="zh-CN" sz="2000" b="1" dirty="0">
                <a:latin typeface="+mn-lt"/>
                <a:ea typeface="+mn-ea"/>
              </a:rPr>
              <a:t>4.2.1  </a:t>
            </a:r>
            <a:r>
              <a:rPr lang="zh-CN" altLang="zh-CN" sz="2000" b="1" dirty="0">
                <a:latin typeface="+mn-lt"/>
                <a:ea typeface="+mn-ea"/>
              </a:rPr>
              <a:t>视图概念</a:t>
            </a:r>
            <a:endParaRPr lang="zh-CN" altLang="zh-CN" sz="2000" b="1" dirty="0">
              <a:latin typeface="+mn-lt"/>
              <a:ea typeface="+mn-ea"/>
            </a:endParaRPr>
          </a:p>
          <a:p>
            <a:pPr indent="450850" fontAlgn="ctr">
              <a:spcBef>
                <a:spcPts val="0"/>
              </a:spcBef>
              <a:spcAft>
                <a:spcPts val="0"/>
              </a:spcAft>
              <a:defRPr/>
            </a:pPr>
            <a:r>
              <a:rPr lang="zh-CN" altLang="zh-CN" dirty="0">
                <a:latin typeface="+mn-lt"/>
                <a:ea typeface="+mn-ea"/>
              </a:rPr>
              <a:t>视图一经定义以后，就可以像表一样被查询、修改、删除和更新。使用视图有下列优点。</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）为用户集中数据，简化用户的数据查询和处理。有时用户所需要的数据分散在多个表中，定义视图可将它们集中在一起，从而方便用户进行数据查询和处理。</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）屏蔽数据库的复杂性。用户不必了解复杂的数据库中的表结构，并且数据库表的更改也不影响用户对数据库的使用。</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）简化用户权限的管理。只需授予用户使用视图的权限，而不必指定用户只能使用表的特定列，也增加了安全性。</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a:t>
            </a:r>
            <a:r>
              <a:rPr lang="en-US" altLang="zh-CN" dirty="0">
                <a:latin typeface="+mn-lt"/>
                <a:ea typeface="+mn-ea"/>
              </a:rPr>
              <a:t>4</a:t>
            </a:r>
            <a:r>
              <a:rPr lang="zh-CN" altLang="zh-CN" dirty="0">
                <a:latin typeface="+mn-lt"/>
                <a:ea typeface="+mn-ea"/>
              </a:rPr>
              <a:t>）便于数据共享。各用户不必都定义和存储自己所需的数据，而可共享数据库的数据，这样，同样的数据只需存储一次。</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a:t>
            </a:r>
            <a:r>
              <a:rPr lang="en-US" altLang="zh-CN" dirty="0">
                <a:latin typeface="+mn-lt"/>
                <a:ea typeface="+mn-ea"/>
              </a:rPr>
              <a:t>5</a:t>
            </a:r>
            <a:r>
              <a:rPr lang="zh-CN" altLang="zh-CN" dirty="0">
                <a:latin typeface="+mn-lt"/>
                <a:ea typeface="+mn-ea"/>
              </a:rPr>
              <a:t>）可以重新组织数据以便输出到其他应用程序中。</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在使用视图时，要注意以下几点。</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）只有在当前数据库中才能创建视图。视图的命名必须遵循标识符命名规则，不能与表同名。</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）不能把规则、默认值或触发器与视图相关联。</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4.2.2  </a:t>
            </a:r>
            <a:r>
              <a:rPr lang="zh-CN" altLang="zh-CN" dirty="0">
                <a:effectLst/>
              </a:rPr>
              <a:t>创建视图：</a:t>
            </a:r>
            <a:r>
              <a:rPr lang="en-US" altLang="zh-CN" dirty="0">
                <a:effectLst/>
              </a:rPr>
              <a:t>CREATE VIEW</a:t>
            </a:r>
            <a:endParaRPr lang="zh-CN" altLang="zh-CN" dirty="0">
              <a:effectLst/>
            </a:endParaRPr>
          </a:p>
        </p:txBody>
      </p:sp>
      <p:sp>
        <p:nvSpPr>
          <p:cNvPr id="70659" name="TextBox 2"/>
          <p:cNvSpPr txBox="1">
            <a:spLocks noChangeArrowheads="1"/>
          </p:cNvSpPr>
          <p:nvPr/>
        </p:nvSpPr>
        <p:spPr bwMode="auto">
          <a:xfrm>
            <a:off x="468313" y="1341438"/>
            <a:ext cx="8280400" cy="286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．通过界面创建视图</a:t>
            </a:r>
            <a:endParaRPr lang="zh-CN" altLang="zh-CN" b="1">
              <a:solidFill>
                <a:srgbClr val="C00000"/>
              </a:solidFill>
            </a:endParaRPr>
          </a:p>
          <a:p>
            <a:pPr eaLnBrk="1" fontAlgn="ctr" hangingPunct="1"/>
            <a:r>
              <a:rPr lang="zh-CN" altLang="zh-CN"/>
              <a:t>其主要步骤如下。</a:t>
            </a:r>
            <a:endParaRPr lang="zh-CN" altLang="zh-CN"/>
          </a:p>
          <a:p>
            <a:pPr eaLnBrk="1" fontAlgn="ctr" hangingPunct="1"/>
            <a:r>
              <a:rPr lang="zh-CN" altLang="zh-CN"/>
              <a:t>（</a:t>
            </a:r>
            <a:r>
              <a:rPr lang="en-US" altLang="zh-CN"/>
              <a:t>1</a:t>
            </a:r>
            <a:r>
              <a:rPr lang="zh-CN" altLang="zh-CN"/>
              <a:t>）启动“</a:t>
            </a:r>
            <a:r>
              <a:rPr lang="en-US" altLang="zh-CN"/>
              <a:t>SSMS</a:t>
            </a:r>
            <a:r>
              <a:rPr lang="zh-CN" altLang="zh-CN"/>
              <a:t>”，在“对象资源管理器”中展开“数据库”→“</a:t>
            </a:r>
            <a:r>
              <a:rPr lang="en-US" altLang="zh-CN"/>
              <a:t>pxscj</a:t>
            </a:r>
            <a:r>
              <a:rPr lang="zh-CN" altLang="zh-CN"/>
              <a:t>”，选择其中的“视图”项，单击鼠标右键，在弹出的快捷菜单中选择“新建视图”菜单项。</a:t>
            </a:r>
            <a:endParaRPr lang="zh-CN" altLang="zh-CN"/>
          </a:p>
          <a:p>
            <a:pPr eaLnBrk="1" fontAlgn="ctr" hangingPunct="1"/>
            <a:r>
              <a:rPr lang="zh-CN" altLang="zh-CN"/>
              <a:t>（</a:t>
            </a:r>
            <a:r>
              <a:rPr lang="en-US" altLang="zh-CN"/>
              <a:t>2</a:t>
            </a:r>
            <a:r>
              <a:rPr lang="zh-CN" altLang="zh-CN"/>
              <a:t>）在随后出现的“添加表”对话框中，添加所需要关联的基本表、视图、函数、同义词。这里只使用“表”选项卡，选择表“</a:t>
            </a:r>
            <a:r>
              <a:rPr lang="en-US" altLang="zh-CN"/>
              <a:t>xsb</a:t>
            </a:r>
            <a:r>
              <a:rPr lang="zh-CN" altLang="zh-CN"/>
              <a:t>”，如图</a:t>
            </a:r>
            <a:r>
              <a:rPr lang="en-US" altLang="zh-CN"/>
              <a:t>4.24</a:t>
            </a:r>
            <a:r>
              <a:rPr lang="zh-CN" altLang="zh-CN"/>
              <a:t>所示，单击“添加”按钮。如果还需要添加其他表，则可以继续选择添加；如果不再需要添加，可以单击“关闭”按钮关闭该窗口。</a:t>
            </a:r>
            <a:endParaRPr lang="zh-CN" altLang="zh-CN"/>
          </a:p>
          <a:p>
            <a:pPr eaLnBrk="1" hangingPunct="1"/>
            <a:endParaRPr lang="zh-CN" altLang="en-US"/>
          </a:p>
        </p:txBody>
      </p:sp>
      <p:pic>
        <p:nvPicPr>
          <p:cNvPr id="7066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87675" y="3975100"/>
            <a:ext cx="3168650" cy="255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zoom dir="in"/>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4.2.2  </a:t>
            </a:r>
            <a:r>
              <a:rPr lang="zh-CN" altLang="zh-CN" dirty="0">
                <a:effectLst/>
              </a:rPr>
              <a:t>创建视图：</a:t>
            </a:r>
            <a:r>
              <a:rPr lang="en-US" altLang="zh-CN" dirty="0">
                <a:effectLst/>
              </a:rPr>
              <a:t>CREATE VIEW</a:t>
            </a:r>
            <a:endParaRPr lang="zh-CN" altLang="en-US" dirty="0"/>
          </a:p>
        </p:txBody>
      </p:sp>
      <p:sp>
        <p:nvSpPr>
          <p:cNvPr id="71683" name="TextBox 2"/>
          <p:cNvSpPr txBox="1">
            <a:spLocks noChangeArrowheads="1"/>
          </p:cNvSpPr>
          <p:nvPr/>
        </p:nvSpPr>
        <p:spPr bwMode="auto">
          <a:xfrm>
            <a:off x="539750" y="1484313"/>
            <a:ext cx="820896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a:t>
            </a:r>
            <a:r>
              <a:rPr lang="en-US" altLang="zh-CN"/>
              <a:t>3</a:t>
            </a:r>
            <a:r>
              <a:rPr lang="zh-CN" altLang="zh-CN"/>
              <a:t>）基本表添加完后，在“视图”选项卡的“关系图”区域中显示了基本表的全部列信息，如图</a:t>
            </a:r>
            <a:r>
              <a:rPr lang="en-US" altLang="zh-CN"/>
              <a:t>4.25</a:t>
            </a:r>
            <a:r>
              <a:rPr lang="zh-CN" altLang="zh-CN"/>
              <a:t>所示。</a:t>
            </a:r>
            <a:endParaRPr lang="zh-CN" altLang="en-US"/>
          </a:p>
        </p:txBody>
      </p:sp>
      <p:pic>
        <p:nvPicPr>
          <p:cNvPr id="7168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51050" y="2205038"/>
            <a:ext cx="4986338" cy="349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468313" y="5699125"/>
            <a:ext cx="8280400" cy="923925"/>
          </a:xfrm>
          <a:prstGeom prst="rect">
            <a:avLst/>
          </a:prstGeom>
          <a:noFill/>
        </p:spPr>
        <p:txBody>
          <a:bodyPr>
            <a:spAutoFit/>
          </a:bodyPr>
          <a:lstStyle/>
          <a:p>
            <a:pPr indent="450850" fontAlgn="auto">
              <a:spcBef>
                <a:spcPts val="0"/>
              </a:spcBef>
              <a:spcAft>
                <a:spcPts val="0"/>
              </a:spcAft>
              <a:defRPr/>
            </a:pPr>
            <a:r>
              <a:rPr lang="zh-CN" altLang="zh-CN" dirty="0">
                <a:latin typeface="+mn-lt"/>
                <a:ea typeface="+mn-ea"/>
              </a:rPr>
              <a:t>（</a:t>
            </a:r>
            <a:r>
              <a:rPr lang="en-US" altLang="zh-CN" dirty="0">
                <a:latin typeface="+mn-lt"/>
                <a:ea typeface="+mn-ea"/>
              </a:rPr>
              <a:t>4</a:t>
            </a:r>
            <a:r>
              <a:rPr lang="zh-CN" altLang="zh-CN" dirty="0">
                <a:latin typeface="+mn-lt"/>
                <a:ea typeface="+mn-ea"/>
              </a:rPr>
              <a:t>）出现“保存视图”对话框，在其中输入视图名“</a:t>
            </a:r>
            <a:r>
              <a:rPr lang="en-US" altLang="zh-CN" dirty="0" err="1">
                <a:latin typeface="+mn-lt"/>
                <a:ea typeface="+mn-ea"/>
              </a:rPr>
              <a:t>cxs</a:t>
            </a:r>
            <a:r>
              <a:rPr lang="zh-CN" altLang="zh-CN" dirty="0">
                <a:latin typeface="+mn-lt"/>
                <a:ea typeface="+mn-ea"/>
              </a:rPr>
              <a:t>”，并单击“确定”按钮，便完成了视图的创建。</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581525"/>
            <a:ext cx="7848600" cy="11509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349500"/>
            <a:ext cx="7848600" cy="19431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4.2.2  </a:t>
            </a:r>
            <a:r>
              <a:rPr lang="zh-CN" altLang="zh-CN" dirty="0">
                <a:effectLst/>
              </a:rPr>
              <a:t>创建视图：</a:t>
            </a:r>
            <a:r>
              <a:rPr lang="en-US" altLang="zh-CN" dirty="0">
                <a:effectLst/>
              </a:rPr>
              <a:t>CREATE VIEW</a:t>
            </a:r>
            <a:endParaRPr lang="zh-CN" altLang="en-US" dirty="0"/>
          </a:p>
        </p:txBody>
      </p:sp>
      <p:sp>
        <p:nvSpPr>
          <p:cNvPr id="72709" name="TextBox 2"/>
          <p:cNvSpPr txBox="1">
            <a:spLocks noChangeArrowheads="1"/>
          </p:cNvSpPr>
          <p:nvPr/>
        </p:nvSpPr>
        <p:spPr bwMode="auto">
          <a:xfrm>
            <a:off x="395288" y="1484313"/>
            <a:ext cx="8280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．通过命令创建视图</a:t>
            </a:r>
            <a:endParaRPr lang="zh-CN" altLang="zh-CN" b="1">
              <a:solidFill>
                <a:srgbClr val="C00000"/>
              </a:solidFill>
            </a:endParaRPr>
          </a:p>
          <a:p>
            <a:pPr eaLnBrk="1" fontAlgn="ctr" hangingPunct="1"/>
            <a:r>
              <a:rPr lang="en-US" altLang="zh-CN"/>
              <a:t>T-SQL</a:t>
            </a:r>
            <a:r>
              <a:rPr lang="zh-CN" altLang="zh-CN"/>
              <a:t>中用于创建视图的语句是</a:t>
            </a:r>
            <a:r>
              <a:rPr lang="en-US" altLang="zh-CN"/>
              <a:t>CREATE VIEW</a:t>
            </a:r>
            <a:r>
              <a:rPr lang="zh-CN" altLang="zh-CN"/>
              <a:t>语句，例如，用该语句创建视图</a:t>
            </a:r>
            <a:r>
              <a:rPr lang="en-US" altLang="zh-CN"/>
              <a:t>cxs1</a:t>
            </a:r>
            <a:r>
              <a:rPr lang="zh-CN" altLang="zh-CN"/>
              <a:t>，其表示形式为：</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CREATE VIEW cxs1</a:t>
            </a:r>
            <a:endParaRPr lang="zh-CN" altLang="zh-CN"/>
          </a:p>
          <a:p>
            <a:pPr eaLnBrk="1" hangingPunct="1"/>
            <a:r>
              <a:rPr lang="en-US" altLang="zh-CN"/>
              <a:t>     AS</a:t>
            </a:r>
            <a:endParaRPr lang="zh-CN" altLang="zh-CN"/>
          </a:p>
          <a:p>
            <a:pPr eaLnBrk="1" hangingPunct="1"/>
            <a:r>
              <a:rPr lang="en-US" altLang="zh-CN"/>
              <a:t>          SELECT *</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计算机</a:t>
            </a:r>
            <a:r>
              <a:rPr lang="en-US" altLang="zh-CN"/>
              <a:t>'</a:t>
            </a:r>
            <a:endParaRPr lang="zh-CN" altLang="zh-CN"/>
          </a:p>
          <a:p>
            <a:pPr eaLnBrk="1" fontAlgn="ctr" hangingPunct="1"/>
            <a:r>
              <a:rPr lang="zh-CN" altLang="zh-CN"/>
              <a:t>语法格式：</a:t>
            </a:r>
            <a:endParaRPr lang="zh-CN" altLang="zh-CN"/>
          </a:p>
          <a:p>
            <a:pPr eaLnBrk="1" hangingPunct="1"/>
            <a:r>
              <a:rPr lang="en-US" altLang="zh-CN"/>
              <a:t>CREATE VIEW [</a:t>
            </a:r>
            <a:r>
              <a:rPr lang="zh-CN" altLang="zh-CN"/>
              <a:t>架构名</a:t>
            </a:r>
            <a:r>
              <a:rPr lang="en-US" altLang="zh-CN"/>
              <a:t> . ]</a:t>
            </a:r>
            <a:r>
              <a:rPr lang="zh-CN" altLang="zh-CN"/>
              <a:t>视图名</a:t>
            </a:r>
            <a:r>
              <a:rPr lang="en-US" altLang="zh-CN"/>
              <a:t>[ (</a:t>
            </a:r>
            <a:r>
              <a:rPr lang="zh-CN" altLang="zh-CN"/>
              <a:t>列</a:t>
            </a:r>
            <a:r>
              <a:rPr lang="en-US" altLang="zh-CN"/>
              <a:t>[ , ... ] ) ]</a:t>
            </a:r>
            <a:endParaRPr lang="zh-CN" altLang="zh-CN"/>
          </a:p>
          <a:p>
            <a:pPr eaLnBrk="1" hangingPunct="1"/>
            <a:r>
              <a:rPr lang="en-US" altLang="zh-CN"/>
              <a:t>[ WITH &lt;</a:t>
            </a:r>
            <a:r>
              <a:rPr lang="zh-CN" altLang="zh-CN"/>
              <a:t>视图属性</a:t>
            </a:r>
            <a:r>
              <a:rPr lang="en-US" altLang="zh-CN"/>
              <a:t>&gt; [ , ... ] ]</a:t>
            </a:r>
            <a:endParaRPr lang="zh-CN" altLang="zh-CN"/>
          </a:p>
          <a:p>
            <a:pPr eaLnBrk="1" hangingPunct="1"/>
            <a:r>
              <a:rPr lang="en-US" altLang="zh-CN"/>
              <a:t>     AS SELECT</a:t>
            </a:r>
            <a:r>
              <a:rPr lang="zh-CN" altLang="zh-CN"/>
              <a:t>语句</a:t>
            </a:r>
            <a:r>
              <a:rPr lang="en-US" altLang="zh-CN"/>
              <a:t>[ ; ]</a:t>
            </a:r>
            <a:endParaRPr lang="zh-CN" altLang="zh-CN"/>
          </a:p>
          <a:p>
            <a:pPr eaLnBrk="1" hangingPunct="1"/>
            <a:r>
              <a:rPr lang="en-US" altLang="zh-CN"/>
              <a:t>[ WITH CHECK OPTION ]</a:t>
            </a:r>
            <a:endParaRPr lang="zh-CN" altLang="zh-CN"/>
          </a:p>
          <a:p>
            <a:pPr eaLnBrk="1" hangingPunct="1"/>
            <a:endParaRPr lang="zh-CN" altLang="en-US"/>
          </a:p>
        </p:txBody>
      </p:sp>
    </p:spTree>
  </p:cSld>
  <p:clrMapOvr>
    <a:masterClrMapping/>
  </p:clrMapOvr>
  <p:transition spd="slow">
    <p:zoom dir="in"/>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4.2.2  </a:t>
            </a:r>
            <a:r>
              <a:rPr lang="zh-CN" altLang="zh-CN" dirty="0">
                <a:effectLst/>
              </a:rPr>
              <a:t>创建视图：</a:t>
            </a:r>
            <a:r>
              <a:rPr lang="en-US" altLang="zh-CN" dirty="0">
                <a:effectLst/>
              </a:rPr>
              <a:t>CREATE VIEW</a:t>
            </a:r>
            <a:endParaRPr lang="zh-CN" altLang="en-US" dirty="0"/>
          </a:p>
        </p:txBody>
      </p:sp>
      <p:sp>
        <p:nvSpPr>
          <p:cNvPr id="73731" name="TextBox 2"/>
          <p:cNvSpPr txBox="1">
            <a:spLocks noChangeArrowheads="1"/>
          </p:cNvSpPr>
          <p:nvPr/>
        </p:nvSpPr>
        <p:spPr bwMode="auto">
          <a:xfrm>
            <a:off x="395288" y="1412875"/>
            <a:ext cx="8280400"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lnSpc>
                <a:spcPct val="150000"/>
              </a:lnSpc>
            </a:pPr>
            <a:r>
              <a:rPr lang="zh-CN" altLang="zh-CN" b="1"/>
              <a:t>（</a:t>
            </a:r>
            <a:r>
              <a:rPr lang="en-US" altLang="zh-CN" b="1"/>
              <a:t>1</a:t>
            </a:r>
            <a:r>
              <a:rPr lang="zh-CN" altLang="zh-CN" b="1"/>
              <a:t>）语句主体</a:t>
            </a:r>
            <a:endParaRPr lang="zh-CN" altLang="zh-CN" b="1"/>
          </a:p>
          <a:p>
            <a:pPr eaLnBrk="1" fontAlgn="ctr" hangingPunct="1">
              <a:lnSpc>
                <a:spcPct val="150000"/>
              </a:lnSpc>
            </a:pPr>
            <a:r>
              <a:rPr lang="en-US" altLang="zh-CN"/>
              <a:t>CREATE VIEW</a:t>
            </a:r>
            <a:r>
              <a:rPr lang="zh-CN" altLang="zh-CN"/>
              <a:t>语句主体结构说明如下。</a:t>
            </a:r>
            <a:endParaRPr lang="zh-CN" altLang="zh-CN"/>
          </a:p>
          <a:p>
            <a:pPr eaLnBrk="1" fontAlgn="ctr" hangingPunct="1">
              <a:lnSpc>
                <a:spcPct val="150000"/>
              </a:lnSpc>
            </a:pPr>
            <a:r>
              <a:rPr lang="zh-CN" altLang="zh-CN"/>
              <a:t>① 架构名：数据库架构名。</a:t>
            </a:r>
            <a:endParaRPr lang="zh-CN" altLang="zh-CN"/>
          </a:p>
          <a:p>
            <a:pPr eaLnBrk="1" fontAlgn="ctr" hangingPunct="1">
              <a:lnSpc>
                <a:spcPct val="150000"/>
              </a:lnSpc>
            </a:pPr>
            <a:r>
              <a:rPr lang="zh-CN" altLang="zh-CN"/>
              <a:t>② 列：列名，它是视图中包含的列，可以有多个列名。若使用与源表或视图相同的列名时，则不必给出列名。</a:t>
            </a:r>
            <a:endParaRPr lang="zh-CN" altLang="zh-CN"/>
          </a:p>
          <a:p>
            <a:pPr eaLnBrk="1" fontAlgn="ctr" hangingPunct="1">
              <a:lnSpc>
                <a:spcPct val="150000"/>
              </a:lnSpc>
            </a:pPr>
            <a:r>
              <a:rPr lang="zh-CN" altLang="zh-CN"/>
              <a:t>③</a:t>
            </a:r>
            <a:r>
              <a:rPr lang="en-US" altLang="zh-CN"/>
              <a:t> WITH &lt;</a:t>
            </a:r>
            <a:r>
              <a:rPr lang="zh-CN" altLang="zh-CN"/>
              <a:t>视图属性</a:t>
            </a:r>
            <a:r>
              <a:rPr lang="en-US" altLang="zh-CN"/>
              <a:t>&gt;</a:t>
            </a:r>
            <a:r>
              <a:rPr lang="zh-CN" altLang="zh-CN"/>
              <a:t>：指出视图的属性。</a:t>
            </a:r>
            <a:endParaRPr lang="zh-CN" altLang="zh-CN"/>
          </a:p>
          <a:p>
            <a:pPr eaLnBrk="1" fontAlgn="ctr" hangingPunct="1">
              <a:lnSpc>
                <a:spcPct val="150000"/>
              </a:lnSpc>
            </a:pPr>
            <a:r>
              <a:rPr lang="zh-CN" altLang="zh-CN"/>
              <a:t>④</a:t>
            </a:r>
            <a:r>
              <a:rPr lang="en-US" altLang="zh-CN"/>
              <a:t> Select</a:t>
            </a:r>
            <a:r>
              <a:rPr lang="zh-CN" altLang="zh-CN"/>
              <a:t>语句：用来创建视图的</a:t>
            </a:r>
            <a:r>
              <a:rPr lang="en-US" altLang="zh-CN"/>
              <a:t>SELECT</a:t>
            </a:r>
            <a:r>
              <a:rPr lang="zh-CN" altLang="zh-CN"/>
              <a:t>语句，可在</a:t>
            </a:r>
            <a:r>
              <a:rPr lang="en-US" altLang="zh-CN"/>
              <a:t>SELECT</a:t>
            </a:r>
            <a:r>
              <a:rPr lang="zh-CN" altLang="zh-CN"/>
              <a:t>语句中查询多个表或视图，以表明新创建的视图所参照的表或视图。</a:t>
            </a:r>
            <a:endParaRPr lang="zh-CN" altLang="zh-CN"/>
          </a:p>
          <a:p>
            <a:pPr eaLnBrk="1" hangingPunct="1">
              <a:lnSpc>
                <a:spcPct val="150000"/>
              </a:lnSpc>
            </a:pPr>
            <a:r>
              <a:rPr lang="zh-CN" altLang="zh-CN"/>
              <a:t>⑤</a:t>
            </a:r>
            <a:r>
              <a:rPr lang="en-US" altLang="zh-CN"/>
              <a:t> WITH CHECK OPTION</a:t>
            </a:r>
            <a:r>
              <a:rPr lang="zh-CN" altLang="zh-CN"/>
              <a:t>：指出在视图上所进行的修改都要符合</a:t>
            </a:r>
            <a:r>
              <a:rPr lang="en-US" altLang="zh-CN"/>
              <a:t>SELECT</a:t>
            </a:r>
            <a:r>
              <a:rPr lang="zh-CN" altLang="zh-CN"/>
              <a:t>语句所指定的限制条件，这样可以确保数据修改后，仍可通过视图看到修改的数据。</a:t>
            </a:r>
            <a:endParaRPr lang="zh-CN" altLang="zh-CN"/>
          </a:p>
          <a:p>
            <a:pPr eaLnBrk="1" hangingPunct="1">
              <a:lnSpc>
                <a:spcPct val="150000"/>
              </a:lnSpc>
            </a:pPr>
            <a:endParaRPr lang="zh-CN" altLang="en-US"/>
          </a:p>
        </p:txBody>
      </p:sp>
    </p:spTree>
  </p:cSld>
  <p:clrMapOvr>
    <a:masterClrMapping/>
  </p:clrMapOvr>
  <p:transition spd="slow">
    <p:blinds dir="vert"/>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133600"/>
            <a:ext cx="7775575" cy="15827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4.2.2  </a:t>
            </a:r>
            <a:r>
              <a:rPr lang="zh-CN" altLang="zh-CN" dirty="0">
                <a:effectLst/>
              </a:rPr>
              <a:t>创建视图：</a:t>
            </a:r>
            <a:r>
              <a:rPr lang="en-US" altLang="zh-CN" dirty="0">
                <a:effectLst/>
              </a:rPr>
              <a:t>CREATE VIEW</a:t>
            </a:r>
            <a:endParaRPr lang="zh-CN" altLang="en-US" dirty="0"/>
          </a:p>
        </p:txBody>
      </p:sp>
      <p:sp>
        <p:nvSpPr>
          <p:cNvPr id="74756" name="TextBox 2"/>
          <p:cNvSpPr txBox="1">
            <a:spLocks noChangeArrowheads="1"/>
          </p:cNvSpPr>
          <p:nvPr/>
        </p:nvSpPr>
        <p:spPr bwMode="auto">
          <a:xfrm>
            <a:off x="468313" y="1484313"/>
            <a:ext cx="820737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b="1"/>
              <a:t>（</a:t>
            </a:r>
            <a:r>
              <a:rPr lang="en-US" altLang="zh-CN" b="1"/>
              <a:t>2</a:t>
            </a:r>
            <a:r>
              <a:rPr lang="zh-CN" altLang="zh-CN" b="1"/>
              <a:t>）</a:t>
            </a:r>
            <a:r>
              <a:rPr lang="en-US" altLang="zh-CN" b="1"/>
              <a:t>&lt;</a:t>
            </a:r>
            <a:r>
              <a:rPr lang="zh-CN" altLang="zh-CN" b="1"/>
              <a:t>视图属性</a:t>
            </a:r>
            <a:r>
              <a:rPr lang="en-US" altLang="zh-CN" b="1"/>
              <a:t>&gt;</a:t>
            </a:r>
            <a:r>
              <a:rPr lang="zh-CN" altLang="zh-CN" b="1"/>
              <a:t>定义</a:t>
            </a:r>
            <a:endParaRPr lang="zh-CN" altLang="zh-CN" b="1"/>
          </a:p>
          <a:p>
            <a:pPr eaLnBrk="1" fontAlgn="ctr" hangingPunct="1"/>
            <a:r>
              <a:rPr lang="en-US" altLang="zh-CN"/>
              <a:t>&lt;</a:t>
            </a:r>
            <a:r>
              <a:rPr lang="zh-CN" altLang="zh-CN"/>
              <a:t>视图属性</a:t>
            </a:r>
            <a:r>
              <a:rPr lang="en-US" altLang="zh-CN"/>
              <a:t>&gt;</a:t>
            </a:r>
            <a:r>
              <a:rPr lang="zh-CN" altLang="zh-CN"/>
              <a:t>定义的具体格式如下：</a:t>
            </a:r>
            <a:endParaRPr lang="zh-CN" altLang="zh-CN"/>
          </a:p>
          <a:p>
            <a:pPr eaLnBrk="1" hangingPunct="1"/>
            <a:r>
              <a:rPr lang="en-US" altLang="zh-CN"/>
              <a:t>&lt;</a:t>
            </a:r>
            <a:r>
              <a:rPr lang="zh-CN" altLang="zh-CN"/>
              <a:t>视图属性</a:t>
            </a:r>
            <a:r>
              <a:rPr lang="en-US" altLang="zh-CN"/>
              <a:t>&gt; ::=</a:t>
            </a:r>
            <a:endParaRPr lang="zh-CN" altLang="zh-CN"/>
          </a:p>
          <a:p>
            <a:pPr eaLnBrk="1" hangingPunct="1"/>
            <a:r>
              <a:rPr lang="en-US" altLang="zh-CN"/>
              <a:t>{</a:t>
            </a:r>
            <a:endParaRPr lang="zh-CN" altLang="zh-CN"/>
          </a:p>
          <a:p>
            <a:pPr eaLnBrk="1" hangingPunct="1"/>
            <a:r>
              <a:rPr lang="en-US" altLang="zh-CN"/>
              <a:t>      [ ENCRYPTION ]</a:t>
            </a:r>
            <a:endParaRPr lang="zh-CN" altLang="zh-CN"/>
          </a:p>
          <a:p>
            <a:pPr eaLnBrk="1" hangingPunct="1"/>
            <a:r>
              <a:rPr lang="en-US" altLang="zh-CN"/>
              <a:t>      [ SCHEMABINDING ]</a:t>
            </a:r>
            <a:endParaRPr lang="zh-CN" altLang="zh-CN"/>
          </a:p>
          <a:p>
            <a:pPr eaLnBrk="1" hangingPunct="1"/>
            <a:r>
              <a:rPr lang="en-US" altLang="zh-CN"/>
              <a:t>      [ VIEW_METADATA ]</a:t>
            </a:r>
            <a:endParaRPr lang="zh-CN" altLang="zh-CN"/>
          </a:p>
          <a:p>
            <a:pPr eaLnBrk="1" hangingPunct="1"/>
            <a:r>
              <a:rPr lang="en-US" altLang="zh-CN"/>
              <a:t>}</a:t>
            </a:r>
            <a:endParaRPr lang="zh-CN" altLang="zh-CN"/>
          </a:p>
          <a:p>
            <a:pPr eaLnBrk="1" fontAlgn="ctr" hangingPunct="1"/>
            <a:r>
              <a:rPr lang="zh-CN" altLang="zh-CN"/>
              <a:t>①</a:t>
            </a:r>
            <a:r>
              <a:rPr lang="en-US" altLang="zh-CN"/>
              <a:t> ENCRYPTION</a:t>
            </a:r>
            <a:r>
              <a:rPr lang="zh-CN" altLang="zh-CN"/>
              <a:t>：说明在系统表</a:t>
            </a:r>
            <a:r>
              <a:rPr lang="en-US" altLang="zh-CN"/>
              <a:t>syscomments</a:t>
            </a:r>
            <a:r>
              <a:rPr lang="zh-CN" altLang="zh-CN"/>
              <a:t>中存储</a:t>
            </a:r>
            <a:r>
              <a:rPr lang="en-US" altLang="zh-CN"/>
              <a:t>CREATE VIEW</a:t>
            </a:r>
            <a:r>
              <a:rPr lang="zh-CN" altLang="zh-CN"/>
              <a:t>语句时进行加密。</a:t>
            </a:r>
            <a:endParaRPr lang="zh-CN" altLang="zh-CN"/>
          </a:p>
          <a:p>
            <a:pPr eaLnBrk="1" fontAlgn="ctr" hangingPunct="1"/>
            <a:r>
              <a:rPr lang="zh-CN" altLang="zh-CN"/>
              <a:t>②</a:t>
            </a:r>
            <a:r>
              <a:rPr lang="en-US" altLang="zh-CN"/>
              <a:t> SCHEMABINDING</a:t>
            </a:r>
            <a:r>
              <a:rPr lang="zh-CN" altLang="zh-CN"/>
              <a:t>：说明将视图与其所依赖的表或视图结构相关联。</a:t>
            </a:r>
            <a:endParaRPr lang="zh-CN" altLang="zh-CN"/>
          </a:p>
          <a:p>
            <a:pPr eaLnBrk="1" fontAlgn="ctr" hangingPunct="1"/>
            <a:r>
              <a:rPr lang="zh-CN" altLang="zh-CN"/>
              <a:t>③</a:t>
            </a:r>
            <a:r>
              <a:rPr lang="en-US" altLang="zh-CN"/>
              <a:t> VIEW_METADATA</a:t>
            </a:r>
            <a:r>
              <a:rPr lang="zh-CN" altLang="zh-CN"/>
              <a:t>：当引用视图的浏览模式的元数据时，向</a:t>
            </a:r>
            <a:r>
              <a:rPr lang="en-US" altLang="zh-CN"/>
              <a:t>DBLIB</a:t>
            </a:r>
            <a:r>
              <a:rPr lang="zh-CN" altLang="zh-CN"/>
              <a:t>、</a:t>
            </a:r>
            <a:r>
              <a:rPr lang="en-US" altLang="zh-CN"/>
              <a:t>ODBC</a:t>
            </a:r>
            <a:r>
              <a:rPr lang="zh-CN" altLang="zh-CN"/>
              <a:t>或</a:t>
            </a:r>
            <a:r>
              <a:rPr lang="en-US" altLang="zh-CN"/>
              <a:t>OLEDB API</a:t>
            </a:r>
            <a:r>
              <a:rPr lang="zh-CN" altLang="zh-CN"/>
              <a:t>返回有关视图的元数据信息，而不返回基表的元数据信息。</a:t>
            </a:r>
            <a:endParaRPr lang="zh-CN" altLang="zh-CN"/>
          </a:p>
          <a:p>
            <a:pPr eaLnBrk="1" hangingPunct="1"/>
            <a:endParaRPr lang="zh-CN" altLang="en-US"/>
          </a:p>
        </p:txBody>
      </p:sp>
    </p:spTree>
  </p:cSld>
  <p:clrMapOvr>
    <a:masterClrMapping/>
  </p:clrMapOvr>
  <p:transition spd="slow">
    <p:zoom dir="in"/>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71550" y="2133600"/>
            <a:ext cx="7704138" cy="22320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4.2.2  </a:t>
            </a:r>
            <a:r>
              <a:rPr lang="zh-CN" altLang="zh-CN" dirty="0">
                <a:effectLst/>
              </a:rPr>
              <a:t>创建视图：</a:t>
            </a:r>
            <a:r>
              <a:rPr lang="en-US" altLang="zh-CN" dirty="0">
                <a:effectLst/>
              </a:rPr>
              <a:t>CREATE VIEW</a:t>
            </a:r>
            <a:endParaRPr lang="zh-CN" altLang="en-US" dirty="0"/>
          </a:p>
        </p:txBody>
      </p:sp>
      <p:sp>
        <p:nvSpPr>
          <p:cNvPr id="75780" name="TextBox 2"/>
          <p:cNvSpPr txBox="1">
            <a:spLocks noChangeArrowheads="1"/>
          </p:cNvSpPr>
          <p:nvPr/>
        </p:nvSpPr>
        <p:spPr bwMode="auto">
          <a:xfrm>
            <a:off x="539750" y="1557338"/>
            <a:ext cx="8135938" cy="313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4.56</a:t>
            </a:r>
            <a:r>
              <a:rPr lang="zh-CN" altLang="zh-CN"/>
              <a:t>】 创建</a:t>
            </a:r>
            <a:r>
              <a:rPr lang="en-US" altLang="zh-CN"/>
              <a:t>ccj</a:t>
            </a:r>
            <a:r>
              <a:rPr lang="zh-CN" altLang="zh-CN"/>
              <a:t>视图，包括计算机专业各学生的学号、其选修的课程号及成绩。要保证对该视图的修改都符合专业为计算机这个条件。</a:t>
            </a:r>
            <a:endParaRPr lang="zh-CN" altLang="zh-CN"/>
          </a:p>
          <a:p>
            <a:pPr eaLnBrk="1" hangingPunct="1"/>
            <a:r>
              <a:rPr lang="en-US" altLang="zh-CN"/>
              <a:t>USE pxscj	</a:t>
            </a:r>
            <a:endParaRPr lang="zh-CN" altLang="zh-CN"/>
          </a:p>
          <a:p>
            <a:pPr eaLnBrk="1" hangingPunct="1"/>
            <a:r>
              <a:rPr lang="en-US" altLang="zh-CN"/>
              <a:t>GO</a:t>
            </a:r>
            <a:endParaRPr lang="zh-CN" altLang="zh-CN"/>
          </a:p>
          <a:p>
            <a:pPr eaLnBrk="1" hangingPunct="1"/>
            <a:r>
              <a:rPr lang="en-US" altLang="zh-CN"/>
              <a:t>CREATE VIEW ccj WITH ENCRYPTION</a:t>
            </a:r>
            <a:endParaRPr lang="zh-CN" altLang="zh-CN"/>
          </a:p>
          <a:p>
            <a:pPr eaLnBrk="1" hangingPunct="1"/>
            <a:r>
              <a:rPr lang="en-US" altLang="zh-CN"/>
              <a:t>     AS</a:t>
            </a:r>
            <a:endParaRPr lang="zh-CN" altLang="zh-CN"/>
          </a:p>
          <a:p>
            <a:pPr eaLnBrk="1" hangingPunct="1"/>
            <a:r>
              <a:rPr lang="en-US" altLang="zh-CN"/>
              <a:t>          SELECT  xsb.</a:t>
            </a:r>
            <a:r>
              <a:rPr lang="zh-CN" altLang="zh-CN"/>
              <a:t>学号</a:t>
            </a:r>
            <a:r>
              <a:rPr lang="en-US" altLang="zh-CN"/>
              <a:t>,</a:t>
            </a:r>
            <a:r>
              <a:rPr lang="zh-CN" altLang="zh-CN"/>
              <a:t>课程号</a:t>
            </a:r>
            <a:r>
              <a:rPr lang="en-US" altLang="zh-CN"/>
              <a:t>,</a:t>
            </a:r>
            <a:r>
              <a:rPr lang="zh-CN" altLang="zh-CN"/>
              <a:t>成绩</a:t>
            </a:r>
            <a:endParaRPr lang="zh-CN" altLang="zh-CN"/>
          </a:p>
          <a:p>
            <a:pPr eaLnBrk="1" hangingPunct="1"/>
            <a:r>
              <a:rPr lang="en-US" altLang="zh-CN"/>
              <a:t>               FROM  xsb, cjb</a:t>
            </a:r>
            <a:endParaRPr lang="zh-CN" altLang="zh-CN"/>
          </a:p>
          <a:p>
            <a:pPr eaLnBrk="1" hangingPunct="1"/>
            <a:r>
              <a:rPr lang="en-US" altLang="zh-CN"/>
              <a:t>               WHERE  xsb.</a:t>
            </a:r>
            <a:r>
              <a:rPr lang="zh-CN" altLang="zh-CN"/>
              <a:t>学号</a:t>
            </a:r>
            <a:r>
              <a:rPr lang="en-US" altLang="zh-CN"/>
              <a:t>=cjb.</a:t>
            </a:r>
            <a:r>
              <a:rPr lang="zh-CN" altLang="zh-CN"/>
              <a:t>学号</a:t>
            </a:r>
            <a:r>
              <a:rPr lang="en-US" altLang="zh-CN"/>
              <a:t>AND</a:t>
            </a:r>
            <a:r>
              <a:rPr lang="zh-CN" altLang="zh-CN"/>
              <a:t>专业</a:t>
            </a:r>
            <a:r>
              <a:rPr lang="en-US" altLang="zh-CN"/>
              <a:t> = '</a:t>
            </a:r>
            <a:r>
              <a:rPr lang="zh-CN" altLang="zh-CN"/>
              <a:t>计算机</a:t>
            </a:r>
            <a:r>
              <a:rPr lang="en-US" altLang="zh-CN"/>
              <a:t>'</a:t>
            </a:r>
            <a:endParaRPr lang="zh-CN" altLang="zh-CN"/>
          </a:p>
          <a:p>
            <a:pPr eaLnBrk="1" hangingPunct="1"/>
            <a:r>
              <a:rPr lang="en-US" altLang="zh-CN"/>
              <a:t>     WITH CHECK OPTION</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3573463"/>
            <a:ext cx="7775575" cy="9350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060575"/>
            <a:ext cx="7775575" cy="12239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4.2.2  </a:t>
            </a:r>
            <a:r>
              <a:rPr lang="zh-CN" altLang="zh-CN" dirty="0">
                <a:effectLst/>
              </a:rPr>
              <a:t>创建视图：</a:t>
            </a:r>
            <a:r>
              <a:rPr lang="en-US" altLang="zh-CN" dirty="0">
                <a:effectLst/>
              </a:rPr>
              <a:t>CREATE VIEW</a:t>
            </a:r>
            <a:endParaRPr lang="zh-CN" altLang="en-US" dirty="0"/>
          </a:p>
        </p:txBody>
      </p:sp>
      <p:sp>
        <p:nvSpPr>
          <p:cNvPr id="76805" name="TextBox 2"/>
          <p:cNvSpPr txBox="1">
            <a:spLocks noChangeArrowheads="1"/>
          </p:cNvSpPr>
          <p:nvPr/>
        </p:nvSpPr>
        <p:spPr bwMode="auto">
          <a:xfrm>
            <a:off x="468313" y="1484313"/>
            <a:ext cx="8207375"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4.57</a:t>
            </a:r>
            <a:r>
              <a:rPr lang="zh-CN" altLang="zh-CN"/>
              <a:t>】 创建计算机专业学生的平均成绩视图</a:t>
            </a:r>
            <a:r>
              <a:rPr lang="en-US" altLang="zh-CN"/>
              <a:t>ccj_avg</a:t>
            </a:r>
            <a:r>
              <a:rPr lang="zh-CN" altLang="zh-CN"/>
              <a:t>，包括学号（在视图中列名为</a:t>
            </a:r>
            <a:r>
              <a:rPr lang="en-US" altLang="zh-CN"/>
              <a:t>num</a:t>
            </a:r>
            <a:r>
              <a:rPr lang="zh-CN" altLang="zh-CN"/>
              <a:t>）和平均成绩（在视图中列名为</a:t>
            </a:r>
            <a:r>
              <a:rPr lang="en-US" altLang="zh-CN"/>
              <a:t>score_avg</a:t>
            </a:r>
            <a:r>
              <a:rPr lang="zh-CN" altLang="zh-CN"/>
              <a:t>）。</a:t>
            </a:r>
            <a:endParaRPr lang="zh-CN" altLang="zh-CN"/>
          </a:p>
          <a:p>
            <a:pPr eaLnBrk="1" hangingPunct="1"/>
            <a:r>
              <a:rPr lang="en-US" altLang="zh-CN" sz="1600"/>
              <a:t>CREATE VIEW ccj_avg(num, score_avg)</a:t>
            </a:r>
            <a:endParaRPr lang="zh-CN" altLang="zh-CN" sz="1600"/>
          </a:p>
          <a:p>
            <a:pPr eaLnBrk="1" hangingPunct="1"/>
            <a:r>
              <a:rPr lang="en-US" altLang="zh-CN" sz="1600"/>
              <a:t>     AS</a:t>
            </a:r>
            <a:endParaRPr lang="zh-CN" altLang="zh-CN" sz="1600"/>
          </a:p>
          <a:p>
            <a:pPr eaLnBrk="1" hangingPunct="1"/>
            <a:r>
              <a:rPr lang="en-US" altLang="zh-CN" sz="1600"/>
              <a:t>     SELECT</a:t>
            </a:r>
            <a:r>
              <a:rPr lang="zh-CN" altLang="zh-CN" sz="1600"/>
              <a:t>学号</a:t>
            </a:r>
            <a:r>
              <a:rPr lang="en-US" altLang="zh-CN" sz="1600"/>
              <a:t>, AVG(</a:t>
            </a:r>
            <a:r>
              <a:rPr lang="zh-CN" altLang="zh-CN" sz="1600"/>
              <a:t>成绩</a:t>
            </a:r>
            <a:r>
              <a:rPr lang="en-US" altLang="zh-CN" sz="1600"/>
              <a:t>)</a:t>
            </a:r>
            <a:endParaRPr lang="zh-CN" altLang="zh-CN" sz="1600"/>
          </a:p>
          <a:p>
            <a:pPr eaLnBrk="1" hangingPunct="1"/>
            <a:r>
              <a:rPr lang="en-US" altLang="zh-CN" sz="1600"/>
              <a:t>          FROM  ccj</a:t>
            </a:r>
            <a:endParaRPr lang="zh-CN" altLang="zh-CN" sz="1600"/>
          </a:p>
          <a:p>
            <a:pPr eaLnBrk="1" hangingPunct="1"/>
            <a:r>
              <a:rPr lang="en-US" altLang="zh-CN" sz="1600"/>
              <a:t>          GROUP BY</a:t>
            </a:r>
            <a:r>
              <a:rPr lang="zh-CN" altLang="zh-CN" sz="1600"/>
              <a:t>学号</a:t>
            </a:r>
            <a:endParaRPr lang="zh-CN" altLang="zh-CN"/>
          </a:p>
          <a:p>
            <a:pPr eaLnBrk="1" fontAlgn="ctr" hangingPunct="1"/>
            <a:r>
              <a:rPr lang="zh-CN" altLang="zh-CN"/>
              <a:t>显示</a:t>
            </a:r>
            <a:r>
              <a:rPr lang="en-US" altLang="zh-CN"/>
              <a:t>ccj</a:t>
            </a:r>
            <a:r>
              <a:rPr lang="zh-CN" altLang="zh-CN"/>
              <a:t>和</a:t>
            </a:r>
            <a:r>
              <a:rPr lang="en-US" altLang="zh-CN"/>
              <a:t>ccj_avg</a:t>
            </a:r>
            <a:r>
              <a:rPr lang="zh-CN" altLang="zh-CN"/>
              <a:t>视图中的内容。</a:t>
            </a:r>
            <a:endParaRPr lang="zh-CN" altLang="zh-CN"/>
          </a:p>
          <a:p>
            <a:pPr eaLnBrk="1" hangingPunct="1"/>
            <a:r>
              <a:rPr lang="en-US" altLang="zh-CN" sz="1600"/>
              <a:t>SELECT * FROM ccj</a:t>
            </a:r>
            <a:endParaRPr lang="zh-CN" altLang="zh-CN" sz="1600"/>
          </a:p>
          <a:p>
            <a:pPr eaLnBrk="1" hangingPunct="1"/>
            <a:r>
              <a:rPr lang="en-US" altLang="zh-CN" sz="1600"/>
              <a:t>GO</a:t>
            </a:r>
            <a:endParaRPr lang="zh-CN" altLang="zh-CN" sz="1600"/>
          </a:p>
          <a:p>
            <a:pPr eaLnBrk="1" hangingPunct="1"/>
            <a:r>
              <a:rPr lang="en-US" altLang="zh-CN" sz="1600"/>
              <a:t>SELECT * FROM ccj_avg</a:t>
            </a:r>
            <a:endParaRPr lang="zh-CN" altLang="zh-CN" sz="1600"/>
          </a:p>
          <a:p>
            <a:pPr eaLnBrk="1" hangingPunct="1"/>
            <a:r>
              <a:rPr lang="en-US" altLang="zh-CN" sz="1600"/>
              <a:t>GO</a:t>
            </a:r>
            <a:endParaRPr lang="zh-CN" altLang="zh-CN" sz="1600"/>
          </a:p>
          <a:p>
            <a:pPr eaLnBrk="1" fontAlgn="ctr" hangingPunct="1"/>
            <a:r>
              <a:rPr lang="zh-CN" altLang="zh-CN"/>
              <a:t>执行结果如图</a:t>
            </a:r>
            <a:r>
              <a:rPr lang="en-US" altLang="zh-CN"/>
              <a:t>4.26</a:t>
            </a:r>
            <a:r>
              <a:rPr lang="zh-CN" altLang="zh-CN"/>
              <a:t>所示。</a:t>
            </a:r>
            <a:endParaRPr lang="zh-CN" altLang="zh-CN"/>
          </a:p>
          <a:p>
            <a:pPr eaLnBrk="1" hangingPunct="1"/>
            <a:endParaRPr lang="zh-CN" altLang="en-US"/>
          </a:p>
        </p:txBody>
      </p:sp>
      <p:pic>
        <p:nvPicPr>
          <p:cNvPr id="7680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63938" y="4597400"/>
            <a:ext cx="1800225" cy="186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680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5963" y="4581525"/>
            <a:ext cx="2106612" cy="1878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8" name="Rectangle 3"/>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76809" name="Rectangle 4"/>
          <p:cNvSpPr>
            <a:spLocks noChangeArrowheads="1"/>
          </p:cNvSpPr>
          <p:nvPr/>
        </p:nvSpPr>
        <p:spPr bwMode="auto">
          <a:xfrm>
            <a:off x="0" y="1701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gn="ctr"/>
            <a:r>
              <a:rPr lang="en-US" altLang="zh-CN" sz="1000">
                <a:latin typeface="Times New Roman" panose="02020603050405020304" pitchFamily="18" charset="0"/>
                <a:ea typeface="方正书宋简体"/>
                <a:cs typeface="Times New Roman" panose="02020603050405020304" pitchFamily="18" charset="0"/>
              </a:rPr>
              <a:t>  </a:t>
            </a:r>
            <a:endParaRPr lang="en-US" altLang="zh-CN">
              <a:latin typeface="Arial" panose="020B0604020202020204" pitchFamily="34" charset="0"/>
              <a:ea typeface="方正书宋简体"/>
              <a:cs typeface="Times New Roman" panose="02020603050405020304" pitchFamily="18" charset="0"/>
            </a:endParaRPr>
          </a:p>
        </p:txBody>
      </p:sp>
    </p:spTree>
  </p:cSld>
  <p:clrMapOvr>
    <a:masterClrMapping/>
  </p:clrMapOvr>
  <p:transition spd="slow">
    <p:zoom dir="in"/>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060575"/>
            <a:ext cx="7848600" cy="3024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4.2.2  </a:t>
            </a:r>
            <a:r>
              <a:rPr lang="zh-CN" altLang="zh-CN" dirty="0">
                <a:effectLst/>
              </a:rPr>
              <a:t>创建视图：</a:t>
            </a:r>
            <a:r>
              <a:rPr lang="en-US" altLang="zh-CN" dirty="0">
                <a:effectLst/>
              </a:rPr>
              <a:t>CREATE VIEW</a:t>
            </a:r>
            <a:endParaRPr lang="zh-CN" altLang="en-US" dirty="0"/>
          </a:p>
        </p:txBody>
      </p:sp>
      <p:sp>
        <p:nvSpPr>
          <p:cNvPr id="3" name="TextBox 2"/>
          <p:cNvSpPr txBox="1"/>
          <p:nvPr/>
        </p:nvSpPr>
        <p:spPr>
          <a:xfrm>
            <a:off x="468313" y="1484313"/>
            <a:ext cx="8280400" cy="3970337"/>
          </a:xfrm>
          <a:prstGeom prst="rect">
            <a:avLst/>
          </a:prstGeom>
          <a:noFill/>
        </p:spPr>
        <p:txBody>
          <a:bodyPr>
            <a:spAutoFit/>
          </a:bodyPr>
          <a:lstStyle/>
          <a:p>
            <a:pPr indent="450850" fontAlgn="ctr">
              <a:spcBef>
                <a:spcPts val="0"/>
              </a:spcBef>
              <a:spcAft>
                <a:spcPts val="0"/>
              </a:spcAft>
              <a:defRPr/>
            </a:pPr>
            <a:r>
              <a:rPr lang="zh-CN" altLang="zh-CN" b="1" dirty="0">
                <a:latin typeface="+mn-lt"/>
                <a:ea typeface="+mn-ea"/>
              </a:rPr>
              <a:t>（</a:t>
            </a:r>
            <a:r>
              <a:rPr lang="en-US" altLang="zh-CN" b="1" dirty="0">
                <a:latin typeface="+mn-lt"/>
                <a:ea typeface="+mn-ea"/>
              </a:rPr>
              <a:t>3</a:t>
            </a:r>
            <a:r>
              <a:rPr lang="zh-CN" altLang="zh-CN" b="1" dirty="0">
                <a:latin typeface="+mn-lt"/>
                <a:ea typeface="+mn-ea"/>
              </a:rPr>
              <a:t>）分区视图</a:t>
            </a:r>
            <a:endParaRPr lang="zh-CN" altLang="zh-CN" b="1" dirty="0">
              <a:latin typeface="+mn-lt"/>
              <a:ea typeface="+mn-ea"/>
            </a:endParaRPr>
          </a:p>
          <a:p>
            <a:pPr indent="450850" fontAlgn="ctr">
              <a:spcBef>
                <a:spcPts val="0"/>
              </a:spcBef>
              <a:spcAft>
                <a:spcPts val="0"/>
              </a:spcAft>
              <a:defRPr/>
            </a:pPr>
            <a:r>
              <a:rPr lang="zh-CN" altLang="zh-CN" dirty="0">
                <a:latin typeface="+mn-lt"/>
                <a:ea typeface="+mn-ea"/>
              </a:rPr>
              <a:t>在一般情况下，如果视图为下列格式，则称其为分区视图。</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CREATE VIEW</a:t>
            </a:r>
            <a:r>
              <a:rPr lang="zh-CN" altLang="zh-CN" dirty="0">
                <a:latin typeface="+mn-lt"/>
                <a:ea typeface="+mn-ea"/>
              </a:rPr>
              <a:t>视图名</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AS</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SELECT &lt;</a:t>
            </a:r>
            <a:r>
              <a:rPr lang="zh-CN" altLang="zh-CN" dirty="0">
                <a:latin typeface="+mn-lt"/>
                <a:ea typeface="+mn-ea"/>
              </a:rPr>
              <a:t>选择列表</a:t>
            </a:r>
            <a:r>
              <a:rPr lang="en-US" altLang="zh-CN" dirty="0">
                <a:latin typeface="+mn-lt"/>
                <a:ea typeface="+mn-ea"/>
              </a:rPr>
              <a:t>1&gt;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FROM T1</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UNION ALL</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SELECT &lt;</a:t>
            </a:r>
            <a:r>
              <a:rPr lang="zh-CN" altLang="zh-CN" dirty="0">
                <a:latin typeface="+mn-lt"/>
                <a:ea typeface="+mn-ea"/>
              </a:rPr>
              <a:t>选择列表</a:t>
            </a:r>
            <a:r>
              <a:rPr lang="en-US" altLang="zh-CN" dirty="0">
                <a:latin typeface="+mn-lt"/>
                <a:ea typeface="+mn-ea"/>
              </a:rPr>
              <a:t>2&gt;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FROM T2</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UNION ALL</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SELECT &lt;</a:t>
            </a:r>
            <a:r>
              <a:rPr lang="zh-CN" altLang="zh-CN" dirty="0">
                <a:latin typeface="+mn-lt"/>
                <a:ea typeface="+mn-ea"/>
              </a:rPr>
              <a:t>选择列表</a:t>
            </a:r>
            <a:r>
              <a:rPr lang="en-US" altLang="zh-CN" dirty="0">
                <a:latin typeface="+mn-lt"/>
                <a:ea typeface="+mn-ea"/>
              </a:rPr>
              <a:t>n&gt;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FROM </a:t>
            </a:r>
            <a:r>
              <a:rPr lang="en-US" altLang="zh-CN" dirty="0" err="1">
                <a:latin typeface="+mn-lt"/>
                <a:ea typeface="+mn-ea"/>
              </a:rPr>
              <a:t>Tn</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900113" y="5373688"/>
            <a:ext cx="7775575" cy="279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900113" y="4005263"/>
            <a:ext cx="7775575"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349500"/>
            <a:ext cx="7775575" cy="13668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4.2.3  </a:t>
            </a:r>
            <a:r>
              <a:rPr lang="zh-CN" altLang="zh-CN" dirty="0">
                <a:effectLst/>
              </a:rPr>
              <a:t>查询视图：</a:t>
            </a:r>
            <a:r>
              <a:rPr lang="en-US" altLang="zh-CN" dirty="0">
                <a:effectLst/>
              </a:rPr>
              <a:t>SELECT</a:t>
            </a:r>
            <a:endParaRPr lang="zh-CN" altLang="zh-CN" dirty="0">
              <a:effectLst/>
            </a:endParaRPr>
          </a:p>
        </p:txBody>
      </p:sp>
      <p:sp>
        <p:nvSpPr>
          <p:cNvPr id="78854" name="TextBox 2"/>
          <p:cNvSpPr txBox="1">
            <a:spLocks noChangeArrowheads="1"/>
          </p:cNvSpPr>
          <p:nvPr/>
        </p:nvSpPr>
        <p:spPr bwMode="auto">
          <a:xfrm>
            <a:off x="468313" y="1484313"/>
            <a:ext cx="8207375" cy="480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4.58</a:t>
            </a:r>
            <a:r>
              <a:rPr lang="zh-CN" altLang="zh-CN"/>
              <a:t>】 查找平均成绩在</a:t>
            </a:r>
            <a:r>
              <a:rPr lang="en-US" altLang="zh-CN"/>
              <a:t>80</a:t>
            </a:r>
            <a:r>
              <a:rPr lang="zh-CN" altLang="zh-CN"/>
              <a:t>分以上的学生的学号和平均成绩。</a:t>
            </a:r>
            <a:endParaRPr lang="zh-CN" altLang="zh-CN"/>
          </a:p>
          <a:p>
            <a:pPr eaLnBrk="1" fontAlgn="ctr" hangingPunct="1"/>
            <a:r>
              <a:rPr lang="zh-CN" altLang="zh-CN"/>
              <a:t>本例首先创建学生平均成绩视图</a:t>
            </a:r>
            <a:r>
              <a:rPr lang="en-US" altLang="zh-CN"/>
              <a:t>cj_avg</a:t>
            </a:r>
            <a:r>
              <a:rPr lang="zh-CN" altLang="zh-CN"/>
              <a:t>，包括学号（列名为</a:t>
            </a:r>
            <a:r>
              <a:rPr lang="en-US" altLang="zh-CN"/>
              <a:t>num</a:t>
            </a:r>
            <a:r>
              <a:rPr lang="zh-CN" altLang="zh-CN"/>
              <a:t>）和平均成绩（列名为</a:t>
            </a:r>
            <a:r>
              <a:rPr lang="en-US" altLang="zh-CN"/>
              <a:t>score_avg</a:t>
            </a:r>
            <a:r>
              <a:rPr lang="zh-CN" altLang="zh-CN"/>
              <a:t>）。</a:t>
            </a:r>
            <a:endParaRPr lang="zh-CN" altLang="zh-CN"/>
          </a:p>
          <a:p>
            <a:pPr eaLnBrk="1" hangingPunct="1"/>
            <a:r>
              <a:rPr lang="en-US" altLang="zh-CN"/>
              <a:t>CREATE VIEW cj_avg ( num, score_avg )</a:t>
            </a:r>
            <a:endParaRPr lang="zh-CN" altLang="zh-CN"/>
          </a:p>
          <a:p>
            <a:pPr eaLnBrk="1" hangingPunct="1"/>
            <a:r>
              <a:rPr lang="en-US" altLang="zh-CN"/>
              <a:t>     AS</a:t>
            </a:r>
            <a:endParaRPr lang="zh-CN" altLang="zh-CN"/>
          </a:p>
          <a:p>
            <a:pPr eaLnBrk="1" hangingPunct="1"/>
            <a:r>
              <a:rPr lang="en-US" altLang="zh-CN"/>
              <a:t>          SELECT</a:t>
            </a:r>
            <a:r>
              <a:rPr lang="zh-CN" altLang="zh-CN"/>
              <a:t>学号</a:t>
            </a:r>
            <a:r>
              <a:rPr lang="en-US" altLang="zh-CN"/>
              <a:t>, AVG(</a:t>
            </a:r>
            <a:r>
              <a:rPr lang="zh-CN" altLang="zh-CN"/>
              <a:t>成绩</a:t>
            </a:r>
            <a:r>
              <a:rPr lang="en-US" altLang="zh-CN"/>
              <a:t>)</a:t>
            </a:r>
            <a:endParaRPr lang="zh-CN" altLang="zh-CN"/>
          </a:p>
          <a:p>
            <a:pPr eaLnBrk="1" hangingPunct="1"/>
            <a:r>
              <a:rPr lang="en-US" altLang="zh-CN"/>
              <a:t>               FROM  cjb</a:t>
            </a:r>
            <a:endParaRPr lang="zh-CN" altLang="zh-CN"/>
          </a:p>
          <a:p>
            <a:pPr eaLnBrk="1" hangingPunct="1"/>
            <a:r>
              <a:rPr lang="en-US" altLang="zh-CN"/>
              <a:t>               GROUP BY</a:t>
            </a:r>
            <a:r>
              <a:rPr lang="zh-CN" altLang="zh-CN"/>
              <a:t>学号</a:t>
            </a:r>
            <a:endParaRPr lang="zh-CN" altLang="zh-CN"/>
          </a:p>
          <a:p>
            <a:pPr eaLnBrk="1" fontAlgn="ctr" hangingPunct="1"/>
            <a:r>
              <a:rPr lang="zh-CN" altLang="zh-CN"/>
              <a:t>再对</a:t>
            </a:r>
            <a:r>
              <a:rPr lang="en-US" altLang="zh-CN"/>
              <a:t>cj_avg</a:t>
            </a:r>
            <a:r>
              <a:rPr lang="zh-CN" altLang="zh-CN"/>
              <a:t>视图进行查询。</a:t>
            </a:r>
            <a:endParaRPr lang="zh-CN" altLang="zh-CN"/>
          </a:p>
          <a:p>
            <a:pPr eaLnBrk="1" hangingPunct="1"/>
            <a:r>
              <a:rPr lang="en-US" altLang="zh-CN"/>
              <a:t>SELECT  *</a:t>
            </a:r>
            <a:endParaRPr lang="zh-CN" altLang="zh-CN"/>
          </a:p>
          <a:p>
            <a:pPr eaLnBrk="1" hangingPunct="1"/>
            <a:r>
              <a:rPr lang="en-US" altLang="zh-CN"/>
              <a:t>     FROM   cj_avg</a:t>
            </a:r>
            <a:endParaRPr lang="zh-CN" altLang="zh-CN"/>
          </a:p>
          <a:p>
            <a:pPr eaLnBrk="1" hangingPunct="1"/>
            <a:r>
              <a:rPr lang="en-US" altLang="zh-CN"/>
              <a:t>     WHERE  score_avg &gt;= 80</a:t>
            </a:r>
            <a:endParaRPr lang="en-US" altLang="zh-CN"/>
          </a:p>
          <a:p>
            <a:pPr eaLnBrk="1" fontAlgn="ctr" hangingPunct="1"/>
            <a:r>
              <a:rPr lang="zh-CN" altLang="zh-CN"/>
              <a:t>在使用视图查询时，若其关联的基本表中添加了新字段，则必须重新创建视图才能查询到新字段。例如，若</a:t>
            </a:r>
            <a:r>
              <a:rPr lang="en-US" altLang="zh-CN"/>
              <a:t>xsb</a:t>
            </a:r>
            <a:r>
              <a:rPr lang="zh-CN" altLang="zh-CN"/>
              <a:t>表新增了“籍贯”字段，则查询</a:t>
            </a:r>
            <a:r>
              <a:rPr lang="en-US" altLang="zh-CN"/>
              <a:t>cxs</a:t>
            </a:r>
            <a:r>
              <a:rPr lang="zh-CN" altLang="zh-CN"/>
              <a:t>视图：</a:t>
            </a:r>
            <a:endParaRPr lang="zh-CN" altLang="zh-CN"/>
          </a:p>
          <a:p>
            <a:pPr eaLnBrk="1" hangingPunct="1"/>
            <a:r>
              <a:rPr lang="en-US" altLang="zh-CN"/>
              <a:t>SELECT  *  FROM  cxs</a:t>
            </a:r>
            <a:endParaRPr lang="zh-CN" altLang="zh-CN"/>
          </a:p>
          <a:p>
            <a:pPr eaLnBrk="1" fontAlgn="ctr" hangingPunct="1"/>
            <a:r>
              <a:rPr lang="zh-CN" altLang="zh-CN"/>
              <a:t>结果将不包含“籍贯”字段。只有重建</a:t>
            </a:r>
            <a:r>
              <a:rPr lang="en-US" altLang="zh-CN"/>
              <a:t>cxs</a:t>
            </a:r>
            <a:r>
              <a:rPr lang="zh-CN" altLang="zh-CN"/>
              <a:t>视图后再对它进行查询，结果才会包含“籍贯”字段。</a:t>
            </a:r>
            <a:endParaRPr lang="zh-CN" altLang="en-US"/>
          </a:p>
        </p:txBody>
      </p:sp>
    </p:spTree>
  </p:cSld>
  <p:clrMapOvr>
    <a:masterClrMapping/>
  </p:clrMapOvr>
  <p:transition spd="slow">
    <p:zoom dir="in"/>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4.2.4  </a:t>
            </a:r>
            <a:r>
              <a:rPr lang="zh-CN" altLang="zh-CN" dirty="0">
                <a:effectLst/>
              </a:rPr>
              <a:t>更新视图：</a:t>
            </a:r>
            <a:r>
              <a:rPr lang="en-US" altLang="zh-CN" dirty="0">
                <a:effectLst/>
              </a:rPr>
              <a:t>INSERT/UPDATE/DELETE</a:t>
            </a:r>
            <a:endParaRPr lang="zh-CN" altLang="zh-CN" dirty="0">
              <a:effectLst/>
            </a:endParaRPr>
          </a:p>
        </p:txBody>
      </p:sp>
      <p:sp>
        <p:nvSpPr>
          <p:cNvPr id="79875" name="TextBox 2"/>
          <p:cNvSpPr txBox="1">
            <a:spLocks noChangeArrowheads="1"/>
          </p:cNvSpPr>
          <p:nvPr/>
        </p:nvSpPr>
        <p:spPr bwMode="auto">
          <a:xfrm>
            <a:off x="468313" y="1412875"/>
            <a:ext cx="8207375" cy="397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．可更新视图</a:t>
            </a:r>
            <a:endParaRPr lang="zh-CN" altLang="zh-CN" b="1">
              <a:solidFill>
                <a:srgbClr val="C00000"/>
              </a:solidFill>
            </a:endParaRPr>
          </a:p>
          <a:p>
            <a:pPr eaLnBrk="1" fontAlgn="ctr" hangingPunct="1"/>
            <a:r>
              <a:rPr lang="zh-CN" altLang="zh-CN"/>
              <a:t>（</a:t>
            </a:r>
            <a:r>
              <a:rPr lang="en-US" altLang="zh-CN"/>
              <a:t>1</a:t>
            </a:r>
            <a:r>
              <a:rPr lang="zh-CN" altLang="zh-CN"/>
              <a:t>）满足以下条件的视图。</a:t>
            </a:r>
            <a:r>
              <a:rPr lang="en-US" altLang="zh-CN"/>
              <a:t> </a:t>
            </a:r>
            <a:endParaRPr lang="zh-CN" altLang="zh-CN"/>
          </a:p>
          <a:p>
            <a:pPr eaLnBrk="1" fontAlgn="ctr" hangingPunct="1">
              <a:buFont typeface="Wingdings" panose="05000000000000000000" pitchFamily="2" charset="2"/>
              <a:buChar char="l"/>
            </a:pPr>
            <a:r>
              <a:rPr lang="zh-CN" altLang="zh-CN"/>
              <a:t>创建视图的</a:t>
            </a:r>
            <a:r>
              <a:rPr lang="en-US" altLang="zh-CN"/>
              <a:t>SELECT</a:t>
            </a:r>
            <a:r>
              <a:rPr lang="zh-CN" altLang="zh-CN"/>
              <a:t>语句中没有聚合函数，且没有</a:t>
            </a:r>
            <a:r>
              <a:rPr lang="en-US" altLang="zh-CN"/>
              <a:t>TOP</a:t>
            </a:r>
            <a:r>
              <a:rPr lang="zh-CN" altLang="zh-CN"/>
              <a:t>、</a:t>
            </a:r>
            <a:r>
              <a:rPr lang="en-US" altLang="zh-CN"/>
              <a:t>GROUP BY</a:t>
            </a:r>
            <a:r>
              <a:rPr lang="zh-CN" altLang="zh-CN"/>
              <a:t>、</a:t>
            </a:r>
            <a:r>
              <a:rPr lang="en-US" altLang="zh-CN"/>
              <a:t>UNION</a:t>
            </a:r>
            <a:r>
              <a:rPr lang="zh-CN" altLang="zh-CN"/>
              <a:t>子句及</a:t>
            </a:r>
            <a:r>
              <a:rPr lang="en-US" altLang="zh-CN"/>
              <a:t>DISTINCT</a:t>
            </a:r>
            <a:r>
              <a:rPr lang="zh-CN" altLang="zh-CN"/>
              <a:t>关键字。</a:t>
            </a:r>
            <a:endParaRPr lang="zh-CN" altLang="zh-CN"/>
          </a:p>
          <a:p>
            <a:pPr eaLnBrk="1" fontAlgn="ctr" hangingPunct="1">
              <a:buFont typeface="Wingdings" panose="05000000000000000000" pitchFamily="2" charset="2"/>
              <a:buChar char="l"/>
            </a:pPr>
            <a:r>
              <a:rPr lang="zh-CN" altLang="zh-CN"/>
              <a:t>创建视图的</a:t>
            </a:r>
            <a:r>
              <a:rPr lang="en-US" altLang="zh-CN"/>
              <a:t>SELECT</a:t>
            </a:r>
            <a:r>
              <a:rPr lang="zh-CN" altLang="zh-CN"/>
              <a:t>语句中不包含从基本表列通过计算所得的列。</a:t>
            </a:r>
            <a:endParaRPr lang="zh-CN" altLang="zh-CN"/>
          </a:p>
          <a:p>
            <a:pPr eaLnBrk="1" fontAlgn="ctr" hangingPunct="1">
              <a:buFont typeface="Wingdings" panose="05000000000000000000" pitchFamily="2" charset="2"/>
              <a:buChar char="l"/>
            </a:pPr>
            <a:r>
              <a:rPr lang="zh-CN" altLang="zh-CN"/>
              <a:t>创建视图的</a:t>
            </a:r>
            <a:r>
              <a:rPr lang="en-US" altLang="zh-CN"/>
              <a:t>SELECT</a:t>
            </a:r>
            <a:r>
              <a:rPr lang="zh-CN" altLang="zh-CN"/>
              <a:t>语句的</a:t>
            </a:r>
            <a:r>
              <a:rPr lang="en-US" altLang="zh-CN"/>
              <a:t>FROM</a:t>
            </a:r>
            <a:r>
              <a:rPr lang="zh-CN" altLang="zh-CN"/>
              <a:t>子句中至少要包含一个基本表。</a:t>
            </a:r>
            <a:endParaRPr lang="zh-CN" altLang="zh-CN"/>
          </a:p>
          <a:p>
            <a:pPr eaLnBrk="1" fontAlgn="ctr" hangingPunct="1"/>
            <a:r>
              <a:rPr lang="zh-CN" altLang="zh-CN"/>
              <a:t>（</a:t>
            </a:r>
            <a:r>
              <a:rPr lang="en-US" altLang="zh-CN"/>
              <a:t>2</a:t>
            </a:r>
            <a:r>
              <a:rPr lang="zh-CN" altLang="zh-CN"/>
              <a:t>）可更新的分区视图。</a:t>
            </a:r>
            <a:endParaRPr lang="zh-CN" altLang="zh-CN"/>
          </a:p>
          <a:p>
            <a:pPr eaLnBrk="1" fontAlgn="ctr" hangingPunct="1"/>
            <a:r>
              <a:rPr lang="zh-CN" altLang="zh-CN"/>
              <a:t>在实现分区视图之前，必须先实现水平分区表。原始表被分成若干个较小的成员表，每个成员表包含与原始表相同数量的列，并且每一列具有与原始表中的相应列同样的特性（如数据类型、大小、排序规则）。</a:t>
            </a:r>
            <a:endParaRPr lang="zh-CN" altLang="zh-CN"/>
          </a:p>
          <a:p>
            <a:pPr eaLnBrk="1" fontAlgn="ctr" hangingPunct="1"/>
            <a:r>
              <a:rPr lang="zh-CN" altLang="zh-CN"/>
              <a:t>（</a:t>
            </a:r>
            <a:r>
              <a:rPr lang="en-US" altLang="zh-CN"/>
              <a:t>3</a:t>
            </a:r>
            <a:r>
              <a:rPr lang="zh-CN" altLang="zh-CN"/>
              <a:t>）通过</a:t>
            </a:r>
            <a:r>
              <a:rPr lang="en-US" altLang="zh-CN"/>
              <a:t>INSTEAD OF</a:t>
            </a:r>
            <a:r>
              <a:rPr lang="zh-CN" altLang="zh-CN"/>
              <a:t>触发器创建的可更新视图。</a:t>
            </a:r>
            <a:r>
              <a:rPr lang="en-US" altLang="zh-CN"/>
              <a:t>INSTEAD OF</a:t>
            </a:r>
            <a:r>
              <a:rPr lang="zh-CN" altLang="zh-CN"/>
              <a:t>触发器在后面章节中介绍。</a:t>
            </a:r>
            <a:endParaRPr lang="zh-CN" altLang="zh-CN"/>
          </a:p>
          <a:p>
            <a:pPr eaLnBrk="1" fontAlgn="ctr" hangingPunct="1"/>
            <a:r>
              <a:rPr lang="zh-CN" altLang="zh-CN"/>
              <a:t>例如，前面创建的视图</a:t>
            </a:r>
            <a:r>
              <a:rPr lang="en-US" altLang="zh-CN"/>
              <a:t>cxs</a:t>
            </a:r>
            <a:r>
              <a:rPr lang="zh-CN" altLang="zh-CN"/>
              <a:t>、</a:t>
            </a:r>
            <a:r>
              <a:rPr lang="en-US" altLang="zh-CN"/>
              <a:t>ccj</a:t>
            </a:r>
            <a:r>
              <a:rPr lang="zh-CN" altLang="zh-CN"/>
              <a:t>是可更新视图，而</a:t>
            </a:r>
            <a:r>
              <a:rPr lang="en-US" altLang="zh-CN"/>
              <a:t>ccj_avg</a:t>
            </a:r>
            <a:r>
              <a:rPr lang="zh-CN" altLang="zh-CN"/>
              <a:t>是不可更新的视图。</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55650" y="3860800"/>
            <a:ext cx="7920038" cy="2651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755650" y="2781300"/>
            <a:ext cx="7920038" cy="7921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4.2.4  </a:t>
            </a:r>
            <a:r>
              <a:rPr lang="zh-CN" altLang="zh-CN" dirty="0">
                <a:effectLst/>
              </a:rPr>
              <a:t>更新视图：</a:t>
            </a:r>
            <a:r>
              <a:rPr lang="en-US" altLang="zh-CN" dirty="0">
                <a:effectLst/>
              </a:rPr>
              <a:t>INSERT/UPDATE/DELETE</a:t>
            </a:r>
            <a:endParaRPr lang="zh-CN" altLang="en-US" dirty="0"/>
          </a:p>
        </p:txBody>
      </p:sp>
      <p:sp>
        <p:nvSpPr>
          <p:cNvPr id="80901" name="TextBox 2"/>
          <p:cNvSpPr txBox="1">
            <a:spLocks noChangeArrowheads="1"/>
          </p:cNvSpPr>
          <p:nvPr/>
        </p:nvSpPr>
        <p:spPr bwMode="auto">
          <a:xfrm>
            <a:off x="468313" y="1628775"/>
            <a:ext cx="8207375"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．插入数据</a:t>
            </a:r>
            <a:endParaRPr lang="zh-CN" altLang="zh-CN" b="1">
              <a:solidFill>
                <a:srgbClr val="C00000"/>
              </a:solidFill>
            </a:endParaRPr>
          </a:p>
          <a:p>
            <a:pPr eaLnBrk="1" fontAlgn="ctr" hangingPunct="1"/>
            <a:r>
              <a:rPr lang="zh-CN" altLang="zh-CN"/>
              <a:t>使用</a:t>
            </a:r>
            <a:r>
              <a:rPr lang="en-US" altLang="zh-CN"/>
              <a:t>INSERT</a:t>
            </a:r>
            <a:r>
              <a:rPr lang="zh-CN" altLang="zh-CN"/>
              <a:t>语句通过视图向基本表插入数据，有关</a:t>
            </a:r>
            <a:r>
              <a:rPr lang="en-US" altLang="zh-CN"/>
              <a:t>INSERT</a:t>
            </a:r>
            <a:r>
              <a:rPr lang="zh-CN" altLang="zh-CN"/>
              <a:t>语句的语法介绍见第</a:t>
            </a:r>
            <a:r>
              <a:rPr lang="en-US" altLang="zh-CN"/>
              <a:t>3</a:t>
            </a:r>
            <a:r>
              <a:rPr lang="zh-CN" altLang="zh-CN"/>
              <a:t>章。</a:t>
            </a:r>
            <a:endParaRPr lang="zh-CN" altLang="zh-CN"/>
          </a:p>
          <a:p>
            <a:pPr eaLnBrk="1" fontAlgn="ctr" hangingPunct="1"/>
            <a:r>
              <a:rPr lang="zh-CN" altLang="zh-CN"/>
              <a:t>【例</a:t>
            </a:r>
            <a:r>
              <a:rPr lang="en-US" altLang="zh-CN"/>
              <a:t>4.59</a:t>
            </a:r>
            <a:r>
              <a:rPr lang="zh-CN" altLang="zh-CN"/>
              <a:t>】 向</a:t>
            </a:r>
            <a:r>
              <a:rPr lang="en-US" altLang="zh-CN"/>
              <a:t>cxs</a:t>
            </a:r>
            <a:r>
              <a:rPr lang="zh-CN" altLang="zh-CN"/>
              <a:t>视图中插入以下记录：</a:t>
            </a:r>
            <a:endParaRPr lang="zh-CN" altLang="zh-CN"/>
          </a:p>
          <a:p>
            <a:pPr eaLnBrk="1" hangingPunct="1"/>
            <a:r>
              <a:rPr lang="en-US" altLang="zh-CN"/>
              <a:t>('191315', '</a:t>
            </a:r>
            <a:r>
              <a:rPr lang="zh-CN" altLang="zh-CN"/>
              <a:t>刘明仪</a:t>
            </a:r>
            <a:r>
              <a:rPr lang="en-US" altLang="zh-CN"/>
              <a:t>', 1, '1996-3-2', '</a:t>
            </a:r>
            <a:r>
              <a:rPr lang="zh-CN" altLang="zh-CN"/>
              <a:t>计算机</a:t>
            </a:r>
            <a:r>
              <a:rPr lang="en-US" altLang="zh-CN"/>
              <a:t>', 50 , NULL)</a:t>
            </a:r>
            <a:endParaRPr lang="zh-CN" altLang="zh-CN"/>
          </a:p>
          <a:p>
            <a:pPr eaLnBrk="1" hangingPunct="1"/>
            <a:r>
              <a:rPr lang="en-US" altLang="zh-CN"/>
              <a:t>INSERT INTO cxs</a:t>
            </a:r>
            <a:endParaRPr lang="zh-CN" altLang="zh-CN"/>
          </a:p>
          <a:p>
            <a:pPr eaLnBrk="1" hangingPunct="1"/>
            <a:r>
              <a:rPr lang="en-US" altLang="zh-CN"/>
              <a:t>     VALUES('191315', '</a:t>
            </a:r>
            <a:r>
              <a:rPr lang="zh-CN" altLang="zh-CN"/>
              <a:t>刘明仪</a:t>
            </a:r>
            <a:r>
              <a:rPr lang="en-US" altLang="zh-CN"/>
              <a:t>', 1,'1996-3-2', '</a:t>
            </a:r>
            <a:r>
              <a:rPr lang="zh-CN" altLang="zh-CN"/>
              <a:t>计算机</a:t>
            </a:r>
            <a:r>
              <a:rPr lang="en-US" altLang="zh-CN"/>
              <a:t>',50,NULL)</a:t>
            </a:r>
            <a:endParaRPr lang="zh-CN" altLang="zh-CN"/>
          </a:p>
          <a:p>
            <a:pPr eaLnBrk="1" fontAlgn="ctr" hangingPunct="1"/>
            <a:r>
              <a:rPr lang="zh-CN" altLang="zh-CN"/>
              <a:t>使用</a:t>
            </a:r>
            <a:r>
              <a:rPr lang="en-US" altLang="zh-CN"/>
              <a:t>SELECT</a:t>
            </a:r>
            <a:r>
              <a:rPr lang="zh-CN" altLang="zh-CN"/>
              <a:t>语句查询</a:t>
            </a:r>
            <a:r>
              <a:rPr lang="en-US" altLang="zh-CN"/>
              <a:t>cxs</a:t>
            </a:r>
            <a:r>
              <a:rPr lang="zh-CN" altLang="zh-CN"/>
              <a:t>依据的基本表</a:t>
            </a:r>
            <a:r>
              <a:rPr lang="en-US" altLang="zh-CN"/>
              <a:t>xsb</a:t>
            </a:r>
            <a:r>
              <a:rPr lang="zh-CN" altLang="zh-CN"/>
              <a:t>：</a:t>
            </a:r>
            <a:endParaRPr lang="zh-CN" altLang="zh-CN"/>
          </a:p>
          <a:p>
            <a:pPr eaLnBrk="1" hangingPunct="1"/>
            <a:r>
              <a:rPr lang="en-US" altLang="zh-CN"/>
              <a:t>SELECT * FROM  xsb</a:t>
            </a:r>
            <a:endParaRPr lang="zh-CN" altLang="zh-CN"/>
          </a:p>
          <a:p>
            <a:pPr eaLnBrk="1" fontAlgn="ctr" hangingPunct="1"/>
            <a:r>
              <a:rPr lang="zh-CN" altLang="zh-CN"/>
              <a:t>将会看到该表已添加了学号</a:t>
            </a:r>
            <a:r>
              <a:rPr lang="en-US" altLang="zh-CN"/>
              <a:t>191315</a:t>
            </a:r>
            <a:r>
              <a:rPr lang="zh-CN" altLang="zh-CN"/>
              <a:t>行。</a:t>
            </a:r>
            <a:endParaRPr lang="zh-CN" altLang="zh-CN"/>
          </a:p>
          <a:p>
            <a:pPr eaLnBrk="1" hangingPunct="1"/>
            <a:endParaRPr lang="zh-CN" altLang="en-US"/>
          </a:p>
        </p:txBody>
      </p:sp>
    </p:spTree>
  </p:cSld>
  <p:clrMapOvr>
    <a:masterClrMapping/>
  </p:clrMapOvr>
  <p:transition spd="slow">
    <p:zoom dir="in"/>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088" y="5013325"/>
            <a:ext cx="7921625"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44550" y="3644900"/>
            <a:ext cx="7921625" cy="8636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276475"/>
            <a:ext cx="7921625" cy="10810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4.2.4  </a:t>
            </a:r>
            <a:r>
              <a:rPr lang="zh-CN" altLang="zh-CN" dirty="0">
                <a:effectLst/>
              </a:rPr>
              <a:t>更新视图：</a:t>
            </a:r>
            <a:r>
              <a:rPr lang="en-US" altLang="zh-CN" dirty="0">
                <a:effectLst/>
              </a:rPr>
              <a:t>INSERT/UPDATE/DELETE</a:t>
            </a:r>
            <a:endParaRPr lang="zh-CN" altLang="en-US" dirty="0"/>
          </a:p>
        </p:txBody>
      </p:sp>
      <p:sp>
        <p:nvSpPr>
          <p:cNvPr id="81926" name="TextBox 2"/>
          <p:cNvSpPr txBox="1">
            <a:spLocks noChangeArrowheads="1"/>
          </p:cNvSpPr>
          <p:nvPr/>
        </p:nvSpPr>
        <p:spPr bwMode="auto">
          <a:xfrm>
            <a:off x="395288" y="1412875"/>
            <a:ext cx="835342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3</a:t>
            </a:r>
            <a:r>
              <a:rPr lang="zh-CN" altLang="zh-CN" b="1">
                <a:solidFill>
                  <a:srgbClr val="C00000"/>
                </a:solidFill>
              </a:rPr>
              <a:t>．修改数据</a:t>
            </a:r>
            <a:endParaRPr lang="zh-CN" altLang="zh-CN" b="1">
              <a:solidFill>
                <a:srgbClr val="C00000"/>
              </a:solidFill>
            </a:endParaRPr>
          </a:p>
          <a:p>
            <a:pPr eaLnBrk="1" fontAlgn="ctr" hangingPunct="1"/>
            <a:r>
              <a:rPr lang="zh-CN" altLang="zh-CN"/>
              <a:t>使用</a:t>
            </a:r>
            <a:r>
              <a:rPr lang="en-US" altLang="zh-CN"/>
              <a:t>UPDATE</a:t>
            </a:r>
            <a:r>
              <a:rPr lang="zh-CN" altLang="zh-CN"/>
              <a:t>语句可以通过视图修改基本表的数据。</a:t>
            </a:r>
            <a:endParaRPr lang="zh-CN" altLang="zh-CN"/>
          </a:p>
          <a:p>
            <a:pPr eaLnBrk="1" fontAlgn="ctr" hangingPunct="1"/>
            <a:r>
              <a:rPr lang="zh-CN" altLang="zh-CN"/>
              <a:t>【例</a:t>
            </a:r>
            <a:r>
              <a:rPr lang="en-US" altLang="zh-CN"/>
              <a:t>4.60</a:t>
            </a:r>
            <a:r>
              <a:rPr lang="zh-CN" altLang="zh-CN"/>
              <a:t>】 将</a:t>
            </a:r>
            <a:r>
              <a:rPr lang="en-US" altLang="zh-CN"/>
              <a:t>cxs</a:t>
            </a:r>
            <a:r>
              <a:rPr lang="zh-CN" altLang="zh-CN"/>
              <a:t>视图中所有学生的总学分增加</a:t>
            </a:r>
            <a:r>
              <a:rPr lang="en-US" altLang="zh-CN"/>
              <a:t>1</a:t>
            </a:r>
            <a:r>
              <a:rPr lang="zh-CN" altLang="zh-CN"/>
              <a:t>。</a:t>
            </a:r>
            <a:endParaRPr lang="zh-CN" altLang="zh-CN"/>
          </a:p>
          <a:p>
            <a:pPr eaLnBrk="1" hangingPunct="1"/>
            <a:r>
              <a:rPr lang="en-US" altLang="zh-CN"/>
              <a:t>UPDATE cxs</a:t>
            </a:r>
            <a:endParaRPr lang="zh-CN" altLang="zh-CN"/>
          </a:p>
          <a:p>
            <a:pPr eaLnBrk="1" hangingPunct="1"/>
            <a:r>
              <a:rPr lang="en-US" altLang="zh-CN"/>
              <a:t>     SET</a:t>
            </a:r>
            <a:r>
              <a:rPr lang="zh-CN" altLang="zh-CN"/>
              <a:t>总学分</a:t>
            </a:r>
            <a:r>
              <a:rPr lang="en-US" altLang="zh-CN"/>
              <a:t>=</a:t>
            </a:r>
            <a:r>
              <a:rPr lang="zh-CN" altLang="zh-CN"/>
              <a:t>总学分</a:t>
            </a:r>
            <a:r>
              <a:rPr lang="en-US" altLang="zh-CN"/>
              <a:t>+ 1</a:t>
            </a:r>
            <a:endParaRPr lang="zh-CN" altLang="zh-CN"/>
          </a:p>
          <a:p>
            <a:pPr eaLnBrk="1" hangingPunct="1"/>
            <a:r>
              <a:rPr lang="en-US" altLang="zh-CN"/>
              <a:t>UPDATE cxs</a:t>
            </a:r>
            <a:endParaRPr lang="zh-CN" altLang="zh-CN"/>
          </a:p>
          <a:p>
            <a:pPr eaLnBrk="1" hangingPunct="1"/>
            <a:r>
              <a:rPr lang="en-US" altLang="zh-CN"/>
              <a:t>     SET</a:t>
            </a:r>
            <a:r>
              <a:rPr lang="zh-CN" altLang="zh-CN"/>
              <a:t>总学分</a:t>
            </a:r>
            <a:r>
              <a:rPr lang="en-US" altLang="zh-CN"/>
              <a:t>=</a:t>
            </a:r>
            <a:r>
              <a:rPr lang="zh-CN" altLang="zh-CN"/>
              <a:t>总学分</a:t>
            </a:r>
            <a:r>
              <a:rPr lang="en-US" altLang="zh-CN"/>
              <a:t>- 1</a:t>
            </a:r>
            <a:endParaRPr lang="zh-CN" altLang="zh-CN"/>
          </a:p>
          <a:p>
            <a:pPr eaLnBrk="1" fontAlgn="ctr" hangingPunct="1"/>
            <a:r>
              <a:rPr lang="zh-CN" altLang="zh-CN"/>
              <a:t>【例</a:t>
            </a:r>
            <a:r>
              <a:rPr lang="en-US" altLang="zh-CN"/>
              <a:t>4.61</a:t>
            </a:r>
            <a:r>
              <a:rPr lang="zh-CN" altLang="zh-CN"/>
              <a:t>】 将</a:t>
            </a:r>
            <a:r>
              <a:rPr lang="en-US" altLang="zh-CN"/>
              <a:t>ccj</a:t>
            </a:r>
            <a:r>
              <a:rPr lang="zh-CN" altLang="zh-CN"/>
              <a:t>视图中学号为</a:t>
            </a:r>
            <a:r>
              <a:rPr lang="en-US" altLang="zh-CN"/>
              <a:t>191301</a:t>
            </a:r>
            <a:r>
              <a:rPr lang="zh-CN" altLang="zh-CN"/>
              <a:t>的学生的</a:t>
            </a:r>
            <a:r>
              <a:rPr lang="en-US" altLang="zh-CN"/>
              <a:t>101</a:t>
            </a:r>
            <a:r>
              <a:rPr lang="zh-CN" altLang="zh-CN"/>
              <a:t>号课程成绩改为</a:t>
            </a:r>
            <a:r>
              <a:rPr lang="en-US" altLang="zh-CN"/>
              <a:t>90</a:t>
            </a:r>
            <a:r>
              <a:rPr lang="zh-CN" altLang="zh-CN"/>
              <a:t>。</a:t>
            </a:r>
            <a:endParaRPr lang="zh-CN" altLang="zh-CN"/>
          </a:p>
          <a:p>
            <a:pPr eaLnBrk="1" hangingPunct="1"/>
            <a:r>
              <a:rPr lang="en-US" altLang="zh-CN"/>
              <a:t>UPDATE ccj</a:t>
            </a:r>
            <a:endParaRPr lang="zh-CN" altLang="zh-CN"/>
          </a:p>
          <a:p>
            <a:pPr eaLnBrk="1" hangingPunct="1"/>
            <a:r>
              <a:rPr lang="en-US" altLang="zh-CN"/>
              <a:t>     SET</a:t>
            </a:r>
            <a:r>
              <a:rPr lang="zh-CN" altLang="zh-CN"/>
              <a:t>成绩</a:t>
            </a:r>
            <a:r>
              <a:rPr lang="en-US" altLang="zh-CN"/>
              <a:t>=90</a:t>
            </a:r>
            <a:endParaRPr lang="zh-CN" altLang="zh-CN"/>
          </a:p>
          <a:p>
            <a:pPr eaLnBrk="1" hangingPunct="1"/>
            <a:r>
              <a:rPr lang="en-US" altLang="zh-CN"/>
              <a:t>     WHERE</a:t>
            </a:r>
            <a:r>
              <a:rPr lang="zh-CN" altLang="zh-CN"/>
              <a:t>学号</a:t>
            </a:r>
            <a:r>
              <a:rPr lang="en-US" altLang="zh-CN"/>
              <a:t>='191301'  AND</a:t>
            </a:r>
            <a:r>
              <a:rPr lang="zh-CN" altLang="zh-CN"/>
              <a:t>课程号</a:t>
            </a:r>
            <a:r>
              <a:rPr lang="en-US" altLang="zh-CN"/>
              <a:t>='101'</a:t>
            </a:r>
            <a:endParaRPr lang="zh-CN" altLang="zh-CN"/>
          </a:p>
          <a:p>
            <a:pPr eaLnBrk="1" fontAlgn="ctr" hangingPunct="1"/>
            <a:r>
              <a:rPr lang="zh-CN" altLang="zh-CN"/>
              <a:t>本例中，视图</a:t>
            </a:r>
            <a:r>
              <a:rPr lang="en-US" altLang="zh-CN"/>
              <a:t>ccj</a:t>
            </a:r>
            <a:r>
              <a:rPr lang="zh-CN" altLang="zh-CN"/>
              <a:t>依赖于两个基本表：</a:t>
            </a:r>
            <a:r>
              <a:rPr lang="en-US" altLang="zh-CN"/>
              <a:t>xsb</a:t>
            </a:r>
            <a:r>
              <a:rPr lang="zh-CN" altLang="zh-CN"/>
              <a:t>和</a:t>
            </a:r>
            <a:r>
              <a:rPr lang="en-US" altLang="zh-CN"/>
              <a:t>cjb</a:t>
            </a:r>
            <a:r>
              <a:rPr lang="zh-CN" altLang="zh-CN"/>
              <a:t>，对该视图的一次修改只能改变学号（源于</a:t>
            </a:r>
            <a:r>
              <a:rPr lang="en-US" altLang="zh-CN"/>
              <a:t>xsb</a:t>
            </a:r>
            <a:r>
              <a:rPr lang="zh-CN" altLang="zh-CN"/>
              <a:t>表）或者课程号和成绩（源于</a:t>
            </a:r>
            <a:r>
              <a:rPr lang="en-US" altLang="zh-CN"/>
              <a:t>cjb</a:t>
            </a:r>
            <a:r>
              <a:rPr lang="zh-CN" altLang="zh-CN"/>
              <a:t>表）。以下的修改是错误的：</a:t>
            </a:r>
            <a:endParaRPr lang="zh-CN" altLang="zh-CN"/>
          </a:p>
          <a:p>
            <a:pPr eaLnBrk="1" hangingPunct="1"/>
            <a:r>
              <a:rPr lang="en-US" altLang="zh-CN"/>
              <a:t>UPDATE ccj</a:t>
            </a:r>
            <a:endParaRPr lang="zh-CN" altLang="zh-CN"/>
          </a:p>
          <a:p>
            <a:pPr eaLnBrk="1" hangingPunct="1"/>
            <a:r>
              <a:rPr lang="en-US" altLang="zh-CN"/>
              <a:t>     SET</a:t>
            </a:r>
            <a:r>
              <a:rPr lang="zh-CN" altLang="zh-CN"/>
              <a:t>学号</a:t>
            </a:r>
            <a:r>
              <a:rPr lang="en-US" altLang="zh-CN"/>
              <a:t>='191320', </a:t>
            </a:r>
            <a:r>
              <a:rPr lang="zh-CN" altLang="zh-CN"/>
              <a:t>课程号</a:t>
            </a:r>
            <a:r>
              <a:rPr lang="en-US" altLang="zh-CN"/>
              <a:t>='208'</a:t>
            </a:r>
            <a:endParaRPr lang="zh-CN" altLang="zh-CN"/>
          </a:p>
          <a:p>
            <a:pPr eaLnBrk="1" hangingPunct="1"/>
            <a:r>
              <a:rPr lang="en-US" altLang="zh-CN"/>
              <a:t>     WHERE</a:t>
            </a:r>
            <a:r>
              <a:rPr lang="zh-CN" altLang="zh-CN"/>
              <a:t>学号</a:t>
            </a:r>
            <a:r>
              <a:rPr lang="en-US" altLang="zh-CN"/>
              <a:t>='191301'  AND</a:t>
            </a:r>
            <a:r>
              <a:rPr lang="zh-CN" altLang="zh-CN"/>
              <a:t>课程号</a:t>
            </a:r>
            <a:r>
              <a:rPr lang="en-US" altLang="zh-CN"/>
              <a:t>='101'</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349500"/>
            <a:ext cx="7775575" cy="574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4.2.4  </a:t>
            </a:r>
            <a:r>
              <a:rPr lang="zh-CN" altLang="zh-CN" dirty="0">
                <a:effectLst/>
              </a:rPr>
              <a:t>更新视图：</a:t>
            </a:r>
            <a:r>
              <a:rPr lang="en-US" altLang="zh-CN" dirty="0">
                <a:effectLst/>
              </a:rPr>
              <a:t>INSERT/UPDATE/DELETE</a:t>
            </a:r>
            <a:endParaRPr lang="zh-CN" altLang="en-US" dirty="0"/>
          </a:p>
        </p:txBody>
      </p:sp>
      <p:sp>
        <p:nvSpPr>
          <p:cNvPr id="82948" name="TextBox 2"/>
          <p:cNvSpPr txBox="1">
            <a:spLocks noChangeArrowheads="1"/>
          </p:cNvSpPr>
          <p:nvPr/>
        </p:nvSpPr>
        <p:spPr bwMode="auto">
          <a:xfrm>
            <a:off x="468313" y="1484313"/>
            <a:ext cx="8207375"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4</a:t>
            </a:r>
            <a:r>
              <a:rPr lang="zh-CN" altLang="zh-CN" b="1">
                <a:solidFill>
                  <a:srgbClr val="C00000"/>
                </a:solidFill>
              </a:rPr>
              <a:t>．删除数据</a:t>
            </a:r>
            <a:endParaRPr lang="zh-CN" altLang="zh-CN" b="1">
              <a:solidFill>
                <a:srgbClr val="C00000"/>
              </a:solidFill>
            </a:endParaRPr>
          </a:p>
          <a:p>
            <a:pPr eaLnBrk="1" fontAlgn="ctr" hangingPunct="1">
              <a:lnSpc>
                <a:spcPct val="150000"/>
              </a:lnSpc>
            </a:pPr>
            <a:r>
              <a:rPr lang="zh-CN" altLang="zh-CN"/>
              <a:t>【例</a:t>
            </a:r>
            <a:r>
              <a:rPr lang="en-US" altLang="zh-CN"/>
              <a:t>4.62</a:t>
            </a:r>
            <a:r>
              <a:rPr lang="zh-CN" altLang="zh-CN"/>
              <a:t>】 删除</a:t>
            </a:r>
            <a:r>
              <a:rPr lang="en-US" altLang="zh-CN"/>
              <a:t>cxs</a:t>
            </a:r>
            <a:r>
              <a:rPr lang="zh-CN" altLang="zh-CN"/>
              <a:t>中女同学的记录（实际不操作）。</a:t>
            </a:r>
            <a:endParaRPr lang="zh-CN" altLang="zh-CN"/>
          </a:p>
          <a:p>
            <a:pPr eaLnBrk="1" hangingPunct="1"/>
            <a:r>
              <a:rPr lang="en-US" altLang="zh-CN"/>
              <a:t>DELETE  FROM  cxs</a:t>
            </a:r>
            <a:endParaRPr lang="zh-CN" altLang="zh-CN"/>
          </a:p>
          <a:p>
            <a:pPr eaLnBrk="1" hangingPunct="1"/>
            <a:r>
              <a:rPr lang="en-US" altLang="zh-CN"/>
              <a:t>     WHERE</a:t>
            </a:r>
            <a:r>
              <a:rPr lang="zh-CN" altLang="zh-CN"/>
              <a:t>性别</a:t>
            </a:r>
            <a:r>
              <a:rPr lang="en-US" altLang="zh-CN"/>
              <a:t> = 0</a:t>
            </a:r>
            <a:endParaRPr lang="zh-CN" altLang="zh-CN"/>
          </a:p>
          <a:p>
            <a:pPr eaLnBrk="1" fontAlgn="ctr" hangingPunct="1">
              <a:lnSpc>
                <a:spcPct val="150000"/>
              </a:lnSpc>
            </a:pPr>
            <a:r>
              <a:rPr lang="zh-CN" altLang="zh-CN"/>
              <a:t>对视图的更新操作也可通过“</a:t>
            </a:r>
            <a:r>
              <a:rPr lang="en-US" altLang="zh-CN"/>
              <a:t>SSMS</a:t>
            </a:r>
            <a:r>
              <a:rPr lang="zh-CN" altLang="zh-CN"/>
              <a:t>”的界面进行，操作方法与对表数据的插入、修改和删除的操作方法基本相同。</a:t>
            </a:r>
            <a:endParaRPr lang="zh-CN" altLang="zh-CN"/>
          </a:p>
          <a:p>
            <a:pPr eaLnBrk="1" hangingPunct="1"/>
            <a:endParaRPr lang="zh-CN" altLang="en-US"/>
          </a:p>
        </p:txBody>
      </p:sp>
    </p:spTree>
  </p:cSld>
  <p:clrMapOvr>
    <a:masterClrMapping/>
  </p:clrMapOvr>
  <p:transition spd="slow">
    <p:zoom dir="in"/>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4005263"/>
            <a:ext cx="7775575" cy="10795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4.2.5  </a:t>
            </a:r>
            <a:r>
              <a:rPr lang="zh-CN" altLang="zh-CN" dirty="0">
                <a:effectLst/>
              </a:rPr>
              <a:t>修改视图的定义：</a:t>
            </a:r>
            <a:r>
              <a:rPr lang="en-US" altLang="zh-CN" dirty="0">
                <a:effectLst/>
              </a:rPr>
              <a:t>ALTER VIEW</a:t>
            </a:r>
            <a:endParaRPr lang="zh-CN" altLang="zh-CN" dirty="0">
              <a:effectLst/>
            </a:endParaRPr>
          </a:p>
        </p:txBody>
      </p:sp>
      <p:sp>
        <p:nvSpPr>
          <p:cNvPr id="83972" name="TextBox 2"/>
          <p:cNvSpPr txBox="1">
            <a:spLocks noChangeArrowheads="1"/>
          </p:cNvSpPr>
          <p:nvPr/>
        </p:nvSpPr>
        <p:spPr bwMode="auto">
          <a:xfrm>
            <a:off x="468313" y="1484313"/>
            <a:ext cx="8207375"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．通过界面方式修改视图</a:t>
            </a:r>
            <a:endParaRPr lang="zh-CN" altLang="zh-CN" b="1">
              <a:solidFill>
                <a:srgbClr val="C00000"/>
              </a:solidFill>
            </a:endParaRPr>
          </a:p>
          <a:p>
            <a:pPr eaLnBrk="1" fontAlgn="ctr" hangingPunct="1">
              <a:lnSpc>
                <a:spcPct val="150000"/>
              </a:lnSpc>
            </a:pPr>
            <a:r>
              <a:rPr lang="zh-CN" altLang="zh-CN"/>
              <a:t>在“对象资源管理器”中右键单击视图“</a:t>
            </a:r>
            <a:r>
              <a:rPr lang="en-US" altLang="zh-CN"/>
              <a:t>dbo.cxs</a:t>
            </a:r>
            <a:r>
              <a:rPr lang="zh-CN" altLang="zh-CN"/>
              <a:t>”，在弹出的快捷菜单中选择“设计”菜单项，进入视图修改窗口。该窗口与创建视图的窗口类似，其中可以查看并可修改视图结构，修改完后单击“保存”图标即可。</a:t>
            </a:r>
            <a:endParaRPr lang="zh-CN" altLang="zh-CN"/>
          </a:p>
          <a:p>
            <a:pPr eaLnBrk="1" hangingPunct="1">
              <a:lnSpc>
                <a:spcPct val="150000"/>
              </a:lnSpc>
            </a:pPr>
            <a:r>
              <a:rPr lang="en-US" altLang="zh-CN" b="1">
                <a:solidFill>
                  <a:srgbClr val="C00000"/>
                </a:solidFill>
              </a:rPr>
              <a:t>2</a:t>
            </a:r>
            <a:r>
              <a:rPr lang="zh-CN" altLang="zh-CN" b="1">
                <a:solidFill>
                  <a:srgbClr val="C00000"/>
                </a:solidFill>
              </a:rPr>
              <a:t>．使用命令修改视图</a:t>
            </a:r>
            <a:endParaRPr lang="zh-CN" altLang="zh-CN" b="1">
              <a:solidFill>
                <a:srgbClr val="C00000"/>
              </a:solidFill>
            </a:endParaRPr>
          </a:p>
          <a:p>
            <a:pPr eaLnBrk="1" fontAlgn="ctr" hangingPunct="1">
              <a:lnSpc>
                <a:spcPct val="150000"/>
              </a:lnSpc>
            </a:pPr>
            <a:r>
              <a:rPr lang="zh-CN" altLang="zh-CN"/>
              <a:t>语法格式：</a:t>
            </a:r>
            <a:endParaRPr lang="zh-CN" altLang="zh-CN"/>
          </a:p>
          <a:p>
            <a:pPr eaLnBrk="1" hangingPunct="1"/>
            <a:r>
              <a:rPr lang="en-US" altLang="zh-CN"/>
              <a:t>ALTER VIEW [</a:t>
            </a:r>
            <a:r>
              <a:rPr lang="zh-CN" altLang="zh-CN"/>
              <a:t>架构名</a:t>
            </a:r>
            <a:r>
              <a:rPr lang="en-US" altLang="zh-CN"/>
              <a:t> . ]</a:t>
            </a:r>
            <a:r>
              <a:rPr lang="zh-CN" altLang="zh-CN"/>
              <a:t>视图名</a:t>
            </a:r>
            <a:r>
              <a:rPr lang="en-US" altLang="zh-CN"/>
              <a:t>[ ( </a:t>
            </a:r>
            <a:r>
              <a:rPr lang="zh-CN" altLang="zh-CN"/>
              <a:t>列</a:t>
            </a:r>
            <a:r>
              <a:rPr lang="en-US" altLang="zh-CN"/>
              <a:t>[ , ... ] ) ]</a:t>
            </a:r>
            <a:endParaRPr lang="zh-CN" altLang="zh-CN"/>
          </a:p>
          <a:p>
            <a:pPr eaLnBrk="1" hangingPunct="1"/>
            <a:r>
              <a:rPr lang="en-US" altLang="zh-CN"/>
              <a:t>[ WITH &lt;</a:t>
            </a:r>
            <a:r>
              <a:rPr lang="zh-CN" altLang="zh-CN"/>
              <a:t>视图属性</a:t>
            </a:r>
            <a:r>
              <a:rPr lang="en-US" altLang="zh-CN"/>
              <a:t>&gt; [ , ... ] ]</a:t>
            </a:r>
            <a:endParaRPr lang="zh-CN" altLang="zh-CN"/>
          </a:p>
          <a:p>
            <a:pPr eaLnBrk="1" hangingPunct="1"/>
            <a:r>
              <a:rPr lang="en-US" altLang="zh-CN"/>
              <a:t>     AS SELECT</a:t>
            </a:r>
            <a:r>
              <a:rPr lang="zh-CN" altLang="zh-CN"/>
              <a:t>语句</a:t>
            </a:r>
            <a:r>
              <a:rPr lang="en-US" altLang="zh-CN"/>
              <a:t>[ ; ]</a:t>
            </a:r>
            <a:endParaRPr lang="zh-CN" altLang="zh-CN"/>
          </a:p>
          <a:p>
            <a:pPr eaLnBrk="1" hangingPunct="1"/>
            <a:r>
              <a:rPr lang="en-US" altLang="zh-CN"/>
              <a:t>[ WITH CHECK OPTION ]</a:t>
            </a:r>
            <a:endParaRPr lang="zh-CN" altLang="zh-CN"/>
          </a:p>
          <a:p>
            <a:pPr eaLnBrk="1" fontAlgn="ctr" hangingPunct="1"/>
            <a:r>
              <a:rPr lang="zh-CN" altLang="zh-CN"/>
              <a:t>其中，</a:t>
            </a:r>
            <a:r>
              <a:rPr lang="en-US" altLang="zh-CN"/>
              <a:t>&lt;</a:t>
            </a:r>
            <a:r>
              <a:rPr lang="zh-CN" altLang="zh-CN"/>
              <a:t>视图属性</a:t>
            </a:r>
            <a:r>
              <a:rPr lang="en-US" altLang="zh-CN"/>
              <a:t>&gt;</a:t>
            </a:r>
            <a:r>
              <a:rPr lang="zh-CN" altLang="zh-CN"/>
              <a:t>、</a:t>
            </a:r>
            <a:r>
              <a:rPr lang="en-US" altLang="zh-CN"/>
              <a:t>SELECT</a:t>
            </a:r>
            <a:r>
              <a:rPr lang="zh-CN" altLang="zh-CN"/>
              <a:t>语句等参数与</a:t>
            </a:r>
            <a:r>
              <a:rPr lang="en-US" altLang="zh-CN"/>
              <a:t>CREATE VIEW</a:t>
            </a:r>
            <a:r>
              <a:rPr lang="zh-CN" altLang="zh-CN"/>
              <a:t>语句中的含义相同。</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365625"/>
            <a:ext cx="7848600" cy="22320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1628775"/>
            <a:ext cx="7848600" cy="18716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4.2.5  </a:t>
            </a:r>
            <a:r>
              <a:rPr lang="zh-CN" altLang="zh-CN" dirty="0">
                <a:effectLst/>
              </a:rPr>
              <a:t>修改视图的定义：</a:t>
            </a:r>
            <a:r>
              <a:rPr lang="en-US" altLang="zh-CN" dirty="0">
                <a:effectLst/>
              </a:rPr>
              <a:t>ALTER VIEW</a:t>
            </a:r>
            <a:endParaRPr lang="zh-CN" altLang="en-US" dirty="0"/>
          </a:p>
        </p:txBody>
      </p:sp>
      <p:sp>
        <p:nvSpPr>
          <p:cNvPr id="84997" name="TextBox 2"/>
          <p:cNvSpPr txBox="1">
            <a:spLocks noChangeArrowheads="1"/>
          </p:cNvSpPr>
          <p:nvPr/>
        </p:nvSpPr>
        <p:spPr bwMode="auto">
          <a:xfrm>
            <a:off x="395288" y="1268413"/>
            <a:ext cx="82804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4.63</a:t>
            </a:r>
            <a:r>
              <a:rPr lang="zh-CN" altLang="zh-CN"/>
              <a:t>】 将</a:t>
            </a:r>
            <a:r>
              <a:rPr lang="en-US" altLang="zh-CN"/>
              <a:t>cxs</a:t>
            </a:r>
            <a:r>
              <a:rPr lang="zh-CN" altLang="zh-CN"/>
              <a:t>视图修改为只包含计算机专业学生的学号、姓名和总学分。</a:t>
            </a:r>
            <a:endParaRPr lang="zh-CN" altLang="zh-CN"/>
          </a:p>
          <a:p>
            <a:pPr eaLnBrk="1" hangingPunct="1"/>
            <a:r>
              <a:rPr lang="en-US" altLang="zh-CN"/>
              <a:t>USE pxscj</a:t>
            </a:r>
            <a:endParaRPr lang="zh-CN" altLang="zh-CN"/>
          </a:p>
          <a:p>
            <a:pPr eaLnBrk="1" hangingPunct="1"/>
            <a:r>
              <a:rPr lang="en-US" altLang="zh-CN"/>
              <a:t>GO</a:t>
            </a:r>
            <a:endParaRPr lang="zh-CN" altLang="zh-CN"/>
          </a:p>
          <a:p>
            <a:pPr eaLnBrk="1" hangingPunct="1"/>
            <a:r>
              <a:rPr lang="en-US" altLang="zh-CN"/>
              <a:t>ALTER VIEW cs_xs</a:t>
            </a:r>
            <a:endParaRPr lang="zh-CN" altLang="zh-CN"/>
          </a:p>
          <a:p>
            <a:pPr eaLnBrk="1" hangingPunct="1"/>
            <a:r>
              <a:rPr lang="en-US" altLang="zh-CN"/>
              <a:t>     AS</a:t>
            </a:r>
            <a:endParaRPr lang="zh-CN" altLang="zh-CN"/>
          </a:p>
          <a:p>
            <a:pPr eaLnBrk="1" hangingPunct="1"/>
            <a:r>
              <a:rPr lang="en-US" altLang="zh-CN"/>
              <a:t>     SELECT</a:t>
            </a:r>
            <a:r>
              <a:rPr lang="zh-CN" altLang="zh-CN"/>
              <a:t>学号</a:t>
            </a:r>
            <a:r>
              <a:rPr lang="en-US" altLang="zh-CN"/>
              <a:t>, </a:t>
            </a:r>
            <a:r>
              <a:rPr lang="zh-CN" altLang="zh-CN"/>
              <a:t>姓名</a:t>
            </a:r>
            <a:r>
              <a:rPr lang="en-US" altLang="zh-CN"/>
              <a:t>, </a:t>
            </a:r>
            <a:r>
              <a:rPr lang="zh-CN" altLang="zh-CN"/>
              <a:t>总学分</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计算机</a:t>
            </a:r>
            <a:r>
              <a:rPr lang="en-US" altLang="zh-CN"/>
              <a:t>'</a:t>
            </a:r>
            <a:endParaRPr lang="zh-CN" altLang="zh-CN"/>
          </a:p>
          <a:p>
            <a:pPr eaLnBrk="1" fontAlgn="ctr" hangingPunct="1"/>
            <a:r>
              <a:rPr lang="zh-CN" altLang="zh-CN"/>
              <a:t>使用</a:t>
            </a:r>
            <a:r>
              <a:rPr lang="en-US" altLang="zh-CN"/>
              <a:t>ENCRYPTION</a:t>
            </a:r>
            <a:r>
              <a:rPr lang="zh-CN" altLang="zh-CN"/>
              <a:t>属性定义的视图可以使用</a:t>
            </a:r>
            <a:r>
              <a:rPr lang="en-US" altLang="zh-CN"/>
              <a:t>ALTER VIEW</a:t>
            </a:r>
            <a:r>
              <a:rPr lang="zh-CN" altLang="zh-CN"/>
              <a:t>语句修改。</a:t>
            </a:r>
            <a:endParaRPr lang="zh-CN" altLang="zh-CN"/>
          </a:p>
          <a:p>
            <a:pPr eaLnBrk="1" fontAlgn="ctr" hangingPunct="1"/>
            <a:r>
              <a:rPr lang="zh-CN" altLang="zh-CN"/>
              <a:t>【例</a:t>
            </a:r>
            <a:r>
              <a:rPr lang="en-US" altLang="zh-CN"/>
              <a:t>4.64</a:t>
            </a:r>
            <a:r>
              <a:rPr lang="zh-CN" altLang="zh-CN"/>
              <a:t>】 视图</a:t>
            </a:r>
            <a:r>
              <a:rPr lang="en-US" altLang="zh-CN"/>
              <a:t>ccj</a:t>
            </a:r>
            <a:r>
              <a:rPr lang="zh-CN" altLang="zh-CN"/>
              <a:t>是加密存储视图，修改其定义，包括学号、姓名、选修的课程号、课程名和成绩。</a:t>
            </a:r>
            <a:endParaRPr lang="zh-CN" altLang="zh-CN"/>
          </a:p>
          <a:p>
            <a:pPr eaLnBrk="1" hangingPunct="1"/>
            <a:r>
              <a:rPr lang="en-US" altLang="zh-CN"/>
              <a:t>ALTER VIEW ccj  WITH ENCRYPTION</a:t>
            </a:r>
            <a:endParaRPr lang="zh-CN" altLang="zh-CN"/>
          </a:p>
          <a:p>
            <a:pPr eaLnBrk="1" hangingPunct="1"/>
            <a:r>
              <a:rPr lang="en-US" altLang="zh-CN"/>
              <a:t>     AS</a:t>
            </a:r>
            <a:endParaRPr lang="zh-CN" altLang="zh-CN"/>
          </a:p>
          <a:p>
            <a:pPr eaLnBrk="1" hangingPunct="1"/>
            <a:r>
              <a:rPr lang="en-US" altLang="zh-CN"/>
              <a:t>     SELECT xsb.</a:t>
            </a:r>
            <a:r>
              <a:rPr lang="zh-CN" altLang="zh-CN"/>
              <a:t>学号</a:t>
            </a:r>
            <a:r>
              <a:rPr lang="en-US" altLang="zh-CN"/>
              <a:t>,xsb.</a:t>
            </a:r>
            <a:r>
              <a:rPr lang="zh-CN" altLang="zh-CN"/>
              <a:t>姓名</a:t>
            </a:r>
            <a:r>
              <a:rPr lang="en-US" altLang="zh-CN"/>
              <a:t>,cjb.</a:t>
            </a:r>
            <a:r>
              <a:rPr lang="zh-CN" altLang="zh-CN"/>
              <a:t>课程号</a:t>
            </a:r>
            <a:r>
              <a:rPr lang="en-US" altLang="zh-CN"/>
              <a:t>,kcb.</a:t>
            </a:r>
            <a:r>
              <a:rPr lang="zh-CN" altLang="zh-CN"/>
              <a:t>课程名</a:t>
            </a:r>
            <a:r>
              <a:rPr lang="en-US" altLang="zh-CN"/>
              <a:t>,</a:t>
            </a:r>
            <a:r>
              <a:rPr lang="zh-CN" altLang="zh-CN"/>
              <a:t>成绩</a:t>
            </a:r>
            <a:endParaRPr lang="zh-CN" altLang="zh-CN"/>
          </a:p>
          <a:p>
            <a:pPr eaLnBrk="1" hangingPunct="1"/>
            <a:r>
              <a:rPr lang="en-US" altLang="zh-CN"/>
              <a:t>          FROM  xsb, cjb, kcb</a:t>
            </a:r>
            <a:endParaRPr lang="zh-CN" altLang="zh-CN"/>
          </a:p>
          <a:p>
            <a:pPr eaLnBrk="1" hangingPunct="1"/>
            <a:r>
              <a:rPr lang="en-US" altLang="zh-CN"/>
              <a:t>          WHERE  xsb.</a:t>
            </a:r>
            <a:r>
              <a:rPr lang="zh-CN" altLang="zh-CN"/>
              <a:t>学号</a:t>
            </a:r>
            <a:r>
              <a:rPr lang="en-US" altLang="zh-CN"/>
              <a:t> = cjb.</a:t>
            </a:r>
            <a:r>
              <a:rPr lang="zh-CN" altLang="zh-CN"/>
              <a:t>学号</a:t>
            </a:r>
            <a:r>
              <a:rPr lang="en-US" altLang="zh-CN"/>
              <a:t> </a:t>
            </a:r>
            <a:endParaRPr lang="zh-CN" altLang="zh-CN"/>
          </a:p>
          <a:p>
            <a:pPr eaLnBrk="1" hangingPunct="1"/>
            <a:r>
              <a:rPr lang="en-US" altLang="zh-CN"/>
              <a:t>               AND  cjb.</a:t>
            </a:r>
            <a:r>
              <a:rPr lang="zh-CN" altLang="zh-CN"/>
              <a:t>课程号</a:t>
            </a:r>
            <a:r>
              <a:rPr lang="en-US" altLang="zh-CN"/>
              <a:t> = kcb.</a:t>
            </a:r>
            <a:r>
              <a:rPr lang="zh-CN" altLang="zh-CN"/>
              <a:t>课程号</a:t>
            </a:r>
            <a:endParaRPr lang="zh-CN" altLang="zh-CN"/>
          </a:p>
          <a:p>
            <a:pPr eaLnBrk="1" hangingPunct="1"/>
            <a:r>
              <a:rPr lang="en-US" altLang="zh-CN"/>
              <a:t>               AND  </a:t>
            </a:r>
            <a:r>
              <a:rPr lang="zh-CN" altLang="zh-CN"/>
              <a:t>专业</a:t>
            </a:r>
            <a:r>
              <a:rPr lang="en-US" altLang="zh-CN"/>
              <a:t>= '</a:t>
            </a:r>
            <a:r>
              <a:rPr lang="zh-CN" altLang="zh-CN"/>
              <a:t>计算机</a:t>
            </a:r>
            <a:r>
              <a:rPr lang="en-US" altLang="zh-CN"/>
              <a:t>'</a:t>
            </a:r>
            <a:endParaRPr lang="zh-CN" altLang="zh-CN"/>
          </a:p>
          <a:p>
            <a:pPr eaLnBrk="1" hangingPunct="1"/>
            <a:r>
              <a:rPr lang="en-US" altLang="zh-CN"/>
              <a:t>          WITH CHECK OPTION</a:t>
            </a:r>
            <a:endParaRPr lang="zh-CN" altLang="zh-CN"/>
          </a:p>
          <a:p>
            <a:pPr eaLnBrk="1" hangingPunct="1"/>
            <a:endParaRPr lang="zh-CN" altLang="en-US"/>
          </a:p>
        </p:txBody>
      </p:sp>
    </p:spTree>
  </p:cSld>
  <p:clrMapOvr>
    <a:masterClrMapping/>
  </p:clrMapOvr>
  <p:transition spd="slow">
    <p:zoom dir="in"/>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5300663"/>
            <a:ext cx="777557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4508500"/>
            <a:ext cx="777557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a:bodyPr>
          <a:lstStyle/>
          <a:p>
            <a:pPr eaLnBrk="1" fontAlgn="auto" hangingPunct="1">
              <a:spcAft>
                <a:spcPts val="0"/>
              </a:spcAft>
              <a:buClr>
                <a:schemeClr val="accent6">
                  <a:lumMod val="75000"/>
                </a:schemeClr>
              </a:buClr>
              <a:defRPr/>
            </a:pPr>
            <a:r>
              <a:rPr lang="en-US" altLang="zh-CN" dirty="0">
                <a:effectLst/>
              </a:rPr>
              <a:t>4.2.6  </a:t>
            </a:r>
            <a:r>
              <a:rPr lang="zh-CN" altLang="zh-CN" dirty="0">
                <a:effectLst/>
              </a:rPr>
              <a:t>删除视图：</a:t>
            </a:r>
            <a:r>
              <a:rPr lang="en-US" altLang="zh-CN" dirty="0">
                <a:effectLst/>
              </a:rPr>
              <a:t>DROP VIEW</a:t>
            </a:r>
            <a:endParaRPr lang="zh-CN" altLang="zh-CN" dirty="0">
              <a:effectLst/>
            </a:endParaRPr>
          </a:p>
        </p:txBody>
      </p:sp>
      <p:sp>
        <p:nvSpPr>
          <p:cNvPr id="86021" name="TextBox 2"/>
          <p:cNvSpPr txBox="1">
            <a:spLocks noChangeArrowheads="1"/>
          </p:cNvSpPr>
          <p:nvPr/>
        </p:nvSpPr>
        <p:spPr bwMode="auto">
          <a:xfrm>
            <a:off x="468313" y="1484313"/>
            <a:ext cx="8207375" cy="503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lnSpc>
                <a:spcPct val="150000"/>
              </a:lnSpc>
            </a:pPr>
            <a:r>
              <a:rPr lang="en-US" altLang="zh-CN" b="1">
                <a:solidFill>
                  <a:srgbClr val="C00000"/>
                </a:solidFill>
              </a:rPr>
              <a:t>1</a:t>
            </a:r>
            <a:r>
              <a:rPr lang="zh-CN" altLang="zh-CN" b="1">
                <a:solidFill>
                  <a:srgbClr val="C00000"/>
                </a:solidFill>
              </a:rPr>
              <a:t>．通过对象资源管理器删除视图</a:t>
            </a:r>
            <a:endParaRPr lang="zh-CN" altLang="zh-CN" b="1">
              <a:solidFill>
                <a:srgbClr val="C00000"/>
              </a:solidFill>
            </a:endParaRPr>
          </a:p>
          <a:p>
            <a:pPr eaLnBrk="1" fontAlgn="ctr" hangingPunct="1">
              <a:lnSpc>
                <a:spcPct val="150000"/>
              </a:lnSpc>
            </a:pPr>
            <a:r>
              <a:rPr lang="zh-CN" altLang="zh-CN"/>
              <a:t>在“对象资源管理器中”删除视图的操作方法是：</a:t>
            </a:r>
            <a:endParaRPr lang="zh-CN" altLang="zh-CN"/>
          </a:p>
          <a:p>
            <a:pPr eaLnBrk="1" fontAlgn="ctr" hangingPunct="1">
              <a:lnSpc>
                <a:spcPct val="150000"/>
              </a:lnSpc>
            </a:pPr>
            <a:r>
              <a:rPr lang="zh-CN" altLang="zh-CN"/>
              <a:t>在“视图”目录下选择需要删除的视图，右键单击鼠标，在弹出的快捷菜单中选择“删除”菜单项，出现“删除”对话框，单击“确定”按钮即删除了指定的视图。</a:t>
            </a:r>
            <a:endParaRPr lang="zh-CN" altLang="zh-CN"/>
          </a:p>
          <a:p>
            <a:pPr eaLnBrk="1" hangingPunct="1">
              <a:lnSpc>
                <a:spcPct val="150000"/>
              </a:lnSpc>
            </a:pPr>
            <a:r>
              <a:rPr lang="en-US" altLang="zh-CN" b="1">
                <a:solidFill>
                  <a:srgbClr val="C00000"/>
                </a:solidFill>
              </a:rPr>
              <a:t>2</a:t>
            </a:r>
            <a:r>
              <a:rPr lang="zh-CN" altLang="zh-CN" b="1">
                <a:solidFill>
                  <a:srgbClr val="C00000"/>
                </a:solidFill>
              </a:rPr>
              <a:t>．</a:t>
            </a:r>
            <a:r>
              <a:rPr lang="en-US" altLang="zh-CN" b="1">
                <a:solidFill>
                  <a:srgbClr val="C00000"/>
                </a:solidFill>
              </a:rPr>
              <a:t>T-SQL</a:t>
            </a:r>
            <a:r>
              <a:rPr lang="zh-CN" altLang="zh-CN" b="1">
                <a:solidFill>
                  <a:srgbClr val="C00000"/>
                </a:solidFill>
              </a:rPr>
              <a:t>命令方式删除视图</a:t>
            </a:r>
            <a:endParaRPr lang="zh-CN" altLang="zh-CN" b="1">
              <a:solidFill>
                <a:srgbClr val="C00000"/>
              </a:solidFill>
            </a:endParaRPr>
          </a:p>
          <a:p>
            <a:pPr eaLnBrk="1" fontAlgn="ctr" hangingPunct="1">
              <a:lnSpc>
                <a:spcPct val="150000"/>
              </a:lnSpc>
            </a:pPr>
            <a:r>
              <a:rPr lang="zh-CN" altLang="zh-CN"/>
              <a:t>语法格式：</a:t>
            </a:r>
            <a:endParaRPr lang="zh-CN" altLang="zh-CN"/>
          </a:p>
          <a:p>
            <a:pPr eaLnBrk="1" hangingPunct="1">
              <a:lnSpc>
                <a:spcPct val="150000"/>
              </a:lnSpc>
            </a:pPr>
            <a:r>
              <a:rPr lang="en-US" altLang="zh-CN"/>
              <a:t>DROP VIEW [</a:t>
            </a:r>
            <a:r>
              <a:rPr lang="zh-CN" altLang="zh-CN"/>
              <a:t>架构名</a:t>
            </a:r>
            <a:r>
              <a:rPr lang="en-US" altLang="zh-CN"/>
              <a:t>. ]</a:t>
            </a:r>
            <a:r>
              <a:rPr lang="zh-CN" altLang="zh-CN"/>
              <a:t>视图名</a:t>
            </a:r>
            <a:r>
              <a:rPr lang="en-US" altLang="zh-CN"/>
              <a:t>[ ... , ]</a:t>
            </a:r>
            <a:endParaRPr lang="zh-CN" altLang="zh-CN"/>
          </a:p>
          <a:p>
            <a:pPr eaLnBrk="1" fontAlgn="ctr" hangingPunct="1">
              <a:lnSpc>
                <a:spcPct val="150000"/>
              </a:lnSpc>
            </a:pPr>
            <a:r>
              <a:rPr lang="zh-CN" altLang="zh-CN"/>
              <a:t>使用</a:t>
            </a:r>
            <a:r>
              <a:rPr lang="en-US" altLang="zh-CN"/>
              <a:t>DROP VIEW</a:t>
            </a:r>
            <a:r>
              <a:rPr lang="zh-CN" altLang="zh-CN"/>
              <a:t>可删除一个或多个视图。例如：</a:t>
            </a:r>
            <a:endParaRPr lang="zh-CN" altLang="zh-CN"/>
          </a:p>
          <a:p>
            <a:pPr eaLnBrk="1" hangingPunct="1">
              <a:lnSpc>
                <a:spcPct val="150000"/>
              </a:lnSpc>
            </a:pPr>
            <a:r>
              <a:rPr lang="en-US" altLang="zh-CN"/>
              <a:t>DROP VIEW cxs, ccj</a:t>
            </a:r>
            <a:endParaRPr lang="zh-CN" altLang="zh-CN"/>
          </a:p>
          <a:p>
            <a:pPr eaLnBrk="1" fontAlgn="ctr" hangingPunct="1">
              <a:lnSpc>
                <a:spcPct val="150000"/>
              </a:lnSpc>
            </a:pPr>
            <a:r>
              <a:rPr lang="zh-CN" altLang="zh-CN"/>
              <a:t>将删除视图</a:t>
            </a:r>
            <a:r>
              <a:rPr lang="en-US" altLang="zh-CN"/>
              <a:t>cxs</a:t>
            </a:r>
            <a:r>
              <a:rPr lang="zh-CN" altLang="zh-CN"/>
              <a:t>和</a:t>
            </a:r>
            <a:r>
              <a:rPr lang="en-US" altLang="zh-CN"/>
              <a:t>ccj</a:t>
            </a:r>
            <a:r>
              <a:rPr lang="zh-CN" altLang="zh-CN"/>
              <a:t>（实际不操作）。</a:t>
            </a:r>
            <a:endParaRPr lang="zh-CN" altLang="zh-CN"/>
          </a:p>
          <a:p>
            <a:pPr eaLnBrk="1" hangingPunct="1">
              <a:lnSpc>
                <a:spcPct val="150000"/>
              </a:lnSpc>
            </a:pPr>
            <a:endParaRPr lang="zh-CN" altLang="en-US"/>
          </a:p>
        </p:txBody>
      </p:sp>
    </p:spTree>
  </p:cSld>
  <p:clrMapOvr>
    <a:masterClrMapping/>
  </p:clrMapOvr>
  <p:transition spd="slow">
    <p:blinds dir="vert"/>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00113" y="4097338"/>
            <a:ext cx="7775575" cy="23558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2924175"/>
            <a:ext cx="7775575" cy="86518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4.3  </a:t>
            </a:r>
            <a:r>
              <a:rPr lang="zh-CN" altLang="zh-CN" dirty="0">
                <a:effectLst/>
              </a:rPr>
              <a:t>游</a:t>
            </a:r>
            <a:r>
              <a:rPr lang="en-US" altLang="zh-CN" dirty="0">
                <a:effectLst/>
              </a:rPr>
              <a:t>    </a:t>
            </a:r>
            <a:r>
              <a:rPr lang="zh-CN" altLang="zh-CN" dirty="0">
                <a:effectLst/>
              </a:rPr>
              <a:t>标</a:t>
            </a:r>
            <a:endParaRPr lang="zh-CN" altLang="zh-CN" dirty="0">
              <a:effectLst/>
            </a:endParaRPr>
          </a:p>
        </p:txBody>
      </p:sp>
      <p:sp>
        <p:nvSpPr>
          <p:cNvPr id="87045" name="TextBox 2"/>
          <p:cNvSpPr txBox="1">
            <a:spLocks noChangeArrowheads="1"/>
          </p:cNvSpPr>
          <p:nvPr/>
        </p:nvSpPr>
        <p:spPr bwMode="auto">
          <a:xfrm>
            <a:off x="468313" y="1484313"/>
            <a:ext cx="8207375" cy="535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000" b="1" dirty="0"/>
              <a:t>4.3.1  </a:t>
            </a:r>
            <a:r>
              <a:rPr lang="zh-CN" altLang="zh-CN" sz="2000" b="1" dirty="0"/>
              <a:t>声明游标：</a:t>
            </a:r>
            <a:r>
              <a:rPr lang="en-US" altLang="zh-CN" sz="2000" b="1" dirty="0"/>
              <a:t>DECLARE CURSOR</a:t>
            </a:r>
            <a:endParaRPr lang="zh-CN" altLang="zh-CN" sz="2000" b="1" dirty="0"/>
          </a:p>
          <a:p>
            <a:pPr eaLnBrk="1" fontAlgn="ctr" hangingPunct="1"/>
            <a:r>
              <a:rPr lang="en-US" altLang="zh-CN" dirty="0"/>
              <a:t>T-SQL</a:t>
            </a:r>
            <a:r>
              <a:rPr lang="zh-CN" altLang="zh-CN" dirty="0"/>
              <a:t>中声明游标使用</a:t>
            </a:r>
            <a:r>
              <a:rPr lang="en-US" altLang="zh-CN" dirty="0"/>
              <a:t>DECLARE CURSOR</a:t>
            </a:r>
            <a:r>
              <a:rPr lang="zh-CN" altLang="zh-CN" dirty="0"/>
              <a:t>语句，该语句有两种格式，分别支持</a:t>
            </a:r>
            <a:r>
              <a:rPr lang="en-US" altLang="zh-CN" dirty="0"/>
              <a:t>SQL-92</a:t>
            </a:r>
            <a:r>
              <a:rPr lang="zh-CN" altLang="zh-CN" dirty="0"/>
              <a:t>标准和</a:t>
            </a:r>
            <a:r>
              <a:rPr lang="en-US" altLang="zh-CN" dirty="0"/>
              <a:t>T-SQL</a:t>
            </a:r>
            <a:r>
              <a:rPr lang="zh-CN" altLang="zh-CN" dirty="0"/>
              <a:t>扩展的游标声明。</a:t>
            </a:r>
            <a:endParaRPr lang="zh-CN" altLang="zh-CN" dirty="0"/>
          </a:p>
          <a:p>
            <a:pPr eaLnBrk="1" hangingPunct="1"/>
            <a:r>
              <a:rPr lang="en-US" altLang="zh-CN" b="1" dirty="0">
                <a:solidFill>
                  <a:srgbClr val="C00000"/>
                </a:solidFill>
              </a:rPr>
              <a:t>1</a:t>
            </a:r>
            <a:r>
              <a:rPr lang="zh-CN" altLang="zh-CN" b="1" dirty="0">
                <a:solidFill>
                  <a:srgbClr val="C00000"/>
                </a:solidFill>
              </a:rPr>
              <a:t>．</a:t>
            </a:r>
            <a:r>
              <a:rPr lang="en-US" altLang="zh-CN" b="1" dirty="0">
                <a:solidFill>
                  <a:srgbClr val="C00000"/>
                </a:solidFill>
              </a:rPr>
              <a:t>SQL-92</a:t>
            </a:r>
            <a:r>
              <a:rPr lang="zh-CN" altLang="zh-CN" b="1" dirty="0">
                <a:solidFill>
                  <a:srgbClr val="C00000"/>
                </a:solidFill>
              </a:rPr>
              <a:t>语法</a:t>
            </a:r>
            <a:endParaRPr lang="zh-CN" altLang="zh-CN" b="1" dirty="0">
              <a:solidFill>
                <a:srgbClr val="C00000"/>
              </a:solidFill>
            </a:endParaRPr>
          </a:p>
          <a:p>
            <a:pPr eaLnBrk="1" fontAlgn="ctr" hangingPunct="1"/>
            <a:r>
              <a:rPr lang="zh-CN" altLang="zh-CN" dirty="0"/>
              <a:t>语句格式：</a:t>
            </a:r>
            <a:endParaRPr lang="zh-CN" altLang="zh-CN" dirty="0"/>
          </a:p>
          <a:p>
            <a:pPr eaLnBrk="1" hangingPunct="1"/>
            <a:r>
              <a:rPr lang="en-US" altLang="zh-CN" dirty="0"/>
              <a:t>DECLARE</a:t>
            </a:r>
            <a:r>
              <a:rPr lang="zh-CN" altLang="zh-CN" dirty="0"/>
              <a:t>游标名</a:t>
            </a:r>
            <a:r>
              <a:rPr lang="en-US" altLang="zh-CN" dirty="0"/>
              <a:t>[ INSENSITIVE ] [ SCROLL ] CURSOR</a:t>
            </a:r>
            <a:endParaRPr lang="zh-CN" altLang="zh-CN" dirty="0"/>
          </a:p>
          <a:p>
            <a:pPr eaLnBrk="1" hangingPunct="1"/>
            <a:r>
              <a:rPr lang="en-US" altLang="zh-CN" dirty="0"/>
              <a:t>     FOR Select</a:t>
            </a:r>
            <a:r>
              <a:rPr lang="zh-CN" altLang="zh-CN" dirty="0"/>
              <a:t>语句</a:t>
            </a:r>
            <a:endParaRPr lang="zh-CN" altLang="zh-CN" dirty="0"/>
          </a:p>
          <a:p>
            <a:pPr eaLnBrk="1" hangingPunct="1"/>
            <a:r>
              <a:rPr lang="en-US" altLang="zh-CN" dirty="0"/>
              <a:t>[ FOR READ ONLY | UPDATE [ OF</a:t>
            </a:r>
            <a:r>
              <a:rPr lang="zh-CN" altLang="zh-CN" dirty="0"/>
              <a:t>列名 </a:t>
            </a:r>
            <a:r>
              <a:rPr lang="en-US" altLang="zh-CN" dirty="0"/>
              <a:t>…] ]</a:t>
            </a:r>
            <a:endParaRPr lang="zh-CN" altLang="zh-CN" dirty="0"/>
          </a:p>
          <a:p>
            <a:pPr eaLnBrk="1" fontAlgn="ctr" hangingPunct="1"/>
            <a:r>
              <a:rPr lang="zh-CN" altLang="zh-CN" dirty="0"/>
              <a:t>【例</a:t>
            </a:r>
            <a:r>
              <a:rPr lang="en-US" altLang="zh-CN" dirty="0"/>
              <a:t>4.65</a:t>
            </a:r>
            <a:r>
              <a:rPr lang="zh-CN" altLang="zh-CN" dirty="0"/>
              <a:t>】 定义一个符合</a:t>
            </a:r>
            <a:r>
              <a:rPr lang="en-US" altLang="zh-CN" dirty="0"/>
              <a:t>SQL-92</a:t>
            </a:r>
            <a:r>
              <a:rPr lang="zh-CN" altLang="zh-CN" dirty="0"/>
              <a:t>标准的游标声明。</a:t>
            </a:r>
            <a:endParaRPr lang="zh-CN" altLang="zh-CN" dirty="0"/>
          </a:p>
          <a:p>
            <a:pPr eaLnBrk="1" hangingPunct="1"/>
            <a:r>
              <a:rPr lang="en-US" altLang="zh-CN" dirty="0"/>
              <a:t>USE </a:t>
            </a:r>
            <a:r>
              <a:rPr lang="en-US" altLang="zh-CN" dirty="0" err="1"/>
              <a:t>pxscj</a:t>
            </a:r>
            <a:endParaRPr lang="zh-CN" altLang="zh-CN" dirty="0"/>
          </a:p>
          <a:p>
            <a:pPr eaLnBrk="1" hangingPunct="1"/>
            <a:r>
              <a:rPr lang="en-US" altLang="zh-CN" dirty="0"/>
              <a:t>GO</a:t>
            </a:r>
            <a:endParaRPr lang="zh-CN" altLang="zh-CN" dirty="0"/>
          </a:p>
          <a:p>
            <a:pPr eaLnBrk="1" hangingPunct="1"/>
            <a:r>
              <a:rPr lang="en-US" altLang="zh-CN" dirty="0"/>
              <a:t>DECLARE xs_cur1 CURSOR</a:t>
            </a:r>
            <a:endParaRPr lang="zh-CN" altLang="zh-CN" dirty="0"/>
          </a:p>
          <a:p>
            <a:pPr eaLnBrk="1" hangingPunct="1"/>
            <a:r>
              <a:rPr lang="en-US" altLang="zh-CN" dirty="0"/>
              <a:t>     FOR</a:t>
            </a:r>
            <a:endParaRPr lang="zh-CN" altLang="zh-CN" dirty="0"/>
          </a:p>
          <a:p>
            <a:pPr eaLnBrk="1" hangingPunct="1"/>
            <a:r>
              <a:rPr lang="en-US" altLang="zh-CN" dirty="0"/>
              <a:t>     SELECT</a:t>
            </a:r>
            <a:r>
              <a:rPr lang="zh-CN" altLang="zh-CN" dirty="0"/>
              <a:t>学号</a:t>
            </a:r>
            <a:r>
              <a:rPr lang="en-US" altLang="zh-CN" dirty="0"/>
              <a:t>,</a:t>
            </a:r>
            <a:r>
              <a:rPr lang="zh-CN" altLang="zh-CN" dirty="0"/>
              <a:t>姓名</a:t>
            </a:r>
            <a:r>
              <a:rPr lang="en-US" altLang="zh-CN" dirty="0"/>
              <a:t>,</a:t>
            </a:r>
            <a:r>
              <a:rPr lang="zh-CN" altLang="zh-CN" dirty="0"/>
              <a:t>性别</a:t>
            </a:r>
            <a:r>
              <a:rPr lang="en-US" altLang="zh-CN" dirty="0"/>
              <a:t>,</a:t>
            </a:r>
            <a:r>
              <a:rPr lang="zh-CN" altLang="zh-CN" dirty="0"/>
              <a:t>出生时间</a:t>
            </a:r>
            <a:r>
              <a:rPr lang="en-US" altLang="zh-CN" dirty="0"/>
              <a:t>,</a:t>
            </a:r>
            <a:r>
              <a:rPr lang="zh-CN" altLang="zh-CN" dirty="0"/>
              <a:t>总学分</a:t>
            </a:r>
            <a:endParaRPr lang="zh-CN" altLang="zh-CN" dirty="0"/>
          </a:p>
          <a:p>
            <a:pPr eaLnBrk="1" hangingPunct="1"/>
            <a:r>
              <a:rPr lang="en-US" altLang="zh-CN" dirty="0"/>
              <a:t>          FROM </a:t>
            </a:r>
            <a:r>
              <a:rPr lang="en-US" altLang="zh-CN" dirty="0" err="1"/>
              <a:t>xsb</a:t>
            </a:r>
            <a:endParaRPr lang="zh-CN" altLang="zh-CN" dirty="0"/>
          </a:p>
          <a:p>
            <a:pPr eaLnBrk="1" hangingPunct="1"/>
            <a:r>
              <a:rPr lang="en-US" altLang="zh-CN" dirty="0"/>
              <a:t>          WHERE</a:t>
            </a:r>
            <a:r>
              <a:rPr lang="zh-CN" altLang="zh-CN" dirty="0"/>
              <a:t>专业</a:t>
            </a:r>
            <a:r>
              <a:rPr lang="en-US" altLang="zh-CN" dirty="0"/>
              <a:t>= '</a:t>
            </a:r>
            <a:r>
              <a:rPr lang="zh-CN" altLang="zh-CN" dirty="0"/>
              <a:t>计算机</a:t>
            </a:r>
            <a:r>
              <a:rPr lang="en-US" altLang="zh-CN" dirty="0"/>
              <a:t>'</a:t>
            </a:r>
            <a:endParaRPr lang="zh-CN" altLang="zh-CN" dirty="0"/>
          </a:p>
          <a:p>
            <a:pPr eaLnBrk="1" hangingPunct="1"/>
            <a:r>
              <a:rPr lang="en-US" altLang="zh-CN" dirty="0"/>
              <a:t>     FOR READ ONLY</a:t>
            </a:r>
            <a:endParaRPr lang="zh-CN" altLang="zh-CN" dirty="0"/>
          </a:p>
          <a:p>
            <a:pPr eaLnBrk="1" hangingPunct="1"/>
            <a:r>
              <a:rPr lang="en-US" altLang="zh-CN" dirty="0"/>
              <a:t>GO</a:t>
            </a:r>
            <a:endParaRPr lang="zh-CN" altLang="zh-CN" dirty="0"/>
          </a:p>
          <a:p>
            <a:pPr eaLnBrk="1" hangingPunct="1"/>
            <a:endParaRPr lang="zh-CN" altLang="en-US" dirty="0"/>
          </a:p>
        </p:txBody>
      </p:sp>
    </p:spTree>
  </p:cSld>
  <p:clrMapOvr>
    <a:masterClrMapping/>
  </p:clrMapOvr>
  <p:transition spd="slow">
    <p:zoom dir="in"/>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27088" y="4437063"/>
            <a:ext cx="7921625" cy="18716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133600"/>
            <a:ext cx="7921625" cy="19939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4.3.1  </a:t>
            </a:r>
            <a:r>
              <a:rPr lang="zh-CN" altLang="zh-CN" dirty="0">
                <a:effectLst/>
              </a:rPr>
              <a:t>声明游标：</a:t>
            </a:r>
            <a:r>
              <a:rPr lang="en-US" altLang="zh-CN" dirty="0">
                <a:effectLst/>
              </a:rPr>
              <a:t>DECLARE CURSOR</a:t>
            </a:r>
            <a:endParaRPr lang="zh-CN" altLang="zh-CN" dirty="0">
              <a:effectLst/>
            </a:endParaRPr>
          </a:p>
        </p:txBody>
      </p:sp>
      <p:sp>
        <p:nvSpPr>
          <p:cNvPr id="88069" name="TextBox 2"/>
          <p:cNvSpPr txBox="1">
            <a:spLocks noChangeArrowheads="1"/>
          </p:cNvSpPr>
          <p:nvPr/>
        </p:nvSpPr>
        <p:spPr bwMode="auto">
          <a:xfrm>
            <a:off x="468313" y="1557338"/>
            <a:ext cx="8280400" cy="5138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2</a:t>
            </a:r>
            <a:r>
              <a:rPr lang="zh-CN" altLang="zh-CN" b="1">
                <a:solidFill>
                  <a:srgbClr val="C00000"/>
                </a:solidFill>
              </a:rPr>
              <a:t>．</a:t>
            </a:r>
            <a:r>
              <a:rPr lang="en-US" altLang="zh-CN" b="1">
                <a:solidFill>
                  <a:srgbClr val="C00000"/>
                </a:solidFill>
              </a:rPr>
              <a:t>T-SQL</a:t>
            </a:r>
            <a:r>
              <a:rPr lang="zh-CN" altLang="zh-CN" b="1">
                <a:solidFill>
                  <a:srgbClr val="C00000"/>
                </a:solidFill>
              </a:rPr>
              <a:t>扩展</a:t>
            </a:r>
            <a:endParaRPr lang="zh-CN" altLang="zh-CN" b="1">
              <a:solidFill>
                <a:srgbClr val="C00000"/>
              </a:solidFill>
            </a:endParaRPr>
          </a:p>
          <a:p>
            <a:pPr eaLnBrk="1" fontAlgn="ctr" hangingPunct="1"/>
            <a:r>
              <a:rPr lang="zh-CN" altLang="zh-CN"/>
              <a:t>语句格式：</a:t>
            </a:r>
            <a:endParaRPr lang="zh-CN" altLang="zh-CN"/>
          </a:p>
          <a:p>
            <a:pPr eaLnBrk="1" hangingPunct="1"/>
            <a:r>
              <a:rPr lang="en-US" altLang="zh-CN" sz="1600"/>
              <a:t>DECLARE</a:t>
            </a:r>
            <a:r>
              <a:rPr lang="zh-CN" altLang="zh-CN" sz="1600"/>
              <a:t>游标名</a:t>
            </a:r>
            <a:r>
              <a:rPr lang="en-US" altLang="zh-CN" sz="1600"/>
              <a:t>CURSOR</a:t>
            </a:r>
            <a:endParaRPr lang="zh-CN" altLang="zh-CN" sz="1600"/>
          </a:p>
          <a:p>
            <a:pPr eaLnBrk="1" hangingPunct="1"/>
            <a:r>
              <a:rPr lang="en-US" altLang="zh-CN" sz="1600"/>
              <a:t>[ LOCAL | GLOBAL ]                               			/*</a:t>
            </a:r>
            <a:r>
              <a:rPr lang="zh-CN" altLang="zh-CN" sz="1600"/>
              <a:t>游标作用域</a:t>
            </a:r>
            <a:r>
              <a:rPr lang="en-US" altLang="zh-CN" sz="1600"/>
              <a:t>*/</a:t>
            </a:r>
            <a:endParaRPr lang="zh-CN" altLang="zh-CN" sz="1600"/>
          </a:p>
          <a:p>
            <a:pPr eaLnBrk="1" hangingPunct="1"/>
            <a:r>
              <a:rPr lang="en-US" altLang="zh-CN" sz="1600"/>
              <a:t>[ FORWORD_ONLY | SCROLL ]                     		/*</a:t>
            </a:r>
            <a:r>
              <a:rPr lang="zh-CN" altLang="zh-CN" sz="1600"/>
              <a:t>游标移动方向</a:t>
            </a:r>
            <a:r>
              <a:rPr lang="en-US" altLang="zh-CN" sz="1600"/>
              <a:t>*/</a:t>
            </a:r>
            <a:endParaRPr lang="zh-CN" altLang="zh-CN" sz="1600"/>
          </a:p>
          <a:p>
            <a:pPr eaLnBrk="1" hangingPunct="1"/>
            <a:r>
              <a:rPr lang="en-US" altLang="zh-CN" sz="1600"/>
              <a:t>[ STATIC | KEYSET | DYNAMIC | FAST_FORWARD ]   	/*</a:t>
            </a:r>
            <a:r>
              <a:rPr lang="zh-CN" altLang="zh-CN" sz="1600"/>
              <a:t>游标类型</a:t>
            </a:r>
            <a:r>
              <a:rPr lang="en-US" altLang="zh-CN" sz="1600"/>
              <a:t>*/</a:t>
            </a:r>
            <a:endParaRPr lang="zh-CN" altLang="zh-CN" sz="1600"/>
          </a:p>
          <a:p>
            <a:pPr eaLnBrk="1" hangingPunct="1"/>
            <a:r>
              <a:rPr lang="en-US" altLang="zh-CN" sz="1600"/>
              <a:t>[ READ_ONLY | SCROLL_LOCKS | OPTIMISTIC ]     		/*</a:t>
            </a:r>
            <a:r>
              <a:rPr lang="zh-CN" altLang="zh-CN" sz="1600"/>
              <a:t>访问属性</a:t>
            </a:r>
            <a:r>
              <a:rPr lang="en-US" altLang="zh-CN" sz="1600"/>
              <a:t>*/</a:t>
            </a:r>
            <a:endParaRPr lang="zh-CN" altLang="zh-CN" sz="1600"/>
          </a:p>
          <a:p>
            <a:pPr eaLnBrk="1" hangingPunct="1"/>
            <a:r>
              <a:rPr lang="en-US" altLang="zh-CN" sz="1600"/>
              <a:t>[ TYPE_WARNING ]                               			/*</a:t>
            </a:r>
            <a:r>
              <a:rPr lang="zh-CN" altLang="zh-CN" sz="1600"/>
              <a:t>类型转换警告信息</a:t>
            </a:r>
            <a:r>
              <a:rPr lang="en-US" altLang="zh-CN" sz="1600"/>
              <a:t>*/</a:t>
            </a:r>
            <a:endParaRPr lang="zh-CN" altLang="zh-CN" sz="1600"/>
          </a:p>
          <a:p>
            <a:pPr eaLnBrk="1" hangingPunct="1"/>
            <a:r>
              <a:rPr lang="en-US" altLang="zh-CN" sz="1600"/>
              <a:t>FOR Select</a:t>
            </a:r>
            <a:r>
              <a:rPr lang="zh-CN" altLang="zh-CN" sz="1600"/>
              <a:t>语句</a:t>
            </a:r>
            <a:r>
              <a:rPr lang="en-US" altLang="zh-CN" sz="1600"/>
              <a:t>                               			/*SELECT</a:t>
            </a:r>
            <a:r>
              <a:rPr lang="zh-CN" altLang="zh-CN" sz="1600"/>
              <a:t>查询语句</a:t>
            </a:r>
            <a:r>
              <a:rPr lang="en-US" altLang="zh-CN" sz="1600"/>
              <a:t>*/</a:t>
            </a:r>
            <a:endParaRPr lang="zh-CN" altLang="zh-CN" sz="1600"/>
          </a:p>
          <a:p>
            <a:pPr eaLnBrk="1" hangingPunct="1"/>
            <a:r>
              <a:rPr lang="en-US" altLang="zh-CN" sz="1600"/>
              <a:t>[ FOR UPDATE [ OF</a:t>
            </a:r>
            <a:r>
              <a:rPr lang="zh-CN" altLang="zh-CN" sz="1600"/>
              <a:t>列名</a:t>
            </a:r>
            <a:r>
              <a:rPr lang="en-US" altLang="zh-CN" sz="1600"/>
              <a:t>[ , …] ] ]			/*</a:t>
            </a:r>
            <a:r>
              <a:rPr lang="zh-CN" altLang="zh-CN" sz="1600"/>
              <a:t>可修改的列</a:t>
            </a:r>
            <a:r>
              <a:rPr lang="en-US" altLang="zh-CN" sz="1600"/>
              <a:t>*/</a:t>
            </a:r>
            <a:endParaRPr lang="zh-CN" altLang="zh-CN" sz="1600"/>
          </a:p>
          <a:p>
            <a:pPr eaLnBrk="1" fontAlgn="ctr" hangingPunct="1"/>
            <a:r>
              <a:rPr lang="zh-CN" altLang="zh-CN"/>
              <a:t>【例</a:t>
            </a:r>
            <a:r>
              <a:rPr lang="en-US" altLang="zh-CN"/>
              <a:t>4.66</a:t>
            </a:r>
            <a:r>
              <a:rPr lang="zh-CN" altLang="zh-CN"/>
              <a:t>】 定义一个</a:t>
            </a:r>
            <a:r>
              <a:rPr lang="en-US" altLang="zh-CN"/>
              <a:t>T-SQL</a:t>
            </a:r>
            <a:r>
              <a:rPr lang="zh-CN" altLang="zh-CN"/>
              <a:t>扩展游标声明。</a:t>
            </a:r>
            <a:endParaRPr lang="zh-CN" altLang="zh-CN"/>
          </a:p>
          <a:p>
            <a:pPr eaLnBrk="1" hangingPunct="1"/>
            <a:r>
              <a:rPr lang="en-US" altLang="zh-CN"/>
              <a:t>DECLARE xs_cur2 CURSOR</a:t>
            </a:r>
            <a:endParaRPr lang="zh-CN" altLang="zh-CN"/>
          </a:p>
          <a:p>
            <a:pPr eaLnBrk="1" hangingPunct="1"/>
            <a:r>
              <a:rPr lang="en-US" altLang="zh-CN"/>
              <a:t>     DYNAMIC</a:t>
            </a:r>
            <a:endParaRPr lang="zh-CN" altLang="zh-CN"/>
          </a:p>
          <a:p>
            <a:pPr eaLnBrk="1" hangingPunct="1"/>
            <a:r>
              <a:rPr lang="en-US" altLang="zh-CN"/>
              <a:t>     FOR</a:t>
            </a:r>
            <a:endParaRPr lang="zh-CN" altLang="zh-CN"/>
          </a:p>
          <a:p>
            <a:pPr eaLnBrk="1" hangingPunct="1"/>
            <a:r>
              <a:rPr lang="en-US" altLang="zh-CN"/>
              <a:t>          SELECT</a:t>
            </a:r>
            <a:r>
              <a:rPr lang="zh-CN" altLang="zh-CN"/>
              <a:t>学号</a:t>
            </a:r>
            <a:r>
              <a:rPr lang="en-US" altLang="zh-CN"/>
              <a:t>,</a:t>
            </a:r>
            <a:r>
              <a:rPr lang="zh-CN" altLang="zh-CN"/>
              <a:t>姓名</a:t>
            </a:r>
            <a:r>
              <a:rPr lang="en-US" altLang="zh-CN"/>
              <a:t>,</a:t>
            </a:r>
            <a:r>
              <a:rPr lang="zh-CN" altLang="zh-CN"/>
              <a:t>总学分</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计算机</a:t>
            </a:r>
            <a:r>
              <a:rPr lang="en-US" altLang="zh-CN"/>
              <a:t>'</a:t>
            </a:r>
            <a:endParaRPr lang="zh-CN" altLang="zh-CN"/>
          </a:p>
          <a:p>
            <a:pPr eaLnBrk="1" hangingPunct="1"/>
            <a:r>
              <a:rPr lang="en-US" altLang="zh-CN"/>
              <a:t>     FOR UPDATE OF</a:t>
            </a:r>
            <a:r>
              <a:rPr lang="zh-CN" altLang="zh-CN"/>
              <a:t>总学分</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088" y="4508500"/>
            <a:ext cx="7848600" cy="20161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827088" y="3716338"/>
            <a:ext cx="7848600"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827088" y="2085975"/>
            <a:ext cx="7848600"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4.3.2  </a:t>
            </a:r>
            <a:r>
              <a:rPr lang="zh-CN" altLang="zh-CN" dirty="0">
                <a:effectLst/>
              </a:rPr>
              <a:t>打开游标：</a:t>
            </a:r>
            <a:r>
              <a:rPr lang="en-US" altLang="zh-CN" dirty="0">
                <a:effectLst/>
              </a:rPr>
              <a:t>OPEN</a:t>
            </a:r>
            <a:endParaRPr lang="zh-CN" altLang="zh-CN" dirty="0">
              <a:effectLst/>
            </a:endParaRPr>
          </a:p>
        </p:txBody>
      </p:sp>
      <p:sp>
        <p:nvSpPr>
          <p:cNvPr id="3" name="TextBox 2"/>
          <p:cNvSpPr txBox="1"/>
          <p:nvPr/>
        </p:nvSpPr>
        <p:spPr>
          <a:xfrm>
            <a:off x="468313" y="1484313"/>
            <a:ext cx="8207375" cy="5386387"/>
          </a:xfrm>
          <a:prstGeom prst="rect">
            <a:avLst/>
          </a:prstGeom>
          <a:noFill/>
        </p:spPr>
        <p:txBody>
          <a:bodyPr>
            <a:spAutoFit/>
          </a:bodyPr>
          <a:lstStyle/>
          <a:p>
            <a:pPr indent="450850" fontAlgn="ctr">
              <a:spcBef>
                <a:spcPts val="0"/>
              </a:spcBef>
              <a:spcAft>
                <a:spcPts val="0"/>
              </a:spcAft>
              <a:defRPr/>
            </a:pPr>
            <a:r>
              <a:rPr lang="zh-CN" altLang="zh-CN" dirty="0">
                <a:latin typeface="+mn-lt"/>
                <a:ea typeface="+mn-ea"/>
              </a:rPr>
              <a:t>声明游标后，要使用游标从中提取数据，就必须先打开游标。在</a:t>
            </a:r>
            <a:r>
              <a:rPr lang="en-US" altLang="zh-CN" dirty="0">
                <a:latin typeface="+mn-lt"/>
                <a:ea typeface="+mn-ea"/>
              </a:rPr>
              <a:t>T-SQL</a:t>
            </a:r>
            <a:r>
              <a:rPr lang="zh-CN" altLang="zh-CN" dirty="0">
                <a:latin typeface="+mn-lt"/>
                <a:ea typeface="+mn-ea"/>
              </a:rPr>
              <a:t>中，使用</a:t>
            </a:r>
            <a:r>
              <a:rPr lang="en-US" altLang="zh-CN" dirty="0">
                <a:latin typeface="+mn-lt"/>
                <a:ea typeface="+mn-ea"/>
              </a:rPr>
              <a:t>OPEN</a:t>
            </a:r>
            <a:r>
              <a:rPr lang="zh-CN" altLang="zh-CN" dirty="0">
                <a:latin typeface="+mn-lt"/>
                <a:ea typeface="+mn-ea"/>
              </a:rPr>
              <a:t>语句打开游标，其格式为：</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OPEN { { [ GLOBAL ]</a:t>
            </a:r>
            <a:r>
              <a:rPr lang="zh-CN" altLang="zh-CN" dirty="0">
                <a:latin typeface="+mn-lt"/>
                <a:ea typeface="+mn-ea"/>
              </a:rPr>
              <a:t>游标名</a:t>
            </a:r>
            <a:r>
              <a:rPr lang="en-US" altLang="zh-CN" dirty="0">
                <a:latin typeface="+mn-lt"/>
                <a:ea typeface="+mn-ea"/>
              </a:rPr>
              <a:t> } | </a:t>
            </a:r>
            <a:r>
              <a:rPr lang="zh-CN" altLang="zh-CN" dirty="0">
                <a:latin typeface="+mn-lt"/>
                <a:ea typeface="+mn-ea"/>
              </a:rPr>
              <a:t>游标变量名</a:t>
            </a:r>
            <a:r>
              <a:rPr lang="en-US" altLang="zh-CN" dirty="0">
                <a:latin typeface="+mn-lt"/>
                <a:ea typeface="+mn-ea"/>
              </a:rPr>
              <a:t> }</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其中，“游标名”是要打开的游标名，“游标变量名”引用一个游标。</a:t>
            </a:r>
            <a:r>
              <a:rPr lang="en-US" altLang="zh-CN" dirty="0">
                <a:latin typeface="+mn-lt"/>
                <a:ea typeface="+mn-ea"/>
              </a:rPr>
              <a:t>GLOBAL</a:t>
            </a:r>
            <a:r>
              <a:rPr lang="zh-CN" altLang="zh-CN" dirty="0">
                <a:latin typeface="+mn-lt"/>
                <a:ea typeface="+mn-ea"/>
              </a:rPr>
              <a:t>说明打开的是全局游标，否则打开局部游标。</a:t>
            </a:r>
            <a:endParaRPr lang="zh-CN" altLang="zh-CN" dirty="0">
              <a:latin typeface="+mn-lt"/>
              <a:ea typeface="+mn-ea"/>
            </a:endParaRPr>
          </a:p>
          <a:p>
            <a:pPr indent="450850" fontAlgn="ctr">
              <a:spcBef>
                <a:spcPts val="0"/>
              </a:spcBef>
              <a:spcAft>
                <a:spcPts val="0"/>
              </a:spcAft>
              <a:defRPr/>
            </a:pPr>
            <a:r>
              <a:rPr lang="en-US" altLang="zh-CN" dirty="0">
                <a:latin typeface="+mn-lt"/>
                <a:ea typeface="+mn-ea"/>
              </a:rPr>
              <a:t>OPEN</a:t>
            </a:r>
            <a:r>
              <a:rPr lang="zh-CN" altLang="zh-CN" dirty="0">
                <a:latin typeface="+mn-lt"/>
                <a:ea typeface="+mn-ea"/>
              </a:rPr>
              <a:t>语句打开游标，然后通过执行在</a:t>
            </a:r>
            <a:r>
              <a:rPr lang="en-US" altLang="zh-CN" dirty="0">
                <a:latin typeface="+mn-lt"/>
                <a:ea typeface="+mn-ea"/>
              </a:rPr>
              <a:t>DECLARE CURSOR</a:t>
            </a:r>
            <a:r>
              <a:rPr lang="zh-CN" altLang="zh-CN" dirty="0">
                <a:latin typeface="+mn-lt"/>
                <a:ea typeface="+mn-ea"/>
              </a:rPr>
              <a:t>（或</a:t>
            </a:r>
            <a:r>
              <a:rPr lang="en-US" altLang="zh-CN" dirty="0">
                <a:latin typeface="+mn-lt"/>
                <a:ea typeface="+mn-ea"/>
              </a:rPr>
              <a:t>SET</a:t>
            </a:r>
            <a:r>
              <a:rPr lang="zh-CN" altLang="zh-CN" dirty="0">
                <a:latin typeface="+mn-lt"/>
                <a:ea typeface="+mn-ea"/>
              </a:rPr>
              <a:t>游标变量）语句中指定的</a:t>
            </a:r>
            <a:r>
              <a:rPr lang="en-US" altLang="zh-CN" dirty="0">
                <a:latin typeface="+mn-lt"/>
                <a:ea typeface="+mn-ea"/>
              </a:rPr>
              <a:t>T-SQL</a:t>
            </a:r>
            <a:r>
              <a:rPr lang="zh-CN" altLang="zh-CN" dirty="0">
                <a:latin typeface="+mn-lt"/>
                <a:ea typeface="+mn-ea"/>
              </a:rPr>
              <a:t>语句来填充游标（即生成与游标相关联的结果集）。</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例如，语句：</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OPEN xs_cur1</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打开游标</a:t>
            </a:r>
            <a:r>
              <a:rPr lang="en-US" altLang="zh-CN" dirty="0">
                <a:latin typeface="+mn-lt"/>
                <a:ea typeface="+mn-ea"/>
              </a:rPr>
              <a:t>xs_cur1</a:t>
            </a:r>
            <a:r>
              <a:rPr lang="zh-CN" altLang="zh-CN" dirty="0">
                <a:latin typeface="+mn-lt"/>
                <a:ea typeface="+mn-ea"/>
              </a:rPr>
              <a:t>。该游标被打开后即可提取其中的数据。</a:t>
            </a:r>
            <a:endParaRPr lang="zh-CN" altLang="zh-CN" dirty="0">
              <a:latin typeface="+mn-lt"/>
              <a:ea typeface="+mn-ea"/>
            </a:endParaRPr>
          </a:p>
          <a:p>
            <a:pPr indent="450850" fontAlgn="ctr">
              <a:spcBef>
                <a:spcPts val="0"/>
              </a:spcBef>
              <a:spcAft>
                <a:spcPts val="0"/>
              </a:spcAft>
              <a:defRPr/>
            </a:pPr>
            <a:r>
              <a:rPr lang="zh-CN" altLang="zh-CN" dirty="0">
                <a:latin typeface="+mn-lt"/>
                <a:ea typeface="+mn-ea"/>
              </a:rPr>
              <a:t>【例</a:t>
            </a:r>
            <a:r>
              <a:rPr lang="en-US" altLang="zh-CN" dirty="0">
                <a:latin typeface="+mn-lt"/>
                <a:ea typeface="+mn-ea"/>
              </a:rPr>
              <a:t>4.67</a:t>
            </a:r>
            <a:r>
              <a:rPr lang="zh-CN" altLang="zh-CN" dirty="0">
                <a:latin typeface="+mn-lt"/>
                <a:ea typeface="+mn-ea"/>
              </a:rPr>
              <a:t>】 定义游标</a:t>
            </a:r>
            <a:r>
              <a:rPr lang="en-US" altLang="zh-CN" dirty="0">
                <a:latin typeface="+mn-lt"/>
                <a:ea typeface="+mn-ea"/>
              </a:rPr>
              <a:t>xs_cur3</a:t>
            </a:r>
            <a:r>
              <a:rPr lang="zh-CN" altLang="zh-CN" dirty="0">
                <a:latin typeface="+mn-lt"/>
                <a:ea typeface="+mn-ea"/>
              </a:rPr>
              <a:t>，然后打开该游标，输出其行数。</a:t>
            </a:r>
            <a:endParaRPr lang="zh-CN" altLang="zh-CN" dirty="0">
              <a:latin typeface="+mn-lt"/>
              <a:ea typeface="+mn-ea"/>
            </a:endParaRPr>
          </a:p>
          <a:p>
            <a:pPr indent="450850" fontAlgn="auto">
              <a:spcBef>
                <a:spcPts val="0"/>
              </a:spcBef>
              <a:spcAft>
                <a:spcPts val="0"/>
              </a:spcAft>
              <a:defRPr/>
            </a:pPr>
            <a:r>
              <a:rPr lang="en-US" altLang="zh-CN" sz="1600" dirty="0">
                <a:latin typeface="+mn-lt"/>
                <a:ea typeface="+mn-ea"/>
              </a:rPr>
              <a:t>DECLARE xs_cur3 CURSOR</a:t>
            </a:r>
            <a:endParaRPr lang="zh-CN" altLang="zh-CN" sz="1600" dirty="0">
              <a:latin typeface="+mn-lt"/>
              <a:ea typeface="+mn-ea"/>
            </a:endParaRPr>
          </a:p>
          <a:p>
            <a:pPr indent="450850" fontAlgn="auto">
              <a:spcBef>
                <a:spcPts val="0"/>
              </a:spcBef>
              <a:spcAft>
                <a:spcPts val="0"/>
              </a:spcAft>
              <a:defRPr/>
            </a:pPr>
            <a:r>
              <a:rPr lang="en-US" altLang="zh-CN" sz="1600" dirty="0">
                <a:latin typeface="+mn-lt"/>
                <a:ea typeface="+mn-ea"/>
              </a:rPr>
              <a:t>     LOCAL SCROLL SCROLL_LOCKS</a:t>
            </a:r>
            <a:endParaRPr lang="zh-CN" altLang="zh-CN" sz="1600" dirty="0">
              <a:latin typeface="+mn-lt"/>
              <a:ea typeface="+mn-ea"/>
            </a:endParaRPr>
          </a:p>
          <a:p>
            <a:pPr indent="450850" fontAlgn="auto">
              <a:spcBef>
                <a:spcPts val="0"/>
              </a:spcBef>
              <a:spcAft>
                <a:spcPts val="0"/>
              </a:spcAft>
              <a:defRPr/>
            </a:pPr>
            <a:r>
              <a:rPr lang="en-US" altLang="zh-CN" sz="1600" dirty="0">
                <a:latin typeface="+mn-lt"/>
                <a:ea typeface="+mn-ea"/>
              </a:rPr>
              <a:t>     FOR</a:t>
            </a:r>
            <a:endParaRPr lang="zh-CN" altLang="zh-CN" sz="1600" dirty="0">
              <a:latin typeface="+mn-lt"/>
              <a:ea typeface="+mn-ea"/>
            </a:endParaRPr>
          </a:p>
          <a:p>
            <a:pPr indent="450850" fontAlgn="auto">
              <a:spcBef>
                <a:spcPts val="0"/>
              </a:spcBef>
              <a:spcAft>
                <a:spcPts val="0"/>
              </a:spcAft>
              <a:defRPr/>
            </a:pPr>
            <a:r>
              <a:rPr lang="en-US" altLang="zh-CN" sz="1600" dirty="0">
                <a:latin typeface="+mn-lt"/>
                <a:ea typeface="+mn-ea"/>
              </a:rPr>
              <a:t>          SELECT</a:t>
            </a:r>
            <a:r>
              <a:rPr lang="zh-CN" altLang="zh-CN" sz="1600" dirty="0">
                <a:latin typeface="+mn-lt"/>
                <a:ea typeface="+mn-ea"/>
              </a:rPr>
              <a:t>学号</a:t>
            </a:r>
            <a:r>
              <a:rPr lang="en-US" altLang="zh-CN" sz="1600" dirty="0">
                <a:latin typeface="+mn-lt"/>
                <a:ea typeface="+mn-ea"/>
              </a:rPr>
              <a:t>, </a:t>
            </a:r>
            <a:r>
              <a:rPr lang="zh-CN" altLang="zh-CN" sz="1600" dirty="0">
                <a:latin typeface="+mn-lt"/>
                <a:ea typeface="+mn-ea"/>
              </a:rPr>
              <a:t>姓名</a:t>
            </a:r>
            <a:r>
              <a:rPr lang="en-US" altLang="zh-CN" sz="1600" dirty="0">
                <a:latin typeface="+mn-lt"/>
                <a:ea typeface="+mn-ea"/>
              </a:rPr>
              <a:t>, </a:t>
            </a:r>
            <a:r>
              <a:rPr lang="zh-CN" altLang="zh-CN" sz="1600" dirty="0">
                <a:latin typeface="+mn-lt"/>
                <a:ea typeface="+mn-ea"/>
              </a:rPr>
              <a:t>总学分</a:t>
            </a:r>
            <a:endParaRPr lang="zh-CN" altLang="zh-CN" sz="1600" dirty="0">
              <a:latin typeface="+mn-lt"/>
              <a:ea typeface="+mn-ea"/>
            </a:endParaRPr>
          </a:p>
          <a:p>
            <a:pPr indent="450850" fontAlgn="auto">
              <a:spcBef>
                <a:spcPts val="0"/>
              </a:spcBef>
              <a:spcAft>
                <a:spcPts val="0"/>
              </a:spcAft>
              <a:defRPr/>
            </a:pPr>
            <a:r>
              <a:rPr lang="en-US" altLang="zh-CN" sz="1600" dirty="0">
                <a:latin typeface="+mn-lt"/>
                <a:ea typeface="+mn-ea"/>
              </a:rPr>
              <a:t>               FROM  </a:t>
            </a:r>
            <a:r>
              <a:rPr lang="en-US" altLang="zh-CN" sz="1600" dirty="0" err="1">
                <a:latin typeface="+mn-lt"/>
                <a:ea typeface="+mn-ea"/>
              </a:rPr>
              <a:t>xsb</a:t>
            </a:r>
            <a:endParaRPr lang="zh-CN" altLang="zh-CN" sz="1600" dirty="0">
              <a:latin typeface="+mn-lt"/>
              <a:ea typeface="+mn-ea"/>
            </a:endParaRPr>
          </a:p>
          <a:p>
            <a:pPr indent="450850" fontAlgn="auto">
              <a:spcBef>
                <a:spcPts val="0"/>
              </a:spcBef>
              <a:spcAft>
                <a:spcPts val="0"/>
              </a:spcAft>
              <a:defRPr/>
            </a:pPr>
            <a:r>
              <a:rPr lang="en-US" altLang="zh-CN" sz="1600" dirty="0">
                <a:latin typeface="+mn-lt"/>
                <a:ea typeface="+mn-ea"/>
              </a:rPr>
              <a:t>     FOR UPDATE OF</a:t>
            </a:r>
            <a:r>
              <a:rPr lang="zh-CN" altLang="zh-CN" sz="1600" dirty="0">
                <a:latin typeface="+mn-lt"/>
                <a:ea typeface="+mn-ea"/>
              </a:rPr>
              <a:t>总学分</a:t>
            </a:r>
            <a:endParaRPr lang="zh-CN" altLang="zh-CN" sz="1600" dirty="0">
              <a:latin typeface="+mn-lt"/>
              <a:ea typeface="+mn-ea"/>
            </a:endParaRPr>
          </a:p>
          <a:p>
            <a:pPr indent="450850" fontAlgn="auto">
              <a:spcBef>
                <a:spcPts val="0"/>
              </a:spcBef>
              <a:spcAft>
                <a:spcPts val="0"/>
              </a:spcAft>
              <a:defRPr/>
            </a:pPr>
            <a:r>
              <a:rPr lang="en-US" altLang="zh-CN" sz="1600" dirty="0">
                <a:latin typeface="+mn-lt"/>
                <a:ea typeface="+mn-ea"/>
              </a:rPr>
              <a:t>OPEN xs_cur3</a:t>
            </a:r>
            <a:endParaRPr lang="zh-CN" altLang="zh-CN" sz="1600" dirty="0">
              <a:latin typeface="+mn-lt"/>
              <a:ea typeface="+mn-ea"/>
            </a:endParaRPr>
          </a:p>
          <a:p>
            <a:pPr indent="450850" fontAlgn="auto">
              <a:spcBef>
                <a:spcPts val="0"/>
              </a:spcBef>
              <a:spcAft>
                <a:spcPts val="0"/>
              </a:spcAft>
              <a:defRPr/>
            </a:pPr>
            <a:r>
              <a:rPr lang="en-US" altLang="zh-CN" sz="1600" dirty="0">
                <a:latin typeface="+mn-lt"/>
                <a:ea typeface="+mn-ea"/>
              </a:rPr>
              <a:t>SELECT  '</a:t>
            </a:r>
            <a:r>
              <a:rPr lang="zh-CN" altLang="zh-CN" sz="1600" dirty="0">
                <a:latin typeface="+mn-lt"/>
                <a:ea typeface="+mn-ea"/>
              </a:rPr>
              <a:t>游标</a:t>
            </a:r>
            <a:r>
              <a:rPr lang="en-US" altLang="zh-CN" sz="1600" dirty="0">
                <a:latin typeface="+mn-lt"/>
                <a:ea typeface="+mn-ea"/>
              </a:rPr>
              <a:t>xs_cur3</a:t>
            </a:r>
            <a:r>
              <a:rPr lang="zh-CN" altLang="zh-CN" sz="1600" dirty="0">
                <a:latin typeface="+mn-lt"/>
                <a:ea typeface="+mn-ea"/>
              </a:rPr>
              <a:t>数据行数</a:t>
            </a:r>
            <a:r>
              <a:rPr lang="en-US" altLang="zh-CN" sz="1600" dirty="0">
                <a:latin typeface="+mn-lt"/>
                <a:ea typeface="+mn-ea"/>
              </a:rPr>
              <a:t>' = @@CURSOR_ROWS</a:t>
            </a:r>
            <a:endParaRPr lang="zh-CN" altLang="zh-CN" sz="1600"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4.3.2  </a:t>
            </a:r>
            <a:r>
              <a:rPr lang="zh-CN" altLang="zh-CN" dirty="0">
                <a:effectLst/>
              </a:rPr>
              <a:t>打开游标：</a:t>
            </a:r>
            <a:r>
              <a:rPr lang="en-US" altLang="zh-CN" dirty="0">
                <a:effectLst/>
              </a:rPr>
              <a:t>OPEN</a:t>
            </a:r>
            <a:endParaRPr lang="zh-CN" altLang="en-US" dirty="0"/>
          </a:p>
        </p:txBody>
      </p:sp>
      <p:sp>
        <p:nvSpPr>
          <p:cNvPr id="90115" name="TextBox 2"/>
          <p:cNvSpPr txBox="1">
            <a:spLocks noChangeArrowheads="1"/>
          </p:cNvSpPr>
          <p:nvPr/>
        </p:nvSpPr>
        <p:spPr bwMode="auto">
          <a:xfrm>
            <a:off x="468313" y="1484313"/>
            <a:ext cx="8280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本例中的语句“</a:t>
            </a:r>
            <a:r>
              <a:rPr lang="en-US" altLang="zh-CN"/>
              <a:t>SELECT '</a:t>
            </a:r>
            <a:r>
              <a:rPr lang="zh-CN" altLang="zh-CN"/>
              <a:t>游标</a:t>
            </a:r>
            <a:r>
              <a:rPr lang="en-US" altLang="zh-CN"/>
              <a:t>xs_cur3</a:t>
            </a:r>
            <a:r>
              <a:rPr lang="zh-CN" altLang="zh-CN"/>
              <a:t>数据行数</a:t>
            </a:r>
            <a:r>
              <a:rPr lang="en-US" altLang="zh-CN"/>
              <a:t>' = @@CURSOR_ROWS</a:t>
            </a:r>
            <a:r>
              <a:rPr lang="zh-CN" altLang="zh-CN"/>
              <a:t>”用于为变量赋值。执行结果如图</a:t>
            </a:r>
            <a:r>
              <a:rPr lang="en-US" altLang="zh-CN"/>
              <a:t>4.27</a:t>
            </a:r>
            <a:r>
              <a:rPr lang="zh-CN" altLang="zh-CN"/>
              <a:t>所示。</a:t>
            </a:r>
            <a:endParaRPr lang="zh-CN" altLang="en-US"/>
          </a:p>
        </p:txBody>
      </p:sp>
      <p:pic>
        <p:nvPicPr>
          <p:cNvPr id="9011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11413" y="2205038"/>
            <a:ext cx="4897437" cy="3113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916113"/>
            <a:ext cx="7921625" cy="187325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4.3.3  </a:t>
            </a:r>
            <a:r>
              <a:rPr lang="zh-CN" altLang="zh-CN" dirty="0">
                <a:effectLst/>
              </a:rPr>
              <a:t>读取数据：</a:t>
            </a:r>
            <a:r>
              <a:rPr lang="en-US" altLang="zh-CN" dirty="0">
                <a:effectLst/>
              </a:rPr>
              <a:t>FETCH</a:t>
            </a:r>
            <a:endParaRPr lang="zh-CN" altLang="zh-CN" dirty="0">
              <a:effectLst/>
            </a:endParaRPr>
          </a:p>
        </p:txBody>
      </p:sp>
      <p:sp>
        <p:nvSpPr>
          <p:cNvPr id="91140" name="TextBox 2"/>
          <p:cNvSpPr txBox="1">
            <a:spLocks noChangeArrowheads="1"/>
          </p:cNvSpPr>
          <p:nvPr/>
        </p:nvSpPr>
        <p:spPr bwMode="auto">
          <a:xfrm>
            <a:off x="395288" y="1341438"/>
            <a:ext cx="8353425"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游标打开后，就可以使用</a:t>
            </a:r>
            <a:r>
              <a:rPr lang="en-US" altLang="zh-CN"/>
              <a:t>FETCH</a:t>
            </a:r>
            <a:r>
              <a:rPr lang="zh-CN" altLang="zh-CN"/>
              <a:t>语句从中读取数据了。</a:t>
            </a:r>
            <a:endParaRPr lang="zh-CN" altLang="zh-CN"/>
          </a:p>
          <a:p>
            <a:pPr eaLnBrk="1" fontAlgn="ctr" hangingPunct="1"/>
            <a:r>
              <a:rPr lang="zh-CN" altLang="zh-CN"/>
              <a:t>语法格式：</a:t>
            </a:r>
            <a:endParaRPr lang="zh-CN" altLang="zh-CN"/>
          </a:p>
          <a:p>
            <a:pPr eaLnBrk="1" hangingPunct="1"/>
            <a:r>
              <a:rPr lang="en-US" altLang="zh-CN" sz="1600"/>
              <a:t>FETCH</a:t>
            </a:r>
            <a:endParaRPr lang="zh-CN" altLang="zh-CN" sz="1600"/>
          </a:p>
          <a:p>
            <a:pPr eaLnBrk="1" hangingPunct="1"/>
            <a:r>
              <a:rPr lang="en-US" altLang="zh-CN" sz="1600"/>
              <a:t>[</a:t>
            </a:r>
            <a:endParaRPr lang="zh-CN" altLang="zh-CN" sz="1600"/>
          </a:p>
          <a:p>
            <a:pPr eaLnBrk="1" hangingPunct="1"/>
            <a:r>
              <a:rPr lang="en-US" altLang="zh-CN" sz="1600"/>
              <a:t>      [ NEXT | PRIOR | FIRST | LAST | ABSOLUTE { n | @nvar } | RELATIVE { n | @nvar} ]</a:t>
            </a:r>
            <a:endParaRPr lang="zh-CN" altLang="zh-CN" sz="1600"/>
          </a:p>
          <a:p>
            <a:pPr eaLnBrk="1" hangingPunct="1"/>
            <a:r>
              <a:rPr lang="en-US" altLang="zh-CN" sz="1600"/>
              <a:t>     FROM</a:t>
            </a:r>
            <a:endParaRPr lang="zh-CN" altLang="zh-CN" sz="1600"/>
          </a:p>
          <a:p>
            <a:pPr eaLnBrk="1" hangingPunct="1"/>
            <a:r>
              <a:rPr lang="en-US" altLang="zh-CN" sz="1600"/>
              <a:t>]</a:t>
            </a:r>
            <a:endParaRPr lang="zh-CN" altLang="zh-CN" sz="1600"/>
          </a:p>
          <a:p>
            <a:pPr eaLnBrk="1" hangingPunct="1"/>
            <a:r>
              <a:rPr lang="en-US" altLang="zh-CN" sz="1600"/>
              <a:t>{  { [ GLOBAL ]</a:t>
            </a:r>
            <a:r>
              <a:rPr lang="zh-CN" altLang="zh-CN" sz="1600"/>
              <a:t>游标名</a:t>
            </a:r>
            <a:r>
              <a:rPr lang="en-US" altLang="zh-CN" sz="1600"/>
              <a:t> } | @</a:t>
            </a:r>
            <a:r>
              <a:rPr lang="zh-CN" altLang="zh-CN" sz="1600"/>
              <a:t>游标变量名</a:t>
            </a:r>
            <a:r>
              <a:rPr lang="en-US" altLang="zh-CN" sz="1600"/>
              <a:t> }</a:t>
            </a:r>
            <a:endParaRPr lang="zh-CN" altLang="zh-CN" sz="1600"/>
          </a:p>
          <a:p>
            <a:pPr eaLnBrk="1" hangingPunct="1"/>
            <a:r>
              <a:rPr lang="en-US" altLang="zh-CN" sz="1600"/>
              <a:t>[ INTO @</a:t>
            </a:r>
            <a:r>
              <a:rPr lang="zh-CN" altLang="zh-CN" sz="1600"/>
              <a:t>变量名</a:t>
            </a:r>
            <a:r>
              <a:rPr lang="en-US" altLang="zh-CN" sz="1600"/>
              <a:t>[ , …] ]</a:t>
            </a:r>
            <a:endParaRPr lang="zh-CN" altLang="zh-CN" sz="1600"/>
          </a:p>
        </p:txBody>
      </p:sp>
    </p:spTree>
  </p:cSld>
  <p:clrMapOvr>
    <a:masterClrMapping/>
  </p:clrMapOvr>
  <p:transition spd="slow">
    <p:wheel spokes="1"/>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827088" y="1844675"/>
            <a:ext cx="7848600" cy="41767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4.3.2  </a:t>
            </a:r>
            <a:r>
              <a:rPr lang="zh-CN" altLang="zh-CN" dirty="0">
                <a:effectLst/>
              </a:rPr>
              <a:t>打开游标：</a:t>
            </a:r>
            <a:r>
              <a:rPr lang="en-US" altLang="zh-CN" dirty="0">
                <a:effectLst/>
              </a:rPr>
              <a:t>OPEN</a:t>
            </a:r>
            <a:endParaRPr lang="zh-CN" altLang="en-US" dirty="0"/>
          </a:p>
        </p:txBody>
      </p:sp>
      <p:sp>
        <p:nvSpPr>
          <p:cNvPr id="3" name="TextBox 2"/>
          <p:cNvSpPr txBox="1"/>
          <p:nvPr/>
        </p:nvSpPr>
        <p:spPr>
          <a:xfrm>
            <a:off x="468313" y="1557338"/>
            <a:ext cx="8207375" cy="5078412"/>
          </a:xfrm>
          <a:prstGeom prst="rect">
            <a:avLst/>
          </a:prstGeom>
          <a:noFill/>
        </p:spPr>
        <p:txBody>
          <a:bodyPr>
            <a:spAutoFit/>
          </a:bodyPr>
          <a:lstStyle/>
          <a:p>
            <a:pPr indent="450850" fontAlgn="ctr">
              <a:spcBef>
                <a:spcPts val="0"/>
              </a:spcBef>
              <a:spcAft>
                <a:spcPts val="0"/>
              </a:spcAft>
              <a:defRPr/>
            </a:pPr>
            <a:r>
              <a:rPr lang="zh-CN" altLang="zh-CN" dirty="0">
                <a:latin typeface="+mn-lt"/>
                <a:ea typeface="+mn-ea"/>
              </a:rPr>
              <a:t>【例</a:t>
            </a:r>
            <a:r>
              <a:rPr lang="en-US" altLang="zh-CN" dirty="0">
                <a:latin typeface="+mn-lt"/>
                <a:ea typeface="+mn-ea"/>
              </a:rPr>
              <a:t>4.68</a:t>
            </a:r>
            <a:r>
              <a:rPr lang="zh-CN" altLang="zh-CN" dirty="0">
                <a:latin typeface="+mn-lt"/>
                <a:ea typeface="+mn-ea"/>
              </a:rPr>
              <a:t>】 只读游标使用。</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USE </a:t>
            </a:r>
            <a:r>
              <a:rPr lang="en-US" altLang="zh-CN" dirty="0" err="1">
                <a:latin typeface="+mn-lt"/>
                <a:ea typeface="+mn-ea"/>
              </a:rPr>
              <a:t>pxscj</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DECLARE xs_cur1 CURSOR</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FOR</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SELECT</a:t>
            </a:r>
            <a:r>
              <a:rPr lang="zh-CN" altLang="zh-CN" dirty="0">
                <a:latin typeface="+mn-lt"/>
                <a:ea typeface="+mn-ea"/>
              </a:rPr>
              <a:t>学号</a:t>
            </a:r>
            <a:r>
              <a:rPr lang="en-US" altLang="zh-CN" dirty="0">
                <a:latin typeface="+mn-lt"/>
                <a:ea typeface="+mn-ea"/>
              </a:rPr>
              <a:t>,</a:t>
            </a:r>
            <a:r>
              <a:rPr lang="zh-CN" altLang="zh-CN" dirty="0">
                <a:latin typeface="+mn-lt"/>
                <a:ea typeface="+mn-ea"/>
              </a:rPr>
              <a:t>姓名</a:t>
            </a:r>
            <a:r>
              <a:rPr lang="en-US" altLang="zh-CN" dirty="0">
                <a:latin typeface="+mn-lt"/>
                <a:ea typeface="+mn-ea"/>
              </a:rPr>
              <a:t>,</a:t>
            </a:r>
            <a:r>
              <a:rPr lang="zh-CN" altLang="zh-CN" dirty="0">
                <a:latin typeface="+mn-lt"/>
                <a:ea typeface="+mn-ea"/>
              </a:rPr>
              <a:t>性别</a:t>
            </a:r>
            <a:r>
              <a:rPr lang="en-US" altLang="zh-CN" dirty="0">
                <a:latin typeface="+mn-lt"/>
                <a:ea typeface="+mn-ea"/>
              </a:rPr>
              <a:t>,</a:t>
            </a:r>
            <a:r>
              <a:rPr lang="zh-CN" altLang="zh-CN" dirty="0">
                <a:latin typeface="+mn-lt"/>
                <a:ea typeface="+mn-ea"/>
              </a:rPr>
              <a:t>出生时间</a:t>
            </a:r>
            <a:r>
              <a:rPr lang="en-US" altLang="zh-CN" dirty="0">
                <a:latin typeface="+mn-lt"/>
                <a:ea typeface="+mn-ea"/>
              </a:rPr>
              <a:t>,</a:t>
            </a:r>
            <a:r>
              <a:rPr lang="zh-CN" altLang="zh-CN" dirty="0">
                <a:latin typeface="+mn-lt"/>
                <a:ea typeface="+mn-ea"/>
              </a:rPr>
              <a:t>总学分</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FROM </a:t>
            </a:r>
            <a:r>
              <a:rPr lang="en-US" altLang="zh-CN" dirty="0" err="1">
                <a:latin typeface="+mn-lt"/>
                <a:ea typeface="+mn-ea"/>
              </a:rPr>
              <a:t>xsb</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WHERE</a:t>
            </a:r>
            <a:r>
              <a:rPr lang="zh-CN" altLang="zh-CN" dirty="0">
                <a:latin typeface="+mn-lt"/>
                <a:ea typeface="+mn-ea"/>
              </a:rPr>
              <a:t>专业</a:t>
            </a:r>
            <a:r>
              <a:rPr lang="en-US" altLang="zh-CN" dirty="0">
                <a:latin typeface="+mn-lt"/>
                <a:ea typeface="+mn-ea"/>
              </a:rPr>
              <a:t>= '</a:t>
            </a:r>
            <a:r>
              <a:rPr lang="zh-CN" altLang="zh-CN" dirty="0">
                <a:latin typeface="+mn-lt"/>
                <a:ea typeface="+mn-ea"/>
              </a:rPr>
              <a:t>计算机</a:t>
            </a:r>
            <a:r>
              <a:rPr lang="en-US" altLang="zh-CN" dirty="0">
                <a:latin typeface="+mn-lt"/>
                <a:ea typeface="+mn-ea"/>
              </a:rPr>
              <a:t>'</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 FOR READ ONLY</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OPEN xs_cur1</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FETCH NEXT FROM xs_cur1</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FETCH NEXT FROM xs_cur1</a:t>
            </a:r>
            <a:endParaRPr lang="zh-CN" altLang="zh-CN" dirty="0">
              <a:latin typeface="+mn-lt"/>
              <a:ea typeface="+mn-ea"/>
            </a:endParaRPr>
          </a:p>
          <a:p>
            <a:pPr indent="450850" fontAlgn="auto">
              <a:spcBef>
                <a:spcPts val="0"/>
              </a:spcBef>
              <a:spcAft>
                <a:spcPts val="0"/>
              </a:spcAft>
              <a:defRPr/>
            </a:pPr>
            <a:r>
              <a:rPr lang="en-US" altLang="zh-CN" dirty="0">
                <a:latin typeface="+mn-lt"/>
                <a:ea typeface="+mn-ea"/>
              </a:rPr>
              <a:t>GO</a:t>
            </a:r>
            <a:endParaRPr lang="zh-CN" altLang="zh-CN" dirty="0">
              <a:latin typeface="+mn-lt"/>
              <a:ea typeface="+mn-ea"/>
            </a:endParaRPr>
          </a:p>
          <a:p>
            <a:pPr indent="450850" fontAlgn="auto">
              <a:spcBef>
                <a:spcPts val="0"/>
              </a:spcBef>
              <a:spcAft>
                <a:spcPts val="0"/>
              </a:spcAft>
              <a:defRPr/>
            </a:pPr>
            <a:endParaRPr lang="zh-CN" altLang="en-US"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blinds dir="vert"/>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4.3.2  </a:t>
            </a:r>
            <a:r>
              <a:rPr lang="zh-CN" altLang="zh-CN" dirty="0">
                <a:effectLst/>
              </a:rPr>
              <a:t>打开游标：</a:t>
            </a:r>
            <a:r>
              <a:rPr lang="en-US" altLang="zh-CN" dirty="0">
                <a:effectLst/>
              </a:rPr>
              <a:t>OPEN</a:t>
            </a:r>
            <a:endParaRPr lang="zh-CN" altLang="en-US" dirty="0"/>
          </a:p>
        </p:txBody>
      </p:sp>
      <p:sp>
        <p:nvSpPr>
          <p:cNvPr id="93187" name="TextBox 3"/>
          <p:cNvSpPr txBox="1">
            <a:spLocks noChangeArrowheads="1"/>
          </p:cNvSpPr>
          <p:nvPr/>
        </p:nvSpPr>
        <p:spPr bwMode="auto">
          <a:xfrm>
            <a:off x="468313" y="1557338"/>
            <a:ext cx="8207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a:t>由于</a:t>
            </a:r>
            <a:r>
              <a:rPr lang="en-US" altLang="zh-CN"/>
              <a:t>xs_cur1</a:t>
            </a:r>
            <a:r>
              <a:rPr lang="zh-CN" altLang="en-US"/>
              <a:t>是只进游标，所以只能使用</a:t>
            </a:r>
            <a:r>
              <a:rPr lang="en-US" altLang="zh-CN"/>
              <a:t>NEXT</a:t>
            </a:r>
            <a:r>
              <a:rPr lang="zh-CN" altLang="en-US"/>
              <a:t>提取数据。执行结果如图</a:t>
            </a:r>
            <a:r>
              <a:rPr lang="en-US" altLang="zh-CN"/>
              <a:t>4.28</a:t>
            </a:r>
            <a:r>
              <a:rPr lang="zh-CN" altLang="en-US"/>
              <a:t>所示。</a:t>
            </a:r>
            <a:endParaRPr lang="zh-CN" altLang="en-US"/>
          </a:p>
        </p:txBody>
      </p:sp>
      <p:pic>
        <p:nvPicPr>
          <p:cNvPr id="93188"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51200" y="2189163"/>
            <a:ext cx="3552825" cy="370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1844675"/>
            <a:ext cx="7848600" cy="417671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4.3.2  </a:t>
            </a:r>
            <a:r>
              <a:rPr lang="zh-CN" altLang="zh-CN" dirty="0">
                <a:effectLst/>
              </a:rPr>
              <a:t>打开游标：</a:t>
            </a:r>
            <a:r>
              <a:rPr lang="en-US" altLang="zh-CN" dirty="0">
                <a:effectLst/>
              </a:rPr>
              <a:t>OPEN</a:t>
            </a:r>
            <a:endParaRPr lang="zh-CN" altLang="en-US" dirty="0"/>
          </a:p>
        </p:txBody>
      </p:sp>
      <p:sp>
        <p:nvSpPr>
          <p:cNvPr id="94212" name="TextBox 2"/>
          <p:cNvSpPr txBox="1">
            <a:spLocks noChangeArrowheads="1"/>
          </p:cNvSpPr>
          <p:nvPr/>
        </p:nvSpPr>
        <p:spPr bwMode="auto">
          <a:xfrm>
            <a:off x="468313" y="1557338"/>
            <a:ext cx="8280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fontAlgn="ctr" hangingPunct="1"/>
            <a:r>
              <a:rPr lang="zh-CN" altLang="zh-CN"/>
              <a:t>【例</a:t>
            </a:r>
            <a:r>
              <a:rPr lang="en-US" altLang="zh-CN"/>
              <a:t>4.69</a:t>
            </a:r>
            <a:r>
              <a:rPr lang="zh-CN" altLang="zh-CN"/>
              <a:t>】 动态游标使用。</a:t>
            </a:r>
            <a:endParaRPr lang="zh-CN" altLang="zh-CN"/>
          </a:p>
          <a:p>
            <a:pPr eaLnBrk="1" hangingPunct="1"/>
            <a:r>
              <a:rPr lang="en-US" altLang="zh-CN"/>
              <a:t>DECLARE xs_cur2 CURSOR</a:t>
            </a:r>
            <a:endParaRPr lang="zh-CN" altLang="zh-CN"/>
          </a:p>
          <a:p>
            <a:pPr eaLnBrk="1" hangingPunct="1"/>
            <a:r>
              <a:rPr lang="en-US" altLang="zh-CN"/>
              <a:t> DYNAMIC</a:t>
            </a:r>
            <a:endParaRPr lang="zh-CN" altLang="zh-CN"/>
          </a:p>
          <a:p>
            <a:pPr eaLnBrk="1" hangingPunct="1"/>
            <a:r>
              <a:rPr lang="en-US" altLang="zh-CN"/>
              <a:t> FOR</a:t>
            </a:r>
            <a:endParaRPr lang="zh-CN" altLang="zh-CN"/>
          </a:p>
          <a:p>
            <a:pPr eaLnBrk="1" hangingPunct="1"/>
            <a:r>
              <a:rPr lang="en-US" altLang="zh-CN"/>
              <a:t>     SELECT</a:t>
            </a:r>
            <a:r>
              <a:rPr lang="zh-CN" altLang="zh-CN"/>
              <a:t>学号</a:t>
            </a:r>
            <a:r>
              <a:rPr lang="en-US" altLang="zh-CN"/>
              <a:t>,</a:t>
            </a:r>
            <a:r>
              <a:rPr lang="zh-CN" altLang="zh-CN"/>
              <a:t>姓名</a:t>
            </a:r>
            <a:r>
              <a:rPr lang="en-US" altLang="zh-CN"/>
              <a:t>,</a:t>
            </a:r>
            <a:r>
              <a:rPr lang="zh-CN" altLang="zh-CN"/>
              <a:t>总学分</a:t>
            </a:r>
            <a:endParaRPr lang="zh-CN" altLang="zh-CN"/>
          </a:p>
          <a:p>
            <a:pPr eaLnBrk="1" hangingPunct="1"/>
            <a:r>
              <a:rPr lang="en-US" altLang="zh-CN"/>
              <a:t>          FROM xsb</a:t>
            </a:r>
            <a:endParaRPr lang="zh-CN" altLang="zh-CN"/>
          </a:p>
          <a:p>
            <a:pPr eaLnBrk="1" hangingPunct="1"/>
            <a:r>
              <a:rPr lang="en-US" altLang="zh-CN"/>
              <a:t>          WHERE</a:t>
            </a:r>
            <a:r>
              <a:rPr lang="zh-CN" altLang="zh-CN"/>
              <a:t>专业</a:t>
            </a:r>
            <a:r>
              <a:rPr lang="en-US" altLang="zh-CN"/>
              <a:t>= '</a:t>
            </a:r>
            <a:r>
              <a:rPr lang="zh-CN" altLang="zh-CN"/>
              <a:t>计算机</a:t>
            </a:r>
            <a:r>
              <a:rPr lang="en-US" altLang="zh-CN"/>
              <a:t>'</a:t>
            </a:r>
            <a:endParaRPr lang="zh-CN" altLang="zh-CN"/>
          </a:p>
          <a:p>
            <a:pPr eaLnBrk="1" hangingPunct="1"/>
            <a:r>
              <a:rPr lang="en-US" altLang="zh-CN"/>
              <a:t>     FOR UPDATE OF</a:t>
            </a:r>
            <a:r>
              <a:rPr lang="zh-CN" altLang="zh-CN"/>
              <a:t>总学分</a:t>
            </a:r>
            <a:endParaRPr lang="zh-CN" altLang="zh-CN"/>
          </a:p>
          <a:p>
            <a:pPr eaLnBrk="1" hangingPunct="1"/>
            <a:r>
              <a:rPr lang="en-US" altLang="zh-CN"/>
              <a:t>OPEN xs_cur2</a:t>
            </a:r>
            <a:endParaRPr lang="zh-CN" altLang="zh-CN"/>
          </a:p>
          <a:p>
            <a:pPr eaLnBrk="1" hangingPunct="1"/>
            <a:r>
              <a:rPr lang="en-US" altLang="zh-CN"/>
              <a:t>FETCH NEXT FROM xs_cur2</a:t>
            </a:r>
            <a:endParaRPr lang="zh-CN" altLang="zh-CN"/>
          </a:p>
          <a:p>
            <a:pPr eaLnBrk="1" hangingPunct="1"/>
            <a:r>
              <a:rPr lang="en-US" altLang="zh-CN"/>
              <a:t>FETCH NEXT FROM xs_cur2</a:t>
            </a:r>
            <a:endParaRPr lang="zh-CN" altLang="zh-CN"/>
          </a:p>
          <a:p>
            <a:pPr eaLnBrk="1" hangingPunct="1"/>
            <a:r>
              <a:rPr lang="en-US" altLang="zh-CN"/>
              <a:t>FETCH RELATIVE 2  FROM xs_cur2</a:t>
            </a:r>
            <a:endParaRPr lang="zh-CN" altLang="zh-CN"/>
          </a:p>
          <a:p>
            <a:pPr eaLnBrk="1" hangingPunct="1"/>
            <a:r>
              <a:rPr lang="en-US" altLang="zh-CN"/>
              <a:t>FETCH PRIOR FROM xs_cur2</a:t>
            </a:r>
            <a:endParaRPr lang="zh-CN" altLang="zh-CN"/>
          </a:p>
          <a:p>
            <a:pPr eaLnBrk="1" hangingPunct="1"/>
            <a:r>
              <a:rPr lang="en-US" altLang="zh-CN"/>
              <a:t>FETCH RELATIVE -3  FROM xs_cur2</a:t>
            </a:r>
            <a:endParaRPr lang="zh-CN" altLang="zh-CN"/>
          </a:p>
          <a:p>
            <a:pPr eaLnBrk="1" hangingPunct="1"/>
            <a:r>
              <a:rPr lang="en-US" altLang="zh-CN"/>
              <a:t>SELECT  '</a:t>
            </a:r>
            <a:r>
              <a:rPr lang="zh-CN" altLang="zh-CN"/>
              <a:t>执行情况</a:t>
            </a:r>
            <a:r>
              <a:rPr lang="en-US" altLang="zh-CN"/>
              <a:t>' = @@FETCH_STATUS</a:t>
            </a:r>
            <a:endParaRPr lang="zh-CN" altLang="zh-CN"/>
          </a:p>
          <a:p>
            <a:pPr eaLnBrk="1" hangingPunct="1"/>
            <a:r>
              <a:rPr lang="en-US" altLang="zh-CN"/>
              <a:t>FETCH FIRST FROM xs_cur2</a:t>
            </a:r>
            <a:endParaRPr lang="zh-CN" altLang="zh-CN"/>
          </a:p>
          <a:p>
            <a:pPr eaLnBrk="1" hangingPunct="1"/>
            <a:endParaRPr lang="zh-CN" altLang="en-US"/>
          </a:p>
        </p:txBody>
      </p:sp>
    </p:spTree>
  </p:cSld>
  <p:clrMapOvr>
    <a:masterClrMapping/>
  </p:clrMapOvr>
  <p:transition spd="slow">
    <p:blinds dir="vert"/>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900113" y="5121275"/>
            <a:ext cx="7704137"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7" name="矩形 6"/>
          <p:cNvSpPr/>
          <p:nvPr/>
        </p:nvSpPr>
        <p:spPr>
          <a:xfrm>
            <a:off x="900113" y="4316413"/>
            <a:ext cx="7704137" cy="3603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a:xfrm>
            <a:off x="900113" y="3513138"/>
            <a:ext cx="7704137" cy="3603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900113" y="2708275"/>
            <a:ext cx="7704137" cy="36036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1846263"/>
            <a:ext cx="7704137" cy="3587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4.3.2  </a:t>
            </a:r>
            <a:r>
              <a:rPr lang="zh-CN" altLang="zh-CN" dirty="0">
                <a:effectLst/>
              </a:rPr>
              <a:t>打开游标：</a:t>
            </a:r>
            <a:r>
              <a:rPr lang="en-US" altLang="zh-CN" dirty="0">
                <a:effectLst/>
              </a:rPr>
              <a:t>OPEN</a:t>
            </a:r>
            <a:endParaRPr lang="zh-CN" altLang="en-US" dirty="0"/>
          </a:p>
        </p:txBody>
      </p:sp>
      <p:sp>
        <p:nvSpPr>
          <p:cNvPr id="3" name="TextBox 2"/>
          <p:cNvSpPr txBox="1"/>
          <p:nvPr/>
        </p:nvSpPr>
        <p:spPr>
          <a:xfrm>
            <a:off x="539750" y="1341438"/>
            <a:ext cx="8064500" cy="5770562"/>
          </a:xfrm>
          <a:prstGeom prst="rect">
            <a:avLst/>
          </a:prstGeom>
          <a:noFill/>
        </p:spPr>
        <p:txBody>
          <a:bodyPr>
            <a:spAutoFit/>
          </a:bodyPr>
          <a:lstStyle/>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1</a:t>
            </a:r>
            <a:r>
              <a:rPr lang="zh-CN" altLang="zh-CN" dirty="0">
                <a:latin typeface="+mn-lt"/>
                <a:ea typeface="+mn-ea"/>
              </a:rPr>
              <a:t>）从游标</a:t>
            </a:r>
            <a:r>
              <a:rPr lang="en-US" altLang="zh-CN" dirty="0">
                <a:latin typeface="+mn-lt"/>
                <a:ea typeface="+mn-ea"/>
              </a:rPr>
              <a:t>xs_cur2</a:t>
            </a:r>
            <a:r>
              <a:rPr lang="zh-CN" altLang="zh-CN" dirty="0">
                <a:latin typeface="+mn-lt"/>
                <a:ea typeface="+mn-ea"/>
              </a:rPr>
              <a:t>中提取数据第一行数据。</a:t>
            </a:r>
            <a:endParaRPr lang="zh-CN" altLang="zh-CN" dirty="0">
              <a:latin typeface="+mn-lt"/>
              <a:ea typeface="+mn-ea"/>
            </a:endParaRPr>
          </a:p>
          <a:p>
            <a:pPr indent="450850" fontAlgn="auto">
              <a:lnSpc>
                <a:spcPct val="150000"/>
              </a:lnSpc>
              <a:spcBef>
                <a:spcPts val="0"/>
              </a:spcBef>
              <a:spcAft>
                <a:spcPts val="0"/>
              </a:spcAft>
              <a:defRPr/>
            </a:pPr>
            <a:r>
              <a:rPr lang="en-US" altLang="zh-CN" dirty="0">
                <a:latin typeface="+mn-lt"/>
                <a:ea typeface="+mn-ea"/>
              </a:rPr>
              <a:t>FETCH  FIRST FROM xs_cur2</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2</a:t>
            </a:r>
            <a:r>
              <a:rPr lang="zh-CN" altLang="zh-CN" dirty="0">
                <a:latin typeface="+mn-lt"/>
                <a:ea typeface="+mn-ea"/>
              </a:rPr>
              <a:t>）从游标</a:t>
            </a:r>
            <a:r>
              <a:rPr lang="en-US" altLang="zh-CN" dirty="0">
                <a:latin typeface="+mn-lt"/>
                <a:ea typeface="+mn-ea"/>
              </a:rPr>
              <a:t>xs_cur2</a:t>
            </a:r>
            <a:r>
              <a:rPr lang="zh-CN" altLang="zh-CN" dirty="0">
                <a:latin typeface="+mn-lt"/>
                <a:ea typeface="+mn-ea"/>
              </a:rPr>
              <a:t>中提取数据下一行数据。</a:t>
            </a:r>
            <a:endParaRPr lang="zh-CN" altLang="zh-CN" dirty="0">
              <a:latin typeface="+mn-lt"/>
              <a:ea typeface="+mn-ea"/>
            </a:endParaRPr>
          </a:p>
          <a:p>
            <a:pPr indent="450850" fontAlgn="auto">
              <a:lnSpc>
                <a:spcPct val="150000"/>
              </a:lnSpc>
              <a:spcBef>
                <a:spcPts val="0"/>
              </a:spcBef>
              <a:spcAft>
                <a:spcPts val="0"/>
              </a:spcAft>
              <a:defRPr/>
            </a:pPr>
            <a:r>
              <a:rPr lang="en-US" altLang="zh-CN" dirty="0">
                <a:latin typeface="+mn-lt"/>
                <a:ea typeface="+mn-ea"/>
              </a:rPr>
              <a:t>FETCH  NEXT FROM xs_cur2</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3</a:t>
            </a:r>
            <a:r>
              <a:rPr lang="zh-CN" altLang="zh-CN" dirty="0">
                <a:latin typeface="+mn-lt"/>
                <a:ea typeface="+mn-ea"/>
              </a:rPr>
              <a:t>）从游标</a:t>
            </a:r>
            <a:r>
              <a:rPr lang="en-US" altLang="zh-CN" dirty="0">
                <a:latin typeface="+mn-lt"/>
                <a:ea typeface="+mn-ea"/>
              </a:rPr>
              <a:t>xs_cur2</a:t>
            </a:r>
            <a:r>
              <a:rPr lang="zh-CN" altLang="zh-CN" dirty="0">
                <a:latin typeface="+mn-lt"/>
                <a:ea typeface="+mn-ea"/>
              </a:rPr>
              <a:t>中提取数据上一行数据。</a:t>
            </a:r>
            <a:endParaRPr lang="zh-CN" altLang="zh-CN" dirty="0">
              <a:latin typeface="+mn-lt"/>
              <a:ea typeface="+mn-ea"/>
            </a:endParaRPr>
          </a:p>
          <a:p>
            <a:pPr indent="450850" fontAlgn="auto">
              <a:lnSpc>
                <a:spcPct val="150000"/>
              </a:lnSpc>
              <a:spcBef>
                <a:spcPts val="0"/>
              </a:spcBef>
              <a:spcAft>
                <a:spcPts val="0"/>
              </a:spcAft>
              <a:defRPr/>
            </a:pPr>
            <a:r>
              <a:rPr lang="en-US" altLang="zh-CN" dirty="0">
                <a:latin typeface="+mn-lt"/>
                <a:ea typeface="+mn-ea"/>
              </a:rPr>
              <a:t>FETCH  PRIOR  FROM  xs_cur2</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4</a:t>
            </a:r>
            <a:r>
              <a:rPr lang="zh-CN" altLang="zh-CN" dirty="0">
                <a:latin typeface="+mn-lt"/>
                <a:ea typeface="+mn-ea"/>
              </a:rPr>
              <a:t>）从游标</a:t>
            </a:r>
            <a:r>
              <a:rPr lang="en-US" altLang="zh-CN" dirty="0">
                <a:latin typeface="+mn-lt"/>
                <a:ea typeface="+mn-ea"/>
              </a:rPr>
              <a:t>xs_cur2</a:t>
            </a:r>
            <a:r>
              <a:rPr lang="zh-CN" altLang="zh-CN" dirty="0">
                <a:latin typeface="+mn-lt"/>
                <a:ea typeface="+mn-ea"/>
              </a:rPr>
              <a:t>中提取数据最后一行数据。</a:t>
            </a:r>
            <a:endParaRPr lang="zh-CN" altLang="zh-CN" dirty="0">
              <a:latin typeface="+mn-lt"/>
              <a:ea typeface="+mn-ea"/>
            </a:endParaRPr>
          </a:p>
          <a:p>
            <a:pPr indent="450850" fontAlgn="auto">
              <a:lnSpc>
                <a:spcPct val="150000"/>
              </a:lnSpc>
              <a:spcBef>
                <a:spcPts val="0"/>
              </a:spcBef>
              <a:spcAft>
                <a:spcPts val="0"/>
              </a:spcAft>
              <a:defRPr/>
            </a:pPr>
            <a:r>
              <a:rPr lang="en-US" altLang="zh-CN" dirty="0">
                <a:latin typeface="+mn-lt"/>
                <a:ea typeface="+mn-ea"/>
              </a:rPr>
              <a:t>FETCH  LAST  FROM  xs_cur2</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5</a:t>
            </a:r>
            <a:r>
              <a:rPr lang="zh-CN" altLang="zh-CN" dirty="0">
                <a:latin typeface="+mn-lt"/>
                <a:ea typeface="+mn-ea"/>
              </a:rPr>
              <a:t>）读取当前行的下两行读取。</a:t>
            </a:r>
            <a:endParaRPr lang="zh-CN" altLang="zh-CN" dirty="0">
              <a:latin typeface="+mn-lt"/>
              <a:ea typeface="+mn-ea"/>
            </a:endParaRPr>
          </a:p>
          <a:p>
            <a:pPr indent="450850" fontAlgn="auto">
              <a:lnSpc>
                <a:spcPct val="150000"/>
              </a:lnSpc>
              <a:spcBef>
                <a:spcPts val="0"/>
              </a:spcBef>
              <a:spcAft>
                <a:spcPts val="0"/>
              </a:spcAft>
              <a:defRPr/>
            </a:pPr>
            <a:r>
              <a:rPr lang="en-US" altLang="zh-CN" dirty="0">
                <a:latin typeface="+mn-lt"/>
                <a:ea typeface="+mn-ea"/>
              </a:rPr>
              <a:t>FETCH  RELATIVE 2  FROM xs_cur2</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如果是</a:t>
            </a:r>
            <a:r>
              <a:rPr lang="en-US" altLang="zh-CN" dirty="0">
                <a:latin typeface="+mn-lt"/>
                <a:ea typeface="+mn-ea"/>
              </a:rPr>
              <a:t>-2</a:t>
            </a:r>
            <a:r>
              <a:rPr lang="zh-CN" altLang="zh-CN" dirty="0">
                <a:latin typeface="+mn-lt"/>
                <a:ea typeface="+mn-ea"/>
              </a:rPr>
              <a:t>，则读取当前行的上两行读取。</a:t>
            </a:r>
            <a:endParaRPr lang="zh-CN" altLang="zh-CN" dirty="0">
              <a:latin typeface="+mn-lt"/>
              <a:ea typeface="+mn-ea"/>
            </a:endParaRPr>
          </a:p>
          <a:p>
            <a:pPr indent="450850" fontAlgn="auto">
              <a:lnSpc>
                <a:spcPct val="150000"/>
              </a:lnSpc>
              <a:spcBef>
                <a:spcPts val="0"/>
              </a:spcBef>
              <a:spcAft>
                <a:spcPts val="0"/>
              </a:spcAft>
              <a:defRPr/>
            </a:pPr>
            <a:r>
              <a:rPr lang="zh-CN" altLang="zh-CN" dirty="0">
                <a:latin typeface="+mn-lt"/>
                <a:ea typeface="+mn-ea"/>
              </a:rPr>
              <a:t>（</a:t>
            </a:r>
            <a:r>
              <a:rPr lang="en-US" altLang="zh-CN" dirty="0">
                <a:latin typeface="+mn-lt"/>
                <a:ea typeface="+mn-ea"/>
              </a:rPr>
              <a:t>6</a:t>
            </a:r>
            <a:r>
              <a:rPr lang="zh-CN" altLang="zh-CN" dirty="0">
                <a:latin typeface="+mn-lt"/>
                <a:ea typeface="+mn-ea"/>
              </a:rPr>
              <a:t>）</a:t>
            </a:r>
            <a:r>
              <a:rPr lang="en-US" altLang="zh-CN" dirty="0">
                <a:latin typeface="+mn-lt"/>
                <a:ea typeface="+mn-ea"/>
              </a:rPr>
              <a:t>xs_cur2</a:t>
            </a:r>
            <a:r>
              <a:rPr lang="zh-CN" altLang="zh-CN" dirty="0">
                <a:latin typeface="+mn-lt"/>
                <a:ea typeface="+mn-ea"/>
              </a:rPr>
              <a:t>是动态游标，可以前滚、后滚，可以使用</a:t>
            </a:r>
            <a:r>
              <a:rPr lang="en-US" altLang="zh-CN" dirty="0">
                <a:latin typeface="+mn-lt"/>
                <a:ea typeface="+mn-ea"/>
              </a:rPr>
              <a:t>FETCH</a:t>
            </a:r>
            <a:r>
              <a:rPr lang="zh-CN" altLang="zh-CN" dirty="0">
                <a:latin typeface="+mn-lt"/>
                <a:ea typeface="+mn-ea"/>
              </a:rPr>
              <a:t>语句中除</a:t>
            </a:r>
            <a:r>
              <a:rPr lang="en-US" altLang="zh-CN" dirty="0">
                <a:latin typeface="+mn-lt"/>
                <a:ea typeface="+mn-ea"/>
              </a:rPr>
              <a:t>ABSOLUTE</a:t>
            </a:r>
            <a:r>
              <a:rPr lang="zh-CN" altLang="zh-CN" dirty="0">
                <a:latin typeface="+mn-lt"/>
                <a:ea typeface="+mn-ea"/>
              </a:rPr>
              <a:t>以外的提取选项。</a:t>
            </a:r>
            <a:endParaRPr lang="zh-CN" altLang="zh-CN" dirty="0">
              <a:latin typeface="+mn-lt"/>
              <a:ea typeface="+mn-ea"/>
            </a:endParaRPr>
          </a:p>
          <a:p>
            <a:pPr fontAlgn="auto">
              <a:spcBef>
                <a:spcPts val="0"/>
              </a:spcBef>
              <a:spcAft>
                <a:spcPts val="0"/>
              </a:spcAft>
              <a:defRPr/>
            </a:pPr>
            <a:endParaRPr lang="zh-CN" altLang="en-US" dirty="0">
              <a:latin typeface="+mn-lt"/>
              <a:ea typeface="+mn-ea"/>
            </a:endParaRPr>
          </a:p>
        </p:txBody>
      </p:sp>
    </p:spTree>
  </p:cSld>
  <p:clrMapOvr>
    <a:masterClrMapping/>
  </p:clrMapOvr>
  <p:transition spd="slow">
    <p:wheel spokes="1"/>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900113" y="2312988"/>
            <a:ext cx="7775575" cy="5048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lstStyle/>
          <a:p>
            <a:pPr eaLnBrk="1" fontAlgn="auto" hangingPunct="1">
              <a:spcAft>
                <a:spcPts val="0"/>
              </a:spcAft>
              <a:buClr>
                <a:schemeClr val="accent6">
                  <a:lumMod val="75000"/>
                </a:schemeClr>
              </a:buClr>
              <a:defRPr/>
            </a:pPr>
            <a:r>
              <a:rPr lang="en-US" altLang="zh-CN" dirty="0">
                <a:effectLst/>
              </a:rPr>
              <a:t>4.3.2  </a:t>
            </a:r>
            <a:r>
              <a:rPr lang="zh-CN" altLang="zh-CN" dirty="0">
                <a:effectLst/>
              </a:rPr>
              <a:t>打开游标：</a:t>
            </a:r>
            <a:r>
              <a:rPr lang="en-US" altLang="zh-CN" dirty="0">
                <a:effectLst/>
              </a:rPr>
              <a:t>OPEN</a:t>
            </a:r>
            <a:endParaRPr lang="zh-CN" altLang="en-US" dirty="0"/>
          </a:p>
        </p:txBody>
      </p:sp>
      <p:sp>
        <p:nvSpPr>
          <p:cNvPr id="96260" name="TextBox 2"/>
          <p:cNvSpPr txBox="1">
            <a:spLocks noChangeArrowheads="1"/>
          </p:cNvSpPr>
          <p:nvPr/>
        </p:nvSpPr>
        <p:spPr bwMode="auto">
          <a:xfrm>
            <a:off x="539750" y="1412875"/>
            <a:ext cx="8135938" cy="203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0850"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zh-CN"/>
              <a:t>（</a:t>
            </a:r>
            <a:r>
              <a:rPr lang="en-US" altLang="zh-CN"/>
              <a:t>7</a:t>
            </a:r>
            <a:r>
              <a:rPr lang="zh-CN" altLang="zh-CN"/>
              <a:t>）</a:t>
            </a:r>
            <a:r>
              <a:rPr lang="en-US" altLang="zh-CN"/>
              <a:t>FETCH</a:t>
            </a:r>
            <a:r>
              <a:rPr lang="zh-CN" altLang="zh-CN"/>
              <a:t>语句的执行状态保存在全局变量</a:t>
            </a:r>
            <a:r>
              <a:rPr lang="en-US" altLang="zh-CN"/>
              <a:t>@@FETCH_STATUS</a:t>
            </a:r>
            <a:r>
              <a:rPr lang="zh-CN" altLang="zh-CN"/>
              <a:t>中，其值为</a:t>
            </a:r>
            <a:r>
              <a:rPr lang="en-US" altLang="zh-CN"/>
              <a:t>0</a:t>
            </a:r>
            <a:r>
              <a:rPr lang="zh-CN" altLang="zh-CN"/>
              <a:t>表示上一个</a:t>
            </a:r>
            <a:r>
              <a:rPr lang="en-US" altLang="zh-CN"/>
              <a:t>FETCH</a:t>
            </a:r>
            <a:r>
              <a:rPr lang="zh-CN" altLang="zh-CN"/>
              <a:t>执行成功；为</a:t>
            </a:r>
            <a:r>
              <a:rPr lang="en-US" altLang="zh-CN"/>
              <a:t>−1</a:t>
            </a:r>
            <a:r>
              <a:rPr lang="zh-CN" altLang="zh-CN"/>
              <a:t>表示所要读取的行不在结果集中；为</a:t>
            </a:r>
            <a:r>
              <a:rPr lang="en-US" altLang="zh-CN">
                <a:sym typeface="Symbol" panose="05050102010706020507" pitchFamily="18" charset="2"/>
              </a:rPr>
              <a:t></a:t>
            </a:r>
            <a:r>
              <a:rPr lang="en-US" altLang="zh-CN"/>
              <a:t>2</a:t>
            </a:r>
            <a:r>
              <a:rPr lang="zh-CN" altLang="zh-CN"/>
              <a:t>表示被提取的行已不存在（已被删除）。</a:t>
            </a:r>
            <a:endParaRPr lang="zh-CN" altLang="zh-CN"/>
          </a:p>
          <a:p>
            <a:pPr eaLnBrk="1" hangingPunct="1"/>
            <a:r>
              <a:rPr lang="en-US" altLang="zh-CN"/>
              <a:t>FETCH  RELATIVE -3  FROM  xs_cur2</a:t>
            </a:r>
            <a:endParaRPr lang="zh-CN" altLang="zh-CN"/>
          </a:p>
          <a:p>
            <a:pPr eaLnBrk="1" hangingPunct="1"/>
            <a:r>
              <a:rPr lang="en-US" altLang="zh-CN"/>
              <a:t>SELECT  'FETCH</a:t>
            </a:r>
            <a:r>
              <a:rPr lang="zh-CN" altLang="zh-CN"/>
              <a:t>执行情况</a:t>
            </a:r>
            <a:r>
              <a:rPr lang="en-US" altLang="zh-CN"/>
              <a:t>' = @@FETCH_STATUS</a:t>
            </a:r>
            <a:endParaRPr lang="zh-CN" altLang="zh-CN"/>
          </a:p>
          <a:p>
            <a:pPr eaLnBrk="1" fontAlgn="ctr" hangingPunct="1"/>
            <a:r>
              <a:rPr lang="zh-CN" altLang="zh-CN"/>
              <a:t>执行结果如图</a:t>
            </a:r>
            <a:r>
              <a:rPr lang="en-US" altLang="zh-CN"/>
              <a:t>4.29</a:t>
            </a:r>
            <a:r>
              <a:rPr lang="zh-CN" altLang="zh-CN"/>
              <a:t>所示。</a:t>
            </a:r>
            <a:endParaRPr lang="zh-CN" altLang="zh-CN"/>
          </a:p>
          <a:p>
            <a:pPr eaLnBrk="1" hangingPunct="1"/>
            <a:endParaRPr lang="zh-CN" altLang="en-US"/>
          </a:p>
        </p:txBody>
      </p:sp>
      <p:pic>
        <p:nvPicPr>
          <p:cNvPr id="9626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552825" y="3068638"/>
            <a:ext cx="1882775"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blinds dir="vert"/>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900113" y="4724400"/>
            <a:ext cx="7775575" cy="28892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矩形 5"/>
          <p:cNvSpPr/>
          <p:nvPr/>
        </p:nvSpPr>
        <p:spPr>
          <a:xfrm>
            <a:off x="900113" y="4197350"/>
            <a:ext cx="7775575"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 name="矩形 4"/>
          <p:cNvSpPr/>
          <p:nvPr/>
        </p:nvSpPr>
        <p:spPr>
          <a:xfrm>
            <a:off x="900113" y="2565400"/>
            <a:ext cx="7775575" cy="28733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 name="矩形 3"/>
          <p:cNvSpPr/>
          <p:nvPr/>
        </p:nvSpPr>
        <p:spPr>
          <a:xfrm>
            <a:off x="900113" y="1989138"/>
            <a:ext cx="7775575" cy="2873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 name="标题 1"/>
          <p:cNvSpPr>
            <a:spLocks noGrp="1"/>
          </p:cNvSpPr>
          <p:nvPr>
            <p:ph type="title"/>
          </p:nvPr>
        </p:nvSpPr>
        <p:spPr>
          <a:ln>
            <a:miter lim="800000"/>
          </a:ln>
        </p:spPr>
        <p:txBody>
          <a:bodyPr>
            <a:normAutofit fontScale="90000"/>
          </a:bodyPr>
          <a:lstStyle/>
          <a:p>
            <a:pPr eaLnBrk="1" fontAlgn="auto" hangingPunct="1">
              <a:spcAft>
                <a:spcPts val="0"/>
              </a:spcAft>
              <a:buClr>
                <a:schemeClr val="accent6">
                  <a:lumMod val="75000"/>
                </a:schemeClr>
              </a:buClr>
              <a:defRPr/>
            </a:pPr>
            <a:r>
              <a:rPr lang="en-US" altLang="zh-CN" dirty="0">
                <a:effectLst/>
              </a:rPr>
              <a:t>4.3.4  </a:t>
            </a:r>
            <a:r>
              <a:rPr lang="zh-CN" altLang="zh-CN" dirty="0">
                <a:effectLst/>
              </a:rPr>
              <a:t>关闭删除游标：</a:t>
            </a:r>
            <a:r>
              <a:rPr lang="en-US" altLang="zh-CN" dirty="0">
                <a:effectLst/>
              </a:rPr>
              <a:t>CLOSE/DEALLOCATE</a:t>
            </a:r>
            <a:endParaRPr lang="zh-CN" altLang="zh-CN" dirty="0">
              <a:effectLst/>
            </a:endParaRPr>
          </a:p>
        </p:txBody>
      </p:sp>
      <p:sp>
        <p:nvSpPr>
          <p:cNvPr id="97287" name="TextBox 2"/>
          <p:cNvSpPr txBox="1">
            <a:spLocks noChangeArrowheads="1"/>
          </p:cNvSpPr>
          <p:nvPr/>
        </p:nvSpPr>
        <p:spPr bwMode="auto">
          <a:xfrm>
            <a:off x="468313" y="1412875"/>
            <a:ext cx="8207375"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535305"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b="1">
                <a:solidFill>
                  <a:srgbClr val="C00000"/>
                </a:solidFill>
              </a:rPr>
              <a:t>1</a:t>
            </a:r>
            <a:r>
              <a:rPr lang="zh-CN" altLang="zh-CN" b="1">
                <a:solidFill>
                  <a:srgbClr val="C00000"/>
                </a:solidFill>
              </a:rPr>
              <a:t>．关闭游标</a:t>
            </a:r>
            <a:endParaRPr lang="zh-CN" altLang="zh-CN" b="1">
              <a:solidFill>
                <a:srgbClr val="C00000"/>
              </a:solidFill>
            </a:endParaRPr>
          </a:p>
          <a:p>
            <a:pPr eaLnBrk="1" fontAlgn="ctr" hangingPunct="1"/>
            <a:r>
              <a:rPr lang="zh-CN" altLang="zh-CN"/>
              <a:t>关闭游标使用</a:t>
            </a:r>
            <a:r>
              <a:rPr lang="en-US" altLang="zh-CN"/>
              <a:t>CLOSE</a:t>
            </a:r>
            <a:r>
              <a:rPr lang="zh-CN" altLang="zh-CN"/>
              <a:t>语句，格式为：</a:t>
            </a:r>
            <a:endParaRPr lang="zh-CN" altLang="zh-CN"/>
          </a:p>
          <a:p>
            <a:pPr eaLnBrk="1" hangingPunct="1"/>
            <a:r>
              <a:rPr lang="en-US" altLang="zh-CN"/>
              <a:t>CLOSE { { [ GLOBAL ]</a:t>
            </a:r>
            <a:r>
              <a:rPr lang="zh-CN" altLang="zh-CN"/>
              <a:t>游标名</a:t>
            </a:r>
            <a:r>
              <a:rPr lang="en-US" altLang="zh-CN"/>
              <a:t> } | @</a:t>
            </a:r>
            <a:r>
              <a:rPr lang="zh-CN" altLang="zh-CN"/>
              <a:t>游标变量名</a:t>
            </a:r>
            <a:r>
              <a:rPr lang="en-US" altLang="zh-CN"/>
              <a:t> }</a:t>
            </a:r>
            <a:endParaRPr lang="zh-CN" altLang="zh-CN"/>
          </a:p>
          <a:p>
            <a:pPr eaLnBrk="1" fontAlgn="ctr" hangingPunct="1"/>
            <a:r>
              <a:rPr lang="zh-CN" altLang="zh-CN"/>
              <a:t>参数的含义与</a:t>
            </a:r>
            <a:r>
              <a:rPr lang="en-US" altLang="zh-CN"/>
              <a:t>OPEN</a:t>
            </a:r>
            <a:r>
              <a:rPr lang="zh-CN" altLang="zh-CN"/>
              <a:t>语句中的相同。例如：</a:t>
            </a:r>
            <a:endParaRPr lang="zh-CN" altLang="zh-CN"/>
          </a:p>
          <a:p>
            <a:pPr eaLnBrk="1" hangingPunct="1"/>
            <a:r>
              <a:rPr lang="en-US" altLang="zh-CN"/>
              <a:t>CLOSE  xs_cur2</a:t>
            </a:r>
            <a:endParaRPr lang="zh-CN" altLang="zh-CN"/>
          </a:p>
          <a:p>
            <a:pPr eaLnBrk="1" fontAlgn="ctr" hangingPunct="1"/>
            <a:r>
              <a:rPr lang="zh-CN" altLang="zh-CN"/>
              <a:t>将关闭游标</a:t>
            </a:r>
            <a:r>
              <a:rPr lang="en-US" altLang="zh-CN"/>
              <a:t>xs_cur2</a:t>
            </a:r>
            <a:r>
              <a:rPr lang="zh-CN" altLang="zh-CN"/>
              <a:t>。</a:t>
            </a:r>
            <a:endParaRPr lang="zh-CN" altLang="zh-CN"/>
          </a:p>
          <a:p>
            <a:pPr eaLnBrk="1" hangingPunct="1"/>
            <a:r>
              <a:rPr lang="en-US" altLang="zh-CN" b="1">
                <a:solidFill>
                  <a:srgbClr val="C00000"/>
                </a:solidFill>
              </a:rPr>
              <a:t>2</a:t>
            </a:r>
            <a:r>
              <a:rPr lang="zh-CN" altLang="zh-CN" b="1">
                <a:solidFill>
                  <a:srgbClr val="C00000"/>
                </a:solidFill>
              </a:rPr>
              <a:t>．删除游标</a:t>
            </a:r>
            <a:endParaRPr lang="zh-CN" altLang="zh-CN" b="1">
              <a:solidFill>
                <a:srgbClr val="C00000"/>
              </a:solidFill>
            </a:endParaRPr>
          </a:p>
          <a:p>
            <a:pPr eaLnBrk="1" fontAlgn="ctr" hangingPunct="1"/>
            <a:r>
              <a:rPr lang="zh-CN" altLang="zh-CN"/>
              <a:t>游标关闭后，其定义仍在，需要时可用</a:t>
            </a:r>
            <a:r>
              <a:rPr lang="en-US" altLang="zh-CN"/>
              <a:t>OPEN</a:t>
            </a:r>
            <a:r>
              <a:rPr lang="zh-CN" altLang="zh-CN"/>
              <a:t>语句打开它再使用。若确认游标不再需要，就要释放其定义占用的系统空间，即删除游标。删除游标使用</a:t>
            </a:r>
            <a:r>
              <a:rPr lang="en-US" altLang="zh-CN"/>
              <a:t>DEALLOCATE</a:t>
            </a:r>
            <a:r>
              <a:rPr lang="zh-CN" altLang="zh-CN"/>
              <a:t>语句，格式为：</a:t>
            </a:r>
            <a:endParaRPr lang="zh-CN" altLang="zh-CN"/>
          </a:p>
          <a:p>
            <a:pPr eaLnBrk="1" hangingPunct="1"/>
            <a:r>
              <a:rPr lang="en-US" altLang="zh-CN"/>
              <a:t>DEALLOCATE { { [ GLOBAL ]</a:t>
            </a:r>
            <a:r>
              <a:rPr lang="zh-CN" altLang="zh-CN"/>
              <a:t>游标名</a:t>
            </a:r>
            <a:r>
              <a:rPr lang="en-US" altLang="zh-CN"/>
              <a:t> } | @</a:t>
            </a:r>
            <a:r>
              <a:rPr lang="zh-CN" altLang="zh-CN"/>
              <a:t>游标变量名</a:t>
            </a:r>
            <a:r>
              <a:rPr lang="en-US" altLang="zh-CN"/>
              <a:t> }</a:t>
            </a:r>
            <a:endParaRPr lang="zh-CN" altLang="zh-CN"/>
          </a:p>
          <a:p>
            <a:pPr eaLnBrk="1" fontAlgn="ctr" hangingPunct="1"/>
            <a:r>
              <a:rPr lang="zh-CN" altLang="zh-CN"/>
              <a:t>参数的含义与</a:t>
            </a:r>
            <a:r>
              <a:rPr lang="en-US" altLang="zh-CN"/>
              <a:t>OPEN</a:t>
            </a:r>
            <a:r>
              <a:rPr lang="zh-CN" altLang="zh-CN"/>
              <a:t>和</a:t>
            </a:r>
            <a:r>
              <a:rPr lang="en-US" altLang="zh-CN"/>
              <a:t>CLOSE</a:t>
            </a:r>
            <a:r>
              <a:rPr lang="zh-CN" altLang="zh-CN"/>
              <a:t>语句中的相同。例如：</a:t>
            </a:r>
            <a:endParaRPr lang="zh-CN" altLang="zh-CN"/>
          </a:p>
          <a:p>
            <a:pPr eaLnBrk="1" hangingPunct="1"/>
            <a:r>
              <a:rPr lang="en-US" altLang="zh-CN"/>
              <a:t>DEALLOCATE xs_cur2</a:t>
            </a:r>
            <a:endParaRPr lang="zh-CN" altLang="zh-CN"/>
          </a:p>
          <a:p>
            <a:pPr eaLnBrk="1" fontAlgn="ctr" hangingPunct="1"/>
            <a:r>
              <a:rPr lang="zh-CN" altLang="zh-CN"/>
              <a:t>将删除游标</a:t>
            </a:r>
            <a:r>
              <a:rPr lang="en-US" altLang="zh-CN"/>
              <a:t>xs_cur2</a:t>
            </a:r>
            <a:r>
              <a:rPr lang="zh-CN" altLang="zh-CN"/>
              <a:t>。</a:t>
            </a:r>
            <a:endParaRPr lang="zh-CN" altLang="zh-CN"/>
          </a:p>
          <a:p>
            <a:pPr eaLnBrk="1" hangingPunct="1"/>
            <a:endParaRPr lang="zh-CN" altLang="en-US"/>
          </a:p>
        </p:txBody>
      </p:sp>
    </p:spTree>
  </p:cSld>
  <p:clrMapOvr>
    <a:masterClrMapping/>
  </p:clrMapOvr>
  <p:transition spd="slow">
    <p:wheel spokes="1"/>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Rectangle 3"/>
          <p:cNvSpPr>
            <a:spLocks noGrp="1" noChangeArrowheads="1"/>
          </p:cNvSpPr>
          <p:nvPr>
            <p:ph idx="1"/>
          </p:nvPr>
        </p:nvSpPr>
        <p:spPr>
          <a:xfrm>
            <a:off x="611188" y="1039813"/>
            <a:ext cx="8328025" cy="5629275"/>
          </a:xfrm>
        </p:spPr>
        <p:txBody>
          <a:bodyPr/>
          <a:lstStyle/>
          <a:p>
            <a:pPr eaLnBrk="1" hangingPunct="1">
              <a:lnSpc>
                <a:spcPct val="80000"/>
              </a:lnSpc>
              <a:buFontTx/>
              <a:buNone/>
            </a:pPr>
            <a:r>
              <a:rPr lang="en-US" altLang="zh-CN" sz="1400" smtClean="0">
                <a:solidFill>
                  <a:srgbClr val="006600"/>
                </a:solidFill>
                <a:latin typeface="Times New Roman" panose="02020603050405020304" pitchFamily="18" charset="0"/>
              </a:rPr>
              <a:t>--</a:t>
            </a:r>
            <a:r>
              <a:rPr lang="zh-CN" altLang="en-US" sz="1400" smtClean="0">
                <a:solidFill>
                  <a:srgbClr val="006600"/>
                </a:solidFill>
                <a:latin typeface="Times New Roman" panose="02020603050405020304" pitchFamily="18" charset="0"/>
              </a:rPr>
              <a:t>定义游标</a:t>
            </a:r>
            <a:endParaRPr lang="zh-CN" altLang="en-US" sz="1400" smtClean="0">
              <a:solidFill>
                <a:srgbClr val="006600"/>
              </a:solidFill>
              <a:latin typeface="Times New Roman" panose="02020603050405020304" pitchFamily="18" charset="0"/>
            </a:endParaRPr>
          </a:p>
          <a:p>
            <a:pPr eaLnBrk="1" hangingPunct="1">
              <a:lnSpc>
                <a:spcPct val="80000"/>
              </a:lnSpc>
              <a:buFontTx/>
              <a:buNone/>
            </a:pPr>
            <a:r>
              <a:rPr lang="en-US" altLang="zh-CN" sz="1400" smtClean="0">
                <a:solidFill>
                  <a:srgbClr val="FF3300"/>
                </a:solidFill>
                <a:latin typeface="Times New Roman" panose="02020603050405020304" pitchFamily="18" charset="0"/>
              </a:rPr>
              <a:t>DECLARE</a:t>
            </a:r>
            <a:r>
              <a:rPr lang="en-US" altLang="zh-CN" sz="1400" smtClean="0">
                <a:solidFill>
                  <a:srgbClr val="0000FF"/>
                </a:solidFill>
                <a:latin typeface="Times New Roman" panose="02020603050405020304" pitchFamily="18" charset="0"/>
              </a:rPr>
              <a:t>  </a:t>
            </a:r>
            <a:r>
              <a:rPr lang="en-US" altLang="zh-CN" sz="1400" smtClean="0">
                <a:solidFill>
                  <a:schemeClr val="tx2"/>
                </a:solidFill>
                <a:latin typeface="Times New Roman" panose="02020603050405020304" pitchFamily="18" charset="0"/>
              </a:rPr>
              <a:t>CurDnum</a:t>
            </a:r>
            <a:r>
              <a:rPr lang="en-US" altLang="zh-CN" sz="1400" smtClean="0">
                <a:solidFill>
                  <a:srgbClr val="0000FF"/>
                </a:solidFill>
                <a:latin typeface="Times New Roman" panose="02020603050405020304" pitchFamily="18" charset="0"/>
              </a:rPr>
              <a:t> </a:t>
            </a:r>
            <a:r>
              <a:rPr lang="en-US" altLang="zh-CN" sz="1400" smtClean="0">
                <a:solidFill>
                  <a:srgbClr val="FF3300"/>
                </a:solidFill>
                <a:latin typeface="Times New Roman" panose="02020603050405020304" pitchFamily="18" charset="0"/>
              </a:rPr>
              <a:t>CURSOR FOR</a:t>
            </a:r>
            <a:r>
              <a:rPr lang="en-US" altLang="zh-CN" sz="1400" smtClean="0">
                <a:solidFill>
                  <a:srgbClr val="0000FF"/>
                </a:solidFill>
                <a:latin typeface="Times New Roman" panose="02020603050405020304" pitchFamily="18" charset="0"/>
              </a:rPr>
              <a:t> </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SELECT Dnum  </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FROM P JOIN D ON P.pno=D.pno </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WHERE P.pname='</a:t>
            </a:r>
            <a:r>
              <a:rPr lang="zh-CN" altLang="en-US" sz="1400" smtClean="0">
                <a:solidFill>
                  <a:srgbClr val="0000FF"/>
                </a:solidFill>
                <a:latin typeface="Times New Roman" panose="02020603050405020304" pitchFamily="18" charset="0"/>
              </a:rPr>
              <a:t>光明日报</a:t>
            </a:r>
            <a:r>
              <a:rPr lang="en-US" altLang="zh-CN" sz="1400" smtClean="0">
                <a:solidFill>
                  <a:srgbClr val="0000FF"/>
                </a:solidFill>
                <a:latin typeface="Times New Roman" panose="02020603050405020304" pitchFamily="18" charset="0"/>
              </a:rPr>
              <a:t>' ;</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6600"/>
                </a:solidFill>
                <a:latin typeface="Times New Roman" panose="02020603050405020304" pitchFamily="18" charset="0"/>
              </a:rPr>
              <a:t>--</a:t>
            </a:r>
            <a:r>
              <a:rPr lang="zh-CN" altLang="en-US" sz="1400" smtClean="0">
                <a:solidFill>
                  <a:srgbClr val="006600"/>
                </a:solidFill>
                <a:latin typeface="Times New Roman" panose="02020603050405020304" pitchFamily="18" charset="0"/>
              </a:rPr>
              <a:t>定义局部变量，接收游标数据</a:t>
            </a:r>
            <a:endParaRPr lang="zh-CN" altLang="en-US" sz="1400" smtClean="0">
              <a:solidFill>
                <a:srgbClr val="006600"/>
              </a:solidFill>
              <a:latin typeface="Times New Roman" panose="02020603050405020304" pitchFamily="18" charset="0"/>
            </a:endParaRPr>
          </a:p>
          <a:p>
            <a:pPr eaLnBrk="1" hangingPunct="1">
              <a:lnSpc>
                <a:spcPct val="80000"/>
              </a:lnSpc>
              <a:buFontTx/>
              <a:buNone/>
            </a:pPr>
            <a:r>
              <a:rPr lang="en-US" altLang="zh-CN" sz="1400" smtClean="0">
                <a:solidFill>
                  <a:srgbClr val="FF3300"/>
                </a:solidFill>
                <a:latin typeface="Times New Roman" panose="02020603050405020304" pitchFamily="18" charset="0"/>
              </a:rPr>
              <a:t>DECLARE</a:t>
            </a:r>
            <a:r>
              <a:rPr lang="en-US" altLang="zh-CN" sz="1400" smtClean="0">
                <a:solidFill>
                  <a:srgbClr val="0000FF"/>
                </a:solidFill>
                <a:latin typeface="Times New Roman" panose="02020603050405020304" pitchFamily="18" charset="0"/>
              </a:rPr>
              <a:t> @AvgDnum numeric(4,1), @SumDnum INT, @PerDnum INT,@Cnt numeric(4,1);</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SET @SumDnum = 0;</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SET @Cnt = 0;</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FF3300"/>
                </a:solidFill>
                <a:latin typeface="Times New Roman" panose="02020603050405020304" pitchFamily="18" charset="0"/>
              </a:rPr>
              <a:t>OPEN </a:t>
            </a:r>
            <a:r>
              <a:rPr lang="en-US" altLang="zh-CN" sz="1400" smtClean="0">
                <a:solidFill>
                  <a:schemeClr val="tx2"/>
                </a:solidFill>
                <a:latin typeface="Times New Roman" panose="02020603050405020304" pitchFamily="18" charset="0"/>
              </a:rPr>
              <a:t>CurDnum</a:t>
            </a:r>
            <a:r>
              <a:rPr lang="en-US" altLang="zh-CN" sz="1400" smtClean="0">
                <a:solidFill>
                  <a:srgbClr val="0000FF"/>
                </a:solidFill>
                <a:latin typeface="Times New Roman" panose="02020603050405020304" pitchFamily="18" charset="0"/>
              </a:rPr>
              <a:t>; </a:t>
            </a:r>
            <a:r>
              <a:rPr lang="en-US" altLang="zh-CN" sz="1400" smtClean="0">
                <a:solidFill>
                  <a:srgbClr val="006600"/>
                </a:solidFill>
                <a:latin typeface="Times New Roman" panose="02020603050405020304" pitchFamily="18" charset="0"/>
              </a:rPr>
              <a:t>--</a:t>
            </a:r>
            <a:r>
              <a:rPr lang="zh-CN" altLang="en-US" sz="1400" smtClean="0">
                <a:solidFill>
                  <a:srgbClr val="006600"/>
                </a:solidFill>
                <a:latin typeface="Times New Roman" panose="02020603050405020304" pitchFamily="18" charset="0"/>
              </a:rPr>
              <a:t>打开游标</a:t>
            </a:r>
            <a:endParaRPr lang="zh-CN" altLang="en-US" sz="1400" smtClean="0">
              <a:solidFill>
                <a:srgbClr val="006600"/>
              </a:solidFill>
              <a:latin typeface="Times New Roman" panose="02020603050405020304" pitchFamily="18" charset="0"/>
            </a:endParaRPr>
          </a:p>
          <a:p>
            <a:pPr eaLnBrk="1" hangingPunct="1">
              <a:lnSpc>
                <a:spcPct val="80000"/>
              </a:lnSpc>
              <a:buFontTx/>
              <a:buNone/>
            </a:pPr>
            <a:r>
              <a:rPr lang="en-US" altLang="zh-CN" sz="1400" smtClean="0">
                <a:solidFill>
                  <a:srgbClr val="FF3300"/>
                </a:solidFill>
                <a:latin typeface="Times New Roman" panose="02020603050405020304" pitchFamily="18" charset="0"/>
              </a:rPr>
              <a:t>FETCH</a:t>
            </a:r>
            <a:r>
              <a:rPr lang="en-US" altLang="zh-CN" sz="1400" smtClean="0">
                <a:solidFill>
                  <a:srgbClr val="0000FF"/>
                </a:solidFill>
                <a:latin typeface="Times New Roman" panose="02020603050405020304" pitchFamily="18" charset="0"/>
              </a:rPr>
              <a:t> Next FROM </a:t>
            </a:r>
            <a:r>
              <a:rPr lang="en-US" altLang="zh-CN" sz="1400" smtClean="0">
                <a:solidFill>
                  <a:schemeClr val="tx2"/>
                </a:solidFill>
                <a:latin typeface="Times New Roman" panose="02020603050405020304" pitchFamily="18" charset="0"/>
              </a:rPr>
              <a:t>CurDnum</a:t>
            </a:r>
            <a:r>
              <a:rPr lang="en-US" altLang="zh-CN" sz="1400" smtClean="0">
                <a:solidFill>
                  <a:srgbClr val="0000FF"/>
                </a:solidFill>
                <a:latin typeface="Times New Roman" panose="02020603050405020304" pitchFamily="18" charset="0"/>
              </a:rPr>
              <a:t> INTO @PerDnum;  </a:t>
            </a:r>
            <a:r>
              <a:rPr lang="en-US" altLang="zh-CN" sz="1400" smtClean="0">
                <a:solidFill>
                  <a:srgbClr val="006600"/>
                </a:solidFill>
                <a:latin typeface="Times New Roman" panose="02020603050405020304" pitchFamily="18" charset="0"/>
              </a:rPr>
              <a:t>--</a:t>
            </a:r>
            <a:r>
              <a:rPr lang="zh-CN" altLang="en-US" sz="1400" smtClean="0">
                <a:solidFill>
                  <a:srgbClr val="006600"/>
                </a:solidFill>
                <a:latin typeface="Times New Roman" panose="02020603050405020304" pitchFamily="18" charset="0"/>
              </a:rPr>
              <a:t>提取第一条游标记录</a:t>
            </a:r>
            <a:endParaRPr lang="zh-CN" altLang="en-US" sz="1400" smtClean="0">
              <a:solidFill>
                <a:srgbClr val="006600"/>
              </a:solidFill>
              <a:latin typeface="Times New Roman" panose="02020603050405020304" pitchFamily="18" charset="0"/>
            </a:endParaRPr>
          </a:p>
          <a:p>
            <a:pPr eaLnBrk="1" hangingPunct="1">
              <a:lnSpc>
                <a:spcPct val="80000"/>
              </a:lnSpc>
              <a:buFontTx/>
              <a:buNone/>
            </a:pPr>
            <a:r>
              <a:rPr lang="en-US" altLang="zh-CN" sz="1400" smtClean="0">
                <a:solidFill>
                  <a:srgbClr val="FF3300"/>
                </a:solidFill>
                <a:latin typeface="Times New Roman" panose="02020603050405020304" pitchFamily="18" charset="0"/>
              </a:rPr>
              <a:t>WHILE</a:t>
            </a:r>
            <a:r>
              <a:rPr lang="en-US" altLang="zh-CN" sz="1400" smtClean="0">
                <a:solidFill>
                  <a:srgbClr val="0000FF"/>
                </a:solidFill>
                <a:latin typeface="Times New Roman" panose="02020603050405020304" pitchFamily="18" charset="0"/>
              </a:rPr>
              <a:t> </a:t>
            </a:r>
            <a:r>
              <a:rPr lang="en-US" altLang="zh-CN" sz="1400" smtClean="0">
                <a:solidFill>
                  <a:schemeClr val="tx2"/>
                </a:solidFill>
                <a:latin typeface="Times New Roman" panose="02020603050405020304" pitchFamily="18" charset="0"/>
              </a:rPr>
              <a:t>@@FETCH_STATUS</a:t>
            </a:r>
            <a:r>
              <a:rPr lang="en-US" altLang="zh-CN" sz="1400" smtClean="0">
                <a:solidFill>
                  <a:srgbClr val="0000FF"/>
                </a:solidFill>
                <a:latin typeface="Times New Roman" panose="02020603050405020304" pitchFamily="18" charset="0"/>
              </a:rPr>
              <a:t> = 0  </a:t>
            </a:r>
            <a:r>
              <a:rPr lang="en-US" altLang="zh-CN" sz="1400" smtClean="0">
                <a:solidFill>
                  <a:srgbClr val="006600"/>
                </a:solidFill>
                <a:latin typeface="Times New Roman" panose="02020603050405020304" pitchFamily="18" charset="0"/>
              </a:rPr>
              <a:t>--</a:t>
            </a:r>
            <a:r>
              <a:rPr lang="zh-CN" altLang="en-US" sz="1400" smtClean="0">
                <a:solidFill>
                  <a:srgbClr val="006600"/>
                </a:solidFill>
                <a:latin typeface="Times New Roman" panose="02020603050405020304" pitchFamily="18" charset="0"/>
              </a:rPr>
              <a:t>提取成功则循环</a:t>
            </a:r>
            <a:endParaRPr lang="zh-CN" altLang="en-US" sz="1400" smtClean="0">
              <a:solidFill>
                <a:srgbClr val="006600"/>
              </a:solidFill>
              <a:latin typeface="Times New Roman" panose="02020603050405020304" pitchFamily="18" charset="0"/>
            </a:endParaRPr>
          </a:p>
          <a:p>
            <a:pPr eaLnBrk="1" hangingPunct="1">
              <a:lnSpc>
                <a:spcPct val="80000"/>
              </a:lnSpc>
              <a:buFontTx/>
              <a:buNone/>
            </a:pPr>
            <a:r>
              <a:rPr lang="en-US" altLang="zh-CN" sz="1400" smtClean="0">
                <a:solidFill>
                  <a:srgbClr val="006600"/>
                </a:solidFill>
                <a:latin typeface="Times New Roman" panose="02020603050405020304" pitchFamily="18" charset="0"/>
              </a:rPr>
              <a:t>BEGIN</a:t>
            </a:r>
            <a:endParaRPr lang="en-US" altLang="zh-CN" sz="1400" smtClean="0">
              <a:solidFill>
                <a:srgbClr val="006600"/>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  SET @SumDnum=@SumDnum+@PerDnum;</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  Set @Cnt=@Cnt+1</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  </a:t>
            </a:r>
            <a:r>
              <a:rPr lang="en-US" altLang="zh-CN" sz="1400" smtClean="0">
                <a:solidFill>
                  <a:srgbClr val="FF3300"/>
                </a:solidFill>
                <a:latin typeface="Times New Roman" panose="02020603050405020304" pitchFamily="18" charset="0"/>
              </a:rPr>
              <a:t>FETCH</a:t>
            </a:r>
            <a:r>
              <a:rPr lang="en-US" altLang="zh-CN" sz="1400" smtClean="0">
                <a:solidFill>
                  <a:srgbClr val="0000FF"/>
                </a:solidFill>
                <a:latin typeface="Times New Roman" panose="02020603050405020304" pitchFamily="18" charset="0"/>
              </a:rPr>
              <a:t> Next FROM </a:t>
            </a:r>
            <a:r>
              <a:rPr lang="en-US" altLang="zh-CN" sz="1400" smtClean="0">
                <a:solidFill>
                  <a:schemeClr val="tx2"/>
                </a:solidFill>
                <a:latin typeface="Times New Roman" panose="02020603050405020304" pitchFamily="18" charset="0"/>
              </a:rPr>
              <a:t>CurDnum</a:t>
            </a:r>
            <a:r>
              <a:rPr lang="en-US" altLang="zh-CN" sz="1400" smtClean="0">
                <a:solidFill>
                  <a:srgbClr val="0000FF"/>
                </a:solidFill>
                <a:latin typeface="Times New Roman" panose="02020603050405020304" pitchFamily="18" charset="0"/>
              </a:rPr>
              <a:t> INTO @PerDnum;   </a:t>
            </a:r>
            <a:r>
              <a:rPr lang="en-US" altLang="zh-CN" sz="1400" smtClean="0">
                <a:solidFill>
                  <a:srgbClr val="006600"/>
                </a:solidFill>
                <a:latin typeface="Times New Roman" panose="02020603050405020304" pitchFamily="18" charset="0"/>
              </a:rPr>
              <a:t>--</a:t>
            </a:r>
            <a:r>
              <a:rPr lang="zh-CN" altLang="en-US" sz="1400" smtClean="0">
                <a:solidFill>
                  <a:srgbClr val="006600"/>
                </a:solidFill>
                <a:latin typeface="Times New Roman" panose="02020603050405020304" pitchFamily="18" charset="0"/>
              </a:rPr>
              <a:t>提取下一条游标记录</a:t>
            </a:r>
            <a:endParaRPr lang="zh-CN" altLang="en-US" sz="1400" smtClean="0">
              <a:solidFill>
                <a:srgbClr val="006600"/>
              </a:solidFill>
              <a:latin typeface="Times New Roman" panose="02020603050405020304" pitchFamily="18" charset="0"/>
            </a:endParaRPr>
          </a:p>
          <a:p>
            <a:pPr eaLnBrk="1" hangingPunct="1">
              <a:lnSpc>
                <a:spcPct val="80000"/>
              </a:lnSpc>
              <a:buFontTx/>
              <a:buNone/>
            </a:pPr>
            <a:r>
              <a:rPr lang="en-US" altLang="zh-CN" sz="1400" smtClean="0">
                <a:solidFill>
                  <a:schemeClr val="hlink"/>
                </a:solidFill>
                <a:latin typeface="Times New Roman" panose="02020603050405020304" pitchFamily="18" charset="0"/>
              </a:rPr>
              <a:t>END</a:t>
            </a:r>
            <a:endParaRPr lang="en-US" altLang="zh-CN" sz="1400" smtClean="0">
              <a:solidFill>
                <a:schemeClr val="hlink"/>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SET @AvgDnum = @SumDnum / @Cnt</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a:t>
            </a:r>
            <a:r>
              <a:rPr lang="zh-CN" altLang="en-US" sz="1400" smtClean="0">
                <a:solidFill>
                  <a:srgbClr val="0000FF"/>
                </a:solidFill>
                <a:latin typeface="Times New Roman" panose="02020603050405020304" pitchFamily="18" charset="0"/>
              </a:rPr>
              <a:t>显示总订阅数量和平均订阅数量</a:t>
            </a:r>
            <a:endParaRPr lang="zh-CN" altLang="en-US"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0000FF"/>
                </a:solidFill>
                <a:latin typeface="Times New Roman" panose="02020603050405020304" pitchFamily="18" charset="0"/>
              </a:rPr>
              <a:t>SELECT  @SumDnum as '</a:t>
            </a:r>
            <a:r>
              <a:rPr lang="zh-CN" altLang="en-US" sz="1400" smtClean="0">
                <a:solidFill>
                  <a:srgbClr val="0000FF"/>
                </a:solidFill>
                <a:latin typeface="Times New Roman" panose="02020603050405020304" pitchFamily="18" charset="0"/>
              </a:rPr>
              <a:t>总订阅数量</a:t>
            </a:r>
            <a:r>
              <a:rPr lang="en-US" altLang="zh-CN" sz="1400" smtClean="0">
                <a:solidFill>
                  <a:srgbClr val="0000FF"/>
                </a:solidFill>
                <a:latin typeface="Times New Roman" panose="02020603050405020304" pitchFamily="18" charset="0"/>
              </a:rPr>
              <a:t>',@AvgDnum as '</a:t>
            </a:r>
            <a:r>
              <a:rPr lang="zh-CN" altLang="en-US" sz="1400" smtClean="0">
                <a:solidFill>
                  <a:srgbClr val="0000FF"/>
                </a:solidFill>
                <a:latin typeface="Times New Roman" panose="02020603050405020304" pitchFamily="18" charset="0"/>
              </a:rPr>
              <a:t>平均订阅数量</a:t>
            </a:r>
            <a:r>
              <a:rPr lang="en-US" altLang="zh-CN" sz="1400" smtClean="0">
                <a:solidFill>
                  <a:srgbClr val="0000FF"/>
                </a:solidFill>
                <a:latin typeface="Times New Roman" panose="02020603050405020304" pitchFamily="18" charset="0"/>
              </a:rPr>
              <a:t>'</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FF3300"/>
                </a:solidFill>
                <a:latin typeface="Times New Roman" panose="02020603050405020304" pitchFamily="18" charset="0"/>
              </a:rPr>
              <a:t>CLOSE</a:t>
            </a:r>
            <a:r>
              <a:rPr lang="en-US" altLang="zh-CN" sz="1400" smtClean="0">
                <a:solidFill>
                  <a:srgbClr val="0000FF"/>
                </a:solidFill>
                <a:latin typeface="Times New Roman" panose="02020603050405020304" pitchFamily="18" charset="0"/>
              </a:rPr>
              <a:t> </a:t>
            </a:r>
            <a:r>
              <a:rPr lang="en-US" altLang="zh-CN" sz="1400" smtClean="0">
                <a:solidFill>
                  <a:schemeClr val="tx2"/>
                </a:solidFill>
                <a:latin typeface="Times New Roman" panose="02020603050405020304" pitchFamily="18" charset="0"/>
              </a:rPr>
              <a:t>CurDnum</a:t>
            </a:r>
            <a:r>
              <a:rPr lang="en-US" altLang="zh-CN" sz="1400" smtClean="0">
                <a:solidFill>
                  <a:srgbClr val="0000FF"/>
                </a:solidFill>
                <a:latin typeface="Times New Roman" panose="02020603050405020304" pitchFamily="18" charset="0"/>
              </a:rPr>
              <a:t>;</a:t>
            </a:r>
            <a:endParaRPr lang="en-US" altLang="zh-CN" sz="1400" smtClean="0">
              <a:solidFill>
                <a:srgbClr val="0000FF"/>
              </a:solidFill>
              <a:latin typeface="Times New Roman" panose="02020603050405020304" pitchFamily="18" charset="0"/>
            </a:endParaRPr>
          </a:p>
          <a:p>
            <a:pPr eaLnBrk="1" hangingPunct="1">
              <a:lnSpc>
                <a:spcPct val="80000"/>
              </a:lnSpc>
              <a:buFontTx/>
              <a:buNone/>
            </a:pPr>
            <a:r>
              <a:rPr lang="en-US" altLang="zh-CN" sz="1400" smtClean="0">
                <a:solidFill>
                  <a:srgbClr val="FF3300"/>
                </a:solidFill>
                <a:latin typeface="Times New Roman" panose="02020603050405020304" pitchFamily="18" charset="0"/>
              </a:rPr>
              <a:t>DEALLOCATE</a:t>
            </a:r>
            <a:r>
              <a:rPr lang="en-US" altLang="zh-CN" sz="1400" smtClean="0">
                <a:solidFill>
                  <a:srgbClr val="0000FF"/>
                </a:solidFill>
                <a:latin typeface="Times New Roman" panose="02020603050405020304" pitchFamily="18" charset="0"/>
              </a:rPr>
              <a:t> </a:t>
            </a:r>
            <a:r>
              <a:rPr lang="en-US" altLang="zh-CN" sz="1400" smtClean="0">
                <a:solidFill>
                  <a:schemeClr val="tx2"/>
                </a:solidFill>
                <a:latin typeface="Times New Roman" panose="02020603050405020304" pitchFamily="18" charset="0"/>
              </a:rPr>
              <a:t>CurDnum</a:t>
            </a:r>
            <a:r>
              <a:rPr lang="en-US" altLang="zh-CN" sz="1400" smtClean="0">
                <a:solidFill>
                  <a:srgbClr val="0000FF"/>
                </a:solidFill>
                <a:latin typeface="Times New Roman" panose="02020603050405020304" pitchFamily="18" charset="0"/>
              </a:rPr>
              <a:t>;</a:t>
            </a:r>
            <a:r>
              <a:rPr lang="en-US" altLang="zh-CN" sz="1400" smtClean="0">
                <a:solidFill>
                  <a:srgbClr val="006600"/>
                </a:solidFill>
                <a:latin typeface="Times New Roman" panose="02020603050405020304" pitchFamily="18" charset="0"/>
              </a:rPr>
              <a:t>--</a:t>
            </a:r>
            <a:r>
              <a:rPr lang="zh-CN" altLang="en-US" sz="1400" smtClean="0">
                <a:solidFill>
                  <a:srgbClr val="006600"/>
                </a:solidFill>
                <a:latin typeface="Times New Roman" panose="02020603050405020304" pitchFamily="18" charset="0"/>
              </a:rPr>
              <a:t>释放游标</a:t>
            </a:r>
            <a:endParaRPr lang="zh-CN" altLang="en-US" sz="1400" smtClean="0">
              <a:solidFill>
                <a:srgbClr val="006600"/>
              </a:solidFill>
              <a:latin typeface="Times New Roman" panose="02020603050405020304" pitchFamily="18" charset="0"/>
            </a:endParaRPr>
          </a:p>
        </p:txBody>
      </p:sp>
      <p:sp>
        <p:nvSpPr>
          <p:cNvPr id="77826" name="Rectangle 2"/>
          <p:cNvSpPr>
            <a:spLocks noGrp="1" noChangeArrowheads="1"/>
          </p:cNvSpPr>
          <p:nvPr>
            <p:ph type="title"/>
          </p:nvPr>
        </p:nvSpPr>
        <p:spPr>
          <a:xfrm>
            <a:off x="467544" y="188913"/>
            <a:ext cx="8497069" cy="576262"/>
          </a:xfrm>
        </p:spPr>
        <p:txBody>
          <a:bodyPr>
            <a:normAutofit fontScale="90000"/>
          </a:bodyPr>
          <a:lstStyle/>
          <a:p>
            <a:pPr algn="l" eaLnBrk="1" hangingPunct="1">
              <a:defRPr/>
            </a:pPr>
            <a:r>
              <a:rPr lang="en-US" altLang="zh-CN" sz="2000" dirty="0" smtClean="0"/>
              <a:t>【</a:t>
            </a:r>
            <a:r>
              <a:rPr lang="zh-CN" altLang="en-US" sz="2000" dirty="0" smtClean="0"/>
              <a:t>游标示例</a:t>
            </a:r>
            <a:r>
              <a:rPr lang="en-US" altLang="zh-CN" sz="2000" dirty="0" smtClean="0"/>
              <a:t>】</a:t>
            </a:r>
            <a:r>
              <a:rPr lang="zh-CN" altLang="en-US" sz="2000" dirty="0" smtClean="0"/>
              <a:t>使用游标编写一段</a:t>
            </a:r>
            <a:r>
              <a:rPr lang="en-US" altLang="zh-CN" sz="2000" dirty="0" smtClean="0"/>
              <a:t>T-SQL</a:t>
            </a:r>
            <a:r>
              <a:rPr lang="zh-CN" altLang="en-US" sz="2000" dirty="0" smtClean="0"/>
              <a:t>程序，求报纸名称为光明日报的平均订阅数量和总订阅数量的功能（不用</a:t>
            </a:r>
            <a:r>
              <a:rPr lang="en-US" altLang="zh-CN" sz="2000" dirty="0" smtClean="0"/>
              <a:t>AVG</a:t>
            </a:r>
            <a:r>
              <a:rPr lang="zh-CN" altLang="en-US" sz="2000" dirty="0" smtClean="0"/>
              <a:t>和</a:t>
            </a:r>
            <a:r>
              <a:rPr lang="en-US" altLang="zh-CN" sz="2000" dirty="0" smtClean="0"/>
              <a:t>SUM</a:t>
            </a:r>
            <a:r>
              <a:rPr lang="zh-CN" altLang="en-US" sz="2000" dirty="0" smtClean="0"/>
              <a:t>函数）。</a:t>
            </a:r>
            <a:endParaRPr lang="zh-CN" altLang="en-US" sz="3200" dirty="0" smtClean="0"/>
          </a:p>
        </p:txBody>
      </p:sp>
    </p:spTree>
  </p:cSld>
  <p:clrMapOvr>
    <a:masterClrMapping/>
  </p:clrMapOvr>
  <p:transition spd="slow">
    <p:blinds dir="vert"/>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4"/>
          <p:cNvSpPr txBox="1">
            <a:spLocks noChangeArrowheads="1"/>
          </p:cNvSpPr>
          <p:nvPr/>
        </p:nvSpPr>
        <p:spPr bwMode="auto">
          <a:xfrm>
            <a:off x="304800" y="228600"/>
            <a:ext cx="7620000" cy="615950"/>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spcBef>
                <a:spcPct val="50000"/>
              </a:spcBef>
            </a:pPr>
            <a:r>
              <a:rPr lang="zh-CN" altLang="en-US" sz="1600">
                <a:solidFill>
                  <a:srgbClr val="000000"/>
                </a:solidFill>
                <a:latin typeface="宋体" panose="02010600030101010101" pitchFamily="2" charset="-122"/>
              </a:rPr>
              <a:t>任务：定义一个游标</a:t>
            </a:r>
            <a:r>
              <a:rPr lang="en-US" altLang="zh-CN" sz="1600">
                <a:solidFill>
                  <a:srgbClr val="000000"/>
                </a:solidFill>
                <a:latin typeface="宋体" panose="02010600030101010101" pitchFamily="2" charset="-122"/>
              </a:rPr>
              <a:t>Cursor_Student</a:t>
            </a:r>
            <a:r>
              <a:rPr lang="zh-CN" altLang="en-US" sz="1600">
                <a:solidFill>
                  <a:srgbClr val="000000"/>
                </a:solidFill>
                <a:latin typeface="宋体" panose="02010600030101010101" pitchFamily="2" charset="-122"/>
              </a:rPr>
              <a:t>，并利用游标逐行输出</a:t>
            </a:r>
            <a:r>
              <a:rPr lang="en-US" altLang="zh-CN" sz="1600">
                <a:solidFill>
                  <a:srgbClr val="000000"/>
                </a:solidFill>
                <a:latin typeface="宋体" panose="02010600030101010101" pitchFamily="2" charset="-122"/>
              </a:rPr>
              <a:t>Student</a:t>
            </a:r>
            <a:r>
              <a:rPr lang="zh-CN" altLang="en-US" sz="1600">
                <a:solidFill>
                  <a:srgbClr val="000000"/>
                </a:solidFill>
                <a:latin typeface="宋体" panose="02010600030101010101" pitchFamily="2" charset="-122"/>
              </a:rPr>
              <a:t>表中学生姓名、邮箱、手机，使用完游标后立即关闭并释放该资源。</a:t>
            </a:r>
            <a:r>
              <a:rPr lang="zh-CN" altLang="en-US">
                <a:solidFill>
                  <a:srgbClr val="000000"/>
                </a:solidFill>
                <a:latin typeface="Arial" panose="020B0604020202020204" pitchFamily="34" charset="0"/>
              </a:rPr>
              <a:t> </a:t>
            </a:r>
            <a:endParaRPr lang="zh-CN" altLang="en-US">
              <a:solidFill>
                <a:srgbClr val="000000"/>
              </a:solidFill>
              <a:latin typeface="Arial" panose="020B0604020202020204" pitchFamily="34" charset="0"/>
            </a:endParaRPr>
          </a:p>
        </p:txBody>
      </p:sp>
      <p:sp>
        <p:nvSpPr>
          <p:cNvPr id="5" name="矩形 4"/>
          <p:cNvSpPr>
            <a:spLocks noChangeArrowheads="1"/>
          </p:cNvSpPr>
          <p:nvPr/>
        </p:nvSpPr>
        <p:spPr bwMode="auto">
          <a:xfrm>
            <a:off x="76200" y="949325"/>
            <a:ext cx="89916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solidFill>
                  <a:srgbClr val="00B050"/>
                </a:solidFill>
              </a:rPr>
              <a:t>--</a:t>
            </a:r>
            <a:r>
              <a:rPr lang="zh-CN" altLang="en-US">
                <a:solidFill>
                  <a:srgbClr val="00B050"/>
                </a:solidFill>
              </a:rPr>
              <a:t>定义游标</a:t>
            </a:r>
            <a:endParaRPr lang="zh-CN" altLang="en-US">
              <a:solidFill>
                <a:srgbClr val="00B050"/>
              </a:solidFill>
            </a:endParaRPr>
          </a:p>
          <a:p>
            <a:r>
              <a:rPr lang="en-US" altLang="zh-CN">
                <a:solidFill>
                  <a:srgbClr val="000000"/>
                </a:solidFill>
              </a:rPr>
              <a:t>DECLARE Cursor_Student CURSOR </a:t>
            </a:r>
            <a:endParaRPr lang="en-US" altLang="zh-CN">
              <a:solidFill>
                <a:srgbClr val="000000"/>
              </a:solidFill>
            </a:endParaRPr>
          </a:p>
          <a:p>
            <a:r>
              <a:rPr lang="en-US" altLang="zh-CN">
                <a:solidFill>
                  <a:srgbClr val="000000"/>
                </a:solidFill>
              </a:rPr>
              <a:t>    FOR SELECT stu_name,stu_email,stu_phone FROM Student</a:t>
            </a:r>
            <a:endParaRPr lang="en-US" altLang="zh-CN">
              <a:solidFill>
                <a:srgbClr val="000000"/>
              </a:solidFill>
            </a:endParaRPr>
          </a:p>
          <a:p>
            <a:endParaRPr lang="zh-CN" altLang="en-US">
              <a:solidFill>
                <a:srgbClr val="000000"/>
              </a:solidFill>
            </a:endParaRPr>
          </a:p>
          <a:p>
            <a:r>
              <a:rPr lang="en-US" altLang="zh-CN">
                <a:solidFill>
                  <a:srgbClr val="000000"/>
                </a:solidFill>
              </a:rPr>
              <a:t>OPEN Cursor_Student  </a:t>
            </a:r>
            <a:r>
              <a:rPr lang="en-US" altLang="zh-CN">
                <a:solidFill>
                  <a:srgbClr val="00B050"/>
                </a:solidFill>
              </a:rPr>
              <a:t>--</a:t>
            </a:r>
            <a:r>
              <a:rPr lang="zh-CN" altLang="en-US">
                <a:solidFill>
                  <a:srgbClr val="00B050"/>
                </a:solidFill>
              </a:rPr>
              <a:t>打开游标</a:t>
            </a:r>
            <a:endParaRPr lang="zh-CN" altLang="en-US">
              <a:solidFill>
                <a:srgbClr val="00B050"/>
              </a:solidFill>
            </a:endParaRPr>
          </a:p>
          <a:p>
            <a:r>
              <a:rPr lang="en-US" altLang="zh-CN">
                <a:solidFill>
                  <a:srgbClr val="00B050"/>
                </a:solidFill>
              </a:rPr>
              <a:t>--</a:t>
            </a:r>
            <a:r>
              <a:rPr lang="zh-CN" altLang="en-US">
                <a:solidFill>
                  <a:srgbClr val="00B050"/>
                </a:solidFill>
              </a:rPr>
              <a:t>定义变量，存放从游标读取的</a:t>
            </a:r>
            <a:r>
              <a:rPr lang="zh-CN" altLang="en-US">
                <a:solidFill>
                  <a:srgbClr val="000000"/>
                </a:solidFill>
              </a:rPr>
              <a:t>信息</a:t>
            </a:r>
            <a:endParaRPr lang="zh-CN" altLang="en-US">
              <a:solidFill>
                <a:srgbClr val="000000"/>
              </a:solidFill>
            </a:endParaRPr>
          </a:p>
          <a:p>
            <a:r>
              <a:rPr lang="en-US" altLang="zh-CN">
                <a:solidFill>
                  <a:srgbClr val="000000"/>
                </a:solidFill>
              </a:rPr>
              <a:t>DECLARE </a:t>
            </a:r>
            <a:endParaRPr lang="en-US" altLang="zh-CN">
              <a:solidFill>
                <a:srgbClr val="000000"/>
              </a:solidFill>
            </a:endParaRPr>
          </a:p>
          <a:p>
            <a:r>
              <a:rPr lang="en-US" altLang="zh-CN">
                <a:solidFill>
                  <a:srgbClr val="000000"/>
                </a:solidFill>
              </a:rPr>
              <a:t>    @stuname VARCHAR(10),@stuemail VARCHAR(10),@stuphone VARCHAR(10) </a:t>
            </a:r>
            <a:endParaRPr lang="en-US" altLang="zh-CN">
              <a:solidFill>
                <a:srgbClr val="000000"/>
              </a:solidFill>
            </a:endParaRPr>
          </a:p>
          <a:p>
            <a:r>
              <a:rPr lang="zh-CN" altLang="en-US">
                <a:solidFill>
                  <a:srgbClr val="000000"/>
                </a:solidFill>
              </a:rPr>
              <a:t> </a:t>
            </a:r>
            <a:r>
              <a:rPr lang="en-US" altLang="zh-CN">
                <a:solidFill>
                  <a:srgbClr val="00B050"/>
                </a:solidFill>
              </a:rPr>
              <a:t>--</a:t>
            </a:r>
            <a:r>
              <a:rPr lang="zh-CN" altLang="en-US">
                <a:solidFill>
                  <a:srgbClr val="00B050"/>
                </a:solidFill>
              </a:rPr>
              <a:t>从游标读取一行值</a:t>
            </a:r>
            <a:endParaRPr lang="zh-CN" altLang="en-US">
              <a:solidFill>
                <a:srgbClr val="00B050"/>
              </a:solidFill>
            </a:endParaRPr>
          </a:p>
          <a:p>
            <a:r>
              <a:rPr lang="en-US" altLang="zh-CN">
                <a:solidFill>
                  <a:srgbClr val="000000"/>
                </a:solidFill>
              </a:rPr>
              <a:t>FETCH NEXT FROM Cursor_Student INTO @stuname,@stuemail,@stuphone </a:t>
            </a:r>
            <a:endParaRPr lang="en-US" altLang="zh-CN">
              <a:solidFill>
                <a:srgbClr val="000000"/>
              </a:solidFill>
            </a:endParaRPr>
          </a:p>
          <a:p>
            <a:r>
              <a:rPr lang="zh-CN" altLang="en-US">
                <a:solidFill>
                  <a:srgbClr val="00B050"/>
                </a:solidFill>
              </a:rPr>
              <a:t> </a:t>
            </a:r>
            <a:r>
              <a:rPr lang="en-US" altLang="zh-CN">
                <a:solidFill>
                  <a:srgbClr val="00B050"/>
                </a:solidFill>
              </a:rPr>
              <a:t>--</a:t>
            </a:r>
            <a:r>
              <a:rPr lang="zh-CN" altLang="en-US">
                <a:solidFill>
                  <a:srgbClr val="00B050"/>
                </a:solidFill>
              </a:rPr>
              <a:t>从游标结果集循环读取记录</a:t>
            </a:r>
            <a:endParaRPr lang="zh-CN" altLang="en-US">
              <a:solidFill>
                <a:srgbClr val="00B050"/>
              </a:solidFill>
            </a:endParaRPr>
          </a:p>
          <a:p>
            <a:r>
              <a:rPr lang="en-US" altLang="zh-CN">
                <a:solidFill>
                  <a:srgbClr val="000000"/>
                </a:solidFill>
              </a:rPr>
              <a:t>WHILE @@FETCH_STATUS=0</a:t>
            </a:r>
            <a:endParaRPr lang="en-US" altLang="zh-CN">
              <a:solidFill>
                <a:srgbClr val="000000"/>
              </a:solidFill>
            </a:endParaRPr>
          </a:p>
          <a:p>
            <a:r>
              <a:rPr lang="en-US" altLang="zh-CN">
                <a:solidFill>
                  <a:srgbClr val="000000"/>
                </a:solidFill>
              </a:rPr>
              <a:t>BEGIN</a:t>
            </a:r>
            <a:endParaRPr lang="en-US" altLang="zh-CN">
              <a:solidFill>
                <a:srgbClr val="000000"/>
              </a:solidFill>
            </a:endParaRPr>
          </a:p>
          <a:p>
            <a:r>
              <a:rPr lang="zh-CN" altLang="en-US">
                <a:solidFill>
                  <a:srgbClr val="00B050"/>
                </a:solidFill>
              </a:rPr>
              <a:t> </a:t>
            </a:r>
            <a:r>
              <a:rPr lang="en-US" altLang="zh-CN">
                <a:solidFill>
                  <a:srgbClr val="00B050"/>
                </a:solidFill>
              </a:rPr>
              <a:t>--</a:t>
            </a:r>
            <a:r>
              <a:rPr lang="zh-CN" altLang="en-US">
                <a:solidFill>
                  <a:srgbClr val="00B050"/>
                </a:solidFill>
              </a:rPr>
              <a:t>显示从游标中读取的信息</a:t>
            </a:r>
            <a:endParaRPr lang="zh-CN" altLang="en-US">
              <a:solidFill>
                <a:srgbClr val="00B050"/>
              </a:solidFill>
            </a:endParaRPr>
          </a:p>
          <a:p>
            <a:r>
              <a:rPr lang="en-US" altLang="zh-CN">
                <a:solidFill>
                  <a:srgbClr val="000000"/>
                </a:solidFill>
              </a:rPr>
              <a:t>  SELECT '</a:t>
            </a:r>
            <a:r>
              <a:rPr lang="zh-CN" altLang="en-US">
                <a:solidFill>
                  <a:srgbClr val="000000"/>
                </a:solidFill>
              </a:rPr>
              <a:t>姓名</a:t>
            </a:r>
            <a:r>
              <a:rPr lang="en-US" altLang="zh-CN">
                <a:solidFill>
                  <a:srgbClr val="000000"/>
                </a:solidFill>
              </a:rPr>
              <a:t>'=@stuname,'</a:t>
            </a:r>
            <a:r>
              <a:rPr lang="zh-CN" altLang="en-US">
                <a:solidFill>
                  <a:srgbClr val="000000"/>
                </a:solidFill>
              </a:rPr>
              <a:t>邮箱</a:t>
            </a:r>
            <a:r>
              <a:rPr lang="en-US" altLang="zh-CN">
                <a:solidFill>
                  <a:srgbClr val="000000"/>
                </a:solidFill>
              </a:rPr>
              <a:t>'=@stuemail,'</a:t>
            </a:r>
            <a:r>
              <a:rPr lang="zh-CN" altLang="en-US">
                <a:solidFill>
                  <a:srgbClr val="000000"/>
                </a:solidFill>
              </a:rPr>
              <a:t>手机</a:t>
            </a:r>
            <a:r>
              <a:rPr lang="en-US" altLang="zh-CN">
                <a:solidFill>
                  <a:srgbClr val="000000"/>
                </a:solidFill>
              </a:rPr>
              <a:t>'=@stuphone</a:t>
            </a:r>
            <a:endParaRPr lang="en-US" altLang="zh-CN">
              <a:solidFill>
                <a:srgbClr val="000000"/>
              </a:solidFill>
            </a:endParaRPr>
          </a:p>
          <a:p>
            <a:r>
              <a:rPr lang="zh-CN" altLang="en-US">
                <a:solidFill>
                  <a:srgbClr val="00B050"/>
                </a:solidFill>
              </a:rPr>
              <a:t>  </a:t>
            </a:r>
            <a:r>
              <a:rPr lang="en-US" altLang="zh-CN">
                <a:solidFill>
                  <a:srgbClr val="00B050"/>
                </a:solidFill>
              </a:rPr>
              <a:t>--</a:t>
            </a:r>
            <a:r>
              <a:rPr lang="zh-CN" altLang="en-US">
                <a:solidFill>
                  <a:srgbClr val="00B050"/>
                </a:solidFill>
              </a:rPr>
              <a:t>从游标读取一行值 </a:t>
            </a:r>
            <a:endParaRPr lang="zh-CN" altLang="en-US">
              <a:solidFill>
                <a:srgbClr val="00B050"/>
              </a:solidFill>
            </a:endParaRPr>
          </a:p>
          <a:p>
            <a:r>
              <a:rPr lang="en-US" altLang="zh-CN">
                <a:solidFill>
                  <a:srgbClr val="000000"/>
                </a:solidFill>
              </a:rPr>
              <a:t>  FETCH NEXT FROM Cursor_Student INTO @stuname,@stuemail,@stuphone  </a:t>
            </a:r>
            <a:endParaRPr lang="en-US" altLang="zh-CN">
              <a:solidFill>
                <a:srgbClr val="000000"/>
              </a:solidFill>
            </a:endParaRPr>
          </a:p>
          <a:p>
            <a:r>
              <a:rPr lang="en-US" altLang="zh-CN">
                <a:solidFill>
                  <a:srgbClr val="000000"/>
                </a:solidFill>
              </a:rPr>
              <a:t>END</a:t>
            </a:r>
            <a:endParaRPr lang="en-US" altLang="zh-CN">
              <a:solidFill>
                <a:srgbClr val="000000"/>
              </a:solidFill>
            </a:endParaRPr>
          </a:p>
          <a:p>
            <a:r>
              <a:rPr lang="en-US" altLang="zh-CN">
                <a:solidFill>
                  <a:srgbClr val="000000"/>
                </a:solidFill>
              </a:rPr>
              <a:t>CLOSE Cursor_Student  </a:t>
            </a:r>
            <a:r>
              <a:rPr lang="en-US" altLang="zh-CN">
                <a:solidFill>
                  <a:srgbClr val="00B050"/>
                </a:solidFill>
              </a:rPr>
              <a:t>--</a:t>
            </a:r>
            <a:r>
              <a:rPr lang="zh-CN" altLang="en-US">
                <a:solidFill>
                  <a:srgbClr val="00B050"/>
                </a:solidFill>
              </a:rPr>
              <a:t>关闭游标</a:t>
            </a:r>
            <a:endParaRPr lang="zh-CN" altLang="en-US">
              <a:solidFill>
                <a:srgbClr val="00B050"/>
              </a:solidFill>
            </a:endParaRPr>
          </a:p>
          <a:p>
            <a:r>
              <a:rPr lang="en-US" altLang="zh-CN">
                <a:solidFill>
                  <a:srgbClr val="000000"/>
                </a:solidFill>
              </a:rPr>
              <a:t>DEALLOCATE Cursor_Student  </a:t>
            </a:r>
            <a:r>
              <a:rPr lang="en-US" altLang="zh-CN">
                <a:solidFill>
                  <a:srgbClr val="00B050"/>
                </a:solidFill>
              </a:rPr>
              <a:t>--</a:t>
            </a:r>
            <a:r>
              <a:rPr lang="zh-CN" altLang="en-US">
                <a:solidFill>
                  <a:srgbClr val="00B050"/>
                </a:solidFill>
              </a:rPr>
              <a:t>释放游</a:t>
            </a:r>
            <a:r>
              <a:rPr lang="zh-CN" altLang="en-US">
                <a:solidFill>
                  <a:srgbClr val="000000"/>
                </a:solidFill>
              </a:rPr>
              <a:t>标</a:t>
            </a:r>
            <a:endParaRPr lang="zh-CN" altLang="en-US">
              <a:solidFill>
                <a:srgbClr val="000000"/>
              </a:solidFill>
            </a:endParaRPr>
          </a:p>
        </p:txBody>
      </p:sp>
      <p:pic>
        <p:nvPicPr>
          <p:cNvPr id="3277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200" y="152400"/>
            <a:ext cx="8686800" cy="655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heel spokes="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nodeType="clickEffect">
                                  <p:stCondLst>
                                    <p:cond delay="0"/>
                                  </p:stCondLst>
                                  <p:childTnLst>
                                    <p:set>
                                      <p:cBhvr>
                                        <p:cTn id="17" dur="1" fill="hold">
                                          <p:stCondLst>
                                            <p:cond delay="0"/>
                                          </p:stCondLst>
                                        </p:cTn>
                                        <p:tgtEl>
                                          <p:spTgt spid="32770"/>
                                        </p:tgtEl>
                                        <p:attrNameLst>
                                          <p:attrName>style.visibility</p:attrName>
                                        </p:attrNameLst>
                                      </p:cBhvr>
                                      <p:to>
                                        <p:strVal val="visible"/>
                                      </p:to>
                                    </p:set>
                                    <p:animEffect transition="in" filter="checkerboard(across)">
                                      <p:cBhvr>
                                        <p:cTn id="18" dur="500"/>
                                        <p:tgtEl>
                                          <p:spTgt spid="327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
</file>

<file path=ppt/tags/tag1.xml><?xml version="1.0" encoding="utf-8"?>
<p:tagLst xmlns:p="http://schemas.openxmlformats.org/presentationml/2006/main">
  <p:tag name="KSO_WPP_MARK_KEY" val="4e12af7d-b1c8-4eb4-9998-a15dab23510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Waveform</Template>
  <TotalTime>0</TotalTime>
  <Words>26146</Words>
  <Application>WPS 演示</Application>
  <PresentationFormat>全屏显示(4:3)</PresentationFormat>
  <Paragraphs>1321</Paragraphs>
  <Slides>92</Slides>
  <Notes>1</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92</vt:i4>
      </vt:variant>
    </vt:vector>
  </HeadingPairs>
  <TitlesOfParts>
    <vt:vector size="106" baseType="lpstr">
      <vt:lpstr>Arial</vt:lpstr>
      <vt:lpstr>宋体</vt:lpstr>
      <vt:lpstr>Wingdings</vt:lpstr>
      <vt:lpstr>Calibri</vt:lpstr>
      <vt:lpstr>Symbol</vt:lpstr>
      <vt:lpstr>Candara</vt:lpstr>
      <vt:lpstr>华文新魏</vt:lpstr>
      <vt:lpstr>微软雅黑</vt:lpstr>
      <vt:lpstr>Arial Unicode MS</vt:lpstr>
      <vt:lpstr>华文楷体</vt:lpstr>
      <vt:lpstr>Times New Roman</vt:lpstr>
      <vt:lpstr>方正书宋简体</vt:lpstr>
      <vt:lpstr>Times New Roman</vt:lpstr>
      <vt:lpstr>波形</vt:lpstr>
      <vt:lpstr>第4章  数据库的查询、视图和游标</vt:lpstr>
      <vt:lpstr>4.1  数据库的查询：SELECT</vt:lpstr>
      <vt:lpstr>4.1.1  选择查询结果输出列：*/列表</vt:lpstr>
      <vt:lpstr>4.1.1  选择查询结果输出列：*/列表</vt:lpstr>
      <vt:lpstr>4.1.1  选择查询结果输出列：*/列表</vt:lpstr>
      <vt:lpstr>4.1.1  选择查询结果输出列：*/列表</vt:lpstr>
      <vt:lpstr>4.1.1  选择查询结果输出列：*/列表</vt:lpstr>
      <vt:lpstr>4.1.1  选择查询结果输出列：*/列表</vt:lpstr>
      <vt:lpstr>4.1.1  选择查询结果输出列：*/列表</vt:lpstr>
      <vt:lpstr>4.1.1  选择查询结果输出列：*/列表</vt:lpstr>
      <vt:lpstr>4.1.1  选择查询结果输出列：*/列表</vt:lpstr>
      <vt:lpstr>4.1.1  选择查询结果输出列：*/列表</vt:lpstr>
      <vt:lpstr>4.1.1  选择查询结果输出列：*/列表</vt:lpstr>
      <vt:lpstr>4.1.1  选择查询结果输出列：*/列表</vt:lpstr>
      <vt:lpstr>4.1.1  选择查询结果输出列：*/列表</vt:lpstr>
      <vt:lpstr>4.1.1  选择查询结果输出列：*/列表</vt:lpstr>
      <vt:lpstr>4.1.2  选择查询条件：WHERE</vt:lpstr>
      <vt:lpstr>4.1.2  选择查询条件：WHERE</vt:lpstr>
      <vt:lpstr>4.1.2  选择查询条件：WHERE</vt:lpstr>
      <vt:lpstr>4.1.2  选择查询条件：WHERE</vt:lpstr>
      <vt:lpstr>4.1.2  选择查询条件：WHERE</vt:lpstr>
      <vt:lpstr>4.1.2  选择查询条件：WHERE</vt:lpstr>
      <vt:lpstr>4.1.2  选择查询条件：WHERE</vt:lpstr>
      <vt:lpstr>4.1.2  选择查询条件：WHERE</vt:lpstr>
      <vt:lpstr>4.1.2  选择查询条件：WHERE</vt:lpstr>
      <vt:lpstr>4.1.2  选择查询条件：WHERE</vt:lpstr>
      <vt:lpstr>4.1.2  选择查询条件：WHERE</vt:lpstr>
      <vt:lpstr>4.1.2  选择查询条件：WHERE</vt:lpstr>
      <vt:lpstr>4.1.2  选择查询条件：WHERE</vt:lpstr>
      <vt:lpstr>4.1.2  选择查询条件：WHERE</vt:lpstr>
      <vt:lpstr>4.1.3  指定查询对象：FROM</vt:lpstr>
      <vt:lpstr>4.1.3  指定查询对象：FROM</vt:lpstr>
      <vt:lpstr>4.1.3  指定查询对象：FROM</vt:lpstr>
      <vt:lpstr>4.1.3  指定查询对象：FROM</vt:lpstr>
      <vt:lpstr>4.1.4  连接：=/JOIN</vt:lpstr>
      <vt:lpstr>4.1.4  连接：=/JOIN</vt:lpstr>
      <vt:lpstr>4.1.4  连接：=/JOIN</vt:lpstr>
      <vt:lpstr>4.1.4  连接：=/JOIN</vt:lpstr>
      <vt:lpstr>4.1.4  连接：=/JOIN</vt:lpstr>
      <vt:lpstr>4.1.4  连接：=/JOIN</vt:lpstr>
      <vt:lpstr>4.1.4  连接：=/JOIN</vt:lpstr>
      <vt:lpstr>4.1.4  连接：=/JOIN</vt:lpstr>
      <vt:lpstr>PowerPoint 演示文稿</vt:lpstr>
      <vt:lpstr>PowerPoint 演示文稿</vt:lpstr>
      <vt:lpstr>4.1.4  连接：=/JOIN</vt:lpstr>
      <vt:lpstr>PowerPoint 演示文稿</vt:lpstr>
      <vt:lpstr>4.1.5  指定查询结果分组方法：GROUP BY</vt:lpstr>
      <vt:lpstr>4.1.5  指定查询结果分组方法：GROUP BY</vt:lpstr>
      <vt:lpstr>4.1.5  指定查询结果分组方法：GROUP BY</vt:lpstr>
      <vt:lpstr>4.1.5  指定查询结果分组方法：GROUP BY</vt:lpstr>
      <vt:lpstr>4.1.6  指定查询结果分组后筛选条件：HAVING</vt:lpstr>
      <vt:lpstr>4.1.6  指定查询结果分组后筛选条件：HAVING</vt:lpstr>
      <vt:lpstr>4.1.7  指定查询结果排序顺序：ORDER BY</vt:lpstr>
      <vt:lpstr>4.1.7  指定查询结果排序顺序：ORDER BY</vt:lpstr>
      <vt:lpstr>4.1.7  指定查询结果排序顺序：ORDER BY</vt:lpstr>
      <vt:lpstr>4.1.8  其他：INTO/UNION/EXCEPT/ CTE</vt:lpstr>
      <vt:lpstr>4.1.8  其他：INTO/UNION/EXCEPT/ CTE</vt:lpstr>
      <vt:lpstr>4.1.8  其他：INTO/UNION/EXCEPT/ CTE</vt:lpstr>
      <vt:lpstr>4.1.8  其他：INTO/UNION/EXCEPT/ CTE</vt:lpstr>
      <vt:lpstr>4.1.8  其他：INTO/UNION/EXCEPT/ CTE</vt:lpstr>
      <vt:lpstr>4.1.8  其他：INTO/UNION/EXCEPT/ CTE</vt:lpstr>
      <vt:lpstr>4.1.8  其他：INTO/UNION/EXCEPT/ CTE</vt:lpstr>
      <vt:lpstr>4.2  视    图</vt:lpstr>
      <vt:lpstr>4.2.2  创建视图：CREATE VIEW</vt:lpstr>
      <vt:lpstr>4.2.2  创建视图：CREATE VIEW</vt:lpstr>
      <vt:lpstr>4.2.2  创建视图：CREATE VIEW</vt:lpstr>
      <vt:lpstr>4.2.2  创建视图：CREATE VIEW</vt:lpstr>
      <vt:lpstr>4.2.2  创建视图：CREATE VIEW</vt:lpstr>
      <vt:lpstr>4.2.2  创建视图：CREATE VIEW</vt:lpstr>
      <vt:lpstr>4.2.2  创建视图：CREATE VIEW</vt:lpstr>
      <vt:lpstr>4.2.2  创建视图：CREATE VIEW</vt:lpstr>
      <vt:lpstr>4.2.3  查询视图：SELECT</vt:lpstr>
      <vt:lpstr>4.2.4  更新视图：INSERT/UPDATE/DELETE</vt:lpstr>
      <vt:lpstr>4.2.4  更新视图：INSERT/UPDATE/DELETE</vt:lpstr>
      <vt:lpstr>4.2.4  更新视图：INSERT/UPDATE/DELETE</vt:lpstr>
      <vt:lpstr>4.2.4  更新视图：INSERT/UPDATE/DELETE</vt:lpstr>
      <vt:lpstr>4.2.5  修改视图的定义：ALTER VIEW</vt:lpstr>
      <vt:lpstr>4.2.5  修改视图的定义：ALTER VIEW</vt:lpstr>
      <vt:lpstr>4.2.6  删除视图：DROP VIEW</vt:lpstr>
      <vt:lpstr>4.3  游    标</vt:lpstr>
      <vt:lpstr>4.3.1  声明游标：DECLARE CURSOR</vt:lpstr>
      <vt:lpstr>4.3.2  打开游标：OPEN</vt:lpstr>
      <vt:lpstr>4.3.2  打开游标：OPEN</vt:lpstr>
      <vt:lpstr>4.3.3  读取数据：FETCH</vt:lpstr>
      <vt:lpstr>4.3.2  打开游标：OPEN</vt:lpstr>
      <vt:lpstr>4.3.2  打开游标：OPEN</vt:lpstr>
      <vt:lpstr>4.3.2  打开游标：OPEN</vt:lpstr>
      <vt:lpstr>4.3.2  打开游标：OPEN</vt:lpstr>
      <vt:lpstr>4.3.2  打开游标：OPEN</vt:lpstr>
      <vt:lpstr>4.3.4  关闭删除游标：CLOSE/DEALLOCATE</vt:lpstr>
      <vt:lpstr>【游标示例】使用游标编写一段T-SQL程序，求报纸名称为光明日报的平均订阅数量和总订阅数量的功能（不用AVG和SUM函数）。</vt:lpstr>
      <vt:lpstr>PowerPoint 演示文稿</vt:lpstr>
    </vt:vector>
  </TitlesOfParts>
  <Company>Microsoft 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数据库的查询、视图和游标</dc:title>
  <dc:creator>Microsoft</dc:creator>
  <cp:lastModifiedBy>微信用户</cp:lastModifiedBy>
  <cp:revision>44</cp:revision>
  <dcterms:created xsi:type="dcterms:W3CDTF">2015-06-17T07:54:00Z</dcterms:created>
  <dcterms:modified xsi:type="dcterms:W3CDTF">2023-09-11T07:24:32Z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FFE67C7742E6473B867B74240B3836C8_13</vt:lpwstr>
  </property>
  <property fmtid="{D5CDD505-2E9C-101B-9397-08002B2CF9AE}" pid="3" name="KSOProductBuildVer">
    <vt:lpwstr>2052-11.1.0.14309</vt:lpwstr>
  </property>
</Properties>
</file>