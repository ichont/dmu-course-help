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custDataLst>
    <p:tags r:id="rId42"/>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9" autoAdjust="0"/>
    <p:restoredTop sz="86344" autoAdjust="0"/>
  </p:normalViewPr>
  <p:slideViewPr>
    <p:cSldViewPr showGuides="1">
      <p:cViewPr>
        <p:scale>
          <a:sx n="70" d="100"/>
          <a:sy n="70" d="100"/>
        </p:scale>
        <p:origin x="-1290" y="-16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30139A66-84A2-48A1-90F2-CE7CCDA78CD6}"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34DE1C8-474D-40D0-9936-8C2F7A962EEB}"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0F591CD8-FAF1-4D7B-AB4D-1C66E321A2F5}"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2DCDAB4-419F-4DF2-BD85-63ED82BE3D5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5DF49657-5B81-40B7-AF0E-3AB662E5A83E}"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AE74614-E7A7-4EFE-8FF3-AAC4E112BFE4}"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132EC4FB-92A9-4136-9888-004F9B0C2853}"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D1F7FB64-E1F6-48F0-8694-CB7B308F7C0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13749106-2DB0-462C-B7B0-EED34C8DCA97}"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19C0440F-E58A-40A5-8816-F218190B064C}"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FF3D5A36-1684-4457-9479-D22DC983F7FF}"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000679AE-0348-4491-BB36-5510D7F211F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B8CDBF60-6CC3-4B74-A60D-3486985E4346}" type="datetime1">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7B3A721-3700-4CCE-8041-2984B152A66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B835F282-6D7D-457C-B61E-2FEB2CA64224}"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67BC0B6E-A16B-4401-8BB7-A275E834179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F915A2F9-D038-4318-89E9-543B8073330A}"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762D2F23-5399-498B-B007-B5ABEA454E5A}"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80E92822-044A-4C21-8CE8-643EB862D4E5}"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4FBD224-0DDF-468B-B922-D16B46A7135C}"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8BB768C4-94BF-4A20-87FA-BAA1546C46EA}"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D0437AB-E111-487A-B370-CF0711EE507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3469C4AB-056C-416D-AFC5-949BBF5947AF}"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9BADD14-7B7C-4F35-9E64-DFDE21035B79}"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CE144E88-E0EF-4B3C-B401-EC7C72076E62}"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3A4AE35C-0ABF-4A1C-88E6-E8A8007114EE}"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slide" Target="slide18.xml"/><Relationship Id="rId2" Type="http://schemas.openxmlformats.org/officeDocument/2006/relationships/slide" Target="slide7.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hyperlink" Target="&#20363;2.6.tx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effectLst/>
              </a:rPr>
              <a:t>第</a:t>
            </a:r>
            <a:r>
              <a:rPr lang="en-US" altLang="zh-CN" dirty="0">
                <a:effectLst/>
              </a:rPr>
              <a:t>2</a:t>
            </a:r>
            <a:r>
              <a:rPr lang="zh-CN" altLang="zh-CN" dirty="0" smtClean="0">
                <a:effectLst/>
              </a:rPr>
              <a:t>章</a:t>
            </a:r>
            <a:r>
              <a:rPr lang="en-US" altLang="zh-CN" dirty="0" smtClean="0">
                <a:effectLst/>
              </a:rPr>
              <a:t>  </a:t>
            </a:r>
            <a:r>
              <a:rPr lang="zh-CN" altLang="zh-CN" dirty="0" smtClean="0">
                <a:effectLst/>
              </a:rPr>
              <a:t>数据库创建</a:t>
            </a:r>
            <a:endParaRPr lang="zh-CN" altLang="en-US" dirty="0"/>
          </a:p>
        </p:txBody>
      </p:sp>
      <p:sp>
        <p:nvSpPr>
          <p:cNvPr id="6147" name="TextBox 15"/>
          <p:cNvSpPr txBox="1">
            <a:spLocks noChangeArrowheads="1"/>
          </p:cNvSpPr>
          <p:nvPr/>
        </p:nvSpPr>
        <p:spPr bwMode="auto">
          <a:xfrm>
            <a:off x="900113" y="2133600"/>
            <a:ext cx="7200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en-US" altLang="zh-CN" sz="3200" b="1" dirty="0" smtClean="0">
                <a:solidFill>
                  <a:schemeClr val="bg2">
                    <a:lumMod val="25000"/>
                  </a:schemeClr>
                </a:solidFill>
                <a:latin typeface="黑体" panose="02010609060101010101" pitchFamily="2" charset="-122"/>
                <a:ea typeface="黑体" panose="02010609060101010101" pitchFamily="2" charset="-122"/>
                <a:hlinkClick r:id="rId1" action="ppaction://hlinksldjump"/>
              </a:rPr>
              <a:t>2.1</a:t>
            </a:r>
            <a:r>
              <a:rPr lang="zh-CN" altLang="zh-CN" sz="3200" b="1" dirty="0" smtClean="0">
                <a:solidFill>
                  <a:schemeClr val="bg2">
                    <a:lumMod val="25000"/>
                  </a:schemeClr>
                </a:solidFill>
                <a:latin typeface="黑体" panose="02010609060101010101" pitchFamily="2" charset="-122"/>
                <a:ea typeface="黑体" panose="02010609060101010101" pitchFamily="2" charset="-122"/>
                <a:hlinkClick r:id="rId1" action="ppaction://hlinksldjump"/>
              </a:rPr>
              <a:t>  </a:t>
            </a:r>
            <a:r>
              <a:rPr lang="en-US" altLang="zh-CN" sz="3200" b="1" dirty="0" smtClean="0">
                <a:solidFill>
                  <a:schemeClr val="bg2">
                    <a:lumMod val="25000"/>
                  </a:schemeClr>
                </a:solidFill>
                <a:latin typeface="黑体" panose="02010609060101010101" pitchFamily="2" charset="-122"/>
                <a:ea typeface="黑体" panose="02010609060101010101" pitchFamily="2" charset="-122"/>
                <a:hlinkClick r:id="rId1" action="ppaction://hlinksldjump"/>
              </a:rPr>
              <a:t>SQL Server 2012</a:t>
            </a:r>
            <a:r>
              <a:rPr lang="zh-CN" altLang="zh-CN" sz="3200" b="1" dirty="0" smtClean="0">
                <a:solidFill>
                  <a:schemeClr val="bg2">
                    <a:lumMod val="25000"/>
                  </a:schemeClr>
                </a:solidFill>
                <a:latin typeface="黑体" panose="02010609060101010101" pitchFamily="2" charset="-122"/>
                <a:ea typeface="黑体" panose="02010609060101010101" pitchFamily="2" charset="-122"/>
                <a:hlinkClick r:id="rId1" action="ppaction://hlinksldjump"/>
              </a:rPr>
              <a:t>数据库</a:t>
            </a:r>
            <a:r>
              <a:rPr lang="en-US" altLang="zh-CN" sz="3200" b="1" dirty="0" smtClean="0">
                <a:solidFill>
                  <a:schemeClr val="bg2">
                    <a:lumMod val="25000"/>
                  </a:schemeClr>
                </a:solidFill>
                <a:latin typeface="黑体" panose="02010609060101010101" pitchFamily="2" charset="-122"/>
                <a:ea typeface="黑体" panose="02010609060101010101" pitchFamily="2" charset="-122"/>
                <a:hlinkClick r:id="rId1" action="ppaction://hlinksldjump"/>
              </a:rPr>
              <a:t> </a:t>
            </a:r>
            <a:endParaRPr lang="zh-CN" altLang="zh-CN" sz="3200" b="1" dirty="0" smtClean="0">
              <a:solidFill>
                <a:schemeClr val="bg2">
                  <a:lumMod val="25000"/>
                </a:schemeClr>
              </a:solidFill>
              <a:latin typeface="黑体" panose="02010609060101010101" pitchFamily="2" charset="-122"/>
              <a:ea typeface="黑体" panose="02010609060101010101" pitchFamily="2" charset="-122"/>
            </a:endParaRPr>
          </a:p>
        </p:txBody>
      </p:sp>
      <p:sp>
        <p:nvSpPr>
          <p:cNvPr id="6148" name="TextBox 16"/>
          <p:cNvSpPr txBox="1">
            <a:spLocks noChangeArrowheads="1"/>
          </p:cNvSpPr>
          <p:nvPr/>
        </p:nvSpPr>
        <p:spPr bwMode="auto">
          <a:xfrm>
            <a:off x="900113" y="2838450"/>
            <a:ext cx="7200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en-US" altLang="zh-CN" sz="3200" b="1" dirty="0" smtClean="0">
                <a:solidFill>
                  <a:schemeClr val="bg2">
                    <a:lumMod val="25000"/>
                  </a:schemeClr>
                </a:solidFill>
                <a:latin typeface="黑体" panose="02010609060101010101" pitchFamily="2" charset="-122"/>
                <a:ea typeface="黑体" panose="02010609060101010101" pitchFamily="2" charset="-122"/>
                <a:hlinkClick r:id="rId2" action="ppaction://hlinksldjump"/>
              </a:rPr>
              <a:t>2.2  </a:t>
            </a:r>
            <a:r>
              <a:rPr lang="zh-CN" altLang="zh-CN" sz="3200" b="1" dirty="0" smtClean="0">
                <a:solidFill>
                  <a:schemeClr val="bg2">
                    <a:lumMod val="25000"/>
                  </a:schemeClr>
                </a:solidFill>
                <a:latin typeface="黑体" panose="02010609060101010101" pitchFamily="2" charset="-122"/>
                <a:ea typeface="黑体" panose="02010609060101010101" pitchFamily="2" charset="-122"/>
                <a:hlinkClick r:id="rId2" action="ppaction://hlinksldjump"/>
              </a:rPr>
              <a:t>界面方式创建数据库</a:t>
            </a:r>
            <a:endParaRPr lang="zh-CN" altLang="zh-CN" sz="3200" b="1" dirty="0" smtClean="0">
              <a:solidFill>
                <a:schemeClr val="bg2">
                  <a:lumMod val="25000"/>
                </a:schemeClr>
              </a:solidFill>
              <a:latin typeface="黑体" panose="02010609060101010101" pitchFamily="2" charset="-122"/>
              <a:ea typeface="黑体" panose="02010609060101010101" pitchFamily="2" charset="-122"/>
            </a:endParaRPr>
          </a:p>
        </p:txBody>
      </p:sp>
      <p:sp>
        <p:nvSpPr>
          <p:cNvPr id="6149" name="TextBox 17"/>
          <p:cNvSpPr txBox="1">
            <a:spLocks noChangeArrowheads="1"/>
          </p:cNvSpPr>
          <p:nvPr/>
        </p:nvSpPr>
        <p:spPr bwMode="auto">
          <a:xfrm>
            <a:off x="900113" y="3543300"/>
            <a:ext cx="7200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en-US" altLang="zh-CN" sz="3200" b="1" dirty="0" smtClean="0">
                <a:solidFill>
                  <a:schemeClr val="bg2">
                    <a:lumMod val="25000"/>
                  </a:schemeClr>
                </a:solidFill>
                <a:latin typeface="黑体" panose="02010609060101010101" pitchFamily="2" charset="-122"/>
                <a:ea typeface="黑体" panose="02010609060101010101" pitchFamily="2" charset="-122"/>
                <a:hlinkClick r:id="rId3" action="ppaction://hlinksldjump"/>
              </a:rPr>
              <a:t>2.3  </a:t>
            </a:r>
            <a:r>
              <a:rPr lang="zh-CN" altLang="zh-CN" sz="3200" b="1" dirty="0" smtClean="0">
                <a:solidFill>
                  <a:schemeClr val="bg2">
                    <a:lumMod val="25000"/>
                  </a:schemeClr>
                </a:solidFill>
                <a:latin typeface="黑体" panose="02010609060101010101" pitchFamily="2" charset="-122"/>
                <a:ea typeface="黑体" panose="02010609060101010101" pitchFamily="2" charset="-122"/>
                <a:hlinkClick r:id="rId3" action="ppaction://hlinksldjump"/>
              </a:rPr>
              <a:t>命令方式创建数据库</a:t>
            </a:r>
            <a:endParaRPr lang="zh-CN" altLang="zh-CN" sz="3200" b="1" dirty="0" smtClean="0">
              <a:solidFill>
                <a:schemeClr val="bg2">
                  <a:lumMod val="25000"/>
                </a:schemeClr>
              </a:solidFill>
              <a:latin typeface="黑体" panose="02010609060101010101" pitchFamily="2" charset="-122"/>
              <a:ea typeface="黑体" panose="02010609060101010101" pitchFamily="2" charset="-122"/>
            </a:endParaRPr>
          </a:p>
        </p:txBody>
      </p:sp>
    </p:spTree>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2.1</a:t>
            </a:r>
            <a:r>
              <a:rPr lang="x-none" altLang="zh-CN" dirty="0">
                <a:effectLst/>
              </a:rPr>
              <a:t>  </a:t>
            </a:r>
            <a:r>
              <a:rPr lang="en-US" altLang="zh-CN" dirty="0">
                <a:effectLst/>
              </a:rPr>
              <a:t>SQL Server 2012</a:t>
            </a:r>
            <a:r>
              <a:rPr lang="zh-CN" altLang="zh-CN" dirty="0">
                <a:effectLst/>
              </a:rPr>
              <a:t>数据库</a:t>
            </a:r>
            <a:r>
              <a:rPr lang="en-US" altLang="zh-CN" dirty="0">
                <a:effectLst/>
              </a:rPr>
              <a:t> </a:t>
            </a:r>
            <a:endParaRPr lang="zh-CN" altLang="zh-CN" dirty="0">
              <a:effectLst/>
            </a:endParaRPr>
          </a:p>
        </p:txBody>
      </p:sp>
      <p:sp>
        <p:nvSpPr>
          <p:cNvPr id="3" name="TextBox 2"/>
          <p:cNvSpPr txBox="1"/>
          <p:nvPr/>
        </p:nvSpPr>
        <p:spPr>
          <a:xfrm>
            <a:off x="468313" y="1484313"/>
            <a:ext cx="8207375" cy="4802187"/>
          </a:xfrm>
          <a:prstGeom prst="rect">
            <a:avLst/>
          </a:prstGeom>
          <a:noFill/>
        </p:spPr>
        <p:txBody>
          <a:bodyPr>
            <a:spAutoFit/>
          </a:bodyPr>
          <a:lstStyle/>
          <a:p>
            <a:pPr fontAlgn="auto">
              <a:spcBef>
                <a:spcPts val="0"/>
              </a:spcBef>
              <a:spcAft>
                <a:spcPts val="0"/>
              </a:spcAft>
              <a:defRPr/>
            </a:pPr>
            <a:r>
              <a:rPr lang="en-US" altLang="zh-CN" sz="2000" b="1" dirty="0">
                <a:latin typeface="+mn-lt"/>
                <a:ea typeface="+mn-ea"/>
              </a:rPr>
              <a:t>2.1.1  </a:t>
            </a:r>
            <a:r>
              <a:rPr lang="zh-CN" altLang="zh-CN" sz="2000" b="1" dirty="0">
                <a:latin typeface="+mn-lt"/>
                <a:ea typeface="+mn-ea"/>
              </a:rPr>
              <a:t>逻辑数据库</a:t>
            </a:r>
            <a:endParaRPr lang="zh-CN" altLang="zh-CN" sz="2000" b="1" dirty="0">
              <a:latin typeface="+mn-lt"/>
              <a:ea typeface="+mn-ea"/>
            </a:endParaRPr>
          </a:p>
          <a:p>
            <a:pPr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．数据库对象</a:t>
            </a:r>
            <a:endParaRPr lang="zh-CN" altLang="zh-CN" b="1" dirty="0">
              <a:solidFill>
                <a:srgbClr val="C00000"/>
              </a:solidFill>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表：表是最主要的数据库对象。</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视图：视图是从一个或多个基本表中引用表。</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索引：表中的记录通常按其输入的时间顺序存放，这种顺序称为记录的物理顺序。</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约束：约束用于保障数据的一致性与完整性。</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存储过程：存储过程是一组为了完成特定功能的</a:t>
            </a:r>
            <a:r>
              <a:rPr lang="en-US" altLang="zh-CN" dirty="0">
                <a:latin typeface="+mn-lt"/>
                <a:ea typeface="+mn-ea"/>
              </a:rPr>
              <a:t>SQL</a:t>
            </a:r>
            <a:r>
              <a:rPr lang="zh-CN" altLang="zh-CN" dirty="0">
                <a:latin typeface="+mn-lt"/>
                <a:ea typeface="+mn-ea"/>
              </a:rPr>
              <a:t>语句集合。</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触发器：触发器与表紧密关联。</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默认值：默认值是在用户没有给出具体数据时，系统所自动生成的数值。</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用户和角色：用户是指对数据库有存取权限的使用者，角色是指一组数据库用户的集合。</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规则：规则用来限制表字段的数据范围。</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类型：用户可以根据需要在给定的系统类型之上定义自己的数据类型。</a:t>
            </a:r>
            <a:endParaRPr lang="en-US" altLang="zh-CN" dirty="0">
              <a:latin typeface="+mn-lt"/>
              <a:ea typeface="+mn-ea"/>
            </a:endParaRPr>
          </a:p>
          <a:p>
            <a:pPr indent="539750" fontAlgn="auto">
              <a:spcBef>
                <a:spcPts val="0"/>
              </a:spcBef>
              <a:spcAft>
                <a:spcPts val="0"/>
              </a:spcAft>
              <a:buFont typeface="Wingdings" panose="05000000000000000000" pitchFamily="2" charset="2"/>
              <a:buChar char="l"/>
              <a:defRPr/>
            </a:pPr>
            <a:r>
              <a:rPr lang="zh-CN" altLang="zh-CN" dirty="0">
                <a:latin typeface="+mn-lt"/>
                <a:ea typeface="+mn-ea"/>
              </a:rPr>
              <a:t>函数：用户可以根据需要将系统若干个语句或者系统函数进行组合实现特定功能，定义成自己的函数。</a:t>
            </a:r>
            <a:endParaRPr lang="zh-CN" altLang="zh-CN" dirty="0">
              <a:latin typeface="+mn-lt"/>
              <a:ea typeface="+mn-ea"/>
            </a:endParaRPr>
          </a:p>
          <a:p>
            <a:pPr indent="539750" fontAlgn="auto">
              <a:spcBef>
                <a:spcPts val="0"/>
              </a:spcBef>
              <a:spcAft>
                <a:spcPts val="0"/>
              </a:spcAft>
              <a:defRPr/>
            </a:pPr>
            <a:endParaRPr lang="zh-CN" altLang="en-US" dirty="0">
              <a:latin typeface="+mn-lt"/>
              <a:ea typeface="+mn-ea"/>
            </a:endParaRPr>
          </a:p>
        </p:txBody>
      </p:sp>
    </p:spTree>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2.1.1  </a:t>
            </a:r>
            <a:r>
              <a:rPr lang="zh-CN" altLang="zh-CN" dirty="0">
                <a:effectLst/>
              </a:rPr>
              <a:t>逻辑</a:t>
            </a:r>
            <a:r>
              <a:rPr lang="zh-CN" altLang="zh-CN" dirty="0" smtClean="0">
                <a:effectLst/>
              </a:rPr>
              <a:t>数据库</a:t>
            </a:r>
            <a:endParaRPr lang="zh-CN" altLang="en-US" dirty="0"/>
          </a:p>
        </p:txBody>
      </p:sp>
      <p:sp>
        <p:nvSpPr>
          <p:cNvPr id="8195" name="TextBox 2"/>
          <p:cNvSpPr txBox="1">
            <a:spLocks noChangeArrowheads="1"/>
          </p:cNvSpPr>
          <p:nvPr/>
        </p:nvSpPr>
        <p:spPr bwMode="auto">
          <a:xfrm>
            <a:off x="468313" y="1628775"/>
            <a:ext cx="8207375" cy="466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．数据库对象的引用</a:t>
            </a:r>
            <a:r>
              <a:rPr lang="en-US" altLang="zh-CN" b="1">
                <a:solidFill>
                  <a:srgbClr val="C00000"/>
                </a:solidFill>
              </a:rPr>
              <a:t> </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）完全限定名。在</a:t>
            </a:r>
            <a:r>
              <a:rPr lang="en-US" altLang="zh-CN"/>
              <a:t>SQL Server</a:t>
            </a:r>
            <a:r>
              <a:rPr lang="zh-CN" altLang="zh-CN"/>
              <a:t>中，完全限定名是对象的全名，包括</a:t>
            </a:r>
            <a:r>
              <a:rPr lang="en-US" altLang="zh-CN"/>
              <a:t>4</a:t>
            </a:r>
            <a:r>
              <a:rPr lang="zh-CN" altLang="zh-CN"/>
              <a:t>个部分：</a:t>
            </a:r>
            <a:endParaRPr lang="zh-CN" altLang="zh-CN"/>
          </a:p>
          <a:p>
            <a:pPr eaLnBrk="1" fontAlgn="ctr" hangingPunct="1">
              <a:lnSpc>
                <a:spcPct val="150000"/>
              </a:lnSpc>
            </a:pPr>
            <a:r>
              <a:rPr lang="zh-CN" altLang="zh-CN"/>
              <a:t>服务器名</a:t>
            </a:r>
            <a:r>
              <a:rPr lang="en-US" altLang="zh-CN"/>
              <a:t>.</a:t>
            </a:r>
            <a:r>
              <a:rPr lang="zh-CN" altLang="zh-CN"/>
              <a:t>数据库名</a:t>
            </a:r>
            <a:r>
              <a:rPr lang="en-US" altLang="zh-CN"/>
              <a:t>.</a:t>
            </a:r>
            <a:r>
              <a:rPr lang="zh-CN" altLang="zh-CN"/>
              <a:t>数据库架构名</a:t>
            </a:r>
            <a:r>
              <a:rPr lang="en-US" altLang="zh-CN"/>
              <a:t>.</a:t>
            </a:r>
            <a:r>
              <a:rPr lang="zh-CN" altLang="zh-CN"/>
              <a:t>对象名</a:t>
            </a:r>
            <a:endParaRPr lang="zh-CN" altLang="zh-CN"/>
          </a:p>
          <a:p>
            <a:pPr eaLnBrk="1" fontAlgn="ctr" hangingPunct="1">
              <a:lnSpc>
                <a:spcPct val="150000"/>
              </a:lnSpc>
            </a:pPr>
            <a:r>
              <a:rPr lang="zh-CN" altLang="zh-CN"/>
              <a:t>（</a:t>
            </a:r>
            <a:r>
              <a:rPr lang="en-US" altLang="zh-CN"/>
              <a:t>2</a:t>
            </a:r>
            <a:r>
              <a:rPr lang="zh-CN" altLang="zh-CN"/>
              <a:t>）部分限定名。在使用</a:t>
            </a:r>
            <a:r>
              <a:rPr lang="en-US" altLang="zh-CN"/>
              <a:t>T-SQL</a:t>
            </a:r>
            <a:r>
              <a:rPr lang="zh-CN" altLang="zh-CN"/>
              <a:t>编程时，使用全名往往很繁琐且没有必要，所以常省略全名中的某些部分。对象全名的</a:t>
            </a:r>
            <a:r>
              <a:rPr lang="en-US" altLang="zh-CN"/>
              <a:t>4</a:t>
            </a:r>
            <a:r>
              <a:rPr lang="zh-CN" altLang="zh-CN"/>
              <a:t>个部分中的前</a:t>
            </a:r>
            <a:r>
              <a:rPr lang="en-US" altLang="zh-CN"/>
              <a:t>3</a:t>
            </a:r>
            <a:r>
              <a:rPr lang="zh-CN" altLang="zh-CN"/>
              <a:t>个部分均可以省略。</a:t>
            </a:r>
            <a:endParaRPr lang="en-US" altLang="zh-CN"/>
          </a:p>
          <a:p>
            <a:pPr eaLnBrk="1" fontAlgn="ctr" hangingPunct="1">
              <a:lnSpc>
                <a:spcPct val="150000"/>
              </a:lnSpc>
            </a:pPr>
            <a:r>
              <a:rPr lang="en-US" altLang="zh-CN" b="1">
                <a:solidFill>
                  <a:srgbClr val="C00000"/>
                </a:solidFill>
              </a:rPr>
              <a:t>3</a:t>
            </a:r>
            <a:r>
              <a:rPr lang="zh-CN" altLang="zh-CN" b="1">
                <a:solidFill>
                  <a:srgbClr val="C00000"/>
                </a:solidFill>
              </a:rPr>
              <a:t>．数据库中的架构</a:t>
            </a:r>
            <a:endParaRPr lang="zh-CN" altLang="zh-CN" b="1">
              <a:solidFill>
                <a:srgbClr val="C00000"/>
              </a:solidFill>
            </a:endParaRPr>
          </a:p>
          <a:p>
            <a:pPr eaLnBrk="1" fontAlgn="ctr" hangingPunct="1">
              <a:lnSpc>
                <a:spcPct val="150000"/>
              </a:lnSpc>
            </a:pPr>
            <a:r>
              <a:rPr lang="zh-CN" altLang="zh-CN"/>
              <a:t>简单地说，</a:t>
            </a:r>
            <a:r>
              <a:rPr lang="zh-CN" altLang="zh-CN">
                <a:highlight>
                  <a:srgbClr val="FFFF00"/>
                </a:highlight>
              </a:rPr>
              <a:t>架构的作用是将数据库中的所有对象分成不同的集合，每一个集合就称为一个架构。</a:t>
            </a:r>
            <a:r>
              <a:rPr lang="zh-CN" altLang="zh-CN"/>
              <a:t>数据库中的每一个用户都会有自己的默认架构。这个默认架构可以在创建数据库用户时由创建者设定，若不设定则系统默认架构为</a:t>
            </a:r>
            <a:r>
              <a:rPr lang="en-US" altLang="zh-CN"/>
              <a:t>dbo</a:t>
            </a:r>
            <a:r>
              <a:rPr lang="zh-CN" altLang="zh-CN"/>
              <a:t>。数据库用户</a:t>
            </a:r>
            <a:r>
              <a:rPr lang="zh-CN" altLang="zh-CN">
                <a:highlight>
                  <a:srgbClr val="FFFF00"/>
                </a:highlight>
              </a:rPr>
              <a:t>只能对属于自己架构中的数据库对象执行相应的数据操作</a:t>
            </a:r>
            <a:r>
              <a:rPr lang="zh-CN" altLang="zh-CN"/>
              <a:t>。</a:t>
            </a:r>
            <a:endParaRPr lang="zh-CN" altLang="en-US"/>
          </a:p>
        </p:txBody>
      </p:sp>
    </p:spTree>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2.1.2  </a:t>
            </a:r>
            <a:r>
              <a:rPr lang="zh-CN" altLang="zh-CN" dirty="0">
                <a:effectLst/>
              </a:rPr>
              <a:t>物理数据库</a:t>
            </a:r>
            <a:endParaRPr lang="zh-CN" altLang="zh-CN" dirty="0">
              <a:effectLst/>
            </a:endParaRPr>
          </a:p>
        </p:txBody>
      </p:sp>
      <p:sp>
        <p:nvSpPr>
          <p:cNvPr id="9219" name="TextBox 2"/>
          <p:cNvSpPr txBox="1">
            <a:spLocks noChangeArrowheads="1"/>
          </p:cNvSpPr>
          <p:nvPr/>
        </p:nvSpPr>
        <p:spPr bwMode="auto">
          <a:xfrm>
            <a:off x="468313" y="1412875"/>
            <a:ext cx="8280400"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．数据库文件</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）主数据文件。主数据文件简称主文件，正如其名字，该文件是数据库的关键文件，包含了数据库的启动信息，并且存储数据。每个数据库必须有且</a:t>
            </a:r>
            <a:r>
              <a:rPr lang="zh-CN" altLang="zh-CN">
                <a:highlight>
                  <a:srgbClr val="FFFF00"/>
                </a:highlight>
              </a:rPr>
              <a:t>仅能有一个主文件</a:t>
            </a:r>
            <a:r>
              <a:rPr lang="zh-CN" altLang="zh-CN"/>
              <a:t>，其默认扩展名为</a:t>
            </a:r>
            <a:r>
              <a:rPr lang="en-US" altLang="zh-CN"/>
              <a:t>.mdf</a:t>
            </a:r>
            <a:r>
              <a:rPr lang="zh-CN" altLang="zh-CN"/>
              <a:t>。</a:t>
            </a:r>
            <a:endParaRPr lang="zh-CN" altLang="zh-CN"/>
          </a:p>
          <a:p>
            <a:pPr eaLnBrk="1" fontAlgn="ctr" hangingPunct="1">
              <a:lnSpc>
                <a:spcPct val="150000"/>
              </a:lnSpc>
            </a:pPr>
            <a:r>
              <a:rPr lang="zh-CN" altLang="zh-CN"/>
              <a:t>（</a:t>
            </a:r>
            <a:r>
              <a:rPr lang="en-US" altLang="zh-CN"/>
              <a:t>2</a:t>
            </a:r>
            <a:r>
              <a:rPr lang="zh-CN" altLang="zh-CN"/>
              <a:t>）辅助数据文件。辅助数据文件简称辅（助）文件，用于存储未包括在主文件内的其他数据。辅助文件的默认扩展名为</a:t>
            </a:r>
            <a:r>
              <a:rPr lang="en-US" altLang="zh-CN"/>
              <a:t>.ndf</a:t>
            </a:r>
            <a:r>
              <a:rPr lang="zh-CN" altLang="zh-CN"/>
              <a:t>。辅助文件是可选的，根据具体情况，可以创建多个辅助文件，</a:t>
            </a:r>
            <a:r>
              <a:rPr lang="zh-CN" altLang="zh-CN">
                <a:highlight>
                  <a:srgbClr val="FFFF00"/>
                </a:highlight>
              </a:rPr>
              <a:t>也可以不使用辅助文件</a:t>
            </a:r>
            <a:r>
              <a:rPr lang="zh-CN" altLang="zh-CN"/>
              <a:t>。</a:t>
            </a:r>
            <a:endParaRPr lang="zh-CN" altLang="zh-CN"/>
          </a:p>
          <a:p>
            <a:pPr eaLnBrk="1" fontAlgn="ctr" hangingPunct="1">
              <a:lnSpc>
                <a:spcPct val="150000"/>
              </a:lnSpc>
            </a:pPr>
            <a:r>
              <a:rPr lang="zh-CN" altLang="zh-CN"/>
              <a:t>（</a:t>
            </a:r>
            <a:r>
              <a:rPr lang="en-US" altLang="zh-CN"/>
              <a:t>3</a:t>
            </a:r>
            <a:r>
              <a:rPr lang="zh-CN" altLang="zh-CN"/>
              <a:t>）日志文件。日志文件用于保存恢复数据库所需的事务日志信息。每个数据库</a:t>
            </a:r>
            <a:r>
              <a:rPr lang="zh-CN" altLang="zh-CN">
                <a:highlight>
                  <a:srgbClr val="FFFF00"/>
                </a:highlight>
              </a:rPr>
              <a:t>至少有一个日志文件</a:t>
            </a:r>
            <a:r>
              <a:rPr lang="zh-CN" altLang="zh-CN"/>
              <a:t>，也可以有多个，日志文件的扩展名为</a:t>
            </a:r>
            <a:r>
              <a:rPr lang="en-US" altLang="zh-CN"/>
              <a:t>.ldf</a:t>
            </a:r>
            <a:r>
              <a:rPr lang="zh-CN" altLang="zh-CN"/>
              <a:t>。日志文件的存储与数据文件不同，它包含一系列记录，这些记录的存储不以页为存储单位。</a:t>
            </a:r>
            <a:endParaRPr lang="zh-CN" altLang="zh-CN"/>
          </a:p>
          <a:p>
            <a:pPr eaLnBrk="1" hangingPunct="1">
              <a:lnSpc>
                <a:spcPct val="150000"/>
              </a:lnSpc>
            </a:pPr>
            <a:endParaRPr lang="zh-CN" altLang="en-US"/>
          </a:p>
        </p:txBody>
      </p:sp>
    </p:spTree>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2.1.2  </a:t>
            </a:r>
            <a:r>
              <a:rPr lang="zh-CN" altLang="zh-CN" dirty="0">
                <a:effectLst/>
              </a:rPr>
              <a:t>物理数据库</a:t>
            </a:r>
            <a:endParaRPr lang="zh-CN" altLang="zh-CN" dirty="0">
              <a:effectLst/>
            </a:endParaRPr>
          </a:p>
        </p:txBody>
      </p:sp>
      <p:sp>
        <p:nvSpPr>
          <p:cNvPr id="10243" name="TextBox 2"/>
          <p:cNvSpPr txBox="1">
            <a:spLocks noChangeArrowheads="1"/>
          </p:cNvSpPr>
          <p:nvPr/>
        </p:nvSpPr>
        <p:spPr bwMode="auto">
          <a:xfrm>
            <a:off x="395288" y="1557338"/>
            <a:ext cx="8353425" cy="466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．数据库文件组</a:t>
            </a:r>
            <a:endParaRPr lang="zh-CN" altLang="zh-CN" b="1">
              <a:solidFill>
                <a:srgbClr val="C00000"/>
              </a:solidFill>
            </a:endParaRPr>
          </a:p>
          <a:p>
            <a:pPr eaLnBrk="1" fontAlgn="ctr" hangingPunct="1">
              <a:lnSpc>
                <a:spcPct val="150000"/>
              </a:lnSpc>
            </a:pPr>
            <a:r>
              <a:rPr lang="zh-CN" altLang="zh-CN"/>
              <a:t>使用</a:t>
            </a:r>
            <a:r>
              <a:rPr lang="zh-CN" altLang="zh-CN">
                <a:highlight>
                  <a:srgbClr val="FFFF00"/>
                </a:highlight>
              </a:rPr>
              <a:t>文件组可以提高表中数据的查询性能</a:t>
            </a:r>
            <a:r>
              <a:rPr lang="zh-CN" altLang="zh-CN"/>
              <a:t>。在</a:t>
            </a:r>
            <a:r>
              <a:rPr lang="en-US" altLang="zh-CN"/>
              <a:t>SQL Server 2012</a:t>
            </a:r>
            <a:r>
              <a:rPr lang="zh-CN" altLang="zh-CN"/>
              <a:t>中有两类文件组。</a:t>
            </a:r>
            <a:endParaRPr lang="zh-CN" altLang="zh-CN"/>
          </a:p>
          <a:p>
            <a:pPr eaLnBrk="1" fontAlgn="ctr" hangingPunct="1">
              <a:lnSpc>
                <a:spcPct val="150000"/>
              </a:lnSpc>
            </a:pPr>
            <a:r>
              <a:rPr lang="zh-CN" altLang="zh-CN"/>
              <a:t>（</a:t>
            </a:r>
            <a:r>
              <a:rPr lang="en-US" altLang="zh-CN"/>
              <a:t>1</a:t>
            </a:r>
            <a:r>
              <a:rPr lang="zh-CN" altLang="zh-CN"/>
              <a:t>）主文件组。主文件组包含主要数据文件和任何没有明确指派给其他文件组的其他文件。管理数据库的系统表的所有页均分配在主文件组中。</a:t>
            </a:r>
            <a:endParaRPr lang="zh-CN" altLang="zh-CN"/>
          </a:p>
          <a:p>
            <a:pPr eaLnBrk="1" fontAlgn="ctr" hangingPunct="1">
              <a:lnSpc>
                <a:spcPct val="150000"/>
              </a:lnSpc>
            </a:pPr>
            <a:r>
              <a:rPr lang="zh-CN" altLang="zh-CN"/>
              <a:t>（</a:t>
            </a:r>
            <a:r>
              <a:rPr lang="en-US" altLang="zh-CN"/>
              <a:t>2</a:t>
            </a:r>
            <a:r>
              <a:rPr lang="zh-CN" altLang="zh-CN"/>
              <a:t>）用户定义文件组。用户定义文件组是指在</a:t>
            </a:r>
            <a:r>
              <a:rPr lang="en-US" altLang="zh-CN"/>
              <a:t>CREATE DATABASE</a:t>
            </a:r>
            <a:r>
              <a:rPr lang="zh-CN" altLang="zh-CN"/>
              <a:t>或</a:t>
            </a:r>
            <a:r>
              <a:rPr lang="en-US" altLang="zh-CN"/>
              <a:t>ALTER DATABASE</a:t>
            </a:r>
            <a:r>
              <a:rPr lang="zh-CN" altLang="zh-CN"/>
              <a:t>语句中使用</a:t>
            </a:r>
            <a:r>
              <a:rPr lang="en-US" altLang="zh-CN"/>
              <a:t>FILEGROUP</a:t>
            </a:r>
            <a:r>
              <a:rPr lang="zh-CN" altLang="zh-CN"/>
              <a:t>关键字指定的文件组。</a:t>
            </a:r>
            <a:endParaRPr lang="zh-CN" altLang="zh-CN"/>
          </a:p>
          <a:p>
            <a:pPr eaLnBrk="1" hangingPunct="1">
              <a:lnSpc>
                <a:spcPct val="150000"/>
              </a:lnSpc>
            </a:pPr>
            <a:r>
              <a:rPr lang="en-US" altLang="zh-CN" b="1">
                <a:solidFill>
                  <a:srgbClr val="C00000"/>
                </a:solidFill>
              </a:rPr>
              <a:t>3</a:t>
            </a:r>
            <a:r>
              <a:rPr lang="zh-CN" altLang="zh-CN" b="1">
                <a:solidFill>
                  <a:srgbClr val="C00000"/>
                </a:solidFill>
              </a:rPr>
              <a:t>．</a:t>
            </a:r>
            <a:r>
              <a:rPr lang="en-US" altLang="zh-CN" b="1">
                <a:solidFill>
                  <a:srgbClr val="C00000"/>
                </a:solidFill>
              </a:rPr>
              <a:t>FILESTREAM</a:t>
            </a:r>
            <a:endParaRPr lang="zh-CN" altLang="zh-CN" b="1">
              <a:solidFill>
                <a:srgbClr val="C00000"/>
              </a:solidFill>
            </a:endParaRPr>
          </a:p>
          <a:p>
            <a:pPr eaLnBrk="1" fontAlgn="ctr" hangingPunct="1">
              <a:lnSpc>
                <a:spcPct val="150000"/>
              </a:lnSpc>
            </a:pPr>
            <a:r>
              <a:rPr lang="zh-CN" altLang="zh-CN"/>
              <a:t>借助</a:t>
            </a:r>
            <a:r>
              <a:rPr lang="en-US" altLang="zh-CN"/>
              <a:t>FILESTREAM</a:t>
            </a:r>
            <a:r>
              <a:rPr lang="zh-CN" altLang="zh-CN"/>
              <a:t>，基于</a:t>
            </a:r>
            <a:r>
              <a:rPr lang="en-US" altLang="zh-CN"/>
              <a:t>SQL Server</a:t>
            </a:r>
            <a:r>
              <a:rPr lang="zh-CN" altLang="zh-CN"/>
              <a:t>的应用程序可以</a:t>
            </a:r>
            <a:r>
              <a:rPr lang="zh-CN" altLang="zh-CN">
                <a:highlight>
                  <a:srgbClr val="FFFF00"/>
                </a:highlight>
              </a:rPr>
              <a:t>将非结构化的数据</a:t>
            </a:r>
            <a:r>
              <a:rPr lang="zh-CN" altLang="zh-CN"/>
              <a:t>（如文档和图像）</a:t>
            </a:r>
            <a:r>
              <a:rPr lang="zh-CN" altLang="zh-CN">
                <a:highlight>
                  <a:srgbClr val="FFFF00"/>
                </a:highlight>
              </a:rPr>
              <a:t>存储在文件系统</a:t>
            </a:r>
            <a:r>
              <a:rPr lang="zh-CN" altLang="zh-CN"/>
              <a:t>。 应用程序在利用丰富的流式</a:t>
            </a:r>
            <a:r>
              <a:rPr lang="en-US" altLang="zh-CN"/>
              <a:t>API</a:t>
            </a:r>
            <a:r>
              <a:rPr lang="zh-CN" altLang="zh-CN"/>
              <a:t>和文件系统性能的同时，还可保持非结构化数据和对应的结构化数据之间的事务一致性。</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2.1.3  </a:t>
            </a:r>
            <a:r>
              <a:rPr lang="zh-CN" altLang="zh-CN" dirty="0">
                <a:effectLst/>
              </a:rPr>
              <a:t>系统数据库和用户数据库</a:t>
            </a:r>
            <a:endParaRPr lang="zh-CN" altLang="zh-CN" dirty="0">
              <a:effectLst/>
            </a:endParaRPr>
          </a:p>
        </p:txBody>
      </p:sp>
      <p:sp>
        <p:nvSpPr>
          <p:cNvPr id="11267" name="TextBox 2"/>
          <p:cNvSpPr txBox="1">
            <a:spLocks noChangeArrowheads="1"/>
          </p:cNvSpPr>
          <p:nvPr/>
        </p:nvSpPr>
        <p:spPr bwMode="auto">
          <a:xfrm>
            <a:off x="395288" y="1557338"/>
            <a:ext cx="8353425"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在安装</a:t>
            </a:r>
            <a:r>
              <a:rPr lang="en-US" altLang="zh-CN"/>
              <a:t>SQL Server</a:t>
            </a:r>
            <a:r>
              <a:rPr lang="zh-CN" altLang="zh-CN"/>
              <a:t>时，系统将创建</a:t>
            </a:r>
            <a:r>
              <a:rPr lang="en-US" altLang="zh-CN"/>
              <a:t>4</a:t>
            </a:r>
            <a:r>
              <a:rPr lang="zh-CN" altLang="zh-CN"/>
              <a:t>个可见的系统数据库：</a:t>
            </a:r>
            <a:r>
              <a:rPr lang="en-US" altLang="zh-CN"/>
              <a:t>master</a:t>
            </a:r>
            <a:r>
              <a:rPr lang="zh-CN" altLang="zh-CN"/>
              <a:t>、</a:t>
            </a:r>
            <a:r>
              <a:rPr lang="en-US" altLang="zh-CN"/>
              <a:t>model</a:t>
            </a:r>
            <a:r>
              <a:rPr lang="zh-CN" altLang="zh-CN"/>
              <a:t>、</a:t>
            </a:r>
            <a:r>
              <a:rPr lang="en-US" altLang="zh-CN"/>
              <a:t>msdb</a:t>
            </a:r>
            <a:r>
              <a:rPr lang="zh-CN" altLang="zh-CN"/>
              <a:t>和</a:t>
            </a:r>
            <a:r>
              <a:rPr lang="en-US" altLang="zh-CN"/>
              <a:t>tempdb</a:t>
            </a:r>
            <a:r>
              <a:rPr lang="zh-CN" altLang="zh-CN"/>
              <a:t>。</a:t>
            </a:r>
            <a:endParaRPr lang="zh-CN" altLang="zh-CN"/>
          </a:p>
          <a:p>
            <a:pPr eaLnBrk="1" fontAlgn="ctr" hangingPunct="1">
              <a:lnSpc>
                <a:spcPct val="150000"/>
              </a:lnSpc>
            </a:pPr>
            <a:r>
              <a:rPr lang="zh-CN" altLang="zh-CN"/>
              <a:t>（</a:t>
            </a:r>
            <a:r>
              <a:rPr lang="en-US" altLang="zh-CN"/>
              <a:t>1</a:t>
            </a:r>
            <a:r>
              <a:rPr lang="zh-CN" altLang="zh-CN"/>
              <a:t>）</a:t>
            </a:r>
            <a:r>
              <a:rPr lang="en-US" altLang="zh-CN"/>
              <a:t>master</a:t>
            </a:r>
            <a:r>
              <a:rPr lang="zh-CN" altLang="zh-CN"/>
              <a:t>数据库包含了</a:t>
            </a:r>
            <a:r>
              <a:rPr lang="en-US" altLang="zh-CN"/>
              <a:t>SQL Server 2012</a:t>
            </a:r>
            <a:r>
              <a:rPr lang="zh-CN" altLang="zh-CN"/>
              <a:t>的登录账号、系统配置、数据库位置及数据库错误信息等，控制用户数据库和</a:t>
            </a:r>
            <a:r>
              <a:rPr lang="en-US" altLang="zh-CN"/>
              <a:t>SQL Server</a:t>
            </a:r>
            <a:r>
              <a:rPr lang="zh-CN" altLang="zh-CN"/>
              <a:t>的运行。</a:t>
            </a:r>
            <a:endParaRPr lang="zh-CN" altLang="zh-CN"/>
          </a:p>
          <a:p>
            <a:pPr eaLnBrk="1" fontAlgn="ctr" hangingPunct="1">
              <a:lnSpc>
                <a:spcPct val="150000"/>
              </a:lnSpc>
            </a:pPr>
            <a:r>
              <a:rPr lang="zh-CN" altLang="zh-CN"/>
              <a:t>（</a:t>
            </a:r>
            <a:r>
              <a:rPr lang="en-US" altLang="zh-CN"/>
              <a:t>2</a:t>
            </a:r>
            <a:r>
              <a:rPr lang="zh-CN" altLang="zh-CN"/>
              <a:t>）</a:t>
            </a:r>
            <a:r>
              <a:rPr lang="en-US" altLang="zh-CN"/>
              <a:t>model</a:t>
            </a:r>
            <a:r>
              <a:rPr lang="zh-CN" altLang="zh-CN"/>
              <a:t>数据库为新创建的数据库提供模板。</a:t>
            </a:r>
            <a:endParaRPr lang="zh-CN" altLang="zh-CN"/>
          </a:p>
          <a:p>
            <a:pPr eaLnBrk="1" fontAlgn="ctr" hangingPunct="1">
              <a:lnSpc>
                <a:spcPct val="150000"/>
              </a:lnSpc>
            </a:pPr>
            <a:r>
              <a:rPr lang="zh-CN" altLang="zh-CN"/>
              <a:t>（</a:t>
            </a:r>
            <a:r>
              <a:rPr lang="en-US" altLang="zh-CN"/>
              <a:t>3</a:t>
            </a:r>
            <a:r>
              <a:rPr lang="zh-CN" altLang="zh-CN"/>
              <a:t>）</a:t>
            </a:r>
            <a:r>
              <a:rPr lang="en-US" altLang="zh-CN"/>
              <a:t>msdb</a:t>
            </a:r>
            <a:r>
              <a:rPr lang="zh-CN" altLang="zh-CN"/>
              <a:t>数据库为“</a:t>
            </a:r>
            <a:r>
              <a:rPr lang="en-US" altLang="zh-CN"/>
              <a:t>SQL Server</a:t>
            </a:r>
            <a:r>
              <a:rPr lang="zh-CN" altLang="zh-CN"/>
              <a:t>代理”调度信息和作业记录提供存储空间。</a:t>
            </a:r>
            <a:endParaRPr lang="zh-CN" altLang="zh-CN"/>
          </a:p>
          <a:p>
            <a:pPr eaLnBrk="1" fontAlgn="ctr" hangingPunct="1">
              <a:lnSpc>
                <a:spcPct val="150000"/>
              </a:lnSpc>
            </a:pPr>
            <a:r>
              <a:rPr lang="zh-CN" altLang="zh-CN"/>
              <a:t>（</a:t>
            </a:r>
            <a:r>
              <a:rPr lang="en-US" altLang="zh-CN"/>
              <a:t>4</a:t>
            </a:r>
            <a:r>
              <a:rPr lang="zh-CN" altLang="zh-CN"/>
              <a:t>）</a:t>
            </a:r>
            <a:r>
              <a:rPr lang="en-US" altLang="zh-CN"/>
              <a:t>tempdb</a:t>
            </a:r>
            <a:r>
              <a:rPr lang="zh-CN" altLang="zh-CN"/>
              <a:t>数据库为临时表和临时存储过程提供存储空间，所有与系统连接的用户的临时表和临时存储过程都存储于该数据库中。</a:t>
            </a:r>
            <a:endParaRPr lang="zh-CN" altLang="zh-CN"/>
          </a:p>
          <a:p>
            <a:pPr eaLnBrk="1" hangingPunct="1">
              <a:lnSpc>
                <a:spcPct val="150000"/>
              </a:lnSpc>
            </a:pPr>
            <a:endParaRPr lang="zh-CN" altLang="en-US"/>
          </a:p>
        </p:txBody>
      </p:sp>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  </a:t>
            </a:r>
            <a:r>
              <a:rPr lang="zh-CN" altLang="zh-CN" dirty="0">
                <a:effectLst/>
              </a:rPr>
              <a:t>界面方式创建</a:t>
            </a:r>
            <a:r>
              <a:rPr lang="zh-CN" altLang="zh-CN" dirty="0" smtClean="0">
                <a:effectLst/>
              </a:rPr>
              <a:t>数据库</a:t>
            </a:r>
            <a:endParaRPr lang="zh-CN" altLang="en-US" dirty="0"/>
          </a:p>
        </p:txBody>
      </p:sp>
      <p:sp>
        <p:nvSpPr>
          <p:cNvPr id="12291" name="TextBox 2"/>
          <p:cNvSpPr txBox="1">
            <a:spLocks noChangeArrowheads="1"/>
          </p:cNvSpPr>
          <p:nvPr/>
        </p:nvSpPr>
        <p:spPr bwMode="auto">
          <a:xfrm>
            <a:off x="468313" y="1484313"/>
            <a:ext cx="8280400"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2.2.1  </a:t>
            </a:r>
            <a:r>
              <a:rPr lang="zh-CN" altLang="zh-CN" sz="2000" b="1" dirty="0"/>
              <a:t>数据库的创建</a:t>
            </a:r>
            <a:endParaRPr lang="zh-CN" altLang="zh-CN" sz="2000" b="1" dirty="0"/>
          </a:p>
          <a:p>
            <a:pPr eaLnBrk="1" fontAlgn="ctr" hangingPunct="1"/>
            <a:r>
              <a:rPr lang="zh-CN" altLang="zh-CN" dirty="0"/>
              <a:t>下面以创建学生成绩管理系统的数据库（</a:t>
            </a:r>
            <a:r>
              <a:rPr lang="en-US" altLang="zh-CN" dirty="0" err="1"/>
              <a:t>pxscj</a:t>
            </a:r>
            <a:r>
              <a:rPr lang="zh-CN" altLang="zh-CN" dirty="0"/>
              <a:t>）为例，说明使用“</a:t>
            </a:r>
            <a:r>
              <a:rPr lang="en-US" altLang="zh-CN" dirty="0"/>
              <a:t>SSMS</a:t>
            </a:r>
            <a:r>
              <a:rPr lang="zh-CN" altLang="zh-CN" dirty="0"/>
              <a:t>”窗口图形化向导创建数据库的过程。</a:t>
            </a:r>
            <a:endParaRPr lang="zh-CN" altLang="zh-CN" dirty="0"/>
          </a:p>
          <a:p>
            <a:pPr eaLnBrk="1" fontAlgn="ctr" hangingPunct="1"/>
            <a:r>
              <a:rPr lang="zh-CN" altLang="zh-CN" dirty="0"/>
              <a:t>【例</a:t>
            </a:r>
            <a:r>
              <a:rPr lang="en-US" altLang="zh-CN" dirty="0"/>
              <a:t>2.1</a:t>
            </a:r>
            <a:r>
              <a:rPr lang="zh-CN" altLang="zh-CN" dirty="0"/>
              <a:t>】 创建数据库</a:t>
            </a:r>
            <a:r>
              <a:rPr lang="en-US" altLang="zh-CN" dirty="0" err="1"/>
              <a:t>pxscj</a:t>
            </a:r>
            <a:r>
              <a:rPr lang="zh-CN" altLang="zh-CN" dirty="0"/>
              <a:t>，数据文件和日志文件的属性按默认值设置。</a:t>
            </a:r>
            <a:endParaRPr lang="zh-CN" altLang="zh-CN" dirty="0"/>
          </a:p>
          <a:p>
            <a:pPr eaLnBrk="1" fontAlgn="ctr" hangingPunct="1"/>
            <a:r>
              <a:rPr lang="zh-CN" altLang="zh-CN" dirty="0"/>
              <a:t>第</a:t>
            </a:r>
            <a:r>
              <a:rPr lang="en-US" altLang="zh-CN" dirty="0"/>
              <a:t>1</a:t>
            </a:r>
            <a:r>
              <a:rPr lang="zh-CN" altLang="zh-CN" dirty="0"/>
              <a:t>步  以系统管理员身份登录计算机，在桌面上选择“开始”→“所有程序”→“</a:t>
            </a:r>
            <a:r>
              <a:rPr lang="en-US" altLang="zh-CN" dirty="0"/>
              <a:t>Microsoft SQL Server 2012</a:t>
            </a:r>
            <a:r>
              <a:rPr lang="zh-CN" altLang="zh-CN" dirty="0"/>
              <a:t>”命令，启动“</a:t>
            </a:r>
            <a:r>
              <a:rPr lang="en-US" altLang="zh-CN" dirty="0"/>
              <a:t>SQL Server Management Studio</a:t>
            </a:r>
            <a:r>
              <a:rPr lang="zh-CN" altLang="zh-CN" dirty="0"/>
              <a:t>”。如图</a:t>
            </a:r>
            <a:r>
              <a:rPr lang="en-US" altLang="zh-CN" dirty="0"/>
              <a:t> 2.1 </a:t>
            </a:r>
            <a:r>
              <a:rPr lang="zh-CN" altLang="zh-CN" dirty="0"/>
              <a:t>所示，使用默认的系统配置连接到数据库服务器。</a:t>
            </a:r>
            <a:endParaRPr lang="zh-CN" altLang="zh-CN" dirty="0"/>
          </a:p>
          <a:p>
            <a:pPr eaLnBrk="1" hangingPunct="1"/>
            <a:endParaRPr lang="zh-CN" altLang="en-US" dirty="0"/>
          </a:p>
        </p:txBody>
      </p:sp>
      <p:pic>
        <p:nvPicPr>
          <p:cNvPr id="122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4438" y="3500438"/>
            <a:ext cx="4319587" cy="292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2.2.1  </a:t>
            </a:r>
            <a:r>
              <a:rPr lang="zh-CN" altLang="zh-CN" dirty="0">
                <a:effectLst/>
              </a:rPr>
              <a:t>数据库的</a:t>
            </a:r>
            <a:r>
              <a:rPr lang="zh-CN" altLang="zh-CN" dirty="0" smtClean="0">
                <a:effectLst/>
              </a:rPr>
              <a:t>创建</a:t>
            </a:r>
            <a:endParaRPr lang="zh-CN" altLang="en-US" dirty="0"/>
          </a:p>
        </p:txBody>
      </p:sp>
      <p:sp>
        <p:nvSpPr>
          <p:cNvPr id="13315" name="TextBox 2"/>
          <p:cNvSpPr txBox="1">
            <a:spLocks noChangeArrowheads="1"/>
          </p:cNvSpPr>
          <p:nvPr/>
        </p:nvSpPr>
        <p:spPr bwMode="auto">
          <a:xfrm>
            <a:off x="539750" y="1628775"/>
            <a:ext cx="8135938"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第</a:t>
            </a:r>
            <a:r>
              <a:rPr lang="en-US" altLang="zh-CN"/>
              <a:t>2</a:t>
            </a:r>
            <a:r>
              <a:rPr lang="zh-CN" altLang="zh-CN"/>
              <a:t>步</a:t>
            </a:r>
            <a:r>
              <a:rPr lang="en-US" altLang="zh-CN"/>
              <a:t>  </a:t>
            </a:r>
            <a:r>
              <a:rPr lang="zh-CN" altLang="zh-CN"/>
              <a:t>在“对象资源管理器”中选择“数据库”，右键单击鼠标，在弹出的快捷菜单中选择“新建数据库”菜单项，打开“新建数据库”窗口。</a:t>
            </a:r>
            <a:r>
              <a:rPr lang="en-US" altLang="zh-CN"/>
              <a:t> </a:t>
            </a:r>
            <a:endParaRPr lang="zh-CN" altLang="zh-CN"/>
          </a:p>
          <a:p>
            <a:pPr eaLnBrk="1" fontAlgn="ctr" hangingPunct="1">
              <a:lnSpc>
                <a:spcPct val="150000"/>
              </a:lnSpc>
            </a:pPr>
            <a:r>
              <a:rPr lang="zh-CN" altLang="zh-CN"/>
              <a:t>第</a:t>
            </a:r>
            <a:r>
              <a:rPr lang="en-US" altLang="zh-CN"/>
              <a:t>3</a:t>
            </a:r>
            <a:r>
              <a:rPr lang="zh-CN" altLang="zh-CN"/>
              <a:t>步</a:t>
            </a:r>
            <a:r>
              <a:rPr lang="en-US" altLang="zh-CN"/>
              <a:t>  </a:t>
            </a:r>
            <a:r>
              <a:rPr lang="zh-CN" altLang="zh-CN"/>
              <a:t>“新建数据库”窗口的左上方共有</a:t>
            </a:r>
            <a:r>
              <a:rPr lang="en-US" altLang="zh-CN"/>
              <a:t>3</a:t>
            </a:r>
            <a:r>
              <a:rPr lang="zh-CN" altLang="zh-CN"/>
              <a:t>个选项页：“常规”、“选项”和“文件组”，这里只配置“常规”选项页，其他选项页使用系统默认设置。</a:t>
            </a:r>
            <a:endParaRPr lang="zh-CN" altLang="zh-CN"/>
          </a:p>
          <a:p>
            <a:pPr eaLnBrk="1" hangingPunct="1">
              <a:lnSpc>
                <a:spcPct val="150000"/>
              </a:lnSpc>
            </a:pPr>
            <a:endParaRPr lang="zh-CN" altLang="en-US"/>
          </a:p>
        </p:txBody>
      </p:sp>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2.2.1  </a:t>
            </a:r>
            <a:r>
              <a:rPr lang="zh-CN" altLang="zh-CN" dirty="0">
                <a:effectLst/>
              </a:rPr>
              <a:t>数据库的创建</a:t>
            </a:r>
            <a:endParaRPr lang="zh-CN" altLang="en-US" dirty="0"/>
          </a:p>
        </p:txBody>
      </p:sp>
      <p:sp>
        <p:nvSpPr>
          <p:cNvPr id="3" name="TextBox 2"/>
          <p:cNvSpPr txBox="1"/>
          <p:nvPr/>
        </p:nvSpPr>
        <p:spPr>
          <a:xfrm>
            <a:off x="468313" y="1557338"/>
            <a:ext cx="8207375" cy="1476375"/>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在“新建数据库”窗口的左上方选择“常规”选项页，在“数据库名称”文本框中填写要创建的数据库名称“</a:t>
            </a:r>
            <a:r>
              <a:rPr lang="en-US" altLang="zh-CN" dirty="0" err="1">
                <a:latin typeface="+mn-lt"/>
                <a:ea typeface="+mn-ea"/>
              </a:rPr>
              <a:t>pxscj</a:t>
            </a:r>
            <a:r>
              <a:rPr lang="zh-CN" altLang="zh-CN" dirty="0">
                <a:latin typeface="+mn-lt"/>
                <a:ea typeface="+mn-ea"/>
              </a:rPr>
              <a:t>”，也可以在“所有者”文本框中指定数据库的所有者，如</a:t>
            </a:r>
            <a:r>
              <a:rPr lang="en-US" altLang="zh-CN" dirty="0" err="1">
                <a:latin typeface="+mn-lt"/>
                <a:ea typeface="+mn-ea"/>
              </a:rPr>
              <a:t>sa</a:t>
            </a:r>
            <a:r>
              <a:rPr lang="zh-CN" altLang="zh-CN" dirty="0">
                <a:latin typeface="+mn-lt"/>
                <a:ea typeface="+mn-ea"/>
              </a:rPr>
              <a:t>。这里使用默认值，其他属性也按默认值设置，如图</a:t>
            </a:r>
            <a:r>
              <a:rPr lang="en-US" altLang="zh-CN" dirty="0">
                <a:latin typeface="+mn-lt"/>
                <a:ea typeface="+mn-ea"/>
              </a:rPr>
              <a:t>2.2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143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4813" y="2708275"/>
            <a:ext cx="5794375"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2.2.1  </a:t>
            </a:r>
            <a:r>
              <a:rPr lang="zh-CN" altLang="zh-CN" dirty="0">
                <a:effectLst/>
              </a:rPr>
              <a:t>数据库的创建</a:t>
            </a:r>
            <a:endParaRPr lang="zh-CN" altLang="en-US" dirty="0"/>
          </a:p>
        </p:txBody>
      </p:sp>
      <p:sp>
        <p:nvSpPr>
          <p:cNvPr id="15363" name="TextBox 2"/>
          <p:cNvSpPr txBox="1">
            <a:spLocks noChangeArrowheads="1"/>
          </p:cNvSpPr>
          <p:nvPr/>
        </p:nvSpPr>
        <p:spPr bwMode="auto">
          <a:xfrm>
            <a:off x="468313" y="1484313"/>
            <a:ext cx="82804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至此，数据库</a:t>
            </a:r>
            <a:r>
              <a:rPr lang="en-US" altLang="zh-CN"/>
              <a:t>pxscj</a:t>
            </a:r>
            <a:r>
              <a:rPr lang="zh-CN" altLang="zh-CN"/>
              <a:t>已经创建完成了。此时，可以在“对象资源管理器”窗口的“数据库”下找到“</a:t>
            </a:r>
            <a:r>
              <a:rPr lang="en-US" altLang="zh-CN"/>
              <a:t>pxscj</a:t>
            </a:r>
            <a:r>
              <a:rPr lang="zh-CN" altLang="zh-CN"/>
              <a:t>”数据库，在“</a:t>
            </a:r>
            <a:r>
              <a:rPr lang="en-US" altLang="zh-CN"/>
              <a:t>d:\ SQL Server\2012\MSSQL11.MSSQLSERVER\MSSQL\DATA</a:t>
            </a:r>
            <a:r>
              <a:rPr lang="zh-CN" altLang="zh-CN"/>
              <a:t>”目录下找到对应的两个文件，如图</a:t>
            </a:r>
            <a:r>
              <a:rPr lang="en-US" altLang="zh-CN"/>
              <a:t>2.4</a:t>
            </a:r>
            <a:r>
              <a:rPr lang="zh-CN" altLang="zh-CN"/>
              <a:t>所示。</a:t>
            </a:r>
            <a:endParaRPr lang="zh-CN" altLang="zh-CN"/>
          </a:p>
          <a:p>
            <a:pPr eaLnBrk="1" hangingPunct="1"/>
            <a:endParaRPr lang="zh-CN" altLang="en-US"/>
          </a:p>
        </p:txBody>
      </p:sp>
      <p:pic>
        <p:nvPicPr>
          <p:cNvPr id="153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313" y="2882900"/>
            <a:ext cx="2986087"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2679700"/>
            <a:ext cx="4865688"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5"/>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5367" name="Rectangle 6"/>
          <p:cNvSpPr>
            <a:spLocks noChangeArrowheads="1"/>
          </p:cNvSpPr>
          <p:nvPr/>
        </p:nvSpPr>
        <p:spPr bwMode="auto">
          <a:xfrm>
            <a:off x="0" y="2559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1000">
                <a:latin typeface="Times New Roman" panose="02020603050405020304" pitchFamily="18" charset="0"/>
                <a:ea typeface="方正书宋简体"/>
                <a:cs typeface="Times New Roman" panose="02020603050405020304" pitchFamily="18" charset="0"/>
              </a:rPr>
              <a:t>  </a:t>
            </a:r>
            <a:endParaRPr lang="en-US" altLang="zh-CN">
              <a:latin typeface="Arial" panose="020B0604020202020204" pitchFamily="34" charset="0"/>
              <a:ea typeface="方正书宋简体"/>
              <a:cs typeface="Times New Roman" panose="02020603050405020304" pitchFamily="18" charset="0"/>
            </a:endParaRPr>
          </a:p>
        </p:txBody>
      </p:sp>
    </p:spTree>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zh-CN" dirty="0">
              <a:effectLst/>
            </a:endParaRPr>
          </a:p>
        </p:txBody>
      </p:sp>
      <p:sp>
        <p:nvSpPr>
          <p:cNvPr id="3" name="TextBox 2"/>
          <p:cNvSpPr txBox="1"/>
          <p:nvPr/>
        </p:nvSpPr>
        <p:spPr>
          <a:xfrm>
            <a:off x="468313" y="1557338"/>
            <a:ext cx="8207375" cy="4246562"/>
          </a:xfrm>
          <a:prstGeom prst="rect">
            <a:avLst/>
          </a:prstGeom>
          <a:noFill/>
        </p:spPr>
        <p:txBody>
          <a:bodyPr>
            <a:spAutoFit/>
          </a:bodyPr>
          <a:lstStyle/>
          <a:p>
            <a:pPr indent="446405" fontAlgn="auto">
              <a:lnSpc>
                <a:spcPct val="150000"/>
              </a:lnSpc>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．数据库的修改</a:t>
            </a:r>
            <a:endParaRPr lang="zh-CN" altLang="zh-CN" b="1" dirty="0">
              <a:solidFill>
                <a:srgbClr val="C00000"/>
              </a:solidFill>
              <a:latin typeface="+mn-lt"/>
              <a:ea typeface="+mn-ea"/>
            </a:endParaRPr>
          </a:p>
          <a:p>
            <a:pPr indent="446405" fontAlgn="ctr">
              <a:lnSpc>
                <a:spcPct val="150000"/>
              </a:lnSpc>
              <a:spcBef>
                <a:spcPts val="0"/>
              </a:spcBef>
              <a:spcAft>
                <a:spcPts val="0"/>
              </a:spcAft>
              <a:defRPr/>
            </a:pPr>
            <a:r>
              <a:rPr lang="zh-CN" altLang="zh-CN" dirty="0">
                <a:highlight>
                  <a:srgbClr val="FFFF00"/>
                </a:highlight>
                <a:latin typeface="+mn-lt"/>
                <a:ea typeface="+mn-ea"/>
              </a:rPr>
              <a:t>在数据库成功创建后，数据文件名和日志文件名就不能改变了。</a:t>
            </a:r>
            <a:r>
              <a:rPr lang="zh-CN" altLang="zh-CN" dirty="0">
                <a:latin typeface="+mn-lt"/>
                <a:ea typeface="+mn-ea"/>
              </a:rPr>
              <a:t>对已存在的数据库可以进行以下修改：</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增加或删除数据文件；</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改变数据文件的大小和增长方式；</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改变日志文件的大小和增长方式；</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增加或删除日志文件；</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增加或删除文件组；</a:t>
            </a:r>
            <a:endParaRPr lang="zh-CN" altLang="zh-CN" dirty="0">
              <a:latin typeface="+mn-lt"/>
              <a:ea typeface="+mn-ea"/>
            </a:endParaRPr>
          </a:p>
          <a:p>
            <a:pPr marL="446405" indent="174625" fontAlgn="ctr">
              <a:lnSpc>
                <a:spcPct val="150000"/>
              </a:lnSpc>
              <a:spcBef>
                <a:spcPts val="0"/>
              </a:spcBef>
              <a:spcAft>
                <a:spcPts val="0"/>
              </a:spcAft>
              <a:buFont typeface="Wingdings" panose="05000000000000000000" pitchFamily="2" charset="2"/>
              <a:buChar char="l"/>
              <a:defRPr/>
            </a:pPr>
            <a:r>
              <a:rPr lang="en-US" altLang="zh-CN" dirty="0">
                <a:latin typeface="+mn-lt"/>
                <a:ea typeface="+mn-ea"/>
              </a:rPr>
              <a:t>	</a:t>
            </a:r>
            <a:r>
              <a:rPr lang="zh-CN" altLang="zh-CN" dirty="0">
                <a:latin typeface="+mn-lt"/>
                <a:ea typeface="+mn-ea"/>
              </a:rPr>
              <a:t>重命名数据库。</a:t>
            </a:r>
            <a:endParaRPr lang="zh-CN" altLang="zh-CN" dirty="0">
              <a:latin typeface="+mn-lt"/>
              <a:ea typeface="+mn-ea"/>
            </a:endParaRPr>
          </a:p>
          <a:p>
            <a:pPr indent="446405" fontAlgn="auto">
              <a:lnSpc>
                <a:spcPct val="150000"/>
              </a:lnSpc>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17411" name="TextBox 2"/>
          <p:cNvSpPr txBox="1">
            <a:spLocks noChangeArrowheads="1"/>
          </p:cNvSpPr>
          <p:nvPr/>
        </p:nvSpPr>
        <p:spPr bwMode="auto">
          <a:xfrm>
            <a:off x="395288" y="1484313"/>
            <a:ext cx="8280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操作步骤：在</a:t>
            </a:r>
            <a:r>
              <a:rPr lang="en-US" altLang="zh-CN"/>
              <a:t>SSMS</a:t>
            </a:r>
            <a:r>
              <a:rPr lang="zh-CN" altLang="zh-CN"/>
              <a:t>下选择需要进行修改的数据库（如</a:t>
            </a:r>
            <a:r>
              <a:rPr lang="en-US" altLang="zh-CN"/>
              <a:t>pxscj</a:t>
            </a:r>
            <a:r>
              <a:rPr lang="zh-CN" altLang="zh-CN"/>
              <a:t>），右键单击鼠标，在出现的快捷菜单中选择“属性”菜单项，系统显示如图</a:t>
            </a:r>
            <a:r>
              <a:rPr lang="en-US" altLang="zh-CN"/>
              <a:t>2.5</a:t>
            </a:r>
            <a:r>
              <a:rPr lang="zh-CN" altLang="zh-CN"/>
              <a:t>所示的“数据库属性</a:t>
            </a:r>
            <a:r>
              <a:rPr lang="en-US" altLang="zh-CN"/>
              <a:t>-pxscj</a:t>
            </a:r>
            <a:r>
              <a:rPr lang="zh-CN" altLang="zh-CN"/>
              <a:t>”窗口。</a:t>
            </a:r>
            <a:endParaRPr lang="zh-CN" altLang="en-US"/>
          </a:p>
        </p:txBody>
      </p:sp>
      <p:pic>
        <p:nvPicPr>
          <p:cNvPr id="174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2025" y="2408238"/>
            <a:ext cx="4608513" cy="413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diamon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18435" name="TextBox 2"/>
          <p:cNvSpPr txBox="1">
            <a:spLocks noChangeArrowheads="1"/>
          </p:cNvSpPr>
          <p:nvPr/>
        </p:nvSpPr>
        <p:spPr bwMode="auto">
          <a:xfrm>
            <a:off x="468313" y="1557338"/>
            <a:ext cx="8207375"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1</a:t>
            </a:r>
            <a:r>
              <a:rPr lang="zh-CN" altLang="zh-CN"/>
              <a:t>）改变数据库文件参数</a:t>
            </a:r>
            <a:endParaRPr lang="zh-CN" altLang="zh-CN"/>
          </a:p>
          <a:p>
            <a:pPr eaLnBrk="1" fontAlgn="ctr" hangingPunct="1">
              <a:lnSpc>
                <a:spcPct val="150000"/>
              </a:lnSpc>
            </a:pPr>
            <a:r>
              <a:rPr lang="zh-CN" altLang="zh-CN"/>
              <a:t>在“数据库属性</a:t>
            </a:r>
            <a:r>
              <a:rPr lang="en-US" altLang="zh-CN"/>
              <a:t>-pxscj</a:t>
            </a:r>
            <a:r>
              <a:rPr lang="zh-CN" altLang="zh-CN"/>
              <a:t>”窗口中的“选项页”列表中选择“文件”，在右边的“初始大小”列中输入要修改的数据，也可修改增长方式。修改方法与创建数据库相同。</a:t>
            </a:r>
            <a:endParaRPr lang="zh-CN" altLang="zh-CN"/>
          </a:p>
          <a:p>
            <a:pPr eaLnBrk="1" fontAlgn="ctr" hangingPunct="1">
              <a:lnSpc>
                <a:spcPct val="150000"/>
              </a:lnSpc>
            </a:pPr>
            <a:r>
              <a:rPr lang="zh-CN" altLang="zh-CN"/>
              <a:t>（</a:t>
            </a:r>
            <a:r>
              <a:rPr lang="en-US" altLang="zh-CN"/>
              <a:t>2</a:t>
            </a:r>
            <a:r>
              <a:rPr lang="zh-CN" altLang="zh-CN"/>
              <a:t>）增加或删除辅助数据文件</a:t>
            </a:r>
            <a:endParaRPr lang="zh-CN" altLang="zh-CN"/>
          </a:p>
          <a:p>
            <a:pPr eaLnBrk="1" fontAlgn="ctr" hangingPunct="1">
              <a:lnSpc>
                <a:spcPct val="150000"/>
              </a:lnSpc>
            </a:pPr>
            <a:r>
              <a:rPr lang="zh-CN" altLang="zh-CN"/>
              <a:t>当原有数据库的存储空间不够大时，除了可以扩大原有数据文件存储容量外，还可以增加新的数据文件（称为辅助数据文件）。</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19459" name="TextBox 2"/>
          <p:cNvSpPr txBox="1">
            <a:spLocks noChangeArrowheads="1"/>
          </p:cNvSpPr>
          <p:nvPr/>
        </p:nvSpPr>
        <p:spPr bwMode="auto">
          <a:xfrm>
            <a:off x="395288" y="1557338"/>
            <a:ext cx="8280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2.2</a:t>
            </a:r>
            <a:r>
              <a:rPr lang="zh-CN" altLang="zh-CN"/>
              <a:t>】 在</a:t>
            </a:r>
            <a:r>
              <a:rPr lang="en-US" altLang="zh-CN"/>
              <a:t>pxscj</a:t>
            </a:r>
            <a:r>
              <a:rPr lang="zh-CN" altLang="zh-CN"/>
              <a:t>数据库中增加数据文件</a:t>
            </a:r>
            <a:r>
              <a:rPr lang="en-US" altLang="zh-CN"/>
              <a:t>pxscj_2</a:t>
            </a:r>
            <a:r>
              <a:rPr lang="zh-CN" altLang="zh-CN"/>
              <a:t>，其属性均取系统默认值。</a:t>
            </a:r>
            <a:endParaRPr lang="zh-CN" altLang="zh-CN"/>
          </a:p>
          <a:p>
            <a:pPr eaLnBrk="1" fontAlgn="ctr" hangingPunct="1"/>
            <a:r>
              <a:rPr lang="zh-CN" altLang="zh-CN"/>
              <a:t>操作方法如下：</a:t>
            </a:r>
            <a:endParaRPr lang="zh-CN" altLang="zh-CN"/>
          </a:p>
          <a:p>
            <a:pPr eaLnBrk="1" fontAlgn="ctr" hangingPunct="1"/>
            <a:r>
              <a:rPr lang="zh-CN" altLang="zh-CN"/>
              <a:t>打开“数据库属性</a:t>
            </a:r>
            <a:r>
              <a:rPr lang="en-US" altLang="zh-CN"/>
              <a:t>-pxscj</a:t>
            </a:r>
            <a:r>
              <a:rPr lang="zh-CN" altLang="zh-CN"/>
              <a:t>”窗口，在“选项页”列表中选择“文件”选项页，单击右下角的“添加”按钮，会在数据库文件下方新增加一行文件项，如图</a:t>
            </a:r>
            <a:r>
              <a:rPr lang="en-US" altLang="zh-CN"/>
              <a:t>2.6</a:t>
            </a:r>
            <a:r>
              <a:rPr lang="zh-CN" altLang="zh-CN"/>
              <a:t>所示。</a:t>
            </a:r>
            <a:endParaRPr lang="zh-CN" altLang="zh-CN"/>
          </a:p>
          <a:p>
            <a:pPr eaLnBrk="1" hangingPunct="1"/>
            <a:endParaRPr lang="zh-CN" altLang="en-US"/>
          </a:p>
        </p:txBody>
      </p:sp>
      <p:pic>
        <p:nvPicPr>
          <p:cNvPr id="194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3306763"/>
            <a:ext cx="60420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diamon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20483" name="TextBox 2"/>
          <p:cNvSpPr txBox="1">
            <a:spLocks noChangeArrowheads="1"/>
          </p:cNvSpPr>
          <p:nvPr/>
        </p:nvSpPr>
        <p:spPr bwMode="auto">
          <a:xfrm>
            <a:off x="468313" y="1341438"/>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3</a:t>
            </a:r>
            <a:r>
              <a:rPr lang="zh-CN" altLang="zh-CN"/>
              <a:t>）增加或删除文件组</a:t>
            </a:r>
            <a:endParaRPr lang="zh-CN" altLang="zh-CN"/>
          </a:p>
          <a:p>
            <a:pPr eaLnBrk="1" fontAlgn="ctr" hangingPunct="1"/>
            <a:r>
              <a:rPr lang="zh-CN" altLang="zh-CN"/>
              <a:t>数据库管理员（</a:t>
            </a:r>
            <a:r>
              <a:rPr lang="en-US" altLang="zh-CN"/>
              <a:t>DBA</a:t>
            </a:r>
            <a:r>
              <a:rPr lang="zh-CN" altLang="zh-CN"/>
              <a:t>）从系统管理策略角度出发，有时可能需要增加或删除文件组。这里以示例说明其操作方法。</a:t>
            </a:r>
            <a:endParaRPr lang="zh-CN" altLang="zh-CN"/>
          </a:p>
          <a:p>
            <a:pPr eaLnBrk="1" fontAlgn="ctr" hangingPunct="1"/>
            <a:r>
              <a:rPr lang="zh-CN" altLang="zh-CN"/>
              <a:t>【例</a:t>
            </a:r>
            <a:r>
              <a:rPr lang="en-US" altLang="zh-CN"/>
              <a:t>2.3</a:t>
            </a:r>
            <a:r>
              <a:rPr lang="zh-CN" altLang="zh-CN"/>
              <a:t>】 在数据库</a:t>
            </a:r>
            <a:r>
              <a:rPr lang="en-US" altLang="zh-CN"/>
              <a:t>pxscj</a:t>
            </a:r>
            <a:r>
              <a:rPr lang="zh-CN" altLang="zh-CN"/>
              <a:t>中增加一个名为</a:t>
            </a:r>
            <a:r>
              <a:rPr lang="en-US" altLang="zh-CN"/>
              <a:t>FGroup</a:t>
            </a:r>
            <a:r>
              <a:rPr lang="zh-CN" altLang="zh-CN"/>
              <a:t>的文件组。</a:t>
            </a:r>
            <a:endParaRPr lang="zh-CN" altLang="zh-CN"/>
          </a:p>
          <a:p>
            <a:pPr eaLnBrk="1" fontAlgn="ctr" hangingPunct="1"/>
            <a:r>
              <a:rPr lang="zh-CN" altLang="zh-CN"/>
              <a:t>操作方法如下：</a:t>
            </a:r>
            <a:endParaRPr lang="zh-CN" altLang="zh-CN"/>
          </a:p>
          <a:p>
            <a:pPr eaLnBrk="1" fontAlgn="ctr" hangingPunct="1"/>
            <a:r>
              <a:rPr lang="zh-CN" altLang="zh-CN"/>
              <a:t>打开“数据库属性”窗口，选择“文件组”选项页。单击右下角的“添加”按钮，这时在“</a:t>
            </a:r>
            <a:r>
              <a:rPr lang="en-US" altLang="zh-CN"/>
              <a:t>PRIMARY</a:t>
            </a:r>
            <a:r>
              <a:rPr lang="zh-CN" altLang="zh-CN"/>
              <a:t>”行的下面会出现新的一行。在该行的“名称”列输入“</a:t>
            </a:r>
            <a:r>
              <a:rPr lang="en-US" altLang="zh-CN"/>
              <a:t>MyFGroup</a:t>
            </a:r>
            <a:r>
              <a:rPr lang="zh-CN" altLang="zh-CN"/>
              <a:t>”，单击“确定”按钮，如图</a:t>
            </a:r>
            <a:r>
              <a:rPr lang="en-US" altLang="zh-CN"/>
              <a:t>2.7</a:t>
            </a:r>
            <a:r>
              <a:rPr lang="zh-CN" altLang="zh-CN"/>
              <a:t>所示。</a:t>
            </a:r>
            <a:endParaRPr lang="zh-CN" altLang="zh-CN"/>
          </a:p>
          <a:p>
            <a:pPr eaLnBrk="1" hangingPunct="1"/>
            <a:endParaRPr lang="zh-CN" altLang="en-US"/>
          </a:p>
        </p:txBody>
      </p:sp>
      <p:pic>
        <p:nvPicPr>
          <p:cNvPr id="204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3573463"/>
            <a:ext cx="3554412"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21507" name="TextBox 2"/>
          <p:cNvSpPr txBox="1">
            <a:spLocks noChangeArrowheads="1"/>
          </p:cNvSpPr>
          <p:nvPr/>
        </p:nvSpPr>
        <p:spPr bwMode="auto">
          <a:xfrm>
            <a:off x="468313" y="1484313"/>
            <a:ext cx="82073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当增加了文件组后，就可以在新增文件组中加入数据文件了。</a:t>
            </a:r>
            <a:endParaRPr lang="zh-CN" altLang="zh-CN"/>
          </a:p>
          <a:p>
            <a:pPr eaLnBrk="1" fontAlgn="ctr" hangingPunct="1"/>
            <a:r>
              <a:rPr lang="zh-CN" altLang="zh-CN"/>
              <a:t>例如，在</a:t>
            </a:r>
            <a:r>
              <a:rPr lang="en-US" altLang="zh-CN"/>
              <a:t>pxscj</a:t>
            </a:r>
            <a:r>
              <a:rPr lang="zh-CN" altLang="zh-CN"/>
              <a:t>数据库新增的文件组</a:t>
            </a:r>
            <a:r>
              <a:rPr lang="en-US" altLang="zh-CN"/>
              <a:t>MyFGroup</a:t>
            </a:r>
            <a:r>
              <a:rPr lang="zh-CN" altLang="zh-CN"/>
              <a:t>中增加数据文件</a:t>
            </a:r>
            <a:r>
              <a:rPr lang="en-US" altLang="zh-CN"/>
              <a:t>pxscj2</a:t>
            </a:r>
            <a:r>
              <a:rPr lang="zh-CN" altLang="zh-CN"/>
              <a:t>。</a:t>
            </a:r>
            <a:endParaRPr lang="zh-CN" altLang="zh-CN"/>
          </a:p>
          <a:p>
            <a:pPr eaLnBrk="1" fontAlgn="ctr" hangingPunct="1"/>
            <a:r>
              <a:rPr lang="zh-CN" altLang="zh-CN"/>
              <a:t>操作方法为：选择“文件”选项页，按增加数据文件的操作方法添加数据文件。在“文件组”下拉框中选择“</a:t>
            </a:r>
            <a:r>
              <a:rPr lang="en-US" altLang="zh-CN"/>
              <a:t>MyFGroup</a:t>
            </a:r>
            <a:r>
              <a:rPr lang="zh-CN" altLang="zh-CN"/>
              <a:t>”，如图</a:t>
            </a:r>
            <a:r>
              <a:rPr lang="en-US" altLang="zh-CN"/>
              <a:t>2.8</a:t>
            </a:r>
            <a:r>
              <a:rPr lang="zh-CN" altLang="zh-CN"/>
              <a:t>所示，单击“确定”按钮。</a:t>
            </a:r>
            <a:endParaRPr lang="zh-CN" altLang="zh-CN"/>
          </a:p>
          <a:p>
            <a:pPr eaLnBrk="1" hangingPunct="1"/>
            <a:endParaRPr lang="zh-CN" altLang="en-US"/>
          </a:p>
        </p:txBody>
      </p:sp>
      <p:pic>
        <p:nvPicPr>
          <p:cNvPr id="2150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2924175"/>
            <a:ext cx="6249987"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3"/>
          <p:cNvSpPr txBox="1">
            <a:spLocks noChangeArrowheads="1"/>
          </p:cNvSpPr>
          <p:nvPr/>
        </p:nvSpPr>
        <p:spPr bwMode="auto">
          <a:xfrm>
            <a:off x="468313" y="4724400"/>
            <a:ext cx="820737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4</a:t>
            </a:r>
            <a:r>
              <a:rPr lang="zh-CN" altLang="zh-CN"/>
              <a:t>）数据库的重命名</a:t>
            </a:r>
            <a:endParaRPr lang="zh-CN" altLang="zh-CN"/>
          </a:p>
          <a:p>
            <a:pPr eaLnBrk="1" fontAlgn="ctr" hangingPunct="1"/>
            <a:r>
              <a:rPr lang="zh-CN" altLang="zh-CN"/>
              <a:t>在“对象资源管理器”窗口中展开“数据库”，选择要重命名的数据库，右键单击鼠标，在弹出的快捷菜单中选择“重命名”菜单项，输入新的数据库名称，即可更改数据库的名称。</a:t>
            </a:r>
            <a:endParaRPr lang="zh-CN" altLang="en-US"/>
          </a:p>
        </p:txBody>
      </p:sp>
    </p:spTree>
  </p:cSld>
  <p:clrMapOvr>
    <a:masterClrMapping/>
  </p:clrMapOvr>
  <p:transition spd="slow">
    <p:diamon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2.2.2  </a:t>
            </a:r>
            <a:r>
              <a:rPr lang="zh-CN" altLang="zh-CN" dirty="0">
                <a:effectLst/>
              </a:rPr>
              <a:t>数据库的修改和删除</a:t>
            </a:r>
            <a:endParaRPr lang="zh-CN" altLang="en-US" dirty="0"/>
          </a:p>
        </p:txBody>
      </p:sp>
      <p:sp>
        <p:nvSpPr>
          <p:cNvPr id="22531" name="TextBox 2"/>
          <p:cNvSpPr txBox="1">
            <a:spLocks noChangeArrowheads="1"/>
          </p:cNvSpPr>
          <p:nvPr/>
        </p:nvSpPr>
        <p:spPr bwMode="auto">
          <a:xfrm>
            <a:off x="487363" y="1196975"/>
            <a:ext cx="820896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．数据库的删除</a:t>
            </a:r>
            <a:endParaRPr lang="zh-CN" altLang="zh-CN" b="1">
              <a:solidFill>
                <a:srgbClr val="C00000"/>
              </a:solidFill>
            </a:endParaRPr>
          </a:p>
          <a:p>
            <a:pPr eaLnBrk="1" fontAlgn="ctr" hangingPunct="1"/>
            <a:r>
              <a:rPr lang="zh-CN" altLang="zh-CN"/>
              <a:t>【例</a:t>
            </a:r>
            <a:r>
              <a:rPr lang="en-US" altLang="zh-CN"/>
              <a:t>2.4</a:t>
            </a:r>
            <a:r>
              <a:rPr lang="zh-CN" altLang="zh-CN"/>
              <a:t>】 删除</a:t>
            </a:r>
            <a:r>
              <a:rPr lang="en-US" altLang="zh-CN"/>
              <a:t>pxscj</a:t>
            </a:r>
            <a:r>
              <a:rPr lang="zh-CN" altLang="zh-CN"/>
              <a:t>数据库。</a:t>
            </a:r>
            <a:endParaRPr lang="zh-CN" altLang="zh-CN"/>
          </a:p>
          <a:p>
            <a:pPr eaLnBrk="1" fontAlgn="ctr" hangingPunct="1"/>
            <a:r>
              <a:rPr lang="zh-CN" altLang="zh-CN"/>
              <a:t>在“对象资源管理器”中选择要删除的数据库“</a:t>
            </a:r>
            <a:r>
              <a:rPr lang="en-US" altLang="zh-CN"/>
              <a:t>pxscj</a:t>
            </a:r>
            <a:r>
              <a:rPr lang="zh-CN" altLang="zh-CN"/>
              <a:t>”，右键单击鼠标，在弹出的快捷菜单中选择“删除”菜单项，打开如图</a:t>
            </a:r>
            <a:r>
              <a:rPr lang="en-US" altLang="zh-CN"/>
              <a:t>2.9</a:t>
            </a:r>
            <a:r>
              <a:rPr lang="zh-CN" altLang="zh-CN"/>
              <a:t>所示的“删除对象”对话框，单击右下角的“确定”按钮即可删除数据库</a:t>
            </a:r>
            <a:r>
              <a:rPr lang="en-US" altLang="zh-CN"/>
              <a:t>pxscj</a:t>
            </a:r>
            <a:r>
              <a:rPr lang="zh-CN" altLang="zh-CN"/>
              <a:t>。</a:t>
            </a:r>
            <a:endParaRPr lang="zh-CN" altLang="zh-CN"/>
          </a:p>
          <a:p>
            <a:pPr eaLnBrk="1" hangingPunct="1"/>
            <a:endParaRPr lang="zh-CN" altLang="en-US"/>
          </a:p>
        </p:txBody>
      </p:sp>
      <p:pic>
        <p:nvPicPr>
          <p:cNvPr id="2253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2636838"/>
            <a:ext cx="4391025"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284538"/>
            <a:ext cx="7704137"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2.3  </a:t>
            </a:r>
            <a:r>
              <a:rPr lang="zh-CN" altLang="zh-CN" dirty="0">
                <a:effectLst/>
              </a:rPr>
              <a:t>命令方式创建数据库</a:t>
            </a:r>
            <a:endParaRPr lang="zh-CN" altLang="zh-CN" dirty="0">
              <a:effectLst/>
            </a:endParaRPr>
          </a:p>
        </p:txBody>
      </p:sp>
      <p:sp>
        <p:nvSpPr>
          <p:cNvPr id="3" name="TextBox 2"/>
          <p:cNvSpPr txBox="1"/>
          <p:nvPr/>
        </p:nvSpPr>
        <p:spPr>
          <a:xfrm>
            <a:off x="468313" y="1484313"/>
            <a:ext cx="8135937" cy="4846320"/>
          </a:xfrm>
          <a:prstGeom prst="rect">
            <a:avLst/>
          </a:prstGeom>
          <a:noFill/>
        </p:spPr>
        <p:txBody>
          <a:bodyPr>
            <a:spAutoFit/>
          </a:bodyPr>
          <a:lstStyle/>
          <a:p>
            <a:pPr indent="446405" fontAlgn="auto">
              <a:lnSpc>
                <a:spcPct val="150000"/>
              </a:lnSpc>
              <a:spcBef>
                <a:spcPts val="0"/>
              </a:spcBef>
              <a:spcAft>
                <a:spcPts val="0"/>
              </a:spcAft>
              <a:defRPr/>
            </a:pPr>
            <a:r>
              <a:rPr lang="en-US" altLang="zh-CN" sz="2000" b="1" dirty="0">
                <a:latin typeface="+mn-lt"/>
                <a:ea typeface="+mn-ea"/>
              </a:rPr>
              <a:t>2.3.1  </a:t>
            </a:r>
            <a:r>
              <a:rPr lang="zh-CN" altLang="zh-CN" sz="2000" b="1" dirty="0">
                <a:latin typeface="+mn-lt"/>
                <a:ea typeface="+mn-ea"/>
              </a:rPr>
              <a:t>创建数据库：</a:t>
            </a:r>
            <a:r>
              <a:rPr lang="en-US" altLang="zh-CN" sz="2000" b="1" dirty="0">
                <a:latin typeface="+mn-lt"/>
                <a:ea typeface="+mn-ea"/>
              </a:rPr>
              <a:t>CREATE DATABASE</a:t>
            </a:r>
            <a:endParaRPr lang="zh-CN" altLang="zh-CN" sz="2000" b="1" dirty="0">
              <a:latin typeface="+mn-lt"/>
              <a:ea typeface="+mn-ea"/>
            </a:endParaRPr>
          </a:p>
          <a:p>
            <a:pPr indent="446405" fontAlgn="ctr">
              <a:lnSpc>
                <a:spcPct val="150000"/>
              </a:lnSpc>
              <a:spcBef>
                <a:spcPts val="0"/>
              </a:spcBef>
              <a:spcAft>
                <a:spcPts val="0"/>
              </a:spcAft>
              <a:defRPr/>
            </a:pPr>
            <a:r>
              <a:rPr lang="zh-CN" altLang="zh-CN" dirty="0">
                <a:latin typeface="+mn-lt"/>
                <a:ea typeface="+mn-ea"/>
              </a:rPr>
              <a:t>命令方式创建数据库使用</a:t>
            </a:r>
            <a:r>
              <a:rPr lang="en-US" altLang="zh-CN" dirty="0">
                <a:latin typeface="+mn-lt"/>
                <a:ea typeface="+mn-ea"/>
              </a:rPr>
              <a:t>CREATE DATABASE</a:t>
            </a:r>
            <a:r>
              <a:rPr lang="zh-CN" altLang="zh-CN" dirty="0">
                <a:latin typeface="+mn-lt"/>
                <a:ea typeface="+mn-ea"/>
              </a:rPr>
              <a:t>命令，创建前要确保用户具有创建数据库的权限。</a:t>
            </a:r>
            <a:endParaRPr lang="zh-CN" altLang="zh-CN" dirty="0">
              <a:latin typeface="+mn-lt"/>
              <a:ea typeface="+mn-ea"/>
            </a:endParaRPr>
          </a:p>
          <a:p>
            <a:pPr indent="446405" fontAlgn="ctr">
              <a:lnSpc>
                <a:spcPct val="150000"/>
              </a:lnSpc>
              <a:spcBef>
                <a:spcPts val="0"/>
              </a:spcBef>
              <a:spcAft>
                <a:spcPts val="0"/>
              </a:spcAft>
              <a:defRPr/>
            </a:pPr>
            <a:r>
              <a:rPr lang="en-US" altLang="zh-CN" dirty="0">
                <a:highlight>
                  <a:srgbClr val="FFFF00"/>
                </a:highlight>
                <a:latin typeface="+mn-lt"/>
                <a:ea typeface="+mn-ea"/>
              </a:rPr>
              <a:t>CREATE DATABASE</a:t>
            </a:r>
            <a:r>
              <a:rPr lang="zh-CN" altLang="zh-CN" dirty="0">
                <a:highlight>
                  <a:srgbClr val="FFFF00"/>
                </a:highlight>
                <a:latin typeface="+mn-lt"/>
                <a:ea typeface="+mn-ea"/>
              </a:rPr>
              <a:t>命令主要格式如下：</a:t>
            </a:r>
            <a:endParaRPr lang="zh-CN" altLang="zh-CN" dirty="0">
              <a:highlight>
                <a:srgbClr val="FFFF00"/>
              </a:highlight>
              <a:latin typeface="+mn-lt"/>
              <a:ea typeface="+mn-ea"/>
            </a:endParaRPr>
          </a:p>
          <a:p>
            <a:pPr indent="446405" fontAlgn="auto">
              <a:spcBef>
                <a:spcPts val="0"/>
              </a:spcBef>
              <a:spcAft>
                <a:spcPts val="0"/>
              </a:spcAft>
              <a:defRPr/>
            </a:pPr>
            <a:r>
              <a:rPr lang="en-US" altLang="zh-CN" dirty="0">
                <a:latin typeface="+mn-lt"/>
                <a:ea typeface="+mn-ea"/>
              </a:rPr>
              <a:t>CREATE DATABASE</a:t>
            </a:r>
            <a:r>
              <a:rPr lang="zh-CN" altLang="zh-CN" dirty="0">
                <a:latin typeface="+mn-lt"/>
                <a:ea typeface="+mn-ea"/>
              </a:rPr>
              <a:t>数据库名</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ON</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&lt;</a:t>
            </a:r>
            <a:r>
              <a:rPr lang="zh-CN" altLang="zh-CN" dirty="0">
                <a:latin typeface="+mn-lt"/>
                <a:ea typeface="+mn-ea"/>
              </a:rPr>
              <a:t>数据文件选项</a:t>
            </a:r>
            <a:r>
              <a:rPr lang="en-US" altLang="zh-CN" dirty="0">
                <a:latin typeface="+mn-lt"/>
                <a:ea typeface="+mn-ea"/>
              </a:rPr>
              <a:t>&gt;] </a:t>
            </a:r>
            <a:endParaRPr lang="en-US" altLang="zh-CN" dirty="0">
              <a:latin typeface="+mn-lt"/>
              <a:ea typeface="+mn-ea"/>
            </a:endParaRPr>
          </a:p>
          <a:p>
            <a:pPr indent="446405" fontAlgn="auto">
              <a:spcBef>
                <a:spcPts val="0"/>
              </a:spcBef>
              <a:spcAft>
                <a:spcPts val="0"/>
              </a:spcAft>
              <a:defRPr/>
            </a:pPr>
            <a:r>
              <a:rPr lang="en-US" altLang="zh-CN" dirty="0">
                <a:latin typeface="+mn-lt"/>
                <a:ea typeface="+mn-ea"/>
              </a:rPr>
              <a:t>     {</a:t>
            </a:r>
            <a:r>
              <a:rPr lang="en-US" altLang="zh-CN" dirty="0">
                <a:latin typeface="+mn-lt"/>
                <a:ea typeface="+mn-ea"/>
                <a:sym typeface="+mn-ea"/>
              </a:rPr>
              <a:t> &lt;</a:t>
            </a:r>
            <a:r>
              <a:rPr lang="zh-CN" altLang="zh-CN" dirty="0">
                <a:latin typeface="+mn-lt"/>
                <a:ea typeface="+mn-ea"/>
                <a:sym typeface="+mn-ea"/>
              </a:rPr>
              <a:t>数据文件</a:t>
            </a:r>
            <a:r>
              <a:rPr lang="zh-CN" altLang="zh-CN" dirty="0">
                <a:latin typeface="+mn-lt"/>
                <a:ea typeface="+mn-ea"/>
                <a:sym typeface="+mn-ea"/>
              </a:rPr>
              <a:t>组选项</a:t>
            </a:r>
            <a:r>
              <a:rPr lang="en-US" altLang="zh-CN" dirty="0">
                <a:latin typeface="+mn-lt"/>
                <a:ea typeface="+mn-ea"/>
                <a:sym typeface="+mn-ea"/>
              </a:rPr>
              <a:t>&gt;}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LOG ON </a:t>
            </a:r>
            <a:endParaRPr lang="en-US" altLang="zh-CN" dirty="0">
              <a:latin typeface="+mn-lt"/>
              <a:ea typeface="+mn-ea"/>
            </a:endParaRPr>
          </a:p>
          <a:p>
            <a:pPr indent="446405" fontAlgn="auto">
              <a:spcBef>
                <a:spcPts val="0"/>
              </a:spcBef>
              <a:spcAft>
                <a:spcPts val="0"/>
              </a:spcAft>
              <a:defRPr/>
            </a:pPr>
            <a:r>
              <a:rPr lang="en-US" altLang="zh-CN" dirty="0">
                <a:latin typeface="+mn-lt"/>
                <a:ea typeface="+mn-ea"/>
              </a:rPr>
              <a:t>     { &lt;</a:t>
            </a:r>
            <a:r>
              <a:rPr lang="zh-CN" altLang="zh-CN" dirty="0">
                <a:latin typeface="+mn-lt"/>
                <a:ea typeface="+mn-ea"/>
              </a:rPr>
              <a:t>日志文件选项</a:t>
            </a:r>
            <a:r>
              <a:rPr lang="en-US" altLang="zh-CN" dirty="0">
                <a:latin typeface="+mn-lt"/>
                <a:ea typeface="+mn-ea"/>
              </a:rPr>
              <a:t>&gt; ... } </a:t>
            </a:r>
            <a:endParaRPr lang="en-US"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en-US" altLang="zh-CN" dirty="0">
              <a:latin typeface="+mn-lt"/>
              <a:ea typeface="+mn-ea"/>
            </a:endParaRPr>
          </a:p>
          <a:p>
            <a:pPr indent="446405" fontAlgn="auto">
              <a:spcBef>
                <a:spcPts val="0"/>
              </a:spcBef>
              <a:spcAft>
                <a:spcPts val="0"/>
              </a:spcAft>
              <a:defRPr/>
            </a:pP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diamon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492375"/>
            <a:ext cx="7704137"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2.3.1  </a:t>
            </a:r>
            <a:r>
              <a:rPr lang="zh-CN" altLang="zh-CN" dirty="0">
                <a:effectLst/>
              </a:rPr>
              <a:t>创建数据库：</a:t>
            </a:r>
            <a:r>
              <a:rPr lang="en-US" altLang="zh-CN" dirty="0">
                <a:effectLst/>
              </a:rPr>
              <a:t>CREATE </a:t>
            </a:r>
            <a:r>
              <a:rPr lang="en-US" altLang="zh-CN" dirty="0" smtClean="0">
                <a:effectLst/>
              </a:rPr>
              <a:t>DATABASE</a:t>
            </a:r>
            <a:endParaRPr lang="zh-CN" altLang="en-US" dirty="0"/>
          </a:p>
        </p:txBody>
      </p:sp>
      <p:sp>
        <p:nvSpPr>
          <p:cNvPr id="24580" name="TextBox 2"/>
          <p:cNvSpPr txBox="1">
            <a:spLocks noChangeArrowheads="1"/>
          </p:cNvSpPr>
          <p:nvPr/>
        </p:nvSpPr>
        <p:spPr bwMode="auto">
          <a:xfrm>
            <a:off x="468313" y="1484630"/>
            <a:ext cx="8135937" cy="563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．文件选项</a:t>
            </a:r>
            <a:endParaRPr lang="zh-CN" altLang="zh-CN" b="1">
              <a:solidFill>
                <a:srgbClr val="C00000"/>
              </a:solidFill>
            </a:endParaRPr>
          </a:p>
          <a:p>
            <a:pPr eaLnBrk="1" fontAlgn="ctr" hangingPunct="1">
              <a:lnSpc>
                <a:spcPct val="150000"/>
              </a:lnSpc>
            </a:pPr>
            <a:r>
              <a:rPr lang="zh-CN" altLang="zh-CN"/>
              <a:t>其中，</a:t>
            </a:r>
            <a:r>
              <a:rPr lang="en-US" altLang="zh-CN"/>
              <a:t>&lt;</a:t>
            </a:r>
            <a:r>
              <a:rPr lang="zh-CN" altLang="zh-CN"/>
              <a:t>文件选项</a:t>
            </a:r>
            <a:r>
              <a:rPr lang="en-US" altLang="zh-CN"/>
              <a:t>&gt; </a:t>
            </a:r>
            <a:r>
              <a:rPr lang="zh-CN" altLang="zh-CN"/>
              <a:t>格式为：</a:t>
            </a:r>
            <a:endParaRPr lang="zh-CN" altLang="zh-CN"/>
          </a:p>
          <a:p>
            <a:pPr eaLnBrk="1" hangingPunct="1"/>
            <a:r>
              <a:rPr lang="en-US" altLang="zh-CN"/>
              <a:t>{  (</a:t>
            </a:r>
            <a:endParaRPr lang="zh-CN" altLang="zh-CN"/>
          </a:p>
          <a:p>
            <a:pPr eaLnBrk="1" hangingPunct="1"/>
            <a:r>
              <a:rPr lang="en-US" altLang="zh-CN"/>
              <a:t>    NAME =</a:t>
            </a:r>
            <a:r>
              <a:rPr lang="zh-CN" altLang="zh-CN"/>
              <a:t>逻辑文件名</a:t>
            </a:r>
            <a:r>
              <a:rPr lang="en-US" altLang="zh-CN"/>
              <a:t>,</a:t>
            </a:r>
            <a:endParaRPr lang="zh-CN" altLang="zh-CN"/>
          </a:p>
          <a:p>
            <a:pPr eaLnBrk="1" hangingPunct="1"/>
            <a:r>
              <a:rPr lang="en-US" altLang="zh-CN"/>
              <a:t>    FILENAME = { '</a:t>
            </a:r>
            <a:r>
              <a:rPr lang="zh-CN" altLang="zh-CN"/>
              <a:t>操作系统文件名</a:t>
            </a:r>
            <a:r>
              <a:rPr lang="en-US" altLang="zh-CN"/>
              <a:t>' | '</a:t>
            </a:r>
            <a:r>
              <a:rPr lang="zh-CN" altLang="zh-CN"/>
              <a:t>存储路径</a:t>
            </a:r>
            <a:r>
              <a:rPr lang="en-US" altLang="zh-CN"/>
              <a:t>' } </a:t>
            </a:r>
            <a:endParaRPr lang="zh-CN" altLang="zh-CN"/>
          </a:p>
          <a:p>
            <a:pPr eaLnBrk="1" hangingPunct="1"/>
            <a:r>
              <a:rPr lang="en-US" altLang="zh-CN"/>
              <a:t>     [  SIZE =</a:t>
            </a:r>
            <a:r>
              <a:rPr lang="zh-CN" altLang="zh-CN"/>
              <a:t>文件初始容量</a:t>
            </a:r>
            <a:r>
              <a:rPr lang="en-US" altLang="zh-CN"/>
              <a:t>]</a:t>
            </a:r>
            <a:endParaRPr lang="zh-CN" altLang="zh-CN"/>
          </a:p>
          <a:p>
            <a:pPr eaLnBrk="1" hangingPunct="1"/>
            <a:r>
              <a:rPr lang="en-US" altLang="zh-CN"/>
              <a:t>     [  MAXSIZE = { </a:t>
            </a:r>
            <a:r>
              <a:rPr lang="zh-CN" altLang="zh-CN"/>
              <a:t>文件最大容量 </a:t>
            </a:r>
            <a:r>
              <a:rPr lang="en-US" altLang="zh-CN"/>
              <a:t>| </a:t>
            </a:r>
            <a:r>
              <a:rPr lang="en-US" altLang="zh-CN">
                <a:highlight>
                  <a:srgbClr val="FFFF00"/>
                </a:highlight>
              </a:rPr>
              <a:t>UNLIMITED</a:t>
            </a:r>
            <a:r>
              <a:rPr lang="en-US" altLang="zh-CN"/>
              <a:t> } ]</a:t>
            </a:r>
            <a:endParaRPr lang="zh-CN" altLang="zh-CN"/>
          </a:p>
          <a:p>
            <a:pPr eaLnBrk="1" hangingPunct="1"/>
            <a:r>
              <a:rPr lang="en-US" altLang="zh-CN"/>
              <a:t>     [ FILEGROWTH = </a:t>
            </a:r>
            <a:r>
              <a:rPr lang="zh-CN" altLang="zh-CN"/>
              <a:t>文件增量</a:t>
            </a:r>
            <a:r>
              <a:rPr lang="en-US" altLang="zh-CN"/>
              <a:t>[</a:t>
            </a:r>
            <a:r>
              <a:rPr lang="zh-CN" altLang="zh-CN"/>
              <a:t>容量 </a:t>
            </a:r>
            <a:r>
              <a:rPr lang="en-US" altLang="zh-CN"/>
              <a:t>| % ] ]</a:t>
            </a:r>
            <a:endParaRPr lang="zh-CN" altLang="zh-CN"/>
          </a:p>
          <a:p>
            <a:pPr eaLnBrk="1" hangingPunct="1"/>
            <a:r>
              <a:rPr lang="en-US" altLang="zh-CN"/>
              <a:t>  ) </a:t>
            </a:r>
            <a:endParaRPr lang="zh-CN" altLang="zh-CN"/>
          </a:p>
          <a:p>
            <a:pPr eaLnBrk="1" hangingPunct="1"/>
            <a:r>
              <a:rPr lang="en-US" altLang="zh-CN"/>
              <a:t>}</a:t>
            </a:r>
            <a:endParaRPr lang="en-US" altLang="zh-CN"/>
          </a:p>
          <a:p>
            <a:pPr eaLnBrk="1" hangingPunct="1">
              <a:lnSpc>
                <a:spcPct val="150000"/>
              </a:lnSpc>
            </a:pPr>
            <a:r>
              <a:rPr lang="en-US" altLang="zh-CN" b="1">
                <a:solidFill>
                  <a:srgbClr val="C00000"/>
                </a:solidFill>
                <a:sym typeface="+mn-ea"/>
              </a:rPr>
              <a:t>2</a:t>
            </a:r>
            <a:r>
              <a:rPr lang="zh-CN" altLang="zh-CN" b="1">
                <a:solidFill>
                  <a:srgbClr val="C00000"/>
                </a:solidFill>
                <a:sym typeface="+mn-ea"/>
              </a:rPr>
              <a:t>．文件组选项</a:t>
            </a:r>
            <a:endParaRPr lang="zh-CN" altLang="zh-CN" b="1">
              <a:solidFill>
                <a:srgbClr val="C00000"/>
              </a:solidFill>
            </a:endParaRPr>
          </a:p>
          <a:p>
            <a:pPr eaLnBrk="1" fontAlgn="ctr" hangingPunct="1">
              <a:lnSpc>
                <a:spcPct val="150000"/>
              </a:lnSpc>
            </a:pPr>
            <a:r>
              <a:rPr lang="en-US" altLang="zh-CN">
                <a:sym typeface="+mn-ea"/>
              </a:rPr>
              <a:t>&lt;</a:t>
            </a:r>
            <a:r>
              <a:rPr lang="zh-CN" altLang="zh-CN">
                <a:sym typeface="+mn-ea"/>
              </a:rPr>
              <a:t>文件组选项</a:t>
            </a:r>
            <a:r>
              <a:rPr lang="en-US" altLang="zh-CN">
                <a:sym typeface="+mn-ea"/>
              </a:rPr>
              <a:t>&gt;</a:t>
            </a:r>
            <a:r>
              <a:rPr lang="zh-CN" altLang="zh-CN">
                <a:sym typeface="+mn-ea"/>
              </a:rPr>
              <a:t>格式为：</a:t>
            </a:r>
            <a:endParaRPr lang="zh-CN" altLang="zh-CN"/>
          </a:p>
          <a:p>
            <a:pPr eaLnBrk="1" hangingPunct="1"/>
            <a:r>
              <a:rPr lang="en-US" altLang="zh-CN">
                <a:sym typeface="+mn-ea"/>
              </a:rPr>
              <a:t>{</a:t>
            </a:r>
            <a:endParaRPr lang="zh-CN" altLang="zh-CN"/>
          </a:p>
          <a:p>
            <a:pPr eaLnBrk="1" hangingPunct="1"/>
            <a:r>
              <a:rPr lang="en-US" altLang="zh-CN">
                <a:sym typeface="+mn-ea"/>
              </a:rPr>
              <a:t>      FILEGROUP</a:t>
            </a:r>
            <a:r>
              <a:rPr lang="zh-CN" altLang="zh-CN">
                <a:sym typeface="+mn-ea"/>
              </a:rPr>
              <a:t>文件组名</a:t>
            </a:r>
            <a:r>
              <a:rPr lang="en-US" altLang="zh-CN">
                <a:sym typeface="+mn-ea"/>
              </a:rPr>
              <a:t>[ </a:t>
            </a:r>
            <a:r>
              <a:rPr lang="en-US" altLang="zh-CN">
                <a:highlight>
                  <a:srgbClr val="FFFF00"/>
                </a:highlight>
                <a:sym typeface="+mn-ea"/>
              </a:rPr>
              <a:t>DEFAULT</a:t>
            </a:r>
            <a:r>
              <a:rPr lang="en-US" altLang="zh-CN">
                <a:sym typeface="+mn-ea"/>
              </a:rPr>
              <a:t> (</a:t>
            </a:r>
            <a:r>
              <a:rPr lang="zh-CN" altLang="zh-CN">
                <a:sym typeface="+mn-ea"/>
              </a:rPr>
              <a:t>指定为默认文件组</a:t>
            </a:r>
            <a:r>
              <a:rPr lang="en-US" altLang="zh-CN">
                <a:sym typeface="+mn-ea"/>
              </a:rPr>
              <a:t>)]</a:t>
            </a:r>
            <a:endParaRPr lang="zh-CN" altLang="zh-CN"/>
          </a:p>
          <a:p>
            <a:pPr eaLnBrk="1" hangingPunct="1"/>
            <a:r>
              <a:rPr lang="en-US" altLang="zh-CN">
                <a:sym typeface="+mn-ea"/>
              </a:rPr>
              <a:t>      &lt;</a:t>
            </a:r>
            <a:r>
              <a:rPr lang="zh-CN" altLang="zh-CN">
                <a:sym typeface="+mn-ea"/>
              </a:rPr>
              <a:t>文件选项</a:t>
            </a:r>
            <a:r>
              <a:rPr lang="en-US" altLang="zh-CN">
                <a:sym typeface="+mn-ea"/>
              </a:rPr>
              <a:t>&gt; ……</a:t>
            </a:r>
            <a:endParaRPr lang="zh-CN" altLang="zh-CN"/>
          </a:p>
          <a:p>
            <a:pPr eaLnBrk="1" hangingPunct="1"/>
            <a:r>
              <a:rPr lang="en-US" altLang="zh-CN">
                <a:sym typeface="+mn-ea"/>
              </a:rPr>
              <a:t>}</a:t>
            </a:r>
            <a:endParaRPr lang="zh-CN" altLang="zh-CN"/>
          </a:p>
          <a:p>
            <a:pPr eaLnBrk="1" hangingPunct="1"/>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420938"/>
            <a:ext cx="7848600"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5604" name="TextBox 2"/>
          <p:cNvSpPr txBox="1">
            <a:spLocks noChangeArrowheads="1"/>
          </p:cNvSpPr>
          <p:nvPr/>
        </p:nvSpPr>
        <p:spPr bwMode="auto">
          <a:xfrm>
            <a:off x="468313" y="260033"/>
            <a:ext cx="8675687" cy="757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highlight>
                  <a:srgbClr val="FFFF00"/>
                </a:highlight>
              </a:rPr>
              <a:t>【例</a:t>
            </a:r>
            <a:r>
              <a:rPr lang="en-US" altLang="zh-CN">
                <a:highlight>
                  <a:srgbClr val="FFFF00"/>
                </a:highlight>
              </a:rPr>
              <a:t>2.5</a:t>
            </a:r>
            <a:r>
              <a:rPr lang="zh-CN" altLang="zh-CN">
                <a:highlight>
                  <a:srgbClr val="FFFF00"/>
                </a:highlight>
              </a:rPr>
              <a:t>】</a:t>
            </a:r>
            <a:r>
              <a:rPr lang="zh-CN" altLang="zh-CN"/>
              <a:t> 创建一个名为</a:t>
            </a:r>
            <a:r>
              <a:rPr lang="en-US" altLang="zh-CN"/>
              <a:t>test1</a:t>
            </a:r>
            <a:r>
              <a:rPr lang="zh-CN" altLang="zh-CN"/>
              <a:t>的数据库，其初始大小为</a:t>
            </a:r>
            <a:r>
              <a:rPr lang="en-US" altLang="zh-CN"/>
              <a:t>5 MB</a:t>
            </a:r>
            <a:r>
              <a:rPr lang="zh-CN" altLang="zh-CN"/>
              <a:t>，最大为</a:t>
            </a:r>
            <a:r>
              <a:rPr lang="en-US" altLang="zh-CN"/>
              <a:t>50 MB</a:t>
            </a:r>
            <a:r>
              <a:rPr lang="zh-CN" altLang="zh-CN"/>
              <a:t>，允许数据库自动增长，增长方式是按</a:t>
            </a:r>
            <a:r>
              <a:rPr lang="en-US" altLang="zh-CN"/>
              <a:t>10%</a:t>
            </a:r>
            <a:r>
              <a:rPr lang="zh-CN" altLang="zh-CN"/>
              <a:t>比例增长。日志文件初始为</a:t>
            </a:r>
            <a:r>
              <a:rPr lang="en-US" altLang="zh-CN"/>
              <a:t>2 MB</a:t>
            </a:r>
            <a:r>
              <a:rPr lang="zh-CN" altLang="zh-CN"/>
              <a:t>，最大可增长到</a:t>
            </a:r>
            <a:r>
              <a:rPr lang="en-US" altLang="zh-CN"/>
              <a:t>5 MB</a:t>
            </a:r>
            <a:r>
              <a:rPr lang="zh-CN" altLang="zh-CN"/>
              <a:t>，按</a:t>
            </a:r>
            <a:r>
              <a:rPr lang="en-US" altLang="zh-CN"/>
              <a:t>1 MB</a:t>
            </a:r>
            <a:r>
              <a:rPr lang="zh-CN" altLang="zh-CN"/>
              <a:t>增长。数据文件和日志文件的存放位置为“</a:t>
            </a:r>
            <a:r>
              <a:rPr lang="en-US" altLang="zh-CN"/>
              <a:t>'d:\SQL Server\2012\data</a:t>
            </a:r>
            <a:r>
              <a:rPr lang="zh-CN" altLang="zh-CN"/>
              <a:t>”。</a:t>
            </a:r>
            <a:endParaRPr lang="zh-CN" altLang="zh-CN"/>
          </a:p>
          <a:p>
            <a:pPr indent="446405" fontAlgn="auto">
              <a:spcBef>
                <a:spcPts val="0"/>
              </a:spcBef>
              <a:spcAft>
                <a:spcPts val="0"/>
              </a:spcAft>
              <a:defRPr/>
            </a:pPr>
            <a:r>
              <a:rPr lang="en-US" altLang="zh-CN" dirty="0">
                <a:latin typeface="+mn-lt"/>
                <a:ea typeface="+mn-ea"/>
                <a:sym typeface="+mn-ea"/>
              </a:rPr>
              <a:t>CREATE DATABASE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ON</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NAME= "test1_data",</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FILENAME="D:\SQL Server\2012\test1.mdf",</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SIZE=5MB,</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MAXSIZE=50MB,</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FILEGROWTH=10%		</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LOG ON</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NAME="test1_log",</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FILENAME="D:\SQL Server\2012\test1.ldf",</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SIZE=2MB,</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MAXSIZE=5MB,</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        FILEGROWTH=1MB</a:t>
            </a:r>
            <a:endParaRPr lang="zh-CN" altLang="zh-CN" dirty="0">
              <a:latin typeface="+mn-lt"/>
              <a:ea typeface="+mn-ea"/>
            </a:endParaRPr>
          </a:p>
          <a:p>
            <a:pPr indent="446405" fontAlgn="auto">
              <a:spcBef>
                <a:spcPts val="0"/>
              </a:spcBef>
              <a:spcAft>
                <a:spcPts val="0"/>
              </a:spcAft>
              <a:defRPr/>
            </a:pPr>
            <a:r>
              <a:rPr lang="en-US" altLang="zh-CN" dirty="0">
                <a:latin typeface="+mn-lt"/>
                <a:ea typeface="+mn-ea"/>
                <a:sym typeface="+mn-ea"/>
              </a:rPr>
              <a:t>);</a:t>
            </a:r>
            <a:endParaRPr lang="zh-CN" altLang="zh-CN" dirty="0">
              <a:latin typeface="+mn-lt"/>
              <a:ea typeface="+mn-ea"/>
            </a:endParaRPr>
          </a:p>
          <a:p>
            <a:pPr eaLnBrk="1" fontAlgn="ctr" hangingPunct="1">
              <a:lnSpc>
                <a:spcPct val="150000"/>
              </a:lnSpc>
            </a:pPr>
            <a:endParaRPr lang="zh-CN" altLang="zh-CN"/>
          </a:p>
          <a:p>
            <a:pPr eaLnBrk="1" fontAlgn="ctr" hangingPunct="1">
              <a:lnSpc>
                <a:spcPct val="150000"/>
              </a:lnSpc>
            </a:pPr>
            <a:endParaRPr lang="zh-CN" altLang="zh-CN"/>
          </a:p>
          <a:p>
            <a:pPr eaLnBrk="1" hangingPunct="1"/>
            <a:endParaRPr lang="zh-CN" altLang="en-US"/>
          </a:p>
        </p:txBody>
      </p:sp>
    </p:spTree>
  </p:cSld>
  <p:clrMapOvr>
    <a:masterClrMapping/>
  </p:clrMapOvr>
  <p:transition spd="slow">
    <p:diamon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2.3.1  </a:t>
            </a:r>
            <a:r>
              <a:rPr lang="zh-CN" altLang="zh-CN" dirty="0">
                <a:effectLst/>
              </a:rPr>
              <a:t>创建数据库：</a:t>
            </a:r>
            <a:r>
              <a:rPr lang="en-US" altLang="zh-CN" dirty="0">
                <a:effectLst/>
              </a:rPr>
              <a:t>CREATE DATABASE</a:t>
            </a:r>
            <a:endParaRPr lang="zh-CN" altLang="en-US" dirty="0"/>
          </a:p>
        </p:txBody>
      </p:sp>
      <p:sp>
        <p:nvSpPr>
          <p:cNvPr id="27651" name="TextBox 2"/>
          <p:cNvSpPr txBox="1">
            <a:spLocks noChangeArrowheads="1"/>
          </p:cNvSpPr>
          <p:nvPr/>
        </p:nvSpPr>
        <p:spPr bwMode="auto">
          <a:xfrm>
            <a:off x="395288" y="1412875"/>
            <a:ext cx="8280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输入完毕后，单击</a:t>
            </a:r>
            <a:r>
              <a:rPr lang="en-US" altLang="zh-CN"/>
              <a:t>SSMS</a:t>
            </a:r>
            <a:r>
              <a:rPr lang="zh-CN" altLang="zh-CN"/>
              <a:t>面板上的“执行”按钮，如图</a:t>
            </a:r>
            <a:r>
              <a:rPr lang="en-US" altLang="zh-CN"/>
              <a:t>2.10</a:t>
            </a:r>
            <a:r>
              <a:rPr lang="zh-CN" altLang="zh-CN"/>
              <a:t>所示。结果窗口将显示命令执行情况。</a:t>
            </a:r>
            <a:endParaRPr lang="zh-CN" altLang="en-US"/>
          </a:p>
        </p:txBody>
      </p:sp>
      <p:pic>
        <p:nvPicPr>
          <p:cNvPr id="2765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9425" y="2071688"/>
            <a:ext cx="5573713"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2.3.1  </a:t>
            </a:r>
            <a:r>
              <a:rPr lang="zh-CN" altLang="zh-CN" dirty="0">
                <a:effectLst/>
              </a:rPr>
              <a:t>创建数据库：</a:t>
            </a:r>
            <a:r>
              <a:rPr lang="en-US" altLang="zh-CN" dirty="0">
                <a:effectLst/>
              </a:rPr>
              <a:t>CREATE DATABASE</a:t>
            </a:r>
            <a:endParaRPr lang="zh-CN" altLang="en-US" dirty="0"/>
          </a:p>
        </p:txBody>
      </p:sp>
      <p:sp>
        <p:nvSpPr>
          <p:cNvPr id="28675" name="TextBox 2"/>
          <p:cNvSpPr txBox="1">
            <a:spLocks noChangeArrowheads="1"/>
          </p:cNvSpPr>
          <p:nvPr/>
        </p:nvSpPr>
        <p:spPr bwMode="auto">
          <a:xfrm>
            <a:off x="468313" y="1557338"/>
            <a:ext cx="8280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【例</a:t>
            </a:r>
            <a:r>
              <a:rPr lang="en-US" altLang="zh-CN"/>
              <a:t>2.6</a:t>
            </a:r>
            <a:r>
              <a:rPr lang="zh-CN" altLang="zh-CN"/>
              <a:t>】 创建一个名为</a:t>
            </a:r>
            <a:r>
              <a:rPr lang="en-US" altLang="zh-CN"/>
              <a:t>test2</a:t>
            </a:r>
            <a:r>
              <a:rPr lang="zh-CN" altLang="zh-CN"/>
              <a:t>的数据库，它有两个数据文件，其中主数据文件为</a:t>
            </a:r>
            <a:r>
              <a:rPr lang="en-US" altLang="zh-CN"/>
              <a:t>20 MB</a:t>
            </a:r>
            <a:r>
              <a:rPr lang="zh-CN" altLang="zh-CN"/>
              <a:t>，最大不限，按</a:t>
            </a:r>
            <a:r>
              <a:rPr lang="en-US" altLang="zh-CN"/>
              <a:t>10%</a:t>
            </a:r>
            <a:r>
              <a:rPr lang="zh-CN" altLang="zh-CN"/>
              <a:t>增长。</a:t>
            </a:r>
            <a:r>
              <a:rPr lang="en-US" altLang="zh-CN"/>
              <a:t>1</a:t>
            </a:r>
            <a:r>
              <a:rPr lang="zh-CN" altLang="zh-CN"/>
              <a:t>个辅数据文件为</a:t>
            </a:r>
            <a:r>
              <a:rPr lang="en-US" altLang="zh-CN"/>
              <a:t>20 MB</a:t>
            </a:r>
            <a:r>
              <a:rPr lang="zh-CN" altLang="zh-CN"/>
              <a:t>，最大不限，按</a:t>
            </a:r>
            <a:r>
              <a:rPr lang="en-US" altLang="zh-CN"/>
              <a:t>10%</a:t>
            </a:r>
            <a:r>
              <a:rPr lang="zh-CN" altLang="zh-CN"/>
              <a:t>增长；有</a:t>
            </a:r>
            <a:r>
              <a:rPr lang="en-US" altLang="zh-CN"/>
              <a:t>1</a:t>
            </a:r>
            <a:r>
              <a:rPr lang="zh-CN" altLang="zh-CN"/>
              <a:t>个日志文件，为</a:t>
            </a:r>
            <a:r>
              <a:rPr lang="en-US" altLang="zh-CN"/>
              <a:t>50 MB</a:t>
            </a:r>
            <a:r>
              <a:rPr lang="zh-CN" altLang="zh-CN"/>
              <a:t>，最大为</a:t>
            </a:r>
            <a:r>
              <a:rPr lang="en-US" altLang="zh-CN"/>
              <a:t>100 MB</a:t>
            </a:r>
            <a:r>
              <a:rPr lang="zh-CN" altLang="zh-CN"/>
              <a:t>，按</a:t>
            </a:r>
            <a:r>
              <a:rPr lang="en-US" altLang="zh-CN"/>
              <a:t>10 MB</a:t>
            </a:r>
            <a:r>
              <a:rPr lang="zh-CN" altLang="zh-CN"/>
              <a:t>增长。</a:t>
            </a:r>
            <a:endParaRPr lang="zh-CN" altLang="zh-CN"/>
          </a:p>
          <a:p>
            <a:pPr eaLnBrk="1" fontAlgn="ctr" hangingPunct="1">
              <a:lnSpc>
                <a:spcPct val="150000"/>
              </a:lnSpc>
            </a:pPr>
            <a:r>
              <a:rPr lang="zh-CN" altLang="zh-CN">
                <a:hlinkClick r:id="rId1" action="ppaction://hlinkfile"/>
              </a:rPr>
              <a:t>在“查询分析器”中输入如下</a:t>
            </a:r>
            <a:r>
              <a:rPr lang="en-US" altLang="zh-CN">
                <a:hlinkClick r:id="rId1" action="ppaction://hlinkfile"/>
              </a:rPr>
              <a:t>T-SQL</a:t>
            </a:r>
            <a:r>
              <a:rPr lang="zh-CN" altLang="zh-CN">
                <a:hlinkClick r:id="rId1" action="ppaction://hlinkfile"/>
              </a:rPr>
              <a:t>语句并执行</a:t>
            </a:r>
            <a:r>
              <a:rPr lang="zh-CN" altLang="en-US">
                <a:hlinkClick r:id="rId1" action="ppaction://hlinkfile"/>
              </a:rPr>
              <a:t>。</a:t>
            </a:r>
            <a:endParaRPr lang="zh-CN" altLang="en-US"/>
          </a:p>
        </p:txBody>
      </p:sp>
    </p:spTree>
  </p:cSld>
  <p:clrMapOvr>
    <a:masterClrMapping/>
  </p:clrMapOvr>
  <p:transition spd="slow">
    <p:blinds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4213" y="2708275"/>
            <a:ext cx="8064500" cy="38893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2.3.1  </a:t>
            </a:r>
            <a:r>
              <a:rPr lang="zh-CN" altLang="zh-CN" dirty="0">
                <a:effectLst/>
              </a:rPr>
              <a:t>创建数据库：</a:t>
            </a:r>
            <a:r>
              <a:rPr lang="en-US" altLang="zh-CN" dirty="0">
                <a:effectLst/>
              </a:rPr>
              <a:t>CREATE DATABASE</a:t>
            </a:r>
            <a:endParaRPr lang="zh-CN" altLang="en-US" dirty="0"/>
          </a:p>
        </p:txBody>
      </p:sp>
      <p:sp>
        <p:nvSpPr>
          <p:cNvPr id="3" name="TextBox 2"/>
          <p:cNvSpPr txBox="1"/>
          <p:nvPr/>
        </p:nvSpPr>
        <p:spPr>
          <a:xfrm>
            <a:off x="468313" y="1268413"/>
            <a:ext cx="8280400" cy="5632450"/>
          </a:xfrm>
          <a:prstGeom prst="rect">
            <a:avLst/>
          </a:prstGeom>
          <a:noFill/>
        </p:spPr>
        <p:txBody>
          <a:bodyPr>
            <a:spAutoFit/>
          </a:bodyPr>
          <a:lstStyle/>
          <a:p>
            <a:pPr indent="446405" fontAlgn="ctr">
              <a:spcBef>
                <a:spcPts val="0"/>
              </a:spcBef>
              <a:spcAft>
                <a:spcPts val="0"/>
              </a:spcAft>
              <a:defRPr/>
            </a:pPr>
            <a:r>
              <a:rPr lang="zh-CN" altLang="zh-CN" dirty="0">
                <a:highlight>
                  <a:srgbClr val="FFFF00"/>
                </a:highlight>
                <a:latin typeface="+mn-lt"/>
                <a:ea typeface="+mn-ea"/>
              </a:rPr>
              <a:t>【例</a:t>
            </a:r>
            <a:r>
              <a:rPr lang="en-US" altLang="zh-CN" dirty="0">
                <a:highlight>
                  <a:srgbClr val="FFFF00"/>
                </a:highlight>
                <a:latin typeface="+mn-lt"/>
                <a:ea typeface="+mn-ea"/>
              </a:rPr>
              <a:t>2.7</a:t>
            </a:r>
            <a:r>
              <a:rPr lang="zh-CN" altLang="zh-CN" dirty="0">
                <a:highlight>
                  <a:srgbClr val="FFFF00"/>
                </a:highlight>
                <a:latin typeface="+mn-lt"/>
                <a:ea typeface="+mn-ea"/>
              </a:rPr>
              <a:t>】</a:t>
            </a:r>
            <a:r>
              <a:rPr lang="zh-CN" altLang="zh-CN" dirty="0">
                <a:latin typeface="+mn-lt"/>
                <a:ea typeface="+mn-ea"/>
              </a:rPr>
              <a:t> 创建一个具有</a:t>
            </a:r>
            <a:r>
              <a:rPr lang="en-US" altLang="zh-CN" dirty="0">
                <a:latin typeface="+mn-lt"/>
                <a:ea typeface="+mn-ea"/>
              </a:rPr>
              <a:t>2</a:t>
            </a:r>
            <a:r>
              <a:rPr lang="zh-CN" altLang="zh-CN" dirty="0">
                <a:latin typeface="+mn-lt"/>
                <a:ea typeface="+mn-ea"/>
              </a:rPr>
              <a:t>个文件组的数据库</a:t>
            </a:r>
            <a:r>
              <a:rPr lang="en-US" altLang="zh-CN" dirty="0">
                <a:latin typeface="+mn-lt"/>
                <a:ea typeface="+mn-ea"/>
              </a:rPr>
              <a:t>test3</a:t>
            </a:r>
            <a:r>
              <a:rPr lang="zh-CN" altLang="zh-CN" dirty="0">
                <a:latin typeface="+mn-lt"/>
                <a:ea typeface="+mn-ea"/>
              </a:rPr>
              <a:t>。要求：</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）主文件组包括文件</a:t>
            </a:r>
            <a:r>
              <a:rPr lang="en-US" altLang="zh-CN" dirty="0">
                <a:latin typeface="+mn-lt"/>
                <a:ea typeface="+mn-ea"/>
              </a:rPr>
              <a:t>test3_dat1</a:t>
            </a:r>
            <a:r>
              <a:rPr lang="zh-CN" altLang="zh-CN" dirty="0">
                <a:latin typeface="+mn-lt"/>
                <a:ea typeface="+mn-ea"/>
              </a:rPr>
              <a:t>，文件初始大小为</a:t>
            </a:r>
            <a:r>
              <a:rPr lang="en-US" altLang="zh-CN" dirty="0">
                <a:latin typeface="+mn-lt"/>
                <a:ea typeface="+mn-ea"/>
              </a:rPr>
              <a:t>20 MB</a:t>
            </a:r>
            <a:r>
              <a:rPr lang="zh-CN" altLang="zh-CN" dirty="0">
                <a:latin typeface="+mn-lt"/>
                <a:ea typeface="+mn-ea"/>
              </a:rPr>
              <a:t>，最大为</a:t>
            </a:r>
            <a:r>
              <a:rPr lang="en-US" altLang="zh-CN" dirty="0">
                <a:latin typeface="+mn-lt"/>
                <a:ea typeface="+mn-ea"/>
              </a:rPr>
              <a:t>60 MB</a:t>
            </a:r>
            <a:r>
              <a:rPr lang="zh-CN" altLang="zh-CN" dirty="0">
                <a:latin typeface="+mn-lt"/>
                <a:ea typeface="+mn-ea"/>
              </a:rPr>
              <a:t>，按</a:t>
            </a:r>
            <a:r>
              <a:rPr lang="en-US" altLang="zh-CN" dirty="0">
                <a:latin typeface="+mn-lt"/>
                <a:ea typeface="+mn-ea"/>
              </a:rPr>
              <a:t>5 MB</a:t>
            </a:r>
            <a:r>
              <a:rPr lang="zh-CN" altLang="zh-CN" dirty="0">
                <a:latin typeface="+mn-lt"/>
                <a:ea typeface="+mn-ea"/>
              </a:rPr>
              <a:t>增长。</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）有</a:t>
            </a:r>
            <a:r>
              <a:rPr lang="en-US" altLang="zh-CN" dirty="0">
                <a:latin typeface="+mn-lt"/>
                <a:ea typeface="+mn-ea"/>
              </a:rPr>
              <a:t>1</a:t>
            </a:r>
            <a:r>
              <a:rPr lang="zh-CN" altLang="zh-CN" dirty="0">
                <a:latin typeface="+mn-lt"/>
                <a:ea typeface="+mn-ea"/>
              </a:rPr>
              <a:t>个文件组名为</a:t>
            </a:r>
            <a:r>
              <a:rPr lang="en-US" altLang="zh-CN" dirty="0">
                <a:latin typeface="+mn-lt"/>
                <a:ea typeface="+mn-ea"/>
              </a:rPr>
              <a:t>test3Group1</a:t>
            </a:r>
            <a:r>
              <a:rPr lang="zh-CN" altLang="zh-CN" dirty="0">
                <a:latin typeface="+mn-lt"/>
                <a:ea typeface="+mn-ea"/>
              </a:rPr>
              <a:t>，包括文件</a:t>
            </a:r>
            <a:r>
              <a:rPr lang="en-US" altLang="zh-CN" dirty="0">
                <a:latin typeface="+mn-lt"/>
                <a:ea typeface="+mn-ea"/>
              </a:rPr>
              <a:t>test3_dat2</a:t>
            </a:r>
            <a:r>
              <a:rPr lang="zh-CN" altLang="zh-CN" dirty="0">
                <a:latin typeface="+mn-lt"/>
                <a:ea typeface="+mn-ea"/>
              </a:rPr>
              <a:t>，文件初始大小为</a:t>
            </a:r>
            <a:r>
              <a:rPr lang="en-US" altLang="zh-CN" dirty="0">
                <a:latin typeface="+mn-lt"/>
                <a:ea typeface="+mn-ea"/>
              </a:rPr>
              <a:t>10 MB</a:t>
            </a:r>
            <a:r>
              <a:rPr lang="zh-CN" altLang="zh-CN" dirty="0">
                <a:latin typeface="+mn-lt"/>
                <a:ea typeface="+mn-ea"/>
              </a:rPr>
              <a:t>，最大为</a:t>
            </a:r>
            <a:r>
              <a:rPr lang="en-US" altLang="zh-CN" dirty="0">
                <a:latin typeface="+mn-lt"/>
                <a:ea typeface="+mn-ea"/>
              </a:rPr>
              <a:t>30 MB</a:t>
            </a:r>
            <a:r>
              <a:rPr lang="zh-CN" altLang="zh-CN" dirty="0">
                <a:latin typeface="+mn-lt"/>
                <a:ea typeface="+mn-ea"/>
              </a:rPr>
              <a:t>，按</a:t>
            </a:r>
            <a:r>
              <a:rPr lang="en-US" altLang="zh-CN" dirty="0">
                <a:latin typeface="+mn-lt"/>
                <a:ea typeface="+mn-ea"/>
              </a:rPr>
              <a:t>10%</a:t>
            </a:r>
            <a:r>
              <a:rPr lang="zh-CN" altLang="zh-CN" dirty="0">
                <a:latin typeface="+mn-lt"/>
                <a:ea typeface="+mn-ea"/>
              </a:rPr>
              <a:t>增长。</a:t>
            </a:r>
            <a:endParaRPr lang="zh-CN" altLang="zh-CN" dirty="0">
              <a:latin typeface="+mn-lt"/>
              <a:ea typeface="+mn-ea"/>
            </a:endParaRPr>
          </a:p>
          <a:p>
            <a:pPr indent="446405" fontAlgn="auto">
              <a:spcBef>
                <a:spcPts val="0"/>
              </a:spcBef>
              <a:spcAft>
                <a:spcPts val="0"/>
              </a:spcAft>
              <a:defRPr/>
            </a:pPr>
            <a:r>
              <a:rPr lang="en-US" altLang="zh-CN" sz="1400" dirty="0">
                <a:latin typeface="+mn-lt"/>
                <a:ea typeface="+mn-ea"/>
              </a:rPr>
              <a:t>CREATE DATABASE  test3</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ON</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a:t>
            </a:r>
            <a:r>
              <a:rPr lang="en-US" altLang="zh-CN" sz="1400" dirty="0">
                <a:highlight>
                  <a:srgbClr val="FFFF00"/>
                </a:highlight>
                <a:latin typeface="+mn-lt"/>
                <a:ea typeface="+mn-ea"/>
              </a:rPr>
              <a:t> PRIMARY</a:t>
            </a:r>
            <a:endParaRPr lang="zh-CN" altLang="zh-CN" sz="1400" dirty="0">
              <a:highlight>
                <a:srgbClr val="FFFF00"/>
              </a:highlight>
              <a:latin typeface="+mn-lt"/>
              <a:ea typeface="+mn-ea"/>
            </a:endParaRPr>
          </a:p>
          <a:p>
            <a:pPr indent="446405" fontAlgn="auto">
              <a:spcBef>
                <a:spcPts val="0"/>
              </a:spcBef>
              <a:spcAft>
                <a:spcPts val="0"/>
              </a:spcAft>
              <a:defRPr/>
            </a:pPr>
            <a:r>
              <a:rPr lang="en-US" altLang="zh-CN" sz="1400" dirty="0">
                <a:latin typeface="+mn-lt"/>
                <a:ea typeface="+mn-ea"/>
              </a:rPr>
              <a:t>    (	</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NAME ='test3_dat1',</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FILENAME = ‘d:\SQL Server\2012\test3_dat1.mdf',</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SIZE = 20MB,</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MAXSIZE = 60MB,</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FILEGROWTH = 5MB</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a:t>
            </a:r>
            <a:r>
              <a:rPr lang="en-US" altLang="zh-CN" sz="1400" dirty="0">
                <a:highlight>
                  <a:srgbClr val="FFFF00"/>
                </a:highlight>
                <a:latin typeface="+mn-lt"/>
                <a:ea typeface="+mn-ea"/>
              </a:rPr>
              <a:t> FILEGROUP  test3Group1</a:t>
            </a:r>
            <a:endParaRPr lang="zh-CN" altLang="zh-CN" sz="1400" dirty="0">
              <a:highlight>
                <a:srgbClr val="FFFF00"/>
              </a:highlight>
              <a:latin typeface="+mn-lt"/>
              <a:ea typeface="+mn-ea"/>
            </a:endParaRPr>
          </a:p>
          <a:p>
            <a:pPr indent="446405" fontAlgn="auto">
              <a:spcBef>
                <a:spcPts val="0"/>
              </a:spcBef>
              <a:spcAft>
                <a:spcPts val="0"/>
              </a:spcAft>
              <a:defRPr/>
            </a:pPr>
            <a:r>
              <a:rPr lang="en-US" altLang="zh-CN" sz="1400" dirty="0">
                <a:latin typeface="+mn-lt"/>
                <a:ea typeface="+mn-ea"/>
              </a:rPr>
              <a:t>    (	</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NAME ='test3_dat2',</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FILENAME = 'd:\SQL Server\2012\test3_dat2.ndf',</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SIZE = 10MB,</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MAXSIZE = 30MB,</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FILEGROWTH = 10%</a:t>
            </a:r>
            <a:endParaRPr lang="zh-CN" altLang="zh-CN" sz="1400" dirty="0">
              <a:latin typeface="+mn-lt"/>
              <a:ea typeface="+mn-ea"/>
            </a:endParaRPr>
          </a:p>
          <a:p>
            <a:pPr indent="446405" fontAlgn="auto">
              <a:spcBef>
                <a:spcPts val="0"/>
              </a:spcBef>
              <a:spcAft>
                <a:spcPts val="0"/>
              </a:spcAft>
              <a:defRPr/>
            </a:pPr>
            <a:r>
              <a:rPr lang="en-US" altLang="zh-CN" sz="1400" dirty="0">
                <a:latin typeface="+mn-lt"/>
                <a:ea typeface="+mn-ea"/>
              </a:rPr>
              <a:t>    )</a:t>
            </a:r>
            <a:endParaRPr lang="zh-CN" altLang="zh-CN" sz="1400"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700213"/>
            <a:ext cx="7848600" cy="42497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zh-CN" dirty="0">
              <a:effectLst/>
            </a:endParaRPr>
          </a:p>
        </p:txBody>
      </p:sp>
      <p:sp>
        <p:nvSpPr>
          <p:cNvPr id="3" name="TextBox 2"/>
          <p:cNvSpPr txBox="1"/>
          <p:nvPr/>
        </p:nvSpPr>
        <p:spPr>
          <a:xfrm>
            <a:off x="468313" y="1412875"/>
            <a:ext cx="8280400" cy="4861560"/>
          </a:xfrm>
          <a:prstGeom prst="rect">
            <a:avLst/>
          </a:prstGeom>
          <a:noFill/>
        </p:spPr>
        <p:txBody>
          <a:bodyPr>
            <a:spAutoFit/>
          </a:bodyPr>
          <a:lstStyle/>
          <a:p>
            <a:pPr indent="446405" fontAlgn="ctr">
              <a:spcBef>
                <a:spcPts val="0"/>
              </a:spcBef>
              <a:spcAft>
                <a:spcPts val="0"/>
              </a:spcAft>
              <a:defRPr/>
            </a:pPr>
            <a:r>
              <a:rPr lang="zh-CN" altLang="zh-CN" sz="2000" dirty="0">
                <a:latin typeface="+mn-lt"/>
                <a:ea typeface="+mn-ea"/>
              </a:rPr>
              <a:t>使用</a:t>
            </a:r>
            <a:r>
              <a:rPr lang="en-US" altLang="zh-CN" sz="2000" dirty="0">
                <a:latin typeface="+mn-lt"/>
                <a:ea typeface="+mn-ea"/>
              </a:rPr>
              <a:t>ALTER DATABASE</a:t>
            </a:r>
            <a:r>
              <a:rPr lang="zh-CN" altLang="zh-CN" sz="2000" dirty="0">
                <a:latin typeface="+mn-lt"/>
                <a:ea typeface="+mn-ea"/>
              </a:rPr>
              <a:t>命令可对数据库进行修改，语法格式如下：</a:t>
            </a:r>
            <a:endParaRPr lang="zh-CN" altLang="zh-CN" sz="2000" dirty="0">
              <a:latin typeface="+mn-lt"/>
              <a:ea typeface="+mn-ea"/>
            </a:endParaRPr>
          </a:p>
          <a:p>
            <a:pPr indent="446405" fontAlgn="auto">
              <a:spcBef>
                <a:spcPts val="0"/>
              </a:spcBef>
              <a:spcAft>
                <a:spcPts val="0"/>
              </a:spcAft>
              <a:defRPr/>
            </a:pPr>
            <a:r>
              <a:rPr lang="en-US" altLang="zh-CN" sz="1600" u="sng" dirty="0">
                <a:solidFill>
                  <a:srgbClr val="FF0000"/>
                </a:solidFill>
                <a:latin typeface="+mn-lt"/>
                <a:ea typeface="+mn-ea"/>
              </a:rPr>
              <a:t>ALTER DATABASE</a:t>
            </a:r>
            <a:r>
              <a:rPr lang="zh-CN" altLang="zh-CN" sz="1600" u="sng" dirty="0">
                <a:solidFill>
                  <a:srgbClr val="FF0000"/>
                </a:solidFill>
                <a:latin typeface="+mn-lt"/>
                <a:ea typeface="+mn-ea"/>
              </a:rPr>
              <a:t>数据库名</a:t>
            </a:r>
            <a:endParaRPr lang="zh-CN" altLang="zh-CN" sz="1600" u="sng" dirty="0">
              <a:solidFill>
                <a:srgbClr val="FF0000"/>
              </a:solidFill>
              <a:latin typeface="+mn-lt"/>
              <a:ea typeface="+mn-ea"/>
            </a:endParaRPr>
          </a:p>
          <a:p>
            <a:pPr indent="446405" fontAlgn="auto">
              <a:spcBef>
                <a:spcPts val="0"/>
              </a:spcBef>
              <a:spcAft>
                <a:spcPts val="0"/>
              </a:spcAft>
              <a:defRPr/>
            </a:pPr>
            <a:r>
              <a:rPr lang="en-US" altLang="zh-CN" sz="1600" dirty="0">
                <a:latin typeface="+mn-lt"/>
                <a:ea typeface="+mn-ea"/>
              </a:rPr>
              <a:t>{ 	ADD FILE &lt;</a:t>
            </a:r>
            <a:r>
              <a:rPr lang="zh-CN" altLang="zh-CN" sz="1600" dirty="0">
                <a:latin typeface="+mn-lt"/>
                <a:ea typeface="+mn-ea"/>
              </a:rPr>
              <a:t>文件选项</a:t>
            </a:r>
            <a:r>
              <a:rPr lang="en-US" altLang="zh-CN" sz="1600" dirty="0">
                <a:latin typeface="+mn-lt"/>
                <a:ea typeface="+mn-ea"/>
              </a:rPr>
              <a:t>&gt;... [</a:t>
            </a:r>
            <a:r>
              <a:rPr lang="en-US" altLang="zh-CN" sz="1600" dirty="0">
                <a:highlight>
                  <a:srgbClr val="FFFF00"/>
                </a:highlight>
                <a:latin typeface="+mn-lt"/>
                <a:ea typeface="+mn-ea"/>
              </a:rPr>
              <a:t>TO</a:t>
            </a:r>
            <a:r>
              <a:rPr lang="en-US" altLang="zh-CN" sz="1600" dirty="0">
                <a:latin typeface="+mn-lt"/>
                <a:ea typeface="+mn-ea"/>
              </a:rPr>
              <a:t> FILEGROUP</a:t>
            </a:r>
            <a:r>
              <a:rPr lang="zh-CN" altLang="zh-CN" sz="1600" dirty="0">
                <a:latin typeface="+mn-lt"/>
                <a:ea typeface="+mn-ea"/>
              </a:rPr>
              <a:t>文件组名</a:t>
            </a:r>
            <a:r>
              <a:rPr lang="en-US" altLang="zh-CN" sz="1600" dirty="0">
                <a:latin typeface="+mn-lt"/>
                <a:ea typeface="+mn-ea"/>
              </a:rPr>
              <a:t>]	/*</a:t>
            </a:r>
            <a:r>
              <a:rPr lang="zh-CN" altLang="zh-CN" sz="1600" dirty="0">
                <a:latin typeface="+mn-lt"/>
                <a:ea typeface="+mn-ea"/>
              </a:rPr>
              <a:t>在文件组中增加数据文件</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ADD LOG FILE &lt;</a:t>
            </a:r>
            <a:r>
              <a:rPr lang="zh-CN" altLang="zh-CN" sz="1600" dirty="0">
                <a:latin typeface="+mn-lt"/>
                <a:ea typeface="+mn-ea"/>
              </a:rPr>
              <a:t>文件选项</a:t>
            </a:r>
            <a:r>
              <a:rPr lang="en-US" altLang="zh-CN" sz="1600" dirty="0">
                <a:latin typeface="+mn-lt"/>
                <a:ea typeface="+mn-ea"/>
              </a:rPr>
              <a:t>&gt;...          			/*</a:t>
            </a:r>
            <a:r>
              <a:rPr lang="zh-CN" altLang="zh-CN" sz="1600" dirty="0">
                <a:latin typeface="+mn-lt"/>
                <a:ea typeface="+mn-ea"/>
              </a:rPr>
              <a:t>增加日志文件</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REMOVE FILE</a:t>
            </a:r>
            <a:r>
              <a:rPr lang="zh-CN" altLang="zh-CN" sz="1600" dirty="0">
                <a:latin typeface="+mn-lt"/>
                <a:ea typeface="+mn-ea"/>
              </a:rPr>
              <a:t>逻辑文件名</a:t>
            </a:r>
            <a:r>
              <a:rPr lang="en-US" altLang="zh-CN" sz="1600" dirty="0">
                <a:latin typeface="+mn-lt"/>
                <a:ea typeface="+mn-ea"/>
              </a:rPr>
              <a:t>           			/*</a:t>
            </a:r>
            <a:r>
              <a:rPr lang="zh-CN" altLang="zh-CN" sz="1600" dirty="0">
                <a:latin typeface="+mn-lt"/>
                <a:ea typeface="+mn-ea"/>
              </a:rPr>
              <a:t>删除数据文件</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ADD FILEGROUP</a:t>
            </a:r>
            <a:r>
              <a:rPr lang="zh-CN" altLang="zh-CN" sz="1600" dirty="0">
                <a:latin typeface="+mn-lt"/>
                <a:ea typeface="+mn-ea"/>
              </a:rPr>
              <a:t>文件组名</a:t>
            </a:r>
            <a:r>
              <a:rPr lang="en-US" altLang="zh-CN" sz="1600" dirty="0">
                <a:latin typeface="+mn-lt"/>
                <a:ea typeface="+mn-ea"/>
              </a:rPr>
              <a:t>[……] 			/*</a:t>
            </a:r>
            <a:r>
              <a:rPr lang="zh-CN" altLang="zh-CN" sz="1600" dirty="0">
                <a:latin typeface="+mn-lt"/>
                <a:ea typeface="+mn-ea"/>
              </a:rPr>
              <a:t>增加文件组</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REMOVE FILEGROUP</a:t>
            </a:r>
            <a:r>
              <a:rPr lang="zh-CN" altLang="zh-CN" sz="1600" dirty="0">
                <a:latin typeface="+mn-lt"/>
                <a:ea typeface="+mn-ea"/>
              </a:rPr>
              <a:t>文件组名</a:t>
            </a:r>
            <a:r>
              <a:rPr lang="en-US" altLang="zh-CN" sz="1600" dirty="0">
                <a:latin typeface="+mn-lt"/>
                <a:ea typeface="+mn-ea"/>
              </a:rPr>
              <a:t>      			/*</a:t>
            </a:r>
            <a:r>
              <a:rPr lang="zh-CN" altLang="zh-CN" sz="1600" dirty="0">
                <a:latin typeface="+mn-lt"/>
                <a:ea typeface="+mn-ea"/>
              </a:rPr>
              <a:t>删除文件组</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MODIFY FILE &lt;</a:t>
            </a:r>
            <a:r>
              <a:rPr lang="zh-CN" altLang="zh-CN" sz="1600" dirty="0">
                <a:latin typeface="+mn-lt"/>
                <a:ea typeface="+mn-ea"/>
              </a:rPr>
              <a:t>文件选项</a:t>
            </a:r>
            <a:r>
              <a:rPr lang="en-US" altLang="zh-CN" sz="1600" dirty="0">
                <a:latin typeface="+mn-lt"/>
                <a:ea typeface="+mn-ea"/>
              </a:rPr>
              <a:t>&gt;                 		/*</a:t>
            </a:r>
            <a:r>
              <a:rPr lang="zh-CN" altLang="zh-CN" sz="1600" dirty="0">
                <a:latin typeface="+mn-lt"/>
                <a:ea typeface="+mn-ea"/>
              </a:rPr>
              <a:t>更改文件属性</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MODIFY NAME = </a:t>
            </a:r>
            <a:r>
              <a:rPr lang="zh-CN" altLang="zh-CN" sz="1600" dirty="0">
                <a:latin typeface="+mn-lt"/>
                <a:ea typeface="+mn-ea"/>
              </a:rPr>
              <a:t>新数据库名</a:t>
            </a:r>
            <a:r>
              <a:rPr lang="en-US" altLang="zh-CN" sz="1600" dirty="0">
                <a:latin typeface="+mn-lt"/>
                <a:ea typeface="+mn-ea"/>
              </a:rPr>
              <a:t>           		/*</a:t>
            </a:r>
            <a:r>
              <a:rPr lang="zh-CN" altLang="zh-CN" sz="1600" dirty="0">
                <a:latin typeface="+mn-lt"/>
                <a:ea typeface="+mn-ea"/>
              </a:rPr>
              <a:t>数据库更名</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MODIFY FILEGROUP</a:t>
            </a:r>
            <a:r>
              <a:rPr lang="zh-CN" altLang="zh-CN" sz="1600" dirty="0">
                <a:latin typeface="+mn-lt"/>
                <a:ea typeface="+mn-ea"/>
              </a:rPr>
              <a:t>文件组名</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&lt;</a:t>
            </a:r>
            <a:r>
              <a:rPr lang="zh-CN" altLang="zh-CN" sz="1600" dirty="0">
                <a:latin typeface="+mn-lt"/>
                <a:ea typeface="+mn-ea"/>
              </a:rPr>
              <a:t>文件组可更新选项</a:t>
            </a:r>
            <a:r>
              <a:rPr lang="en-US" altLang="zh-CN" sz="1600" dirty="0">
                <a:latin typeface="+mn-lt"/>
                <a:ea typeface="+mn-ea"/>
              </a:rPr>
              <a:t>&gt;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DEFAULT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NAME = </a:t>
            </a:r>
            <a:r>
              <a:rPr lang="zh-CN" altLang="zh-CN" sz="1600" dirty="0">
                <a:latin typeface="+mn-lt"/>
                <a:ea typeface="+mn-ea"/>
              </a:rPr>
              <a:t>新文件组名</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a:t>
            </a:r>
            <a:r>
              <a:rPr lang="zh-CN" altLang="zh-CN" sz="1600" dirty="0">
                <a:latin typeface="+mn-lt"/>
                <a:ea typeface="+mn-ea"/>
              </a:rPr>
              <a:t>更改文件组属性</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SET &lt;</a:t>
            </a:r>
            <a:r>
              <a:rPr lang="zh-CN" altLang="zh-CN" sz="1600" dirty="0">
                <a:latin typeface="+mn-lt"/>
                <a:ea typeface="+mn-ea"/>
              </a:rPr>
              <a:t>属性选项</a:t>
            </a:r>
            <a:r>
              <a:rPr lang="en-US" altLang="zh-CN" sz="1600" dirty="0">
                <a:latin typeface="+mn-lt"/>
                <a:ea typeface="+mn-ea"/>
              </a:rPr>
              <a:t>&gt;... [ WITH &lt;</a:t>
            </a:r>
            <a:r>
              <a:rPr lang="zh-CN" altLang="zh-CN" sz="1600" dirty="0">
                <a:latin typeface="+mn-lt"/>
                <a:ea typeface="+mn-ea"/>
              </a:rPr>
              <a:t>终止</a:t>
            </a:r>
            <a:r>
              <a:rPr lang="en-US" altLang="zh-CN" sz="1600" dirty="0">
                <a:latin typeface="+mn-lt"/>
                <a:ea typeface="+mn-ea"/>
              </a:rPr>
              <a:t>&gt; ]   		/*</a:t>
            </a:r>
            <a:r>
              <a:rPr lang="zh-CN" altLang="zh-CN" sz="1600" dirty="0">
                <a:latin typeface="+mn-lt"/>
                <a:ea typeface="+mn-ea"/>
              </a:rPr>
              <a:t>设置数据库属性</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COLLATE</a:t>
            </a:r>
            <a:r>
              <a:rPr lang="zh-CN" altLang="zh-CN" sz="1600" dirty="0">
                <a:latin typeface="+mn-lt"/>
                <a:ea typeface="+mn-ea"/>
              </a:rPr>
              <a:t>排序名</a:t>
            </a:r>
            <a:r>
              <a:rPr lang="en-US" altLang="zh-CN" sz="1600" dirty="0">
                <a:latin typeface="+mn-lt"/>
                <a:ea typeface="+mn-ea"/>
              </a:rPr>
              <a:t> 							/*</a:t>
            </a:r>
            <a:r>
              <a:rPr lang="zh-CN" altLang="zh-CN" sz="1600" dirty="0">
                <a:latin typeface="+mn-lt"/>
                <a:ea typeface="+mn-ea"/>
              </a:rPr>
              <a:t>指定数据库排序规则</a:t>
            </a:r>
            <a:r>
              <a:rPr lang="en-US" altLang="zh-CN" sz="1600" dirty="0">
                <a:latin typeface="+mn-lt"/>
                <a:ea typeface="+mn-ea"/>
              </a:rPr>
              <a:t>*/</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a:t>
            </a:r>
            <a:endParaRPr lang="zh-CN" altLang="zh-CN" sz="1600"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1747" name="TextBox 2"/>
          <p:cNvSpPr txBox="1">
            <a:spLocks noChangeArrowheads="1"/>
          </p:cNvSpPr>
          <p:nvPr/>
        </p:nvSpPr>
        <p:spPr bwMode="auto">
          <a:xfrm>
            <a:off x="395288" y="1268413"/>
            <a:ext cx="835342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．命令主体</a:t>
            </a:r>
            <a:endParaRPr lang="zh-CN" altLang="zh-CN" b="1">
              <a:solidFill>
                <a:srgbClr val="C00000"/>
              </a:solidFill>
            </a:endParaRPr>
          </a:p>
          <a:p>
            <a:pPr eaLnBrk="1" hangingPunct="1"/>
            <a:r>
              <a:rPr lang="zh-CN" altLang="zh-CN"/>
              <a:t>（</a:t>
            </a:r>
            <a:r>
              <a:rPr lang="en-US" altLang="zh-CN"/>
              <a:t>1</a:t>
            </a:r>
            <a:r>
              <a:rPr lang="zh-CN" altLang="zh-CN"/>
              <a:t>）</a:t>
            </a:r>
            <a:r>
              <a:rPr lang="en-US" altLang="zh-CN"/>
              <a:t>ADD FILE</a:t>
            </a:r>
            <a:r>
              <a:rPr lang="zh-CN" altLang="zh-CN"/>
              <a:t>子句：向数据库添加数据文件，</a:t>
            </a:r>
            <a:r>
              <a:rPr lang="en-US" altLang="zh-CN"/>
              <a:t>&lt;</a:t>
            </a:r>
            <a:r>
              <a:rPr lang="zh-CN" altLang="zh-CN"/>
              <a:t>文件属性</a:t>
            </a:r>
            <a:r>
              <a:rPr lang="en-US" altLang="zh-CN"/>
              <a:t>&gt;</a:t>
            </a:r>
            <a:r>
              <a:rPr lang="zh-CN" altLang="zh-CN"/>
              <a:t>给出文件的属性，其构成参见</a:t>
            </a:r>
            <a:r>
              <a:rPr lang="en-US" altLang="zh-CN"/>
              <a:t>CREATE DATABASE</a:t>
            </a:r>
            <a:r>
              <a:rPr lang="zh-CN" altLang="zh-CN"/>
              <a:t>语法说明。</a:t>
            </a:r>
            <a:endParaRPr lang="zh-CN" altLang="zh-CN"/>
          </a:p>
          <a:p>
            <a:pPr eaLnBrk="1" fontAlgn="ctr" hangingPunct="1"/>
            <a:r>
              <a:rPr lang="zh-CN" altLang="zh-CN"/>
              <a:t>（</a:t>
            </a:r>
            <a:r>
              <a:rPr lang="en-US" altLang="zh-CN"/>
              <a:t>2</a:t>
            </a:r>
            <a:r>
              <a:rPr lang="zh-CN" altLang="zh-CN"/>
              <a:t>）</a:t>
            </a:r>
            <a:r>
              <a:rPr lang="en-US" altLang="zh-CN"/>
              <a:t>ADD LOG FILE</a:t>
            </a:r>
            <a:r>
              <a:rPr lang="zh-CN" altLang="zh-CN"/>
              <a:t>子句：向数据库添加日志文件，</a:t>
            </a:r>
            <a:r>
              <a:rPr lang="en-US" altLang="zh-CN"/>
              <a:t>&lt;</a:t>
            </a:r>
            <a:r>
              <a:rPr lang="zh-CN" altLang="zh-CN"/>
              <a:t>文件属性</a:t>
            </a:r>
            <a:r>
              <a:rPr lang="en-US" altLang="zh-CN"/>
              <a:t>&gt;</a:t>
            </a:r>
            <a:r>
              <a:rPr lang="zh-CN" altLang="zh-CN"/>
              <a:t>给出日志文件的属性。</a:t>
            </a:r>
            <a:endParaRPr lang="zh-CN" altLang="zh-CN"/>
          </a:p>
          <a:p>
            <a:pPr eaLnBrk="1" fontAlgn="ctr" hangingPunct="1"/>
            <a:r>
              <a:rPr lang="zh-CN" altLang="zh-CN"/>
              <a:t>（</a:t>
            </a:r>
            <a:r>
              <a:rPr lang="en-US" altLang="zh-CN"/>
              <a:t>3</a:t>
            </a:r>
            <a:r>
              <a:rPr lang="zh-CN" altLang="zh-CN"/>
              <a:t>）</a:t>
            </a:r>
            <a:r>
              <a:rPr lang="en-US" altLang="zh-CN"/>
              <a:t>REMOVE FILE</a:t>
            </a:r>
            <a:r>
              <a:rPr lang="zh-CN" altLang="zh-CN"/>
              <a:t>子句：删除数据文件</a:t>
            </a:r>
            <a:endParaRPr lang="zh-CN" altLang="zh-CN"/>
          </a:p>
          <a:p>
            <a:pPr eaLnBrk="1" fontAlgn="ctr" hangingPunct="1"/>
            <a:r>
              <a:rPr lang="zh-CN" altLang="zh-CN"/>
              <a:t>（</a:t>
            </a:r>
            <a:r>
              <a:rPr lang="en-US" altLang="zh-CN"/>
              <a:t>4</a:t>
            </a:r>
            <a:r>
              <a:rPr lang="zh-CN" altLang="zh-CN"/>
              <a:t>）</a:t>
            </a:r>
            <a:r>
              <a:rPr lang="en-US" altLang="zh-CN"/>
              <a:t>ADD FILEGROUP</a:t>
            </a:r>
            <a:r>
              <a:rPr lang="zh-CN" altLang="zh-CN"/>
              <a:t>子句：添加文件组</a:t>
            </a:r>
            <a:endParaRPr lang="zh-CN" altLang="zh-CN"/>
          </a:p>
          <a:p>
            <a:pPr eaLnBrk="1" fontAlgn="ctr" hangingPunct="1"/>
            <a:r>
              <a:rPr lang="zh-CN" altLang="zh-CN"/>
              <a:t>（</a:t>
            </a:r>
            <a:r>
              <a:rPr lang="en-US" altLang="zh-CN"/>
              <a:t>5</a:t>
            </a:r>
            <a:r>
              <a:rPr lang="zh-CN" altLang="zh-CN"/>
              <a:t>）</a:t>
            </a:r>
            <a:r>
              <a:rPr lang="en-US" altLang="zh-CN"/>
              <a:t>REMOVE FILEGROUP</a:t>
            </a:r>
            <a:r>
              <a:rPr lang="zh-CN" altLang="zh-CN"/>
              <a:t>子句：删除文件组</a:t>
            </a:r>
            <a:endParaRPr lang="zh-CN" altLang="zh-CN"/>
          </a:p>
          <a:p>
            <a:pPr eaLnBrk="1" fontAlgn="ctr" hangingPunct="1"/>
            <a:r>
              <a:rPr lang="zh-CN" altLang="zh-CN"/>
              <a:t>（</a:t>
            </a:r>
            <a:r>
              <a:rPr lang="en-US" altLang="zh-CN"/>
              <a:t>6</a:t>
            </a:r>
            <a:r>
              <a:rPr lang="zh-CN" altLang="zh-CN"/>
              <a:t>）</a:t>
            </a:r>
            <a:r>
              <a:rPr lang="en-US" altLang="zh-CN"/>
              <a:t>MODIFY FILE</a:t>
            </a:r>
            <a:r>
              <a:rPr lang="zh-CN" altLang="zh-CN"/>
              <a:t>子句：修改数据文件的属性，可以修改的文件属性包括</a:t>
            </a:r>
            <a:r>
              <a:rPr lang="en-US" altLang="zh-CN"/>
              <a:t>FILENAME</a:t>
            </a:r>
            <a:r>
              <a:rPr lang="zh-CN" altLang="zh-CN"/>
              <a:t>、</a:t>
            </a:r>
            <a:r>
              <a:rPr lang="en-US" altLang="zh-CN"/>
              <a:t>SIZE</a:t>
            </a:r>
            <a:r>
              <a:rPr lang="zh-CN" altLang="zh-CN"/>
              <a:t>、</a:t>
            </a:r>
            <a:r>
              <a:rPr lang="en-US" altLang="zh-CN"/>
              <a:t>MAXSIZE</a:t>
            </a:r>
            <a:r>
              <a:rPr lang="zh-CN" altLang="zh-CN"/>
              <a:t>和</a:t>
            </a:r>
            <a:r>
              <a:rPr lang="en-US" altLang="zh-CN"/>
              <a:t>FILEGROWTH</a:t>
            </a:r>
            <a:r>
              <a:rPr lang="zh-CN" altLang="zh-CN"/>
              <a:t>，但要注意，</a:t>
            </a:r>
            <a:r>
              <a:rPr lang="zh-CN" altLang="zh-CN">
                <a:highlight>
                  <a:srgbClr val="FFFF00"/>
                </a:highlight>
              </a:rPr>
              <a:t>一次只能修改其中的一个属性。</a:t>
            </a:r>
            <a:endParaRPr lang="zh-CN" altLang="zh-CN"/>
          </a:p>
          <a:p>
            <a:pPr eaLnBrk="1" fontAlgn="ctr" hangingPunct="1"/>
            <a:r>
              <a:rPr lang="zh-CN" altLang="zh-CN"/>
              <a:t>（</a:t>
            </a:r>
            <a:r>
              <a:rPr lang="en-US" altLang="zh-CN"/>
              <a:t>7</a:t>
            </a:r>
            <a:r>
              <a:rPr lang="zh-CN" altLang="zh-CN"/>
              <a:t>）</a:t>
            </a:r>
            <a:r>
              <a:rPr lang="en-US" altLang="zh-CN"/>
              <a:t>MODIFY NAME</a:t>
            </a:r>
            <a:r>
              <a:rPr lang="zh-CN" altLang="zh-CN"/>
              <a:t>子句：更改数据库</a:t>
            </a:r>
            <a:endParaRPr lang="zh-CN" altLang="zh-CN"/>
          </a:p>
          <a:p>
            <a:pPr eaLnBrk="1" fontAlgn="ctr" hangingPunct="1"/>
            <a:r>
              <a:rPr lang="zh-CN" altLang="zh-CN"/>
              <a:t>（</a:t>
            </a:r>
            <a:r>
              <a:rPr lang="en-US" altLang="zh-CN"/>
              <a:t>8</a:t>
            </a:r>
            <a:r>
              <a:rPr lang="zh-CN" altLang="zh-CN"/>
              <a:t>）</a:t>
            </a:r>
            <a:r>
              <a:rPr lang="en-US" altLang="zh-CN"/>
              <a:t>MODIFY FILEGROUP</a:t>
            </a:r>
            <a:r>
              <a:rPr lang="zh-CN" altLang="zh-CN"/>
              <a:t>子句：用于修改文件组的属性。“文件组名”为要修改的文件组名称。</a:t>
            </a:r>
            <a:endParaRPr lang="zh-CN" altLang="zh-CN"/>
          </a:p>
          <a:p>
            <a:pPr eaLnBrk="1" hangingPunct="1"/>
            <a:r>
              <a:rPr lang="zh-CN" altLang="zh-CN"/>
              <a:t>（</a:t>
            </a:r>
            <a:r>
              <a:rPr lang="en-US" altLang="zh-CN"/>
              <a:t>9</a:t>
            </a:r>
            <a:r>
              <a:rPr lang="zh-CN" altLang="zh-CN"/>
              <a:t>）</a:t>
            </a:r>
            <a:r>
              <a:rPr lang="en-US" altLang="zh-CN"/>
              <a:t>SET</a:t>
            </a:r>
            <a:r>
              <a:rPr lang="zh-CN" altLang="zh-CN"/>
              <a:t>子句：用于设置数据库的属性，</a:t>
            </a:r>
            <a:r>
              <a:rPr lang="en-US" altLang="zh-CN"/>
              <a:t>&lt;</a:t>
            </a:r>
            <a:r>
              <a:rPr lang="zh-CN" altLang="zh-CN"/>
              <a:t>属性选项</a:t>
            </a:r>
            <a:r>
              <a:rPr lang="en-US" altLang="zh-CN"/>
              <a:t>&gt;</a:t>
            </a:r>
            <a:r>
              <a:rPr lang="zh-CN" altLang="zh-CN"/>
              <a:t>中指定了要修改的属性。</a:t>
            </a:r>
            <a:endParaRPr lang="zh-CN" altLang="zh-CN"/>
          </a:p>
          <a:p>
            <a:pPr eaLnBrk="1" hangingPunct="1"/>
            <a:endParaRPr lang="zh-CN" altLang="en-US"/>
          </a:p>
        </p:txBody>
      </p:sp>
    </p:spTree>
  </p:cSld>
  <p:clrMapOvr>
    <a:masterClrMapping/>
  </p:clrMapOvr>
  <p:transition spd="slow">
    <p:pull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349500"/>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2772" name="TextBox 2"/>
          <p:cNvSpPr txBox="1">
            <a:spLocks noChangeArrowheads="1"/>
          </p:cNvSpPr>
          <p:nvPr/>
        </p:nvSpPr>
        <p:spPr bwMode="auto">
          <a:xfrm>
            <a:off x="468313" y="1484313"/>
            <a:ext cx="82804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en-US" altLang="zh-CN" b="1">
                <a:solidFill>
                  <a:srgbClr val="C00000"/>
                </a:solidFill>
              </a:rPr>
              <a:t>2</a:t>
            </a:r>
            <a:r>
              <a:rPr lang="zh-CN" altLang="zh-CN" b="1">
                <a:solidFill>
                  <a:srgbClr val="C00000"/>
                </a:solidFill>
              </a:rPr>
              <a:t>．文件组可更新选项</a:t>
            </a:r>
            <a:endParaRPr lang="zh-CN" altLang="zh-CN" b="1">
              <a:solidFill>
                <a:srgbClr val="C00000"/>
              </a:solidFill>
            </a:endParaRPr>
          </a:p>
          <a:p>
            <a:pPr eaLnBrk="1" fontAlgn="ctr" hangingPunct="1">
              <a:lnSpc>
                <a:spcPct val="150000"/>
              </a:lnSpc>
            </a:pPr>
            <a:r>
              <a:rPr lang="en-US" altLang="zh-CN"/>
              <a:t>&lt;</a:t>
            </a:r>
            <a:r>
              <a:rPr lang="zh-CN" altLang="zh-CN"/>
              <a:t>文件组可更新选项</a:t>
            </a:r>
            <a:r>
              <a:rPr lang="en-US" altLang="zh-CN"/>
              <a:t>&gt;</a:t>
            </a:r>
            <a:r>
              <a:rPr lang="zh-CN" altLang="zh-CN"/>
              <a:t>定义为：</a:t>
            </a:r>
            <a:endParaRPr lang="zh-CN" altLang="zh-CN"/>
          </a:p>
          <a:p>
            <a:pPr eaLnBrk="1" hangingPunct="1"/>
            <a:r>
              <a:rPr lang="en-US" altLang="zh-CN"/>
              <a:t>{</a:t>
            </a:r>
            <a:endParaRPr lang="zh-CN" altLang="zh-CN"/>
          </a:p>
          <a:p>
            <a:pPr eaLnBrk="1" hangingPunct="1"/>
            <a:r>
              <a:rPr lang="en-US" altLang="zh-CN"/>
              <a:t>     { READONLY | READWRITE } </a:t>
            </a:r>
            <a:endParaRPr lang="zh-CN" altLang="zh-CN"/>
          </a:p>
          <a:p>
            <a:pPr eaLnBrk="1" hangingPunct="1"/>
            <a:r>
              <a:rPr lang="en-US" altLang="zh-CN"/>
              <a:t>     { READ_ONLY | READ_WRITE }</a:t>
            </a:r>
            <a:endParaRPr lang="zh-CN" altLang="zh-CN"/>
          </a:p>
          <a:p>
            <a:pPr eaLnBrk="1" hangingPunct="1"/>
            <a:r>
              <a:rPr lang="en-US" altLang="zh-CN"/>
              <a:t>}</a:t>
            </a:r>
            <a:endParaRPr lang="zh-CN" altLang="zh-CN"/>
          </a:p>
          <a:p>
            <a:pPr eaLnBrk="1" fontAlgn="ctr" hangingPunct="1">
              <a:lnSpc>
                <a:spcPct val="150000"/>
              </a:lnSpc>
            </a:pPr>
            <a:r>
              <a:rPr lang="zh-CN" altLang="zh-CN"/>
              <a:t>（</a:t>
            </a:r>
            <a:r>
              <a:rPr lang="en-US" altLang="zh-CN"/>
              <a:t>1</a:t>
            </a:r>
            <a:r>
              <a:rPr lang="zh-CN" altLang="zh-CN"/>
              <a:t>）</a:t>
            </a:r>
            <a:r>
              <a:rPr lang="en-US" altLang="zh-CN"/>
              <a:t>READONLY</a:t>
            </a:r>
            <a:r>
              <a:rPr lang="zh-CN" altLang="zh-CN"/>
              <a:t>和</a:t>
            </a:r>
            <a:r>
              <a:rPr lang="en-US" altLang="zh-CN"/>
              <a:t>READ_ONLY</a:t>
            </a:r>
            <a:r>
              <a:rPr lang="zh-CN" altLang="zh-CN"/>
              <a:t>选项：用于将文件组设为</a:t>
            </a:r>
            <a:r>
              <a:rPr lang="zh-CN" altLang="zh-CN">
                <a:highlight>
                  <a:srgbClr val="FFFF00"/>
                </a:highlight>
              </a:rPr>
              <a:t>只读</a:t>
            </a:r>
            <a:r>
              <a:rPr lang="zh-CN" altLang="zh-CN"/>
              <a:t>。</a:t>
            </a:r>
            <a:endParaRPr lang="zh-CN" altLang="zh-CN"/>
          </a:p>
          <a:p>
            <a:pPr eaLnBrk="1" fontAlgn="ctr" hangingPunct="1">
              <a:lnSpc>
                <a:spcPct val="150000"/>
              </a:lnSpc>
            </a:pPr>
            <a:r>
              <a:rPr lang="zh-CN" altLang="zh-CN"/>
              <a:t>（</a:t>
            </a:r>
            <a:r>
              <a:rPr lang="en-US" altLang="zh-CN"/>
              <a:t>2</a:t>
            </a:r>
            <a:r>
              <a:rPr lang="zh-CN" altLang="zh-CN"/>
              <a:t>）</a:t>
            </a:r>
            <a:r>
              <a:rPr lang="en-US" altLang="zh-CN"/>
              <a:t>READWRITE</a:t>
            </a:r>
            <a:r>
              <a:rPr lang="zh-CN" altLang="zh-CN"/>
              <a:t>和</a:t>
            </a:r>
            <a:r>
              <a:rPr lang="en-US" altLang="zh-CN"/>
              <a:t>READ_WRITE</a:t>
            </a:r>
            <a:r>
              <a:rPr lang="zh-CN" altLang="zh-CN"/>
              <a:t>选项：将文件组设为</a:t>
            </a:r>
            <a:r>
              <a:rPr lang="zh-CN" altLang="zh-CN">
                <a:highlight>
                  <a:srgbClr val="FFFF00"/>
                </a:highlight>
              </a:rPr>
              <a:t>读</a:t>
            </a:r>
            <a:r>
              <a:rPr lang="en-US" altLang="zh-CN">
                <a:highlight>
                  <a:srgbClr val="FFFF00"/>
                </a:highlight>
              </a:rPr>
              <a:t>/</a:t>
            </a:r>
            <a:r>
              <a:rPr lang="zh-CN" altLang="zh-CN">
                <a:highlight>
                  <a:srgbClr val="FFFF00"/>
                </a:highlight>
              </a:rPr>
              <a:t>写</a:t>
            </a:r>
            <a:r>
              <a:rPr lang="zh-CN" altLang="zh-CN"/>
              <a:t>模式。</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997200"/>
            <a:ext cx="8066087"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3796" name="TextBox 2"/>
          <p:cNvSpPr txBox="1">
            <a:spLocks noChangeArrowheads="1"/>
          </p:cNvSpPr>
          <p:nvPr/>
        </p:nvSpPr>
        <p:spPr bwMode="auto">
          <a:xfrm>
            <a:off x="395288" y="1557338"/>
            <a:ext cx="85693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zh-CN" altLang="zh-CN">
                <a:highlight>
                  <a:srgbClr val="FFFF00"/>
                </a:highlight>
              </a:rPr>
              <a:t>例</a:t>
            </a:r>
            <a:r>
              <a:rPr lang="en-US" altLang="zh-CN">
                <a:highlight>
                  <a:srgbClr val="FFFF00"/>
                </a:highlight>
              </a:rPr>
              <a:t>2.8</a:t>
            </a:r>
            <a:r>
              <a:rPr lang="zh-CN" altLang="zh-CN"/>
              <a:t>】 假设已经创建了数据库</a:t>
            </a:r>
            <a:r>
              <a:rPr lang="en-US" altLang="zh-CN"/>
              <a:t>test1</a:t>
            </a:r>
            <a:r>
              <a:rPr lang="zh-CN" altLang="zh-CN"/>
              <a:t>，它只有一个主数据文件，其逻辑文件名为</a:t>
            </a:r>
            <a:r>
              <a:rPr lang="en-US" altLang="zh-CN"/>
              <a:t>test1_data</a:t>
            </a:r>
            <a:r>
              <a:rPr lang="zh-CN" altLang="zh-CN"/>
              <a:t>，大小为</a:t>
            </a:r>
            <a:r>
              <a:rPr lang="en-US" altLang="zh-CN"/>
              <a:t>5 MB</a:t>
            </a:r>
            <a:r>
              <a:rPr lang="zh-CN" altLang="zh-CN"/>
              <a:t>，最大为</a:t>
            </a:r>
            <a:r>
              <a:rPr lang="en-US" altLang="zh-CN"/>
              <a:t>50 MB</a:t>
            </a:r>
            <a:r>
              <a:rPr lang="zh-CN" altLang="zh-CN"/>
              <a:t>，增长方式为按</a:t>
            </a:r>
            <a:r>
              <a:rPr lang="en-US" altLang="zh-CN"/>
              <a:t>10%</a:t>
            </a:r>
            <a:r>
              <a:rPr lang="zh-CN" altLang="zh-CN"/>
              <a:t>增长。</a:t>
            </a:r>
            <a:endParaRPr lang="zh-CN" altLang="zh-CN"/>
          </a:p>
          <a:p>
            <a:pPr eaLnBrk="1" fontAlgn="ctr" hangingPunct="1"/>
            <a:r>
              <a:rPr lang="zh-CN" altLang="zh-CN"/>
              <a:t>要求：修改数据库</a:t>
            </a:r>
            <a:r>
              <a:rPr lang="en-US" altLang="zh-CN"/>
              <a:t>test1</a:t>
            </a:r>
            <a:r>
              <a:rPr lang="zh-CN" altLang="zh-CN"/>
              <a:t>现有数据文件</a:t>
            </a:r>
            <a:r>
              <a:rPr lang="en-US" altLang="zh-CN"/>
              <a:t>test1_data</a:t>
            </a:r>
            <a:r>
              <a:rPr lang="zh-CN" altLang="zh-CN"/>
              <a:t>的属性，将主数据文件的最大容量改为</a:t>
            </a:r>
            <a:r>
              <a:rPr lang="en-US" altLang="zh-CN"/>
              <a:t>100 MB</a:t>
            </a:r>
            <a:r>
              <a:rPr lang="zh-CN" altLang="zh-CN"/>
              <a:t>，增长方式改为按每次</a:t>
            </a:r>
            <a:r>
              <a:rPr lang="en-US" altLang="zh-CN"/>
              <a:t>5 MB</a:t>
            </a:r>
            <a:r>
              <a:rPr lang="zh-CN" altLang="zh-CN"/>
              <a:t>增长。</a:t>
            </a:r>
            <a:endParaRPr lang="zh-CN" altLang="zh-CN"/>
          </a:p>
          <a:p>
            <a:pPr eaLnBrk="1" fontAlgn="ctr" hangingPunct="1"/>
            <a:r>
              <a:rPr lang="zh-CN" altLang="zh-CN"/>
              <a:t>在“查询分析器”窗口中输入如下</a:t>
            </a:r>
            <a:r>
              <a:rPr lang="en-US" altLang="zh-CN"/>
              <a:t>T-SQL</a:t>
            </a:r>
            <a:r>
              <a:rPr lang="zh-CN" altLang="zh-CN"/>
              <a:t>语句：</a:t>
            </a:r>
            <a:endParaRPr lang="zh-CN" altLang="zh-CN"/>
          </a:p>
          <a:p>
            <a:pPr eaLnBrk="1" hangingPunct="1"/>
            <a:r>
              <a:rPr lang="en-US" altLang="zh-CN"/>
              <a:t>ALTER DATABASE test1</a:t>
            </a:r>
            <a:endParaRPr lang="zh-CN" altLang="zh-CN"/>
          </a:p>
          <a:p>
            <a:pPr eaLnBrk="1" hangingPunct="1"/>
            <a:r>
              <a:rPr lang="en-US" altLang="zh-CN"/>
              <a:t>    MODIFY FILE</a:t>
            </a:r>
            <a:endParaRPr lang="zh-CN" altLang="zh-CN"/>
          </a:p>
          <a:p>
            <a:pPr eaLnBrk="1" hangingPunct="1"/>
            <a:r>
              <a:rPr lang="en-US" altLang="zh-CN"/>
              <a:t>    (	</a:t>
            </a:r>
            <a:endParaRPr lang="zh-CN" altLang="zh-CN"/>
          </a:p>
          <a:p>
            <a:pPr eaLnBrk="1" hangingPunct="1"/>
            <a:r>
              <a:rPr lang="en-US" altLang="zh-CN"/>
              <a:t>        NAME ='test1_data',</a:t>
            </a:r>
            <a:endParaRPr lang="zh-CN" altLang="zh-CN"/>
          </a:p>
          <a:p>
            <a:pPr eaLnBrk="1" hangingPunct="1"/>
            <a:r>
              <a:rPr lang="en-US" altLang="zh-CN"/>
              <a:t>        MAXSIZE =100 MB,		/*</a:t>
            </a:r>
            <a:r>
              <a:rPr lang="zh-CN" altLang="zh-CN"/>
              <a:t>将主数据文件的最大改为</a:t>
            </a:r>
            <a:r>
              <a:rPr lang="en-US" altLang="zh-CN"/>
              <a:t>100 MB*/</a:t>
            </a:r>
            <a:endParaRPr lang="zh-CN" altLang="zh-CN"/>
          </a:p>
          <a:p>
            <a:pPr eaLnBrk="1" hangingPunct="1"/>
            <a:r>
              <a:rPr lang="en-US" altLang="zh-CN"/>
              <a:t>        FILEGROWTH = 5 MB	/*</a:t>
            </a:r>
            <a:r>
              <a:rPr lang="zh-CN" altLang="zh-CN"/>
              <a:t>将主数据文件的增长方式改为按</a:t>
            </a:r>
            <a:r>
              <a:rPr lang="en-US" altLang="zh-CN"/>
              <a:t>5 MB</a:t>
            </a:r>
            <a:r>
              <a:rPr lang="zh-CN" altLang="zh-CN"/>
              <a:t>增长</a:t>
            </a:r>
            <a:r>
              <a:rPr lang="en-US" altLang="zh-CN"/>
              <a:t>*/</a:t>
            </a:r>
            <a:endParaRPr lang="zh-CN" altLang="zh-CN"/>
          </a:p>
          <a:p>
            <a:pPr eaLnBrk="1" hangingPunct="1"/>
            <a:r>
              <a:rPr lang="en-US" altLang="zh-CN"/>
              <a:t>    )</a:t>
            </a:r>
            <a:endParaRPr lang="zh-CN" altLang="zh-CN"/>
          </a:p>
          <a:p>
            <a:pPr eaLnBrk="1" hangingPunct="1"/>
            <a:r>
              <a:rPr lang="en-US" altLang="zh-CN"/>
              <a:t>GO		</a:t>
            </a:r>
            <a:endParaRPr lang="zh-CN" altLang="zh-CN"/>
          </a:p>
          <a:p>
            <a:pPr eaLnBrk="1" hangingPunct="1"/>
            <a:endParaRPr lang="zh-CN" altLang="en-US"/>
          </a:p>
        </p:txBody>
      </p:sp>
    </p:spTree>
  </p:cSld>
  <p:clrMapOvr>
    <a:masterClrMapping/>
  </p:clrMapOvr>
  <p:transition spd="slow">
    <p:pull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63600" y="5084763"/>
            <a:ext cx="7777163"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844675"/>
            <a:ext cx="7775575"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 name="TextBox 2"/>
          <p:cNvSpPr txBox="1"/>
          <p:nvPr/>
        </p:nvSpPr>
        <p:spPr>
          <a:xfrm>
            <a:off x="468313" y="1484313"/>
            <a:ext cx="8207375" cy="4802187"/>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zh-CN" altLang="zh-CN" dirty="0">
                <a:highlight>
                  <a:srgbClr val="FFFF00"/>
                </a:highlight>
                <a:latin typeface="+mn-lt"/>
                <a:ea typeface="+mn-ea"/>
              </a:rPr>
              <a:t>例</a:t>
            </a:r>
            <a:r>
              <a:rPr lang="en-US" altLang="zh-CN" dirty="0">
                <a:highlight>
                  <a:srgbClr val="FFFF00"/>
                </a:highlight>
                <a:latin typeface="+mn-lt"/>
                <a:ea typeface="+mn-ea"/>
              </a:rPr>
              <a:t>2.9</a:t>
            </a:r>
            <a:r>
              <a:rPr lang="zh-CN" altLang="zh-CN" dirty="0">
                <a:latin typeface="+mn-lt"/>
                <a:ea typeface="+mn-ea"/>
              </a:rPr>
              <a:t>】 先为数据库</a:t>
            </a:r>
            <a:r>
              <a:rPr lang="en-US" altLang="zh-CN" dirty="0">
                <a:latin typeface="+mn-lt"/>
                <a:ea typeface="+mn-ea"/>
              </a:rPr>
              <a:t>test1</a:t>
            </a:r>
            <a:r>
              <a:rPr lang="zh-CN" altLang="zh-CN" dirty="0">
                <a:latin typeface="+mn-lt"/>
                <a:ea typeface="+mn-ea"/>
              </a:rPr>
              <a:t>增加数据文件</a:t>
            </a:r>
            <a:r>
              <a:rPr lang="en-US" altLang="zh-CN" dirty="0">
                <a:latin typeface="+mn-lt"/>
                <a:ea typeface="+mn-ea"/>
              </a:rPr>
              <a:t>test1bak</a:t>
            </a:r>
            <a:r>
              <a:rPr lang="zh-CN" altLang="zh-CN" dirty="0">
                <a:latin typeface="+mn-lt"/>
                <a:ea typeface="+mn-ea"/>
              </a:rPr>
              <a:t>，然后删除该数据文件。</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ALTER DATABASE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ADD FILE</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NAME = 'test1bak',</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FILENAME = 'd:\SQL Server\2012\test1bak.ndf',</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SIZE = 10 MB,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MAXSIZE = 50 MB,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FILEGROWTH = 5%</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通过查看“数据库属性”窗口中的文件属性来观察数据库</a:t>
            </a:r>
            <a:r>
              <a:rPr lang="en-US" altLang="zh-CN" dirty="0">
                <a:latin typeface="+mn-lt"/>
                <a:ea typeface="+mn-ea"/>
              </a:rPr>
              <a:t>test1</a:t>
            </a:r>
            <a:r>
              <a:rPr lang="zh-CN" altLang="zh-CN" dirty="0">
                <a:latin typeface="+mn-lt"/>
                <a:ea typeface="+mn-ea"/>
              </a:rPr>
              <a:t>是否增加数据文件</a:t>
            </a:r>
            <a:r>
              <a:rPr lang="en-US" altLang="zh-CN" dirty="0">
                <a:latin typeface="+mn-lt"/>
                <a:ea typeface="+mn-ea"/>
              </a:rPr>
              <a:t>test1bak</a:t>
            </a:r>
            <a:r>
              <a:rPr lang="zh-CN" altLang="zh-CN" dirty="0">
                <a:latin typeface="+mn-lt"/>
                <a:ea typeface="+mn-ea"/>
              </a:rPr>
              <a:t>。</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删除数据文件</a:t>
            </a:r>
            <a:r>
              <a:rPr lang="en-US" altLang="zh-CN" dirty="0">
                <a:latin typeface="+mn-lt"/>
                <a:ea typeface="+mn-ea"/>
              </a:rPr>
              <a:t>test1bak</a:t>
            </a:r>
            <a:r>
              <a:rPr lang="zh-CN" altLang="zh-CN" dirty="0">
                <a:latin typeface="+mn-lt"/>
                <a:ea typeface="+mn-ea"/>
              </a:rPr>
              <a:t>的命令如下：</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ALTER DATABASE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REMOVE FILE test1bak</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397125"/>
            <a:ext cx="7848600" cy="41052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 name="TextBox 2"/>
          <p:cNvSpPr txBox="1"/>
          <p:nvPr/>
        </p:nvSpPr>
        <p:spPr>
          <a:xfrm>
            <a:off x="468313" y="1484313"/>
            <a:ext cx="8207375" cy="541655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zh-CN" altLang="zh-CN" dirty="0">
                <a:highlight>
                  <a:srgbClr val="FFFF00"/>
                </a:highlight>
                <a:latin typeface="+mn-lt"/>
                <a:ea typeface="+mn-ea"/>
              </a:rPr>
              <a:t>例</a:t>
            </a:r>
            <a:r>
              <a:rPr lang="en-US" altLang="zh-CN" dirty="0">
                <a:highlight>
                  <a:srgbClr val="FFFF00"/>
                </a:highlight>
                <a:latin typeface="+mn-lt"/>
                <a:ea typeface="+mn-ea"/>
              </a:rPr>
              <a:t>2.10</a:t>
            </a:r>
            <a:r>
              <a:rPr lang="zh-CN" altLang="zh-CN" dirty="0">
                <a:latin typeface="+mn-lt"/>
                <a:ea typeface="+mn-ea"/>
              </a:rPr>
              <a:t>】 为数据库</a:t>
            </a:r>
            <a:r>
              <a:rPr lang="en-US" altLang="zh-CN" dirty="0">
                <a:latin typeface="+mn-lt"/>
                <a:ea typeface="+mn-ea"/>
              </a:rPr>
              <a:t>test1</a:t>
            </a:r>
            <a:r>
              <a:rPr lang="zh-CN" altLang="zh-CN" dirty="0">
                <a:latin typeface="+mn-lt"/>
                <a:ea typeface="+mn-ea"/>
              </a:rPr>
              <a:t>添加文件组</a:t>
            </a:r>
            <a:r>
              <a:rPr lang="en-US" altLang="zh-CN" dirty="0" err="1">
                <a:latin typeface="+mn-lt"/>
                <a:ea typeface="+mn-ea"/>
              </a:rPr>
              <a:t>fgroup</a:t>
            </a:r>
            <a:r>
              <a:rPr lang="zh-CN" altLang="zh-CN" dirty="0">
                <a:latin typeface="+mn-lt"/>
                <a:ea typeface="+mn-ea"/>
              </a:rPr>
              <a:t>，并为此文件组添加两个大小均为</a:t>
            </a:r>
            <a:r>
              <a:rPr lang="en-US" altLang="zh-CN" dirty="0">
                <a:latin typeface="+mn-lt"/>
                <a:ea typeface="+mn-ea"/>
              </a:rPr>
              <a:t>10 MB</a:t>
            </a:r>
            <a:r>
              <a:rPr lang="zh-CN" altLang="zh-CN" dirty="0">
                <a:latin typeface="+mn-lt"/>
                <a:ea typeface="+mn-ea"/>
              </a:rPr>
              <a:t>的数据文件。</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在“查询分析器”中输入如下</a:t>
            </a:r>
            <a:r>
              <a:rPr lang="en-US" altLang="zh-CN" dirty="0">
                <a:latin typeface="+mn-lt"/>
                <a:ea typeface="+mn-ea"/>
              </a:rPr>
              <a:t>T-SQL</a:t>
            </a:r>
            <a:r>
              <a:rPr lang="zh-CN" altLang="zh-CN" dirty="0">
                <a:latin typeface="+mn-lt"/>
                <a:ea typeface="+mn-ea"/>
              </a:rPr>
              <a:t>语句并执行：</a:t>
            </a:r>
            <a:endParaRPr lang="zh-CN" altLang="zh-CN" dirty="0">
              <a:latin typeface="+mn-lt"/>
              <a:ea typeface="+mn-ea"/>
            </a:endParaRPr>
          </a:p>
          <a:p>
            <a:pPr indent="446405" fontAlgn="auto">
              <a:spcBef>
                <a:spcPts val="0"/>
              </a:spcBef>
              <a:spcAft>
                <a:spcPts val="0"/>
              </a:spcAft>
              <a:defRPr/>
            </a:pPr>
            <a:r>
              <a:rPr lang="en-US" altLang="zh-CN" sz="1600" dirty="0">
                <a:latin typeface="+mn-lt"/>
                <a:ea typeface="+mn-ea"/>
              </a:rPr>
              <a:t>ALTER DATABASE test1</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ADD FILEGROUP </a:t>
            </a:r>
            <a:r>
              <a:rPr lang="en-US" altLang="zh-CN" sz="1600" dirty="0" err="1">
                <a:latin typeface="+mn-lt"/>
                <a:ea typeface="+mn-ea"/>
              </a:rPr>
              <a:t>fgroup</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GO</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ALTER DATABASE test1</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ADD FILE</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NAME = 'test1_data2',</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FILENAME = 'd:\SQL Server\2012\test1_data2.ndf',</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SIZE = 10 MB</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NAME = 'test1_data3',</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FILENAME = 'd:\SQL Server\2012\test1_data3.ndf',</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SIZE = 10 MB</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    </a:t>
            </a:r>
            <a:r>
              <a:rPr lang="en-US" altLang="zh-CN" sz="1600" dirty="0">
                <a:highlight>
                  <a:srgbClr val="FFFF00"/>
                </a:highlight>
                <a:latin typeface="+mn-lt"/>
                <a:ea typeface="+mn-ea"/>
              </a:rPr>
              <a:t>TO</a:t>
            </a:r>
            <a:r>
              <a:rPr lang="en-US" altLang="zh-CN" sz="1600" dirty="0">
                <a:latin typeface="+mn-lt"/>
                <a:ea typeface="+mn-ea"/>
              </a:rPr>
              <a:t> FILEGROUP </a:t>
            </a:r>
            <a:r>
              <a:rPr lang="en-US" altLang="zh-CN" sz="1600" dirty="0" err="1">
                <a:latin typeface="+mn-lt"/>
                <a:ea typeface="+mn-ea"/>
              </a:rPr>
              <a:t>fgroup</a:t>
            </a:r>
            <a:endParaRPr lang="zh-CN" altLang="zh-CN" sz="1600" dirty="0">
              <a:latin typeface="+mn-lt"/>
              <a:ea typeface="+mn-ea"/>
            </a:endParaRPr>
          </a:p>
          <a:p>
            <a:pPr indent="446405" fontAlgn="auto">
              <a:spcBef>
                <a:spcPts val="0"/>
              </a:spcBef>
              <a:spcAft>
                <a:spcPts val="0"/>
              </a:spcAft>
              <a:defRPr/>
            </a:pPr>
            <a:r>
              <a:rPr lang="en-US" altLang="zh-CN" sz="1600" dirty="0">
                <a:latin typeface="+mn-lt"/>
                <a:ea typeface="+mn-ea"/>
              </a:rPr>
              <a:t>GO</a:t>
            </a:r>
            <a:endParaRPr lang="zh-CN" altLang="zh-CN" sz="1600" dirty="0">
              <a:latin typeface="+mn-lt"/>
              <a:ea typeface="+mn-ea"/>
            </a:endParaRPr>
          </a:p>
          <a:p>
            <a:pPr fontAlgn="auto">
              <a:spcBef>
                <a:spcPts val="0"/>
              </a:spcBef>
              <a:spcAft>
                <a:spcPts val="0"/>
              </a:spcAft>
              <a:defRPr/>
            </a:pPr>
            <a:endParaRPr lang="zh-CN" altLang="en-US" sz="1600" dirty="0">
              <a:latin typeface="+mn-lt"/>
              <a:ea typeface="+mn-ea"/>
            </a:endParaRPr>
          </a:p>
        </p:txBody>
      </p:sp>
    </p:spTree>
  </p:cSld>
  <p:clrMapOvr>
    <a:masterClrMapping/>
  </p:clrMapOvr>
  <p:transition spd="slow">
    <p:pull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781300"/>
            <a:ext cx="7921625"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6868" name="TextBox 2"/>
          <p:cNvSpPr txBox="1">
            <a:spLocks noChangeArrowheads="1"/>
          </p:cNvSpPr>
          <p:nvPr/>
        </p:nvSpPr>
        <p:spPr bwMode="auto">
          <a:xfrm>
            <a:off x="395288" y="1484313"/>
            <a:ext cx="8353425"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【例</a:t>
            </a:r>
            <a:r>
              <a:rPr lang="en-US" altLang="zh-CN"/>
              <a:t>2.11</a:t>
            </a:r>
            <a:r>
              <a:rPr lang="zh-CN" altLang="zh-CN"/>
              <a:t>】 从数据库中删除文件组，将添加到</a:t>
            </a:r>
            <a:r>
              <a:rPr lang="en-US" altLang="zh-CN"/>
              <a:t>test1</a:t>
            </a:r>
            <a:r>
              <a:rPr lang="zh-CN" altLang="zh-CN"/>
              <a:t>数据库中的文件组</a:t>
            </a:r>
            <a:r>
              <a:rPr lang="en-US" altLang="zh-CN"/>
              <a:t>fgroup</a:t>
            </a:r>
            <a:r>
              <a:rPr lang="zh-CN" altLang="zh-CN"/>
              <a:t>删除。</a:t>
            </a:r>
            <a:endParaRPr lang="zh-CN" altLang="zh-CN"/>
          </a:p>
          <a:p>
            <a:pPr eaLnBrk="1" fontAlgn="ctr" hangingPunct="1">
              <a:lnSpc>
                <a:spcPct val="150000"/>
              </a:lnSpc>
            </a:pPr>
            <a:r>
              <a:rPr lang="zh-CN" altLang="zh-CN"/>
              <a:t>在“查询分析器”中输入如下</a:t>
            </a:r>
            <a:r>
              <a:rPr lang="en-US" altLang="zh-CN"/>
              <a:t>T-SQL</a:t>
            </a:r>
            <a:r>
              <a:rPr lang="zh-CN" altLang="zh-CN"/>
              <a:t>语句并执行：</a:t>
            </a:r>
            <a:endParaRPr lang="zh-CN" altLang="zh-CN"/>
          </a:p>
          <a:p>
            <a:pPr eaLnBrk="1" hangingPunct="1"/>
            <a:r>
              <a:rPr lang="en-US" altLang="zh-CN"/>
              <a:t>ALTER DATABASE  test1</a:t>
            </a:r>
            <a:endParaRPr lang="zh-CN" altLang="zh-CN"/>
          </a:p>
          <a:p>
            <a:pPr eaLnBrk="1" hangingPunct="1"/>
            <a:r>
              <a:rPr lang="en-US" altLang="zh-CN"/>
              <a:t>    REMOVE FILE  test1_data2</a:t>
            </a:r>
            <a:endParaRPr lang="zh-CN" altLang="zh-CN"/>
          </a:p>
          <a:p>
            <a:pPr eaLnBrk="1" hangingPunct="1"/>
            <a:r>
              <a:rPr lang="en-US" altLang="zh-CN"/>
              <a:t>GO</a:t>
            </a:r>
            <a:endParaRPr lang="zh-CN" altLang="zh-CN"/>
          </a:p>
          <a:p>
            <a:pPr eaLnBrk="1" hangingPunct="1"/>
            <a:r>
              <a:rPr lang="en-US" altLang="zh-CN"/>
              <a:t>ALTER DATABASE  test1</a:t>
            </a:r>
            <a:endParaRPr lang="zh-CN" altLang="zh-CN"/>
          </a:p>
          <a:p>
            <a:pPr eaLnBrk="1" hangingPunct="1"/>
            <a:r>
              <a:rPr lang="en-US" altLang="zh-CN"/>
              <a:t>    REMOVE FILE  test1_data3</a:t>
            </a:r>
            <a:endParaRPr lang="zh-CN" altLang="zh-CN"/>
          </a:p>
          <a:p>
            <a:pPr eaLnBrk="1" hangingPunct="1"/>
            <a:r>
              <a:rPr lang="en-US" altLang="zh-CN"/>
              <a:t>GO</a:t>
            </a:r>
            <a:endParaRPr lang="zh-CN" altLang="zh-CN"/>
          </a:p>
          <a:p>
            <a:pPr eaLnBrk="1" hangingPunct="1"/>
            <a:r>
              <a:rPr lang="en-US" altLang="zh-CN"/>
              <a:t>ALTER DATABASE  test1</a:t>
            </a:r>
            <a:endParaRPr lang="zh-CN" altLang="zh-CN"/>
          </a:p>
          <a:p>
            <a:pPr eaLnBrk="1" hangingPunct="1"/>
            <a:r>
              <a:rPr lang="en-US" altLang="zh-CN"/>
              <a:t>    REMOVE FILEGROUP fgroup</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060575"/>
            <a:ext cx="7848600" cy="28082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 name="TextBox 2"/>
          <p:cNvSpPr txBox="1"/>
          <p:nvPr/>
        </p:nvSpPr>
        <p:spPr>
          <a:xfrm>
            <a:off x="468313" y="1484313"/>
            <a:ext cx="8280400" cy="3694112"/>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2.12</a:t>
            </a:r>
            <a:r>
              <a:rPr lang="zh-CN" altLang="zh-CN" dirty="0">
                <a:latin typeface="+mn-lt"/>
                <a:ea typeface="+mn-ea"/>
              </a:rPr>
              <a:t>】 为数据库</a:t>
            </a:r>
            <a:r>
              <a:rPr lang="en-US" altLang="zh-CN" dirty="0">
                <a:latin typeface="+mn-lt"/>
                <a:ea typeface="+mn-ea"/>
              </a:rPr>
              <a:t>test1</a:t>
            </a:r>
            <a:r>
              <a:rPr lang="zh-CN" altLang="zh-CN" dirty="0">
                <a:latin typeface="+mn-lt"/>
                <a:ea typeface="+mn-ea"/>
              </a:rPr>
              <a:t>添加一个日志文件。</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在“查询分析器”中输入如下</a:t>
            </a:r>
            <a:r>
              <a:rPr lang="en-US" altLang="zh-CN" dirty="0">
                <a:latin typeface="+mn-lt"/>
                <a:ea typeface="+mn-ea"/>
              </a:rPr>
              <a:t>T-SQL</a:t>
            </a:r>
            <a:r>
              <a:rPr lang="zh-CN" altLang="zh-CN" dirty="0">
                <a:latin typeface="+mn-lt"/>
                <a:ea typeface="+mn-ea"/>
              </a:rPr>
              <a:t>语句并执行：</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ALTER DATABASE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ADD LOG FILE</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NAME = ' test1_log2',</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FILENAME = ' d:\SQL Server\2012\test1_log2.ldf',</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SIZE = 5 MB,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MAXSIZE =10 MB,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FILEGROWTH = 1 MB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284538"/>
            <a:ext cx="7921625"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2.3.2  </a:t>
            </a:r>
            <a:r>
              <a:rPr lang="zh-CN" altLang="zh-CN" dirty="0">
                <a:effectLst/>
              </a:rPr>
              <a:t>修改数据库：</a:t>
            </a:r>
            <a:r>
              <a:rPr lang="en-US" altLang="zh-CN" dirty="0">
                <a:effectLst/>
              </a:rPr>
              <a:t>ALTER DATABASE</a:t>
            </a:r>
            <a:endParaRPr lang="zh-CN" altLang="en-US" dirty="0"/>
          </a:p>
        </p:txBody>
      </p:sp>
      <p:sp>
        <p:nvSpPr>
          <p:cNvPr id="3" name="TextBox 2"/>
          <p:cNvSpPr txBox="1"/>
          <p:nvPr/>
        </p:nvSpPr>
        <p:spPr>
          <a:xfrm>
            <a:off x="395288" y="1557338"/>
            <a:ext cx="8353425" cy="3970337"/>
          </a:xfrm>
          <a:prstGeom prst="rect">
            <a:avLst/>
          </a:prstGeom>
          <a:noFill/>
        </p:spPr>
        <p:txBody>
          <a:bodyPr>
            <a:spAutoFit/>
          </a:bodyPr>
          <a:lstStyle/>
          <a:p>
            <a:pPr indent="446405" fontAlgn="ctr">
              <a:lnSpc>
                <a:spcPct val="150000"/>
              </a:lnSpc>
              <a:spcBef>
                <a:spcPts val="0"/>
              </a:spcBef>
              <a:spcAft>
                <a:spcPts val="0"/>
              </a:spcAft>
              <a:defRPr/>
            </a:pPr>
            <a:r>
              <a:rPr lang="zh-CN" altLang="zh-CN" dirty="0">
                <a:latin typeface="+mn-lt"/>
                <a:ea typeface="+mn-ea"/>
              </a:rPr>
              <a:t>【例</a:t>
            </a:r>
            <a:r>
              <a:rPr lang="en-US" altLang="zh-CN" dirty="0">
                <a:latin typeface="+mn-lt"/>
                <a:ea typeface="+mn-ea"/>
              </a:rPr>
              <a:t>2.13</a:t>
            </a:r>
            <a:r>
              <a:rPr lang="zh-CN" altLang="zh-CN" dirty="0">
                <a:latin typeface="+mn-lt"/>
                <a:ea typeface="+mn-ea"/>
              </a:rPr>
              <a:t>】 从数据库</a:t>
            </a:r>
            <a:r>
              <a:rPr lang="en-US" altLang="zh-CN" dirty="0">
                <a:latin typeface="+mn-lt"/>
                <a:ea typeface="+mn-ea"/>
              </a:rPr>
              <a:t>TEST1</a:t>
            </a:r>
            <a:r>
              <a:rPr lang="zh-CN" altLang="zh-CN" dirty="0">
                <a:latin typeface="+mn-lt"/>
                <a:ea typeface="+mn-ea"/>
              </a:rPr>
              <a:t>中删除一个日志文件，将日志文件</a:t>
            </a:r>
            <a:r>
              <a:rPr lang="en-US" altLang="zh-CN" dirty="0">
                <a:latin typeface="+mn-lt"/>
                <a:ea typeface="+mn-ea"/>
              </a:rPr>
              <a:t>TEST1_LOG2</a:t>
            </a:r>
            <a:r>
              <a:rPr lang="zh-CN" altLang="zh-CN" dirty="0">
                <a:latin typeface="+mn-lt"/>
                <a:ea typeface="+mn-ea"/>
              </a:rPr>
              <a:t>删除。</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将数据库</a:t>
            </a:r>
            <a:r>
              <a:rPr lang="en-US" altLang="zh-CN" dirty="0">
                <a:latin typeface="+mn-lt"/>
                <a:ea typeface="+mn-ea"/>
              </a:rPr>
              <a:t>test1</a:t>
            </a:r>
            <a:r>
              <a:rPr lang="zh-CN" altLang="zh-CN" dirty="0">
                <a:latin typeface="+mn-lt"/>
                <a:ea typeface="+mn-ea"/>
              </a:rPr>
              <a:t>的名改为</a:t>
            </a:r>
            <a:r>
              <a:rPr lang="en-US" altLang="zh-CN" dirty="0" err="1">
                <a:latin typeface="+mn-lt"/>
                <a:ea typeface="+mn-ea"/>
              </a:rPr>
              <a:t>just_test</a:t>
            </a:r>
            <a:r>
              <a:rPr lang="zh-CN" altLang="zh-CN" dirty="0">
                <a:latin typeface="+mn-lt"/>
                <a:ea typeface="+mn-ea"/>
              </a:rPr>
              <a:t>。进行此操作时必须保证该数据库此时没有被其他任何用户使用。</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在“查询分析器”中输入如下</a:t>
            </a:r>
            <a:r>
              <a:rPr lang="en-US" altLang="zh-CN" dirty="0">
                <a:latin typeface="+mn-lt"/>
                <a:ea typeface="+mn-ea"/>
              </a:rPr>
              <a:t>T-SQL</a:t>
            </a:r>
            <a:r>
              <a:rPr lang="zh-CN" altLang="zh-CN" dirty="0">
                <a:latin typeface="+mn-lt"/>
                <a:ea typeface="+mn-ea"/>
              </a:rPr>
              <a:t>语句并执行：</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ALTER DATABASE TEST1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REMOVE FILE TEST1_LOG2</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ALTER DATABASE test3</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MODIFY NAME = just_test3</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573463"/>
            <a:ext cx="7848600" cy="576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420938"/>
            <a:ext cx="7848600"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smtClean="0">
                <a:effectLst/>
              </a:rPr>
              <a:t>2.3.3  </a:t>
            </a:r>
            <a:r>
              <a:rPr lang="zh-CN" altLang="zh-CN" dirty="0" smtClean="0">
                <a:effectLst/>
              </a:rPr>
              <a:t>删除数据库：</a:t>
            </a:r>
            <a:r>
              <a:rPr lang="en-US" altLang="zh-CN" dirty="0" smtClean="0">
                <a:effectLst/>
              </a:rPr>
              <a:t>DROP DATABASE</a:t>
            </a:r>
            <a:endParaRPr lang="zh-CN" altLang="zh-CN" dirty="0">
              <a:effectLst/>
            </a:endParaRPr>
          </a:p>
        </p:txBody>
      </p:sp>
      <p:sp>
        <p:nvSpPr>
          <p:cNvPr id="39941" name="TextBox 2"/>
          <p:cNvSpPr txBox="1">
            <a:spLocks noChangeArrowheads="1"/>
          </p:cNvSpPr>
          <p:nvPr/>
        </p:nvSpPr>
        <p:spPr bwMode="auto">
          <a:xfrm>
            <a:off x="468313" y="1484313"/>
            <a:ext cx="8280400"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删除数据库使用</a:t>
            </a:r>
            <a:r>
              <a:rPr lang="en-US" altLang="zh-CN"/>
              <a:t>DROP DATABASE</a:t>
            </a:r>
            <a:r>
              <a:rPr lang="zh-CN" altLang="zh-CN"/>
              <a:t>命令。</a:t>
            </a:r>
            <a:endParaRPr lang="zh-CN" altLang="zh-CN"/>
          </a:p>
          <a:p>
            <a:pPr eaLnBrk="1" fontAlgn="ctr" hangingPunct="1">
              <a:lnSpc>
                <a:spcPct val="150000"/>
              </a:lnSpc>
            </a:pPr>
            <a:r>
              <a:rPr lang="zh-CN" altLang="zh-CN"/>
              <a:t>语法格式：</a:t>
            </a:r>
            <a:endParaRPr lang="zh-CN" altLang="zh-CN"/>
          </a:p>
          <a:p>
            <a:pPr eaLnBrk="1" hangingPunct="1">
              <a:lnSpc>
                <a:spcPct val="150000"/>
              </a:lnSpc>
            </a:pPr>
            <a:r>
              <a:rPr lang="en-US" altLang="zh-CN"/>
              <a:t>DROP DATABASE</a:t>
            </a:r>
            <a:r>
              <a:rPr lang="zh-CN" altLang="zh-CN"/>
              <a:t>数据库名</a:t>
            </a:r>
            <a:r>
              <a:rPr lang="en-US" altLang="zh-CN"/>
              <a:t>......</a:t>
            </a:r>
            <a:endParaRPr lang="zh-CN" altLang="zh-CN"/>
          </a:p>
          <a:p>
            <a:pPr eaLnBrk="1" fontAlgn="ctr" hangingPunct="1">
              <a:lnSpc>
                <a:spcPct val="150000"/>
              </a:lnSpc>
            </a:pPr>
            <a:r>
              <a:rPr lang="zh-CN" altLang="zh-CN"/>
              <a:t>其中，“数据库名”是要删除的数据库名。例如，要删除数据库</a:t>
            </a:r>
            <a:r>
              <a:rPr lang="en-US" altLang="zh-CN"/>
              <a:t>test2</a:t>
            </a:r>
            <a:r>
              <a:rPr lang="zh-CN" altLang="zh-CN"/>
              <a:t>，使用命令：</a:t>
            </a:r>
            <a:endParaRPr lang="zh-CN" altLang="zh-CN"/>
          </a:p>
          <a:p>
            <a:pPr eaLnBrk="1" hangingPunct="1"/>
            <a:r>
              <a:rPr lang="en-US" altLang="zh-CN"/>
              <a:t>DROP DATABASE test2</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644900"/>
            <a:ext cx="7921625" cy="21605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773238"/>
            <a:ext cx="7921625" cy="15843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2.3.4  </a:t>
            </a:r>
            <a:r>
              <a:rPr lang="zh-CN" altLang="zh-CN" dirty="0">
                <a:effectLst/>
              </a:rPr>
              <a:t>数据库快照：</a:t>
            </a:r>
            <a:r>
              <a:rPr lang="en-US" altLang="zh-CN" dirty="0">
                <a:effectLst/>
              </a:rPr>
              <a:t>AS SNAPSHOT</a:t>
            </a:r>
            <a:endParaRPr lang="zh-CN" altLang="zh-CN" dirty="0">
              <a:effectLst/>
            </a:endParaRPr>
          </a:p>
        </p:txBody>
      </p:sp>
      <p:sp>
        <p:nvSpPr>
          <p:cNvPr id="40965" name="TextBox 2"/>
          <p:cNvSpPr txBox="1">
            <a:spLocks noChangeArrowheads="1"/>
          </p:cNvSpPr>
          <p:nvPr/>
        </p:nvSpPr>
        <p:spPr bwMode="auto">
          <a:xfrm>
            <a:off x="395288" y="1412875"/>
            <a:ext cx="83534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highlight>
                  <a:srgbClr val="FFFF00"/>
                </a:highlight>
              </a:rPr>
              <a:t>创建数据库快照</a:t>
            </a:r>
            <a:r>
              <a:rPr lang="zh-CN" altLang="zh-CN"/>
              <a:t>也使用</a:t>
            </a:r>
            <a:r>
              <a:rPr lang="en-US" altLang="zh-CN"/>
              <a:t>CREATE DATABASE</a:t>
            </a:r>
            <a:r>
              <a:rPr lang="zh-CN" altLang="zh-CN"/>
              <a:t>命令。语法格式如下：</a:t>
            </a:r>
            <a:endParaRPr lang="zh-CN" altLang="zh-CN"/>
          </a:p>
          <a:p>
            <a:pPr eaLnBrk="1" hangingPunct="1"/>
            <a:r>
              <a:rPr lang="en-US" altLang="zh-CN"/>
              <a:t>CREATE DATABASE</a:t>
            </a:r>
            <a:r>
              <a:rPr lang="zh-CN" altLang="zh-CN"/>
              <a:t>数据库快照名</a:t>
            </a:r>
            <a:endParaRPr lang="zh-CN" altLang="zh-CN"/>
          </a:p>
          <a:p>
            <a:pPr eaLnBrk="1" hangingPunct="1"/>
            <a:r>
              <a:rPr lang="en-US" altLang="zh-CN"/>
              <a:t>    ON(</a:t>
            </a:r>
            <a:endParaRPr lang="zh-CN" altLang="zh-CN"/>
          </a:p>
          <a:p>
            <a:pPr eaLnBrk="1" hangingPunct="1"/>
            <a:r>
              <a:rPr lang="en-US" altLang="zh-CN"/>
              <a:t>        NAME = </a:t>
            </a:r>
            <a:r>
              <a:rPr lang="zh-CN" altLang="zh-CN"/>
              <a:t>逻辑文件名</a:t>
            </a:r>
            <a:r>
              <a:rPr lang="en-US" altLang="zh-CN"/>
              <a:t>,</a:t>
            </a:r>
            <a:endParaRPr lang="zh-CN" altLang="zh-CN"/>
          </a:p>
          <a:p>
            <a:pPr eaLnBrk="1" hangingPunct="1"/>
            <a:r>
              <a:rPr lang="en-US" altLang="zh-CN"/>
              <a:t>        FILENAME = '</a:t>
            </a:r>
            <a:r>
              <a:rPr lang="zh-CN" altLang="zh-CN"/>
              <a:t>操作系统文件名</a:t>
            </a:r>
            <a:r>
              <a:rPr lang="en-US" altLang="zh-CN"/>
              <a:t>'</a:t>
            </a:r>
            <a:endParaRPr lang="zh-CN" altLang="zh-CN"/>
          </a:p>
          <a:p>
            <a:pPr eaLnBrk="1" hangingPunct="1"/>
            <a:r>
              <a:rPr lang="en-US" altLang="zh-CN"/>
              <a:t>    ) [, ... ]</a:t>
            </a:r>
            <a:endParaRPr lang="zh-CN" altLang="zh-CN"/>
          </a:p>
          <a:p>
            <a:pPr eaLnBrk="1" hangingPunct="1"/>
            <a:r>
              <a:rPr lang="en-US" altLang="zh-CN"/>
              <a:t>    AS SNAPSHOT OF</a:t>
            </a:r>
            <a:r>
              <a:rPr lang="zh-CN" altLang="zh-CN"/>
              <a:t>源数据库名</a:t>
            </a:r>
            <a:endParaRPr lang="zh-CN" altLang="zh-CN"/>
          </a:p>
          <a:p>
            <a:pPr eaLnBrk="1" fontAlgn="ctr" hangingPunct="1"/>
            <a:r>
              <a:rPr lang="zh-CN" altLang="zh-CN"/>
              <a:t>【例</a:t>
            </a:r>
            <a:r>
              <a:rPr lang="en-US" altLang="zh-CN"/>
              <a:t>2.14</a:t>
            </a:r>
            <a:r>
              <a:rPr lang="zh-CN" altLang="zh-CN"/>
              <a:t>】 创建</a:t>
            </a:r>
            <a:r>
              <a:rPr lang="en-US" altLang="zh-CN"/>
              <a:t>test1</a:t>
            </a:r>
            <a:r>
              <a:rPr lang="zh-CN" altLang="zh-CN"/>
              <a:t>数据库的快照</a:t>
            </a:r>
            <a:r>
              <a:rPr lang="en-US" altLang="zh-CN"/>
              <a:t>test1_s1</a:t>
            </a:r>
            <a:r>
              <a:rPr lang="zh-CN" altLang="zh-CN"/>
              <a:t>。</a:t>
            </a:r>
            <a:endParaRPr lang="zh-CN" altLang="zh-CN"/>
          </a:p>
          <a:p>
            <a:pPr eaLnBrk="1" hangingPunct="1"/>
            <a:r>
              <a:rPr lang="en-US" altLang="zh-CN"/>
              <a:t>CREATE DATABASE test1_s1</a:t>
            </a:r>
            <a:endParaRPr lang="zh-CN" altLang="zh-CN"/>
          </a:p>
          <a:p>
            <a:pPr eaLnBrk="1" hangingPunct="1"/>
            <a:r>
              <a:rPr lang="en-US" altLang="zh-CN"/>
              <a:t>    ON</a:t>
            </a:r>
            <a:endParaRPr lang="zh-CN" altLang="zh-CN"/>
          </a:p>
          <a:p>
            <a:pPr eaLnBrk="1" hangingPunct="1"/>
            <a:r>
              <a:rPr lang="en-US" altLang="zh-CN"/>
              <a:t>    (</a:t>
            </a:r>
            <a:endParaRPr lang="zh-CN" altLang="zh-CN"/>
          </a:p>
          <a:p>
            <a:pPr eaLnBrk="1" hangingPunct="1"/>
            <a:r>
              <a:rPr lang="en-US" altLang="zh-CN"/>
              <a:t>        NAME=test1,</a:t>
            </a:r>
            <a:endParaRPr lang="zh-CN" altLang="zh-CN"/>
          </a:p>
          <a:p>
            <a:pPr eaLnBrk="1" hangingPunct="1"/>
            <a:r>
              <a:rPr lang="en-US" altLang="zh-CN"/>
              <a:t>        FILENAME='d:\SQL Server\2012\test1_s1.mdf'</a:t>
            </a:r>
            <a:endParaRPr lang="zh-CN" altLang="zh-CN"/>
          </a:p>
          <a:p>
            <a:pPr eaLnBrk="1" hangingPunct="1"/>
            <a:r>
              <a:rPr lang="en-US" altLang="zh-CN"/>
              <a:t>    )</a:t>
            </a:r>
            <a:endParaRPr lang="zh-CN" altLang="zh-CN"/>
          </a:p>
          <a:p>
            <a:pPr eaLnBrk="1" hangingPunct="1"/>
            <a:r>
              <a:rPr lang="en-US" altLang="zh-CN"/>
              <a:t>    AS SNAPSHOT OF test1</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5753100"/>
            <a:ext cx="7775575" cy="2682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2.3.4  </a:t>
            </a:r>
            <a:r>
              <a:rPr lang="zh-CN" altLang="zh-CN" dirty="0">
                <a:effectLst/>
              </a:rPr>
              <a:t>数据库快照：</a:t>
            </a:r>
            <a:r>
              <a:rPr lang="en-US" altLang="zh-CN" dirty="0">
                <a:effectLst/>
              </a:rPr>
              <a:t>AS SNAPSHOT</a:t>
            </a:r>
            <a:endParaRPr lang="zh-CN" altLang="en-US" dirty="0"/>
          </a:p>
        </p:txBody>
      </p:sp>
      <p:sp>
        <p:nvSpPr>
          <p:cNvPr id="3" name="TextBox 2"/>
          <p:cNvSpPr txBox="1"/>
          <p:nvPr/>
        </p:nvSpPr>
        <p:spPr>
          <a:xfrm>
            <a:off x="468313" y="1341438"/>
            <a:ext cx="8207375" cy="922337"/>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注意，由于</a:t>
            </a:r>
            <a:r>
              <a:rPr lang="en-US" altLang="zh-CN" dirty="0">
                <a:latin typeface="+mn-lt"/>
                <a:ea typeface="+mn-ea"/>
              </a:rPr>
              <a:t>SQL Server 2012</a:t>
            </a:r>
            <a:r>
              <a:rPr lang="zh-CN" altLang="zh-CN" dirty="0">
                <a:latin typeface="+mn-lt"/>
                <a:ea typeface="+mn-ea"/>
              </a:rPr>
              <a:t>标准版不支持数据库快照，所以运行该命令会显示错误信息，如图</a:t>
            </a:r>
            <a:r>
              <a:rPr lang="en-US" altLang="zh-CN" dirty="0">
                <a:latin typeface="+mn-lt"/>
                <a:ea typeface="+mn-ea"/>
              </a:rPr>
              <a:t>2.11</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4198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150" y="2060575"/>
            <a:ext cx="5329238"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468313" y="5153025"/>
            <a:ext cx="8207375" cy="120015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删除数据库快照的方法和删除数据库的方法完全相同，可以使用界面方式删除，也可以使用命令方式删除，例如：</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DROP DATABASE test1_s1;</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tags/tag1.xml><?xml version="1.0" encoding="utf-8"?>
<p:tagLst xmlns:p="http://schemas.openxmlformats.org/presentationml/2006/main">
  <p:tag name="KSO_WPP_MARK_KEY" val="e39ff4ef-99b8-4701-8f3c-69971c84cbbc"/>
  <p:tag name="COMMONDATA" val="eyJoZGlkIjoiYjYwOGM3MzYxYWU3NGUyZGU5NTM0NDI5ZGZiNDhjMD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9030</Words>
  <Application>WPS 演示</Application>
  <PresentationFormat>全屏显示(4:3)</PresentationFormat>
  <Paragraphs>426</Paragraphs>
  <Slides>35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35</vt:i4>
      </vt:variant>
    </vt:vector>
  </HeadingPairs>
  <TitlesOfParts>
    <vt:vector size="49" baseType="lpstr">
      <vt:lpstr>Arial</vt:lpstr>
      <vt:lpstr>宋体</vt:lpstr>
      <vt:lpstr>Wingdings</vt:lpstr>
      <vt:lpstr>Calibri</vt:lpstr>
      <vt:lpstr>Symbol</vt:lpstr>
      <vt:lpstr>黑体</vt:lpstr>
      <vt:lpstr>Times New Roman</vt:lpstr>
      <vt:lpstr>方正书宋简体</vt:lpstr>
      <vt:lpstr>Candara</vt:lpstr>
      <vt:lpstr>华文新魏</vt:lpstr>
      <vt:lpstr>微软雅黑</vt:lpstr>
      <vt:lpstr>Arial Unicode MS</vt:lpstr>
      <vt:lpstr>华文楷体</vt:lpstr>
      <vt:lpstr>波形</vt:lpstr>
      <vt:lpstr>第2章  数据库创建</vt:lpstr>
      <vt:lpstr>2.1  SQL Server 2012数据库 </vt:lpstr>
      <vt:lpstr>2.1.1  逻辑数据库</vt:lpstr>
      <vt:lpstr>2.1.2  物理数据库</vt:lpstr>
      <vt:lpstr>2.1.2  物理数据库</vt:lpstr>
      <vt:lpstr>2.1.3  系统数据库和用户数据库</vt:lpstr>
      <vt:lpstr>2.2  界面方式创建数据库</vt:lpstr>
      <vt:lpstr>2.2.1  数据库的创建</vt:lpstr>
      <vt:lpstr>2.2.1  数据库的创建</vt:lpstr>
      <vt:lpstr>2.2.1  数据库的创建</vt:lpstr>
      <vt:lpstr>2.2.2  数据库的修改和删除</vt:lpstr>
      <vt:lpstr>2.2.2  数据库的修改和删除</vt:lpstr>
      <vt:lpstr>2.2.2  数据库的修改和删除</vt:lpstr>
      <vt:lpstr>2.2.2  数据库的修改和删除</vt:lpstr>
      <vt:lpstr>2.2.2  数据库的修改和删除</vt:lpstr>
      <vt:lpstr>2.2.2  数据库的修改和删除</vt:lpstr>
      <vt:lpstr>2.2.2  数据库的修改和删除</vt:lpstr>
      <vt:lpstr>2.3  命令方式创建数据库</vt:lpstr>
      <vt:lpstr>2.3.1  创建数据库：CREATE DATABASE</vt:lpstr>
      <vt:lpstr>2.3.1  创建数据库：CREATE DATABASE</vt:lpstr>
      <vt:lpstr>2.3.1  创建数据库：CREATE DATABASE</vt:lpstr>
      <vt:lpstr>2.3.1  创建数据库：CREATE DATABASE</vt:lpstr>
      <vt:lpstr>2.3.1  创建数据库：CREATE DATABASE</vt:lpstr>
      <vt:lpstr>2.3.2  修改数据库：ALTER DATABASE</vt:lpstr>
      <vt:lpstr>2.3.2  修改数据库：ALTER DATABASE</vt:lpstr>
      <vt:lpstr>2.3.2  修改数据库：ALTER DATABASE</vt:lpstr>
      <vt:lpstr>2.3.2  修改数据库：ALTER DATABASE</vt:lpstr>
      <vt:lpstr>2.3.2  修改数据库：ALTER DATABASE</vt:lpstr>
      <vt:lpstr>2.3.2  修改数据库：ALTER DATABASE</vt:lpstr>
      <vt:lpstr>2.3.2  修改数据库：ALTER DATABASE</vt:lpstr>
      <vt:lpstr>2.3.2  修改数据库：ALTER DATABASE</vt:lpstr>
      <vt:lpstr>2.3.2  修改数据库：ALTER DATABASE</vt:lpstr>
      <vt:lpstr>2.3.3  删除数据库：DROP DATABASE</vt:lpstr>
      <vt:lpstr>2.3.4  数据库快照：AS SNAPSHOT</vt:lpstr>
      <vt:lpstr>2.3.4  数据库快照：AS SNAPSHOT</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数据库创建</dc:title>
  <dc:creator>Microsoft</dc:creator>
  <cp:lastModifiedBy>微信用户</cp:lastModifiedBy>
  <cp:revision>25</cp:revision>
  <dcterms:created xsi:type="dcterms:W3CDTF">2015-06-12T08:53:00Z</dcterms:created>
  <dcterms:modified xsi:type="dcterms:W3CDTF">2023-10-25T02:28:04Z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163C6A81742144E7B28A9D8602659DB5_13</vt:lpwstr>
  </property>
  <property fmtid="{D5CDD505-2E9C-101B-9397-08002B2CF9AE}" pid="3" name="KSOProductBuildVer">
    <vt:lpwstr>2052-11.1.0.15319</vt:lpwstr>
  </property>
</Properties>
</file>