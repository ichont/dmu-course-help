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93" r:id="rId3"/>
    <p:sldId id="294" r:id="rId4"/>
    <p:sldId id="295" r:id="rId5"/>
    <p:sldId id="257" r:id="rId6"/>
    <p:sldId id="260" r:id="rId7"/>
    <p:sldId id="258" r:id="rId8"/>
    <p:sldId id="329" r:id="rId9"/>
    <p:sldId id="335" r:id="rId10"/>
    <p:sldId id="330" r:id="rId11"/>
    <p:sldId id="331" r:id="rId12"/>
    <p:sldId id="336" r:id="rId13"/>
    <p:sldId id="332" r:id="rId14"/>
    <p:sldId id="333" r:id="rId15"/>
    <p:sldId id="300" r:id="rId16"/>
    <p:sldId id="261" r:id="rId17"/>
    <p:sldId id="272" r:id="rId18"/>
    <p:sldId id="368" r:id="rId19"/>
    <p:sldId id="269" r:id="rId20"/>
    <p:sldId id="369" r:id="rId21"/>
    <p:sldId id="266" r:id="rId22"/>
    <p:sldId id="370" r:id="rId24"/>
    <p:sldId id="371" r:id="rId25"/>
    <p:sldId id="305" r:id="rId26"/>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微软雅黑" panose="020B0503020204020204" pitchFamily="34" charset="-122"/>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182"/>
    <a:srgbClr val="1F3A65"/>
    <a:srgbClr val="009DD9"/>
    <a:srgbClr val="10CF9B"/>
    <a:srgbClr val="01B4C6"/>
    <a:srgbClr val="283E51"/>
    <a:srgbClr val="01313B"/>
    <a:srgbClr val="2765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7608"/>
    <p:restoredTop sz="94660"/>
  </p:normalViewPr>
  <p:slideViewPr>
    <p:cSldViewPr snapToGrid="0" showGuides="1">
      <p:cViewPr varScale="1">
        <p:scale>
          <a:sx n="65" d="100"/>
          <a:sy n="65" d="100"/>
        </p:scale>
        <p:origin x="-298" y="-72"/>
      </p:cViewPr>
      <p:guideLst>
        <p:guide orient="horz" pos="1973"/>
        <p:guide orient="horz" pos="645"/>
        <p:guide orient="horz" pos="979"/>
        <p:guide orient="horz" pos="145"/>
        <p:guide orient="horz" pos="2232"/>
        <p:guide pos="1811"/>
        <p:guide pos="144"/>
        <p:guide pos="2780"/>
      </p:guideLst>
    </p:cSldViewPr>
  </p:slideViewPr>
  <p:notesTextViewPr>
    <p:cViewPr>
      <p:scale>
        <a:sx n="50" d="100"/>
        <a:sy n="50" d="100"/>
      </p:scale>
      <p:origin x="0" y="0"/>
    </p:cViewPr>
  </p:notesTextViewPr>
  <p:sorterViewPr showFormatting="0">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52D0B98F-297C-476F-B923-E391A102E6E5}"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fontAlgn="base" hangingPunct="1"/>
            <a:fld id="{9A0DB2DC-4C9A-4742-B13C-FB6460FD3503}" type="slidenum">
              <a:rPr lang="zh-CN" altLang="en-US" sz="1200" strike="noStrike" noProof="1" dirty="0">
                <a:latin typeface="Calibri" panose="020F0502020204030204" pitchFamily="34" charset="0"/>
                <a:ea typeface="宋体" panose="02010600030101010101" pitchFamily="2" charset="-122"/>
                <a:cs typeface="+mn-cs"/>
              </a:rPr>
            </a:fld>
            <a:endParaRPr lang="zh-CN" altLang="en-US" sz="1200" strike="noStrike" noProof="1" dirty="0">
              <a:latin typeface="Calibri" panose="020F050202020403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0" y="6767513"/>
            <a:ext cx="9144000" cy="90488"/>
          </a:xfrm>
          <a:prstGeom prst="rect">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NULL" TargetMode="External"/><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 name="文本框 56"/>
          <p:cNvSpPr txBox="1"/>
          <p:nvPr/>
        </p:nvSpPr>
        <p:spPr>
          <a:xfrm>
            <a:off x="1568450" y="2614613"/>
            <a:ext cx="6065838" cy="768350"/>
          </a:xfrm>
          <a:prstGeom prst="rect">
            <a:avLst/>
          </a:prstGeom>
          <a:noFill/>
        </p:spPr>
        <p:txBody>
          <a:bodyPr>
            <a:spAutoFit/>
          </a:bodyPr>
          <a:lstStyle/>
          <a:p>
            <a:pPr marR="0" algn="ctr" defTabSz="914400" fontAlgn="auto">
              <a:spcBef>
                <a:spcPts val="0"/>
              </a:spcBef>
              <a:spcAft>
                <a:spcPts val="0"/>
              </a:spcAft>
              <a:buClrTx/>
              <a:buSzTx/>
              <a:buFontTx/>
              <a:buNone/>
              <a:defRPr/>
            </a:pPr>
            <a:r>
              <a:rPr kumimoji="0" lang="zh-CN" sz="4400" b="1" kern="1200" cap="none" spc="0" normalizeH="0" baseline="0" noProof="0" dirty="0">
                <a:solidFill>
                  <a:srgbClr val="1F3A65"/>
                </a:solidFill>
                <a:effectLst>
                  <a:outerShdw blurRad="38100" dist="38100" dir="2700000" algn="tl">
                    <a:srgbClr val="000000">
                      <a:alpha val="43137"/>
                    </a:srgbClr>
                  </a:outerShdw>
                </a:effectLst>
                <a:latin typeface="+mn-lt"/>
                <a:ea typeface="+mn-ea"/>
                <a:cs typeface="+mn-cs"/>
              </a:rPr>
              <a:t>图像处理系统</a:t>
            </a:r>
            <a:endParaRPr kumimoji="0" lang="zh-CN" sz="4400" b="1" kern="1200" cap="none" spc="0" normalizeH="0" baseline="0" noProof="0" dirty="0">
              <a:solidFill>
                <a:srgbClr val="1F3A65"/>
              </a:solidFill>
              <a:effectLst>
                <a:outerShdw blurRad="38100" dist="38100" dir="2700000" algn="tl">
                  <a:srgbClr val="000000">
                    <a:alpha val="43137"/>
                  </a:srgbClr>
                </a:outerShdw>
              </a:effectLst>
              <a:latin typeface="+mn-lt"/>
              <a:ea typeface="+mn-ea"/>
              <a:cs typeface="+mn-cs"/>
            </a:endParaRPr>
          </a:p>
        </p:txBody>
      </p:sp>
      <p:grpSp>
        <p:nvGrpSpPr>
          <p:cNvPr id="4098" name="组合 57"/>
          <p:cNvGrpSpPr>
            <a:grpSpLocks noChangeAspect="1"/>
          </p:cNvGrpSpPr>
          <p:nvPr/>
        </p:nvGrpSpPr>
        <p:grpSpPr>
          <a:xfrm>
            <a:off x="3906838" y="1146175"/>
            <a:ext cx="1390650" cy="1392238"/>
            <a:chOff x="898966" y="375726"/>
            <a:chExt cx="720000" cy="720000"/>
          </a:xfrm>
        </p:grpSpPr>
        <p:sp>
          <p:nvSpPr>
            <p:cNvPr id="2" name="椭圆 1"/>
            <p:cNvSpPr>
              <a:spLocks noChangeAspect="1"/>
            </p:cNvSpPr>
            <p:nvPr/>
          </p:nvSpPr>
          <p:spPr>
            <a:xfrm>
              <a:off x="898966" y="375726"/>
              <a:ext cx="720000" cy="720000"/>
            </a:xfrm>
            <a:prstGeom prst="ellipse">
              <a:avLst/>
            </a:prstGeom>
            <a:noFill/>
            <a:ln>
              <a:solidFill>
                <a:srgbClr val="1F3A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100" name="Freeform 422"/>
            <p:cNvSpPr>
              <a:spLocks noChangeAspect="1" noEditPoints="1"/>
            </p:cNvSpPr>
            <p:nvPr/>
          </p:nvSpPr>
          <p:spPr>
            <a:xfrm>
              <a:off x="995716" y="555726"/>
              <a:ext cx="526500" cy="36000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67" h="114">
                  <a:moveTo>
                    <a:pt x="159" y="63"/>
                  </a:moveTo>
                  <a:cubicBezTo>
                    <a:pt x="159" y="45"/>
                    <a:pt x="159" y="45"/>
                    <a:pt x="159" y="45"/>
                  </a:cubicBezTo>
                  <a:cubicBezTo>
                    <a:pt x="160" y="44"/>
                    <a:pt x="160" y="42"/>
                    <a:pt x="160" y="41"/>
                  </a:cubicBezTo>
                  <a:cubicBezTo>
                    <a:pt x="160" y="38"/>
                    <a:pt x="159" y="36"/>
                    <a:pt x="157" y="35"/>
                  </a:cubicBezTo>
                  <a:cubicBezTo>
                    <a:pt x="157" y="35"/>
                    <a:pt x="82" y="1"/>
                    <a:pt x="82" y="1"/>
                  </a:cubicBezTo>
                  <a:cubicBezTo>
                    <a:pt x="81" y="0"/>
                    <a:pt x="79" y="0"/>
                    <a:pt x="78" y="1"/>
                  </a:cubicBezTo>
                  <a:cubicBezTo>
                    <a:pt x="78" y="1"/>
                    <a:pt x="3" y="35"/>
                    <a:pt x="3" y="35"/>
                  </a:cubicBezTo>
                  <a:cubicBezTo>
                    <a:pt x="1" y="36"/>
                    <a:pt x="0" y="38"/>
                    <a:pt x="0" y="40"/>
                  </a:cubicBezTo>
                  <a:cubicBezTo>
                    <a:pt x="0" y="43"/>
                    <a:pt x="1" y="45"/>
                    <a:pt x="3" y="46"/>
                  </a:cubicBezTo>
                  <a:cubicBezTo>
                    <a:pt x="3" y="46"/>
                    <a:pt x="26" y="58"/>
                    <a:pt x="33" y="62"/>
                  </a:cubicBezTo>
                  <a:cubicBezTo>
                    <a:pt x="33" y="94"/>
                    <a:pt x="33" y="94"/>
                    <a:pt x="33" y="94"/>
                  </a:cubicBezTo>
                  <a:cubicBezTo>
                    <a:pt x="33" y="96"/>
                    <a:pt x="34" y="98"/>
                    <a:pt x="35" y="99"/>
                  </a:cubicBezTo>
                  <a:cubicBezTo>
                    <a:pt x="39" y="103"/>
                    <a:pt x="53" y="114"/>
                    <a:pt x="80" y="113"/>
                  </a:cubicBezTo>
                  <a:cubicBezTo>
                    <a:pt x="107" y="114"/>
                    <a:pt x="121" y="103"/>
                    <a:pt x="125" y="99"/>
                  </a:cubicBezTo>
                  <a:cubicBezTo>
                    <a:pt x="126" y="98"/>
                    <a:pt x="127" y="96"/>
                    <a:pt x="127" y="94"/>
                  </a:cubicBezTo>
                  <a:cubicBezTo>
                    <a:pt x="127" y="62"/>
                    <a:pt x="127" y="62"/>
                    <a:pt x="127" y="62"/>
                  </a:cubicBezTo>
                  <a:cubicBezTo>
                    <a:pt x="153" y="48"/>
                    <a:pt x="153" y="48"/>
                    <a:pt x="153" y="48"/>
                  </a:cubicBezTo>
                  <a:cubicBezTo>
                    <a:pt x="153" y="63"/>
                    <a:pt x="153" y="63"/>
                    <a:pt x="153" y="63"/>
                  </a:cubicBezTo>
                  <a:cubicBezTo>
                    <a:pt x="149" y="64"/>
                    <a:pt x="145" y="69"/>
                    <a:pt x="145" y="74"/>
                  </a:cubicBezTo>
                  <a:cubicBezTo>
                    <a:pt x="145" y="80"/>
                    <a:pt x="150" y="85"/>
                    <a:pt x="156" y="85"/>
                  </a:cubicBezTo>
                  <a:cubicBezTo>
                    <a:pt x="162" y="85"/>
                    <a:pt x="167" y="80"/>
                    <a:pt x="167" y="74"/>
                  </a:cubicBezTo>
                  <a:cubicBezTo>
                    <a:pt x="167" y="69"/>
                    <a:pt x="163" y="64"/>
                    <a:pt x="159" y="63"/>
                  </a:cubicBezTo>
                  <a:close/>
                  <a:moveTo>
                    <a:pt x="119" y="94"/>
                  </a:moveTo>
                  <a:cubicBezTo>
                    <a:pt x="116" y="97"/>
                    <a:pt x="104" y="106"/>
                    <a:pt x="80" y="106"/>
                  </a:cubicBezTo>
                  <a:cubicBezTo>
                    <a:pt x="56" y="106"/>
                    <a:pt x="44" y="96"/>
                    <a:pt x="41" y="94"/>
                  </a:cubicBezTo>
                  <a:cubicBezTo>
                    <a:pt x="41" y="65"/>
                    <a:pt x="41" y="65"/>
                    <a:pt x="41" y="65"/>
                  </a:cubicBezTo>
                  <a:cubicBezTo>
                    <a:pt x="78" y="84"/>
                    <a:pt x="78" y="84"/>
                    <a:pt x="78" y="84"/>
                  </a:cubicBezTo>
                  <a:cubicBezTo>
                    <a:pt x="79" y="85"/>
                    <a:pt x="81" y="85"/>
                    <a:pt x="82" y="84"/>
                  </a:cubicBezTo>
                  <a:cubicBezTo>
                    <a:pt x="82" y="84"/>
                    <a:pt x="108" y="71"/>
                    <a:pt x="119" y="65"/>
                  </a:cubicBezTo>
                  <a:lnTo>
                    <a:pt x="119" y="94"/>
                  </a:lnTo>
                  <a:close/>
                  <a:moveTo>
                    <a:pt x="80" y="79"/>
                  </a:moveTo>
                  <a:cubicBezTo>
                    <a:pt x="75" y="76"/>
                    <a:pt x="9" y="41"/>
                    <a:pt x="9" y="41"/>
                  </a:cubicBezTo>
                  <a:cubicBezTo>
                    <a:pt x="20" y="35"/>
                    <a:pt x="72" y="12"/>
                    <a:pt x="80" y="8"/>
                  </a:cubicBezTo>
                  <a:cubicBezTo>
                    <a:pt x="88" y="12"/>
                    <a:pt x="140" y="35"/>
                    <a:pt x="151" y="41"/>
                  </a:cubicBezTo>
                  <a:cubicBezTo>
                    <a:pt x="144" y="44"/>
                    <a:pt x="80" y="79"/>
                    <a:pt x="80" y="79"/>
                  </a:cubicBezTo>
                  <a:close/>
                  <a:moveTo>
                    <a:pt x="156" y="79"/>
                  </a:moveTo>
                  <a:cubicBezTo>
                    <a:pt x="153" y="79"/>
                    <a:pt x="151" y="76"/>
                    <a:pt x="151" y="74"/>
                  </a:cubicBezTo>
                  <a:cubicBezTo>
                    <a:pt x="151" y="71"/>
                    <a:pt x="153" y="68"/>
                    <a:pt x="156" y="68"/>
                  </a:cubicBezTo>
                  <a:cubicBezTo>
                    <a:pt x="159" y="68"/>
                    <a:pt x="161" y="71"/>
                    <a:pt x="161" y="74"/>
                  </a:cubicBezTo>
                  <a:cubicBezTo>
                    <a:pt x="161" y="76"/>
                    <a:pt x="159" y="79"/>
                    <a:pt x="156" y="79"/>
                  </a:cubicBezTo>
                  <a:close/>
                </a:path>
              </a:pathLst>
            </a:custGeom>
            <a:solidFill>
              <a:srgbClr val="1F3A65"/>
            </a:solidFill>
            <a:ln w="9525">
              <a:noFill/>
            </a:ln>
          </p:spPr>
          <p:txBody>
            <a:bodyPr/>
            <a:p>
              <a:endParaRPr lang="zh-CN" altLang="en-US"/>
            </a:p>
          </p:txBody>
        </p:sp>
      </p:grpSp>
      <p:cxnSp>
        <p:nvCxnSpPr>
          <p:cNvPr id="121" name="直接连接符 120"/>
          <p:cNvCxnSpPr/>
          <p:nvPr/>
        </p:nvCxnSpPr>
        <p:spPr>
          <a:xfrm>
            <a:off x="1871663" y="3392488"/>
            <a:ext cx="5489575" cy="0"/>
          </a:xfrm>
          <a:prstGeom prst="line">
            <a:avLst/>
          </a:prstGeom>
          <a:ln>
            <a:solidFill>
              <a:srgbClr val="1F3A65"/>
            </a:solidFill>
          </a:ln>
        </p:spPr>
        <p:style>
          <a:lnRef idx="1">
            <a:schemeClr val="accent1"/>
          </a:lnRef>
          <a:fillRef idx="0">
            <a:schemeClr val="accent1"/>
          </a:fillRef>
          <a:effectRef idx="0">
            <a:schemeClr val="accent1"/>
          </a:effectRef>
          <a:fontRef idx="minor">
            <a:schemeClr val="tx1"/>
          </a:fontRef>
        </p:style>
      </p:cxnSp>
      <p:grpSp>
        <p:nvGrpSpPr>
          <p:cNvPr id="4102" name="组合 20"/>
          <p:cNvGrpSpPr/>
          <p:nvPr/>
        </p:nvGrpSpPr>
        <p:grpSpPr>
          <a:xfrm>
            <a:off x="4808538" y="3789363"/>
            <a:ext cx="3051175" cy="496887"/>
            <a:chOff x="1871663" y="3789363"/>
            <a:chExt cx="3051144" cy="496100"/>
          </a:xfrm>
        </p:grpSpPr>
        <p:grpSp>
          <p:nvGrpSpPr>
            <p:cNvPr id="4103" name="组合 21"/>
            <p:cNvGrpSpPr>
              <a:grpSpLocks noChangeAspect="1"/>
            </p:cNvGrpSpPr>
            <p:nvPr/>
          </p:nvGrpSpPr>
          <p:grpSpPr>
            <a:xfrm>
              <a:off x="1871663" y="3789363"/>
              <a:ext cx="496100" cy="496100"/>
              <a:chOff x="6318690" y="3689938"/>
              <a:chExt cx="720000" cy="720000"/>
            </a:xfrm>
          </p:grpSpPr>
          <p:sp>
            <p:nvSpPr>
              <p:cNvPr id="24" name="椭圆 23"/>
              <p:cNvSpPr>
                <a:spLocks noChangeAspect="1"/>
              </p:cNvSpPr>
              <p:nvPr/>
            </p:nvSpPr>
            <p:spPr>
              <a:xfrm>
                <a:off x="6318690" y="3689938"/>
                <a:ext cx="721135" cy="720000"/>
              </a:xfrm>
              <a:prstGeom prst="ellipse">
                <a:avLst/>
              </a:prstGeom>
              <a:solidFill>
                <a:srgbClr val="1F3A65"/>
              </a:solidFill>
              <a:ln>
                <a:solidFill>
                  <a:srgbClr val="1F3A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6" name="组合 24"/>
              <p:cNvGrpSpPr>
                <a:grpSpLocks noChangeAspect="1"/>
              </p:cNvGrpSpPr>
              <p:nvPr/>
            </p:nvGrpSpPr>
            <p:grpSpPr>
              <a:xfrm>
                <a:off x="6499668" y="3869938"/>
                <a:ext cx="358045" cy="360000"/>
                <a:chOff x="8507413" y="5110163"/>
                <a:chExt cx="290513" cy="292100"/>
              </a:xfrm>
              <a:solidFill>
                <a:schemeClr val="bg1"/>
              </a:solidFill>
            </p:grpSpPr>
            <p:sp>
              <p:nvSpPr>
                <p:cNvPr id="26" name="Freeform 214"/>
                <p:cNvSpPr>
                  <a:spLocks noEditPoints="1"/>
                </p:cNvSpPr>
                <p:nvPr/>
              </p:nvSpPr>
              <p:spPr bwMode="auto">
                <a:xfrm>
                  <a:off x="8507413" y="5280025"/>
                  <a:ext cx="290513" cy="122238"/>
                </a:xfrm>
                <a:custGeom>
                  <a:avLst/>
                  <a:gdLst>
                    <a:gd name="T0" fmla="*/ 72 w 96"/>
                    <a:gd name="T1" fmla="*/ 0 h 40"/>
                    <a:gd name="T2" fmla="*/ 24 w 96"/>
                    <a:gd name="T3" fmla="*/ 0 h 40"/>
                    <a:gd name="T4" fmla="*/ 0 w 96"/>
                    <a:gd name="T5" fmla="*/ 24 h 40"/>
                    <a:gd name="T6" fmla="*/ 0 w 96"/>
                    <a:gd name="T7" fmla="*/ 36 h 40"/>
                    <a:gd name="T8" fmla="*/ 4 w 96"/>
                    <a:gd name="T9" fmla="*/ 40 h 40"/>
                    <a:gd name="T10" fmla="*/ 92 w 96"/>
                    <a:gd name="T11" fmla="*/ 40 h 40"/>
                    <a:gd name="T12" fmla="*/ 96 w 96"/>
                    <a:gd name="T13" fmla="*/ 36 h 40"/>
                    <a:gd name="T14" fmla="*/ 96 w 96"/>
                    <a:gd name="T15" fmla="*/ 24 h 40"/>
                    <a:gd name="T16" fmla="*/ 72 w 96"/>
                    <a:gd name="T17" fmla="*/ 0 h 40"/>
                    <a:gd name="T18" fmla="*/ 62 w 96"/>
                    <a:gd name="T19" fmla="*/ 8 h 40"/>
                    <a:gd name="T20" fmla="*/ 48 w 96"/>
                    <a:gd name="T21" fmla="*/ 22 h 40"/>
                    <a:gd name="T22" fmla="*/ 34 w 96"/>
                    <a:gd name="T23" fmla="*/ 8 h 40"/>
                    <a:gd name="T24" fmla="*/ 62 w 96"/>
                    <a:gd name="T25" fmla="*/ 8 h 40"/>
                    <a:gd name="T26" fmla="*/ 88 w 96"/>
                    <a:gd name="T27" fmla="*/ 32 h 40"/>
                    <a:gd name="T28" fmla="*/ 8 w 96"/>
                    <a:gd name="T29" fmla="*/ 32 h 40"/>
                    <a:gd name="T30" fmla="*/ 8 w 96"/>
                    <a:gd name="T31" fmla="*/ 24 h 40"/>
                    <a:gd name="T32" fmla="*/ 24 w 96"/>
                    <a:gd name="T33" fmla="*/ 8 h 40"/>
                    <a:gd name="T34" fmla="*/ 28 w 96"/>
                    <a:gd name="T35" fmla="*/ 8 h 40"/>
                    <a:gd name="T36" fmla="*/ 48 w 96"/>
                    <a:gd name="T37" fmla="*/ 28 h 40"/>
                    <a:gd name="T38" fmla="*/ 68 w 96"/>
                    <a:gd name="T39" fmla="*/ 8 h 40"/>
                    <a:gd name="T40" fmla="*/ 72 w 96"/>
                    <a:gd name="T41" fmla="*/ 8 h 40"/>
                    <a:gd name="T42" fmla="*/ 88 w 96"/>
                    <a:gd name="T43" fmla="*/ 24 h 40"/>
                    <a:gd name="T44" fmla="*/ 88 w 96"/>
                    <a:gd name="T45" fmla="*/ 3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6" h="40">
                      <a:moveTo>
                        <a:pt x="72" y="0"/>
                      </a:moveTo>
                      <a:cubicBezTo>
                        <a:pt x="24" y="0"/>
                        <a:pt x="24" y="0"/>
                        <a:pt x="24" y="0"/>
                      </a:cubicBezTo>
                      <a:cubicBezTo>
                        <a:pt x="11" y="0"/>
                        <a:pt x="0" y="11"/>
                        <a:pt x="0" y="24"/>
                      </a:cubicBezTo>
                      <a:cubicBezTo>
                        <a:pt x="0" y="36"/>
                        <a:pt x="0" y="36"/>
                        <a:pt x="0" y="36"/>
                      </a:cubicBezTo>
                      <a:cubicBezTo>
                        <a:pt x="0" y="38"/>
                        <a:pt x="2" y="40"/>
                        <a:pt x="4" y="40"/>
                      </a:cubicBezTo>
                      <a:cubicBezTo>
                        <a:pt x="92" y="40"/>
                        <a:pt x="92" y="40"/>
                        <a:pt x="92" y="40"/>
                      </a:cubicBezTo>
                      <a:cubicBezTo>
                        <a:pt x="94" y="40"/>
                        <a:pt x="96" y="38"/>
                        <a:pt x="96" y="36"/>
                      </a:cubicBezTo>
                      <a:cubicBezTo>
                        <a:pt x="96" y="24"/>
                        <a:pt x="96" y="24"/>
                        <a:pt x="96" y="24"/>
                      </a:cubicBezTo>
                      <a:cubicBezTo>
                        <a:pt x="96" y="11"/>
                        <a:pt x="85" y="0"/>
                        <a:pt x="72" y="0"/>
                      </a:cubicBezTo>
                      <a:close/>
                      <a:moveTo>
                        <a:pt x="62" y="8"/>
                      </a:moveTo>
                      <a:cubicBezTo>
                        <a:pt x="48" y="22"/>
                        <a:pt x="48" y="22"/>
                        <a:pt x="48" y="22"/>
                      </a:cubicBezTo>
                      <a:cubicBezTo>
                        <a:pt x="34" y="8"/>
                        <a:pt x="34" y="8"/>
                        <a:pt x="34" y="8"/>
                      </a:cubicBezTo>
                      <a:lnTo>
                        <a:pt x="62" y="8"/>
                      </a:lnTo>
                      <a:close/>
                      <a:moveTo>
                        <a:pt x="88" y="32"/>
                      </a:moveTo>
                      <a:cubicBezTo>
                        <a:pt x="8" y="32"/>
                        <a:pt x="8" y="32"/>
                        <a:pt x="8" y="32"/>
                      </a:cubicBezTo>
                      <a:cubicBezTo>
                        <a:pt x="8" y="24"/>
                        <a:pt x="8" y="24"/>
                        <a:pt x="8" y="24"/>
                      </a:cubicBezTo>
                      <a:cubicBezTo>
                        <a:pt x="8" y="15"/>
                        <a:pt x="15" y="8"/>
                        <a:pt x="24" y="8"/>
                      </a:cubicBezTo>
                      <a:cubicBezTo>
                        <a:pt x="28" y="8"/>
                        <a:pt x="28" y="8"/>
                        <a:pt x="28" y="8"/>
                      </a:cubicBezTo>
                      <a:cubicBezTo>
                        <a:pt x="48" y="28"/>
                        <a:pt x="48" y="28"/>
                        <a:pt x="48" y="28"/>
                      </a:cubicBezTo>
                      <a:cubicBezTo>
                        <a:pt x="68" y="8"/>
                        <a:pt x="68" y="8"/>
                        <a:pt x="68" y="8"/>
                      </a:cubicBezTo>
                      <a:cubicBezTo>
                        <a:pt x="72" y="8"/>
                        <a:pt x="72" y="8"/>
                        <a:pt x="72" y="8"/>
                      </a:cubicBezTo>
                      <a:cubicBezTo>
                        <a:pt x="81" y="8"/>
                        <a:pt x="88" y="15"/>
                        <a:pt x="88" y="24"/>
                      </a:cubicBezTo>
                      <a:lnTo>
                        <a:pt x="88" y="32"/>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7" name="Freeform 215"/>
                <p:cNvSpPr/>
                <p:nvPr/>
              </p:nvSpPr>
              <p:spPr bwMode="auto">
                <a:xfrm>
                  <a:off x="8555038" y="5110163"/>
                  <a:ext cx="195263" cy="158750"/>
                </a:xfrm>
                <a:custGeom>
                  <a:avLst/>
                  <a:gdLst>
                    <a:gd name="T0" fmla="*/ 19 w 64"/>
                    <a:gd name="T1" fmla="*/ 52 h 52"/>
                    <a:gd name="T2" fmla="*/ 8 w 64"/>
                    <a:gd name="T3" fmla="*/ 32 h 52"/>
                    <a:gd name="T4" fmla="*/ 32 w 64"/>
                    <a:gd name="T5" fmla="*/ 8 h 52"/>
                    <a:gd name="T6" fmla="*/ 56 w 64"/>
                    <a:gd name="T7" fmla="*/ 32 h 52"/>
                    <a:gd name="T8" fmla="*/ 45 w 64"/>
                    <a:gd name="T9" fmla="*/ 52 h 52"/>
                    <a:gd name="T10" fmla="*/ 57 w 64"/>
                    <a:gd name="T11" fmla="*/ 52 h 52"/>
                    <a:gd name="T12" fmla="*/ 64 w 64"/>
                    <a:gd name="T13" fmla="*/ 32 h 52"/>
                    <a:gd name="T14" fmla="*/ 32 w 64"/>
                    <a:gd name="T15" fmla="*/ 0 h 52"/>
                    <a:gd name="T16" fmla="*/ 0 w 64"/>
                    <a:gd name="T17" fmla="*/ 32 h 52"/>
                    <a:gd name="T18" fmla="*/ 7 w 64"/>
                    <a:gd name="T19" fmla="*/ 52 h 52"/>
                    <a:gd name="T20" fmla="*/ 19 w 64"/>
                    <a:gd name="T21"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52">
                      <a:moveTo>
                        <a:pt x="19" y="52"/>
                      </a:moveTo>
                      <a:cubicBezTo>
                        <a:pt x="12" y="48"/>
                        <a:pt x="8" y="40"/>
                        <a:pt x="8" y="32"/>
                      </a:cubicBezTo>
                      <a:cubicBezTo>
                        <a:pt x="8" y="19"/>
                        <a:pt x="19" y="8"/>
                        <a:pt x="32" y="8"/>
                      </a:cubicBezTo>
                      <a:cubicBezTo>
                        <a:pt x="45" y="8"/>
                        <a:pt x="56" y="19"/>
                        <a:pt x="56" y="32"/>
                      </a:cubicBezTo>
                      <a:cubicBezTo>
                        <a:pt x="56" y="40"/>
                        <a:pt x="52" y="48"/>
                        <a:pt x="45" y="52"/>
                      </a:cubicBezTo>
                      <a:cubicBezTo>
                        <a:pt x="57" y="52"/>
                        <a:pt x="57" y="52"/>
                        <a:pt x="57" y="52"/>
                      </a:cubicBezTo>
                      <a:cubicBezTo>
                        <a:pt x="61" y="47"/>
                        <a:pt x="64" y="40"/>
                        <a:pt x="64" y="32"/>
                      </a:cubicBezTo>
                      <a:cubicBezTo>
                        <a:pt x="64" y="14"/>
                        <a:pt x="50" y="0"/>
                        <a:pt x="32" y="0"/>
                      </a:cubicBezTo>
                      <a:cubicBezTo>
                        <a:pt x="14" y="0"/>
                        <a:pt x="0" y="14"/>
                        <a:pt x="0" y="32"/>
                      </a:cubicBezTo>
                      <a:cubicBezTo>
                        <a:pt x="0" y="40"/>
                        <a:pt x="3" y="47"/>
                        <a:pt x="7" y="52"/>
                      </a:cubicBezTo>
                      <a:lnTo>
                        <a:pt x="19" y="52"/>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grpSp>
        <p:sp>
          <p:nvSpPr>
            <p:cNvPr id="4106" name="文本框 22"/>
            <p:cNvSpPr txBox="1"/>
            <p:nvPr/>
          </p:nvSpPr>
          <p:spPr>
            <a:xfrm>
              <a:off x="2408207" y="3837358"/>
              <a:ext cx="2514600" cy="398148"/>
            </a:xfrm>
            <a:prstGeom prst="rect">
              <a:avLst/>
            </a:prstGeom>
            <a:noFill/>
            <a:ln w="9525">
              <a:noFill/>
            </a:ln>
          </p:spPr>
          <p:txBody>
            <a:bodyPr anchor="t" anchorCtr="0">
              <a:spAutoFit/>
            </a:bodyPr>
            <a:p>
              <a:r>
                <a:rPr lang="zh-CN" altLang="en-US" sz="2000" b="1" dirty="0">
                  <a:solidFill>
                    <a:srgbClr val="1F3A65"/>
                  </a:solidFill>
                  <a:latin typeface="微软雅黑" panose="020B0503020204020204" pitchFamily="34" charset="-122"/>
                  <a:ea typeface="微软雅黑" panose="020B0503020204020204" pitchFamily="34" charset="-122"/>
                </a:rPr>
                <a:t>指导老师</a:t>
              </a:r>
              <a:r>
                <a:rPr lang="zh-CN" altLang="en-US" sz="2000" dirty="0">
                  <a:solidFill>
                    <a:srgbClr val="1F3A65"/>
                  </a:solidFill>
                  <a:latin typeface="微软雅黑" panose="020B0503020204020204" pitchFamily="34" charset="-122"/>
                  <a:ea typeface="微软雅黑" panose="020B0503020204020204" pitchFamily="34" charset="-122"/>
                </a:rPr>
                <a:t>：宋梅萍</a:t>
              </a:r>
              <a:endParaRPr lang="zh-CN" altLang="en-US" sz="2000" dirty="0">
                <a:solidFill>
                  <a:srgbClr val="1F3A65"/>
                </a:solidFill>
                <a:latin typeface="微软雅黑" panose="020B0503020204020204" pitchFamily="34" charset="-122"/>
                <a:ea typeface="微软雅黑" panose="020B0503020204020204" pitchFamily="34" charset="-122"/>
              </a:endParaRPr>
            </a:p>
          </p:txBody>
        </p:sp>
      </p:grpSp>
      <p:grpSp>
        <p:nvGrpSpPr>
          <p:cNvPr id="4107" name="组合 27"/>
          <p:cNvGrpSpPr/>
          <p:nvPr/>
        </p:nvGrpSpPr>
        <p:grpSpPr>
          <a:xfrm>
            <a:off x="1882775" y="3789363"/>
            <a:ext cx="3051175" cy="496887"/>
            <a:chOff x="5486400" y="3841686"/>
            <a:chExt cx="3051764" cy="496800"/>
          </a:xfrm>
        </p:grpSpPr>
        <p:grpSp>
          <p:nvGrpSpPr>
            <p:cNvPr id="4108" name="组合 28"/>
            <p:cNvGrpSpPr>
              <a:grpSpLocks noChangeAspect="1"/>
            </p:cNvGrpSpPr>
            <p:nvPr/>
          </p:nvGrpSpPr>
          <p:grpSpPr>
            <a:xfrm>
              <a:off x="5486400" y="3841686"/>
              <a:ext cx="496800" cy="496800"/>
              <a:chOff x="5766465" y="575871"/>
              <a:chExt cx="720000" cy="720000"/>
            </a:xfrm>
          </p:grpSpPr>
          <p:sp>
            <p:nvSpPr>
              <p:cNvPr id="31" name="椭圆 30"/>
              <p:cNvSpPr>
                <a:spLocks noChangeAspect="1"/>
              </p:cNvSpPr>
              <p:nvPr/>
            </p:nvSpPr>
            <p:spPr>
              <a:xfrm>
                <a:off x="5766465" y="575871"/>
                <a:ext cx="720267" cy="720000"/>
              </a:xfrm>
              <a:prstGeom prst="ellipse">
                <a:avLst/>
              </a:prstGeom>
              <a:solidFill>
                <a:srgbClr val="1F3A65"/>
              </a:solidFill>
              <a:ln>
                <a:solidFill>
                  <a:srgbClr val="1F3A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9" name="组合 31"/>
              <p:cNvGrpSpPr>
                <a:grpSpLocks noChangeAspect="1"/>
              </p:cNvGrpSpPr>
              <p:nvPr/>
            </p:nvGrpSpPr>
            <p:grpSpPr>
              <a:xfrm>
                <a:off x="5998020" y="701871"/>
                <a:ext cx="256891" cy="468000"/>
                <a:chOff x="5399088" y="1466850"/>
                <a:chExt cx="160338" cy="292101"/>
              </a:xfrm>
              <a:solidFill>
                <a:schemeClr val="bg1"/>
              </a:solidFill>
            </p:grpSpPr>
            <p:sp>
              <p:nvSpPr>
                <p:cNvPr id="33" name="Freeform 175"/>
                <p:cNvSpPr>
                  <a:spLocks noEditPoints="1"/>
                </p:cNvSpPr>
                <p:nvPr/>
              </p:nvSpPr>
              <p:spPr bwMode="auto">
                <a:xfrm>
                  <a:off x="5435600" y="1466850"/>
                  <a:ext cx="85725" cy="206375"/>
                </a:xfrm>
                <a:custGeom>
                  <a:avLst/>
                  <a:gdLst>
                    <a:gd name="T0" fmla="*/ 0 w 39"/>
                    <a:gd name="T1" fmla="*/ 19 h 93"/>
                    <a:gd name="T2" fmla="*/ 0 w 39"/>
                    <a:gd name="T3" fmla="*/ 73 h 93"/>
                    <a:gd name="T4" fmla="*/ 20 w 39"/>
                    <a:gd name="T5" fmla="*/ 93 h 93"/>
                    <a:gd name="T6" fmla="*/ 39 w 39"/>
                    <a:gd name="T7" fmla="*/ 73 h 93"/>
                    <a:gd name="T8" fmla="*/ 39 w 39"/>
                    <a:gd name="T9" fmla="*/ 19 h 93"/>
                    <a:gd name="T10" fmla="*/ 20 w 39"/>
                    <a:gd name="T11" fmla="*/ 0 h 93"/>
                    <a:gd name="T12" fmla="*/ 0 w 39"/>
                    <a:gd name="T13" fmla="*/ 19 h 93"/>
                    <a:gd name="T14" fmla="*/ 29 w 39"/>
                    <a:gd name="T15" fmla="*/ 19 h 93"/>
                    <a:gd name="T16" fmla="*/ 29 w 39"/>
                    <a:gd name="T17" fmla="*/ 55 h 93"/>
                    <a:gd name="T18" fmla="*/ 10 w 39"/>
                    <a:gd name="T19" fmla="*/ 55 h 93"/>
                    <a:gd name="T20" fmla="*/ 10 w 39"/>
                    <a:gd name="T21" fmla="*/ 19 h 93"/>
                    <a:gd name="T22" fmla="*/ 20 w 39"/>
                    <a:gd name="T23" fmla="*/ 10 h 93"/>
                    <a:gd name="T24" fmla="*/ 29 w 39"/>
                    <a:gd name="T25" fmla="*/ 1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93">
                      <a:moveTo>
                        <a:pt x="0" y="19"/>
                      </a:moveTo>
                      <a:cubicBezTo>
                        <a:pt x="0" y="73"/>
                        <a:pt x="0" y="73"/>
                        <a:pt x="0" y="73"/>
                      </a:cubicBezTo>
                      <a:cubicBezTo>
                        <a:pt x="0" y="84"/>
                        <a:pt x="9" y="93"/>
                        <a:pt x="20" y="93"/>
                      </a:cubicBezTo>
                      <a:cubicBezTo>
                        <a:pt x="30" y="93"/>
                        <a:pt x="39" y="84"/>
                        <a:pt x="39" y="73"/>
                      </a:cubicBezTo>
                      <a:cubicBezTo>
                        <a:pt x="39" y="19"/>
                        <a:pt x="39" y="19"/>
                        <a:pt x="39" y="19"/>
                      </a:cubicBezTo>
                      <a:cubicBezTo>
                        <a:pt x="39" y="9"/>
                        <a:pt x="30" y="0"/>
                        <a:pt x="20" y="0"/>
                      </a:cubicBezTo>
                      <a:cubicBezTo>
                        <a:pt x="9" y="0"/>
                        <a:pt x="0" y="9"/>
                        <a:pt x="0" y="19"/>
                      </a:cubicBezTo>
                      <a:close/>
                      <a:moveTo>
                        <a:pt x="29" y="19"/>
                      </a:moveTo>
                      <a:cubicBezTo>
                        <a:pt x="29" y="55"/>
                        <a:pt x="29" y="55"/>
                        <a:pt x="29" y="55"/>
                      </a:cubicBezTo>
                      <a:cubicBezTo>
                        <a:pt x="10" y="55"/>
                        <a:pt x="10" y="55"/>
                        <a:pt x="10" y="55"/>
                      </a:cubicBezTo>
                      <a:cubicBezTo>
                        <a:pt x="10" y="19"/>
                        <a:pt x="10" y="19"/>
                        <a:pt x="10" y="19"/>
                      </a:cubicBezTo>
                      <a:cubicBezTo>
                        <a:pt x="10" y="14"/>
                        <a:pt x="15" y="10"/>
                        <a:pt x="20" y="10"/>
                      </a:cubicBezTo>
                      <a:cubicBezTo>
                        <a:pt x="25" y="10"/>
                        <a:pt x="29" y="14"/>
                        <a:pt x="29" y="19"/>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34" name="Freeform 176"/>
                <p:cNvSpPr/>
                <p:nvPr/>
              </p:nvSpPr>
              <p:spPr bwMode="auto">
                <a:xfrm>
                  <a:off x="5399088" y="1589088"/>
                  <a:ext cx="160338" cy="169863"/>
                </a:xfrm>
                <a:custGeom>
                  <a:avLst/>
                  <a:gdLst>
                    <a:gd name="T0" fmla="*/ 31 w 72"/>
                    <a:gd name="T1" fmla="*/ 54 h 77"/>
                    <a:gd name="T2" fmla="*/ 32 w 72"/>
                    <a:gd name="T3" fmla="*/ 56 h 77"/>
                    <a:gd name="T4" fmla="*/ 32 w 72"/>
                    <a:gd name="T5" fmla="*/ 68 h 77"/>
                    <a:gd name="T6" fmla="*/ 30 w 72"/>
                    <a:gd name="T7" fmla="*/ 70 h 77"/>
                    <a:gd name="T8" fmla="*/ 8 w 72"/>
                    <a:gd name="T9" fmla="*/ 70 h 77"/>
                    <a:gd name="T10" fmla="*/ 5 w 72"/>
                    <a:gd name="T11" fmla="*/ 72 h 77"/>
                    <a:gd name="T12" fmla="*/ 5 w 72"/>
                    <a:gd name="T13" fmla="*/ 74 h 77"/>
                    <a:gd name="T14" fmla="*/ 8 w 72"/>
                    <a:gd name="T15" fmla="*/ 77 h 77"/>
                    <a:gd name="T16" fmla="*/ 63 w 72"/>
                    <a:gd name="T17" fmla="*/ 77 h 77"/>
                    <a:gd name="T18" fmla="*/ 66 w 72"/>
                    <a:gd name="T19" fmla="*/ 74 h 77"/>
                    <a:gd name="T20" fmla="*/ 66 w 72"/>
                    <a:gd name="T21" fmla="*/ 72 h 77"/>
                    <a:gd name="T22" fmla="*/ 63 w 72"/>
                    <a:gd name="T23" fmla="*/ 70 h 77"/>
                    <a:gd name="T24" fmla="*/ 41 w 72"/>
                    <a:gd name="T25" fmla="*/ 70 h 77"/>
                    <a:gd name="T26" fmla="*/ 39 w 72"/>
                    <a:gd name="T27" fmla="*/ 68 h 77"/>
                    <a:gd name="T28" fmla="*/ 39 w 72"/>
                    <a:gd name="T29" fmla="*/ 56 h 77"/>
                    <a:gd name="T30" fmla="*/ 41 w 72"/>
                    <a:gd name="T31" fmla="*/ 54 h 77"/>
                    <a:gd name="T32" fmla="*/ 72 w 72"/>
                    <a:gd name="T33" fmla="*/ 18 h 77"/>
                    <a:gd name="T34" fmla="*/ 72 w 72"/>
                    <a:gd name="T35" fmla="*/ 3 h 77"/>
                    <a:gd name="T36" fmla="*/ 69 w 72"/>
                    <a:gd name="T37" fmla="*/ 0 h 77"/>
                    <a:gd name="T38" fmla="*/ 67 w 72"/>
                    <a:gd name="T39" fmla="*/ 0 h 77"/>
                    <a:gd name="T40" fmla="*/ 64 w 72"/>
                    <a:gd name="T41" fmla="*/ 3 h 77"/>
                    <a:gd name="T42" fmla="*/ 64 w 72"/>
                    <a:gd name="T43" fmla="*/ 18 h 77"/>
                    <a:gd name="T44" fmla="*/ 36 w 72"/>
                    <a:gd name="T45" fmla="*/ 47 h 77"/>
                    <a:gd name="T46" fmla="*/ 7 w 72"/>
                    <a:gd name="T47" fmla="*/ 18 h 77"/>
                    <a:gd name="T48" fmla="*/ 7 w 72"/>
                    <a:gd name="T49" fmla="*/ 3 h 77"/>
                    <a:gd name="T50" fmla="*/ 4 w 72"/>
                    <a:gd name="T51" fmla="*/ 0 h 77"/>
                    <a:gd name="T52" fmla="*/ 2 w 72"/>
                    <a:gd name="T53" fmla="*/ 0 h 77"/>
                    <a:gd name="T54" fmla="*/ 0 w 72"/>
                    <a:gd name="T55" fmla="*/ 3 h 77"/>
                    <a:gd name="T56" fmla="*/ 0 w 72"/>
                    <a:gd name="T57" fmla="*/ 18 h 77"/>
                    <a:gd name="T58" fmla="*/ 31 w 72"/>
                    <a:gd name="T59" fmla="*/ 54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2" h="77">
                      <a:moveTo>
                        <a:pt x="31" y="54"/>
                      </a:moveTo>
                      <a:cubicBezTo>
                        <a:pt x="31" y="54"/>
                        <a:pt x="32" y="55"/>
                        <a:pt x="32" y="56"/>
                      </a:cubicBezTo>
                      <a:cubicBezTo>
                        <a:pt x="32" y="68"/>
                        <a:pt x="32" y="68"/>
                        <a:pt x="32" y="68"/>
                      </a:cubicBezTo>
                      <a:cubicBezTo>
                        <a:pt x="32" y="69"/>
                        <a:pt x="31" y="70"/>
                        <a:pt x="30" y="70"/>
                      </a:cubicBezTo>
                      <a:cubicBezTo>
                        <a:pt x="8" y="70"/>
                        <a:pt x="8" y="70"/>
                        <a:pt x="8" y="70"/>
                      </a:cubicBezTo>
                      <a:cubicBezTo>
                        <a:pt x="7" y="70"/>
                        <a:pt x="5" y="71"/>
                        <a:pt x="5" y="72"/>
                      </a:cubicBezTo>
                      <a:cubicBezTo>
                        <a:pt x="5" y="74"/>
                        <a:pt x="5" y="74"/>
                        <a:pt x="5" y="74"/>
                      </a:cubicBezTo>
                      <a:cubicBezTo>
                        <a:pt x="5" y="75"/>
                        <a:pt x="7" y="77"/>
                        <a:pt x="8" y="77"/>
                      </a:cubicBezTo>
                      <a:cubicBezTo>
                        <a:pt x="63" y="77"/>
                        <a:pt x="63" y="77"/>
                        <a:pt x="63" y="77"/>
                      </a:cubicBezTo>
                      <a:cubicBezTo>
                        <a:pt x="65" y="77"/>
                        <a:pt x="66" y="75"/>
                        <a:pt x="66" y="74"/>
                      </a:cubicBezTo>
                      <a:cubicBezTo>
                        <a:pt x="66" y="72"/>
                        <a:pt x="66" y="72"/>
                        <a:pt x="66" y="72"/>
                      </a:cubicBezTo>
                      <a:cubicBezTo>
                        <a:pt x="66" y="71"/>
                        <a:pt x="65" y="70"/>
                        <a:pt x="63" y="70"/>
                      </a:cubicBezTo>
                      <a:cubicBezTo>
                        <a:pt x="41" y="70"/>
                        <a:pt x="41" y="70"/>
                        <a:pt x="41" y="70"/>
                      </a:cubicBezTo>
                      <a:cubicBezTo>
                        <a:pt x="40" y="70"/>
                        <a:pt x="39" y="69"/>
                        <a:pt x="39" y="68"/>
                      </a:cubicBezTo>
                      <a:cubicBezTo>
                        <a:pt x="39" y="56"/>
                        <a:pt x="39" y="56"/>
                        <a:pt x="39" y="56"/>
                      </a:cubicBezTo>
                      <a:cubicBezTo>
                        <a:pt x="39" y="55"/>
                        <a:pt x="40" y="54"/>
                        <a:pt x="41" y="54"/>
                      </a:cubicBezTo>
                      <a:cubicBezTo>
                        <a:pt x="58" y="51"/>
                        <a:pt x="72" y="36"/>
                        <a:pt x="72" y="18"/>
                      </a:cubicBezTo>
                      <a:cubicBezTo>
                        <a:pt x="72" y="3"/>
                        <a:pt x="72" y="3"/>
                        <a:pt x="72" y="3"/>
                      </a:cubicBezTo>
                      <a:cubicBezTo>
                        <a:pt x="72" y="2"/>
                        <a:pt x="70" y="0"/>
                        <a:pt x="69" y="0"/>
                      </a:cubicBezTo>
                      <a:cubicBezTo>
                        <a:pt x="67" y="0"/>
                        <a:pt x="67" y="0"/>
                        <a:pt x="67" y="0"/>
                      </a:cubicBezTo>
                      <a:cubicBezTo>
                        <a:pt x="65" y="0"/>
                        <a:pt x="64" y="2"/>
                        <a:pt x="64" y="3"/>
                      </a:cubicBezTo>
                      <a:cubicBezTo>
                        <a:pt x="64" y="18"/>
                        <a:pt x="64" y="18"/>
                        <a:pt x="64" y="18"/>
                      </a:cubicBezTo>
                      <a:cubicBezTo>
                        <a:pt x="64" y="34"/>
                        <a:pt x="51" y="47"/>
                        <a:pt x="36" y="47"/>
                      </a:cubicBezTo>
                      <a:cubicBezTo>
                        <a:pt x="20" y="47"/>
                        <a:pt x="7" y="34"/>
                        <a:pt x="7" y="18"/>
                      </a:cubicBezTo>
                      <a:cubicBezTo>
                        <a:pt x="7" y="3"/>
                        <a:pt x="7" y="3"/>
                        <a:pt x="7" y="3"/>
                      </a:cubicBezTo>
                      <a:cubicBezTo>
                        <a:pt x="7" y="2"/>
                        <a:pt x="6" y="0"/>
                        <a:pt x="4" y="0"/>
                      </a:cubicBezTo>
                      <a:cubicBezTo>
                        <a:pt x="2" y="0"/>
                        <a:pt x="2" y="0"/>
                        <a:pt x="2" y="0"/>
                      </a:cubicBezTo>
                      <a:cubicBezTo>
                        <a:pt x="1" y="0"/>
                        <a:pt x="0" y="2"/>
                        <a:pt x="0" y="3"/>
                      </a:cubicBezTo>
                      <a:cubicBezTo>
                        <a:pt x="0" y="18"/>
                        <a:pt x="0" y="18"/>
                        <a:pt x="0" y="18"/>
                      </a:cubicBezTo>
                      <a:cubicBezTo>
                        <a:pt x="0" y="36"/>
                        <a:pt x="13" y="52"/>
                        <a:pt x="31" y="54"/>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grpSp>
        <p:sp>
          <p:nvSpPr>
            <p:cNvPr id="4111" name="文本框 29"/>
            <p:cNvSpPr txBox="1"/>
            <p:nvPr/>
          </p:nvSpPr>
          <p:spPr>
            <a:xfrm>
              <a:off x="6023564" y="3890031"/>
              <a:ext cx="2514600" cy="398710"/>
            </a:xfrm>
            <a:prstGeom prst="rect">
              <a:avLst/>
            </a:prstGeom>
            <a:noFill/>
            <a:ln w="9525">
              <a:noFill/>
            </a:ln>
          </p:spPr>
          <p:txBody>
            <a:bodyPr anchor="t" anchorCtr="0">
              <a:spAutoFit/>
            </a:bodyPr>
            <a:p>
              <a:r>
                <a:rPr lang="zh-CN" altLang="en-US" sz="2000" b="1" dirty="0">
                  <a:solidFill>
                    <a:srgbClr val="1F3A65"/>
                  </a:solidFill>
                  <a:latin typeface="微软雅黑" panose="020B0503020204020204" pitchFamily="34" charset="-122"/>
                  <a:ea typeface="微软雅黑" panose="020B0503020204020204" pitchFamily="34" charset="-122"/>
                </a:rPr>
                <a:t>答辩人：李子毅</a:t>
              </a:r>
              <a:endParaRPr lang="zh-CN" altLang="en-US" sz="2000" dirty="0">
                <a:solidFill>
                  <a:srgbClr val="1F3A65"/>
                </a:solidFill>
                <a:latin typeface="微软雅黑" panose="020B0503020204020204" pitchFamily="34" charset="-122"/>
                <a:ea typeface="微软雅黑" panose="020B0503020204020204" pitchFamily="34" charset="-122"/>
              </a:endParaRPr>
            </a:p>
          </p:txBody>
        </p:sp>
      </p:grpSp>
      <p:pic>
        <p:nvPicPr>
          <p:cNvPr id="4112" name="图片 3"/>
          <p:cNvPicPr>
            <a:picLocks noChangeAspect="1"/>
          </p:cNvPicPr>
          <p:nvPr/>
        </p:nvPicPr>
        <p:blipFill>
          <a:blip r:embed="rId1"/>
          <a:stretch>
            <a:fillRect/>
          </a:stretch>
        </p:blipFill>
        <p:spPr>
          <a:xfrm>
            <a:off x="4051300" y="1281113"/>
            <a:ext cx="1120775" cy="112395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任意多边形 14"/>
          <p:cNvSpPr/>
          <p:nvPr/>
        </p:nvSpPr>
        <p:spPr>
          <a:xfrm>
            <a:off x="3649663" y="234950"/>
            <a:ext cx="571500" cy="617538"/>
          </a:xfrm>
          <a:custGeom>
            <a:avLst/>
            <a:gdLst/>
            <a:ahLst/>
            <a:cxnLst/>
            <a:rect l="l" t="t" r="r" b="b"/>
            <a:pathLst>
              <a:path w="1419752" h="1534803">
                <a:moveTo>
                  <a:pt x="146124" y="262"/>
                </a:moveTo>
                <a:cubicBezTo>
                  <a:pt x="161078" y="-375"/>
                  <a:pt x="177179" y="153"/>
                  <a:pt x="194428" y="1847"/>
                </a:cubicBezTo>
                <a:lnTo>
                  <a:pt x="1224337" y="1847"/>
                </a:lnTo>
                <a:cubicBezTo>
                  <a:pt x="1362400" y="-11703"/>
                  <a:pt x="1426939" y="50019"/>
                  <a:pt x="1417953" y="187012"/>
                </a:cubicBezTo>
                <a:lnTo>
                  <a:pt x="1417953" y="1359299"/>
                </a:lnTo>
                <a:cubicBezTo>
                  <a:pt x="1431360" y="1488448"/>
                  <a:pt x="1369852" y="1546319"/>
                  <a:pt x="1233430" y="1532912"/>
                </a:cubicBezTo>
                <a:lnTo>
                  <a:pt x="203948" y="1532912"/>
                </a:lnTo>
                <a:cubicBezTo>
                  <a:pt x="59610" y="1541897"/>
                  <a:pt x="-8103" y="1483135"/>
                  <a:pt x="812" y="1356625"/>
                </a:cubicBezTo>
                <a:lnTo>
                  <a:pt x="812" y="184980"/>
                </a:lnTo>
                <a:cubicBezTo>
                  <a:pt x="-6988" y="66296"/>
                  <a:pt x="41449" y="4724"/>
                  <a:pt x="146124" y="262"/>
                </a:cubicBezTo>
                <a:close/>
                <a:moveTo>
                  <a:pt x="1209378" y="162824"/>
                </a:moveTo>
                <a:cubicBezTo>
                  <a:pt x="1205650" y="162770"/>
                  <a:pt x="1201615" y="163024"/>
                  <a:pt x="1197274" y="163586"/>
                </a:cubicBezTo>
                <a:lnTo>
                  <a:pt x="216036" y="163586"/>
                </a:lnTo>
                <a:cubicBezTo>
                  <a:pt x="185014" y="163586"/>
                  <a:pt x="171714" y="177528"/>
                  <a:pt x="176136" y="205411"/>
                </a:cubicBezTo>
                <a:lnTo>
                  <a:pt x="176136" y="444811"/>
                </a:lnTo>
                <a:lnTo>
                  <a:pt x="1242629" y="444811"/>
                </a:lnTo>
                <a:lnTo>
                  <a:pt x="1242629" y="209155"/>
                </a:lnTo>
                <a:cubicBezTo>
                  <a:pt x="1246560" y="178642"/>
                  <a:pt x="1235477" y="163198"/>
                  <a:pt x="1209378" y="162824"/>
                </a:cubicBezTo>
                <a:close/>
                <a:moveTo>
                  <a:pt x="176136" y="606657"/>
                </a:moveTo>
                <a:lnTo>
                  <a:pt x="176136" y="894620"/>
                </a:lnTo>
                <a:lnTo>
                  <a:pt x="1242629" y="894620"/>
                </a:lnTo>
                <a:lnTo>
                  <a:pt x="1242629" y="606657"/>
                </a:lnTo>
                <a:lnTo>
                  <a:pt x="176136" y="606657"/>
                </a:lnTo>
                <a:close/>
                <a:moveTo>
                  <a:pt x="176136" y="1056359"/>
                </a:moveTo>
                <a:lnTo>
                  <a:pt x="176136" y="1337905"/>
                </a:lnTo>
                <a:cubicBezTo>
                  <a:pt x="171714" y="1360012"/>
                  <a:pt x="182447" y="1371101"/>
                  <a:pt x="208334" y="1371173"/>
                </a:cubicBezTo>
                <a:lnTo>
                  <a:pt x="1209789" y="1371173"/>
                </a:lnTo>
                <a:cubicBezTo>
                  <a:pt x="1236175" y="1371101"/>
                  <a:pt x="1247122" y="1360868"/>
                  <a:pt x="1242629" y="1340472"/>
                </a:cubicBezTo>
                <a:lnTo>
                  <a:pt x="1242629" y="1056359"/>
                </a:lnTo>
                <a:lnTo>
                  <a:pt x="176136" y="1056359"/>
                </a:ln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任意多边形 13"/>
          <p:cNvSpPr/>
          <p:nvPr/>
        </p:nvSpPr>
        <p:spPr>
          <a:xfrm>
            <a:off x="4413250" y="234950"/>
            <a:ext cx="655638" cy="635000"/>
          </a:xfrm>
          <a:custGeom>
            <a:avLst/>
            <a:gdLst/>
            <a:ahLst/>
            <a:cxnLst/>
            <a:rect l="l" t="t" r="r" b="b"/>
            <a:pathLst>
              <a:path w="1672159" h="1618818">
                <a:moveTo>
                  <a:pt x="1330842" y="399"/>
                </a:moveTo>
                <a:cubicBezTo>
                  <a:pt x="1401221" y="5266"/>
                  <a:pt x="1434444" y="54686"/>
                  <a:pt x="1430513" y="148659"/>
                </a:cubicBezTo>
                <a:lnTo>
                  <a:pt x="1430513" y="551509"/>
                </a:lnTo>
                <a:lnTo>
                  <a:pt x="1591182" y="551509"/>
                </a:lnTo>
                <a:cubicBezTo>
                  <a:pt x="1639533" y="551509"/>
                  <a:pt x="1666525" y="576576"/>
                  <a:pt x="1672159" y="626709"/>
                </a:cubicBezTo>
                <a:cubicBezTo>
                  <a:pt x="1660606" y="684402"/>
                  <a:pt x="1631403" y="713248"/>
                  <a:pt x="1584550" y="713248"/>
                </a:cubicBezTo>
                <a:lnTo>
                  <a:pt x="1435070" y="713248"/>
                </a:lnTo>
                <a:lnTo>
                  <a:pt x="1449768" y="715481"/>
                </a:lnTo>
                <a:cubicBezTo>
                  <a:pt x="1461356" y="718378"/>
                  <a:pt x="1473444" y="723624"/>
                  <a:pt x="1486031" y="731219"/>
                </a:cubicBezTo>
                <a:cubicBezTo>
                  <a:pt x="1516125" y="764024"/>
                  <a:pt x="1514449" y="807275"/>
                  <a:pt x="1481003" y="860974"/>
                </a:cubicBezTo>
                <a:cubicBezTo>
                  <a:pt x="1443849" y="919166"/>
                  <a:pt x="1376921" y="989695"/>
                  <a:pt x="1280220" y="1072561"/>
                </a:cubicBezTo>
                <a:cubicBezTo>
                  <a:pt x="1230657" y="1101515"/>
                  <a:pt x="1187940" y="1100160"/>
                  <a:pt x="1152070" y="1068496"/>
                </a:cubicBezTo>
                <a:cubicBezTo>
                  <a:pt x="1126825" y="1028347"/>
                  <a:pt x="1132815" y="990515"/>
                  <a:pt x="1170041" y="955001"/>
                </a:cubicBezTo>
                <a:cubicBezTo>
                  <a:pt x="1246631" y="896381"/>
                  <a:pt x="1309601" y="828990"/>
                  <a:pt x="1358950" y="752827"/>
                </a:cubicBezTo>
                <a:cubicBezTo>
                  <a:pt x="1376136" y="730435"/>
                  <a:pt x="1395320" y="717438"/>
                  <a:pt x="1416500" y="713837"/>
                </a:cubicBezTo>
                <a:lnTo>
                  <a:pt x="1426684" y="713248"/>
                </a:lnTo>
                <a:lnTo>
                  <a:pt x="940482" y="713248"/>
                </a:lnTo>
                <a:lnTo>
                  <a:pt x="940482" y="838617"/>
                </a:lnTo>
                <a:cubicBezTo>
                  <a:pt x="1097871" y="1070315"/>
                  <a:pt x="1319086" y="1232197"/>
                  <a:pt x="1604126" y="1324262"/>
                </a:cubicBezTo>
                <a:cubicBezTo>
                  <a:pt x="1653974" y="1341235"/>
                  <a:pt x="1674120" y="1374110"/>
                  <a:pt x="1664564" y="1422889"/>
                </a:cubicBezTo>
                <a:cubicBezTo>
                  <a:pt x="1646593" y="1468886"/>
                  <a:pt x="1609046" y="1487214"/>
                  <a:pt x="1551924" y="1477871"/>
                </a:cubicBezTo>
                <a:cubicBezTo>
                  <a:pt x="1293128" y="1405274"/>
                  <a:pt x="1089314" y="1273451"/>
                  <a:pt x="940482" y="1082402"/>
                </a:cubicBezTo>
                <a:lnTo>
                  <a:pt x="940482" y="1431339"/>
                </a:lnTo>
                <a:cubicBezTo>
                  <a:pt x="962875" y="1597001"/>
                  <a:pt x="844958" y="1652875"/>
                  <a:pt x="586732" y="1598962"/>
                </a:cubicBezTo>
                <a:cubicBezTo>
                  <a:pt x="531179" y="1587338"/>
                  <a:pt x="507895" y="1555532"/>
                  <a:pt x="516880" y="1503544"/>
                </a:cubicBezTo>
                <a:cubicBezTo>
                  <a:pt x="533710" y="1450487"/>
                  <a:pt x="574395" y="1431125"/>
                  <a:pt x="638933" y="1445459"/>
                </a:cubicBezTo>
                <a:cubicBezTo>
                  <a:pt x="745476" y="1466925"/>
                  <a:pt x="789797" y="1454302"/>
                  <a:pt x="771897" y="1407592"/>
                </a:cubicBezTo>
                <a:lnTo>
                  <a:pt x="771897" y="1137314"/>
                </a:lnTo>
                <a:lnTo>
                  <a:pt x="768989" y="1142232"/>
                </a:lnTo>
                <a:cubicBezTo>
                  <a:pt x="761194" y="1153531"/>
                  <a:pt x="751110" y="1164930"/>
                  <a:pt x="738737" y="1176429"/>
                </a:cubicBezTo>
                <a:cubicBezTo>
                  <a:pt x="575144" y="1314136"/>
                  <a:pt x="374860" y="1410338"/>
                  <a:pt x="137885" y="1465035"/>
                </a:cubicBezTo>
                <a:cubicBezTo>
                  <a:pt x="73204" y="1474020"/>
                  <a:pt x="31735" y="1455194"/>
                  <a:pt x="13479" y="1408555"/>
                </a:cubicBezTo>
                <a:cubicBezTo>
                  <a:pt x="4493" y="1365267"/>
                  <a:pt x="28490" y="1332962"/>
                  <a:pt x="85469" y="1311640"/>
                </a:cubicBezTo>
                <a:cubicBezTo>
                  <a:pt x="271482" y="1261221"/>
                  <a:pt x="437620" y="1185032"/>
                  <a:pt x="583884" y="1083071"/>
                </a:cubicBezTo>
                <a:lnTo>
                  <a:pt x="613729" y="1061088"/>
                </a:lnTo>
                <a:lnTo>
                  <a:pt x="602203" y="1066558"/>
                </a:lnTo>
                <a:cubicBezTo>
                  <a:pt x="569978" y="1078832"/>
                  <a:pt x="535547" y="1074059"/>
                  <a:pt x="498909" y="1052237"/>
                </a:cubicBezTo>
                <a:cubicBezTo>
                  <a:pt x="427097" y="993974"/>
                  <a:pt x="335067" y="933393"/>
                  <a:pt x="222819" y="870494"/>
                </a:cubicBezTo>
                <a:cubicBezTo>
                  <a:pt x="181671" y="837120"/>
                  <a:pt x="170867" y="800322"/>
                  <a:pt x="190407" y="760101"/>
                </a:cubicBezTo>
                <a:cubicBezTo>
                  <a:pt x="219218" y="719381"/>
                  <a:pt x="261115" y="711466"/>
                  <a:pt x="316097" y="736354"/>
                </a:cubicBezTo>
                <a:cubicBezTo>
                  <a:pt x="382562" y="767304"/>
                  <a:pt x="478336" y="829703"/>
                  <a:pt x="603419" y="923552"/>
                </a:cubicBezTo>
                <a:cubicBezTo>
                  <a:pt x="643417" y="956624"/>
                  <a:pt x="656143" y="992671"/>
                  <a:pt x="641596" y="1031694"/>
                </a:cubicBezTo>
                <a:lnTo>
                  <a:pt x="635272" y="1045220"/>
                </a:lnTo>
                <a:lnTo>
                  <a:pt x="645352" y="1037796"/>
                </a:lnTo>
                <a:cubicBezTo>
                  <a:pt x="689905" y="1004662"/>
                  <a:pt x="729162" y="1001913"/>
                  <a:pt x="763122" y="1029548"/>
                </a:cubicBezTo>
                <a:lnTo>
                  <a:pt x="771897" y="1037998"/>
                </a:lnTo>
                <a:lnTo>
                  <a:pt x="771897" y="713248"/>
                </a:lnTo>
                <a:lnTo>
                  <a:pt x="78409" y="713248"/>
                </a:lnTo>
                <a:cubicBezTo>
                  <a:pt x="26137" y="707401"/>
                  <a:pt x="0" y="677699"/>
                  <a:pt x="0" y="624142"/>
                </a:cubicBezTo>
                <a:cubicBezTo>
                  <a:pt x="5420" y="575720"/>
                  <a:pt x="34623" y="551509"/>
                  <a:pt x="87609" y="551509"/>
                </a:cubicBezTo>
                <a:lnTo>
                  <a:pt x="1255189" y="551509"/>
                </a:lnTo>
                <a:lnTo>
                  <a:pt x="1255189" y="431382"/>
                </a:lnTo>
                <a:lnTo>
                  <a:pt x="259617" y="431382"/>
                </a:lnTo>
                <a:cubicBezTo>
                  <a:pt x="208557" y="425677"/>
                  <a:pt x="180174" y="396474"/>
                  <a:pt x="174469" y="343773"/>
                </a:cubicBezTo>
                <a:cubicBezTo>
                  <a:pt x="185308" y="294282"/>
                  <a:pt x="216793" y="269536"/>
                  <a:pt x="268923" y="269536"/>
                </a:cubicBezTo>
                <a:lnTo>
                  <a:pt x="1255189" y="269536"/>
                </a:lnTo>
                <a:lnTo>
                  <a:pt x="1255189" y="209419"/>
                </a:lnTo>
                <a:cubicBezTo>
                  <a:pt x="1255189" y="178397"/>
                  <a:pt x="1250839" y="162887"/>
                  <a:pt x="1242139" y="162887"/>
                </a:cubicBezTo>
                <a:lnTo>
                  <a:pt x="215224" y="162887"/>
                </a:lnTo>
                <a:cubicBezTo>
                  <a:pt x="162452" y="162887"/>
                  <a:pt x="133214" y="133826"/>
                  <a:pt x="127509" y="75706"/>
                </a:cubicBezTo>
                <a:cubicBezTo>
                  <a:pt x="132929" y="25929"/>
                  <a:pt x="162167" y="1041"/>
                  <a:pt x="215224" y="1041"/>
                </a:cubicBezTo>
                <a:lnTo>
                  <a:pt x="1298405" y="1041"/>
                </a:lnTo>
                <a:cubicBezTo>
                  <a:pt x="1309976" y="-82"/>
                  <a:pt x="1320788" y="-296"/>
                  <a:pt x="1330842" y="399"/>
                </a:cubicBez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 name="任意多边形 63"/>
          <p:cNvSpPr/>
          <p:nvPr/>
        </p:nvSpPr>
        <p:spPr>
          <a:xfrm>
            <a:off x="2671763" y="188913"/>
            <a:ext cx="796925" cy="1011238"/>
          </a:xfrm>
          <a:custGeom>
            <a:avLst/>
            <a:gdLst/>
            <a:ahLst/>
            <a:cxnLst/>
            <a:rect l="l" t="t" r="r" b="b"/>
            <a:pathLst>
              <a:path w="1574895" h="2000385">
                <a:moveTo>
                  <a:pt x="847892" y="0"/>
                </a:moveTo>
                <a:cubicBezTo>
                  <a:pt x="1062834" y="0"/>
                  <a:pt x="1238885" y="66502"/>
                  <a:pt x="1376044" y="199504"/>
                </a:cubicBezTo>
                <a:cubicBezTo>
                  <a:pt x="1513203" y="332507"/>
                  <a:pt x="1579408" y="495792"/>
                  <a:pt x="1574657" y="689358"/>
                </a:cubicBezTo>
                <a:lnTo>
                  <a:pt x="1571095" y="700046"/>
                </a:lnTo>
                <a:lnTo>
                  <a:pt x="1252245" y="700046"/>
                </a:lnTo>
                <a:cubicBezTo>
                  <a:pt x="1252245" y="582481"/>
                  <a:pt x="1213947" y="482432"/>
                  <a:pt x="1137352" y="399899"/>
                </a:cubicBezTo>
                <a:cubicBezTo>
                  <a:pt x="1060756" y="317366"/>
                  <a:pt x="964270" y="276100"/>
                  <a:pt x="847892" y="276100"/>
                </a:cubicBezTo>
                <a:cubicBezTo>
                  <a:pt x="675701" y="276100"/>
                  <a:pt x="550121" y="342898"/>
                  <a:pt x="471150" y="476495"/>
                </a:cubicBezTo>
                <a:cubicBezTo>
                  <a:pt x="392180" y="610091"/>
                  <a:pt x="352695" y="771891"/>
                  <a:pt x="352695" y="961895"/>
                </a:cubicBezTo>
                <a:lnTo>
                  <a:pt x="352695" y="1036709"/>
                </a:lnTo>
                <a:cubicBezTo>
                  <a:pt x="352695" y="1230276"/>
                  <a:pt x="391586" y="1393560"/>
                  <a:pt x="469369" y="1526563"/>
                </a:cubicBezTo>
                <a:cubicBezTo>
                  <a:pt x="547152" y="1659566"/>
                  <a:pt x="673326" y="1726067"/>
                  <a:pt x="847892" y="1726067"/>
                </a:cubicBezTo>
                <a:cubicBezTo>
                  <a:pt x="955957" y="1726067"/>
                  <a:pt x="1050365" y="1690144"/>
                  <a:pt x="1131117" y="1618299"/>
                </a:cubicBezTo>
                <a:cubicBezTo>
                  <a:pt x="1211869" y="1546454"/>
                  <a:pt x="1252245" y="1458280"/>
                  <a:pt x="1252245" y="1353778"/>
                </a:cubicBezTo>
                <a:lnTo>
                  <a:pt x="1569314" y="1353778"/>
                </a:lnTo>
                <a:lnTo>
                  <a:pt x="1574657" y="1364466"/>
                </a:lnTo>
                <a:cubicBezTo>
                  <a:pt x="1579408" y="1530719"/>
                  <a:pt x="1508156" y="1678269"/>
                  <a:pt x="1360903" y="1807115"/>
                </a:cubicBezTo>
                <a:cubicBezTo>
                  <a:pt x="1213650" y="1935962"/>
                  <a:pt x="1042646" y="2000385"/>
                  <a:pt x="847892" y="2000385"/>
                </a:cubicBezTo>
                <a:cubicBezTo>
                  <a:pt x="577137" y="2000385"/>
                  <a:pt x="368132" y="1908352"/>
                  <a:pt x="220879" y="1724286"/>
                </a:cubicBezTo>
                <a:cubicBezTo>
                  <a:pt x="73626" y="1540220"/>
                  <a:pt x="0" y="1311027"/>
                  <a:pt x="0" y="1036709"/>
                </a:cubicBezTo>
                <a:lnTo>
                  <a:pt x="0" y="961895"/>
                </a:lnTo>
                <a:cubicBezTo>
                  <a:pt x="0" y="689952"/>
                  <a:pt x="73923" y="461651"/>
                  <a:pt x="221770" y="276990"/>
                </a:cubicBezTo>
                <a:cubicBezTo>
                  <a:pt x="369617" y="92330"/>
                  <a:pt x="578324" y="0"/>
                  <a:pt x="847892" y="0"/>
                </a:cubicBez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7" name="任意多边形 66"/>
          <p:cNvSpPr/>
          <p:nvPr/>
        </p:nvSpPr>
        <p:spPr>
          <a:xfrm>
            <a:off x="4089400" y="877888"/>
            <a:ext cx="130175" cy="5980113"/>
          </a:xfrm>
          <a:custGeom>
            <a:avLst/>
            <a:gdLst>
              <a:gd name="connsiteX0" fmla="*/ 38851 w 129653"/>
              <a:gd name="connsiteY0" fmla="*/ 0 h 5979368"/>
              <a:gd name="connsiteX1" fmla="*/ 83349 w 129653"/>
              <a:gd name="connsiteY1" fmla="*/ 0 h 5979368"/>
              <a:gd name="connsiteX2" fmla="*/ 83349 w 129653"/>
              <a:gd name="connsiteY2" fmla="*/ 58954 h 5979368"/>
              <a:gd name="connsiteX3" fmla="*/ 129653 w 129653"/>
              <a:gd name="connsiteY3" fmla="*/ 58954 h 5979368"/>
              <a:gd name="connsiteX4" fmla="*/ 129653 w 129653"/>
              <a:gd name="connsiteY4" fmla="*/ 91932 h 5979368"/>
              <a:gd name="connsiteX5" fmla="*/ 83349 w 129653"/>
              <a:gd name="connsiteY5" fmla="*/ 91932 h 5979368"/>
              <a:gd name="connsiteX6" fmla="*/ 83349 w 129653"/>
              <a:gd name="connsiteY6" fmla="*/ 221506 h 5979368"/>
              <a:gd name="connsiteX7" fmla="*/ 83574 w 129653"/>
              <a:gd name="connsiteY7" fmla="*/ 221506 h 5979368"/>
              <a:gd name="connsiteX8" fmla="*/ 83574 w 129653"/>
              <a:gd name="connsiteY8" fmla="*/ 5979368 h 5979368"/>
              <a:gd name="connsiteX9" fmla="*/ 37855 w 129653"/>
              <a:gd name="connsiteY9" fmla="*/ 5979368 h 5979368"/>
              <a:gd name="connsiteX10" fmla="*/ 37855 w 129653"/>
              <a:gd name="connsiteY10" fmla="*/ 221506 h 5979368"/>
              <a:gd name="connsiteX11" fmla="*/ 38851 w 129653"/>
              <a:gd name="connsiteY11" fmla="*/ 221506 h 5979368"/>
              <a:gd name="connsiteX12" fmla="*/ 38851 w 129653"/>
              <a:gd name="connsiteY12" fmla="*/ 91932 h 5979368"/>
              <a:gd name="connsiteX13" fmla="*/ 0 w 129653"/>
              <a:gd name="connsiteY13" fmla="*/ 91932 h 5979368"/>
              <a:gd name="connsiteX14" fmla="*/ 0 w 129653"/>
              <a:gd name="connsiteY14" fmla="*/ 58954 h 5979368"/>
              <a:gd name="connsiteX15" fmla="*/ 38851 w 129653"/>
              <a:gd name="connsiteY15" fmla="*/ 58954 h 5979368"/>
              <a:gd name="connsiteX0-1" fmla="*/ 38851 w 129653"/>
              <a:gd name="connsiteY0-2" fmla="*/ 0 h 5979368"/>
              <a:gd name="connsiteX1-3" fmla="*/ 83349 w 129653"/>
              <a:gd name="connsiteY1-4" fmla="*/ 0 h 5979368"/>
              <a:gd name="connsiteX2-5" fmla="*/ 83349 w 129653"/>
              <a:gd name="connsiteY2-6" fmla="*/ 58954 h 5979368"/>
              <a:gd name="connsiteX3-7" fmla="*/ 129653 w 129653"/>
              <a:gd name="connsiteY3-8" fmla="*/ 58954 h 5979368"/>
              <a:gd name="connsiteX4-9" fmla="*/ 129653 w 129653"/>
              <a:gd name="connsiteY4-10" fmla="*/ 91932 h 5979368"/>
              <a:gd name="connsiteX5-11" fmla="*/ 83349 w 129653"/>
              <a:gd name="connsiteY5-12" fmla="*/ 91932 h 5979368"/>
              <a:gd name="connsiteX6-13" fmla="*/ 83349 w 129653"/>
              <a:gd name="connsiteY6-14" fmla="*/ 221506 h 5979368"/>
              <a:gd name="connsiteX7-15" fmla="*/ 83574 w 129653"/>
              <a:gd name="connsiteY7-16" fmla="*/ 221506 h 5979368"/>
              <a:gd name="connsiteX8-17" fmla="*/ 83574 w 129653"/>
              <a:gd name="connsiteY8-18" fmla="*/ 5979368 h 5979368"/>
              <a:gd name="connsiteX9-19" fmla="*/ 37855 w 129653"/>
              <a:gd name="connsiteY9-20" fmla="*/ 5979368 h 5979368"/>
              <a:gd name="connsiteX10-21" fmla="*/ 37855 w 129653"/>
              <a:gd name="connsiteY10-22" fmla="*/ 221506 h 5979368"/>
              <a:gd name="connsiteX11-23" fmla="*/ 38851 w 129653"/>
              <a:gd name="connsiteY11-24" fmla="*/ 91932 h 5979368"/>
              <a:gd name="connsiteX12-25" fmla="*/ 0 w 129653"/>
              <a:gd name="connsiteY12-26" fmla="*/ 91932 h 5979368"/>
              <a:gd name="connsiteX13-27" fmla="*/ 0 w 129653"/>
              <a:gd name="connsiteY13-28" fmla="*/ 58954 h 5979368"/>
              <a:gd name="connsiteX14-29" fmla="*/ 38851 w 129653"/>
              <a:gd name="connsiteY14-30" fmla="*/ 58954 h 5979368"/>
              <a:gd name="connsiteX15-31" fmla="*/ 38851 w 129653"/>
              <a:gd name="connsiteY15-32" fmla="*/ 0 h 5979368"/>
              <a:gd name="connsiteX0-33" fmla="*/ 38851 w 129653"/>
              <a:gd name="connsiteY0-34" fmla="*/ 0 h 5979368"/>
              <a:gd name="connsiteX1-35" fmla="*/ 83349 w 129653"/>
              <a:gd name="connsiteY1-36" fmla="*/ 0 h 5979368"/>
              <a:gd name="connsiteX2-37" fmla="*/ 83349 w 129653"/>
              <a:gd name="connsiteY2-38" fmla="*/ 58954 h 5979368"/>
              <a:gd name="connsiteX3-39" fmla="*/ 129653 w 129653"/>
              <a:gd name="connsiteY3-40" fmla="*/ 58954 h 5979368"/>
              <a:gd name="connsiteX4-41" fmla="*/ 129653 w 129653"/>
              <a:gd name="connsiteY4-42" fmla="*/ 91932 h 5979368"/>
              <a:gd name="connsiteX5-43" fmla="*/ 83349 w 129653"/>
              <a:gd name="connsiteY5-44" fmla="*/ 91932 h 5979368"/>
              <a:gd name="connsiteX6-45" fmla="*/ 83349 w 129653"/>
              <a:gd name="connsiteY6-46" fmla="*/ 221506 h 5979368"/>
              <a:gd name="connsiteX7-47" fmla="*/ 83574 w 129653"/>
              <a:gd name="connsiteY7-48" fmla="*/ 221506 h 5979368"/>
              <a:gd name="connsiteX8-49" fmla="*/ 83574 w 129653"/>
              <a:gd name="connsiteY8-50" fmla="*/ 5979368 h 5979368"/>
              <a:gd name="connsiteX9-51" fmla="*/ 37855 w 129653"/>
              <a:gd name="connsiteY9-52" fmla="*/ 5979368 h 5979368"/>
              <a:gd name="connsiteX10-53" fmla="*/ 38851 w 129653"/>
              <a:gd name="connsiteY10-54" fmla="*/ 91932 h 5979368"/>
              <a:gd name="connsiteX11-55" fmla="*/ 0 w 129653"/>
              <a:gd name="connsiteY11-56" fmla="*/ 91932 h 5979368"/>
              <a:gd name="connsiteX12-57" fmla="*/ 0 w 129653"/>
              <a:gd name="connsiteY12-58" fmla="*/ 58954 h 5979368"/>
              <a:gd name="connsiteX13-59" fmla="*/ 38851 w 129653"/>
              <a:gd name="connsiteY13-60" fmla="*/ 58954 h 5979368"/>
              <a:gd name="connsiteX14-61" fmla="*/ 38851 w 129653"/>
              <a:gd name="connsiteY14-62" fmla="*/ 0 h 5979368"/>
              <a:gd name="connsiteX0-63" fmla="*/ 38851 w 129653"/>
              <a:gd name="connsiteY0-64" fmla="*/ 0 h 5979368"/>
              <a:gd name="connsiteX1-65" fmla="*/ 83349 w 129653"/>
              <a:gd name="connsiteY1-66" fmla="*/ 0 h 5979368"/>
              <a:gd name="connsiteX2-67" fmla="*/ 83349 w 129653"/>
              <a:gd name="connsiteY2-68" fmla="*/ 58954 h 5979368"/>
              <a:gd name="connsiteX3-69" fmla="*/ 129653 w 129653"/>
              <a:gd name="connsiteY3-70" fmla="*/ 58954 h 5979368"/>
              <a:gd name="connsiteX4-71" fmla="*/ 129653 w 129653"/>
              <a:gd name="connsiteY4-72" fmla="*/ 91932 h 5979368"/>
              <a:gd name="connsiteX5-73" fmla="*/ 83349 w 129653"/>
              <a:gd name="connsiteY5-74" fmla="*/ 91932 h 5979368"/>
              <a:gd name="connsiteX6-75" fmla="*/ 83349 w 129653"/>
              <a:gd name="connsiteY6-76" fmla="*/ 221506 h 5979368"/>
              <a:gd name="connsiteX7-77" fmla="*/ 83574 w 129653"/>
              <a:gd name="connsiteY7-78" fmla="*/ 5979368 h 5979368"/>
              <a:gd name="connsiteX8-79" fmla="*/ 37855 w 129653"/>
              <a:gd name="connsiteY8-80" fmla="*/ 5979368 h 5979368"/>
              <a:gd name="connsiteX9-81" fmla="*/ 38851 w 129653"/>
              <a:gd name="connsiteY9-82" fmla="*/ 91932 h 5979368"/>
              <a:gd name="connsiteX10-83" fmla="*/ 0 w 129653"/>
              <a:gd name="connsiteY10-84" fmla="*/ 91932 h 5979368"/>
              <a:gd name="connsiteX11-85" fmla="*/ 0 w 129653"/>
              <a:gd name="connsiteY11-86" fmla="*/ 58954 h 5979368"/>
              <a:gd name="connsiteX12-87" fmla="*/ 38851 w 129653"/>
              <a:gd name="connsiteY12-88" fmla="*/ 58954 h 5979368"/>
              <a:gd name="connsiteX13-89" fmla="*/ 38851 w 129653"/>
              <a:gd name="connsiteY13-90" fmla="*/ 0 h 5979368"/>
              <a:gd name="connsiteX0-91" fmla="*/ 38851 w 129653"/>
              <a:gd name="connsiteY0-92" fmla="*/ 0 h 5979368"/>
              <a:gd name="connsiteX1-93" fmla="*/ 83349 w 129653"/>
              <a:gd name="connsiteY1-94" fmla="*/ 0 h 5979368"/>
              <a:gd name="connsiteX2-95" fmla="*/ 83349 w 129653"/>
              <a:gd name="connsiteY2-96" fmla="*/ 58954 h 5979368"/>
              <a:gd name="connsiteX3-97" fmla="*/ 129653 w 129653"/>
              <a:gd name="connsiteY3-98" fmla="*/ 58954 h 5979368"/>
              <a:gd name="connsiteX4-99" fmla="*/ 129653 w 129653"/>
              <a:gd name="connsiteY4-100" fmla="*/ 91932 h 5979368"/>
              <a:gd name="connsiteX5-101" fmla="*/ 83349 w 129653"/>
              <a:gd name="connsiteY5-102" fmla="*/ 91932 h 5979368"/>
              <a:gd name="connsiteX6-103" fmla="*/ 83574 w 129653"/>
              <a:gd name="connsiteY6-104" fmla="*/ 5979368 h 5979368"/>
              <a:gd name="connsiteX7-105" fmla="*/ 37855 w 129653"/>
              <a:gd name="connsiteY7-106" fmla="*/ 5979368 h 5979368"/>
              <a:gd name="connsiteX8-107" fmla="*/ 38851 w 129653"/>
              <a:gd name="connsiteY8-108" fmla="*/ 91932 h 5979368"/>
              <a:gd name="connsiteX9-109" fmla="*/ 0 w 129653"/>
              <a:gd name="connsiteY9-110" fmla="*/ 91932 h 5979368"/>
              <a:gd name="connsiteX10-111" fmla="*/ 0 w 129653"/>
              <a:gd name="connsiteY10-112" fmla="*/ 58954 h 5979368"/>
              <a:gd name="connsiteX11-113" fmla="*/ 38851 w 129653"/>
              <a:gd name="connsiteY11-114" fmla="*/ 58954 h 5979368"/>
              <a:gd name="connsiteX12-115" fmla="*/ 38851 w 129653"/>
              <a:gd name="connsiteY12-116" fmla="*/ 0 h 597936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29653" h="5979368">
                <a:moveTo>
                  <a:pt x="38851" y="0"/>
                </a:moveTo>
                <a:lnTo>
                  <a:pt x="83349" y="0"/>
                </a:lnTo>
                <a:lnTo>
                  <a:pt x="83349" y="58954"/>
                </a:lnTo>
                <a:lnTo>
                  <a:pt x="129653" y="58954"/>
                </a:lnTo>
                <a:lnTo>
                  <a:pt x="129653" y="91932"/>
                </a:lnTo>
                <a:lnTo>
                  <a:pt x="83349" y="91932"/>
                </a:lnTo>
                <a:lnTo>
                  <a:pt x="83574" y="5979368"/>
                </a:lnTo>
                <a:lnTo>
                  <a:pt x="37855" y="5979368"/>
                </a:lnTo>
                <a:lnTo>
                  <a:pt x="38851" y="91932"/>
                </a:lnTo>
                <a:lnTo>
                  <a:pt x="0" y="91932"/>
                </a:lnTo>
                <a:lnTo>
                  <a:pt x="0" y="58954"/>
                </a:lnTo>
                <a:lnTo>
                  <a:pt x="38851" y="58954"/>
                </a:lnTo>
                <a:lnTo>
                  <a:pt x="38851" y="0"/>
                </a:ln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任意多边形 61"/>
          <p:cNvSpPr/>
          <p:nvPr/>
        </p:nvSpPr>
        <p:spPr>
          <a:xfrm>
            <a:off x="4749800" y="877888"/>
            <a:ext cx="131763" cy="309563"/>
          </a:xfrm>
          <a:custGeom>
            <a:avLst/>
            <a:gdLst/>
            <a:ahLst/>
            <a:cxnLst/>
            <a:rect l="l" t="t" r="r" b="b"/>
            <a:pathLst>
              <a:path w="260746" h="609005">
                <a:moveTo>
                  <a:pt x="76795" y="0"/>
                </a:moveTo>
                <a:lnTo>
                  <a:pt x="164752" y="0"/>
                </a:lnTo>
                <a:lnTo>
                  <a:pt x="164752" y="116533"/>
                </a:lnTo>
                <a:lnTo>
                  <a:pt x="256282" y="116533"/>
                </a:lnTo>
                <a:lnTo>
                  <a:pt x="256282" y="181720"/>
                </a:lnTo>
                <a:lnTo>
                  <a:pt x="164752" y="181720"/>
                </a:lnTo>
                <a:lnTo>
                  <a:pt x="164752" y="475060"/>
                </a:lnTo>
                <a:cubicBezTo>
                  <a:pt x="164752" y="497682"/>
                  <a:pt x="169440" y="513606"/>
                  <a:pt x="178817" y="522834"/>
                </a:cubicBezTo>
                <a:cubicBezTo>
                  <a:pt x="188193" y="532061"/>
                  <a:pt x="200620" y="536675"/>
                  <a:pt x="216098" y="536675"/>
                </a:cubicBezTo>
                <a:cubicBezTo>
                  <a:pt x="221158" y="536675"/>
                  <a:pt x="226814" y="536005"/>
                  <a:pt x="233064" y="534666"/>
                </a:cubicBezTo>
                <a:cubicBezTo>
                  <a:pt x="239315" y="533326"/>
                  <a:pt x="244524" y="531912"/>
                  <a:pt x="248691" y="530424"/>
                </a:cubicBezTo>
                <a:lnTo>
                  <a:pt x="260746" y="590699"/>
                </a:lnTo>
                <a:cubicBezTo>
                  <a:pt x="254198" y="596057"/>
                  <a:pt x="244524" y="600448"/>
                  <a:pt x="231725" y="603871"/>
                </a:cubicBezTo>
                <a:cubicBezTo>
                  <a:pt x="218926" y="607294"/>
                  <a:pt x="206275" y="609005"/>
                  <a:pt x="193774" y="609005"/>
                </a:cubicBezTo>
                <a:cubicBezTo>
                  <a:pt x="158055" y="609005"/>
                  <a:pt x="129629" y="598215"/>
                  <a:pt x="108495" y="576635"/>
                </a:cubicBezTo>
                <a:cubicBezTo>
                  <a:pt x="87362" y="555055"/>
                  <a:pt x="76795" y="521197"/>
                  <a:pt x="76795" y="475060"/>
                </a:cubicBezTo>
                <a:lnTo>
                  <a:pt x="76795" y="181720"/>
                </a:lnTo>
                <a:lnTo>
                  <a:pt x="0" y="181720"/>
                </a:lnTo>
                <a:lnTo>
                  <a:pt x="0" y="116533"/>
                </a:lnTo>
                <a:lnTo>
                  <a:pt x="76795" y="116533"/>
                </a:lnTo>
                <a:lnTo>
                  <a:pt x="76795" y="0"/>
                </a:ln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 name="任意多边形 60"/>
          <p:cNvSpPr/>
          <p:nvPr/>
        </p:nvSpPr>
        <p:spPr>
          <a:xfrm>
            <a:off x="3570288" y="933450"/>
            <a:ext cx="219075" cy="254000"/>
          </a:xfrm>
          <a:custGeom>
            <a:avLst/>
            <a:gdLst/>
            <a:ahLst/>
            <a:cxnLst/>
            <a:rect l="l" t="t" r="r" b="b"/>
            <a:pathLst>
              <a:path w="432644" h="501402">
                <a:moveTo>
                  <a:pt x="215652" y="0"/>
                </a:moveTo>
                <a:cubicBezTo>
                  <a:pt x="282625" y="0"/>
                  <a:pt x="335533" y="23069"/>
                  <a:pt x="374377" y="69205"/>
                </a:cubicBezTo>
                <a:cubicBezTo>
                  <a:pt x="413221" y="115342"/>
                  <a:pt x="432644" y="174278"/>
                  <a:pt x="432644" y="246013"/>
                </a:cubicBezTo>
                <a:lnTo>
                  <a:pt x="432644" y="255836"/>
                </a:lnTo>
                <a:cubicBezTo>
                  <a:pt x="432644" y="327869"/>
                  <a:pt x="413296" y="386805"/>
                  <a:pt x="374601" y="432644"/>
                </a:cubicBezTo>
                <a:cubicBezTo>
                  <a:pt x="335905" y="478483"/>
                  <a:pt x="283220" y="501402"/>
                  <a:pt x="216545" y="501402"/>
                </a:cubicBezTo>
                <a:cubicBezTo>
                  <a:pt x="149870" y="501402"/>
                  <a:pt x="97111" y="478408"/>
                  <a:pt x="58266" y="432420"/>
                </a:cubicBezTo>
                <a:cubicBezTo>
                  <a:pt x="19422" y="386432"/>
                  <a:pt x="0" y="327571"/>
                  <a:pt x="0" y="255836"/>
                </a:cubicBezTo>
                <a:lnTo>
                  <a:pt x="0" y="246013"/>
                </a:lnTo>
                <a:cubicBezTo>
                  <a:pt x="0" y="174576"/>
                  <a:pt x="19348" y="115714"/>
                  <a:pt x="58043" y="69429"/>
                </a:cubicBezTo>
                <a:cubicBezTo>
                  <a:pt x="96738" y="23143"/>
                  <a:pt x="149275" y="0"/>
                  <a:pt x="215652" y="0"/>
                </a:cubicBezTo>
                <a:close/>
                <a:moveTo>
                  <a:pt x="215652" y="69205"/>
                </a:moveTo>
                <a:cubicBezTo>
                  <a:pt x="173683" y="69205"/>
                  <a:pt x="141908" y="86023"/>
                  <a:pt x="120328" y="119658"/>
                </a:cubicBezTo>
                <a:cubicBezTo>
                  <a:pt x="98748" y="153293"/>
                  <a:pt x="87958" y="195412"/>
                  <a:pt x="87958" y="246013"/>
                </a:cubicBezTo>
                <a:lnTo>
                  <a:pt x="87958" y="255836"/>
                </a:lnTo>
                <a:cubicBezTo>
                  <a:pt x="87958" y="307033"/>
                  <a:pt x="98748" y="349300"/>
                  <a:pt x="120328" y="382637"/>
                </a:cubicBezTo>
                <a:cubicBezTo>
                  <a:pt x="141908" y="415975"/>
                  <a:pt x="173980" y="432644"/>
                  <a:pt x="216545" y="432644"/>
                </a:cubicBezTo>
                <a:cubicBezTo>
                  <a:pt x="258515" y="432644"/>
                  <a:pt x="290364" y="415975"/>
                  <a:pt x="312093" y="382637"/>
                </a:cubicBezTo>
                <a:cubicBezTo>
                  <a:pt x="333822" y="349300"/>
                  <a:pt x="344686" y="307033"/>
                  <a:pt x="344686" y="255836"/>
                </a:cubicBezTo>
                <a:lnTo>
                  <a:pt x="344686" y="246013"/>
                </a:lnTo>
                <a:cubicBezTo>
                  <a:pt x="344686" y="195412"/>
                  <a:pt x="333747" y="153293"/>
                  <a:pt x="311870" y="119658"/>
                </a:cubicBezTo>
                <a:cubicBezTo>
                  <a:pt x="289992" y="86023"/>
                  <a:pt x="257919" y="69205"/>
                  <a:pt x="215652" y="69205"/>
                </a:cubicBez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任意多边形 59"/>
          <p:cNvSpPr/>
          <p:nvPr/>
        </p:nvSpPr>
        <p:spPr>
          <a:xfrm>
            <a:off x="3846513" y="933450"/>
            <a:ext cx="198438" cy="249238"/>
          </a:xfrm>
          <a:custGeom>
            <a:avLst/>
            <a:gdLst/>
            <a:ahLst/>
            <a:cxnLst/>
            <a:rect l="l" t="t" r="r" b="b"/>
            <a:pathLst>
              <a:path w="392014" h="492026">
                <a:moveTo>
                  <a:pt x="228154" y="0"/>
                </a:moveTo>
                <a:cubicBezTo>
                  <a:pt x="280244" y="0"/>
                  <a:pt x="320576" y="15255"/>
                  <a:pt x="349151" y="45765"/>
                </a:cubicBezTo>
                <a:cubicBezTo>
                  <a:pt x="377726" y="76275"/>
                  <a:pt x="392014" y="123379"/>
                  <a:pt x="392014" y="187077"/>
                </a:cubicBezTo>
                <a:lnTo>
                  <a:pt x="392014" y="492026"/>
                </a:lnTo>
                <a:lnTo>
                  <a:pt x="304056" y="492026"/>
                </a:lnTo>
                <a:lnTo>
                  <a:pt x="304056" y="188863"/>
                </a:lnTo>
                <a:cubicBezTo>
                  <a:pt x="304056" y="146298"/>
                  <a:pt x="295648" y="116086"/>
                  <a:pt x="278830" y="98227"/>
                </a:cubicBezTo>
                <a:cubicBezTo>
                  <a:pt x="262012" y="80367"/>
                  <a:pt x="236340" y="71438"/>
                  <a:pt x="201811" y="71438"/>
                </a:cubicBezTo>
                <a:cubicBezTo>
                  <a:pt x="174725" y="71438"/>
                  <a:pt x="151731" y="76870"/>
                  <a:pt x="132830" y="87734"/>
                </a:cubicBezTo>
                <a:cubicBezTo>
                  <a:pt x="113928" y="98599"/>
                  <a:pt x="98971" y="113854"/>
                  <a:pt x="87958" y="133499"/>
                </a:cubicBezTo>
                <a:lnTo>
                  <a:pt x="87958" y="492026"/>
                </a:lnTo>
                <a:lnTo>
                  <a:pt x="0" y="492026"/>
                </a:lnTo>
                <a:lnTo>
                  <a:pt x="0" y="8930"/>
                </a:lnTo>
                <a:lnTo>
                  <a:pt x="78582" y="8930"/>
                </a:lnTo>
                <a:lnTo>
                  <a:pt x="84832" y="80814"/>
                </a:lnTo>
                <a:cubicBezTo>
                  <a:pt x="100906" y="55215"/>
                  <a:pt x="121072" y="35347"/>
                  <a:pt x="145331" y="21208"/>
                </a:cubicBezTo>
                <a:cubicBezTo>
                  <a:pt x="169590" y="7070"/>
                  <a:pt x="197198" y="0"/>
                  <a:pt x="228154" y="0"/>
                </a:cubicBez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任意多边形 58"/>
          <p:cNvSpPr/>
          <p:nvPr/>
        </p:nvSpPr>
        <p:spPr>
          <a:xfrm>
            <a:off x="4254500" y="933450"/>
            <a:ext cx="203200" cy="254000"/>
          </a:xfrm>
          <a:custGeom>
            <a:avLst/>
            <a:gdLst/>
            <a:ahLst/>
            <a:cxnLst/>
            <a:rect l="l" t="t" r="r" b="b"/>
            <a:pathLst>
              <a:path w="400497" h="501402">
                <a:moveTo>
                  <a:pt x="206722" y="0"/>
                </a:moveTo>
                <a:cubicBezTo>
                  <a:pt x="271314" y="0"/>
                  <a:pt x="319757" y="20092"/>
                  <a:pt x="352053" y="60276"/>
                </a:cubicBezTo>
                <a:cubicBezTo>
                  <a:pt x="384349" y="100459"/>
                  <a:pt x="400497" y="153889"/>
                  <a:pt x="400497" y="220564"/>
                </a:cubicBezTo>
                <a:lnTo>
                  <a:pt x="400497" y="266998"/>
                </a:lnTo>
                <a:lnTo>
                  <a:pt x="91529" y="266998"/>
                </a:lnTo>
                <a:lnTo>
                  <a:pt x="90190" y="269230"/>
                </a:lnTo>
                <a:cubicBezTo>
                  <a:pt x="90190" y="317748"/>
                  <a:pt x="100906" y="357113"/>
                  <a:pt x="122337" y="387325"/>
                </a:cubicBezTo>
                <a:cubicBezTo>
                  <a:pt x="143768" y="417538"/>
                  <a:pt x="176510" y="432644"/>
                  <a:pt x="220563" y="432644"/>
                </a:cubicBezTo>
                <a:cubicBezTo>
                  <a:pt x="250329" y="432644"/>
                  <a:pt x="276448" y="428402"/>
                  <a:pt x="298921" y="419919"/>
                </a:cubicBezTo>
                <a:cubicBezTo>
                  <a:pt x="321395" y="411436"/>
                  <a:pt x="340668" y="399753"/>
                  <a:pt x="356741" y="384870"/>
                </a:cubicBezTo>
                <a:lnTo>
                  <a:pt x="391120" y="442020"/>
                </a:lnTo>
                <a:cubicBezTo>
                  <a:pt x="373856" y="458689"/>
                  <a:pt x="351086" y="472753"/>
                  <a:pt x="322808" y="484213"/>
                </a:cubicBezTo>
                <a:cubicBezTo>
                  <a:pt x="294531" y="495672"/>
                  <a:pt x="260449" y="501402"/>
                  <a:pt x="220563" y="501402"/>
                </a:cubicBezTo>
                <a:cubicBezTo>
                  <a:pt x="151210" y="501402"/>
                  <a:pt x="97111" y="479227"/>
                  <a:pt x="58266" y="434876"/>
                </a:cubicBezTo>
                <a:cubicBezTo>
                  <a:pt x="19422" y="390525"/>
                  <a:pt x="0" y="332185"/>
                  <a:pt x="0" y="259854"/>
                </a:cubicBezTo>
                <a:lnTo>
                  <a:pt x="0" y="240209"/>
                </a:lnTo>
                <a:cubicBezTo>
                  <a:pt x="0" y="170855"/>
                  <a:pt x="20018" y="113482"/>
                  <a:pt x="60052" y="68089"/>
                </a:cubicBezTo>
                <a:cubicBezTo>
                  <a:pt x="100087" y="22697"/>
                  <a:pt x="148977" y="0"/>
                  <a:pt x="206722" y="0"/>
                </a:cubicBezTo>
                <a:close/>
                <a:moveTo>
                  <a:pt x="206722" y="69205"/>
                </a:moveTo>
                <a:cubicBezTo>
                  <a:pt x="176064" y="69205"/>
                  <a:pt x="150689" y="81037"/>
                  <a:pt x="130597" y="104701"/>
                </a:cubicBezTo>
                <a:cubicBezTo>
                  <a:pt x="110505" y="128364"/>
                  <a:pt x="98227" y="158651"/>
                  <a:pt x="93762" y="195560"/>
                </a:cubicBezTo>
                <a:lnTo>
                  <a:pt x="94655" y="197793"/>
                </a:lnTo>
                <a:lnTo>
                  <a:pt x="312539" y="197793"/>
                </a:lnTo>
                <a:lnTo>
                  <a:pt x="312539" y="190649"/>
                </a:lnTo>
                <a:cubicBezTo>
                  <a:pt x="312539" y="155526"/>
                  <a:pt x="303907" y="126504"/>
                  <a:pt x="286643" y="103585"/>
                </a:cubicBezTo>
                <a:cubicBezTo>
                  <a:pt x="269379" y="80665"/>
                  <a:pt x="242739" y="69205"/>
                  <a:pt x="206722" y="69205"/>
                </a:cubicBez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任意多边形 57"/>
          <p:cNvSpPr/>
          <p:nvPr/>
        </p:nvSpPr>
        <p:spPr>
          <a:xfrm>
            <a:off x="4505325" y="933450"/>
            <a:ext cx="198438" cy="249238"/>
          </a:xfrm>
          <a:custGeom>
            <a:avLst/>
            <a:gdLst/>
            <a:ahLst/>
            <a:cxnLst/>
            <a:rect l="l" t="t" r="r" b="b"/>
            <a:pathLst>
              <a:path w="392014" h="492026">
                <a:moveTo>
                  <a:pt x="228154" y="0"/>
                </a:moveTo>
                <a:cubicBezTo>
                  <a:pt x="280244" y="0"/>
                  <a:pt x="320576" y="15255"/>
                  <a:pt x="349151" y="45765"/>
                </a:cubicBezTo>
                <a:cubicBezTo>
                  <a:pt x="377726" y="76275"/>
                  <a:pt x="392014" y="123379"/>
                  <a:pt x="392014" y="187077"/>
                </a:cubicBezTo>
                <a:lnTo>
                  <a:pt x="392014" y="492026"/>
                </a:lnTo>
                <a:lnTo>
                  <a:pt x="304056" y="492026"/>
                </a:lnTo>
                <a:lnTo>
                  <a:pt x="304056" y="188863"/>
                </a:lnTo>
                <a:cubicBezTo>
                  <a:pt x="304056" y="146298"/>
                  <a:pt x="295648" y="116086"/>
                  <a:pt x="278830" y="98227"/>
                </a:cubicBezTo>
                <a:cubicBezTo>
                  <a:pt x="262012" y="80367"/>
                  <a:pt x="236340" y="71438"/>
                  <a:pt x="201811" y="71438"/>
                </a:cubicBezTo>
                <a:cubicBezTo>
                  <a:pt x="174725" y="71438"/>
                  <a:pt x="151731" y="76870"/>
                  <a:pt x="132830" y="87734"/>
                </a:cubicBezTo>
                <a:cubicBezTo>
                  <a:pt x="113928" y="98599"/>
                  <a:pt x="98971" y="113854"/>
                  <a:pt x="87958" y="133499"/>
                </a:cubicBezTo>
                <a:lnTo>
                  <a:pt x="87958" y="492026"/>
                </a:lnTo>
                <a:lnTo>
                  <a:pt x="0" y="492026"/>
                </a:lnTo>
                <a:lnTo>
                  <a:pt x="0" y="8930"/>
                </a:lnTo>
                <a:lnTo>
                  <a:pt x="78582" y="8930"/>
                </a:lnTo>
                <a:lnTo>
                  <a:pt x="84832" y="80814"/>
                </a:lnTo>
                <a:cubicBezTo>
                  <a:pt x="100906" y="55215"/>
                  <a:pt x="121072" y="35347"/>
                  <a:pt x="145331" y="21208"/>
                </a:cubicBezTo>
                <a:cubicBezTo>
                  <a:pt x="169590" y="7070"/>
                  <a:pt x="197198" y="0"/>
                  <a:pt x="228154" y="0"/>
                </a:cubicBez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7" name="任意多边形 56"/>
          <p:cNvSpPr/>
          <p:nvPr/>
        </p:nvSpPr>
        <p:spPr>
          <a:xfrm>
            <a:off x="4918075" y="933450"/>
            <a:ext cx="193675" cy="254000"/>
          </a:xfrm>
          <a:custGeom>
            <a:avLst/>
            <a:gdLst/>
            <a:ahLst/>
            <a:cxnLst/>
            <a:rect l="l" t="t" r="r" b="b"/>
            <a:pathLst>
              <a:path w="384105" h="501402">
                <a:moveTo>
                  <a:pt x="193903" y="0"/>
                </a:moveTo>
                <a:cubicBezTo>
                  <a:pt x="248672" y="0"/>
                  <a:pt x="293023" y="14883"/>
                  <a:pt x="326955" y="44649"/>
                </a:cubicBezTo>
                <a:cubicBezTo>
                  <a:pt x="360888" y="74414"/>
                  <a:pt x="377110" y="109091"/>
                  <a:pt x="375622" y="148680"/>
                </a:cubicBezTo>
                <a:lnTo>
                  <a:pt x="374729" y="151358"/>
                </a:lnTo>
                <a:lnTo>
                  <a:pt x="290790" y="151358"/>
                </a:lnTo>
                <a:cubicBezTo>
                  <a:pt x="290790" y="130522"/>
                  <a:pt x="281637" y="111621"/>
                  <a:pt x="263331" y="94655"/>
                </a:cubicBezTo>
                <a:cubicBezTo>
                  <a:pt x="245025" y="77689"/>
                  <a:pt x="221883" y="69205"/>
                  <a:pt x="193903" y="69205"/>
                </a:cubicBezTo>
                <a:cubicBezTo>
                  <a:pt x="162947" y="69205"/>
                  <a:pt x="139804" y="76200"/>
                  <a:pt x="124475" y="90190"/>
                </a:cubicBezTo>
                <a:cubicBezTo>
                  <a:pt x="109146" y="104180"/>
                  <a:pt x="101481" y="120849"/>
                  <a:pt x="101481" y="140196"/>
                </a:cubicBezTo>
                <a:cubicBezTo>
                  <a:pt x="101481" y="159246"/>
                  <a:pt x="108104" y="173980"/>
                  <a:pt x="121350" y="184398"/>
                </a:cubicBezTo>
                <a:cubicBezTo>
                  <a:pt x="134595" y="194816"/>
                  <a:pt x="161905" y="204341"/>
                  <a:pt x="203279" y="212973"/>
                </a:cubicBezTo>
                <a:cubicBezTo>
                  <a:pt x="262513" y="225475"/>
                  <a:pt x="307459" y="243185"/>
                  <a:pt x="338117" y="266105"/>
                </a:cubicBezTo>
                <a:cubicBezTo>
                  <a:pt x="368776" y="289024"/>
                  <a:pt x="384105" y="318939"/>
                  <a:pt x="384105" y="355848"/>
                </a:cubicBezTo>
                <a:cubicBezTo>
                  <a:pt x="384105" y="398711"/>
                  <a:pt x="366767" y="433685"/>
                  <a:pt x="332090" y="460772"/>
                </a:cubicBezTo>
                <a:cubicBezTo>
                  <a:pt x="297413" y="487859"/>
                  <a:pt x="252095" y="501402"/>
                  <a:pt x="196135" y="501402"/>
                </a:cubicBezTo>
                <a:cubicBezTo>
                  <a:pt x="134521" y="501402"/>
                  <a:pt x="86003" y="485775"/>
                  <a:pt x="50582" y="454521"/>
                </a:cubicBezTo>
                <a:cubicBezTo>
                  <a:pt x="15161" y="423267"/>
                  <a:pt x="-1657" y="386805"/>
                  <a:pt x="129" y="345133"/>
                </a:cubicBezTo>
                <a:lnTo>
                  <a:pt x="1022" y="342454"/>
                </a:lnTo>
                <a:lnTo>
                  <a:pt x="84961" y="342454"/>
                </a:lnTo>
                <a:cubicBezTo>
                  <a:pt x="86449" y="373708"/>
                  <a:pt x="98058" y="396553"/>
                  <a:pt x="119787" y="410989"/>
                </a:cubicBezTo>
                <a:cubicBezTo>
                  <a:pt x="141516" y="425425"/>
                  <a:pt x="166965" y="432644"/>
                  <a:pt x="196135" y="432644"/>
                </a:cubicBezTo>
                <a:cubicBezTo>
                  <a:pt x="227389" y="432644"/>
                  <a:pt x="251872" y="426021"/>
                  <a:pt x="269582" y="412775"/>
                </a:cubicBezTo>
                <a:cubicBezTo>
                  <a:pt x="287293" y="399529"/>
                  <a:pt x="296148" y="382637"/>
                  <a:pt x="296148" y="362099"/>
                </a:cubicBezTo>
                <a:cubicBezTo>
                  <a:pt x="296148" y="342751"/>
                  <a:pt x="288781" y="326976"/>
                  <a:pt x="274047" y="314772"/>
                </a:cubicBezTo>
                <a:cubicBezTo>
                  <a:pt x="259313" y="302568"/>
                  <a:pt x="231408" y="291852"/>
                  <a:pt x="190331" y="282625"/>
                </a:cubicBezTo>
                <a:cubicBezTo>
                  <a:pt x="133479" y="270421"/>
                  <a:pt x="89798" y="253306"/>
                  <a:pt x="59288" y="231279"/>
                </a:cubicBezTo>
                <a:cubicBezTo>
                  <a:pt x="28779" y="209253"/>
                  <a:pt x="13524" y="179785"/>
                  <a:pt x="13524" y="142875"/>
                </a:cubicBezTo>
                <a:cubicBezTo>
                  <a:pt x="13524" y="103585"/>
                  <a:pt x="30267" y="69949"/>
                  <a:pt x="63753" y="41970"/>
                </a:cubicBezTo>
                <a:cubicBezTo>
                  <a:pt x="97239" y="13990"/>
                  <a:pt x="140623" y="0"/>
                  <a:pt x="193903" y="0"/>
                </a:cubicBezTo>
                <a:close/>
              </a:path>
            </a:pathLst>
          </a:cu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131" name="组合 31"/>
          <p:cNvGrpSpPr/>
          <p:nvPr/>
        </p:nvGrpSpPr>
        <p:grpSpPr>
          <a:xfrm>
            <a:off x="3470275" y="1585913"/>
            <a:ext cx="620713" cy="539750"/>
            <a:chOff x="3728680" y="1585504"/>
            <a:chExt cx="620874" cy="540000"/>
          </a:xfrm>
        </p:grpSpPr>
        <p:sp>
          <p:nvSpPr>
            <p:cNvPr id="6" name="等腰三角形 5"/>
            <p:cNvSpPr/>
            <p:nvPr/>
          </p:nvSpPr>
          <p:spPr>
            <a:xfrm rot="5400000">
              <a:off x="3964441" y="1676862"/>
              <a:ext cx="412941" cy="357281"/>
            </a:xfrm>
            <a:prstGeom prst="triangl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椭圆 12"/>
            <p:cNvSpPr>
              <a:spLocks noChangeAspect="1"/>
            </p:cNvSpPr>
            <p:nvPr/>
          </p:nvSpPr>
          <p:spPr>
            <a:xfrm>
              <a:off x="3728680" y="1585504"/>
              <a:ext cx="539890" cy="54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0CF9B"/>
                </a:solidFill>
                <a:effectLst/>
                <a:uLnTx/>
                <a:uFillTx/>
                <a:latin typeface="+mn-lt"/>
                <a:ea typeface="+mn-ea"/>
                <a:cs typeface="+mn-cs"/>
              </a:endParaRPr>
            </a:p>
          </p:txBody>
        </p:sp>
        <p:sp>
          <p:nvSpPr>
            <p:cNvPr id="5134" name="Freeform 15"/>
            <p:cNvSpPr>
              <a:spLocks noChangeAspect="1" noEditPoints="1"/>
            </p:cNvSpPr>
            <p:nvPr/>
          </p:nvSpPr>
          <p:spPr>
            <a:xfrm>
              <a:off x="3850559" y="1711504"/>
              <a:ext cx="291200" cy="288000"/>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chemeClr val="bg1"/>
            </a:solidFill>
            <a:ln w="9525">
              <a:noFill/>
            </a:ln>
          </p:spPr>
          <p:txBody>
            <a:bodyPr/>
            <a:p>
              <a:endParaRPr lang="zh-CN" altLang="en-US"/>
            </a:p>
          </p:txBody>
        </p:sp>
      </p:grpSp>
      <p:grpSp>
        <p:nvGrpSpPr>
          <p:cNvPr id="5135" name="组合 6"/>
          <p:cNvGrpSpPr/>
          <p:nvPr/>
        </p:nvGrpSpPr>
        <p:grpSpPr>
          <a:xfrm>
            <a:off x="3491230" y="2447925"/>
            <a:ext cx="620713" cy="539750"/>
            <a:chOff x="3728680" y="2447558"/>
            <a:chExt cx="620874" cy="540000"/>
          </a:xfrm>
        </p:grpSpPr>
        <p:sp>
          <p:nvSpPr>
            <p:cNvPr id="35" name="等腰三角形 34"/>
            <p:cNvSpPr/>
            <p:nvPr/>
          </p:nvSpPr>
          <p:spPr>
            <a:xfrm rot="5400000">
              <a:off x="3964441" y="2538916"/>
              <a:ext cx="412941" cy="357281"/>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a:spLocks noChangeAspect="1"/>
            </p:cNvSpPr>
            <p:nvPr/>
          </p:nvSpPr>
          <p:spPr>
            <a:xfrm rot="10800000">
              <a:off x="3728680" y="2447558"/>
              <a:ext cx="539890" cy="540000"/>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8D35E"/>
                </a:solidFill>
                <a:effectLst/>
                <a:uLnTx/>
                <a:uFillTx/>
                <a:latin typeface="+mn-lt"/>
                <a:ea typeface="+mn-ea"/>
                <a:cs typeface="+mn-cs"/>
              </a:endParaRPr>
            </a:p>
          </p:txBody>
        </p:sp>
        <p:sp>
          <p:nvSpPr>
            <p:cNvPr id="5138" name="Freeform 479"/>
            <p:cNvSpPr>
              <a:spLocks noChangeAspect="1" noEditPoints="1"/>
            </p:cNvSpPr>
            <p:nvPr/>
          </p:nvSpPr>
          <p:spPr>
            <a:xfrm>
              <a:off x="3849176" y="2598324"/>
              <a:ext cx="306000" cy="238469"/>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2" h="56">
                  <a:moveTo>
                    <a:pt x="72" y="35"/>
                  </a:moveTo>
                  <a:cubicBezTo>
                    <a:pt x="31" y="43"/>
                    <a:pt x="31" y="43"/>
                    <a:pt x="31" y="43"/>
                  </a:cubicBezTo>
                  <a:cubicBezTo>
                    <a:pt x="30" y="47"/>
                    <a:pt x="30" y="50"/>
                    <a:pt x="31" y="53"/>
                  </a:cubicBezTo>
                  <a:cubicBezTo>
                    <a:pt x="71" y="44"/>
                    <a:pt x="71" y="44"/>
                    <a:pt x="71" y="44"/>
                  </a:cubicBezTo>
                  <a:cubicBezTo>
                    <a:pt x="72" y="47"/>
                    <a:pt x="72" y="47"/>
                    <a:pt x="72" y="47"/>
                  </a:cubicBezTo>
                  <a:cubicBezTo>
                    <a:pt x="30" y="56"/>
                    <a:pt x="30" y="56"/>
                    <a:pt x="30" y="56"/>
                  </a:cubicBezTo>
                  <a:cubicBezTo>
                    <a:pt x="29" y="56"/>
                    <a:pt x="29" y="56"/>
                    <a:pt x="29" y="56"/>
                  </a:cubicBezTo>
                  <a:cubicBezTo>
                    <a:pt x="2" y="39"/>
                    <a:pt x="2" y="39"/>
                    <a:pt x="2" y="39"/>
                  </a:cubicBezTo>
                  <a:cubicBezTo>
                    <a:pt x="1" y="36"/>
                    <a:pt x="0" y="32"/>
                    <a:pt x="2" y="29"/>
                  </a:cubicBezTo>
                  <a:cubicBezTo>
                    <a:pt x="5" y="28"/>
                    <a:pt x="5" y="28"/>
                    <a:pt x="5" y="28"/>
                  </a:cubicBezTo>
                  <a:cubicBezTo>
                    <a:pt x="5" y="29"/>
                    <a:pt x="5" y="29"/>
                    <a:pt x="5" y="29"/>
                  </a:cubicBezTo>
                  <a:cubicBezTo>
                    <a:pt x="40" y="37"/>
                    <a:pt x="40" y="37"/>
                    <a:pt x="40" y="37"/>
                  </a:cubicBezTo>
                  <a:cubicBezTo>
                    <a:pt x="40" y="36"/>
                    <a:pt x="40" y="34"/>
                    <a:pt x="40" y="33"/>
                  </a:cubicBezTo>
                  <a:cubicBezTo>
                    <a:pt x="40" y="32"/>
                    <a:pt x="40" y="30"/>
                    <a:pt x="40" y="29"/>
                  </a:cubicBezTo>
                  <a:cubicBezTo>
                    <a:pt x="5" y="22"/>
                    <a:pt x="5" y="22"/>
                    <a:pt x="5" y="22"/>
                  </a:cubicBezTo>
                  <a:cubicBezTo>
                    <a:pt x="5" y="19"/>
                    <a:pt x="5" y="19"/>
                    <a:pt x="5" y="19"/>
                  </a:cubicBezTo>
                  <a:cubicBezTo>
                    <a:pt x="5" y="19"/>
                    <a:pt x="5" y="19"/>
                    <a:pt x="5" y="19"/>
                  </a:cubicBezTo>
                  <a:cubicBezTo>
                    <a:pt x="5" y="19"/>
                    <a:pt x="5" y="19"/>
                    <a:pt x="5" y="19"/>
                  </a:cubicBezTo>
                  <a:cubicBezTo>
                    <a:pt x="5" y="19"/>
                    <a:pt x="5" y="19"/>
                    <a:pt x="5" y="19"/>
                  </a:cubicBezTo>
                  <a:cubicBezTo>
                    <a:pt x="7" y="18"/>
                    <a:pt x="7" y="18"/>
                    <a:pt x="7" y="18"/>
                  </a:cubicBezTo>
                  <a:cubicBezTo>
                    <a:pt x="7" y="16"/>
                    <a:pt x="7" y="16"/>
                    <a:pt x="7" y="16"/>
                  </a:cubicBezTo>
                  <a:cubicBezTo>
                    <a:pt x="40" y="24"/>
                    <a:pt x="40" y="24"/>
                    <a:pt x="40" y="24"/>
                  </a:cubicBezTo>
                  <a:cubicBezTo>
                    <a:pt x="40" y="23"/>
                    <a:pt x="40" y="22"/>
                    <a:pt x="40" y="21"/>
                  </a:cubicBezTo>
                  <a:cubicBezTo>
                    <a:pt x="40" y="19"/>
                    <a:pt x="40" y="18"/>
                    <a:pt x="40" y="17"/>
                  </a:cubicBezTo>
                  <a:cubicBezTo>
                    <a:pt x="7" y="9"/>
                    <a:pt x="7" y="9"/>
                    <a:pt x="7" y="9"/>
                  </a:cubicBezTo>
                  <a:cubicBezTo>
                    <a:pt x="7" y="6"/>
                    <a:pt x="7" y="6"/>
                    <a:pt x="7" y="6"/>
                  </a:cubicBezTo>
                  <a:cubicBezTo>
                    <a:pt x="33" y="0"/>
                    <a:pt x="33" y="0"/>
                    <a:pt x="33" y="0"/>
                  </a:cubicBezTo>
                  <a:cubicBezTo>
                    <a:pt x="63" y="6"/>
                    <a:pt x="63" y="6"/>
                    <a:pt x="63" y="6"/>
                  </a:cubicBezTo>
                  <a:cubicBezTo>
                    <a:pt x="64" y="9"/>
                    <a:pt x="64" y="11"/>
                    <a:pt x="63" y="14"/>
                  </a:cubicBezTo>
                  <a:cubicBezTo>
                    <a:pt x="60" y="15"/>
                    <a:pt x="60" y="15"/>
                    <a:pt x="60" y="15"/>
                  </a:cubicBezTo>
                  <a:cubicBezTo>
                    <a:pt x="64" y="16"/>
                    <a:pt x="64" y="16"/>
                    <a:pt x="64" y="16"/>
                  </a:cubicBezTo>
                  <a:cubicBezTo>
                    <a:pt x="66" y="19"/>
                    <a:pt x="66" y="22"/>
                    <a:pt x="64" y="25"/>
                  </a:cubicBezTo>
                  <a:cubicBezTo>
                    <a:pt x="58" y="29"/>
                    <a:pt x="58" y="29"/>
                    <a:pt x="58" y="29"/>
                  </a:cubicBezTo>
                  <a:cubicBezTo>
                    <a:pt x="72" y="33"/>
                    <a:pt x="72" y="33"/>
                    <a:pt x="72" y="33"/>
                  </a:cubicBezTo>
                  <a:cubicBezTo>
                    <a:pt x="72" y="35"/>
                    <a:pt x="72" y="35"/>
                    <a:pt x="72" y="35"/>
                  </a:cubicBezTo>
                  <a:close/>
                  <a:moveTo>
                    <a:pt x="33" y="50"/>
                  </a:moveTo>
                  <a:cubicBezTo>
                    <a:pt x="33" y="50"/>
                    <a:pt x="33" y="50"/>
                    <a:pt x="33" y="50"/>
                  </a:cubicBezTo>
                  <a:cubicBezTo>
                    <a:pt x="70" y="43"/>
                    <a:pt x="70" y="43"/>
                    <a:pt x="70" y="43"/>
                  </a:cubicBezTo>
                  <a:cubicBezTo>
                    <a:pt x="70" y="42"/>
                    <a:pt x="70" y="42"/>
                    <a:pt x="70" y="42"/>
                  </a:cubicBezTo>
                  <a:cubicBezTo>
                    <a:pt x="33" y="50"/>
                    <a:pt x="33" y="50"/>
                    <a:pt x="33" y="50"/>
                  </a:cubicBezTo>
                  <a:close/>
                  <a:moveTo>
                    <a:pt x="33" y="47"/>
                  </a:moveTo>
                  <a:cubicBezTo>
                    <a:pt x="33" y="48"/>
                    <a:pt x="33" y="48"/>
                    <a:pt x="33" y="48"/>
                  </a:cubicBezTo>
                  <a:cubicBezTo>
                    <a:pt x="70" y="40"/>
                    <a:pt x="70" y="40"/>
                    <a:pt x="70" y="40"/>
                  </a:cubicBezTo>
                  <a:cubicBezTo>
                    <a:pt x="70" y="39"/>
                    <a:pt x="70" y="39"/>
                    <a:pt x="70" y="39"/>
                  </a:cubicBezTo>
                  <a:cubicBezTo>
                    <a:pt x="33" y="47"/>
                    <a:pt x="33" y="47"/>
                    <a:pt x="33" y="47"/>
                  </a:cubicBezTo>
                  <a:close/>
                  <a:moveTo>
                    <a:pt x="32" y="45"/>
                  </a:moveTo>
                  <a:cubicBezTo>
                    <a:pt x="33" y="46"/>
                    <a:pt x="33" y="46"/>
                    <a:pt x="33" y="46"/>
                  </a:cubicBezTo>
                  <a:cubicBezTo>
                    <a:pt x="70" y="38"/>
                    <a:pt x="70" y="38"/>
                    <a:pt x="70" y="38"/>
                  </a:cubicBezTo>
                  <a:cubicBezTo>
                    <a:pt x="70" y="37"/>
                    <a:pt x="70" y="37"/>
                    <a:pt x="70" y="37"/>
                  </a:cubicBezTo>
                  <a:lnTo>
                    <a:pt x="32" y="45"/>
                  </a:lnTo>
                  <a:close/>
                </a:path>
              </a:pathLst>
            </a:custGeom>
            <a:solidFill>
              <a:schemeClr val="bg1"/>
            </a:solidFill>
            <a:ln w="9525">
              <a:noFill/>
            </a:ln>
          </p:spPr>
          <p:txBody>
            <a:bodyPr/>
            <a:p>
              <a:endParaRPr lang="zh-CN" altLang="en-US"/>
            </a:p>
          </p:txBody>
        </p:sp>
      </p:grpSp>
      <p:sp>
        <p:nvSpPr>
          <p:cNvPr id="5155" name="文本框 44"/>
          <p:cNvSpPr txBox="1"/>
          <p:nvPr/>
        </p:nvSpPr>
        <p:spPr>
          <a:xfrm>
            <a:off x="4167188" y="1617663"/>
            <a:ext cx="2970212" cy="829945"/>
          </a:xfrm>
          <a:prstGeom prst="rect">
            <a:avLst/>
          </a:prstGeom>
          <a:noFill/>
          <a:ln w="9525">
            <a:noFill/>
          </a:ln>
        </p:spPr>
        <p:txBody>
          <a:bodyPr anchor="t" anchorCtr="0">
            <a:spAutoFit/>
          </a:bodyPr>
          <a:p>
            <a:r>
              <a:rPr lang="zh-CN" altLang="en-US" sz="2400" b="1" dirty="0">
                <a:solidFill>
                  <a:srgbClr val="1F3A65"/>
                </a:solidFill>
                <a:sym typeface="+mn-ea"/>
              </a:rPr>
              <a:t>利用</a:t>
            </a:r>
            <a:r>
              <a:rPr lang="en-US" altLang="zh-CN" sz="2400" b="1" dirty="0">
                <a:solidFill>
                  <a:srgbClr val="1F3A65"/>
                </a:solidFill>
                <a:sym typeface="+mn-ea"/>
              </a:rPr>
              <a:t>Opencv</a:t>
            </a:r>
            <a:r>
              <a:rPr lang="zh-CN" altLang="en-US" sz="2400" b="1" dirty="0">
                <a:solidFill>
                  <a:srgbClr val="1F3A65"/>
                </a:solidFill>
                <a:sym typeface="+mn-ea"/>
              </a:rPr>
              <a:t>实现实时视频图像处理操作</a:t>
            </a:r>
            <a:endParaRPr lang="zh-CN" altLang="en-US" sz="2400" b="1" dirty="0">
              <a:solidFill>
                <a:srgbClr val="1F3A65"/>
              </a:solidFill>
              <a:latin typeface="微软雅黑" panose="020B0503020204020204" pitchFamily="34" charset="-122"/>
              <a:ea typeface="微软雅黑" panose="020B0503020204020204" pitchFamily="34" charset="-122"/>
            </a:endParaRPr>
          </a:p>
        </p:txBody>
      </p:sp>
      <p:sp>
        <p:nvSpPr>
          <p:cNvPr id="5156" name="文本框 46"/>
          <p:cNvSpPr txBox="1"/>
          <p:nvPr/>
        </p:nvSpPr>
        <p:spPr>
          <a:xfrm>
            <a:off x="4167188" y="2520315"/>
            <a:ext cx="2970212" cy="829945"/>
          </a:xfrm>
          <a:prstGeom prst="rect">
            <a:avLst/>
          </a:prstGeom>
          <a:noFill/>
          <a:ln w="9525">
            <a:noFill/>
          </a:ln>
        </p:spPr>
        <p:txBody>
          <a:bodyPr anchor="t" anchorCtr="0">
            <a:spAutoFit/>
          </a:bodyPr>
          <a:p>
            <a:r>
              <a:rPr lang="zh-CN" altLang="en-US" sz="2400" b="1" dirty="0">
                <a:solidFill>
                  <a:srgbClr val="1F3A65"/>
                </a:solidFill>
                <a:sym typeface="+mn-ea"/>
              </a:rPr>
              <a:t>利用深度学习技术改进后的人脸识别</a:t>
            </a:r>
            <a:endParaRPr lang="zh-CN" altLang="en-US" sz="2400" b="1" dirty="0">
              <a:solidFill>
                <a:srgbClr val="009DD9"/>
              </a:solidFill>
              <a:latin typeface="微软雅黑" panose="020B0503020204020204" pitchFamily="34" charset="-122"/>
              <a:ea typeface="微软雅黑" panose="020B0503020204020204" pitchFamily="34" charset="-122"/>
            </a:endParaRPr>
          </a:p>
        </p:txBody>
      </p:sp>
      <p:grpSp>
        <p:nvGrpSpPr>
          <p:cNvPr id="2" name="组合 6"/>
          <p:cNvGrpSpPr/>
          <p:nvPr/>
        </p:nvGrpSpPr>
        <p:grpSpPr>
          <a:xfrm>
            <a:off x="3529330" y="3468370"/>
            <a:ext cx="620713" cy="539750"/>
            <a:chOff x="3728680" y="2447558"/>
            <a:chExt cx="620874" cy="540000"/>
          </a:xfrm>
        </p:grpSpPr>
        <p:sp>
          <p:nvSpPr>
            <p:cNvPr id="3" name="等腰三角形 2"/>
            <p:cNvSpPr/>
            <p:nvPr/>
          </p:nvSpPr>
          <p:spPr>
            <a:xfrm rot="5400000">
              <a:off x="3964441" y="2538916"/>
              <a:ext cx="412941" cy="357281"/>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椭圆 3"/>
            <p:cNvSpPr>
              <a:spLocks noChangeAspect="1"/>
            </p:cNvSpPr>
            <p:nvPr/>
          </p:nvSpPr>
          <p:spPr>
            <a:xfrm rot="10800000">
              <a:off x="3728680" y="2447558"/>
              <a:ext cx="539890" cy="540000"/>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8D35E"/>
                </a:solidFill>
                <a:effectLst/>
                <a:uLnTx/>
                <a:uFillTx/>
                <a:latin typeface="+mn-lt"/>
                <a:ea typeface="+mn-ea"/>
                <a:cs typeface="+mn-cs"/>
              </a:endParaRPr>
            </a:p>
          </p:txBody>
        </p:sp>
        <p:sp>
          <p:nvSpPr>
            <p:cNvPr id="5" name="Freeform 479"/>
            <p:cNvSpPr>
              <a:spLocks noChangeAspect="1" noEditPoints="1"/>
            </p:cNvSpPr>
            <p:nvPr/>
          </p:nvSpPr>
          <p:spPr>
            <a:xfrm>
              <a:off x="3849176" y="2598324"/>
              <a:ext cx="306000" cy="238469"/>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2" h="56">
                  <a:moveTo>
                    <a:pt x="72" y="35"/>
                  </a:moveTo>
                  <a:cubicBezTo>
                    <a:pt x="31" y="43"/>
                    <a:pt x="31" y="43"/>
                    <a:pt x="31" y="43"/>
                  </a:cubicBezTo>
                  <a:cubicBezTo>
                    <a:pt x="30" y="47"/>
                    <a:pt x="30" y="50"/>
                    <a:pt x="31" y="53"/>
                  </a:cubicBezTo>
                  <a:cubicBezTo>
                    <a:pt x="71" y="44"/>
                    <a:pt x="71" y="44"/>
                    <a:pt x="71" y="44"/>
                  </a:cubicBezTo>
                  <a:cubicBezTo>
                    <a:pt x="72" y="47"/>
                    <a:pt x="72" y="47"/>
                    <a:pt x="72" y="47"/>
                  </a:cubicBezTo>
                  <a:cubicBezTo>
                    <a:pt x="30" y="56"/>
                    <a:pt x="30" y="56"/>
                    <a:pt x="30" y="56"/>
                  </a:cubicBezTo>
                  <a:cubicBezTo>
                    <a:pt x="29" y="56"/>
                    <a:pt x="29" y="56"/>
                    <a:pt x="29" y="56"/>
                  </a:cubicBezTo>
                  <a:cubicBezTo>
                    <a:pt x="2" y="39"/>
                    <a:pt x="2" y="39"/>
                    <a:pt x="2" y="39"/>
                  </a:cubicBezTo>
                  <a:cubicBezTo>
                    <a:pt x="1" y="36"/>
                    <a:pt x="0" y="32"/>
                    <a:pt x="2" y="29"/>
                  </a:cubicBezTo>
                  <a:cubicBezTo>
                    <a:pt x="5" y="28"/>
                    <a:pt x="5" y="28"/>
                    <a:pt x="5" y="28"/>
                  </a:cubicBezTo>
                  <a:cubicBezTo>
                    <a:pt x="5" y="29"/>
                    <a:pt x="5" y="29"/>
                    <a:pt x="5" y="29"/>
                  </a:cubicBezTo>
                  <a:cubicBezTo>
                    <a:pt x="40" y="37"/>
                    <a:pt x="40" y="37"/>
                    <a:pt x="40" y="37"/>
                  </a:cubicBezTo>
                  <a:cubicBezTo>
                    <a:pt x="40" y="36"/>
                    <a:pt x="40" y="34"/>
                    <a:pt x="40" y="33"/>
                  </a:cubicBezTo>
                  <a:cubicBezTo>
                    <a:pt x="40" y="32"/>
                    <a:pt x="40" y="30"/>
                    <a:pt x="40" y="29"/>
                  </a:cubicBezTo>
                  <a:cubicBezTo>
                    <a:pt x="5" y="22"/>
                    <a:pt x="5" y="22"/>
                    <a:pt x="5" y="22"/>
                  </a:cubicBezTo>
                  <a:cubicBezTo>
                    <a:pt x="5" y="19"/>
                    <a:pt x="5" y="19"/>
                    <a:pt x="5" y="19"/>
                  </a:cubicBezTo>
                  <a:cubicBezTo>
                    <a:pt x="5" y="19"/>
                    <a:pt x="5" y="19"/>
                    <a:pt x="5" y="19"/>
                  </a:cubicBezTo>
                  <a:cubicBezTo>
                    <a:pt x="5" y="19"/>
                    <a:pt x="5" y="19"/>
                    <a:pt x="5" y="19"/>
                  </a:cubicBezTo>
                  <a:cubicBezTo>
                    <a:pt x="5" y="19"/>
                    <a:pt x="5" y="19"/>
                    <a:pt x="5" y="19"/>
                  </a:cubicBezTo>
                  <a:cubicBezTo>
                    <a:pt x="7" y="18"/>
                    <a:pt x="7" y="18"/>
                    <a:pt x="7" y="18"/>
                  </a:cubicBezTo>
                  <a:cubicBezTo>
                    <a:pt x="7" y="16"/>
                    <a:pt x="7" y="16"/>
                    <a:pt x="7" y="16"/>
                  </a:cubicBezTo>
                  <a:cubicBezTo>
                    <a:pt x="40" y="24"/>
                    <a:pt x="40" y="24"/>
                    <a:pt x="40" y="24"/>
                  </a:cubicBezTo>
                  <a:cubicBezTo>
                    <a:pt x="40" y="23"/>
                    <a:pt x="40" y="22"/>
                    <a:pt x="40" y="21"/>
                  </a:cubicBezTo>
                  <a:cubicBezTo>
                    <a:pt x="40" y="19"/>
                    <a:pt x="40" y="18"/>
                    <a:pt x="40" y="17"/>
                  </a:cubicBezTo>
                  <a:cubicBezTo>
                    <a:pt x="7" y="9"/>
                    <a:pt x="7" y="9"/>
                    <a:pt x="7" y="9"/>
                  </a:cubicBezTo>
                  <a:cubicBezTo>
                    <a:pt x="7" y="6"/>
                    <a:pt x="7" y="6"/>
                    <a:pt x="7" y="6"/>
                  </a:cubicBezTo>
                  <a:cubicBezTo>
                    <a:pt x="33" y="0"/>
                    <a:pt x="33" y="0"/>
                    <a:pt x="33" y="0"/>
                  </a:cubicBezTo>
                  <a:cubicBezTo>
                    <a:pt x="63" y="6"/>
                    <a:pt x="63" y="6"/>
                    <a:pt x="63" y="6"/>
                  </a:cubicBezTo>
                  <a:cubicBezTo>
                    <a:pt x="64" y="9"/>
                    <a:pt x="64" y="11"/>
                    <a:pt x="63" y="14"/>
                  </a:cubicBezTo>
                  <a:cubicBezTo>
                    <a:pt x="60" y="15"/>
                    <a:pt x="60" y="15"/>
                    <a:pt x="60" y="15"/>
                  </a:cubicBezTo>
                  <a:cubicBezTo>
                    <a:pt x="64" y="16"/>
                    <a:pt x="64" y="16"/>
                    <a:pt x="64" y="16"/>
                  </a:cubicBezTo>
                  <a:cubicBezTo>
                    <a:pt x="66" y="19"/>
                    <a:pt x="66" y="22"/>
                    <a:pt x="64" y="25"/>
                  </a:cubicBezTo>
                  <a:cubicBezTo>
                    <a:pt x="58" y="29"/>
                    <a:pt x="58" y="29"/>
                    <a:pt x="58" y="29"/>
                  </a:cubicBezTo>
                  <a:cubicBezTo>
                    <a:pt x="72" y="33"/>
                    <a:pt x="72" y="33"/>
                    <a:pt x="72" y="33"/>
                  </a:cubicBezTo>
                  <a:cubicBezTo>
                    <a:pt x="72" y="35"/>
                    <a:pt x="72" y="35"/>
                    <a:pt x="72" y="35"/>
                  </a:cubicBezTo>
                  <a:close/>
                  <a:moveTo>
                    <a:pt x="33" y="50"/>
                  </a:moveTo>
                  <a:cubicBezTo>
                    <a:pt x="33" y="50"/>
                    <a:pt x="33" y="50"/>
                    <a:pt x="33" y="50"/>
                  </a:cubicBezTo>
                  <a:cubicBezTo>
                    <a:pt x="70" y="43"/>
                    <a:pt x="70" y="43"/>
                    <a:pt x="70" y="43"/>
                  </a:cubicBezTo>
                  <a:cubicBezTo>
                    <a:pt x="70" y="42"/>
                    <a:pt x="70" y="42"/>
                    <a:pt x="70" y="42"/>
                  </a:cubicBezTo>
                  <a:cubicBezTo>
                    <a:pt x="33" y="50"/>
                    <a:pt x="33" y="50"/>
                    <a:pt x="33" y="50"/>
                  </a:cubicBezTo>
                  <a:close/>
                  <a:moveTo>
                    <a:pt x="33" y="47"/>
                  </a:moveTo>
                  <a:cubicBezTo>
                    <a:pt x="33" y="48"/>
                    <a:pt x="33" y="48"/>
                    <a:pt x="33" y="48"/>
                  </a:cubicBezTo>
                  <a:cubicBezTo>
                    <a:pt x="70" y="40"/>
                    <a:pt x="70" y="40"/>
                    <a:pt x="70" y="40"/>
                  </a:cubicBezTo>
                  <a:cubicBezTo>
                    <a:pt x="70" y="39"/>
                    <a:pt x="70" y="39"/>
                    <a:pt x="70" y="39"/>
                  </a:cubicBezTo>
                  <a:cubicBezTo>
                    <a:pt x="33" y="47"/>
                    <a:pt x="33" y="47"/>
                    <a:pt x="33" y="47"/>
                  </a:cubicBezTo>
                  <a:close/>
                  <a:moveTo>
                    <a:pt x="32" y="45"/>
                  </a:moveTo>
                  <a:cubicBezTo>
                    <a:pt x="33" y="46"/>
                    <a:pt x="33" y="46"/>
                    <a:pt x="33" y="46"/>
                  </a:cubicBezTo>
                  <a:cubicBezTo>
                    <a:pt x="70" y="38"/>
                    <a:pt x="70" y="38"/>
                    <a:pt x="70" y="38"/>
                  </a:cubicBezTo>
                  <a:cubicBezTo>
                    <a:pt x="70" y="37"/>
                    <a:pt x="70" y="37"/>
                    <a:pt x="70" y="37"/>
                  </a:cubicBezTo>
                  <a:lnTo>
                    <a:pt x="32" y="45"/>
                  </a:lnTo>
                  <a:close/>
                </a:path>
              </a:pathLst>
            </a:custGeom>
            <a:solidFill>
              <a:schemeClr val="bg1"/>
            </a:solidFill>
            <a:ln w="9525">
              <a:noFill/>
            </a:ln>
          </p:spPr>
          <p:txBody>
            <a:bodyPr/>
            <a:p>
              <a:endParaRPr lang="zh-CN" altLang="en-US"/>
            </a:p>
          </p:txBody>
        </p:sp>
      </p:grpSp>
      <p:sp>
        <p:nvSpPr>
          <p:cNvPr id="7" name="文本框 46"/>
          <p:cNvSpPr txBox="1"/>
          <p:nvPr/>
        </p:nvSpPr>
        <p:spPr>
          <a:xfrm>
            <a:off x="4167188" y="3677920"/>
            <a:ext cx="2970212" cy="460375"/>
          </a:xfrm>
          <a:prstGeom prst="rect">
            <a:avLst/>
          </a:prstGeom>
          <a:noFill/>
          <a:ln w="9525">
            <a:noFill/>
          </a:ln>
        </p:spPr>
        <p:txBody>
          <a:bodyPr anchor="t" anchorCtr="0">
            <a:spAutoFit/>
          </a:bodyPr>
          <a:p>
            <a:r>
              <a:rPr lang="zh-CN" altLang="en-US" sz="2400" b="1" dirty="0">
                <a:solidFill>
                  <a:srgbClr val="009DD9"/>
                </a:solidFill>
                <a:latin typeface="微软雅黑" panose="020B0503020204020204" pitchFamily="34" charset="-122"/>
                <a:ea typeface="微软雅黑" panose="020B0503020204020204" pitchFamily="34" charset="-122"/>
              </a:rPr>
              <a:t>后续</a:t>
            </a:r>
            <a:r>
              <a:rPr lang="en-US" altLang="zh-CN" sz="2400" b="1" dirty="0">
                <a:solidFill>
                  <a:srgbClr val="009DD9"/>
                </a:solidFill>
                <a:latin typeface="微软雅黑" panose="020B0503020204020204" pitchFamily="34" charset="-122"/>
                <a:ea typeface="微软雅黑" panose="020B0503020204020204" pitchFamily="34" charset="-122"/>
              </a:rPr>
              <a:t>+</a:t>
            </a:r>
            <a:r>
              <a:rPr lang="zh-CN" altLang="en-US" sz="2400" b="1" dirty="0">
                <a:solidFill>
                  <a:srgbClr val="009DD9"/>
                </a:solidFill>
                <a:latin typeface="微软雅黑" panose="020B0503020204020204" pitchFamily="34" charset="-122"/>
                <a:ea typeface="微软雅黑" panose="020B0503020204020204" pitchFamily="34" charset="-122"/>
              </a:rPr>
              <a:t>总结</a:t>
            </a:r>
            <a:endParaRPr lang="zh-CN" altLang="en-US" sz="2400" b="1" dirty="0">
              <a:solidFill>
                <a:srgbClr val="009DD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矩形 16"/>
          <p:cNvSpPr/>
          <p:nvPr/>
        </p:nvSpPr>
        <p:spPr>
          <a:xfrm>
            <a:off x="0" y="1"/>
            <a:ext cx="4203699" cy="6858000"/>
          </a:xfrm>
          <a:prstGeom prst="rect">
            <a:avLst/>
          </a:prstGeom>
          <a:blipFill dpi="0" rotWithShape="1">
            <a:blip r:embed="rId1" cstate="print"/>
            <a:srcRect/>
            <a:tile tx="-25400" ty="-508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a:off x="1314450" y="2735263"/>
            <a:ext cx="1574800" cy="1574800"/>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800" b="1" i="0" u="none" strike="noStrike" kern="1200" cap="none" spc="0" normalizeH="0" baseline="0" noProof="0" dirty="0">
                <a:ln>
                  <a:noFill/>
                </a:ln>
                <a:solidFill>
                  <a:schemeClr val="lt1"/>
                </a:solidFill>
                <a:effectLst/>
                <a:uLnTx/>
                <a:uFillTx/>
                <a:latin typeface="+mn-lt"/>
                <a:ea typeface="+mn-ea"/>
                <a:cs typeface="+mn-cs"/>
              </a:rPr>
              <a:t>1</a:t>
            </a:r>
            <a:endParaRPr kumimoji="0" lang="zh-CN" altLang="en-US" sz="8800" b="1" i="0" u="none" strike="noStrike" kern="1200" cap="none" spc="0" normalizeH="0" baseline="0" noProof="0" dirty="0">
              <a:ln>
                <a:noFill/>
              </a:ln>
              <a:solidFill>
                <a:schemeClr val="lt1"/>
              </a:solidFill>
              <a:effectLst/>
              <a:uLnTx/>
              <a:uFillTx/>
              <a:latin typeface="+mn-lt"/>
              <a:ea typeface="+mn-ea"/>
              <a:cs typeface="+mn-cs"/>
            </a:endParaRPr>
          </a:p>
        </p:txBody>
      </p:sp>
      <p:grpSp>
        <p:nvGrpSpPr>
          <p:cNvPr id="2" name="组合 23"/>
          <p:cNvGrpSpPr>
            <a:grpSpLocks noChangeAspect="1"/>
          </p:cNvGrpSpPr>
          <p:nvPr/>
        </p:nvGrpSpPr>
        <p:grpSpPr>
          <a:xfrm>
            <a:off x="3784600" y="3068638"/>
            <a:ext cx="720725" cy="720725"/>
            <a:chOff x="3869650" y="3418369"/>
            <a:chExt cx="540000" cy="540000"/>
          </a:xfrm>
        </p:grpSpPr>
        <p:sp>
          <p:nvSpPr>
            <p:cNvPr id="21" name="椭圆 20"/>
            <p:cNvSpPr>
              <a:spLocks noChangeAspect="1"/>
            </p:cNvSpPr>
            <p:nvPr/>
          </p:nvSpPr>
          <p:spPr>
            <a:xfrm>
              <a:off x="3869650" y="3418369"/>
              <a:ext cx="540000" cy="540000"/>
            </a:xfrm>
            <a:prstGeom prst="ellipse">
              <a:avLst/>
            </a:prstGeom>
            <a:solidFill>
              <a:srgbClr val="1F3A6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0CF9B"/>
                </a:solidFill>
                <a:effectLst/>
                <a:uLnTx/>
                <a:uFillTx/>
                <a:latin typeface="+mn-lt"/>
                <a:ea typeface="+mn-ea"/>
                <a:cs typeface="+mn-cs"/>
              </a:endParaRPr>
            </a:p>
          </p:txBody>
        </p:sp>
        <p:sp>
          <p:nvSpPr>
            <p:cNvPr id="6149" name="Freeform 15"/>
            <p:cNvSpPr>
              <a:spLocks noChangeAspect="1" noEditPoints="1"/>
            </p:cNvSpPr>
            <p:nvPr/>
          </p:nvSpPr>
          <p:spPr>
            <a:xfrm>
              <a:off x="3991529" y="3544369"/>
              <a:ext cx="291200" cy="288000"/>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chemeClr val="bg1"/>
            </a:solidFill>
            <a:ln w="9525">
              <a:noFill/>
            </a:ln>
          </p:spPr>
          <p:txBody>
            <a:bodyPr/>
            <a:p>
              <a:endParaRPr lang="zh-CN" altLang="en-US"/>
            </a:p>
          </p:txBody>
        </p:sp>
      </p:grpSp>
      <p:sp>
        <p:nvSpPr>
          <p:cNvPr id="23" name="文本框 22"/>
          <p:cNvSpPr txBox="1"/>
          <p:nvPr/>
        </p:nvSpPr>
        <p:spPr>
          <a:xfrm>
            <a:off x="4575175" y="3074988"/>
            <a:ext cx="4373563" cy="1938337"/>
          </a:xfrm>
          <a:prstGeom prst="rect">
            <a:avLst/>
          </a:prstGeom>
          <a:noFill/>
          <a:ln w="9525">
            <a:noFill/>
          </a:ln>
        </p:spPr>
        <p:txBody>
          <a:bodyPr anchor="t" anchorCtr="0">
            <a:spAutoFit/>
          </a:bodyPr>
          <a:p>
            <a:r>
              <a:rPr lang="zh-CN" altLang="en-US" sz="4000" b="1" dirty="0">
                <a:solidFill>
                  <a:srgbClr val="1F3A65"/>
                </a:solidFill>
                <a:latin typeface="微软雅黑" panose="020B0503020204020204" pitchFamily="34" charset="-122"/>
                <a:ea typeface="微软雅黑" panose="020B0503020204020204" pitchFamily="34" charset="-122"/>
              </a:rPr>
              <a:t>利用</a:t>
            </a:r>
            <a:r>
              <a:rPr lang="en-US" altLang="zh-CN" sz="4000" b="1" dirty="0">
                <a:solidFill>
                  <a:srgbClr val="1F3A65"/>
                </a:solidFill>
                <a:latin typeface="微软雅黑" panose="020B0503020204020204" pitchFamily="34" charset="-122"/>
                <a:ea typeface="微软雅黑" panose="020B0503020204020204" pitchFamily="34" charset="-122"/>
              </a:rPr>
              <a:t>Opencv</a:t>
            </a:r>
            <a:r>
              <a:rPr lang="zh-CN" altLang="en-US" sz="4000" b="1" dirty="0">
                <a:solidFill>
                  <a:srgbClr val="1F3A65"/>
                </a:solidFill>
                <a:latin typeface="微软雅黑" panose="020B0503020204020204" pitchFamily="34" charset="-122"/>
                <a:ea typeface="微软雅黑" panose="020B0503020204020204" pitchFamily="34" charset="-122"/>
              </a:rPr>
              <a:t>实现实时视频图像处理操作</a:t>
            </a:r>
            <a:endParaRPr lang="zh-CN" altLang="en-US" sz="4000" b="1" dirty="0">
              <a:solidFill>
                <a:srgbClr val="1F3A65"/>
              </a:solidFill>
              <a:latin typeface="微软雅黑" panose="020B0503020204020204" pitchFamily="34" charset="-122"/>
              <a:ea typeface="微软雅黑" panose="020B0503020204020204" pitchFamily="34" charset="-122"/>
            </a:endParaRPr>
          </a:p>
        </p:txBody>
      </p:sp>
      <p:pic>
        <p:nvPicPr>
          <p:cNvPr id="6151" name="图片 2"/>
          <p:cNvPicPr>
            <a:picLocks noChangeAspect="1"/>
          </p:cNvPicPr>
          <p:nvPr/>
        </p:nvPicPr>
        <p:blipFill>
          <a:blip r:embed="rId2"/>
          <a:stretch>
            <a:fillRect/>
          </a:stretch>
        </p:blipFill>
        <p:spPr>
          <a:xfrm>
            <a:off x="835025" y="1308100"/>
            <a:ext cx="2762250" cy="695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50" fill="hold"/>
                                        <p:tgtEl>
                                          <p:spTgt spid="18"/>
                                        </p:tgtEl>
                                        <p:attrNameLst>
                                          <p:attrName>ppt_w</p:attrName>
                                        </p:attrNameLst>
                                      </p:cBhvr>
                                      <p:tavLst>
                                        <p:tav tm="0">
                                          <p:val>
                                            <p:fltVal val="0.000000"/>
                                          </p:val>
                                        </p:tav>
                                        <p:tav tm="100000">
                                          <p:val>
                                            <p:strVal val="#ppt_w"/>
                                          </p:val>
                                        </p:tav>
                                      </p:tavLst>
                                    </p:anim>
                                    <p:anim calcmode="lin" valueType="num">
                                      <p:cBhvr>
                                        <p:cTn id="8" dur="250" fill="hold"/>
                                        <p:tgtEl>
                                          <p:spTgt spid="18"/>
                                        </p:tgtEl>
                                        <p:attrNameLst>
                                          <p:attrName>ppt_h</p:attrName>
                                        </p:attrNameLst>
                                      </p:cBhvr>
                                      <p:tavLst>
                                        <p:tav tm="0">
                                          <p:val>
                                            <p:fltVal val="0.000000"/>
                                          </p:val>
                                        </p:tav>
                                        <p:tav tm="100000">
                                          <p:val>
                                            <p:strVal val="#ppt_h"/>
                                          </p:val>
                                        </p:tav>
                                      </p:tavLst>
                                    </p:anim>
                                    <p:animEffect transition="in" filter="fade">
                                      <p:cBhvr>
                                        <p:cTn id="9" dur="250"/>
                                        <p:tgtEl>
                                          <p:spTgt spid="18"/>
                                        </p:tgtEl>
                                      </p:cBhvr>
                                    </p:animEffect>
                                  </p:childTnLst>
                                </p:cTn>
                              </p:par>
                              <p:par>
                                <p:cTn id="10" presetID="6" presetClass="emph" presetSubtype="0" autoRev="1" fill="hold" grpId="1" nodeType="withEffect">
                                  <p:stCondLst>
                                    <p:cond delay="240"/>
                                  </p:stCondLst>
                                  <p:childTnLst>
                                    <p:animScale>
                                      <p:cBhvr>
                                        <p:cTn id="11" dur="150" fill="hold"/>
                                        <p:tgtEl>
                                          <p:spTgt spid="18"/>
                                        </p:tgtEl>
                                      </p:cBhvr>
                                      <p:by x="110000" y="110000"/>
                                    </p:animScale>
                                  </p:childTnLst>
                                </p:cTn>
                              </p:par>
                              <p:par>
                                <p:cTn id="12" presetID="53" presetClass="entr" presetSubtype="16" fill="hold" nodeType="withEffect">
                                  <p:stCondLst>
                                    <p:cond delay="540"/>
                                  </p:stCondLst>
                                  <p:childTnLst>
                                    <p:set>
                                      <p:cBhvr>
                                        <p:cTn id="13" dur="1" fill="hold">
                                          <p:stCondLst>
                                            <p:cond delay="0"/>
                                          </p:stCondLst>
                                        </p:cTn>
                                        <p:tgtEl>
                                          <p:spTgt spid="2"/>
                                        </p:tgtEl>
                                        <p:attrNameLst>
                                          <p:attrName>style.visibility</p:attrName>
                                        </p:attrNameLst>
                                      </p:cBhvr>
                                      <p:to>
                                        <p:strVal val="visible"/>
                                      </p:to>
                                    </p:set>
                                    <p:anim calcmode="lin" valueType="num">
                                      <p:cBhvr>
                                        <p:cTn id="14" dur="250" fill="hold"/>
                                        <p:tgtEl>
                                          <p:spTgt spid="2"/>
                                        </p:tgtEl>
                                        <p:attrNameLst>
                                          <p:attrName>ppt_w</p:attrName>
                                        </p:attrNameLst>
                                      </p:cBhvr>
                                      <p:tavLst>
                                        <p:tav tm="0">
                                          <p:val>
                                            <p:fltVal val="0.000000"/>
                                          </p:val>
                                        </p:tav>
                                        <p:tav tm="100000">
                                          <p:val>
                                            <p:strVal val="#ppt_w"/>
                                          </p:val>
                                        </p:tav>
                                      </p:tavLst>
                                    </p:anim>
                                    <p:anim calcmode="lin" valueType="num">
                                      <p:cBhvr>
                                        <p:cTn id="15" dur="250" fill="hold"/>
                                        <p:tgtEl>
                                          <p:spTgt spid="2"/>
                                        </p:tgtEl>
                                        <p:attrNameLst>
                                          <p:attrName>ppt_h</p:attrName>
                                        </p:attrNameLst>
                                      </p:cBhvr>
                                      <p:tavLst>
                                        <p:tav tm="0">
                                          <p:val>
                                            <p:fltVal val="0.000000"/>
                                          </p:val>
                                        </p:tav>
                                        <p:tav tm="100000">
                                          <p:val>
                                            <p:strVal val="#ppt_h"/>
                                          </p:val>
                                        </p:tav>
                                      </p:tavLst>
                                    </p:anim>
                                    <p:animEffect transition="in" filter="fade">
                                      <p:cBhvr>
                                        <p:cTn id="16" dur="250"/>
                                        <p:tgtEl>
                                          <p:spTgt spid="2"/>
                                        </p:tgtEl>
                                      </p:cBhvr>
                                    </p:animEffect>
                                  </p:childTnLst>
                                </p:cTn>
                              </p:par>
                              <p:par>
                                <p:cTn id="17" presetID="6" presetClass="emph" presetSubtype="0" autoRev="1" fill="hold" nodeType="withEffect">
                                  <p:stCondLst>
                                    <p:cond delay="780"/>
                                  </p:stCondLst>
                                  <p:childTnLst>
                                    <p:animScale>
                                      <p:cBhvr>
                                        <p:cTn id="18" dur="150" fill="hold"/>
                                        <p:tgtEl>
                                          <p:spTgt spid="2"/>
                                        </p:tgtEl>
                                      </p:cBhvr>
                                      <p:by x="120000" y="120000"/>
                                    </p:animScale>
                                  </p:childTnLst>
                                </p:cTn>
                              </p:par>
                              <p:par>
                                <p:cTn id="19" presetID="2" presetClass="entr" presetSubtype="2" fill="hold" grpId="0" nodeType="withEffect">
                                  <p:stCondLst>
                                    <p:cond delay="50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1+#ppt_w/2"/>
                                          </p:val>
                                        </p:tav>
                                        <p:tav tm="100000">
                                          <p:val>
                                            <p:strVal val="#ppt_x"/>
                                          </p:val>
                                        </p:tav>
                                      </p:tavLst>
                                    </p:anim>
                                    <p:anim calcmode="lin" valueType="num">
                                      <p:cBhvr additive="base">
                                        <p:cTn id="2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8" name="直接连接符 27"/>
          <p:cNvCxnSpPr/>
          <p:nvPr/>
        </p:nvCxnSpPr>
        <p:spPr>
          <a:xfrm>
            <a:off x="415925" y="2889250"/>
            <a:ext cx="8262938" cy="0"/>
          </a:xfrm>
          <a:prstGeom prst="line">
            <a:avLst/>
          </a:prstGeom>
          <a:ln>
            <a:solidFill>
              <a:schemeClr val="bg2">
                <a:lumMod val="75000"/>
              </a:schemeClr>
            </a:solidFill>
            <a:prstDash val="sysDot"/>
            <a:headEnd type="diamond"/>
            <a:tailEnd type="diamond"/>
          </a:ln>
        </p:spPr>
        <p:style>
          <a:lnRef idx="1">
            <a:schemeClr val="accent1"/>
          </a:lnRef>
          <a:fillRef idx="0">
            <a:schemeClr val="accent1"/>
          </a:fillRef>
          <a:effectRef idx="0">
            <a:schemeClr val="accent1"/>
          </a:effectRef>
          <a:fontRef idx="minor">
            <a:schemeClr val="tx1"/>
          </a:fontRef>
        </p:style>
      </p:cxnSp>
      <p:sp>
        <p:nvSpPr>
          <p:cNvPr id="22" name="椭圆 21"/>
          <p:cNvSpPr>
            <a:spLocks noChangeAspect="1"/>
          </p:cNvSpPr>
          <p:nvPr/>
        </p:nvSpPr>
        <p:spPr>
          <a:xfrm>
            <a:off x="3402013" y="1709738"/>
            <a:ext cx="2339975" cy="2339975"/>
          </a:xfrm>
          <a:prstGeom prst="ellipse">
            <a:avLst/>
          </a:prstGeom>
          <a:blipFill dpi="0" rotWithShape="1">
            <a:blip r:embed="rId1"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椭圆 22"/>
          <p:cNvSpPr>
            <a:spLocks noChangeAspect="1"/>
          </p:cNvSpPr>
          <p:nvPr/>
        </p:nvSpPr>
        <p:spPr>
          <a:xfrm>
            <a:off x="993775" y="1979613"/>
            <a:ext cx="1800225" cy="1800225"/>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椭圆 23"/>
          <p:cNvSpPr>
            <a:spLocks noChangeAspect="1"/>
          </p:cNvSpPr>
          <p:nvPr/>
        </p:nvSpPr>
        <p:spPr>
          <a:xfrm>
            <a:off x="6350000" y="1979613"/>
            <a:ext cx="1800225" cy="1800225"/>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35" name="直接连接符 34"/>
          <p:cNvCxnSpPr/>
          <p:nvPr/>
        </p:nvCxnSpPr>
        <p:spPr>
          <a:xfrm>
            <a:off x="3600450" y="2879725"/>
            <a:ext cx="1893888"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543675" y="2889250"/>
            <a:ext cx="1412875"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1192213" y="2889250"/>
            <a:ext cx="1412875" cy="0"/>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组合 44"/>
          <p:cNvGrpSpPr/>
          <p:nvPr/>
        </p:nvGrpSpPr>
        <p:grpSpPr>
          <a:xfrm>
            <a:off x="4192326" y="1998128"/>
            <a:ext cx="751628" cy="774799"/>
            <a:chOff x="8235951" y="6351588"/>
            <a:chExt cx="360363" cy="371475"/>
          </a:xfrm>
          <a:solidFill>
            <a:schemeClr val="bg1"/>
          </a:solidFill>
        </p:grpSpPr>
        <p:sp>
          <p:nvSpPr>
            <p:cNvPr id="46" name="Freeform 338"/>
            <p:cNvSpPr>
              <a:spLocks noEditPoints="1"/>
            </p:cNvSpPr>
            <p:nvPr/>
          </p:nvSpPr>
          <p:spPr bwMode="auto">
            <a:xfrm>
              <a:off x="8350251" y="6351588"/>
              <a:ext cx="134938" cy="371475"/>
            </a:xfrm>
            <a:custGeom>
              <a:avLst/>
              <a:gdLst>
                <a:gd name="T0" fmla="*/ 23 w 47"/>
                <a:gd name="T1" fmla="*/ 0 h 130"/>
                <a:gd name="T2" fmla="*/ 0 w 47"/>
                <a:gd name="T3" fmla="*/ 65 h 130"/>
                <a:gd name="T4" fmla="*/ 23 w 47"/>
                <a:gd name="T5" fmla="*/ 130 h 130"/>
                <a:gd name="T6" fmla="*/ 47 w 47"/>
                <a:gd name="T7" fmla="*/ 65 h 130"/>
                <a:gd name="T8" fmla="*/ 23 w 47"/>
                <a:gd name="T9" fmla="*/ 0 h 130"/>
                <a:gd name="T10" fmla="*/ 23 w 47"/>
                <a:gd name="T11" fmla="*/ 124 h 130"/>
                <a:gd name="T12" fmla="*/ 5 w 47"/>
                <a:gd name="T13" fmla="*/ 65 h 130"/>
                <a:gd name="T14" fmla="*/ 23 w 47"/>
                <a:gd name="T15" fmla="*/ 6 h 130"/>
                <a:gd name="T16" fmla="*/ 42 w 47"/>
                <a:gd name="T17" fmla="*/ 65 h 130"/>
                <a:gd name="T18" fmla="*/ 23 w 47"/>
                <a:gd name="T19" fmla="*/ 124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30">
                  <a:moveTo>
                    <a:pt x="23" y="0"/>
                  </a:moveTo>
                  <a:cubicBezTo>
                    <a:pt x="10" y="0"/>
                    <a:pt x="0" y="29"/>
                    <a:pt x="0" y="65"/>
                  </a:cubicBezTo>
                  <a:cubicBezTo>
                    <a:pt x="0" y="101"/>
                    <a:pt x="10" y="130"/>
                    <a:pt x="23" y="130"/>
                  </a:cubicBezTo>
                  <a:cubicBezTo>
                    <a:pt x="36" y="130"/>
                    <a:pt x="47" y="101"/>
                    <a:pt x="47" y="65"/>
                  </a:cubicBezTo>
                  <a:cubicBezTo>
                    <a:pt x="47" y="29"/>
                    <a:pt x="36" y="0"/>
                    <a:pt x="23" y="0"/>
                  </a:cubicBezTo>
                  <a:close/>
                  <a:moveTo>
                    <a:pt x="23" y="124"/>
                  </a:moveTo>
                  <a:cubicBezTo>
                    <a:pt x="14" y="124"/>
                    <a:pt x="5" y="99"/>
                    <a:pt x="5" y="65"/>
                  </a:cubicBezTo>
                  <a:cubicBezTo>
                    <a:pt x="5" y="31"/>
                    <a:pt x="14" y="6"/>
                    <a:pt x="23" y="6"/>
                  </a:cubicBezTo>
                  <a:cubicBezTo>
                    <a:pt x="32" y="6"/>
                    <a:pt x="42" y="31"/>
                    <a:pt x="42" y="65"/>
                  </a:cubicBezTo>
                  <a:cubicBezTo>
                    <a:pt x="42" y="99"/>
                    <a:pt x="32" y="124"/>
                    <a:pt x="23" y="124"/>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7" name="Freeform 339"/>
            <p:cNvSpPr>
              <a:spLocks noEditPoints="1"/>
            </p:cNvSpPr>
            <p:nvPr/>
          </p:nvSpPr>
          <p:spPr bwMode="auto">
            <a:xfrm>
              <a:off x="8235951" y="6411913"/>
              <a:ext cx="360363" cy="252413"/>
            </a:xfrm>
            <a:custGeom>
              <a:avLst/>
              <a:gdLst>
                <a:gd name="T0" fmla="*/ 7 w 126"/>
                <a:gd name="T1" fmla="*/ 11 h 88"/>
                <a:gd name="T2" fmla="*/ 51 w 126"/>
                <a:gd name="T3" fmla="*/ 65 h 88"/>
                <a:gd name="T4" fmla="*/ 120 w 126"/>
                <a:gd name="T5" fmla="*/ 77 h 88"/>
                <a:gd name="T6" fmla="*/ 75 w 126"/>
                <a:gd name="T7" fmla="*/ 24 h 88"/>
                <a:gd name="T8" fmla="*/ 7 w 126"/>
                <a:gd name="T9" fmla="*/ 11 h 88"/>
                <a:gd name="T10" fmla="*/ 114 w 126"/>
                <a:gd name="T11" fmla="*/ 73 h 88"/>
                <a:gd name="T12" fmla="*/ 54 w 126"/>
                <a:gd name="T13" fmla="*/ 60 h 88"/>
                <a:gd name="T14" fmla="*/ 12 w 126"/>
                <a:gd name="T15" fmla="*/ 15 h 88"/>
                <a:gd name="T16" fmla="*/ 73 w 126"/>
                <a:gd name="T17" fmla="*/ 28 h 88"/>
                <a:gd name="T18" fmla="*/ 114 w 126"/>
                <a:gd name="T19"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88">
                  <a:moveTo>
                    <a:pt x="7" y="11"/>
                  </a:moveTo>
                  <a:cubicBezTo>
                    <a:pt x="0" y="23"/>
                    <a:pt x="20" y="46"/>
                    <a:pt x="51" y="65"/>
                  </a:cubicBezTo>
                  <a:cubicBezTo>
                    <a:pt x="83" y="83"/>
                    <a:pt x="113" y="88"/>
                    <a:pt x="120" y="77"/>
                  </a:cubicBezTo>
                  <a:cubicBezTo>
                    <a:pt x="126" y="65"/>
                    <a:pt x="106" y="42"/>
                    <a:pt x="75" y="24"/>
                  </a:cubicBezTo>
                  <a:cubicBezTo>
                    <a:pt x="44" y="5"/>
                    <a:pt x="13" y="0"/>
                    <a:pt x="7" y="11"/>
                  </a:cubicBezTo>
                  <a:close/>
                  <a:moveTo>
                    <a:pt x="114" y="73"/>
                  </a:moveTo>
                  <a:cubicBezTo>
                    <a:pt x="110" y="81"/>
                    <a:pt x="83" y="77"/>
                    <a:pt x="54" y="60"/>
                  </a:cubicBezTo>
                  <a:cubicBezTo>
                    <a:pt x="25" y="43"/>
                    <a:pt x="8" y="22"/>
                    <a:pt x="12" y="15"/>
                  </a:cubicBezTo>
                  <a:cubicBezTo>
                    <a:pt x="17" y="7"/>
                    <a:pt x="44" y="11"/>
                    <a:pt x="73" y="28"/>
                  </a:cubicBezTo>
                  <a:cubicBezTo>
                    <a:pt x="102" y="45"/>
                    <a:pt x="119" y="66"/>
                    <a:pt x="114" y="73"/>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8" name="Freeform 340"/>
            <p:cNvSpPr>
              <a:spLocks noEditPoints="1"/>
            </p:cNvSpPr>
            <p:nvPr/>
          </p:nvSpPr>
          <p:spPr bwMode="auto">
            <a:xfrm>
              <a:off x="8235951" y="6411913"/>
              <a:ext cx="360363" cy="252413"/>
            </a:xfrm>
            <a:custGeom>
              <a:avLst/>
              <a:gdLst>
                <a:gd name="T0" fmla="*/ 75 w 126"/>
                <a:gd name="T1" fmla="*/ 65 h 88"/>
                <a:gd name="T2" fmla="*/ 120 w 126"/>
                <a:gd name="T3" fmla="*/ 11 h 88"/>
                <a:gd name="T4" fmla="*/ 51 w 126"/>
                <a:gd name="T5" fmla="*/ 24 h 88"/>
                <a:gd name="T6" fmla="*/ 7 w 126"/>
                <a:gd name="T7" fmla="*/ 77 h 88"/>
                <a:gd name="T8" fmla="*/ 75 w 126"/>
                <a:gd name="T9" fmla="*/ 65 h 88"/>
                <a:gd name="T10" fmla="*/ 73 w 126"/>
                <a:gd name="T11" fmla="*/ 60 h 88"/>
                <a:gd name="T12" fmla="*/ 12 w 126"/>
                <a:gd name="T13" fmla="*/ 73 h 88"/>
                <a:gd name="T14" fmla="*/ 54 w 126"/>
                <a:gd name="T15" fmla="*/ 28 h 88"/>
                <a:gd name="T16" fmla="*/ 114 w 126"/>
                <a:gd name="T17" fmla="*/ 15 h 88"/>
                <a:gd name="T18" fmla="*/ 73 w 126"/>
                <a:gd name="T19" fmla="*/ 6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88">
                  <a:moveTo>
                    <a:pt x="75" y="65"/>
                  </a:moveTo>
                  <a:cubicBezTo>
                    <a:pt x="106" y="46"/>
                    <a:pt x="126" y="23"/>
                    <a:pt x="120" y="11"/>
                  </a:cubicBezTo>
                  <a:cubicBezTo>
                    <a:pt x="113" y="0"/>
                    <a:pt x="83" y="5"/>
                    <a:pt x="51" y="24"/>
                  </a:cubicBezTo>
                  <a:cubicBezTo>
                    <a:pt x="20" y="42"/>
                    <a:pt x="0" y="65"/>
                    <a:pt x="7" y="77"/>
                  </a:cubicBezTo>
                  <a:cubicBezTo>
                    <a:pt x="13" y="88"/>
                    <a:pt x="44" y="83"/>
                    <a:pt x="75" y="65"/>
                  </a:cubicBezTo>
                  <a:close/>
                  <a:moveTo>
                    <a:pt x="73" y="60"/>
                  </a:moveTo>
                  <a:cubicBezTo>
                    <a:pt x="44" y="77"/>
                    <a:pt x="17" y="81"/>
                    <a:pt x="12" y="73"/>
                  </a:cubicBezTo>
                  <a:cubicBezTo>
                    <a:pt x="8" y="66"/>
                    <a:pt x="25" y="45"/>
                    <a:pt x="54" y="28"/>
                  </a:cubicBezTo>
                  <a:cubicBezTo>
                    <a:pt x="83" y="11"/>
                    <a:pt x="110" y="7"/>
                    <a:pt x="114" y="15"/>
                  </a:cubicBezTo>
                  <a:cubicBezTo>
                    <a:pt x="119" y="22"/>
                    <a:pt x="102" y="43"/>
                    <a:pt x="73" y="6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9" name="Oval 341"/>
            <p:cNvSpPr>
              <a:spLocks noChangeArrowheads="1"/>
            </p:cNvSpPr>
            <p:nvPr/>
          </p:nvSpPr>
          <p:spPr bwMode="auto">
            <a:xfrm>
              <a:off x="8389938" y="6511926"/>
              <a:ext cx="52388" cy="52388"/>
            </a:xfrm>
            <a:prstGeom prst="ellipse">
              <a:avLst/>
            </a:pr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7177" name="Freeform 61"/>
          <p:cNvSpPr>
            <a:spLocks noEditPoints="1"/>
          </p:cNvSpPr>
          <p:nvPr/>
        </p:nvSpPr>
        <p:spPr>
          <a:xfrm>
            <a:off x="7035800" y="2284413"/>
            <a:ext cx="484188" cy="484187"/>
          </a:xfrm>
          <a:custGeom>
            <a:avLst/>
            <a:gdLst/>
            <a:ahLst/>
            <a:cxnLst>
              <a:cxn ang="0">
                <a:pos x="0"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0" y="0"/>
              </a:cxn>
              <a:cxn ang="0">
                <a:pos x="2147483647" y="2147483647"/>
              </a:cxn>
              <a:cxn ang="0">
                <a:pos x="2147483647" y="2147483647"/>
              </a:cxn>
              <a:cxn ang="0">
                <a:pos x="2147483647" y="2147483647"/>
              </a:cxn>
              <a:cxn ang="0">
                <a:pos x="2147483647" y="2147483647"/>
              </a:cxn>
              <a:cxn ang="0">
                <a:pos x="2147483647" y="2147483647"/>
              </a:cxn>
            </a:cxnLst>
            <a:pathLst>
              <a:path w="73" h="73">
                <a:moveTo>
                  <a:pt x="0" y="0"/>
                </a:moveTo>
                <a:cubicBezTo>
                  <a:pt x="0" y="29"/>
                  <a:pt x="0" y="29"/>
                  <a:pt x="0" y="29"/>
                </a:cubicBezTo>
                <a:cubicBezTo>
                  <a:pt x="20" y="49"/>
                  <a:pt x="20" y="49"/>
                  <a:pt x="20" y="49"/>
                </a:cubicBezTo>
                <a:cubicBezTo>
                  <a:pt x="35" y="64"/>
                  <a:pt x="35" y="64"/>
                  <a:pt x="35" y="64"/>
                </a:cubicBezTo>
                <a:cubicBezTo>
                  <a:pt x="41" y="70"/>
                  <a:pt x="41" y="70"/>
                  <a:pt x="41" y="70"/>
                </a:cubicBezTo>
                <a:cubicBezTo>
                  <a:pt x="44" y="73"/>
                  <a:pt x="49" y="73"/>
                  <a:pt x="52" y="70"/>
                </a:cubicBezTo>
                <a:cubicBezTo>
                  <a:pt x="70" y="52"/>
                  <a:pt x="70" y="52"/>
                  <a:pt x="70" y="52"/>
                </a:cubicBezTo>
                <a:cubicBezTo>
                  <a:pt x="73" y="49"/>
                  <a:pt x="73" y="44"/>
                  <a:pt x="70" y="41"/>
                </a:cubicBezTo>
                <a:cubicBezTo>
                  <a:pt x="64" y="35"/>
                  <a:pt x="64" y="35"/>
                  <a:pt x="64" y="35"/>
                </a:cubicBezTo>
                <a:cubicBezTo>
                  <a:pt x="49" y="20"/>
                  <a:pt x="49" y="20"/>
                  <a:pt x="49" y="20"/>
                </a:cubicBezTo>
                <a:cubicBezTo>
                  <a:pt x="29" y="0"/>
                  <a:pt x="29" y="0"/>
                  <a:pt x="29" y="0"/>
                </a:cubicBezTo>
                <a:lnTo>
                  <a:pt x="0" y="0"/>
                </a:lnTo>
                <a:close/>
                <a:moveTo>
                  <a:pt x="23" y="23"/>
                </a:moveTo>
                <a:cubicBezTo>
                  <a:pt x="20" y="27"/>
                  <a:pt x="15" y="27"/>
                  <a:pt x="12" y="23"/>
                </a:cubicBezTo>
                <a:cubicBezTo>
                  <a:pt x="9" y="20"/>
                  <a:pt x="9" y="15"/>
                  <a:pt x="12" y="12"/>
                </a:cubicBezTo>
                <a:cubicBezTo>
                  <a:pt x="15" y="9"/>
                  <a:pt x="20" y="9"/>
                  <a:pt x="23" y="12"/>
                </a:cubicBezTo>
                <a:cubicBezTo>
                  <a:pt x="27" y="15"/>
                  <a:pt x="27" y="20"/>
                  <a:pt x="23" y="23"/>
                </a:cubicBezTo>
                <a:close/>
              </a:path>
            </a:pathLst>
          </a:custGeom>
          <a:solidFill>
            <a:schemeClr val="bg1"/>
          </a:solidFill>
          <a:ln w="9525">
            <a:noFill/>
          </a:ln>
        </p:spPr>
        <p:txBody>
          <a:bodyPr/>
          <a:p>
            <a:endParaRPr lang="zh-CN" altLang="en-US"/>
          </a:p>
        </p:txBody>
      </p:sp>
      <p:sp>
        <p:nvSpPr>
          <p:cNvPr id="7178" name="Freeform 587"/>
          <p:cNvSpPr>
            <a:spLocks noChangeAspect="1" noEditPoints="1"/>
          </p:cNvSpPr>
          <p:nvPr/>
        </p:nvSpPr>
        <p:spPr>
          <a:xfrm>
            <a:off x="1663700" y="2301875"/>
            <a:ext cx="460375" cy="4873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0"/>
              </a:cxn>
            </a:cxnLst>
            <a:pathLst>
              <a:path w="55" h="58">
                <a:moveTo>
                  <a:pt x="31" y="10"/>
                </a:moveTo>
                <a:cubicBezTo>
                  <a:pt x="45" y="22"/>
                  <a:pt x="45" y="22"/>
                  <a:pt x="45" y="22"/>
                </a:cubicBezTo>
                <a:cubicBezTo>
                  <a:pt x="41" y="26"/>
                  <a:pt x="41" y="26"/>
                  <a:pt x="41" y="26"/>
                </a:cubicBezTo>
                <a:cubicBezTo>
                  <a:pt x="28" y="14"/>
                  <a:pt x="28" y="14"/>
                  <a:pt x="28" y="14"/>
                </a:cubicBezTo>
                <a:cubicBezTo>
                  <a:pt x="31" y="10"/>
                  <a:pt x="31" y="10"/>
                  <a:pt x="31" y="10"/>
                </a:cubicBezTo>
                <a:close/>
                <a:moveTo>
                  <a:pt x="32" y="34"/>
                </a:moveTo>
                <a:cubicBezTo>
                  <a:pt x="21" y="25"/>
                  <a:pt x="21" y="25"/>
                  <a:pt x="21" y="25"/>
                </a:cubicBezTo>
                <a:cubicBezTo>
                  <a:pt x="0" y="48"/>
                  <a:pt x="0" y="48"/>
                  <a:pt x="0" y="48"/>
                </a:cubicBezTo>
                <a:cubicBezTo>
                  <a:pt x="0" y="50"/>
                  <a:pt x="0" y="52"/>
                  <a:pt x="1" y="54"/>
                </a:cubicBezTo>
                <a:cubicBezTo>
                  <a:pt x="3" y="55"/>
                  <a:pt x="3" y="55"/>
                  <a:pt x="3" y="55"/>
                </a:cubicBezTo>
                <a:cubicBezTo>
                  <a:pt x="12" y="46"/>
                  <a:pt x="12" y="46"/>
                  <a:pt x="12" y="46"/>
                </a:cubicBezTo>
                <a:cubicBezTo>
                  <a:pt x="13" y="48"/>
                  <a:pt x="13" y="48"/>
                  <a:pt x="13" y="48"/>
                </a:cubicBezTo>
                <a:cubicBezTo>
                  <a:pt x="6" y="56"/>
                  <a:pt x="6" y="56"/>
                  <a:pt x="6" y="56"/>
                </a:cubicBezTo>
                <a:cubicBezTo>
                  <a:pt x="10" y="58"/>
                  <a:pt x="10" y="58"/>
                  <a:pt x="10" y="58"/>
                </a:cubicBezTo>
                <a:cubicBezTo>
                  <a:pt x="17" y="51"/>
                  <a:pt x="17" y="51"/>
                  <a:pt x="17" y="51"/>
                </a:cubicBezTo>
                <a:cubicBezTo>
                  <a:pt x="16" y="49"/>
                  <a:pt x="16" y="49"/>
                  <a:pt x="16" y="49"/>
                </a:cubicBezTo>
                <a:cubicBezTo>
                  <a:pt x="18" y="47"/>
                  <a:pt x="18" y="47"/>
                  <a:pt x="18" y="47"/>
                </a:cubicBezTo>
                <a:cubicBezTo>
                  <a:pt x="20" y="47"/>
                  <a:pt x="20" y="47"/>
                  <a:pt x="20" y="47"/>
                </a:cubicBezTo>
                <a:cubicBezTo>
                  <a:pt x="32" y="34"/>
                  <a:pt x="32" y="34"/>
                  <a:pt x="32" y="34"/>
                </a:cubicBezTo>
                <a:close/>
                <a:moveTo>
                  <a:pt x="31" y="0"/>
                </a:moveTo>
                <a:cubicBezTo>
                  <a:pt x="16" y="17"/>
                  <a:pt x="16" y="17"/>
                  <a:pt x="16" y="17"/>
                </a:cubicBezTo>
                <a:cubicBezTo>
                  <a:pt x="40" y="38"/>
                  <a:pt x="40" y="38"/>
                  <a:pt x="40" y="38"/>
                </a:cubicBezTo>
                <a:cubicBezTo>
                  <a:pt x="55" y="22"/>
                  <a:pt x="55" y="22"/>
                  <a:pt x="55" y="22"/>
                </a:cubicBezTo>
                <a:cubicBezTo>
                  <a:pt x="50" y="12"/>
                  <a:pt x="42" y="4"/>
                  <a:pt x="31" y="0"/>
                </a:cubicBezTo>
                <a:close/>
              </a:path>
            </a:pathLst>
          </a:custGeom>
          <a:solidFill>
            <a:schemeClr val="bg1"/>
          </a:solidFill>
          <a:ln w="9525">
            <a:noFill/>
          </a:ln>
        </p:spPr>
        <p:txBody>
          <a:bodyPr/>
          <a:p>
            <a:endParaRPr lang="zh-CN" altLang="en-US"/>
          </a:p>
        </p:txBody>
      </p:sp>
      <p:sp>
        <p:nvSpPr>
          <p:cNvPr id="7179" name="文本框 1"/>
          <p:cNvSpPr txBox="1"/>
          <p:nvPr/>
        </p:nvSpPr>
        <p:spPr>
          <a:xfrm>
            <a:off x="3846513" y="2968625"/>
            <a:ext cx="1455737" cy="1198563"/>
          </a:xfrm>
          <a:prstGeom prst="rect">
            <a:avLst/>
          </a:prstGeom>
          <a:noFill/>
          <a:ln w="9525">
            <a:noFill/>
          </a:ln>
        </p:spPr>
        <p:txBody>
          <a:bodyPr anchor="t" anchorCtr="0">
            <a:spAutoFit/>
          </a:bodyPr>
          <a:p>
            <a:pPr algn="ctr"/>
            <a:r>
              <a:rPr lang="en-US" altLang="zh-CN" sz="2400" dirty="0">
                <a:solidFill>
                  <a:schemeClr val="bg1"/>
                </a:solidFill>
                <a:latin typeface="微软雅黑" panose="020B0503020204020204" pitchFamily="34" charset="-122"/>
                <a:ea typeface="微软雅黑" panose="020B0503020204020204" pitchFamily="34" charset="-122"/>
              </a:rPr>
              <a:t>OpenCV</a:t>
            </a:r>
            <a:r>
              <a:rPr lang="zh-CN" altLang="en-US" sz="2400" dirty="0">
                <a:solidFill>
                  <a:schemeClr val="bg1"/>
                </a:solidFill>
                <a:latin typeface="微软雅黑" panose="020B0503020204020204" pitchFamily="34" charset="-122"/>
                <a:ea typeface="微软雅黑" panose="020B0503020204020204" pitchFamily="34" charset="-122"/>
              </a:rPr>
              <a:t>图像处理库</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7180" name="文本框 24"/>
          <p:cNvSpPr txBox="1"/>
          <p:nvPr/>
        </p:nvSpPr>
        <p:spPr>
          <a:xfrm>
            <a:off x="6523038" y="2968625"/>
            <a:ext cx="1455737" cy="1014413"/>
          </a:xfrm>
          <a:prstGeom prst="rect">
            <a:avLst/>
          </a:prstGeom>
          <a:noFill/>
          <a:ln w="9525">
            <a:noFill/>
          </a:ln>
        </p:spPr>
        <p:txBody>
          <a:bodyPr anchor="t" anchorCtr="0">
            <a:spAutoFit/>
          </a:bodyPr>
          <a:p>
            <a:pPr algn="ctr"/>
            <a:r>
              <a:rPr lang="en-US" altLang="zh-CN" sz="2000" dirty="0">
                <a:solidFill>
                  <a:schemeClr val="bg1"/>
                </a:solidFill>
                <a:latin typeface="微软雅黑" panose="020B0503020204020204" pitchFamily="34" charset="-122"/>
                <a:ea typeface="微软雅黑" panose="020B0503020204020204" pitchFamily="34" charset="-122"/>
              </a:rPr>
              <a:t>pysimplegui</a:t>
            </a:r>
            <a:r>
              <a:rPr lang="zh-CN" altLang="en-US" sz="2000" dirty="0">
                <a:solidFill>
                  <a:schemeClr val="bg1"/>
                </a:solidFill>
                <a:latin typeface="微软雅黑" panose="020B0503020204020204" pitchFamily="34" charset="-122"/>
                <a:ea typeface="微软雅黑" panose="020B0503020204020204" pitchFamily="34" charset="-122"/>
              </a:rPr>
              <a:t>图形化界面</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7181" name="文本框 25"/>
          <p:cNvSpPr txBox="1"/>
          <p:nvPr/>
        </p:nvSpPr>
        <p:spPr>
          <a:xfrm>
            <a:off x="1235075" y="2989263"/>
            <a:ext cx="1455738" cy="706437"/>
          </a:xfrm>
          <a:prstGeom prst="rect">
            <a:avLst/>
          </a:prstGeom>
          <a:noFill/>
          <a:ln w="9525">
            <a:noFill/>
          </a:ln>
        </p:spPr>
        <p:txBody>
          <a:bodyPr anchor="t" anchorCtr="0">
            <a:spAutoFit/>
          </a:bodyPr>
          <a:p>
            <a:pPr algn="ctr"/>
            <a:r>
              <a:rPr lang="en-US" altLang="zh-CN" sz="2000" dirty="0">
                <a:solidFill>
                  <a:schemeClr val="bg1"/>
                </a:solidFill>
                <a:latin typeface="微软雅黑" panose="020B0503020204020204" pitchFamily="34" charset="-122"/>
                <a:ea typeface="微软雅黑" panose="020B0503020204020204" pitchFamily="34" charset="-122"/>
              </a:rPr>
              <a:t>pycharm+anaconda</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04850" y="4189413"/>
            <a:ext cx="2406650" cy="1752600"/>
          </a:xfrm>
          <a:prstGeom prst="rect">
            <a:avLst/>
          </a:prstGeom>
          <a:noFill/>
        </p:spPr>
        <p:txBody>
          <a:bodyPr>
            <a:spAutoFit/>
          </a:bodyPr>
          <a:lstStyle/>
          <a:p>
            <a:pPr marR="0" algn="ctr" defTabSz="914400" fontAlgn="auto">
              <a:spcBef>
                <a:spcPts val="0"/>
              </a:spcBef>
              <a:spcAft>
                <a:spcPts val="0"/>
              </a:spcAft>
              <a:buClrTx/>
              <a:buSzTx/>
              <a:buFontTx/>
              <a:buNone/>
              <a:defRPr/>
            </a:pPr>
            <a:r>
              <a:rPr kumimoji="0" lang="en-US" altLang="zh-CN" kern="1200" cap="none" spc="0" normalizeH="0" baseline="0" noProof="0" dirty="0">
                <a:solidFill>
                  <a:schemeClr val="accent3">
                    <a:lumMod val="75000"/>
                  </a:schemeClr>
                </a:solidFill>
                <a:latin typeface="+mn-lt"/>
                <a:ea typeface="+mn-ea"/>
                <a:cs typeface="+mn-cs"/>
              </a:rPr>
              <a:t>pycharm</a:t>
            </a:r>
            <a:r>
              <a:rPr kumimoji="0" lang="zh-CN" altLang="en-US" kern="1200" cap="none" spc="0" normalizeH="0" baseline="0" noProof="0" dirty="0">
                <a:solidFill>
                  <a:schemeClr val="accent3">
                    <a:lumMod val="75000"/>
                  </a:schemeClr>
                </a:solidFill>
                <a:latin typeface="+mn-lt"/>
                <a:ea typeface="+mn-ea"/>
                <a:cs typeface="+mn-cs"/>
              </a:rPr>
              <a:t>有代码补全、代码提示、报错提示等功能。</a:t>
            </a:r>
            <a:r>
              <a:rPr kumimoji="0" lang="en-US" altLang="zh-CN" kern="1200" cap="none" spc="0" normalizeH="0" baseline="0" noProof="0" dirty="0">
                <a:solidFill>
                  <a:schemeClr val="accent3">
                    <a:lumMod val="75000"/>
                  </a:schemeClr>
                </a:solidFill>
                <a:latin typeface="+mn-lt"/>
                <a:ea typeface="+mn-ea"/>
                <a:cs typeface="+mn-cs"/>
              </a:rPr>
              <a:t>anaconda</a:t>
            </a:r>
            <a:r>
              <a:rPr kumimoji="0" lang="zh-CN" altLang="en-US" kern="1200" cap="none" spc="0" normalizeH="0" baseline="0" noProof="0" dirty="0">
                <a:solidFill>
                  <a:schemeClr val="accent3">
                    <a:lumMod val="75000"/>
                  </a:schemeClr>
                </a:solidFill>
                <a:latin typeface="+mn-lt"/>
                <a:ea typeface="+mn-ea"/>
                <a:cs typeface="+mn-cs"/>
              </a:rPr>
              <a:t>易于配置开发环境，安装所需要的的包，并将不同环境分离</a:t>
            </a:r>
            <a:endParaRPr kumimoji="0" lang="zh-CN" altLang="en-US" kern="1200" cap="none" spc="0" normalizeH="0" baseline="0" noProof="0" dirty="0">
              <a:solidFill>
                <a:schemeClr val="accent3">
                  <a:lumMod val="75000"/>
                </a:schemeClr>
              </a:solidFill>
              <a:latin typeface="+mn-lt"/>
              <a:ea typeface="+mn-ea"/>
              <a:cs typeface="+mn-cs"/>
            </a:endParaRPr>
          </a:p>
        </p:txBody>
      </p:sp>
      <p:sp>
        <p:nvSpPr>
          <p:cNvPr id="27" name="文本框 26"/>
          <p:cNvSpPr txBox="1"/>
          <p:nvPr/>
        </p:nvSpPr>
        <p:spPr>
          <a:xfrm>
            <a:off x="6030913" y="4183063"/>
            <a:ext cx="2408238" cy="922338"/>
          </a:xfrm>
          <a:prstGeom prst="rect">
            <a:avLst/>
          </a:prstGeom>
          <a:noFill/>
        </p:spPr>
        <p:txBody>
          <a:bodyPr>
            <a:spAutoFit/>
          </a:bodyPr>
          <a:lstStyle/>
          <a:p>
            <a:pPr marR="0" algn="ctr" defTabSz="914400" fontAlgn="auto">
              <a:spcBef>
                <a:spcPts val="0"/>
              </a:spcBef>
              <a:spcAft>
                <a:spcPts val="0"/>
              </a:spcAft>
              <a:buClrTx/>
              <a:buSzTx/>
              <a:buFontTx/>
              <a:buNone/>
              <a:defRPr/>
            </a:pPr>
            <a:r>
              <a:rPr kumimoji="0" lang="zh-CN" kern="1200" cap="none" spc="0" normalizeH="0" baseline="0" noProof="0" dirty="0">
                <a:solidFill>
                  <a:schemeClr val="accent3">
                    <a:lumMod val="75000"/>
                  </a:schemeClr>
                </a:solidFill>
                <a:latin typeface="+mn-lt"/>
                <a:ea typeface="+mn-ea"/>
                <a:cs typeface="+mn-cs"/>
              </a:rPr>
              <a:t>代码编写简单，可以生成简易的图形化界面，易于切换功能</a:t>
            </a:r>
            <a:endParaRPr kumimoji="0" lang="zh-CN" kern="1200" cap="none" spc="0" normalizeH="0" baseline="0" noProof="0" dirty="0">
              <a:solidFill>
                <a:schemeClr val="accent3">
                  <a:lumMod val="75000"/>
                </a:schemeClr>
              </a:solidFill>
              <a:latin typeface="+mn-lt"/>
              <a:ea typeface="+mn-ea"/>
              <a:cs typeface="+mn-cs"/>
            </a:endParaRPr>
          </a:p>
        </p:txBody>
      </p:sp>
      <p:sp>
        <p:nvSpPr>
          <p:cNvPr id="30" name="文本框 29"/>
          <p:cNvSpPr txBox="1"/>
          <p:nvPr/>
        </p:nvSpPr>
        <p:spPr>
          <a:xfrm>
            <a:off x="946150" y="217488"/>
            <a:ext cx="4976813" cy="398463"/>
          </a:xfrm>
          <a:prstGeom prst="rect">
            <a:avLst/>
          </a:prstGeom>
          <a:noFill/>
        </p:spPr>
        <p:txBody>
          <a:bodyPr>
            <a:spAutoFit/>
          </a:bodyPr>
          <a:lstStyle/>
          <a:p>
            <a:pPr marR="0" defTabSz="914400" fontAlgn="auto">
              <a:spcBef>
                <a:spcPts val="0"/>
              </a:spcBef>
              <a:spcAft>
                <a:spcPts val="0"/>
              </a:spcAft>
              <a:buClrTx/>
              <a:buSzTx/>
              <a:buFontTx/>
              <a:buNone/>
              <a:defRPr/>
            </a:pPr>
            <a:r>
              <a:rPr kumimoji="0" lang="zh-CN" altLang="en-US" sz="2000" b="1" kern="1200" cap="none" spc="0" normalizeH="0" baseline="0" noProof="0" dirty="0">
                <a:solidFill>
                  <a:schemeClr val="accent3">
                    <a:lumMod val="60000"/>
                    <a:lumOff val="40000"/>
                  </a:schemeClr>
                </a:solidFill>
                <a:latin typeface="+mn-lt"/>
                <a:ea typeface="+mn-ea"/>
                <a:cs typeface="+mn-cs"/>
              </a:rPr>
              <a:t>开发环境简介</a:t>
            </a:r>
            <a:endParaRPr kumimoji="0" lang="zh-CN" altLang="en-US" sz="2000" b="1" kern="1200" cap="none" spc="0" normalizeH="0" baseline="0" noProof="0" dirty="0">
              <a:solidFill>
                <a:schemeClr val="accent3">
                  <a:lumMod val="60000"/>
                  <a:lumOff val="40000"/>
                </a:schemeClr>
              </a:solidFill>
              <a:latin typeface="+mn-lt"/>
              <a:ea typeface="+mn-ea"/>
              <a:cs typeface="+mn-cs"/>
            </a:endParaRPr>
          </a:p>
        </p:txBody>
      </p:sp>
      <p:cxnSp>
        <p:nvCxnSpPr>
          <p:cNvPr id="31" name="直接连接符 30"/>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7186"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4" name="文本框 3"/>
          <p:cNvSpPr txBox="1"/>
          <p:nvPr/>
        </p:nvSpPr>
        <p:spPr>
          <a:xfrm>
            <a:off x="3402013" y="4256088"/>
            <a:ext cx="2406650" cy="644525"/>
          </a:xfrm>
          <a:prstGeom prst="rect">
            <a:avLst/>
          </a:prstGeom>
          <a:noFill/>
        </p:spPr>
        <p:txBody>
          <a:bodyPr>
            <a:spAutoFit/>
          </a:bodyPr>
          <a:p>
            <a:pPr marR="0" algn="ctr" defTabSz="914400" fontAlgn="auto">
              <a:spcBef>
                <a:spcPts val="0"/>
              </a:spcBef>
              <a:spcAft>
                <a:spcPts val="0"/>
              </a:spcAft>
              <a:buClrTx/>
              <a:buSzTx/>
              <a:buFontTx/>
              <a:buNone/>
              <a:defRPr/>
            </a:pPr>
            <a:r>
              <a:rPr kumimoji="0" lang="zh-CN" kern="1200" cap="none" spc="0" normalizeH="0" baseline="0" noProof="0" dirty="0">
                <a:solidFill>
                  <a:schemeClr val="accent3">
                    <a:lumMod val="75000"/>
                  </a:schemeClr>
                </a:solidFill>
                <a:latin typeface="+mn-lt"/>
                <a:ea typeface="+mn-ea"/>
                <a:cs typeface="+mn-cs"/>
              </a:rPr>
              <a:t>用于实现图像处理的相关操作</a:t>
            </a:r>
            <a:endParaRPr kumimoji="0" lang="zh-CN" kern="1200" cap="none" spc="0" normalizeH="0" baseline="0" noProof="0" dirty="0">
              <a:solidFill>
                <a:schemeClr val="accent3">
                  <a:lumMod val="75000"/>
                </a:schemeClr>
              </a:solidFill>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193" name="组合 185"/>
          <p:cNvGrpSpPr/>
          <p:nvPr/>
        </p:nvGrpSpPr>
        <p:grpSpPr>
          <a:xfrm>
            <a:off x="206375" y="4978400"/>
            <a:ext cx="3344863" cy="1198563"/>
            <a:chOff x="464444" y="4744707"/>
            <a:chExt cx="2505571" cy="566021"/>
          </a:xfrm>
        </p:grpSpPr>
        <p:grpSp>
          <p:nvGrpSpPr>
            <p:cNvPr id="8194" name="组合 181"/>
            <p:cNvGrpSpPr/>
            <p:nvPr/>
          </p:nvGrpSpPr>
          <p:grpSpPr>
            <a:xfrm>
              <a:off x="464444" y="4762163"/>
              <a:ext cx="540000" cy="539571"/>
              <a:chOff x="464444" y="4762163"/>
              <a:chExt cx="540000" cy="539571"/>
            </a:xfrm>
          </p:grpSpPr>
          <p:sp>
            <p:nvSpPr>
              <p:cNvPr id="180" name="椭圆 179"/>
              <p:cNvSpPr>
                <a:spLocks noChangeAspect="1"/>
              </p:cNvSpPr>
              <p:nvPr/>
            </p:nvSpPr>
            <p:spPr>
              <a:xfrm>
                <a:off x="464444" y="4762163"/>
                <a:ext cx="539726" cy="539571"/>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196" name="文本框 180"/>
              <p:cNvSpPr txBox="1"/>
              <p:nvPr/>
            </p:nvSpPr>
            <p:spPr>
              <a:xfrm>
                <a:off x="464444" y="5000902"/>
                <a:ext cx="540000" cy="144803"/>
              </a:xfrm>
              <a:prstGeom prst="rect">
                <a:avLst/>
              </a:prstGeom>
              <a:noFill/>
              <a:ln w="9525">
                <a:noFill/>
              </a:ln>
            </p:spPr>
            <p:txBody>
              <a:bodyPr anchor="t" anchorCtr="0">
                <a:spAutoFit/>
              </a:bodyPr>
              <a:p>
                <a:pPr algn="ctr"/>
                <a:r>
                  <a:rPr lang="zh-CN" altLang="en-US" sz="1400" dirty="0">
                    <a:solidFill>
                      <a:schemeClr val="bg1"/>
                    </a:solidFill>
                    <a:latin typeface="微软雅黑" panose="020B0503020204020204" pitchFamily="34" charset="-122"/>
                    <a:ea typeface="微软雅黑" panose="020B0503020204020204" pitchFamily="34" charset="-122"/>
                  </a:rPr>
                  <a:t>切换</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8197" name="文本框 182"/>
            <p:cNvSpPr txBox="1"/>
            <p:nvPr/>
          </p:nvSpPr>
          <p:spPr>
            <a:xfrm>
              <a:off x="1018110" y="4744707"/>
              <a:ext cx="1951905" cy="566021"/>
            </a:xfrm>
            <a:prstGeom prst="rect">
              <a:avLst/>
            </a:prstGeom>
            <a:noFill/>
            <a:ln w="9525">
              <a:noFill/>
            </a:ln>
          </p:spPr>
          <p:txBody>
            <a:bodyPr wrap="square" anchor="t" anchorCtr="0">
              <a:spAutoFit/>
            </a:bodyPr>
            <a:p>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通过摁键实现各个操作，较为简单</a:t>
              </a:r>
              <a:endParaRPr lang="zh-CN" altLang="en-US" b="1" dirty="0">
                <a:latin typeface="微软雅黑" panose="020B0503020204020204" pitchFamily="34" charset="-122"/>
                <a:ea typeface="微软雅黑" panose="020B0503020204020204" pitchFamily="34" charset="-122"/>
              </a:endParaRPr>
            </a:p>
            <a:p>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实时处理，不同功能之间秒切换</a:t>
              </a:r>
              <a:endParaRPr lang="zh-CN" altLang="en-US" b="1" dirty="0">
                <a:latin typeface="微软雅黑" panose="020B0503020204020204" pitchFamily="34" charset="-122"/>
                <a:ea typeface="微软雅黑" panose="020B0503020204020204" pitchFamily="34" charset="-122"/>
              </a:endParaRPr>
            </a:p>
          </p:txBody>
        </p:sp>
      </p:grpSp>
      <p:cxnSp>
        <p:nvCxnSpPr>
          <p:cNvPr id="202" name="直接连接符 201"/>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8199" name="文本框 203"/>
          <p:cNvSpPr txBox="1"/>
          <p:nvPr/>
        </p:nvSpPr>
        <p:spPr>
          <a:xfrm>
            <a:off x="1073150" y="230188"/>
            <a:ext cx="4976813" cy="398462"/>
          </a:xfrm>
          <a:prstGeom prst="rect">
            <a:avLst/>
          </a:prstGeom>
          <a:noFill/>
          <a:ln w="9525">
            <a:noFill/>
          </a:ln>
        </p:spPr>
        <p:txBody>
          <a:bodyPr anchor="t" anchorCtr="0">
            <a:spAutoFit/>
          </a:bodyPr>
          <a:p>
            <a:pPr>
              <a:buClrTx/>
              <a:buFontTx/>
            </a:pPr>
            <a:r>
              <a:rPr lang="zh-CN" altLang="en-US" sz="2000" b="1" dirty="0">
                <a:solidFill>
                  <a:srgbClr val="1F3A65"/>
                </a:solidFill>
                <a:latin typeface="微软雅黑" panose="020B0503020204020204" pitchFamily="34" charset="-122"/>
                <a:ea typeface="微软雅黑" panose="020B0503020204020204" pitchFamily="34" charset="-122"/>
              </a:rPr>
              <a:t>界面展示</a:t>
            </a:r>
            <a:endParaRPr lang="zh-CN" altLang="en-US" sz="2000" b="1" dirty="0">
              <a:solidFill>
                <a:srgbClr val="1F3A65"/>
              </a:solidFill>
              <a:latin typeface="微软雅黑" panose="020B0503020204020204" pitchFamily="34" charset="-122"/>
              <a:ea typeface="微软雅黑" panose="020B0503020204020204" pitchFamily="34" charset="-122"/>
            </a:endParaRPr>
          </a:p>
        </p:txBody>
      </p:sp>
      <p:sp>
        <p:nvSpPr>
          <p:cNvPr id="8200" name="Freeform 479"/>
          <p:cNvSpPr>
            <a:spLocks noChangeAspect="1" noEditPoints="1"/>
          </p:cNvSpPr>
          <p:nvPr/>
        </p:nvSpPr>
        <p:spPr>
          <a:xfrm>
            <a:off x="385763" y="360363"/>
            <a:ext cx="555625" cy="433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2" h="56">
                <a:moveTo>
                  <a:pt x="72" y="35"/>
                </a:moveTo>
                <a:cubicBezTo>
                  <a:pt x="31" y="43"/>
                  <a:pt x="31" y="43"/>
                  <a:pt x="31" y="43"/>
                </a:cubicBezTo>
                <a:cubicBezTo>
                  <a:pt x="30" y="47"/>
                  <a:pt x="30" y="50"/>
                  <a:pt x="31" y="53"/>
                </a:cubicBezTo>
                <a:cubicBezTo>
                  <a:pt x="71" y="44"/>
                  <a:pt x="71" y="44"/>
                  <a:pt x="71" y="44"/>
                </a:cubicBezTo>
                <a:cubicBezTo>
                  <a:pt x="72" y="47"/>
                  <a:pt x="72" y="47"/>
                  <a:pt x="72" y="47"/>
                </a:cubicBezTo>
                <a:cubicBezTo>
                  <a:pt x="30" y="56"/>
                  <a:pt x="30" y="56"/>
                  <a:pt x="30" y="56"/>
                </a:cubicBezTo>
                <a:cubicBezTo>
                  <a:pt x="29" y="56"/>
                  <a:pt x="29" y="56"/>
                  <a:pt x="29" y="56"/>
                </a:cubicBezTo>
                <a:cubicBezTo>
                  <a:pt x="2" y="39"/>
                  <a:pt x="2" y="39"/>
                  <a:pt x="2" y="39"/>
                </a:cubicBezTo>
                <a:cubicBezTo>
                  <a:pt x="1" y="36"/>
                  <a:pt x="0" y="32"/>
                  <a:pt x="2" y="29"/>
                </a:cubicBezTo>
                <a:cubicBezTo>
                  <a:pt x="5" y="28"/>
                  <a:pt x="5" y="28"/>
                  <a:pt x="5" y="28"/>
                </a:cubicBezTo>
                <a:cubicBezTo>
                  <a:pt x="5" y="29"/>
                  <a:pt x="5" y="29"/>
                  <a:pt x="5" y="29"/>
                </a:cubicBezTo>
                <a:cubicBezTo>
                  <a:pt x="40" y="37"/>
                  <a:pt x="40" y="37"/>
                  <a:pt x="40" y="37"/>
                </a:cubicBezTo>
                <a:cubicBezTo>
                  <a:pt x="40" y="36"/>
                  <a:pt x="40" y="34"/>
                  <a:pt x="40" y="33"/>
                </a:cubicBezTo>
                <a:cubicBezTo>
                  <a:pt x="40" y="32"/>
                  <a:pt x="40" y="30"/>
                  <a:pt x="40" y="29"/>
                </a:cubicBezTo>
                <a:cubicBezTo>
                  <a:pt x="5" y="22"/>
                  <a:pt x="5" y="22"/>
                  <a:pt x="5" y="22"/>
                </a:cubicBezTo>
                <a:cubicBezTo>
                  <a:pt x="5" y="19"/>
                  <a:pt x="5" y="19"/>
                  <a:pt x="5" y="19"/>
                </a:cubicBezTo>
                <a:cubicBezTo>
                  <a:pt x="5" y="19"/>
                  <a:pt x="5" y="19"/>
                  <a:pt x="5" y="19"/>
                </a:cubicBezTo>
                <a:cubicBezTo>
                  <a:pt x="5" y="19"/>
                  <a:pt x="5" y="19"/>
                  <a:pt x="5" y="19"/>
                </a:cubicBezTo>
                <a:cubicBezTo>
                  <a:pt x="5" y="19"/>
                  <a:pt x="5" y="19"/>
                  <a:pt x="5" y="19"/>
                </a:cubicBezTo>
                <a:cubicBezTo>
                  <a:pt x="7" y="18"/>
                  <a:pt x="7" y="18"/>
                  <a:pt x="7" y="18"/>
                </a:cubicBezTo>
                <a:cubicBezTo>
                  <a:pt x="7" y="16"/>
                  <a:pt x="7" y="16"/>
                  <a:pt x="7" y="16"/>
                </a:cubicBezTo>
                <a:cubicBezTo>
                  <a:pt x="40" y="24"/>
                  <a:pt x="40" y="24"/>
                  <a:pt x="40" y="24"/>
                </a:cubicBezTo>
                <a:cubicBezTo>
                  <a:pt x="40" y="23"/>
                  <a:pt x="40" y="22"/>
                  <a:pt x="40" y="21"/>
                </a:cubicBezTo>
                <a:cubicBezTo>
                  <a:pt x="40" y="19"/>
                  <a:pt x="40" y="18"/>
                  <a:pt x="40" y="17"/>
                </a:cubicBezTo>
                <a:cubicBezTo>
                  <a:pt x="7" y="9"/>
                  <a:pt x="7" y="9"/>
                  <a:pt x="7" y="9"/>
                </a:cubicBezTo>
                <a:cubicBezTo>
                  <a:pt x="7" y="6"/>
                  <a:pt x="7" y="6"/>
                  <a:pt x="7" y="6"/>
                </a:cubicBezTo>
                <a:cubicBezTo>
                  <a:pt x="33" y="0"/>
                  <a:pt x="33" y="0"/>
                  <a:pt x="33" y="0"/>
                </a:cubicBezTo>
                <a:cubicBezTo>
                  <a:pt x="63" y="6"/>
                  <a:pt x="63" y="6"/>
                  <a:pt x="63" y="6"/>
                </a:cubicBezTo>
                <a:cubicBezTo>
                  <a:pt x="64" y="9"/>
                  <a:pt x="64" y="11"/>
                  <a:pt x="63" y="14"/>
                </a:cubicBezTo>
                <a:cubicBezTo>
                  <a:pt x="60" y="15"/>
                  <a:pt x="60" y="15"/>
                  <a:pt x="60" y="15"/>
                </a:cubicBezTo>
                <a:cubicBezTo>
                  <a:pt x="64" y="16"/>
                  <a:pt x="64" y="16"/>
                  <a:pt x="64" y="16"/>
                </a:cubicBezTo>
                <a:cubicBezTo>
                  <a:pt x="66" y="19"/>
                  <a:pt x="66" y="22"/>
                  <a:pt x="64" y="25"/>
                </a:cubicBezTo>
                <a:cubicBezTo>
                  <a:pt x="58" y="29"/>
                  <a:pt x="58" y="29"/>
                  <a:pt x="58" y="29"/>
                </a:cubicBezTo>
                <a:cubicBezTo>
                  <a:pt x="72" y="33"/>
                  <a:pt x="72" y="33"/>
                  <a:pt x="72" y="33"/>
                </a:cubicBezTo>
                <a:cubicBezTo>
                  <a:pt x="72" y="35"/>
                  <a:pt x="72" y="35"/>
                  <a:pt x="72" y="35"/>
                </a:cubicBezTo>
                <a:close/>
                <a:moveTo>
                  <a:pt x="33" y="50"/>
                </a:moveTo>
                <a:cubicBezTo>
                  <a:pt x="33" y="50"/>
                  <a:pt x="33" y="50"/>
                  <a:pt x="33" y="50"/>
                </a:cubicBezTo>
                <a:cubicBezTo>
                  <a:pt x="70" y="43"/>
                  <a:pt x="70" y="43"/>
                  <a:pt x="70" y="43"/>
                </a:cubicBezTo>
                <a:cubicBezTo>
                  <a:pt x="70" y="42"/>
                  <a:pt x="70" y="42"/>
                  <a:pt x="70" y="42"/>
                </a:cubicBezTo>
                <a:cubicBezTo>
                  <a:pt x="33" y="50"/>
                  <a:pt x="33" y="50"/>
                  <a:pt x="33" y="50"/>
                </a:cubicBezTo>
                <a:close/>
                <a:moveTo>
                  <a:pt x="33" y="47"/>
                </a:moveTo>
                <a:cubicBezTo>
                  <a:pt x="33" y="48"/>
                  <a:pt x="33" y="48"/>
                  <a:pt x="33" y="48"/>
                </a:cubicBezTo>
                <a:cubicBezTo>
                  <a:pt x="70" y="40"/>
                  <a:pt x="70" y="40"/>
                  <a:pt x="70" y="40"/>
                </a:cubicBezTo>
                <a:cubicBezTo>
                  <a:pt x="70" y="39"/>
                  <a:pt x="70" y="39"/>
                  <a:pt x="70" y="39"/>
                </a:cubicBezTo>
                <a:cubicBezTo>
                  <a:pt x="33" y="47"/>
                  <a:pt x="33" y="47"/>
                  <a:pt x="33" y="47"/>
                </a:cubicBezTo>
                <a:close/>
                <a:moveTo>
                  <a:pt x="32" y="45"/>
                </a:moveTo>
                <a:cubicBezTo>
                  <a:pt x="33" y="46"/>
                  <a:pt x="33" y="46"/>
                  <a:pt x="33" y="46"/>
                </a:cubicBezTo>
                <a:cubicBezTo>
                  <a:pt x="70" y="38"/>
                  <a:pt x="70" y="38"/>
                  <a:pt x="70" y="38"/>
                </a:cubicBezTo>
                <a:cubicBezTo>
                  <a:pt x="70" y="37"/>
                  <a:pt x="70" y="37"/>
                  <a:pt x="70" y="37"/>
                </a:cubicBezTo>
                <a:lnTo>
                  <a:pt x="32" y="45"/>
                </a:lnTo>
                <a:close/>
              </a:path>
            </a:pathLst>
          </a:custGeom>
          <a:solidFill>
            <a:srgbClr val="1F3A65"/>
          </a:solidFill>
          <a:ln w="9525">
            <a:noFill/>
          </a:ln>
        </p:spPr>
        <p:txBody>
          <a:bodyPr/>
          <a:p>
            <a:endParaRPr lang="zh-CN" altLang="en-US"/>
          </a:p>
        </p:txBody>
      </p:sp>
      <p:pic>
        <p:nvPicPr>
          <p:cNvPr id="8201" name="图片 2"/>
          <p:cNvPicPr>
            <a:picLocks noChangeAspect="1"/>
          </p:cNvPicPr>
          <p:nvPr/>
        </p:nvPicPr>
        <p:blipFill>
          <a:blip r:embed="rId1"/>
          <a:srcRect t="522" r="214" b="2463"/>
          <a:stretch>
            <a:fillRect/>
          </a:stretch>
        </p:blipFill>
        <p:spPr>
          <a:xfrm>
            <a:off x="4394200" y="920750"/>
            <a:ext cx="4352925" cy="554355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矩形 9"/>
          <p:cNvSpPr/>
          <p:nvPr/>
        </p:nvSpPr>
        <p:spPr>
          <a:xfrm>
            <a:off x="-476250" y="1408113"/>
            <a:ext cx="4789488" cy="3194050"/>
          </a:xfrm>
          <a:prstGeom prst="rect">
            <a:avLst/>
          </a:prstGeom>
          <a:noFill/>
          <a:ln w="9525">
            <a:noFill/>
          </a:ln>
        </p:spPr>
        <p:txBody>
          <a:bodyPr anchor="t" anchorCtr="0"/>
          <a:p>
            <a:pPr eaLnBrk="0" hangingPunct="0"/>
            <a:endParaRPr lang="zh-CN" altLang="en-US" dirty="0">
              <a:latin typeface="微软雅黑" panose="020B0503020204020204" pitchFamily="34" charset="-122"/>
              <a:ea typeface="微软雅黑" panose="020B0503020204020204" pitchFamily="34" charset="-122"/>
            </a:endParaRPr>
          </a:p>
        </p:txBody>
      </p:sp>
      <p:grpSp>
        <p:nvGrpSpPr>
          <p:cNvPr id="9218" name="组合 5"/>
          <p:cNvGrpSpPr/>
          <p:nvPr/>
        </p:nvGrpSpPr>
        <p:grpSpPr>
          <a:xfrm>
            <a:off x="304800" y="4511675"/>
            <a:ext cx="4267200" cy="1554163"/>
            <a:chOff x="305118" y="4395153"/>
            <a:chExt cx="4266882" cy="1554281"/>
          </a:xfrm>
        </p:grpSpPr>
        <p:sp>
          <p:nvSpPr>
            <p:cNvPr id="9219" name="文本框 3"/>
            <p:cNvSpPr txBox="1"/>
            <p:nvPr/>
          </p:nvSpPr>
          <p:spPr>
            <a:xfrm>
              <a:off x="305118" y="4395153"/>
              <a:ext cx="3398520" cy="491644"/>
            </a:xfrm>
            <a:prstGeom prst="rect">
              <a:avLst/>
            </a:prstGeom>
            <a:noFill/>
            <a:ln w="9525">
              <a:noFill/>
            </a:ln>
          </p:spPr>
          <p:txBody>
            <a:bodyPr anchor="t" anchorCtr="0">
              <a:spAutoFit/>
            </a:bodyPr>
            <a:p>
              <a:pPr marL="104775">
                <a:lnSpc>
                  <a:spcPct val="130000"/>
                </a:lnSpc>
                <a:buClr>
                  <a:srgbClr val="10CF9B"/>
                </a:buClr>
              </a:pPr>
              <a:r>
                <a:rPr lang="zh-CN" altLang="en-US" sz="2000" b="1" dirty="0">
                  <a:latin typeface="微软雅黑" panose="020B0503020204020204" pitchFamily="34" charset="-122"/>
                  <a:ea typeface="微软雅黑" panose="020B0503020204020204" pitchFamily="34" charset="-122"/>
                </a:rPr>
                <a:t>阈值二值化</a:t>
              </a:r>
              <a:endParaRPr lang="en-US" altLang="zh-CN" sz="2000" b="1" dirty="0">
                <a:latin typeface="微软雅黑" panose="020B0503020204020204" pitchFamily="34" charset="-122"/>
                <a:ea typeface="微软雅黑" panose="020B0503020204020204" pitchFamily="34" charset="-122"/>
              </a:endParaRPr>
            </a:p>
          </p:txBody>
        </p:sp>
        <p:sp>
          <p:nvSpPr>
            <p:cNvPr id="9220" name="文本框 4"/>
            <p:cNvSpPr txBox="1"/>
            <p:nvPr/>
          </p:nvSpPr>
          <p:spPr>
            <a:xfrm>
              <a:off x="305118" y="4778762"/>
              <a:ext cx="4266882" cy="1170672"/>
            </a:xfrm>
            <a:prstGeom prst="rect">
              <a:avLst/>
            </a:prstGeom>
            <a:noFill/>
            <a:ln w="9525">
              <a:noFill/>
            </a:ln>
          </p:spPr>
          <p:txBody>
            <a:bodyPr anchor="t" anchorCtr="0">
              <a:spAutoFit/>
            </a:bodyPr>
            <a:p>
              <a:pPr marL="104775">
                <a:lnSpc>
                  <a:spcPct val="130000"/>
                </a:lnSpc>
                <a:buClr>
                  <a:srgbClr val="10CF9B"/>
                </a:buClr>
              </a:pPr>
              <a:r>
                <a:rPr lang="zh-CN" altLang="en-US" dirty="0">
                  <a:latin typeface="微软雅黑" panose="020B0503020204020204" pitchFamily="34" charset="-122"/>
                  <a:ea typeface="微软雅黑" panose="020B0503020204020204" pitchFamily="34" charset="-122"/>
                </a:rPr>
                <a:t>将整个图像只呈现出黑和白两种效果，能够从多个物体中减少噪声体现出目标物体</a:t>
              </a:r>
              <a:endParaRPr lang="zh-CN" altLang="en-US" dirty="0">
                <a:latin typeface="微软雅黑" panose="020B0503020204020204" pitchFamily="34" charset="-122"/>
                <a:ea typeface="微软雅黑" panose="020B0503020204020204" pitchFamily="34" charset="-122"/>
              </a:endParaRPr>
            </a:p>
          </p:txBody>
        </p:sp>
      </p:grpSp>
      <p:sp>
        <p:nvSpPr>
          <p:cNvPr id="7" name="椭圆 6"/>
          <p:cNvSpPr>
            <a:spLocks noChangeAspect="1"/>
          </p:cNvSpPr>
          <p:nvPr/>
        </p:nvSpPr>
        <p:spPr>
          <a:xfrm>
            <a:off x="4727575" y="1062038"/>
            <a:ext cx="1081088" cy="108108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9222" name="组合 27"/>
          <p:cNvGrpSpPr/>
          <p:nvPr/>
        </p:nvGrpSpPr>
        <p:grpSpPr>
          <a:xfrm>
            <a:off x="5808663" y="1023938"/>
            <a:ext cx="3117850" cy="1193800"/>
            <a:chOff x="5808360" y="908189"/>
            <a:chExt cx="3117927" cy="1194707"/>
          </a:xfrm>
        </p:grpSpPr>
        <p:sp>
          <p:nvSpPr>
            <p:cNvPr id="9223" name="文本框 21"/>
            <p:cNvSpPr txBox="1"/>
            <p:nvPr/>
          </p:nvSpPr>
          <p:spPr>
            <a:xfrm>
              <a:off x="5808360" y="908189"/>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图像的转化</a:t>
              </a:r>
              <a:endParaRPr lang="zh-CN" altLang="en-US" sz="2400" b="1" dirty="0">
                <a:latin typeface="微软雅黑" panose="020B0503020204020204" pitchFamily="34" charset="-122"/>
                <a:ea typeface="微软雅黑" panose="020B0503020204020204" pitchFamily="34" charset="-122"/>
              </a:endParaRPr>
            </a:p>
          </p:txBody>
        </p:sp>
        <p:sp>
          <p:nvSpPr>
            <p:cNvPr id="9224" name="文本框 22"/>
            <p:cNvSpPr txBox="1"/>
            <p:nvPr/>
          </p:nvSpPr>
          <p:spPr>
            <a:xfrm>
              <a:off x="5808361" y="1272852"/>
              <a:ext cx="3117926" cy="830044"/>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把图像转化为灰度图像！，对</a:t>
              </a:r>
              <a:r>
                <a:rPr lang="en-US" altLang="zh-CN" sz="1600" dirty="0">
                  <a:latin typeface="微软雅黑" panose="020B0503020204020204" pitchFamily="34" charset="-122"/>
                  <a:ea typeface="微软雅黑" panose="020B0503020204020204" pitchFamily="34" charset="-122"/>
                </a:rPr>
                <a:t>RGB</a:t>
              </a:r>
              <a:r>
                <a:rPr lang="zh-CN" altLang="en-US" sz="1600" dirty="0">
                  <a:latin typeface="微软雅黑" panose="020B0503020204020204" pitchFamily="34" charset="-122"/>
                  <a:ea typeface="微软雅黑" panose="020B0503020204020204" pitchFamily="34" charset="-122"/>
                </a:rPr>
                <a:t>空间取平均值，然后得到灰度图像</a:t>
              </a:r>
              <a:endParaRPr lang="zh-CN" altLang="en-US" sz="1600" dirty="0">
                <a:latin typeface="微软雅黑" panose="020B0503020204020204" pitchFamily="34" charset="-122"/>
                <a:ea typeface="微软雅黑" panose="020B0503020204020204" pitchFamily="34" charset="-122"/>
              </a:endParaRPr>
            </a:p>
          </p:txBody>
        </p:sp>
      </p:grpSp>
      <p:sp>
        <p:nvSpPr>
          <p:cNvPr id="9225" name="Freeform 48"/>
          <p:cNvSpPr>
            <a:spLocks noChangeAspect="1" noEditPoints="1"/>
          </p:cNvSpPr>
          <p:nvPr/>
        </p:nvSpPr>
        <p:spPr>
          <a:xfrm>
            <a:off x="4999038" y="1333500"/>
            <a:ext cx="539750" cy="5397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6" h="96">
                <a:moveTo>
                  <a:pt x="92" y="41"/>
                </a:moveTo>
                <a:cubicBezTo>
                  <a:pt x="88" y="41"/>
                  <a:pt x="88" y="41"/>
                  <a:pt x="88" y="41"/>
                </a:cubicBezTo>
                <a:cubicBezTo>
                  <a:pt x="86" y="41"/>
                  <a:pt x="84" y="39"/>
                  <a:pt x="83" y="37"/>
                </a:cubicBezTo>
                <a:cubicBezTo>
                  <a:pt x="81" y="31"/>
                  <a:pt x="81" y="31"/>
                  <a:pt x="81" y="31"/>
                </a:cubicBezTo>
                <a:cubicBezTo>
                  <a:pt x="80" y="29"/>
                  <a:pt x="80" y="26"/>
                  <a:pt x="81" y="25"/>
                </a:cubicBezTo>
                <a:cubicBezTo>
                  <a:pt x="85" y="22"/>
                  <a:pt x="85" y="22"/>
                  <a:pt x="85" y="22"/>
                </a:cubicBezTo>
                <a:cubicBezTo>
                  <a:pt x="86" y="20"/>
                  <a:pt x="86" y="18"/>
                  <a:pt x="85" y="17"/>
                </a:cubicBezTo>
                <a:cubicBezTo>
                  <a:pt x="79" y="11"/>
                  <a:pt x="79" y="11"/>
                  <a:pt x="79" y="11"/>
                </a:cubicBezTo>
                <a:cubicBezTo>
                  <a:pt x="78" y="10"/>
                  <a:pt x="76" y="10"/>
                  <a:pt x="74" y="11"/>
                </a:cubicBezTo>
                <a:cubicBezTo>
                  <a:pt x="71" y="15"/>
                  <a:pt x="71" y="15"/>
                  <a:pt x="71" y="15"/>
                </a:cubicBezTo>
                <a:cubicBezTo>
                  <a:pt x="70" y="16"/>
                  <a:pt x="67" y="16"/>
                  <a:pt x="65" y="15"/>
                </a:cubicBezTo>
                <a:cubicBezTo>
                  <a:pt x="59" y="13"/>
                  <a:pt x="59" y="13"/>
                  <a:pt x="59" y="13"/>
                </a:cubicBezTo>
                <a:cubicBezTo>
                  <a:pt x="57" y="12"/>
                  <a:pt x="55" y="10"/>
                  <a:pt x="55" y="8"/>
                </a:cubicBezTo>
                <a:cubicBezTo>
                  <a:pt x="55" y="4"/>
                  <a:pt x="55" y="4"/>
                  <a:pt x="55" y="4"/>
                </a:cubicBezTo>
                <a:cubicBezTo>
                  <a:pt x="55" y="2"/>
                  <a:pt x="54" y="0"/>
                  <a:pt x="52" y="0"/>
                </a:cubicBezTo>
                <a:cubicBezTo>
                  <a:pt x="44" y="0"/>
                  <a:pt x="44" y="0"/>
                  <a:pt x="44" y="0"/>
                </a:cubicBezTo>
                <a:cubicBezTo>
                  <a:pt x="42" y="0"/>
                  <a:pt x="41" y="2"/>
                  <a:pt x="41" y="4"/>
                </a:cubicBezTo>
                <a:cubicBezTo>
                  <a:pt x="41" y="8"/>
                  <a:pt x="41" y="8"/>
                  <a:pt x="41" y="8"/>
                </a:cubicBezTo>
                <a:cubicBezTo>
                  <a:pt x="41" y="10"/>
                  <a:pt x="39" y="12"/>
                  <a:pt x="37" y="13"/>
                </a:cubicBezTo>
                <a:cubicBezTo>
                  <a:pt x="31" y="15"/>
                  <a:pt x="31" y="15"/>
                  <a:pt x="31" y="15"/>
                </a:cubicBezTo>
                <a:cubicBezTo>
                  <a:pt x="29" y="16"/>
                  <a:pt x="26" y="16"/>
                  <a:pt x="25" y="15"/>
                </a:cubicBezTo>
                <a:cubicBezTo>
                  <a:pt x="22" y="11"/>
                  <a:pt x="22" y="11"/>
                  <a:pt x="22" y="11"/>
                </a:cubicBezTo>
                <a:cubicBezTo>
                  <a:pt x="20" y="10"/>
                  <a:pt x="18" y="10"/>
                  <a:pt x="17" y="11"/>
                </a:cubicBezTo>
                <a:cubicBezTo>
                  <a:pt x="11" y="17"/>
                  <a:pt x="11" y="17"/>
                  <a:pt x="11" y="17"/>
                </a:cubicBezTo>
                <a:cubicBezTo>
                  <a:pt x="10" y="18"/>
                  <a:pt x="10" y="20"/>
                  <a:pt x="11" y="22"/>
                </a:cubicBezTo>
                <a:cubicBezTo>
                  <a:pt x="15" y="25"/>
                  <a:pt x="15" y="25"/>
                  <a:pt x="15" y="25"/>
                </a:cubicBezTo>
                <a:cubicBezTo>
                  <a:pt x="16" y="26"/>
                  <a:pt x="16" y="29"/>
                  <a:pt x="15" y="31"/>
                </a:cubicBezTo>
                <a:cubicBezTo>
                  <a:pt x="13" y="37"/>
                  <a:pt x="13" y="37"/>
                  <a:pt x="13" y="37"/>
                </a:cubicBezTo>
                <a:cubicBezTo>
                  <a:pt x="12" y="39"/>
                  <a:pt x="10" y="41"/>
                  <a:pt x="8" y="41"/>
                </a:cubicBezTo>
                <a:cubicBezTo>
                  <a:pt x="4" y="41"/>
                  <a:pt x="4" y="41"/>
                  <a:pt x="4" y="41"/>
                </a:cubicBezTo>
                <a:cubicBezTo>
                  <a:pt x="2" y="41"/>
                  <a:pt x="0" y="42"/>
                  <a:pt x="0" y="44"/>
                </a:cubicBezTo>
                <a:cubicBezTo>
                  <a:pt x="0" y="52"/>
                  <a:pt x="0" y="52"/>
                  <a:pt x="0" y="52"/>
                </a:cubicBezTo>
                <a:cubicBezTo>
                  <a:pt x="0" y="54"/>
                  <a:pt x="2" y="55"/>
                  <a:pt x="4" y="55"/>
                </a:cubicBezTo>
                <a:cubicBezTo>
                  <a:pt x="8" y="55"/>
                  <a:pt x="8" y="55"/>
                  <a:pt x="8" y="55"/>
                </a:cubicBezTo>
                <a:cubicBezTo>
                  <a:pt x="10" y="55"/>
                  <a:pt x="12" y="57"/>
                  <a:pt x="13" y="59"/>
                </a:cubicBezTo>
                <a:cubicBezTo>
                  <a:pt x="15" y="65"/>
                  <a:pt x="15" y="65"/>
                  <a:pt x="15" y="65"/>
                </a:cubicBezTo>
                <a:cubicBezTo>
                  <a:pt x="16" y="67"/>
                  <a:pt x="16" y="70"/>
                  <a:pt x="15" y="71"/>
                </a:cubicBezTo>
                <a:cubicBezTo>
                  <a:pt x="11" y="74"/>
                  <a:pt x="11" y="74"/>
                  <a:pt x="11" y="74"/>
                </a:cubicBezTo>
                <a:cubicBezTo>
                  <a:pt x="10" y="76"/>
                  <a:pt x="10" y="78"/>
                  <a:pt x="11" y="79"/>
                </a:cubicBezTo>
                <a:cubicBezTo>
                  <a:pt x="17" y="85"/>
                  <a:pt x="17" y="85"/>
                  <a:pt x="17" y="85"/>
                </a:cubicBezTo>
                <a:cubicBezTo>
                  <a:pt x="18" y="86"/>
                  <a:pt x="20" y="86"/>
                  <a:pt x="22" y="85"/>
                </a:cubicBezTo>
                <a:cubicBezTo>
                  <a:pt x="25" y="81"/>
                  <a:pt x="25" y="81"/>
                  <a:pt x="25" y="81"/>
                </a:cubicBezTo>
                <a:cubicBezTo>
                  <a:pt x="26" y="80"/>
                  <a:pt x="29" y="80"/>
                  <a:pt x="31" y="81"/>
                </a:cubicBezTo>
                <a:cubicBezTo>
                  <a:pt x="37" y="83"/>
                  <a:pt x="37" y="83"/>
                  <a:pt x="37" y="83"/>
                </a:cubicBezTo>
                <a:cubicBezTo>
                  <a:pt x="39" y="84"/>
                  <a:pt x="41" y="86"/>
                  <a:pt x="41" y="88"/>
                </a:cubicBezTo>
                <a:cubicBezTo>
                  <a:pt x="41" y="92"/>
                  <a:pt x="41" y="92"/>
                  <a:pt x="41" y="92"/>
                </a:cubicBezTo>
                <a:cubicBezTo>
                  <a:pt x="41" y="94"/>
                  <a:pt x="42" y="96"/>
                  <a:pt x="44" y="96"/>
                </a:cubicBezTo>
                <a:cubicBezTo>
                  <a:pt x="52" y="96"/>
                  <a:pt x="52" y="96"/>
                  <a:pt x="52" y="96"/>
                </a:cubicBezTo>
                <a:cubicBezTo>
                  <a:pt x="54" y="96"/>
                  <a:pt x="55" y="94"/>
                  <a:pt x="55" y="92"/>
                </a:cubicBezTo>
                <a:cubicBezTo>
                  <a:pt x="55" y="88"/>
                  <a:pt x="55" y="88"/>
                  <a:pt x="55" y="88"/>
                </a:cubicBezTo>
                <a:cubicBezTo>
                  <a:pt x="55" y="86"/>
                  <a:pt x="57" y="84"/>
                  <a:pt x="59" y="83"/>
                </a:cubicBezTo>
                <a:cubicBezTo>
                  <a:pt x="65" y="81"/>
                  <a:pt x="65" y="81"/>
                  <a:pt x="65" y="81"/>
                </a:cubicBezTo>
                <a:cubicBezTo>
                  <a:pt x="67" y="80"/>
                  <a:pt x="70" y="80"/>
                  <a:pt x="71" y="81"/>
                </a:cubicBezTo>
                <a:cubicBezTo>
                  <a:pt x="74" y="85"/>
                  <a:pt x="74" y="85"/>
                  <a:pt x="74" y="85"/>
                </a:cubicBezTo>
                <a:cubicBezTo>
                  <a:pt x="76" y="86"/>
                  <a:pt x="78" y="86"/>
                  <a:pt x="79" y="85"/>
                </a:cubicBezTo>
                <a:cubicBezTo>
                  <a:pt x="85" y="79"/>
                  <a:pt x="85" y="79"/>
                  <a:pt x="85" y="79"/>
                </a:cubicBezTo>
                <a:cubicBezTo>
                  <a:pt x="86" y="78"/>
                  <a:pt x="86" y="76"/>
                  <a:pt x="85" y="74"/>
                </a:cubicBezTo>
                <a:cubicBezTo>
                  <a:pt x="81" y="71"/>
                  <a:pt x="81" y="71"/>
                  <a:pt x="81" y="71"/>
                </a:cubicBezTo>
                <a:cubicBezTo>
                  <a:pt x="80" y="70"/>
                  <a:pt x="80" y="67"/>
                  <a:pt x="81" y="65"/>
                </a:cubicBezTo>
                <a:cubicBezTo>
                  <a:pt x="83" y="59"/>
                  <a:pt x="83" y="59"/>
                  <a:pt x="83" y="59"/>
                </a:cubicBezTo>
                <a:cubicBezTo>
                  <a:pt x="84" y="57"/>
                  <a:pt x="86" y="55"/>
                  <a:pt x="88" y="55"/>
                </a:cubicBezTo>
                <a:cubicBezTo>
                  <a:pt x="92" y="55"/>
                  <a:pt x="92" y="55"/>
                  <a:pt x="92" y="55"/>
                </a:cubicBezTo>
                <a:cubicBezTo>
                  <a:pt x="94" y="55"/>
                  <a:pt x="96" y="54"/>
                  <a:pt x="96" y="52"/>
                </a:cubicBezTo>
                <a:cubicBezTo>
                  <a:pt x="96" y="44"/>
                  <a:pt x="96" y="44"/>
                  <a:pt x="96" y="44"/>
                </a:cubicBezTo>
                <a:cubicBezTo>
                  <a:pt x="96" y="42"/>
                  <a:pt x="94" y="41"/>
                  <a:pt x="92" y="41"/>
                </a:cubicBezTo>
                <a:close/>
                <a:moveTo>
                  <a:pt x="66" y="48"/>
                </a:moveTo>
                <a:cubicBezTo>
                  <a:pt x="66" y="58"/>
                  <a:pt x="58" y="66"/>
                  <a:pt x="48" y="66"/>
                </a:cubicBezTo>
                <a:cubicBezTo>
                  <a:pt x="38" y="66"/>
                  <a:pt x="30" y="58"/>
                  <a:pt x="30" y="48"/>
                </a:cubicBezTo>
                <a:cubicBezTo>
                  <a:pt x="30" y="38"/>
                  <a:pt x="38" y="30"/>
                  <a:pt x="48" y="30"/>
                </a:cubicBezTo>
                <a:cubicBezTo>
                  <a:pt x="58" y="30"/>
                  <a:pt x="66" y="38"/>
                  <a:pt x="66" y="48"/>
                </a:cubicBezTo>
                <a:close/>
              </a:path>
            </a:pathLst>
          </a:custGeom>
          <a:solidFill>
            <a:schemeClr val="bg1"/>
          </a:solidFill>
          <a:ln w="9525">
            <a:noFill/>
          </a:ln>
        </p:spPr>
        <p:txBody>
          <a:bodyPr/>
          <a:p>
            <a:endParaRPr lang="zh-CN" altLang="en-US"/>
          </a:p>
        </p:txBody>
      </p:sp>
      <p:grpSp>
        <p:nvGrpSpPr>
          <p:cNvPr id="9226" name="组合 31"/>
          <p:cNvGrpSpPr/>
          <p:nvPr/>
        </p:nvGrpSpPr>
        <p:grpSpPr>
          <a:xfrm>
            <a:off x="4727575" y="4217988"/>
            <a:ext cx="1081088" cy="1079500"/>
            <a:chOff x="4728360" y="2784242"/>
            <a:chExt cx="1080000" cy="1080000"/>
          </a:xfrm>
        </p:grpSpPr>
        <p:sp>
          <p:nvSpPr>
            <p:cNvPr id="8" name="椭圆 7"/>
            <p:cNvSpPr>
              <a:spLocks noChangeAspect="1"/>
            </p:cNvSpPr>
            <p:nvPr/>
          </p:nvSpPr>
          <p:spPr>
            <a:xfrm>
              <a:off x="4728360" y="2784242"/>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228" name="Freeform 680"/>
            <p:cNvSpPr>
              <a:spLocks noChangeAspect="1" noEditPoints="1"/>
            </p:cNvSpPr>
            <p:nvPr/>
          </p:nvSpPr>
          <p:spPr>
            <a:xfrm>
              <a:off x="4998360" y="3050467"/>
              <a:ext cx="540000" cy="547551"/>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1" h="72">
                  <a:moveTo>
                    <a:pt x="32" y="17"/>
                  </a:moveTo>
                  <a:cubicBezTo>
                    <a:pt x="31" y="14"/>
                    <a:pt x="29" y="12"/>
                    <a:pt x="26" y="11"/>
                  </a:cubicBezTo>
                  <a:cubicBezTo>
                    <a:pt x="23" y="10"/>
                    <a:pt x="20" y="9"/>
                    <a:pt x="17" y="11"/>
                  </a:cubicBezTo>
                  <a:cubicBezTo>
                    <a:pt x="14" y="12"/>
                    <a:pt x="12" y="14"/>
                    <a:pt x="11" y="17"/>
                  </a:cubicBezTo>
                  <a:cubicBezTo>
                    <a:pt x="9" y="19"/>
                    <a:pt x="9" y="23"/>
                    <a:pt x="10" y="25"/>
                  </a:cubicBezTo>
                  <a:cubicBezTo>
                    <a:pt x="11" y="28"/>
                    <a:pt x="13" y="30"/>
                    <a:pt x="16" y="32"/>
                  </a:cubicBezTo>
                  <a:cubicBezTo>
                    <a:pt x="19" y="33"/>
                    <a:pt x="22" y="33"/>
                    <a:pt x="25" y="32"/>
                  </a:cubicBezTo>
                  <a:cubicBezTo>
                    <a:pt x="28" y="31"/>
                    <a:pt x="30" y="29"/>
                    <a:pt x="32" y="26"/>
                  </a:cubicBezTo>
                  <a:cubicBezTo>
                    <a:pt x="33" y="23"/>
                    <a:pt x="33" y="20"/>
                    <a:pt x="32" y="17"/>
                  </a:cubicBezTo>
                  <a:close/>
                  <a:moveTo>
                    <a:pt x="31" y="7"/>
                  </a:moveTo>
                  <a:cubicBezTo>
                    <a:pt x="32" y="7"/>
                    <a:pt x="33" y="8"/>
                    <a:pt x="33" y="9"/>
                  </a:cubicBezTo>
                  <a:cubicBezTo>
                    <a:pt x="36" y="7"/>
                    <a:pt x="36" y="7"/>
                    <a:pt x="36" y="7"/>
                  </a:cubicBezTo>
                  <a:cubicBezTo>
                    <a:pt x="38" y="8"/>
                    <a:pt x="39" y="10"/>
                    <a:pt x="39" y="11"/>
                  </a:cubicBezTo>
                  <a:cubicBezTo>
                    <a:pt x="37" y="14"/>
                    <a:pt x="37" y="14"/>
                    <a:pt x="37" y="14"/>
                  </a:cubicBezTo>
                  <a:cubicBezTo>
                    <a:pt x="37" y="14"/>
                    <a:pt x="37" y="15"/>
                    <a:pt x="37" y="15"/>
                  </a:cubicBezTo>
                  <a:cubicBezTo>
                    <a:pt x="38" y="16"/>
                    <a:pt x="38" y="16"/>
                    <a:pt x="38" y="17"/>
                  </a:cubicBezTo>
                  <a:cubicBezTo>
                    <a:pt x="41" y="17"/>
                    <a:pt x="41" y="17"/>
                    <a:pt x="41" y="17"/>
                  </a:cubicBezTo>
                  <a:cubicBezTo>
                    <a:pt x="42" y="19"/>
                    <a:pt x="42" y="20"/>
                    <a:pt x="42" y="22"/>
                  </a:cubicBezTo>
                  <a:cubicBezTo>
                    <a:pt x="38" y="22"/>
                    <a:pt x="38" y="22"/>
                    <a:pt x="38" y="22"/>
                  </a:cubicBezTo>
                  <a:cubicBezTo>
                    <a:pt x="38" y="24"/>
                    <a:pt x="38" y="25"/>
                    <a:pt x="38" y="26"/>
                  </a:cubicBezTo>
                  <a:cubicBezTo>
                    <a:pt x="41" y="28"/>
                    <a:pt x="41" y="28"/>
                    <a:pt x="41" y="28"/>
                  </a:cubicBezTo>
                  <a:cubicBezTo>
                    <a:pt x="41" y="29"/>
                    <a:pt x="40" y="31"/>
                    <a:pt x="39" y="32"/>
                  </a:cubicBezTo>
                  <a:cubicBezTo>
                    <a:pt x="36" y="31"/>
                    <a:pt x="36" y="31"/>
                    <a:pt x="36" y="31"/>
                  </a:cubicBezTo>
                  <a:cubicBezTo>
                    <a:pt x="35" y="32"/>
                    <a:pt x="34" y="33"/>
                    <a:pt x="33" y="34"/>
                  </a:cubicBezTo>
                  <a:cubicBezTo>
                    <a:pt x="35" y="37"/>
                    <a:pt x="35" y="37"/>
                    <a:pt x="35" y="37"/>
                  </a:cubicBezTo>
                  <a:cubicBezTo>
                    <a:pt x="34" y="38"/>
                    <a:pt x="33" y="39"/>
                    <a:pt x="31" y="40"/>
                  </a:cubicBezTo>
                  <a:cubicBezTo>
                    <a:pt x="29" y="37"/>
                    <a:pt x="29" y="37"/>
                    <a:pt x="29" y="37"/>
                  </a:cubicBezTo>
                  <a:cubicBezTo>
                    <a:pt x="28" y="37"/>
                    <a:pt x="28" y="37"/>
                    <a:pt x="27" y="38"/>
                  </a:cubicBezTo>
                  <a:cubicBezTo>
                    <a:pt x="27" y="38"/>
                    <a:pt x="26" y="38"/>
                    <a:pt x="26" y="38"/>
                  </a:cubicBezTo>
                  <a:cubicBezTo>
                    <a:pt x="26" y="42"/>
                    <a:pt x="26" y="42"/>
                    <a:pt x="26" y="42"/>
                  </a:cubicBezTo>
                  <a:cubicBezTo>
                    <a:pt x="24" y="42"/>
                    <a:pt x="22" y="42"/>
                    <a:pt x="21" y="42"/>
                  </a:cubicBezTo>
                  <a:cubicBezTo>
                    <a:pt x="20" y="39"/>
                    <a:pt x="20" y="39"/>
                    <a:pt x="20" y="39"/>
                  </a:cubicBezTo>
                  <a:cubicBezTo>
                    <a:pt x="19" y="39"/>
                    <a:pt x="18" y="38"/>
                    <a:pt x="17" y="38"/>
                  </a:cubicBezTo>
                  <a:cubicBezTo>
                    <a:pt x="15" y="41"/>
                    <a:pt x="15" y="41"/>
                    <a:pt x="15" y="41"/>
                  </a:cubicBezTo>
                  <a:cubicBezTo>
                    <a:pt x="13" y="41"/>
                    <a:pt x="11" y="40"/>
                    <a:pt x="10" y="39"/>
                  </a:cubicBezTo>
                  <a:cubicBezTo>
                    <a:pt x="11" y="36"/>
                    <a:pt x="11" y="36"/>
                    <a:pt x="11" y="36"/>
                  </a:cubicBezTo>
                  <a:cubicBezTo>
                    <a:pt x="10" y="35"/>
                    <a:pt x="10" y="34"/>
                    <a:pt x="9" y="34"/>
                  </a:cubicBezTo>
                  <a:cubicBezTo>
                    <a:pt x="6" y="35"/>
                    <a:pt x="6" y="35"/>
                    <a:pt x="6" y="35"/>
                  </a:cubicBezTo>
                  <a:cubicBezTo>
                    <a:pt x="4" y="34"/>
                    <a:pt x="3" y="33"/>
                    <a:pt x="3" y="31"/>
                  </a:cubicBezTo>
                  <a:cubicBezTo>
                    <a:pt x="5" y="29"/>
                    <a:pt x="5" y="29"/>
                    <a:pt x="5" y="29"/>
                  </a:cubicBezTo>
                  <a:cubicBezTo>
                    <a:pt x="5" y="28"/>
                    <a:pt x="5" y="28"/>
                    <a:pt x="5" y="27"/>
                  </a:cubicBezTo>
                  <a:cubicBezTo>
                    <a:pt x="5" y="27"/>
                    <a:pt x="4" y="26"/>
                    <a:pt x="4" y="26"/>
                  </a:cubicBezTo>
                  <a:cubicBezTo>
                    <a:pt x="1" y="26"/>
                    <a:pt x="1" y="26"/>
                    <a:pt x="1" y="26"/>
                  </a:cubicBezTo>
                  <a:cubicBezTo>
                    <a:pt x="0" y="24"/>
                    <a:pt x="0" y="22"/>
                    <a:pt x="0" y="21"/>
                  </a:cubicBezTo>
                  <a:cubicBezTo>
                    <a:pt x="4" y="20"/>
                    <a:pt x="4" y="20"/>
                    <a:pt x="4" y="20"/>
                  </a:cubicBezTo>
                  <a:cubicBezTo>
                    <a:pt x="4" y="19"/>
                    <a:pt x="4" y="18"/>
                    <a:pt x="4" y="17"/>
                  </a:cubicBezTo>
                  <a:cubicBezTo>
                    <a:pt x="1" y="15"/>
                    <a:pt x="1" y="15"/>
                    <a:pt x="1" y="15"/>
                  </a:cubicBezTo>
                  <a:cubicBezTo>
                    <a:pt x="2" y="13"/>
                    <a:pt x="2" y="12"/>
                    <a:pt x="3" y="10"/>
                  </a:cubicBezTo>
                  <a:cubicBezTo>
                    <a:pt x="7" y="12"/>
                    <a:pt x="7" y="12"/>
                    <a:pt x="7" y="12"/>
                  </a:cubicBezTo>
                  <a:cubicBezTo>
                    <a:pt x="7" y="11"/>
                    <a:pt x="8" y="10"/>
                    <a:pt x="9" y="9"/>
                  </a:cubicBezTo>
                  <a:cubicBezTo>
                    <a:pt x="7" y="6"/>
                    <a:pt x="7" y="6"/>
                    <a:pt x="7" y="6"/>
                  </a:cubicBezTo>
                  <a:cubicBezTo>
                    <a:pt x="8" y="5"/>
                    <a:pt x="10" y="4"/>
                    <a:pt x="11" y="3"/>
                  </a:cubicBezTo>
                  <a:cubicBezTo>
                    <a:pt x="13" y="6"/>
                    <a:pt x="13" y="6"/>
                    <a:pt x="13" y="6"/>
                  </a:cubicBezTo>
                  <a:cubicBezTo>
                    <a:pt x="14" y="5"/>
                    <a:pt x="14" y="5"/>
                    <a:pt x="15" y="5"/>
                  </a:cubicBezTo>
                  <a:cubicBezTo>
                    <a:pt x="16" y="5"/>
                    <a:pt x="16" y="5"/>
                    <a:pt x="17" y="4"/>
                  </a:cubicBezTo>
                  <a:cubicBezTo>
                    <a:pt x="17" y="1"/>
                    <a:pt x="17" y="1"/>
                    <a:pt x="17" y="1"/>
                  </a:cubicBezTo>
                  <a:cubicBezTo>
                    <a:pt x="18" y="0"/>
                    <a:pt x="20" y="0"/>
                    <a:pt x="22" y="1"/>
                  </a:cubicBezTo>
                  <a:cubicBezTo>
                    <a:pt x="22" y="4"/>
                    <a:pt x="22" y="4"/>
                    <a:pt x="22" y="4"/>
                  </a:cubicBezTo>
                  <a:cubicBezTo>
                    <a:pt x="23" y="4"/>
                    <a:pt x="25" y="4"/>
                    <a:pt x="26" y="4"/>
                  </a:cubicBezTo>
                  <a:cubicBezTo>
                    <a:pt x="27" y="2"/>
                    <a:pt x="27" y="2"/>
                    <a:pt x="27" y="2"/>
                  </a:cubicBezTo>
                  <a:cubicBezTo>
                    <a:pt x="29" y="2"/>
                    <a:pt x="31" y="3"/>
                    <a:pt x="32" y="4"/>
                  </a:cubicBezTo>
                  <a:cubicBezTo>
                    <a:pt x="31" y="7"/>
                    <a:pt x="31" y="7"/>
                    <a:pt x="31" y="7"/>
                  </a:cubicBezTo>
                  <a:close/>
                  <a:moveTo>
                    <a:pt x="60" y="47"/>
                  </a:moveTo>
                  <a:cubicBezTo>
                    <a:pt x="59" y="44"/>
                    <a:pt x="57" y="42"/>
                    <a:pt x="54" y="41"/>
                  </a:cubicBezTo>
                  <a:cubicBezTo>
                    <a:pt x="51" y="39"/>
                    <a:pt x="48" y="39"/>
                    <a:pt x="45" y="40"/>
                  </a:cubicBezTo>
                  <a:cubicBezTo>
                    <a:pt x="43" y="41"/>
                    <a:pt x="40" y="44"/>
                    <a:pt x="39" y="46"/>
                  </a:cubicBezTo>
                  <a:cubicBezTo>
                    <a:pt x="38" y="49"/>
                    <a:pt x="38" y="52"/>
                    <a:pt x="39" y="55"/>
                  </a:cubicBezTo>
                  <a:cubicBezTo>
                    <a:pt x="40" y="58"/>
                    <a:pt x="42" y="60"/>
                    <a:pt x="45" y="62"/>
                  </a:cubicBezTo>
                  <a:cubicBezTo>
                    <a:pt x="48" y="63"/>
                    <a:pt x="51" y="63"/>
                    <a:pt x="54" y="62"/>
                  </a:cubicBezTo>
                  <a:cubicBezTo>
                    <a:pt x="56" y="61"/>
                    <a:pt x="59" y="59"/>
                    <a:pt x="60" y="56"/>
                  </a:cubicBezTo>
                  <a:cubicBezTo>
                    <a:pt x="61" y="53"/>
                    <a:pt x="61" y="50"/>
                    <a:pt x="60" y="47"/>
                  </a:cubicBezTo>
                  <a:close/>
                  <a:moveTo>
                    <a:pt x="59" y="37"/>
                  </a:moveTo>
                  <a:cubicBezTo>
                    <a:pt x="60" y="37"/>
                    <a:pt x="61" y="38"/>
                    <a:pt x="62" y="39"/>
                  </a:cubicBezTo>
                  <a:cubicBezTo>
                    <a:pt x="65" y="37"/>
                    <a:pt x="65" y="37"/>
                    <a:pt x="65" y="37"/>
                  </a:cubicBezTo>
                  <a:cubicBezTo>
                    <a:pt x="66" y="38"/>
                    <a:pt x="67" y="40"/>
                    <a:pt x="68" y="41"/>
                  </a:cubicBezTo>
                  <a:cubicBezTo>
                    <a:pt x="65" y="44"/>
                    <a:pt x="65" y="44"/>
                    <a:pt x="65" y="44"/>
                  </a:cubicBezTo>
                  <a:cubicBezTo>
                    <a:pt x="65" y="44"/>
                    <a:pt x="66" y="45"/>
                    <a:pt x="66" y="45"/>
                  </a:cubicBezTo>
                  <a:cubicBezTo>
                    <a:pt x="66" y="46"/>
                    <a:pt x="66" y="46"/>
                    <a:pt x="66" y="47"/>
                  </a:cubicBezTo>
                  <a:cubicBezTo>
                    <a:pt x="70" y="47"/>
                    <a:pt x="70" y="47"/>
                    <a:pt x="70" y="47"/>
                  </a:cubicBezTo>
                  <a:cubicBezTo>
                    <a:pt x="70" y="48"/>
                    <a:pt x="71" y="50"/>
                    <a:pt x="70" y="52"/>
                  </a:cubicBezTo>
                  <a:cubicBezTo>
                    <a:pt x="67" y="52"/>
                    <a:pt x="67" y="52"/>
                    <a:pt x="67" y="52"/>
                  </a:cubicBezTo>
                  <a:cubicBezTo>
                    <a:pt x="67" y="53"/>
                    <a:pt x="67" y="55"/>
                    <a:pt x="66" y="56"/>
                  </a:cubicBezTo>
                  <a:cubicBezTo>
                    <a:pt x="69" y="57"/>
                    <a:pt x="69" y="57"/>
                    <a:pt x="69" y="57"/>
                  </a:cubicBezTo>
                  <a:cubicBezTo>
                    <a:pt x="69" y="59"/>
                    <a:pt x="68" y="61"/>
                    <a:pt x="67" y="62"/>
                  </a:cubicBezTo>
                  <a:cubicBezTo>
                    <a:pt x="64" y="61"/>
                    <a:pt x="64" y="61"/>
                    <a:pt x="64" y="61"/>
                  </a:cubicBezTo>
                  <a:cubicBezTo>
                    <a:pt x="63" y="62"/>
                    <a:pt x="63" y="63"/>
                    <a:pt x="62" y="63"/>
                  </a:cubicBezTo>
                  <a:cubicBezTo>
                    <a:pt x="63" y="66"/>
                    <a:pt x="63" y="66"/>
                    <a:pt x="63" y="66"/>
                  </a:cubicBezTo>
                  <a:cubicBezTo>
                    <a:pt x="62" y="68"/>
                    <a:pt x="61" y="69"/>
                    <a:pt x="59" y="69"/>
                  </a:cubicBezTo>
                  <a:cubicBezTo>
                    <a:pt x="57" y="67"/>
                    <a:pt x="57" y="67"/>
                    <a:pt x="57" y="67"/>
                  </a:cubicBezTo>
                  <a:cubicBezTo>
                    <a:pt x="57" y="67"/>
                    <a:pt x="56" y="67"/>
                    <a:pt x="56" y="67"/>
                  </a:cubicBezTo>
                  <a:cubicBezTo>
                    <a:pt x="55" y="68"/>
                    <a:pt x="55" y="68"/>
                    <a:pt x="54" y="68"/>
                  </a:cubicBezTo>
                  <a:cubicBezTo>
                    <a:pt x="54" y="71"/>
                    <a:pt x="54" y="71"/>
                    <a:pt x="54" y="71"/>
                  </a:cubicBezTo>
                  <a:cubicBezTo>
                    <a:pt x="52" y="72"/>
                    <a:pt x="51" y="72"/>
                    <a:pt x="49" y="72"/>
                  </a:cubicBezTo>
                  <a:cubicBezTo>
                    <a:pt x="48" y="69"/>
                    <a:pt x="48" y="69"/>
                    <a:pt x="48" y="69"/>
                  </a:cubicBezTo>
                  <a:cubicBezTo>
                    <a:pt x="47" y="68"/>
                    <a:pt x="46" y="68"/>
                    <a:pt x="45" y="68"/>
                  </a:cubicBezTo>
                  <a:cubicBezTo>
                    <a:pt x="43" y="71"/>
                    <a:pt x="43" y="71"/>
                    <a:pt x="43" y="71"/>
                  </a:cubicBezTo>
                  <a:cubicBezTo>
                    <a:pt x="41" y="71"/>
                    <a:pt x="40" y="70"/>
                    <a:pt x="39" y="69"/>
                  </a:cubicBezTo>
                  <a:cubicBezTo>
                    <a:pt x="40" y="66"/>
                    <a:pt x="40" y="66"/>
                    <a:pt x="40" y="66"/>
                  </a:cubicBezTo>
                  <a:cubicBezTo>
                    <a:pt x="39" y="65"/>
                    <a:pt x="38" y="64"/>
                    <a:pt x="37" y="63"/>
                  </a:cubicBezTo>
                  <a:cubicBezTo>
                    <a:pt x="34" y="65"/>
                    <a:pt x="34" y="65"/>
                    <a:pt x="34" y="65"/>
                  </a:cubicBezTo>
                  <a:cubicBezTo>
                    <a:pt x="33" y="64"/>
                    <a:pt x="32" y="63"/>
                    <a:pt x="31" y="61"/>
                  </a:cubicBezTo>
                  <a:cubicBezTo>
                    <a:pt x="34" y="59"/>
                    <a:pt x="34" y="59"/>
                    <a:pt x="34" y="59"/>
                  </a:cubicBezTo>
                  <a:cubicBezTo>
                    <a:pt x="34" y="58"/>
                    <a:pt x="33" y="58"/>
                    <a:pt x="33" y="57"/>
                  </a:cubicBezTo>
                  <a:cubicBezTo>
                    <a:pt x="33" y="57"/>
                    <a:pt x="33" y="56"/>
                    <a:pt x="33" y="56"/>
                  </a:cubicBezTo>
                  <a:cubicBezTo>
                    <a:pt x="29" y="56"/>
                    <a:pt x="29" y="56"/>
                    <a:pt x="29" y="56"/>
                  </a:cubicBezTo>
                  <a:cubicBezTo>
                    <a:pt x="29" y="54"/>
                    <a:pt x="28" y="52"/>
                    <a:pt x="29" y="51"/>
                  </a:cubicBezTo>
                  <a:cubicBezTo>
                    <a:pt x="32" y="50"/>
                    <a:pt x="32" y="50"/>
                    <a:pt x="32" y="50"/>
                  </a:cubicBezTo>
                  <a:cubicBezTo>
                    <a:pt x="32" y="49"/>
                    <a:pt x="32" y="48"/>
                    <a:pt x="33" y="47"/>
                  </a:cubicBezTo>
                  <a:cubicBezTo>
                    <a:pt x="30" y="45"/>
                    <a:pt x="30" y="45"/>
                    <a:pt x="30" y="45"/>
                  </a:cubicBezTo>
                  <a:cubicBezTo>
                    <a:pt x="30" y="43"/>
                    <a:pt x="31" y="42"/>
                    <a:pt x="32" y="40"/>
                  </a:cubicBezTo>
                  <a:cubicBezTo>
                    <a:pt x="35" y="41"/>
                    <a:pt x="35" y="41"/>
                    <a:pt x="35" y="41"/>
                  </a:cubicBezTo>
                  <a:cubicBezTo>
                    <a:pt x="36" y="40"/>
                    <a:pt x="36" y="40"/>
                    <a:pt x="37" y="39"/>
                  </a:cubicBezTo>
                  <a:cubicBezTo>
                    <a:pt x="36" y="36"/>
                    <a:pt x="36" y="36"/>
                    <a:pt x="36" y="36"/>
                  </a:cubicBezTo>
                  <a:cubicBezTo>
                    <a:pt x="37" y="34"/>
                    <a:pt x="38" y="33"/>
                    <a:pt x="40" y="33"/>
                  </a:cubicBezTo>
                  <a:cubicBezTo>
                    <a:pt x="42" y="36"/>
                    <a:pt x="42" y="36"/>
                    <a:pt x="42" y="36"/>
                  </a:cubicBezTo>
                  <a:cubicBezTo>
                    <a:pt x="42" y="35"/>
                    <a:pt x="43" y="35"/>
                    <a:pt x="43" y="35"/>
                  </a:cubicBezTo>
                  <a:cubicBezTo>
                    <a:pt x="44" y="35"/>
                    <a:pt x="45" y="34"/>
                    <a:pt x="45" y="34"/>
                  </a:cubicBezTo>
                  <a:cubicBezTo>
                    <a:pt x="45" y="31"/>
                    <a:pt x="45" y="31"/>
                    <a:pt x="45" y="31"/>
                  </a:cubicBezTo>
                  <a:cubicBezTo>
                    <a:pt x="47" y="30"/>
                    <a:pt x="48" y="30"/>
                    <a:pt x="50" y="30"/>
                  </a:cubicBezTo>
                  <a:cubicBezTo>
                    <a:pt x="51" y="34"/>
                    <a:pt x="51" y="34"/>
                    <a:pt x="51" y="34"/>
                  </a:cubicBezTo>
                  <a:cubicBezTo>
                    <a:pt x="52" y="34"/>
                    <a:pt x="53" y="34"/>
                    <a:pt x="54" y="34"/>
                  </a:cubicBezTo>
                  <a:cubicBezTo>
                    <a:pt x="56" y="31"/>
                    <a:pt x="56" y="31"/>
                    <a:pt x="56" y="31"/>
                  </a:cubicBezTo>
                  <a:cubicBezTo>
                    <a:pt x="58" y="32"/>
                    <a:pt x="59" y="32"/>
                    <a:pt x="60" y="33"/>
                  </a:cubicBezTo>
                  <a:lnTo>
                    <a:pt x="59" y="37"/>
                  </a:lnTo>
                  <a:close/>
                </a:path>
              </a:pathLst>
            </a:custGeom>
            <a:solidFill>
              <a:schemeClr val="bg1"/>
            </a:solidFill>
            <a:ln w="9525">
              <a:noFill/>
            </a:ln>
          </p:spPr>
          <p:txBody>
            <a:bodyPr/>
            <a:p>
              <a:endParaRPr lang="zh-CN" altLang="en-US"/>
            </a:p>
          </p:txBody>
        </p:sp>
      </p:grpSp>
      <p:grpSp>
        <p:nvGrpSpPr>
          <p:cNvPr id="9229" name="组合 32"/>
          <p:cNvGrpSpPr/>
          <p:nvPr/>
        </p:nvGrpSpPr>
        <p:grpSpPr>
          <a:xfrm>
            <a:off x="5808663" y="4217988"/>
            <a:ext cx="3117850" cy="1193800"/>
            <a:chOff x="5808361" y="908189"/>
            <a:chExt cx="3117926" cy="1194707"/>
          </a:xfrm>
        </p:grpSpPr>
        <p:sp>
          <p:nvSpPr>
            <p:cNvPr id="9230" name="文本框 33"/>
            <p:cNvSpPr txBox="1"/>
            <p:nvPr/>
          </p:nvSpPr>
          <p:spPr>
            <a:xfrm>
              <a:off x="5963939" y="908189"/>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阈值</a:t>
              </a:r>
              <a:endParaRPr lang="zh-CN" altLang="en-US" sz="2400" b="1" dirty="0">
                <a:latin typeface="微软雅黑" panose="020B0503020204020204" pitchFamily="34" charset="-122"/>
                <a:ea typeface="微软雅黑" panose="020B0503020204020204" pitchFamily="34" charset="-122"/>
              </a:endParaRPr>
            </a:p>
          </p:txBody>
        </p:sp>
        <p:sp>
          <p:nvSpPr>
            <p:cNvPr id="9231" name="文本框 34"/>
            <p:cNvSpPr txBox="1"/>
            <p:nvPr/>
          </p:nvSpPr>
          <p:spPr>
            <a:xfrm>
              <a:off x="5808361" y="1272852"/>
              <a:ext cx="3117926" cy="830044"/>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由于是从灰度图像转化，因此阈值设置为</a:t>
              </a:r>
              <a:r>
                <a:rPr lang="en-US" altLang="zh-CN" sz="1600" dirty="0">
                  <a:latin typeface="微软雅黑" panose="020B0503020204020204" pitchFamily="34" charset="-122"/>
                  <a:ea typeface="微软雅黑" panose="020B0503020204020204" pitchFamily="34" charset="-122"/>
                </a:rPr>
                <a:t>0-255</a:t>
              </a:r>
              <a:r>
                <a:rPr lang="zh-CN" altLang="en-US" sz="1600" dirty="0">
                  <a:latin typeface="微软雅黑" panose="020B0503020204020204" pitchFamily="34" charset="-122"/>
                  <a:ea typeface="微软雅黑" panose="020B0503020204020204" pitchFamily="34" charset="-122"/>
                </a:rPr>
                <a:t>中的一个，大于</a:t>
              </a:r>
              <a:r>
                <a:rPr lang="en-US" altLang="zh-CN" sz="1600" dirty="0">
                  <a:latin typeface="微软雅黑" panose="020B0503020204020204" pitchFamily="34" charset="-122"/>
                  <a:ea typeface="微软雅黑" panose="020B0503020204020204" pitchFamily="34" charset="-122"/>
                </a:rPr>
                <a:t>255</a:t>
              </a:r>
              <a:r>
                <a:rPr lang="zh-CN" altLang="en-US" sz="1600" dirty="0">
                  <a:latin typeface="微软雅黑" panose="020B0503020204020204" pitchFamily="34" charset="-122"/>
                  <a:ea typeface="微软雅黑" panose="020B0503020204020204" pitchFamily="34" charset="-122"/>
                </a:rPr>
                <a:t>为黑色，小于为白色！</a:t>
              </a:r>
              <a:endParaRPr lang="zh-CN" altLang="en-US" sz="1600" dirty="0">
                <a:latin typeface="微软雅黑" panose="020B0503020204020204" pitchFamily="34" charset="-122"/>
                <a:ea typeface="微软雅黑" panose="020B0503020204020204" pitchFamily="34" charset="-122"/>
              </a:endParaRPr>
            </a:p>
          </p:txBody>
        </p:sp>
      </p:grpSp>
      <p:cxnSp>
        <p:nvCxnSpPr>
          <p:cNvPr id="26" name="直接连接符 2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9233"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9234" name="文本框 39"/>
          <p:cNvSpPr txBox="1"/>
          <p:nvPr/>
        </p:nvSpPr>
        <p:spPr>
          <a:xfrm>
            <a:off x="1073150" y="230188"/>
            <a:ext cx="4976813" cy="398462"/>
          </a:xfrm>
          <a:prstGeom prst="rect">
            <a:avLst/>
          </a:prstGeom>
          <a:noFill/>
          <a:ln w="9525">
            <a:noFill/>
          </a:ln>
        </p:spPr>
        <p:txBody>
          <a:bodyPr anchor="t" anchorCtr="0">
            <a:spAutoFit/>
          </a:bodyPr>
          <a:p>
            <a:pPr>
              <a:buClrTx/>
              <a:buFontTx/>
            </a:pPr>
            <a:r>
              <a:rPr lang="zh-CN" altLang="zh-CN" sz="2000" b="1" dirty="0">
                <a:solidFill>
                  <a:srgbClr val="1F3A65"/>
                </a:solidFill>
                <a:latin typeface="微软雅黑" panose="020B0503020204020204" pitchFamily="34" charset="-122"/>
                <a:ea typeface="微软雅黑" panose="020B0503020204020204" pitchFamily="34" charset="-122"/>
              </a:rPr>
              <a:t>功能展示</a:t>
            </a:r>
            <a:endParaRPr lang="zh-CN" altLang="zh-CN" sz="2000" b="1" dirty="0">
              <a:solidFill>
                <a:srgbClr val="1F3A65"/>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4378325" y="1724025"/>
            <a:ext cx="0" cy="3789363"/>
          </a:xfrm>
          <a:prstGeom prst="line">
            <a:avLst/>
          </a:prstGeom>
          <a:ln>
            <a:solidFill>
              <a:schemeClr val="accent3">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9236" name="图片 1"/>
          <p:cNvPicPr>
            <a:picLocks noChangeAspect="1"/>
          </p:cNvPicPr>
          <p:nvPr/>
        </p:nvPicPr>
        <p:blipFill>
          <a:blip r:embed="rId1"/>
          <a:srcRect t="8311" r="10275"/>
          <a:stretch>
            <a:fillRect/>
          </a:stretch>
        </p:blipFill>
        <p:spPr>
          <a:xfrm>
            <a:off x="109538" y="1209675"/>
            <a:ext cx="4111625" cy="3154363"/>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矩形 9"/>
          <p:cNvSpPr/>
          <p:nvPr/>
        </p:nvSpPr>
        <p:spPr>
          <a:xfrm>
            <a:off x="-476250" y="1408113"/>
            <a:ext cx="4789488" cy="3194050"/>
          </a:xfrm>
          <a:prstGeom prst="rect">
            <a:avLst/>
          </a:prstGeom>
          <a:noFill/>
          <a:ln w="9525">
            <a:noFill/>
          </a:ln>
        </p:spPr>
        <p:txBody>
          <a:bodyPr anchor="t" anchorCtr="0"/>
          <a:p>
            <a:pPr eaLnBrk="0" hangingPunct="0"/>
            <a:endParaRPr lang="zh-CN" altLang="en-US" dirty="0">
              <a:latin typeface="微软雅黑" panose="020B0503020204020204" pitchFamily="34" charset="-122"/>
              <a:ea typeface="微软雅黑" panose="020B0503020204020204" pitchFamily="34" charset="-122"/>
            </a:endParaRPr>
          </a:p>
        </p:txBody>
      </p:sp>
      <p:grpSp>
        <p:nvGrpSpPr>
          <p:cNvPr id="10242" name="组合 5"/>
          <p:cNvGrpSpPr/>
          <p:nvPr/>
        </p:nvGrpSpPr>
        <p:grpSpPr>
          <a:xfrm>
            <a:off x="228600" y="5126038"/>
            <a:ext cx="4267200" cy="942975"/>
            <a:chOff x="305118" y="4395153"/>
            <a:chExt cx="4266882" cy="650855"/>
          </a:xfrm>
        </p:grpSpPr>
        <p:sp>
          <p:nvSpPr>
            <p:cNvPr id="10243" name="文本框 3"/>
            <p:cNvSpPr txBox="1"/>
            <p:nvPr/>
          </p:nvSpPr>
          <p:spPr>
            <a:xfrm>
              <a:off x="305118" y="4395153"/>
              <a:ext cx="3398520" cy="339367"/>
            </a:xfrm>
            <a:prstGeom prst="rect">
              <a:avLst/>
            </a:prstGeom>
            <a:noFill/>
            <a:ln w="9525">
              <a:noFill/>
            </a:ln>
          </p:spPr>
          <p:txBody>
            <a:bodyPr anchor="t" anchorCtr="0">
              <a:spAutoFit/>
            </a:bodyPr>
            <a:p>
              <a:pPr marL="104775">
                <a:lnSpc>
                  <a:spcPct val="130000"/>
                </a:lnSpc>
                <a:buClr>
                  <a:srgbClr val="10CF9B"/>
                </a:buClr>
              </a:pPr>
              <a:r>
                <a:rPr lang="zh-CN" altLang="en-US" sz="2000" b="1" dirty="0">
                  <a:latin typeface="微软雅黑" panose="020B0503020204020204" pitchFamily="34" charset="-122"/>
                  <a:ea typeface="微软雅黑" panose="020B0503020204020204" pitchFamily="34" charset="-122"/>
                </a:rPr>
                <a:t>边缘检测</a:t>
              </a:r>
              <a:endParaRPr lang="en-US" altLang="zh-CN" sz="2000" b="1" dirty="0">
                <a:latin typeface="微软雅黑" panose="020B0503020204020204" pitchFamily="34" charset="-122"/>
                <a:ea typeface="微软雅黑" panose="020B0503020204020204" pitchFamily="34" charset="-122"/>
              </a:endParaRPr>
            </a:p>
          </p:txBody>
        </p:sp>
        <p:sp>
          <p:nvSpPr>
            <p:cNvPr id="10244" name="文本框 4"/>
            <p:cNvSpPr txBox="1"/>
            <p:nvPr/>
          </p:nvSpPr>
          <p:spPr>
            <a:xfrm>
              <a:off x="305118" y="4734703"/>
              <a:ext cx="4266882" cy="311305"/>
            </a:xfrm>
            <a:prstGeom prst="rect">
              <a:avLst/>
            </a:prstGeom>
            <a:noFill/>
            <a:ln w="9525">
              <a:noFill/>
            </a:ln>
          </p:spPr>
          <p:txBody>
            <a:bodyPr anchor="t" anchorCtr="0">
              <a:spAutoFit/>
            </a:bodyPr>
            <a:p>
              <a:pPr marL="104775">
                <a:lnSpc>
                  <a:spcPct val="130000"/>
                </a:lnSpc>
                <a:buClr>
                  <a:srgbClr val="10CF9B"/>
                </a:buClr>
              </a:pPr>
              <a:r>
                <a:rPr lang="zh-CN" altLang="zh-CN" dirty="0">
                  <a:latin typeface="微软雅黑" panose="020B0503020204020204" pitchFamily="34" charset="-122"/>
                  <a:ea typeface="微软雅黑" panose="020B0503020204020204" pitchFamily="34" charset="-122"/>
                </a:rPr>
                <a:t>加入降噪与不加入降噪对比</a:t>
              </a:r>
              <a:endParaRPr lang="zh-CN" altLang="zh-CN" dirty="0">
                <a:latin typeface="微软雅黑" panose="020B0503020204020204" pitchFamily="34" charset="-122"/>
                <a:ea typeface="微软雅黑" panose="020B0503020204020204" pitchFamily="34" charset="-122"/>
              </a:endParaRPr>
            </a:p>
          </p:txBody>
        </p:sp>
      </p:grpSp>
      <p:sp>
        <p:nvSpPr>
          <p:cNvPr id="7" name="椭圆 6"/>
          <p:cNvSpPr>
            <a:spLocks noChangeAspect="1"/>
          </p:cNvSpPr>
          <p:nvPr/>
        </p:nvSpPr>
        <p:spPr>
          <a:xfrm>
            <a:off x="4727575" y="1062038"/>
            <a:ext cx="1081088" cy="108108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0246" name="组合 27"/>
          <p:cNvGrpSpPr/>
          <p:nvPr/>
        </p:nvGrpSpPr>
        <p:grpSpPr>
          <a:xfrm>
            <a:off x="5808663" y="1023938"/>
            <a:ext cx="3117850" cy="1685925"/>
            <a:chOff x="5808360" y="908189"/>
            <a:chExt cx="3117927" cy="1686890"/>
          </a:xfrm>
        </p:grpSpPr>
        <p:sp>
          <p:nvSpPr>
            <p:cNvPr id="10247" name="文本框 21"/>
            <p:cNvSpPr txBox="1"/>
            <p:nvPr/>
          </p:nvSpPr>
          <p:spPr>
            <a:xfrm>
              <a:off x="5808360" y="908189"/>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原理</a:t>
              </a:r>
              <a:endParaRPr lang="zh-CN" altLang="en-US" sz="2400" b="1" dirty="0">
                <a:latin typeface="微软雅黑" panose="020B0503020204020204" pitchFamily="34" charset="-122"/>
                <a:ea typeface="微软雅黑" panose="020B0503020204020204" pitchFamily="34" charset="-122"/>
              </a:endParaRPr>
            </a:p>
          </p:txBody>
        </p:sp>
        <p:sp>
          <p:nvSpPr>
            <p:cNvPr id="10248" name="文本框 22"/>
            <p:cNvSpPr txBox="1"/>
            <p:nvPr/>
          </p:nvSpPr>
          <p:spPr>
            <a:xfrm>
              <a:off x="5808361" y="1272852"/>
              <a:ext cx="3117926" cy="1322227"/>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找出变化明显的区域，该区域的灰度剖面一般可以看作是一个阶跃，既从一个灰度值在很小的缓冲区域内急剧变化到另一个灰度相差较大的灰度值</a:t>
              </a:r>
              <a:endParaRPr lang="zh-CN" altLang="en-US" sz="1600" dirty="0">
                <a:latin typeface="微软雅黑" panose="020B0503020204020204" pitchFamily="34" charset="-122"/>
                <a:ea typeface="微软雅黑" panose="020B0503020204020204" pitchFamily="34" charset="-122"/>
              </a:endParaRPr>
            </a:p>
          </p:txBody>
        </p:sp>
      </p:grpSp>
      <p:sp>
        <p:nvSpPr>
          <p:cNvPr id="10249" name="Freeform 48"/>
          <p:cNvSpPr>
            <a:spLocks noChangeAspect="1" noEditPoints="1"/>
          </p:cNvSpPr>
          <p:nvPr/>
        </p:nvSpPr>
        <p:spPr>
          <a:xfrm>
            <a:off x="4999038" y="1333500"/>
            <a:ext cx="539750" cy="5397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6" h="96">
                <a:moveTo>
                  <a:pt x="92" y="41"/>
                </a:moveTo>
                <a:cubicBezTo>
                  <a:pt x="88" y="41"/>
                  <a:pt x="88" y="41"/>
                  <a:pt x="88" y="41"/>
                </a:cubicBezTo>
                <a:cubicBezTo>
                  <a:pt x="86" y="41"/>
                  <a:pt x="84" y="39"/>
                  <a:pt x="83" y="37"/>
                </a:cubicBezTo>
                <a:cubicBezTo>
                  <a:pt x="81" y="31"/>
                  <a:pt x="81" y="31"/>
                  <a:pt x="81" y="31"/>
                </a:cubicBezTo>
                <a:cubicBezTo>
                  <a:pt x="80" y="29"/>
                  <a:pt x="80" y="26"/>
                  <a:pt x="81" y="25"/>
                </a:cubicBezTo>
                <a:cubicBezTo>
                  <a:pt x="85" y="22"/>
                  <a:pt x="85" y="22"/>
                  <a:pt x="85" y="22"/>
                </a:cubicBezTo>
                <a:cubicBezTo>
                  <a:pt x="86" y="20"/>
                  <a:pt x="86" y="18"/>
                  <a:pt x="85" y="17"/>
                </a:cubicBezTo>
                <a:cubicBezTo>
                  <a:pt x="79" y="11"/>
                  <a:pt x="79" y="11"/>
                  <a:pt x="79" y="11"/>
                </a:cubicBezTo>
                <a:cubicBezTo>
                  <a:pt x="78" y="10"/>
                  <a:pt x="76" y="10"/>
                  <a:pt x="74" y="11"/>
                </a:cubicBezTo>
                <a:cubicBezTo>
                  <a:pt x="71" y="15"/>
                  <a:pt x="71" y="15"/>
                  <a:pt x="71" y="15"/>
                </a:cubicBezTo>
                <a:cubicBezTo>
                  <a:pt x="70" y="16"/>
                  <a:pt x="67" y="16"/>
                  <a:pt x="65" y="15"/>
                </a:cubicBezTo>
                <a:cubicBezTo>
                  <a:pt x="59" y="13"/>
                  <a:pt x="59" y="13"/>
                  <a:pt x="59" y="13"/>
                </a:cubicBezTo>
                <a:cubicBezTo>
                  <a:pt x="57" y="12"/>
                  <a:pt x="55" y="10"/>
                  <a:pt x="55" y="8"/>
                </a:cubicBezTo>
                <a:cubicBezTo>
                  <a:pt x="55" y="4"/>
                  <a:pt x="55" y="4"/>
                  <a:pt x="55" y="4"/>
                </a:cubicBezTo>
                <a:cubicBezTo>
                  <a:pt x="55" y="2"/>
                  <a:pt x="54" y="0"/>
                  <a:pt x="52" y="0"/>
                </a:cubicBezTo>
                <a:cubicBezTo>
                  <a:pt x="44" y="0"/>
                  <a:pt x="44" y="0"/>
                  <a:pt x="44" y="0"/>
                </a:cubicBezTo>
                <a:cubicBezTo>
                  <a:pt x="42" y="0"/>
                  <a:pt x="41" y="2"/>
                  <a:pt x="41" y="4"/>
                </a:cubicBezTo>
                <a:cubicBezTo>
                  <a:pt x="41" y="8"/>
                  <a:pt x="41" y="8"/>
                  <a:pt x="41" y="8"/>
                </a:cubicBezTo>
                <a:cubicBezTo>
                  <a:pt x="41" y="10"/>
                  <a:pt x="39" y="12"/>
                  <a:pt x="37" y="13"/>
                </a:cubicBezTo>
                <a:cubicBezTo>
                  <a:pt x="31" y="15"/>
                  <a:pt x="31" y="15"/>
                  <a:pt x="31" y="15"/>
                </a:cubicBezTo>
                <a:cubicBezTo>
                  <a:pt x="29" y="16"/>
                  <a:pt x="26" y="16"/>
                  <a:pt x="25" y="15"/>
                </a:cubicBezTo>
                <a:cubicBezTo>
                  <a:pt x="22" y="11"/>
                  <a:pt x="22" y="11"/>
                  <a:pt x="22" y="11"/>
                </a:cubicBezTo>
                <a:cubicBezTo>
                  <a:pt x="20" y="10"/>
                  <a:pt x="18" y="10"/>
                  <a:pt x="17" y="11"/>
                </a:cubicBezTo>
                <a:cubicBezTo>
                  <a:pt x="11" y="17"/>
                  <a:pt x="11" y="17"/>
                  <a:pt x="11" y="17"/>
                </a:cubicBezTo>
                <a:cubicBezTo>
                  <a:pt x="10" y="18"/>
                  <a:pt x="10" y="20"/>
                  <a:pt x="11" y="22"/>
                </a:cubicBezTo>
                <a:cubicBezTo>
                  <a:pt x="15" y="25"/>
                  <a:pt x="15" y="25"/>
                  <a:pt x="15" y="25"/>
                </a:cubicBezTo>
                <a:cubicBezTo>
                  <a:pt x="16" y="26"/>
                  <a:pt x="16" y="29"/>
                  <a:pt x="15" y="31"/>
                </a:cubicBezTo>
                <a:cubicBezTo>
                  <a:pt x="13" y="37"/>
                  <a:pt x="13" y="37"/>
                  <a:pt x="13" y="37"/>
                </a:cubicBezTo>
                <a:cubicBezTo>
                  <a:pt x="12" y="39"/>
                  <a:pt x="10" y="41"/>
                  <a:pt x="8" y="41"/>
                </a:cubicBezTo>
                <a:cubicBezTo>
                  <a:pt x="4" y="41"/>
                  <a:pt x="4" y="41"/>
                  <a:pt x="4" y="41"/>
                </a:cubicBezTo>
                <a:cubicBezTo>
                  <a:pt x="2" y="41"/>
                  <a:pt x="0" y="42"/>
                  <a:pt x="0" y="44"/>
                </a:cubicBezTo>
                <a:cubicBezTo>
                  <a:pt x="0" y="52"/>
                  <a:pt x="0" y="52"/>
                  <a:pt x="0" y="52"/>
                </a:cubicBezTo>
                <a:cubicBezTo>
                  <a:pt x="0" y="54"/>
                  <a:pt x="2" y="55"/>
                  <a:pt x="4" y="55"/>
                </a:cubicBezTo>
                <a:cubicBezTo>
                  <a:pt x="8" y="55"/>
                  <a:pt x="8" y="55"/>
                  <a:pt x="8" y="55"/>
                </a:cubicBezTo>
                <a:cubicBezTo>
                  <a:pt x="10" y="55"/>
                  <a:pt x="12" y="57"/>
                  <a:pt x="13" y="59"/>
                </a:cubicBezTo>
                <a:cubicBezTo>
                  <a:pt x="15" y="65"/>
                  <a:pt x="15" y="65"/>
                  <a:pt x="15" y="65"/>
                </a:cubicBezTo>
                <a:cubicBezTo>
                  <a:pt x="16" y="67"/>
                  <a:pt x="16" y="70"/>
                  <a:pt x="15" y="71"/>
                </a:cubicBezTo>
                <a:cubicBezTo>
                  <a:pt x="11" y="74"/>
                  <a:pt x="11" y="74"/>
                  <a:pt x="11" y="74"/>
                </a:cubicBezTo>
                <a:cubicBezTo>
                  <a:pt x="10" y="76"/>
                  <a:pt x="10" y="78"/>
                  <a:pt x="11" y="79"/>
                </a:cubicBezTo>
                <a:cubicBezTo>
                  <a:pt x="17" y="85"/>
                  <a:pt x="17" y="85"/>
                  <a:pt x="17" y="85"/>
                </a:cubicBezTo>
                <a:cubicBezTo>
                  <a:pt x="18" y="86"/>
                  <a:pt x="20" y="86"/>
                  <a:pt x="22" y="85"/>
                </a:cubicBezTo>
                <a:cubicBezTo>
                  <a:pt x="25" y="81"/>
                  <a:pt x="25" y="81"/>
                  <a:pt x="25" y="81"/>
                </a:cubicBezTo>
                <a:cubicBezTo>
                  <a:pt x="26" y="80"/>
                  <a:pt x="29" y="80"/>
                  <a:pt x="31" y="81"/>
                </a:cubicBezTo>
                <a:cubicBezTo>
                  <a:pt x="37" y="83"/>
                  <a:pt x="37" y="83"/>
                  <a:pt x="37" y="83"/>
                </a:cubicBezTo>
                <a:cubicBezTo>
                  <a:pt x="39" y="84"/>
                  <a:pt x="41" y="86"/>
                  <a:pt x="41" y="88"/>
                </a:cubicBezTo>
                <a:cubicBezTo>
                  <a:pt x="41" y="92"/>
                  <a:pt x="41" y="92"/>
                  <a:pt x="41" y="92"/>
                </a:cubicBezTo>
                <a:cubicBezTo>
                  <a:pt x="41" y="94"/>
                  <a:pt x="42" y="96"/>
                  <a:pt x="44" y="96"/>
                </a:cubicBezTo>
                <a:cubicBezTo>
                  <a:pt x="52" y="96"/>
                  <a:pt x="52" y="96"/>
                  <a:pt x="52" y="96"/>
                </a:cubicBezTo>
                <a:cubicBezTo>
                  <a:pt x="54" y="96"/>
                  <a:pt x="55" y="94"/>
                  <a:pt x="55" y="92"/>
                </a:cubicBezTo>
                <a:cubicBezTo>
                  <a:pt x="55" y="88"/>
                  <a:pt x="55" y="88"/>
                  <a:pt x="55" y="88"/>
                </a:cubicBezTo>
                <a:cubicBezTo>
                  <a:pt x="55" y="86"/>
                  <a:pt x="57" y="84"/>
                  <a:pt x="59" y="83"/>
                </a:cubicBezTo>
                <a:cubicBezTo>
                  <a:pt x="65" y="81"/>
                  <a:pt x="65" y="81"/>
                  <a:pt x="65" y="81"/>
                </a:cubicBezTo>
                <a:cubicBezTo>
                  <a:pt x="67" y="80"/>
                  <a:pt x="70" y="80"/>
                  <a:pt x="71" y="81"/>
                </a:cubicBezTo>
                <a:cubicBezTo>
                  <a:pt x="74" y="85"/>
                  <a:pt x="74" y="85"/>
                  <a:pt x="74" y="85"/>
                </a:cubicBezTo>
                <a:cubicBezTo>
                  <a:pt x="76" y="86"/>
                  <a:pt x="78" y="86"/>
                  <a:pt x="79" y="85"/>
                </a:cubicBezTo>
                <a:cubicBezTo>
                  <a:pt x="85" y="79"/>
                  <a:pt x="85" y="79"/>
                  <a:pt x="85" y="79"/>
                </a:cubicBezTo>
                <a:cubicBezTo>
                  <a:pt x="86" y="78"/>
                  <a:pt x="86" y="76"/>
                  <a:pt x="85" y="74"/>
                </a:cubicBezTo>
                <a:cubicBezTo>
                  <a:pt x="81" y="71"/>
                  <a:pt x="81" y="71"/>
                  <a:pt x="81" y="71"/>
                </a:cubicBezTo>
                <a:cubicBezTo>
                  <a:pt x="80" y="70"/>
                  <a:pt x="80" y="67"/>
                  <a:pt x="81" y="65"/>
                </a:cubicBezTo>
                <a:cubicBezTo>
                  <a:pt x="83" y="59"/>
                  <a:pt x="83" y="59"/>
                  <a:pt x="83" y="59"/>
                </a:cubicBezTo>
                <a:cubicBezTo>
                  <a:pt x="84" y="57"/>
                  <a:pt x="86" y="55"/>
                  <a:pt x="88" y="55"/>
                </a:cubicBezTo>
                <a:cubicBezTo>
                  <a:pt x="92" y="55"/>
                  <a:pt x="92" y="55"/>
                  <a:pt x="92" y="55"/>
                </a:cubicBezTo>
                <a:cubicBezTo>
                  <a:pt x="94" y="55"/>
                  <a:pt x="96" y="54"/>
                  <a:pt x="96" y="52"/>
                </a:cubicBezTo>
                <a:cubicBezTo>
                  <a:pt x="96" y="44"/>
                  <a:pt x="96" y="44"/>
                  <a:pt x="96" y="44"/>
                </a:cubicBezTo>
                <a:cubicBezTo>
                  <a:pt x="96" y="42"/>
                  <a:pt x="94" y="41"/>
                  <a:pt x="92" y="41"/>
                </a:cubicBezTo>
                <a:close/>
                <a:moveTo>
                  <a:pt x="66" y="48"/>
                </a:moveTo>
                <a:cubicBezTo>
                  <a:pt x="66" y="58"/>
                  <a:pt x="58" y="66"/>
                  <a:pt x="48" y="66"/>
                </a:cubicBezTo>
                <a:cubicBezTo>
                  <a:pt x="38" y="66"/>
                  <a:pt x="30" y="58"/>
                  <a:pt x="30" y="48"/>
                </a:cubicBezTo>
                <a:cubicBezTo>
                  <a:pt x="30" y="38"/>
                  <a:pt x="38" y="30"/>
                  <a:pt x="48" y="30"/>
                </a:cubicBezTo>
                <a:cubicBezTo>
                  <a:pt x="58" y="30"/>
                  <a:pt x="66" y="38"/>
                  <a:pt x="66" y="48"/>
                </a:cubicBezTo>
                <a:close/>
              </a:path>
            </a:pathLst>
          </a:custGeom>
          <a:solidFill>
            <a:schemeClr val="bg1"/>
          </a:solidFill>
          <a:ln w="9525">
            <a:noFill/>
          </a:ln>
        </p:spPr>
        <p:txBody>
          <a:bodyPr/>
          <a:p>
            <a:endParaRPr lang="zh-CN" altLang="en-US"/>
          </a:p>
        </p:txBody>
      </p:sp>
      <p:grpSp>
        <p:nvGrpSpPr>
          <p:cNvPr id="10250" name="组合 31"/>
          <p:cNvGrpSpPr/>
          <p:nvPr/>
        </p:nvGrpSpPr>
        <p:grpSpPr>
          <a:xfrm>
            <a:off x="4727575" y="2900363"/>
            <a:ext cx="1081088" cy="1079500"/>
            <a:chOff x="4728360" y="2784242"/>
            <a:chExt cx="1080000" cy="1080000"/>
          </a:xfrm>
        </p:grpSpPr>
        <p:sp>
          <p:nvSpPr>
            <p:cNvPr id="8" name="椭圆 7"/>
            <p:cNvSpPr>
              <a:spLocks noChangeAspect="1"/>
            </p:cNvSpPr>
            <p:nvPr/>
          </p:nvSpPr>
          <p:spPr>
            <a:xfrm>
              <a:off x="4728360" y="2784242"/>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2" name="Freeform 680"/>
            <p:cNvSpPr>
              <a:spLocks noChangeAspect="1" noEditPoints="1"/>
            </p:cNvSpPr>
            <p:nvPr/>
          </p:nvSpPr>
          <p:spPr>
            <a:xfrm>
              <a:off x="4998360" y="3050467"/>
              <a:ext cx="540000" cy="547551"/>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1" h="72">
                  <a:moveTo>
                    <a:pt x="32" y="17"/>
                  </a:moveTo>
                  <a:cubicBezTo>
                    <a:pt x="31" y="14"/>
                    <a:pt x="29" y="12"/>
                    <a:pt x="26" y="11"/>
                  </a:cubicBezTo>
                  <a:cubicBezTo>
                    <a:pt x="23" y="10"/>
                    <a:pt x="20" y="9"/>
                    <a:pt x="17" y="11"/>
                  </a:cubicBezTo>
                  <a:cubicBezTo>
                    <a:pt x="14" y="12"/>
                    <a:pt x="12" y="14"/>
                    <a:pt x="11" y="17"/>
                  </a:cubicBezTo>
                  <a:cubicBezTo>
                    <a:pt x="9" y="19"/>
                    <a:pt x="9" y="23"/>
                    <a:pt x="10" y="25"/>
                  </a:cubicBezTo>
                  <a:cubicBezTo>
                    <a:pt x="11" y="28"/>
                    <a:pt x="13" y="30"/>
                    <a:pt x="16" y="32"/>
                  </a:cubicBezTo>
                  <a:cubicBezTo>
                    <a:pt x="19" y="33"/>
                    <a:pt x="22" y="33"/>
                    <a:pt x="25" y="32"/>
                  </a:cubicBezTo>
                  <a:cubicBezTo>
                    <a:pt x="28" y="31"/>
                    <a:pt x="30" y="29"/>
                    <a:pt x="32" y="26"/>
                  </a:cubicBezTo>
                  <a:cubicBezTo>
                    <a:pt x="33" y="23"/>
                    <a:pt x="33" y="20"/>
                    <a:pt x="32" y="17"/>
                  </a:cubicBezTo>
                  <a:close/>
                  <a:moveTo>
                    <a:pt x="31" y="7"/>
                  </a:moveTo>
                  <a:cubicBezTo>
                    <a:pt x="32" y="7"/>
                    <a:pt x="33" y="8"/>
                    <a:pt x="33" y="9"/>
                  </a:cubicBezTo>
                  <a:cubicBezTo>
                    <a:pt x="36" y="7"/>
                    <a:pt x="36" y="7"/>
                    <a:pt x="36" y="7"/>
                  </a:cubicBezTo>
                  <a:cubicBezTo>
                    <a:pt x="38" y="8"/>
                    <a:pt x="39" y="10"/>
                    <a:pt x="39" y="11"/>
                  </a:cubicBezTo>
                  <a:cubicBezTo>
                    <a:pt x="37" y="14"/>
                    <a:pt x="37" y="14"/>
                    <a:pt x="37" y="14"/>
                  </a:cubicBezTo>
                  <a:cubicBezTo>
                    <a:pt x="37" y="14"/>
                    <a:pt x="37" y="15"/>
                    <a:pt x="37" y="15"/>
                  </a:cubicBezTo>
                  <a:cubicBezTo>
                    <a:pt x="38" y="16"/>
                    <a:pt x="38" y="16"/>
                    <a:pt x="38" y="17"/>
                  </a:cubicBezTo>
                  <a:cubicBezTo>
                    <a:pt x="41" y="17"/>
                    <a:pt x="41" y="17"/>
                    <a:pt x="41" y="17"/>
                  </a:cubicBezTo>
                  <a:cubicBezTo>
                    <a:pt x="42" y="19"/>
                    <a:pt x="42" y="20"/>
                    <a:pt x="42" y="22"/>
                  </a:cubicBezTo>
                  <a:cubicBezTo>
                    <a:pt x="38" y="22"/>
                    <a:pt x="38" y="22"/>
                    <a:pt x="38" y="22"/>
                  </a:cubicBezTo>
                  <a:cubicBezTo>
                    <a:pt x="38" y="24"/>
                    <a:pt x="38" y="25"/>
                    <a:pt x="38" y="26"/>
                  </a:cubicBezTo>
                  <a:cubicBezTo>
                    <a:pt x="41" y="28"/>
                    <a:pt x="41" y="28"/>
                    <a:pt x="41" y="28"/>
                  </a:cubicBezTo>
                  <a:cubicBezTo>
                    <a:pt x="41" y="29"/>
                    <a:pt x="40" y="31"/>
                    <a:pt x="39" y="32"/>
                  </a:cubicBezTo>
                  <a:cubicBezTo>
                    <a:pt x="36" y="31"/>
                    <a:pt x="36" y="31"/>
                    <a:pt x="36" y="31"/>
                  </a:cubicBezTo>
                  <a:cubicBezTo>
                    <a:pt x="35" y="32"/>
                    <a:pt x="34" y="33"/>
                    <a:pt x="33" y="34"/>
                  </a:cubicBezTo>
                  <a:cubicBezTo>
                    <a:pt x="35" y="37"/>
                    <a:pt x="35" y="37"/>
                    <a:pt x="35" y="37"/>
                  </a:cubicBezTo>
                  <a:cubicBezTo>
                    <a:pt x="34" y="38"/>
                    <a:pt x="33" y="39"/>
                    <a:pt x="31" y="40"/>
                  </a:cubicBezTo>
                  <a:cubicBezTo>
                    <a:pt x="29" y="37"/>
                    <a:pt x="29" y="37"/>
                    <a:pt x="29" y="37"/>
                  </a:cubicBezTo>
                  <a:cubicBezTo>
                    <a:pt x="28" y="37"/>
                    <a:pt x="28" y="37"/>
                    <a:pt x="27" y="38"/>
                  </a:cubicBezTo>
                  <a:cubicBezTo>
                    <a:pt x="27" y="38"/>
                    <a:pt x="26" y="38"/>
                    <a:pt x="26" y="38"/>
                  </a:cubicBezTo>
                  <a:cubicBezTo>
                    <a:pt x="26" y="42"/>
                    <a:pt x="26" y="42"/>
                    <a:pt x="26" y="42"/>
                  </a:cubicBezTo>
                  <a:cubicBezTo>
                    <a:pt x="24" y="42"/>
                    <a:pt x="22" y="42"/>
                    <a:pt x="21" y="42"/>
                  </a:cubicBezTo>
                  <a:cubicBezTo>
                    <a:pt x="20" y="39"/>
                    <a:pt x="20" y="39"/>
                    <a:pt x="20" y="39"/>
                  </a:cubicBezTo>
                  <a:cubicBezTo>
                    <a:pt x="19" y="39"/>
                    <a:pt x="18" y="38"/>
                    <a:pt x="17" y="38"/>
                  </a:cubicBezTo>
                  <a:cubicBezTo>
                    <a:pt x="15" y="41"/>
                    <a:pt x="15" y="41"/>
                    <a:pt x="15" y="41"/>
                  </a:cubicBezTo>
                  <a:cubicBezTo>
                    <a:pt x="13" y="41"/>
                    <a:pt x="11" y="40"/>
                    <a:pt x="10" y="39"/>
                  </a:cubicBezTo>
                  <a:cubicBezTo>
                    <a:pt x="11" y="36"/>
                    <a:pt x="11" y="36"/>
                    <a:pt x="11" y="36"/>
                  </a:cubicBezTo>
                  <a:cubicBezTo>
                    <a:pt x="10" y="35"/>
                    <a:pt x="10" y="34"/>
                    <a:pt x="9" y="34"/>
                  </a:cubicBezTo>
                  <a:cubicBezTo>
                    <a:pt x="6" y="35"/>
                    <a:pt x="6" y="35"/>
                    <a:pt x="6" y="35"/>
                  </a:cubicBezTo>
                  <a:cubicBezTo>
                    <a:pt x="4" y="34"/>
                    <a:pt x="3" y="33"/>
                    <a:pt x="3" y="31"/>
                  </a:cubicBezTo>
                  <a:cubicBezTo>
                    <a:pt x="5" y="29"/>
                    <a:pt x="5" y="29"/>
                    <a:pt x="5" y="29"/>
                  </a:cubicBezTo>
                  <a:cubicBezTo>
                    <a:pt x="5" y="28"/>
                    <a:pt x="5" y="28"/>
                    <a:pt x="5" y="27"/>
                  </a:cubicBezTo>
                  <a:cubicBezTo>
                    <a:pt x="5" y="27"/>
                    <a:pt x="4" y="26"/>
                    <a:pt x="4" y="26"/>
                  </a:cubicBezTo>
                  <a:cubicBezTo>
                    <a:pt x="1" y="26"/>
                    <a:pt x="1" y="26"/>
                    <a:pt x="1" y="26"/>
                  </a:cubicBezTo>
                  <a:cubicBezTo>
                    <a:pt x="0" y="24"/>
                    <a:pt x="0" y="22"/>
                    <a:pt x="0" y="21"/>
                  </a:cubicBezTo>
                  <a:cubicBezTo>
                    <a:pt x="4" y="20"/>
                    <a:pt x="4" y="20"/>
                    <a:pt x="4" y="20"/>
                  </a:cubicBezTo>
                  <a:cubicBezTo>
                    <a:pt x="4" y="19"/>
                    <a:pt x="4" y="18"/>
                    <a:pt x="4" y="17"/>
                  </a:cubicBezTo>
                  <a:cubicBezTo>
                    <a:pt x="1" y="15"/>
                    <a:pt x="1" y="15"/>
                    <a:pt x="1" y="15"/>
                  </a:cubicBezTo>
                  <a:cubicBezTo>
                    <a:pt x="2" y="13"/>
                    <a:pt x="2" y="12"/>
                    <a:pt x="3" y="10"/>
                  </a:cubicBezTo>
                  <a:cubicBezTo>
                    <a:pt x="7" y="12"/>
                    <a:pt x="7" y="12"/>
                    <a:pt x="7" y="12"/>
                  </a:cubicBezTo>
                  <a:cubicBezTo>
                    <a:pt x="7" y="11"/>
                    <a:pt x="8" y="10"/>
                    <a:pt x="9" y="9"/>
                  </a:cubicBezTo>
                  <a:cubicBezTo>
                    <a:pt x="7" y="6"/>
                    <a:pt x="7" y="6"/>
                    <a:pt x="7" y="6"/>
                  </a:cubicBezTo>
                  <a:cubicBezTo>
                    <a:pt x="8" y="5"/>
                    <a:pt x="10" y="4"/>
                    <a:pt x="11" y="3"/>
                  </a:cubicBezTo>
                  <a:cubicBezTo>
                    <a:pt x="13" y="6"/>
                    <a:pt x="13" y="6"/>
                    <a:pt x="13" y="6"/>
                  </a:cubicBezTo>
                  <a:cubicBezTo>
                    <a:pt x="14" y="5"/>
                    <a:pt x="14" y="5"/>
                    <a:pt x="15" y="5"/>
                  </a:cubicBezTo>
                  <a:cubicBezTo>
                    <a:pt x="16" y="5"/>
                    <a:pt x="16" y="5"/>
                    <a:pt x="17" y="4"/>
                  </a:cubicBezTo>
                  <a:cubicBezTo>
                    <a:pt x="17" y="1"/>
                    <a:pt x="17" y="1"/>
                    <a:pt x="17" y="1"/>
                  </a:cubicBezTo>
                  <a:cubicBezTo>
                    <a:pt x="18" y="0"/>
                    <a:pt x="20" y="0"/>
                    <a:pt x="22" y="1"/>
                  </a:cubicBezTo>
                  <a:cubicBezTo>
                    <a:pt x="22" y="4"/>
                    <a:pt x="22" y="4"/>
                    <a:pt x="22" y="4"/>
                  </a:cubicBezTo>
                  <a:cubicBezTo>
                    <a:pt x="23" y="4"/>
                    <a:pt x="25" y="4"/>
                    <a:pt x="26" y="4"/>
                  </a:cubicBezTo>
                  <a:cubicBezTo>
                    <a:pt x="27" y="2"/>
                    <a:pt x="27" y="2"/>
                    <a:pt x="27" y="2"/>
                  </a:cubicBezTo>
                  <a:cubicBezTo>
                    <a:pt x="29" y="2"/>
                    <a:pt x="31" y="3"/>
                    <a:pt x="32" y="4"/>
                  </a:cubicBezTo>
                  <a:cubicBezTo>
                    <a:pt x="31" y="7"/>
                    <a:pt x="31" y="7"/>
                    <a:pt x="31" y="7"/>
                  </a:cubicBezTo>
                  <a:close/>
                  <a:moveTo>
                    <a:pt x="60" y="47"/>
                  </a:moveTo>
                  <a:cubicBezTo>
                    <a:pt x="59" y="44"/>
                    <a:pt x="57" y="42"/>
                    <a:pt x="54" y="41"/>
                  </a:cubicBezTo>
                  <a:cubicBezTo>
                    <a:pt x="51" y="39"/>
                    <a:pt x="48" y="39"/>
                    <a:pt x="45" y="40"/>
                  </a:cubicBezTo>
                  <a:cubicBezTo>
                    <a:pt x="43" y="41"/>
                    <a:pt x="40" y="44"/>
                    <a:pt x="39" y="46"/>
                  </a:cubicBezTo>
                  <a:cubicBezTo>
                    <a:pt x="38" y="49"/>
                    <a:pt x="38" y="52"/>
                    <a:pt x="39" y="55"/>
                  </a:cubicBezTo>
                  <a:cubicBezTo>
                    <a:pt x="40" y="58"/>
                    <a:pt x="42" y="60"/>
                    <a:pt x="45" y="62"/>
                  </a:cubicBezTo>
                  <a:cubicBezTo>
                    <a:pt x="48" y="63"/>
                    <a:pt x="51" y="63"/>
                    <a:pt x="54" y="62"/>
                  </a:cubicBezTo>
                  <a:cubicBezTo>
                    <a:pt x="56" y="61"/>
                    <a:pt x="59" y="59"/>
                    <a:pt x="60" y="56"/>
                  </a:cubicBezTo>
                  <a:cubicBezTo>
                    <a:pt x="61" y="53"/>
                    <a:pt x="61" y="50"/>
                    <a:pt x="60" y="47"/>
                  </a:cubicBezTo>
                  <a:close/>
                  <a:moveTo>
                    <a:pt x="59" y="37"/>
                  </a:moveTo>
                  <a:cubicBezTo>
                    <a:pt x="60" y="37"/>
                    <a:pt x="61" y="38"/>
                    <a:pt x="62" y="39"/>
                  </a:cubicBezTo>
                  <a:cubicBezTo>
                    <a:pt x="65" y="37"/>
                    <a:pt x="65" y="37"/>
                    <a:pt x="65" y="37"/>
                  </a:cubicBezTo>
                  <a:cubicBezTo>
                    <a:pt x="66" y="38"/>
                    <a:pt x="67" y="40"/>
                    <a:pt x="68" y="41"/>
                  </a:cubicBezTo>
                  <a:cubicBezTo>
                    <a:pt x="65" y="44"/>
                    <a:pt x="65" y="44"/>
                    <a:pt x="65" y="44"/>
                  </a:cubicBezTo>
                  <a:cubicBezTo>
                    <a:pt x="65" y="44"/>
                    <a:pt x="66" y="45"/>
                    <a:pt x="66" y="45"/>
                  </a:cubicBezTo>
                  <a:cubicBezTo>
                    <a:pt x="66" y="46"/>
                    <a:pt x="66" y="46"/>
                    <a:pt x="66" y="47"/>
                  </a:cubicBezTo>
                  <a:cubicBezTo>
                    <a:pt x="70" y="47"/>
                    <a:pt x="70" y="47"/>
                    <a:pt x="70" y="47"/>
                  </a:cubicBezTo>
                  <a:cubicBezTo>
                    <a:pt x="70" y="48"/>
                    <a:pt x="71" y="50"/>
                    <a:pt x="70" y="52"/>
                  </a:cubicBezTo>
                  <a:cubicBezTo>
                    <a:pt x="67" y="52"/>
                    <a:pt x="67" y="52"/>
                    <a:pt x="67" y="52"/>
                  </a:cubicBezTo>
                  <a:cubicBezTo>
                    <a:pt x="67" y="53"/>
                    <a:pt x="67" y="55"/>
                    <a:pt x="66" y="56"/>
                  </a:cubicBezTo>
                  <a:cubicBezTo>
                    <a:pt x="69" y="57"/>
                    <a:pt x="69" y="57"/>
                    <a:pt x="69" y="57"/>
                  </a:cubicBezTo>
                  <a:cubicBezTo>
                    <a:pt x="69" y="59"/>
                    <a:pt x="68" y="61"/>
                    <a:pt x="67" y="62"/>
                  </a:cubicBezTo>
                  <a:cubicBezTo>
                    <a:pt x="64" y="61"/>
                    <a:pt x="64" y="61"/>
                    <a:pt x="64" y="61"/>
                  </a:cubicBezTo>
                  <a:cubicBezTo>
                    <a:pt x="63" y="62"/>
                    <a:pt x="63" y="63"/>
                    <a:pt x="62" y="63"/>
                  </a:cubicBezTo>
                  <a:cubicBezTo>
                    <a:pt x="63" y="66"/>
                    <a:pt x="63" y="66"/>
                    <a:pt x="63" y="66"/>
                  </a:cubicBezTo>
                  <a:cubicBezTo>
                    <a:pt x="62" y="68"/>
                    <a:pt x="61" y="69"/>
                    <a:pt x="59" y="69"/>
                  </a:cubicBezTo>
                  <a:cubicBezTo>
                    <a:pt x="57" y="67"/>
                    <a:pt x="57" y="67"/>
                    <a:pt x="57" y="67"/>
                  </a:cubicBezTo>
                  <a:cubicBezTo>
                    <a:pt x="57" y="67"/>
                    <a:pt x="56" y="67"/>
                    <a:pt x="56" y="67"/>
                  </a:cubicBezTo>
                  <a:cubicBezTo>
                    <a:pt x="55" y="68"/>
                    <a:pt x="55" y="68"/>
                    <a:pt x="54" y="68"/>
                  </a:cubicBezTo>
                  <a:cubicBezTo>
                    <a:pt x="54" y="71"/>
                    <a:pt x="54" y="71"/>
                    <a:pt x="54" y="71"/>
                  </a:cubicBezTo>
                  <a:cubicBezTo>
                    <a:pt x="52" y="72"/>
                    <a:pt x="51" y="72"/>
                    <a:pt x="49" y="72"/>
                  </a:cubicBezTo>
                  <a:cubicBezTo>
                    <a:pt x="48" y="69"/>
                    <a:pt x="48" y="69"/>
                    <a:pt x="48" y="69"/>
                  </a:cubicBezTo>
                  <a:cubicBezTo>
                    <a:pt x="47" y="68"/>
                    <a:pt x="46" y="68"/>
                    <a:pt x="45" y="68"/>
                  </a:cubicBezTo>
                  <a:cubicBezTo>
                    <a:pt x="43" y="71"/>
                    <a:pt x="43" y="71"/>
                    <a:pt x="43" y="71"/>
                  </a:cubicBezTo>
                  <a:cubicBezTo>
                    <a:pt x="41" y="71"/>
                    <a:pt x="40" y="70"/>
                    <a:pt x="39" y="69"/>
                  </a:cubicBezTo>
                  <a:cubicBezTo>
                    <a:pt x="40" y="66"/>
                    <a:pt x="40" y="66"/>
                    <a:pt x="40" y="66"/>
                  </a:cubicBezTo>
                  <a:cubicBezTo>
                    <a:pt x="39" y="65"/>
                    <a:pt x="38" y="64"/>
                    <a:pt x="37" y="63"/>
                  </a:cubicBezTo>
                  <a:cubicBezTo>
                    <a:pt x="34" y="65"/>
                    <a:pt x="34" y="65"/>
                    <a:pt x="34" y="65"/>
                  </a:cubicBezTo>
                  <a:cubicBezTo>
                    <a:pt x="33" y="64"/>
                    <a:pt x="32" y="63"/>
                    <a:pt x="31" y="61"/>
                  </a:cubicBezTo>
                  <a:cubicBezTo>
                    <a:pt x="34" y="59"/>
                    <a:pt x="34" y="59"/>
                    <a:pt x="34" y="59"/>
                  </a:cubicBezTo>
                  <a:cubicBezTo>
                    <a:pt x="34" y="58"/>
                    <a:pt x="33" y="58"/>
                    <a:pt x="33" y="57"/>
                  </a:cubicBezTo>
                  <a:cubicBezTo>
                    <a:pt x="33" y="57"/>
                    <a:pt x="33" y="56"/>
                    <a:pt x="33" y="56"/>
                  </a:cubicBezTo>
                  <a:cubicBezTo>
                    <a:pt x="29" y="56"/>
                    <a:pt x="29" y="56"/>
                    <a:pt x="29" y="56"/>
                  </a:cubicBezTo>
                  <a:cubicBezTo>
                    <a:pt x="29" y="54"/>
                    <a:pt x="28" y="52"/>
                    <a:pt x="29" y="51"/>
                  </a:cubicBezTo>
                  <a:cubicBezTo>
                    <a:pt x="32" y="50"/>
                    <a:pt x="32" y="50"/>
                    <a:pt x="32" y="50"/>
                  </a:cubicBezTo>
                  <a:cubicBezTo>
                    <a:pt x="32" y="49"/>
                    <a:pt x="32" y="48"/>
                    <a:pt x="33" y="47"/>
                  </a:cubicBezTo>
                  <a:cubicBezTo>
                    <a:pt x="30" y="45"/>
                    <a:pt x="30" y="45"/>
                    <a:pt x="30" y="45"/>
                  </a:cubicBezTo>
                  <a:cubicBezTo>
                    <a:pt x="30" y="43"/>
                    <a:pt x="31" y="42"/>
                    <a:pt x="32" y="40"/>
                  </a:cubicBezTo>
                  <a:cubicBezTo>
                    <a:pt x="35" y="41"/>
                    <a:pt x="35" y="41"/>
                    <a:pt x="35" y="41"/>
                  </a:cubicBezTo>
                  <a:cubicBezTo>
                    <a:pt x="36" y="40"/>
                    <a:pt x="36" y="40"/>
                    <a:pt x="37" y="39"/>
                  </a:cubicBezTo>
                  <a:cubicBezTo>
                    <a:pt x="36" y="36"/>
                    <a:pt x="36" y="36"/>
                    <a:pt x="36" y="36"/>
                  </a:cubicBezTo>
                  <a:cubicBezTo>
                    <a:pt x="37" y="34"/>
                    <a:pt x="38" y="33"/>
                    <a:pt x="40" y="33"/>
                  </a:cubicBezTo>
                  <a:cubicBezTo>
                    <a:pt x="42" y="36"/>
                    <a:pt x="42" y="36"/>
                    <a:pt x="42" y="36"/>
                  </a:cubicBezTo>
                  <a:cubicBezTo>
                    <a:pt x="42" y="35"/>
                    <a:pt x="43" y="35"/>
                    <a:pt x="43" y="35"/>
                  </a:cubicBezTo>
                  <a:cubicBezTo>
                    <a:pt x="44" y="35"/>
                    <a:pt x="45" y="34"/>
                    <a:pt x="45" y="34"/>
                  </a:cubicBezTo>
                  <a:cubicBezTo>
                    <a:pt x="45" y="31"/>
                    <a:pt x="45" y="31"/>
                    <a:pt x="45" y="31"/>
                  </a:cubicBezTo>
                  <a:cubicBezTo>
                    <a:pt x="47" y="30"/>
                    <a:pt x="48" y="30"/>
                    <a:pt x="50" y="30"/>
                  </a:cubicBezTo>
                  <a:cubicBezTo>
                    <a:pt x="51" y="34"/>
                    <a:pt x="51" y="34"/>
                    <a:pt x="51" y="34"/>
                  </a:cubicBezTo>
                  <a:cubicBezTo>
                    <a:pt x="52" y="34"/>
                    <a:pt x="53" y="34"/>
                    <a:pt x="54" y="34"/>
                  </a:cubicBezTo>
                  <a:cubicBezTo>
                    <a:pt x="56" y="31"/>
                    <a:pt x="56" y="31"/>
                    <a:pt x="56" y="31"/>
                  </a:cubicBezTo>
                  <a:cubicBezTo>
                    <a:pt x="58" y="32"/>
                    <a:pt x="59" y="32"/>
                    <a:pt x="60" y="33"/>
                  </a:cubicBezTo>
                  <a:lnTo>
                    <a:pt x="59" y="37"/>
                  </a:lnTo>
                  <a:close/>
                </a:path>
              </a:pathLst>
            </a:custGeom>
            <a:solidFill>
              <a:schemeClr val="bg1"/>
            </a:solidFill>
            <a:ln w="9525">
              <a:noFill/>
            </a:ln>
          </p:spPr>
          <p:txBody>
            <a:bodyPr/>
            <a:p>
              <a:endParaRPr lang="zh-CN" altLang="en-US"/>
            </a:p>
          </p:txBody>
        </p:sp>
      </p:grpSp>
      <p:grpSp>
        <p:nvGrpSpPr>
          <p:cNvPr id="10253" name="组合 30"/>
          <p:cNvGrpSpPr/>
          <p:nvPr/>
        </p:nvGrpSpPr>
        <p:grpSpPr>
          <a:xfrm>
            <a:off x="4727575" y="4738688"/>
            <a:ext cx="1081088" cy="1079500"/>
            <a:chOff x="4728360" y="4621881"/>
            <a:chExt cx="1080000" cy="1080000"/>
          </a:xfrm>
        </p:grpSpPr>
        <p:sp>
          <p:nvSpPr>
            <p:cNvPr id="9" name="椭圆 8"/>
            <p:cNvSpPr>
              <a:spLocks noChangeAspect="1"/>
            </p:cNvSpPr>
            <p:nvPr/>
          </p:nvSpPr>
          <p:spPr>
            <a:xfrm>
              <a:off x="4728360" y="4621881"/>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Freeform 762"/>
            <p:cNvSpPr>
              <a:spLocks noChangeAspect="1" noEditPoints="1"/>
            </p:cNvSpPr>
            <p:nvPr/>
          </p:nvSpPr>
          <p:spPr>
            <a:xfrm>
              <a:off x="4998360" y="4883882"/>
              <a:ext cx="540000" cy="555999"/>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67" h="69">
                  <a:moveTo>
                    <a:pt x="24" y="31"/>
                  </a:moveTo>
                  <a:cubicBezTo>
                    <a:pt x="25" y="32"/>
                    <a:pt x="26" y="32"/>
                    <a:pt x="27" y="32"/>
                  </a:cubicBezTo>
                  <a:cubicBezTo>
                    <a:pt x="29" y="30"/>
                    <a:pt x="29" y="30"/>
                    <a:pt x="29" y="30"/>
                  </a:cubicBezTo>
                  <a:cubicBezTo>
                    <a:pt x="31" y="30"/>
                    <a:pt x="32" y="31"/>
                    <a:pt x="33" y="32"/>
                  </a:cubicBezTo>
                  <a:cubicBezTo>
                    <a:pt x="32" y="35"/>
                    <a:pt x="32" y="35"/>
                    <a:pt x="32" y="35"/>
                  </a:cubicBezTo>
                  <a:cubicBezTo>
                    <a:pt x="32" y="35"/>
                    <a:pt x="33" y="36"/>
                    <a:pt x="33" y="36"/>
                  </a:cubicBezTo>
                  <a:cubicBezTo>
                    <a:pt x="34" y="37"/>
                    <a:pt x="34" y="37"/>
                    <a:pt x="34" y="37"/>
                  </a:cubicBezTo>
                  <a:cubicBezTo>
                    <a:pt x="37" y="36"/>
                    <a:pt x="37" y="36"/>
                    <a:pt x="37" y="36"/>
                  </a:cubicBezTo>
                  <a:cubicBezTo>
                    <a:pt x="39" y="37"/>
                    <a:pt x="39" y="39"/>
                    <a:pt x="40" y="40"/>
                  </a:cubicBezTo>
                  <a:cubicBezTo>
                    <a:pt x="37" y="42"/>
                    <a:pt x="37" y="42"/>
                    <a:pt x="37" y="42"/>
                  </a:cubicBezTo>
                  <a:cubicBezTo>
                    <a:pt x="37" y="43"/>
                    <a:pt x="38" y="44"/>
                    <a:pt x="38" y="46"/>
                  </a:cubicBezTo>
                  <a:cubicBezTo>
                    <a:pt x="41" y="46"/>
                    <a:pt x="41" y="46"/>
                    <a:pt x="41" y="46"/>
                  </a:cubicBezTo>
                  <a:cubicBezTo>
                    <a:pt x="42" y="48"/>
                    <a:pt x="42" y="49"/>
                    <a:pt x="41" y="51"/>
                  </a:cubicBezTo>
                  <a:cubicBezTo>
                    <a:pt x="38" y="51"/>
                    <a:pt x="38" y="51"/>
                    <a:pt x="38" y="51"/>
                  </a:cubicBezTo>
                  <a:cubicBezTo>
                    <a:pt x="38" y="52"/>
                    <a:pt x="37" y="53"/>
                    <a:pt x="37" y="54"/>
                  </a:cubicBezTo>
                  <a:cubicBezTo>
                    <a:pt x="40" y="56"/>
                    <a:pt x="40" y="56"/>
                    <a:pt x="40" y="56"/>
                  </a:cubicBezTo>
                  <a:cubicBezTo>
                    <a:pt x="39" y="58"/>
                    <a:pt x="38" y="60"/>
                    <a:pt x="37" y="61"/>
                  </a:cubicBezTo>
                  <a:cubicBezTo>
                    <a:pt x="34" y="59"/>
                    <a:pt x="34" y="59"/>
                    <a:pt x="34" y="59"/>
                  </a:cubicBezTo>
                  <a:cubicBezTo>
                    <a:pt x="34" y="60"/>
                    <a:pt x="33" y="60"/>
                    <a:pt x="33" y="60"/>
                  </a:cubicBezTo>
                  <a:cubicBezTo>
                    <a:pt x="33" y="61"/>
                    <a:pt x="32" y="61"/>
                    <a:pt x="32" y="62"/>
                  </a:cubicBezTo>
                  <a:cubicBezTo>
                    <a:pt x="33" y="65"/>
                    <a:pt x="33" y="65"/>
                    <a:pt x="33" y="65"/>
                  </a:cubicBezTo>
                  <a:cubicBezTo>
                    <a:pt x="32" y="66"/>
                    <a:pt x="30" y="67"/>
                    <a:pt x="29" y="67"/>
                  </a:cubicBezTo>
                  <a:cubicBezTo>
                    <a:pt x="27" y="64"/>
                    <a:pt x="27" y="64"/>
                    <a:pt x="27" y="64"/>
                  </a:cubicBezTo>
                  <a:cubicBezTo>
                    <a:pt x="26" y="65"/>
                    <a:pt x="25" y="65"/>
                    <a:pt x="24" y="65"/>
                  </a:cubicBezTo>
                  <a:cubicBezTo>
                    <a:pt x="23" y="69"/>
                    <a:pt x="23" y="69"/>
                    <a:pt x="23" y="69"/>
                  </a:cubicBezTo>
                  <a:cubicBezTo>
                    <a:pt x="22" y="69"/>
                    <a:pt x="20" y="69"/>
                    <a:pt x="18" y="69"/>
                  </a:cubicBezTo>
                  <a:cubicBezTo>
                    <a:pt x="18" y="65"/>
                    <a:pt x="18" y="65"/>
                    <a:pt x="18" y="65"/>
                  </a:cubicBezTo>
                  <a:cubicBezTo>
                    <a:pt x="17" y="65"/>
                    <a:pt x="16" y="65"/>
                    <a:pt x="15" y="64"/>
                  </a:cubicBezTo>
                  <a:cubicBezTo>
                    <a:pt x="13" y="67"/>
                    <a:pt x="13" y="67"/>
                    <a:pt x="13" y="67"/>
                  </a:cubicBezTo>
                  <a:cubicBezTo>
                    <a:pt x="11" y="67"/>
                    <a:pt x="10" y="66"/>
                    <a:pt x="9" y="65"/>
                  </a:cubicBezTo>
                  <a:cubicBezTo>
                    <a:pt x="10" y="62"/>
                    <a:pt x="10" y="62"/>
                    <a:pt x="10" y="62"/>
                  </a:cubicBezTo>
                  <a:cubicBezTo>
                    <a:pt x="10" y="61"/>
                    <a:pt x="9" y="61"/>
                    <a:pt x="9" y="60"/>
                  </a:cubicBezTo>
                  <a:cubicBezTo>
                    <a:pt x="8" y="60"/>
                    <a:pt x="8" y="60"/>
                    <a:pt x="8" y="59"/>
                  </a:cubicBezTo>
                  <a:cubicBezTo>
                    <a:pt x="5" y="61"/>
                    <a:pt x="5" y="61"/>
                    <a:pt x="5" y="61"/>
                  </a:cubicBezTo>
                  <a:cubicBezTo>
                    <a:pt x="3" y="59"/>
                    <a:pt x="2" y="58"/>
                    <a:pt x="2" y="56"/>
                  </a:cubicBezTo>
                  <a:cubicBezTo>
                    <a:pt x="5" y="54"/>
                    <a:pt x="5" y="54"/>
                    <a:pt x="5" y="54"/>
                  </a:cubicBezTo>
                  <a:cubicBezTo>
                    <a:pt x="4" y="53"/>
                    <a:pt x="4" y="52"/>
                    <a:pt x="4" y="51"/>
                  </a:cubicBezTo>
                  <a:cubicBezTo>
                    <a:pt x="1" y="51"/>
                    <a:pt x="1" y="51"/>
                    <a:pt x="1" y="51"/>
                  </a:cubicBezTo>
                  <a:cubicBezTo>
                    <a:pt x="0" y="49"/>
                    <a:pt x="0" y="47"/>
                    <a:pt x="1" y="46"/>
                  </a:cubicBezTo>
                  <a:cubicBezTo>
                    <a:pt x="4" y="45"/>
                    <a:pt x="4" y="45"/>
                    <a:pt x="4" y="45"/>
                  </a:cubicBezTo>
                  <a:cubicBezTo>
                    <a:pt x="4" y="44"/>
                    <a:pt x="4" y="43"/>
                    <a:pt x="5" y="42"/>
                  </a:cubicBezTo>
                  <a:cubicBezTo>
                    <a:pt x="2" y="40"/>
                    <a:pt x="2" y="40"/>
                    <a:pt x="2" y="40"/>
                  </a:cubicBezTo>
                  <a:cubicBezTo>
                    <a:pt x="3" y="38"/>
                    <a:pt x="3" y="37"/>
                    <a:pt x="5" y="36"/>
                  </a:cubicBezTo>
                  <a:cubicBezTo>
                    <a:pt x="8" y="37"/>
                    <a:pt x="8" y="37"/>
                    <a:pt x="8" y="37"/>
                  </a:cubicBezTo>
                  <a:cubicBezTo>
                    <a:pt x="8" y="37"/>
                    <a:pt x="8" y="37"/>
                    <a:pt x="9" y="36"/>
                  </a:cubicBezTo>
                  <a:cubicBezTo>
                    <a:pt x="9" y="36"/>
                    <a:pt x="10" y="35"/>
                    <a:pt x="10" y="35"/>
                  </a:cubicBezTo>
                  <a:cubicBezTo>
                    <a:pt x="9" y="32"/>
                    <a:pt x="9" y="32"/>
                    <a:pt x="9" y="32"/>
                  </a:cubicBezTo>
                  <a:cubicBezTo>
                    <a:pt x="10" y="31"/>
                    <a:pt x="11" y="30"/>
                    <a:pt x="13" y="29"/>
                  </a:cubicBezTo>
                  <a:cubicBezTo>
                    <a:pt x="15" y="32"/>
                    <a:pt x="15" y="32"/>
                    <a:pt x="15" y="32"/>
                  </a:cubicBezTo>
                  <a:cubicBezTo>
                    <a:pt x="16" y="32"/>
                    <a:pt x="17" y="32"/>
                    <a:pt x="18" y="31"/>
                  </a:cubicBezTo>
                  <a:cubicBezTo>
                    <a:pt x="19" y="28"/>
                    <a:pt x="19" y="28"/>
                    <a:pt x="19" y="28"/>
                  </a:cubicBezTo>
                  <a:cubicBezTo>
                    <a:pt x="20" y="28"/>
                    <a:pt x="22" y="28"/>
                    <a:pt x="24" y="28"/>
                  </a:cubicBezTo>
                  <a:cubicBezTo>
                    <a:pt x="24" y="31"/>
                    <a:pt x="24" y="31"/>
                    <a:pt x="24" y="31"/>
                  </a:cubicBezTo>
                  <a:close/>
                  <a:moveTo>
                    <a:pt x="56" y="17"/>
                  </a:moveTo>
                  <a:cubicBezTo>
                    <a:pt x="56" y="14"/>
                    <a:pt x="56" y="14"/>
                    <a:pt x="56" y="14"/>
                  </a:cubicBezTo>
                  <a:cubicBezTo>
                    <a:pt x="55" y="14"/>
                    <a:pt x="54" y="14"/>
                    <a:pt x="53" y="14"/>
                  </a:cubicBezTo>
                  <a:cubicBezTo>
                    <a:pt x="52" y="16"/>
                    <a:pt x="52" y="16"/>
                    <a:pt x="52" y="16"/>
                  </a:cubicBezTo>
                  <a:cubicBezTo>
                    <a:pt x="51" y="16"/>
                    <a:pt x="51" y="16"/>
                    <a:pt x="50" y="17"/>
                  </a:cubicBezTo>
                  <a:cubicBezTo>
                    <a:pt x="49" y="15"/>
                    <a:pt x="49" y="15"/>
                    <a:pt x="49" y="15"/>
                  </a:cubicBezTo>
                  <a:cubicBezTo>
                    <a:pt x="48" y="15"/>
                    <a:pt x="47" y="15"/>
                    <a:pt x="46" y="16"/>
                  </a:cubicBezTo>
                  <a:cubicBezTo>
                    <a:pt x="46" y="18"/>
                    <a:pt x="46" y="18"/>
                    <a:pt x="46" y="18"/>
                  </a:cubicBezTo>
                  <a:cubicBezTo>
                    <a:pt x="46" y="18"/>
                    <a:pt x="46" y="19"/>
                    <a:pt x="45" y="19"/>
                  </a:cubicBezTo>
                  <a:cubicBezTo>
                    <a:pt x="45" y="19"/>
                    <a:pt x="45" y="19"/>
                    <a:pt x="45" y="20"/>
                  </a:cubicBezTo>
                  <a:cubicBezTo>
                    <a:pt x="43" y="18"/>
                    <a:pt x="43" y="18"/>
                    <a:pt x="43" y="18"/>
                  </a:cubicBezTo>
                  <a:cubicBezTo>
                    <a:pt x="42" y="19"/>
                    <a:pt x="41" y="20"/>
                    <a:pt x="41" y="21"/>
                  </a:cubicBezTo>
                  <a:cubicBezTo>
                    <a:pt x="42" y="23"/>
                    <a:pt x="42" y="23"/>
                    <a:pt x="42" y="23"/>
                  </a:cubicBezTo>
                  <a:cubicBezTo>
                    <a:pt x="42" y="24"/>
                    <a:pt x="42" y="24"/>
                    <a:pt x="41" y="25"/>
                  </a:cubicBezTo>
                  <a:cubicBezTo>
                    <a:pt x="39" y="25"/>
                    <a:pt x="39" y="25"/>
                    <a:pt x="39" y="25"/>
                  </a:cubicBezTo>
                  <a:cubicBezTo>
                    <a:pt x="39" y="26"/>
                    <a:pt x="38" y="27"/>
                    <a:pt x="39" y="28"/>
                  </a:cubicBezTo>
                  <a:cubicBezTo>
                    <a:pt x="41" y="29"/>
                    <a:pt x="41" y="29"/>
                    <a:pt x="41" y="29"/>
                  </a:cubicBezTo>
                  <a:cubicBezTo>
                    <a:pt x="41" y="30"/>
                    <a:pt x="41" y="30"/>
                    <a:pt x="41" y="31"/>
                  </a:cubicBezTo>
                  <a:cubicBezTo>
                    <a:pt x="39" y="32"/>
                    <a:pt x="39" y="32"/>
                    <a:pt x="39" y="32"/>
                  </a:cubicBezTo>
                  <a:cubicBezTo>
                    <a:pt x="39" y="33"/>
                    <a:pt x="40" y="34"/>
                    <a:pt x="41" y="35"/>
                  </a:cubicBezTo>
                  <a:cubicBezTo>
                    <a:pt x="43" y="35"/>
                    <a:pt x="43" y="35"/>
                    <a:pt x="43" y="35"/>
                  </a:cubicBezTo>
                  <a:cubicBezTo>
                    <a:pt x="43" y="35"/>
                    <a:pt x="43" y="35"/>
                    <a:pt x="44" y="36"/>
                  </a:cubicBezTo>
                  <a:cubicBezTo>
                    <a:pt x="44" y="36"/>
                    <a:pt x="44" y="36"/>
                    <a:pt x="44" y="37"/>
                  </a:cubicBezTo>
                  <a:cubicBezTo>
                    <a:pt x="43" y="39"/>
                    <a:pt x="43" y="39"/>
                    <a:pt x="43" y="39"/>
                  </a:cubicBezTo>
                  <a:cubicBezTo>
                    <a:pt x="44" y="39"/>
                    <a:pt x="45" y="40"/>
                    <a:pt x="46" y="41"/>
                  </a:cubicBezTo>
                  <a:cubicBezTo>
                    <a:pt x="47" y="39"/>
                    <a:pt x="47" y="39"/>
                    <a:pt x="47" y="39"/>
                  </a:cubicBezTo>
                  <a:cubicBezTo>
                    <a:pt x="48" y="39"/>
                    <a:pt x="49" y="39"/>
                    <a:pt x="50" y="40"/>
                  </a:cubicBezTo>
                  <a:cubicBezTo>
                    <a:pt x="50" y="42"/>
                    <a:pt x="50" y="42"/>
                    <a:pt x="50" y="42"/>
                  </a:cubicBezTo>
                  <a:cubicBezTo>
                    <a:pt x="51" y="42"/>
                    <a:pt x="52" y="43"/>
                    <a:pt x="53" y="42"/>
                  </a:cubicBezTo>
                  <a:cubicBezTo>
                    <a:pt x="54" y="40"/>
                    <a:pt x="54" y="40"/>
                    <a:pt x="54" y="40"/>
                  </a:cubicBezTo>
                  <a:cubicBezTo>
                    <a:pt x="54" y="40"/>
                    <a:pt x="55" y="40"/>
                    <a:pt x="56" y="40"/>
                  </a:cubicBezTo>
                  <a:cubicBezTo>
                    <a:pt x="57" y="42"/>
                    <a:pt x="57" y="42"/>
                    <a:pt x="57" y="42"/>
                  </a:cubicBezTo>
                  <a:cubicBezTo>
                    <a:pt x="58" y="42"/>
                    <a:pt x="59" y="41"/>
                    <a:pt x="60" y="40"/>
                  </a:cubicBezTo>
                  <a:cubicBezTo>
                    <a:pt x="59" y="38"/>
                    <a:pt x="59" y="38"/>
                    <a:pt x="59" y="38"/>
                  </a:cubicBezTo>
                  <a:cubicBezTo>
                    <a:pt x="60" y="38"/>
                    <a:pt x="60" y="38"/>
                    <a:pt x="60" y="38"/>
                  </a:cubicBezTo>
                  <a:cubicBezTo>
                    <a:pt x="61" y="37"/>
                    <a:pt x="61" y="37"/>
                    <a:pt x="61" y="37"/>
                  </a:cubicBezTo>
                  <a:cubicBezTo>
                    <a:pt x="63" y="38"/>
                    <a:pt x="63" y="38"/>
                    <a:pt x="63" y="38"/>
                  </a:cubicBezTo>
                  <a:cubicBezTo>
                    <a:pt x="64" y="37"/>
                    <a:pt x="65" y="36"/>
                    <a:pt x="65" y="35"/>
                  </a:cubicBezTo>
                  <a:cubicBezTo>
                    <a:pt x="64" y="34"/>
                    <a:pt x="64" y="34"/>
                    <a:pt x="64" y="34"/>
                  </a:cubicBezTo>
                  <a:cubicBezTo>
                    <a:pt x="64" y="33"/>
                    <a:pt x="64" y="32"/>
                    <a:pt x="64" y="31"/>
                  </a:cubicBezTo>
                  <a:cubicBezTo>
                    <a:pt x="67" y="31"/>
                    <a:pt x="67" y="31"/>
                    <a:pt x="67" y="31"/>
                  </a:cubicBezTo>
                  <a:cubicBezTo>
                    <a:pt x="67" y="30"/>
                    <a:pt x="67" y="29"/>
                    <a:pt x="67" y="28"/>
                  </a:cubicBezTo>
                  <a:cubicBezTo>
                    <a:pt x="65" y="28"/>
                    <a:pt x="65" y="28"/>
                    <a:pt x="65" y="28"/>
                  </a:cubicBezTo>
                  <a:cubicBezTo>
                    <a:pt x="65" y="27"/>
                    <a:pt x="65" y="26"/>
                    <a:pt x="64" y="25"/>
                  </a:cubicBezTo>
                  <a:cubicBezTo>
                    <a:pt x="67" y="24"/>
                    <a:pt x="67" y="24"/>
                    <a:pt x="67" y="24"/>
                  </a:cubicBezTo>
                  <a:cubicBezTo>
                    <a:pt x="66" y="23"/>
                    <a:pt x="66" y="22"/>
                    <a:pt x="65" y="21"/>
                  </a:cubicBezTo>
                  <a:cubicBezTo>
                    <a:pt x="63" y="22"/>
                    <a:pt x="63" y="22"/>
                    <a:pt x="63" y="22"/>
                  </a:cubicBezTo>
                  <a:cubicBezTo>
                    <a:pt x="63" y="21"/>
                    <a:pt x="62" y="21"/>
                    <a:pt x="62" y="21"/>
                  </a:cubicBezTo>
                  <a:cubicBezTo>
                    <a:pt x="62" y="20"/>
                    <a:pt x="62" y="20"/>
                    <a:pt x="61" y="20"/>
                  </a:cubicBezTo>
                  <a:cubicBezTo>
                    <a:pt x="63" y="18"/>
                    <a:pt x="63" y="18"/>
                    <a:pt x="63" y="18"/>
                  </a:cubicBezTo>
                  <a:cubicBezTo>
                    <a:pt x="62" y="17"/>
                    <a:pt x="61" y="16"/>
                    <a:pt x="60" y="16"/>
                  </a:cubicBezTo>
                  <a:cubicBezTo>
                    <a:pt x="58" y="18"/>
                    <a:pt x="58" y="18"/>
                    <a:pt x="58" y="18"/>
                  </a:cubicBezTo>
                  <a:cubicBezTo>
                    <a:pt x="58" y="17"/>
                    <a:pt x="57" y="17"/>
                    <a:pt x="56" y="17"/>
                  </a:cubicBezTo>
                  <a:close/>
                  <a:moveTo>
                    <a:pt x="53" y="23"/>
                  </a:moveTo>
                  <a:cubicBezTo>
                    <a:pt x="55" y="23"/>
                    <a:pt x="56" y="24"/>
                    <a:pt x="57" y="25"/>
                  </a:cubicBezTo>
                  <a:cubicBezTo>
                    <a:pt x="58" y="26"/>
                    <a:pt x="58" y="27"/>
                    <a:pt x="58" y="29"/>
                  </a:cubicBezTo>
                  <a:cubicBezTo>
                    <a:pt x="58" y="30"/>
                    <a:pt x="57" y="31"/>
                    <a:pt x="56" y="32"/>
                  </a:cubicBezTo>
                  <a:cubicBezTo>
                    <a:pt x="55" y="33"/>
                    <a:pt x="54" y="33"/>
                    <a:pt x="52" y="33"/>
                  </a:cubicBezTo>
                  <a:cubicBezTo>
                    <a:pt x="51" y="33"/>
                    <a:pt x="50" y="32"/>
                    <a:pt x="49" y="31"/>
                  </a:cubicBezTo>
                  <a:cubicBezTo>
                    <a:pt x="48" y="30"/>
                    <a:pt x="48" y="29"/>
                    <a:pt x="48" y="28"/>
                  </a:cubicBezTo>
                  <a:cubicBezTo>
                    <a:pt x="48" y="26"/>
                    <a:pt x="49" y="25"/>
                    <a:pt x="50" y="24"/>
                  </a:cubicBezTo>
                  <a:cubicBezTo>
                    <a:pt x="51" y="23"/>
                    <a:pt x="52" y="23"/>
                    <a:pt x="53" y="23"/>
                  </a:cubicBezTo>
                  <a:close/>
                  <a:moveTo>
                    <a:pt x="55" y="27"/>
                  </a:moveTo>
                  <a:cubicBezTo>
                    <a:pt x="55" y="27"/>
                    <a:pt x="55" y="28"/>
                    <a:pt x="55" y="28"/>
                  </a:cubicBezTo>
                  <a:cubicBezTo>
                    <a:pt x="55" y="29"/>
                    <a:pt x="55" y="30"/>
                    <a:pt x="54" y="30"/>
                  </a:cubicBezTo>
                  <a:cubicBezTo>
                    <a:pt x="54" y="30"/>
                    <a:pt x="53" y="31"/>
                    <a:pt x="53" y="31"/>
                  </a:cubicBezTo>
                  <a:cubicBezTo>
                    <a:pt x="52" y="30"/>
                    <a:pt x="51" y="30"/>
                    <a:pt x="51" y="30"/>
                  </a:cubicBezTo>
                  <a:cubicBezTo>
                    <a:pt x="51" y="29"/>
                    <a:pt x="50" y="29"/>
                    <a:pt x="51" y="28"/>
                  </a:cubicBezTo>
                  <a:cubicBezTo>
                    <a:pt x="51" y="27"/>
                    <a:pt x="51" y="27"/>
                    <a:pt x="51" y="26"/>
                  </a:cubicBezTo>
                  <a:cubicBezTo>
                    <a:pt x="52" y="26"/>
                    <a:pt x="52" y="26"/>
                    <a:pt x="53" y="26"/>
                  </a:cubicBezTo>
                  <a:cubicBezTo>
                    <a:pt x="54" y="26"/>
                    <a:pt x="54" y="26"/>
                    <a:pt x="55" y="27"/>
                  </a:cubicBezTo>
                  <a:close/>
                  <a:moveTo>
                    <a:pt x="59" y="23"/>
                  </a:moveTo>
                  <a:cubicBezTo>
                    <a:pt x="60" y="25"/>
                    <a:pt x="61" y="27"/>
                    <a:pt x="61" y="29"/>
                  </a:cubicBezTo>
                  <a:cubicBezTo>
                    <a:pt x="60" y="31"/>
                    <a:pt x="59" y="33"/>
                    <a:pt x="58" y="34"/>
                  </a:cubicBezTo>
                  <a:cubicBezTo>
                    <a:pt x="56" y="36"/>
                    <a:pt x="54" y="36"/>
                    <a:pt x="52" y="36"/>
                  </a:cubicBezTo>
                  <a:cubicBezTo>
                    <a:pt x="50" y="36"/>
                    <a:pt x="48" y="35"/>
                    <a:pt x="47" y="33"/>
                  </a:cubicBezTo>
                  <a:cubicBezTo>
                    <a:pt x="45" y="32"/>
                    <a:pt x="45" y="30"/>
                    <a:pt x="45" y="27"/>
                  </a:cubicBezTo>
                  <a:cubicBezTo>
                    <a:pt x="45" y="25"/>
                    <a:pt x="46" y="23"/>
                    <a:pt x="48" y="22"/>
                  </a:cubicBezTo>
                  <a:cubicBezTo>
                    <a:pt x="50" y="21"/>
                    <a:pt x="52" y="20"/>
                    <a:pt x="54" y="20"/>
                  </a:cubicBezTo>
                  <a:cubicBezTo>
                    <a:pt x="56" y="21"/>
                    <a:pt x="58" y="22"/>
                    <a:pt x="59" y="23"/>
                  </a:cubicBezTo>
                  <a:close/>
                  <a:moveTo>
                    <a:pt x="31" y="3"/>
                  </a:moveTo>
                  <a:cubicBezTo>
                    <a:pt x="31" y="1"/>
                    <a:pt x="31" y="1"/>
                    <a:pt x="31" y="1"/>
                  </a:cubicBezTo>
                  <a:cubicBezTo>
                    <a:pt x="30" y="1"/>
                    <a:pt x="29" y="0"/>
                    <a:pt x="28" y="1"/>
                  </a:cubicBezTo>
                  <a:cubicBezTo>
                    <a:pt x="27" y="3"/>
                    <a:pt x="27" y="3"/>
                    <a:pt x="27" y="3"/>
                  </a:cubicBezTo>
                  <a:cubicBezTo>
                    <a:pt x="27" y="3"/>
                    <a:pt x="26" y="3"/>
                    <a:pt x="25" y="3"/>
                  </a:cubicBezTo>
                  <a:cubicBezTo>
                    <a:pt x="24" y="1"/>
                    <a:pt x="24" y="1"/>
                    <a:pt x="24" y="1"/>
                  </a:cubicBezTo>
                  <a:cubicBezTo>
                    <a:pt x="23" y="1"/>
                    <a:pt x="22" y="2"/>
                    <a:pt x="21" y="3"/>
                  </a:cubicBezTo>
                  <a:cubicBezTo>
                    <a:pt x="21" y="5"/>
                    <a:pt x="21" y="5"/>
                    <a:pt x="21" y="5"/>
                  </a:cubicBezTo>
                  <a:cubicBezTo>
                    <a:pt x="21" y="5"/>
                    <a:pt x="21" y="5"/>
                    <a:pt x="20" y="6"/>
                  </a:cubicBezTo>
                  <a:cubicBezTo>
                    <a:pt x="20" y="6"/>
                    <a:pt x="20" y="6"/>
                    <a:pt x="20" y="6"/>
                  </a:cubicBezTo>
                  <a:cubicBezTo>
                    <a:pt x="18" y="5"/>
                    <a:pt x="18" y="5"/>
                    <a:pt x="18" y="5"/>
                  </a:cubicBezTo>
                  <a:cubicBezTo>
                    <a:pt x="17" y="6"/>
                    <a:pt x="16" y="7"/>
                    <a:pt x="16" y="8"/>
                  </a:cubicBezTo>
                  <a:cubicBezTo>
                    <a:pt x="17" y="9"/>
                    <a:pt x="17" y="9"/>
                    <a:pt x="17" y="9"/>
                  </a:cubicBezTo>
                  <a:cubicBezTo>
                    <a:pt x="17" y="10"/>
                    <a:pt x="17" y="11"/>
                    <a:pt x="16" y="12"/>
                  </a:cubicBezTo>
                  <a:cubicBezTo>
                    <a:pt x="14" y="12"/>
                    <a:pt x="14" y="12"/>
                    <a:pt x="14" y="12"/>
                  </a:cubicBezTo>
                  <a:cubicBezTo>
                    <a:pt x="14" y="13"/>
                    <a:pt x="14" y="14"/>
                    <a:pt x="14" y="15"/>
                  </a:cubicBezTo>
                  <a:cubicBezTo>
                    <a:pt x="16" y="15"/>
                    <a:pt x="16" y="15"/>
                    <a:pt x="16" y="15"/>
                  </a:cubicBezTo>
                  <a:cubicBezTo>
                    <a:pt x="16" y="16"/>
                    <a:pt x="16" y="17"/>
                    <a:pt x="16" y="18"/>
                  </a:cubicBezTo>
                  <a:cubicBezTo>
                    <a:pt x="14" y="19"/>
                    <a:pt x="14" y="19"/>
                    <a:pt x="14" y="19"/>
                  </a:cubicBezTo>
                  <a:cubicBezTo>
                    <a:pt x="14" y="20"/>
                    <a:pt x="15" y="21"/>
                    <a:pt x="16" y="22"/>
                  </a:cubicBezTo>
                  <a:cubicBezTo>
                    <a:pt x="18" y="21"/>
                    <a:pt x="18" y="21"/>
                    <a:pt x="18" y="21"/>
                  </a:cubicBezTo>
                  <a:cubicBezTo>
                    <a:pt x="18" y="22"/>
                    <a:pt x="18" y="22"/>
                    <a:pt x="19" y="22"/>
                  </a:cubicBezTo>
                  <a:cubicBezTo>
                    <a:pt x="19" y="23"/>
                    <a:pt x="19" y="23"/>
                    <a:pt x="19" y="23"/>
                  </a:cubicBezTo>
                  <a:cubicBezTo>
                    <a:pt x="18" y="25"/>
                    <a:pt x="18" y="25"/>
                    <a:pt x="18" y="25"/>
                  </a:cubicBezTo>
                  <a:cubicBezTo>
                    <a:pt x="19" y="26"/>
                    <a:pt x="20" y="27"/>
                    <a:pt x="21" y="27"/>
                  </a:cubicBezTo>
                  <a:cubicBezTo>
                    <a:pt x="23" y="25"/>
                    <a:pt x="23" y="25"/>
                    <a:pt x="23" y="25"/>
                  </a:cubicBezTo>
                  <a:cubicBezTo>
                    <a:pt x="23" y="26"/>
                    <a:pt x="24" y="26"/>
                    <a:pt x="25" y="26"/>
                  </a:cubicBezTo>
                  <a:cubicBezTo>
                    <a:pt x="25" y="29"/>
                    <a:pt x="25" y="29"/>
                    <a:pt x="25" y="29"/>
                  </a:cubicBezTo>
                  <a:cubicBezTo>
                    <a:pt x="26" y="29"/>
                    <a:pt x="27" y="29"/>
                    <a:pt x="28" y="29"/>
                  </a:cubicBezTo>
                  <a:cubicBezTo>
                    <a:pt x="29" y="27"/>
                    <a:pt x="29" y="27"/>
                    <a:pt x="29" y="27"/>
                  </a:cubicBezTo>
                  <a:cubicBezTo>
                    <a:pt x="29" y="27"/>
                    <a:pt x="30" y="27"/>
                    <a:pt x="31" y="26"/>
                  </a:cubicBezTo>
                  <a:cubicBezTo>
                    <a:pt x="32" y="28"/>
                    <a:pt x="32" y="28"/>
                    <a:pt x="32" y="28"/>
                  </a:cubicBezTo>
                  <a:cubicBezTo>
                    <a:pt x="33" y="28"/>
                    <a:pt x="34" y="28"/>
                    <a:pt x="35" y="27"/>
                  </a:cubicBezTo>
                  <a:cubicBezTo>
                    <a:pt x="34" y="25"/>
                    <a:pt x="34" y="25"/>
                    <a:pt x="34" y="25"/>
                  </a:cubicBezTo>
                  <a:cubicBezTo>
                    <a:pt x="35" y="25"/>
                    <a:pt x="35" y="24"/>
                    <a:pt x="35" y="24"/>
                  </a:cubicBezTo>
                  <a:cubicBezTo>
                    <a:pt x="36" y="24"/>
                    <a:pt x="36" y="24"/>
                    <a:pt x="36" y="23"/>
                  </a:cubicBezTo>
                  <a:cubicBezTo>
                    <a:pt x="38" y="25"/>
                    <a:pt x="38" y="25"/>
                    <a:pt x="38" y="25"/>
                  </a:cubicBezTo>
                  <a:cubicBezTo>
                    <a:pt x="39" y="24"/>
                    <a:pt x="40" y="23"/>
                    <a:pt x="40" y="22"/>
                  </a:cubicBezTo>
                  <a:cubicBezTo>
                    <a:pt x="39" y="20"/>
                    <a:pt x="39" y="20"/>
                    <a:pt x="39" y="20"/>
                  </a:cubicBezTo>
                  <a:cubicBezTo>
                    <a:pt x="39" y="20"/>
                    <a:pt x="39" y="19"/>
                    <a:pt x="39" y="18"/>
                  </a:cubicBezTo>
                  <a:cubicBezTo>
                    <a:pt x="42" y="18"/>
                    <a:pt x="42" y="18"/>
                    <a:pt x="42" y="18"/>
                  </a:cubicBezTo>
                  <a:cubicBezTo>
                    <a:pt x="42" y="17"/>
                    <a:pt x="42" y="16"/>
                    <a:pt x="42" y="15"/>
                  </a:cubicBezTo>
                  <a:cubicBezTo>
                    <a:pt x="40" y="14"/>
                    <a:pt x="40" y="14"/>
                    <a:pt x="40" y="14"/>
                  </a:cubicBezTo>
                  <a:cubicBezTo>
                    <a:pt x="40" y="13"/>
                    <a:pt x="40" y="13"/>
                    <a:pt x="40" y="12"/>
                  </a:cubicBezTo>
                  <a:cubicBezTo>
                    <a:pt x="42" y="11"/>
                    <a:pt x="42" y="11"/>
                    <a:pt x="42" y="11"/>
                  </a:cubicBezTo>
                  <a:cubicBezTo>
                    <a:pt x="41" y="10"/>
                    <a:pt x="41" y="9"/>
                    <a:pt x="40" y="8"/>
                  </a:cubicBezTo>
                  <a:cubicBezTo>
                    <a:pt x="38" y="8"/>
                    <a:pt x="38" y="8"/>
                    <a:pt x="38" y="8"/>
                  </a:cubicBezTo>
                  <a:cubicBezTo>
                    <a:pt x="38" y="8"/>
                    <a:pt x="37" y="8"/>
                    <a:pt x="37" y="7"/>
                  </a:cubicBezTo>
                  <a:cubicBezTo>
                    <a:pt x="37" y="7"/>
                    <a:pt x="37" y="7"/>
                    <a:pt x="36" y="7"/>
                  </a:cubicBezTo>
                  <a:cubicBezTo>
                    <a:pt x="38" y="5"/>
                    <a:pt x="38" y="5"/>
                    <a:pt x="38" y="5"/>
                  </a:cubicBezTo>
                  <a:cubicBezTo>
                    <a:pt x="37" y="4"/>
                    <a:pt x="36" y="3"/>
                    <a:pt x="35" y="2"/>
                  </a:cubicBezTo>
                  <a:cubicBezTo>
                    <a:pt x="33" y="4"/>
                    <a:pt x="33" y="4"/>
                    <a:pt x="33" y="4"/>
                  </a:cubicBezTo>
                  <a:cubicBezTo>
                    <a:pt x="33" y="4"/>
                    <a:pt x="32" y="4"/>
                    <a:pt x="31" y="3"/>
                  </a:cubicBezTo>
                  <a:close/>
                  <a:moveTo>
                    <a:pt x="28" y="10"/>
                  </a:moveTo>
                  <a:cubicBezTo>
                    <a:pt x="30" y="10"/>
                    <a:pt x="31" y="11"/>
                    <a:pt x="32" y="12"/>
                  </a:cubicBezTo>
                  <a:cubicBezTo>
                    <a:pt x="33" y="13"/>
                    <a:pt x="33" y="14"/>
                    <a:pt x="33" y="15"/>
                  </a:cubicBezTo>
                  <a:cubicBezTo>
                    <a:pt x="33" y="17"/>
                    <a:pt x="32" y="18"/>
                    <a:pt x="31" y="19"/>
                  </a:cubicBezTo>
                  <a:cubicBezTo>
                    <a:pt x="30" y="20"/>
                    <a:pt x="29" y="20"/>
                    <a:pt x="27" y="20"/>
                  </a:cubicBezTo>
                  <a:cubicBezTo>
                    <a:pt x="26" y="20"/>
                    <a:pt x="25" y="19"/>
                    <a:pt x="24" y="18"/>
                  </a:cubicBezTo>
                  <a:cubicBezTo>
                    <a:pt x="23" y="17"/>
                    <a:pt x="23" y="16"/>
                    <a:pt x="23" y="14"/>
                  </a:cubicBezTo>
                  <a:cubicBezTo>
                    <a:pt x="23" y="13"/>
                    <a:pt x="24" y="12"/>
                    <a:pt x="25" y="11"/>
                  </a:cubicBezTo>
                  <a:cubicBezTo>
                    <a:pt x="26" y="10"/>
                    <a:pt x="27" y="10"/>
                    <a:pt x="28" y="10"/>
                  </a:cubicBezTo>
                  <a:close/>
                  <a:moveTo>
                    <a:pt x="30" y="13"/>
                  </a:moveTo>
                  <a:cubicBezTo>
                    <a:pt x="30" y="14"/>
                    <a:pt x="30" y="14"/>
                    <a:pt x="30" y="15"/>
                  </a:cubicBezTo>
                  <a:cubicBezTo>
                    <a:pt x="30" y="16"/>
                    <a:pt x="30" y="16"/>
                    <a:pt x="29" y="17"/>
                  </a:cubicBezTo>
                  <a:cubicBezTo>
                    <a:pt x="29" y="17"/>
                    <a:pt x="28" y="17"/>
                    <a:pt x="28" y="17"/>
                  </a:cubicBezTo>
                  <a:cubicBezTo>
                    <a:pt x="27" y="17"/>
                    <a:pt x="26" y="17"/>
                    <a:pt x="26" y="16"/>
                  </a:cubicBezTo>
                  <a:cubicBezTo>
                    <a:pt x="26" y="16"/>
                    <a:pt x="26" y="15"/>
                    <a:pt x="26" y="15"/>
                  </a:cubicBezTo>
                  <a:cubicBezTo>
                    <a:pt x="26" y="14"/>
                    <a:pt x="26" y="13"/>
                    <a:pt x="26" y="13"/>
                  </a:cubicBezTo>
                  <a:cubicBezTo>
                    <a:pt x="27" y="13"/>
                    <a:pt x="28" y="12"/>
                    <a:pt x="28" y="13"/>
                  </a:cubicBezTo>
                  <a:cubicBezTo>
                    <a:pt x="29" y="13"/>
                    <a:pt x="29" y="13"/>
                    <a:pt x="30" y="13"/>
                  </a:cubicBezTo>
                  <a:close/>
                  <a:moveTo>
                    <a:pt x="34" y="10"/>
                  </a:moveTo>
                  <a:cubicBezTo>
                    <a:pt x="35" y="11"/>
                    <a:pt x="36" y="14"/>
                    <a:pt x="36" y="16"/>
                  </a:cubicBezTo>
                  <a:cubicBezTo>
                    <a:pt x="36" y="18"/>
                    <a:pt x="34" y="20"/>
                    <a:pt x="33" y="21"/>
                  </a:cubicBezTo>
                  <a:cubicBezTo>
                    <a:pt x="31" y="22"/>
                    <a:pt x="29" y="23"/>
                    <a:pt x="27" y="23"/>
                  </a:cubicBezTo>
                  <a:cubicBezTo>
                    <a:pt x="25" y="22"/>
                    <a:pt x="23" y="21"/>
                    <a:pt x="22" y="20"/>
                  </a:cubicBezTo>
                  <a:cubicBezTo>
                    <a:pt x="21" y="18"/>
                    <a:pt x="20" y="16"/>
                    <a:pt x="20" y="14"/>
                  </a:cubicBezTo>
                  <a:cubicBezTo>
                    <a:pt x="20" y="12"/>
                    <a:pt x="21" y="10"/>
                    <a:pt x="23" y="9"/>
                  </a:cubicBezTo>
                  <a:cubicBezTo>
                    <a:pt x="25" y="7"/>
                    <a:pt x="27" y="7"/>
                    <a:pt x="29" y="7"/>
                  </a:cubicBezTo>
                  <a:cubicBezTo>
                    <a:pt x="31" y="7"/>
                    <a:pt x="33" y="8"/>
                    <a:pt x="34" y="10"/>
                  </a:cubicBezTo>
                  <a:close/>
                  <a:moveTo>
                    <a:pt x="21" y="41"/>
                  </a:moveTo>
                  <a:cubicBezTo>
                    <a:pt x="19" y="41"/>
                    <a:pt x="17" y="42"/>
                    <a:pt x="16" y="43"/>
                  </a:cubicBezTo>
                  <a:cubicBezTo>
                    <a:pt x="14" y="44"/>
                    <a:pt x="14" y="46"/>
                    <a:pt x="14" y="48"/>
                  </a:cubicBezTo>
                  <a:cubicBezTo>
                    <a:pt x="14" y="50"/>
                    <a:pt x="14" y="52"/>
                    <a:pt x="16" y="54"/>
                  </a:cubicBezTo>
                  <a:cubicBezTo>
                    <a:pt x="17" y="55"/>
                    <a:pt x="19" y="56"/>
                    <a:pt x="21" y="56"/>
                  </a:cubicBezTo>
                  <a:cubicBezTo>
                    <a:pt x="23" y="56"/>
                    <a:pt x="25" y="55"/>
                    <a:pt x="26" y="54"/>
                  </a:cubicBezTo>
                  <a:cubicBezTo>
                    <a:pt x="28" y="52"/>
                    <a:pt x="28" y="50"/>
                    <a:pt x="28" y="48"/>
                  </a:cubicBezTo>
                  <a:cubicBezTo>
                    <a:pt x="28" y="46"/>
                    <a:pt x="28" y="44"/>
                    <a:pt x="26" y="43"/>
                  </a:cubicBezTo>
                  <a:cubicBezTo>
                    <a:pt x="25" y="42"/>
                    <a:pt x="23" y="41"/>
                    <a:pt x="21" y="41"/>
                  </a:cubicBezTo>
                  <a:close/>
                  <a:moveTo>
                    <a:pt x="23" y="46"/>
                  </a:moveTo>
                  <a:cubicBezTo>
                    <a:pt x="23" y="45"/>
                    <a:pt x="22" y="45"/>
                    <a:pt x="21" y="45"/>
                  </a:cubicBezTo>
                  <a:cubicBezTo>
                    <a:pt x="20" y="45"/>
                    <a:pt x="19" y="45"/>
                    <a:pt x="19" y="46"/>
                  </a:cubicBezTo>
                  <a:cubicBezTo>
                    <a:pt x="18" y="47"/>
                    <a:pt x="18" y="47"/>
                    <a:pt x="18" y="48"/>
                  </a:cubicBezTo>
                  <a:cubicBezTo>
                    <a:pt x="18" y="49"/>
                    <a:pt x="18" y="50"/>
                    <a:pt x="19" y="51"/>
                  </a:cubicBezTo>
                  <a:cubicBezTo>
                    <a:pt x="19" y="51"/>
                    <a:pt x="20" y="52"/>
                    <a:pt x="21" y="52"/>
                  </a:cubicBezTo>
                  <a:cubicBezTo>
                    <a:pt x="22" y="52"/>
                    <a:pt x="23" y="51"/>
                    <a:pt x="23" y="51"/>
                  </a:cubicBezTo>
                  <a:cubicBezTo>
                    <a:pt x="24" y="50"/>
                    <a:pt x="24" y="49"/>
                    <a:pt x="24" y="48"/>
                  </a:cubicBezTo>
                  <a:cubicBezTo>
                    <a:pt x="24" y="47"/>
                    <a:pt x="24" y="47"/>
                    <a:pt x="23" y="46"/>
                  </a:cubicBezTo>
                  <a:close/>
                  <a:moveTo>
                    <a:pt x="29" y="40"/>
                  </a:moveTo>
                  <a:cubicBezTo>
                    <a:pt x="27" y="38"/>
                    <a:pt x="24" y="37"/>
                    <a:pt x="21" y="37"/>
                  </a:cubicBezTo>
                  <a:cubicBezTo>
                    <a:pt x="18" y="37"/>
                    <a:pt x="15" y="38"/>
                    <a:pt x="13" y="40"/>
                  </a:cubicBezTo>
                  <a:cubicBezTo>
                    <a:pt x="11" y="42"/>
                    <a:pt x="10" y="45"/>
                    <a:pt x="10" y="48"/>
                  </a:cubicBezTo>
                  <a:cubicBezTo>
                    <a:pt x="10" y="51"/>
                    <a:pt x="11" y="54"/>
                    <a:pt x="13" y="56"/>
                  </a:cubicBezTo>
                  <a:cubicBezTo>
                    <a:pt x="15" y="58"/>
                    <a:pt x="18" y="60"/>
                    <a:pt x="21" y="60"/>
                  </a:cubicBezTo>
                  <a:cubicBezTo>
                    <a:pt x="24" y="60"/>
                    <a:pt x="27" y="58"/>
                    <a:pt x="29" y="56"/>
                  </a:cubicBezTo>
                  <a:cubicBezTo>
                    <a:pt x="31" y="54"/>
                    <a:pt x="32" y="51"/>
                    <a:pt x="32" y="48"/>
                  </a:cubicBezTo>
                  <a:cubicBezTo>
                    <a:pt x="32" y="45"/>
                    <a:pt x="31" y="42"/>
                    <a:pt x="29" y="40"/>
                  </a:cubicBezTo>
                  <a:close/>
                </a:path>
              </a:pathLst>
            </a:custGeom>
            <a:solidFill>
              <a:schemeClr val="bg1"/>
            </a:solidFill>
            <a:ln w="9525">
              <a:noFill/>
            </a:ln>
          </p:spPr>
          <p:txBody>
            <a:bodyPr/>
            <a:p>
              <a:endParaRPr lang="zh-CN" altLang="en-US"/>
            </a:p>
          </p:txBody>
        </p:sp>
      </p:grpSp>
      <p:grpSp>
        <p:nvGrpSpPr>
          <p:cNvPr id="10256" name="组合 32"/>
          <p:cNvGrpSpPr/>
          <p:nvPr/>
        </p:nvGrpSpPr>
        <p:grpSpPr>
          <a:xfrm>
            <a:off x="5808663" y="2881313"/>
            <a:ext cx="3117850" cy="1685925"/>
            <a:chOff x="5808360" y="908189"/>
            <a:chExt cx="3117927" cy="1686890"/>
          </a:xfrm>
        </p:grpSpPr>
        <p:sp>
          <p:nvSpPr>
            <p:cNvPr id="10257" name="文本框 33"/>
            <p:cNvSpPr txBox="1"/>
            <p:nvPr/>
          </p:nvSpPr>
          <p:spPr>
            <a:xfrm>
              <a:off x="5808360" y="908189"/>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现有技术</a:t>
              </a:r>
              <a:endParaRPr lang="zh-CN" altLang="en-US" sz="2400" b="1" dirty="0">
                <a:latin typeface="微软雅黑" panose="020B0503020204020204" pitchFamily="34" charset="-122"/>
                <a:ea typeface="微软雅黑" panose="020B0503020204020204" pitchFamily="34" charset="-122"/>
              </a:endParaRPr>
            </a:p>
          </p:txBody>
        </p:sp>
        <p:sp>
          <p:nvSpPr>
            <p:cNvPr id="10258" name="文本框 34"/>
            <p:cNvSpPr txBox="1"/>
            <p:nvPr/>
          </p:nvSpPr>
          <p:spPr>
            <a:xfrm>
              <a:off x="5808361" y="1272852"/>
              <a:ext cx="3117926" cy="1322227"/>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一阶导边缘算子、二阶导边缘算子等，这里采用的是</a:t>
              </a:r>
              <a:r>
                <a:rPr lang="en-US" altLang="zh-CN" sz="1600" dirty="0">
                  <a:latin typeface="微软雅黑" panose="020B0503020204020204" pitchFamily="34" charset="-122"/>
                  <a:ea typeface="微软雅黑" panose="020B0503020204020204" pitchFamily="34" charset="-122"/>
                </a:rPr>
                <a:t>canny</a:t>
              </a:r>
              <a:r>
                <a:rPr lang="zh-CN" altLang="en-US" sz="1600" dirty="0">
                  <a:latin typeface="微软雅黑" panose="020B0503020204020204" pitchFamily="34" charset="-122"/>
                  <a:ea typeface="微软雅黑" panose="020B0503020204020204" pitchFamily="34" charset="-122"/>
                </a:rPr>
                <a:t>算子的边缘检测技术，它需要先进行滤波降噪操作来减轻噪声的影响，因为该技术对噪声敏感。</a:t>
              </a:r>
              <a:endParaRPr lang="zh-CN" altLang="en-US" sz="1600" dirty="0">
                <a:latin typeface="微软雅黑" panose="020B0503020204020204" pitchFamily="34" charset="-122"/>
                <a:ea typeface="微软雅黑" panose="020B0503020204020204" pitchFamily="34" charset="-122"/>
              </a:endParaRPr>
            </a:p>
          </p:txBody>
        </p:sp>
      </p:grpSp>
      <p:grpSp>
        <p:nvGrpSpPr>
          <p:cNvPr id="10259" name="组合 35"/>
          <p:cNvGrpSpPr/>
          <p:nvPr/>
        </p:nvGrpSpPr>
        <p:grpSpPr>
          <a:xfrm>
            <a:off x="5808663" y="4664075"/>
            <a:ext cx="3117850" cy="2179638"/>
            <a:chOff x="5808360" y="908189"/>
            <a:chExt cx="3117927" cy="2179709"/>
          </a:xfrm>
        </p:grpSpPr>
        <p:sp>
          <p:nvSpPr>
            <p:cNvPr id="10260" name="文本框 36"/>
            <p:cNvSpPr txBox="1"/>
            <p:nvPr/>
          </p:nvSpPr>
          <p:spPr>
            <a:xfrm>
              <a:off x="5808360" y="908189"/>
              <a:ext cx="2713422" cy="460430"/>
            </a:xfrm>
            <a:prstGeom prst="rect">
              <a:avLst/>
            </a:prstGeom>
            <a:noFill/>
            <a:ln w="9525">
              <a:noFill/>
            </a:ln>
          </p:spPr>
          <p:txBody>
            <a:bodyPr wrap="square" anchor="t" anchorCtr="0">
              <a:spAutoFit/>
            </a:bodyPr>
            <a:p>
              <a:r>
                <a:rPr lang="zh-CN" altLang="en-US" sz="2400" b="1" dirty="0">
                  <a:latin typeface="微软雅黑" panose="020B0503020204020204" pitchFamily="34" charset="-122"/>
                  <a:ea typeface="微软雅黑" panose="020B0503020204020204" pitchFamily="34" charset="-122"/>
                </a:rPr>
                <a:t>非极大值抑制</a:t>
              </a:r>
              <a:endParaRPr lang="zh-CN" altLang="en-US" sz="2400" b="1" dirty="0">
                <a:latin typeface="微软雅黑" panose="020B0503020204020204" pitchFamily="34" charset="-122"/>
                <a:ea typeface="微软雅黑" panose="020B0503020204020204" pitchFamily="34" charset="-122"/>
              </a:endParaRPr>
            </a:p>
          </p:txBody>
        </p:sp>
        <p:sp>
          <p:nvSpPr>
            <p:cNvPr id="10261" name="文本框 37"/>
            <p:cNvSpPr txBox="1"/>
            <p:nvPr/>
          </p:nvSpPr>
          <p:spPr>
            <a:xfrm>
              <a:off x="5808361" y="1272852"/>
              <a:ext cx="3117926" cy="1815046"/>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转化为灰度图像，在获得梯度大小和方向后，将对图像进行全面扫描，以去除可能不构成边缘的所有不需要的像素。为此，在每个像素处，检查像素是否是其在梯度方向上附近的局部最大值，最后采用双阈值法得到最终图像，</a:t>
              </a:r>
              <a:endParaRPr lang="zh-CN" altLang="en-US" sz="1600" dirty="0">
                <a:latin typeface="微软雅黑" panose="020B0503020204020204" pitchFamily="34" charset="-122"/>
                <a:ea typeface="微软雅黑" panose="020B0503020204020204" pitchFamily="34" charset="-122"/>
              </a:endParaRPr>
            </a:p>
          </p:txBody>
        </p:sp>
      </p:grpSp>
      <p:cxnSp>
        <p:nvCxnSpPr>
          <p:cNvPr id="26" name="直接连接符 2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10263"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10264" name="文本框 39"/>
          <p:cNvSpPr txBox="1"/>
          <p:nvPr/>
        </p:nvSpPr>
        <p:spPr>
          <a:xfrm>
            <a:off x="1073150" y="230188"/>
            <a:ext cx="4976813" cy="398462"/>
          </a:xfrm>
          <a:prstGeom prst="rect">
            <a:avLst/>
          </a:prstGeom>
          <a:noFill/>
          <a:ln w="9525">
            <a:noFill/>
          </a:ln>
        </p:spPr>
        <p:txBody>
          <a:bodyPr anchor="t" anchorCtr="0">
            <a:spAutoFit/>
          </a:bodyPr>
          <a:p>
            <a:pPr>
              <a:buClrTx/>
              <a:buFontTx/>
            </a:pPr>
            <a:r>
              <a:rPr lang="zh-CN" altLang="zh-CN" sz="2000" b="1" dirty="0">
                <a:solidFill>
                  <a:srgbClr val="1F3A65"/>
                </a:solidFill>
                <a:latin typeface="微软雅黑" panose="020B0503020204020204" pitchFamily="34" charset="-122"/>
                <a:ea typeface="微软雅黑" panose="020B0503020204020204" pitchFamily="34" charset="-122"/>
              </a:rPr>
              <a:t>功能展示</a:t>
            </a:r>
            <a:endParaRPr lang="zh-CN" altLang="zh-CN" sz="2000" b="1" dirty="0">
              <a:solidFill>
                <a:srgbClr val="1F3A65"/>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4378325" y="1724025"/>
            <a:ext cx="0" cy="3789363"/>
          </a:xfrm>
          <a:prstGeom prst="line">
            <a:avLst/>
          </a:prstGeom>
          <a:ln>
            <a:solidFill>
              <a:schemeClr val="accent3">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10266" name="图片 3"/>
          <p:cNvPicPr>
            <a:picLocks noChangeAspect="1"/>
          </p:cNvPicPr>
          <p:nvPr/>
        </p:nvPicPr>
        <p:blipFill>
          <a:blip r:embed="rId1"/>
          <a:srcRect t="-262" r="1384"/>
          <a:stretch>
            <a:fillRect/>
          </a:stretch>
        </p:blipFill>
        <p:spPr>
          <a:xfrm>
            <a:off x="438150" y="1230313"/>
            <a:ext cx="2428875" cy="1884362"/>
          </a:xfrm>
          <a:prstGeom prst="rect">
            <a:avLst/>
          </a:prstGeom>
          <a:noFill/>
          <a:ln w="9525">
            <a:noFill/>
          </a:ln>
        </p:spPr>
      </p:pic>
      <p:pic>
        <p:nvPicPr>
          <p:cNvPr id="10267" name="图片 4"/>
          <p:cNvPicPr>
            <a:picLocks noChangeAspect="1"/>
          </p:cNvPicPr>
          <p:nvPr/>
        </p:nvPicPr>
        <p:blipFill>
          <a:blip r:embed="rId2"/>
          <a:srcRect t="153" b="-153"/>
          <a:stretch>
            <a:fillRect/>
          </a:stretch>
        </p:blipFill>
        <p:spPr>
          <a:xfrm>
            <a:off x="438150" y="3305175"/>
            <a:ext cx="2257425" cy="169545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矩形 9"/>
          <p:cNvSpPr/>
          <p:nvPr/>
        </p:nvSpPr>
        <p:spPr>
          <a:xfrm>
            <a:off x="-476250" y="1408113"/>
            <a:ext cx="4789488" cy="3194050"/>
          </a:xfrm>
          <a:prstGeom prst="rect">
            <a:avLst/>
          </a:prstGeom>
          <a:noFill/>
          <a:ln w="9525">
            <a:noFill/>
          </a:ln>
        </p:spPr>
        <p:txBody>
          <a:bodyPr anchor="t" anchorCtr="0"/>
          <a:p>
            <a:pPr eaLnBrk="0" hangingPunct="0"/>
            <a:endParaRPr lang="zh-CN" altLang="en-US" dirty="0">
              <a:latin typeface="微软雅黑" panose="020B0503020204020204" pitchFamily="34" charset="-122"/>
              <a:ea typeface="微软雅黑" panose="020B0503020204020204" pitchFamily="34" charset="-122"/>
            </a:endParaRPr>
          </a:p>
        </p:txBody>
      </p:sp>
      <p:grpSp>
        <p:nvGrpSpPr>
          <p:cNvPr id="11266" name="组合 5"/>
          <p:cNvGrpSpPr/>
          <p:nvPr/>
        </p:nvGrpSpPr>
        <p:grpSpPr>
          <a:xfrm>
            <a:off x="228600" y="5126038"/>
            <a:ext cx="4267200" cy="942975"/>
            <a:chOff x="305118" y="4395153"/>
            <a:chExt cx="4266882" cy="650855"/>
          </a:xfrm>
        </p:grpSpPr>
        <p:sp>
          <p:nvSpPr>
            <p:cNvPr id="11267" name="文本框 3"/>
            <p:cNvSpPr txBox="1"/>
            <p:nvPr/>
          </p:nvSpPr>
          <p:spPr>
            <a:xfrm>
              <a:off x="305118" y="4395153"/>
              <a:ext cx="3398520" cy="339367"/>
            </a:xfrm>
            <a:prstGeom prst="rect">
              <a:avLst/>
            </a:prstGeom>
            <a:noFill/>
            <a:ln w="9525">
              <a:noFill/>
            </a:ln>
          </p:spPr>
          <p:txBody>
            <a:bodyPr anchor="t" anchorCtr="0">
              <a:spAutoFit/>
            </a:bodyPr>
            <a:p>
              <a:pPr marL="104775">
                <a:lnSpc>
                  <a:spcPct val="130000"/>
                </a:lnSpc>
                <a:buClr>
                  <a:srgbClr val="10CF9B"/>
                </a:buClr>
              </a:pPr>
              <a:r>
                <a:rPr lang="zh-CN" altLang="en-US" sz="2000" b="1" dirty="0">
                  <a:latin typeface="微软雅黑" panose="020B0503020204020204" pitchFamily="34" charset="-122"/>
                  <a:ea typeface="微软雅黑" panose="020B0503020204020204" pitchFamily="34" charset="-122"/>
                </a:rPr>
                <a:t>边缘检测</a:t>
              </a:r>
              <a:endParaRPr lang="en-US" altLang="zh-CN" sz="2000" b="1" dirty="0">
                <a:latin typeface="微软雅黑" panose="020B0503020204020204" pitchFamily="34" charset="-122"/>
                <a:ea typeface="微软雅黑" panose="020B0503020204020204" pitchFamily="34" charset="-122"/>
              </a:endParaRPr>
            </a:p>
          </p:txBody>
        </p:sp>
        <p:sp>
          <p:nvSpPr>
            <p:cNvPr id="11268" name="文本框 4"/>
            <p:cNvSpPr txBox="1"/>
            <p:nvPr/>
          </p:nvSpPr>
          <p:spPr>
            <a:xfrm>
              <a:off x="305118" y="4734703"/>
              <a:ext cx="4266882" cy="311305"/>
            </a:xfrm>
            <a:prstGeom prst="rect">
              <a:avLst/>
            </a:prstGeom>
            <a:noFill/>
            <a:ln w="9525">
              <a:noFill/>
            </a:ln>
          </p:spPr>
          <p:txBody>
            <a:bodyPr anchor="t" anchorCtr="0">
              <a:spAutoFit/>
            </a:bodyPr>
            <a:p>
              <a:pPr marL="104775">
                <a:lnSpc>
                  <a:spcPct val="130000"/>
                </a:lnSpc>
                <a:buClr>
                  <a:srgbClr val="10CF9B"/>
                </a:buClr>
              </a:pPr>
              <a:r>
                <a:rPr lang="zh-CN" altLang="zh-CN" dirty="0">
                  <a:latin typeface="微软雅黑" panose="020B0503020204020204" pitchFamily="34" charset="-122"/>
                  <a:ea typeface="微软雅黑" panose="020B0503020204020204" pitchFamily="34" charset="-122"/>
                </a:rPr>
                <a:t>加入降噪与不加入降噪对比</a:t>
              </a:r>
              <a:endParaRPr lang="zh-CN" altLang="zh-CN" dirty="0">
                <a:latin typeface="微软雅黑" panose="020B0503020204020204" pitchFamily="34" charset="-122"/>
                <a:ea typeface="微软雅黑" panose="020B0503020204020204" pitchFamily="34" charset="-122"/>
              </a:endParaRPr>
            </a:p>
          </p:txBody>
        </p:sp>
      </p:grpSp>
      <p:sp>
        <p:nvSpPr>
          <p:cNvPr id="7" name="椭圆 6"/>
          <p:cNvSpPr>
            <a:spLocks noChangeAspect="1"/>
          </p:cNvSpPr>
          <p:nvPr/>
        </p:nvSpPr>
        <p:spPr>
          <a:xfrm>
            <a:off x="4616450" y="1408113"/>
            <a:ext cx="1081088" cy="108108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1270" name="组合 27"/>
          <p:cNvGrpSpPr/>
          <p:nvPr/>
        </p:nvGrpSpPr>
        <p:grpSpPr>
          <a:xfrm>
            <a:off x="5772150" y="1481138"/>
            <a:ext cx="3119438" cy="3978275"/>
            <a:chOff x="5807090" y="831980"/>
            <a:chExt cx="3119197" cy="3979514"/>
          </a:xfrm>
        </p:grpSpPr>
        <p:sp>
          <p:nvSpPr>
            <p:cNvPr id="11271" name="文本框 21"/>
            <p:cNvSpPr txBox="1"/>
            <p:nvPr/>
          </p:nvSpPr>
          <p:spPr>
            <a:xfrm>
              <a:off x="5807090" y="831980"/>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双阈值法</a:t>
              </a:r>
              <a:endParaRPr lang="zh-CN" altLang="en-US" sz="2400" b="1" dirty="0">
                <a:latin typeface="微软雅黑" panose="020B0503020204020204" pitchFamily="34" charset="-122"/>
                <a:ea typeface="微软雅黑" panose="020B0503020204020204" pitchFamily="34" charset="-122"/>
              </a:endParaRPr>
            </a:p>
          </p:txBody>
        </p:sp>
        <p:sp>
          <p:nvSpPr>
            <p:cNvPr id="11272" name="文本框 22"/>
            <p:cNvSpPr txBox="1"/>
            <p:nvPr/>
          </p:nvSpPr>
          <p:spPr>
            <a:xfrm>
              <a:off x="5808361" y="1272852"/>
              <a:ext cx="3117926" cy="3538642"/>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在非极大值抑制后的边缘点中，设置两个阈值TH和TL，梯度值超过TH的为强边缘，小于TH大于TL的为弱边缘，小于TL的不是边缘，可以肯定的是，强边缘必然是边缘点，因此必须将T1设置的足够高，以要求像素点的梯度值足够大（变化足够剧烈），而弱边缘可能是边缘，也可能是噪声，判断方法为：当弱边缘的周围8邻域有强边缘点存在时，就将该弱边缘点变成强边缘点，以此来实现对强边缘的补充，</a:t>
              </a:r>
              <a:r>
                <a:rPr lang="zh-CN" altLang="en-US" sz="1600" b="1" dirty="0">
                  <a:latin typeface="微软雅黑" panose="020B0503020204020204" pitchFamily="34" charset="-122"/>
                  <a:ea typeface="微软雅黑" panose="020B0503020204020204" pitchFamily="34" charset="-122"/>
                </a:rPr>
                <a:t>这两个阈值是可以调控的</a:t>
              </a:r>
              <a:endParaRPr lang="zh-CN" altLang="en-US" sz="1600" b="1" dirty="0">
                <a:latin typeface="微软雅黑" panose="020B0503020204020204" pitchFamily="34" charset="-122"/>
                <a:ea typeface="微软雅黑" panose="020B0503020204020204" pitchFamily="34" charset="-122"/>
              </a:endParaRPr>
            </a:p>
          </p:txBody>
        </p:sp>
      </p:grpSp>
      <p:sp>
        <p:nvSpPr>
          <p:cNvPr id="11273" name="Freeform 48"/>
          <p:cNvSpPr>
            <a:spLocks noChangeAspect="1" noEditPoints="1"/>
          </p:cNvSpPr>
          <p:nvPr/>
        </p:nvSpPr>
        <p:spPr>
          <a:xfrm>
            <a:off x="4999038" y="1333500"/>
            <a:ext cx="539750" cy="5397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6" h="96">
                <a:moveTo>
                  <a:pt x="92" y="41"/>
                </a:moveTo>
                <a:cubicBezTo>
                  <a:pt x="88" y="41"/>
                  <a:pt x="88" y="41"/>
                  <a:pt x="88" y="41"/>
                </a:cubicBezTo>
                <a:cubicBezTo>
                  <a:pt x="86" y="41"/>
                  <a:pt x="84" y="39"/>
                  <a:pt x="83" y="37"/>
                </a:cubicBezTo>
                <a:cubicBezTo>
                  <a:pt x="81" y="31"/>
                  <a:pt x="81" y="31"/>
                  <a:pt x="81" y="31"/>
                </a:cubicBezTo>
                <a:cubicBezTo>
                  <a:pt x="80" y="29"/>
                  <a:pt x="80" y="26"/>
                  <a:pt x="81" y="25"/>
                </a:cubicBezTo>
                <a:cubicBezTo>
                  <a:pt x="85" y="22"/>
                  <a:pt x="85" y="22"/>
                  <a:pt x="85" y="22"/>
                </a:cubicBezTo>
                <a:cubicBezTo>
                  <a:pt x="86" y="20"/>
                  <a:pt x="86" y="18"/>
                  <a:pt x="85" y="17"/>
                </a:cubicBezTo>
                <a:cubicBezTo>
                  <a:pt x="79" y="11"/>
                  <a:pt x="79" y="11"/>
                  <a:pt x="79" y="11"/>
                </a:cubicBezTo>
                <a:cubicBezTo>
                  <a:pt x="78" y="10"/>
                  <a:pt x="76" y="10"/>
                  <a:pt x="74" y="11"/>
                </a:cubicBezTo>
                <a:cubicBezTo>
                  <a:pt x="71" y="15"/>
                  <a:pt x="71" y="15"/>
                  <a:pt x="71" y="15"/>
                </a:cubicBezTo>
                <a:cubicBezTo>
                  <a:pt x="70" y="16"/>
                  <a:pt x="67" y="16"/>
                  <a:pt x="65" y="15"/>
                </a:cubicBezTo>
                <a:cubicBezTo>
                  <a:pt x="59" y="13"/>
                  <a:pt x="59" y="13"/>
                  <a:pt x="59" y="13"/>
                </a:cubicBezTo>
                <a:cubicBezTo>
                  <a:pt x="57" y="12"/>
                  <a:pt x="55" y="10"/>
                  <a:pt x="55" y="8"/>
                </a:cubicBezTo>
                <a:cubicBezTo>
                  <a:pt x="55" y="4"/>
                  <a:pt x="55" y="4"/>
                  <a:pt x="55" y="4"/>
                </a:cubicBezTo>
                <a:cubicBezTo>
                  <a:pt x="55" y="2"/>
                  <a:pt x="54" y="0"/>
                  <a:pt x="52" y="0"/>
                </a:cubicBezTo>
                <a:cubicBezTo>
                  <a:pt x="44" y="0"/>
                  <a:pt x="44" y="0"/>
                  <a:pt x="44" y="0"/>
                </a:cubicBezTo>
                <a:cubicBezTo>
                  <a:pt x="42" y="0"/>
                  <a:pt x="41" y="2"/>
                  <a:pt x="41" y="4"/>
                </a:cubicBezTo>
                <a:cubicBezTo>
                  <a:pt x="41" y="8"/>
                  <a:pt x="41" y="8"/>
                  <a:pt x="41" y="8"/>
                </a:cubicBezTo>
                <a:cubicBezTo>
                  <a:pt x="41" y="10"/>
                  <a:pt x="39" y="12"/>
                  <a:pt x="37" y="13"/>
                </a:cubicBezTo>
                <a:cubicBezTo>
                  <a:pt x="31" y="15"/>
                  <a:pt x="31" y="15"/>
                  <a:pt x="31" y="15"/>
                </a:cubicBezTo>
                <a:cubicBezTo>
                  <a:pt x="29" y="16"/>
                  <a:pt x="26" y="16"/>
                  <a:pt x="25" y="15"/>
                </a:cubicBezTo>
                <a:cubicBezTo>
                  <a:pt x="22" y="11"/>
                  <a:pt x="22" y="11"/>
                  <a:pt x="22" y="11"/>
                </a:cubicBezTo>
                <a:cubicBezTo>
                  <a:pt x="20" y="10"/>
                  <a:pt x="18" y="10"/>
                  <a:pt x="17" y="11"/>
                </a:cubicBezTo>
                <a:cubicBezTo>
                  <a:pt x="11" y="17"/>
                  <a:pt x="11" y="17"/>
                  <a:pt x="11" y="17"/>
                </a:cubicBezTo>
                <a:cubicBezTo>
                  <a:pt x="10" y="18"/>
                  <a:pt x="10" y="20"/>
                  <a:pt x="11" y="22"/>
                </a:cubicBezTo>
                <a:cubicBezTo>
                  <a:pt x="15" y="25"/>
                  <a:pt x="15" y="25"/>
                  <a:pt x="15" y="25"/>
                </a:cubicBezTo>
                <a:cubicBezTo>
                  <a:pt x="16" y="26"/>
                  <a:pt x="16" y="29"/>
                  <a:pt x="15" y="31"/>
                </a:cubicBezTo>
                <a:cubicBezTo>
                  <a:pt x="13" y="37"/>
                  <a:pt x="13" y="37"/>
                  <a:pt x="13" y="37"/>
                </a:cubicBezTo>
                <a:cubicBezTo>
                  <a:pt x="12" y="39"/>
                  <a:pt x="10" y="41"/>
                  <a:pt x="8" y="41"/>
                </a:cubicBezTo>
                <a:cubicBezTo>
                  <a:pt x="4" y="41"/>
                  <a:pt x="4" y="41"/>
                  <a:pt x="4" y="41"/>
                </a:cubicBezTo>
                <a:cubicBezTo>
                  <a:pt x="2" y="41"/>
                  <a:pt x="0" y="42"/>
                  <a:pt x="0" y="44"/>
                </a:cubicBezTo>
                <a:cubicBezTo>
                  <a:pt x="0" y="52"/>
                  <a:pt x="0" y="52"/>
                  <a:pt x="0" y="52"/>
                </a:cubicBezTo>
                <a:cubicBezTo>
                  <a:pt x="0" y="54"/>
                  <a:pt x="2" y="55"/>
                  <a:pt x="4" y="55"/>
                </a:cubicBezTo>
                <a:cubicBezTo>
                  <a:pt x="8" y="55"/>
                  <a:pt x="8" y="55"/>
                  <a:pt x="8" y="55"/>
                </a:cubicBezTo>
                <a:cubicBezTo>
                  <a:pt x="10" y="55"/>
                  <a:pt x="12" y="57"/>
                  <a:pt x="13" y="59"/>
                </a:cubicBezTo>
                <a:cubicBezTo>
                  <a:pt x="15" y="65"/>
                  <a:pt x="15" y="65"/>
                  <a:pt x="15" y="65"/>
                </a:cubicBezTo>
                <a:cubicBezTo>
                  <a:pt x="16" y="67"/>
                  <a:pt x="16" y="70"/>
                  <a:pt x="15" y="71"/>
                </a:cubicBezTo>
                <a:cubicBezTo>
                  <a:pt x="11" y="74"/>
                  <a:pt x="11" y="74"/>
                  <a:pt x="11" y="74"/>
                </a:cubicBezTo>
                <a:cubicBezTo>
                  <a:pt x="10" y="76"/>
                  <a:pt x="10" y="78"/>
                  <a:pt x="11" y="79"/>
                </a:cubicBezTo>
                <a:cubicBezTo>
                  <a:pt x="17" y="85"/>
                  <a:pt x="17" y="85"/>
                  <a:pt x="17" y="85"/>
                </a:cubicBezTo>
                <a:cubicBezTo>
                  <a:pt x="18" y="86"/>
                  <a:pt x="20" y="86"/>
                  <a:pt x="22" y="85"/>
                </a:cubicBezTo>
                <a:cubicBezTo>
                  <a:pt x="25" y="81"/>
                  <a:pt x="25" y="81"/>
                  <a:pt x="25" y="81"/>
                </a:cubicBezTo>
                <a:cubicBezTo>
                  <a:pt x="26" y="80"/>
                  <a:pt x="29" y="80"/>
                  <a:pt x="31" y="81"/>
                </a:cubicBezTo>
                <a:cubicBezTo>
                  <a:pt x="37" y="83"/>
                  <a:pt x="37" y="83"/>
                  <a:pt x="37" y="83"/>
                </a:cubicBezTo>
                <a:cubicBezTo>
                  <a:pt x="39" y="84"/>
                  <a:pt x="41" y="86"/>
                  <a:pt x="41" y="88"/>
                </a:cubicBezTo>
                <a:cubicBezTo>
                  <a:pt x="41" y="92"/>
                  <a:pt x="41" y="92"/>
                  <a:pt x="41" y="92"/>
                </a:cubicBezTo>
                <a:cubicBezTo>
                  <a:pt x="41" y="94"/>
                  <a:pt x="42" y="96"/>
                  <a:pt x="44" y="96"/>
                </a:cubicBezTo>
                <a:cubicBezTo>
                  <a:pt x="52" y="96"/>
                  <a:pt x="52" y="96"/>
                  <a:pt x="52" y="96"/>
                </a:cubicBezTo>
                <a:cubicBezTo>
                  <a:pt x="54" y="96"/>
                  <a:pt x="55" y="94"/>
                  <a:pt x="55" y="92"/>
                </a:cubicBezTo>
                <a:cubicBezTo>
                  <a:pt x="55" y="88"/>
                  <a:pt x="55" y="88"/>
                  <a:pt x="55" y="88"/>
                </a:cubicBezTo>
                <a:cubicBezTo>
                  <a:pt x="55" y="86"/>
                  <a:pt x="57" y="84"/>
                  <a:pt x="59" y="83"/>
                </a:cubicBezTo>
                <a:cubicBezTo>
                  <a:pt x="65" y="81"/>
                  <a:pt x="65" y="81"/>
                  <a:pt x="65" y="81"/>
                </a:cubicBezTo>
                <a:cubicBezTo>
                  <a:pt x="67" y="80"/>
                  <a:pt x="70" y="80"/>
                  <a:pt x="71" y="81"/>
                </a:cubicBezTo>
                <a:cubicBezTo>
                  <a:pt x="74" y="85"/>
                  <a:pt x="74" y="85"/>
                  <a:pt x="74" y="85"/>
                </a:cubicBezTo>
                <a:cubicBezTo>
                  <a:pt x="76" y="86"/>
                  <a:pt x="78" y="86"/>
                  <a:pt x="79" y="85"/>
                </a:cubicBezTo>
                <a:cubicBezTo>
                  <a:pt x="85" y="79"/>
                  <a:pt x="85" y="79"/>
                  <a:pt x="85" y="79"/>
                </a:cubicBezTo>
                <a:cubicBezTo>
                  <a:pt x="86" y="78"/>
                  <a:pt x="86" y="76"/>
                  <a:pt x="85" y="74"/>
                </a:cubicBezTo>
                <a:cubicBezTo>
                  <a:pt x="81" y="71"/>
                  <a:pt x="81" y="71"/>
                  <a:pt x="81" y="71"/>
                </a:cubicBezTo>
                <a:cubicBezTo>
                  <a:pt x="80" y="70"/>
                  <a:pt x="80" y="67"/>
                  <a:pt x="81" y="65"/>
                </a:cubicBezTo>
                <a:cubicBezTo>
                  <a:pt x="83" y="59"/>
                  <a:pt x="83" y="59"/>
                  <a:pt x="83" y="59"/>
                </a:cubicBezTo>
                <a:cubicBezTo>
                  <a:pt x="84" y="57"/>
                  <a:pt x="86" y="55"/>
                  <a:pt x="88" y="55"/>
                </a:cubicBezTo>
                <a:cubicBezTo>
                  <a:pt x="92" y="55"/>
                  <a:pt x="92" y="55"/>
                  <a:pt x="92" y="55"/>
                </a:cubicBezTo>
                <a:cubicBezTo>
                  <a:pt x="94" y="55"/>
                  <a:pt x="96" y="54"/>
                  <a:pt x="96" y="52"/>
                </a:cubicBezTo>
                <a:cubicBezTo>
                  <a:pt x="96" y="44"/>
                  <a:pt x="96" y="44"/>
                  <a:pt x="96" y="44"/>
                </a:cubicBezTo>
                <a:cubicBezTo>
                  <a:pt x="96" y="42"/>
                  <a:pt x="94" y="41"/>
                  <a:pt x="92" y="41"/>
                </a:cubicBezTo>
                <a:close/>
                <a:moveTo>
                  <a:pt x="66" y="48"/>
                </a:moveTo>
                <a:cubicBezTo>
                  <a:pt x="66" y="58"/>
                  <a:pt x="58" y="66"/>
                  <a:pt x="48" y="66"/>
                </a:cubicBezTo>
                <a:cubicBezTo>
                  <a:pt x="38" y="66"/>
                  <a:pt x="30" y="58"/>
                  <a:pt x="30" y="48"/>
                </a:cubicBezTo>
                <a:cubicBezTo>
                  <a:pt x="30" y="38"/>
                  <a:pt x="38" y="30"/>
                  <a:pt x="48" y="30"/>
                </a:cubicBezTo>
                <a:cubicBezTo>
                  <a:pt x="58" y="30"/>
                  <a:pt x="66" y="38"/>
                  <a:pt x="66" y="48"/>
                </a:cubicBezTo>
                <a:close/>
              </a:path>
            </a:pathLst>
          </a:custGeom>
          <a:solidFill>
            <a:schemeClr val="bg1"/>
          </a:solidFill>
          <a:ln w="9525">
            <a:noFill/>
          </a:ln>
        </p:spPr>
        <p:txBody>
          <a:bodyPr/>
          <a:p>
            <a:endParaRPr lang="zh-CN" altLang="en-US"/>
          </a:p>
        </p:txBody>
      </p:sp>
      <p:cxnSp>
        <p:nvCxnSpPr>
          <p:cNvPr id="26" name="直接连接符 2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11275"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11276" name="文本框 39"/>
          <p:cNvSpPr txBox="1"/>
          <p:nvPr/>
        </p:nvSpPr>
        <p:spPr>
          <a:xfrm>
            <a:off x="1073150" y="230188"/>
            <a:ext cx="4976813" cy="398462"/>
          </a:xfrm>
          <a:prstGeom prst="rect">
            <a:avLst/>
          </a:prstGeom>
          <a:noFill/>
          <a:ln w="9525">
            <a:noFill/>
          </a:ln>
        </p:spPr>
        <p:txBody>
          <a:bodyPr anchor="t" anchorCtr="0">
            <a:spAutoFit/>
          </a:bodyPr>
          <a:p>
            <a:pPr>
              <a:buClrTx/>
              <a:buFontTx/>
            </a:pPr>
            <a:r>
              <a:rPr lang="zh-CN" altLang="zh-CN" sz="2000" b="1" dirty="0">
                <a:solidFill>
                  <a:srgbClr val="1F3A65"/>
                </a:solidFill>
                <a:latin typeface="微软雅黑" panose="020B0503020204020204" pitchFamily="34" charset="-122"/>
                <a:ea typeface="微软雅黑" panose="020B0503020204020204" pitchFamily="34" charset="-122"/>
              </a:rPr>
              <a:t>功能展示</a:t>
            </a:r>
            <a:endParaRPr lang="zh-CN" altLang="zh-CN" sz="2000" b="1" dirty="0">
              <a:solidFill>
                <a:srgbClr val="1F3A65"/>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4378325" y="1724025"/>
            <a:ext cx="0" cy="3789363"/>
          </a:xfrm>
          <a:prstGeom prst="line">
            <a:avLst/>
          </a:prstGeom>
          <a:ln>
            <a:solidFill>
              <a:schemeClr val="accent3">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11278" name="图片 3"/>
          <p:cNvPicPr>
            <a:picLocks noChangeAspect="1"/>
          </p:cNvPicPr>
          <p:nvPr/>
        </p:nvPicPr>
        <p:blipFill>
          <a:blip r:embed="rId1"/>
          <a:srcRect t="-262" r="1384"/>
          <a:stretch>
            <a:fillRect/>
          </a:stretch>
        </p:blipFill>
        <p:spPr>
          <a:xfrm>
            <a:off x="438150" y="1230313"/>
            <a:ext cx="2428875" cy="1884362"/>
          </a:xfrm>
          <a:prstGeom prst="rect">
            <a:avLst/>
          </a:prstGeom>
          <a:noFill/>
          <a:ln w="9525">
            <a:noFill/>
          </a:ln>
        </p:spPr>
      </p:pic>
      <p:pic>
        <p:nvPicPr>
          <p:cNvPr id="11279" name="图片 4"/>
          <p:cNvPicPr>
            <a:picLocks noChangeAspect="1"/>
          </p:cNvPicPr>
          <p:nvPr/>
        </p:nvPicPr>
        <p:blipFill>
          <a:blip r:embed="rId2"/>
          <a:srcRect t="153" b="-153"/>
          <a:stretch>
            <a:fillRect/>
          </a:stretch>
        </p:blipFill>
        <p:spPr>
          <a:xfrm>
            <a:off x="438150" y="3305175"/>
            <a:ext cx="2257425" cy="169545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矩形 9"/>
          <p:cNvSpPr/>
          <p:nvPr/>
        </p:nvSpPr>
        <p:spPr>
          <a:xfrm>
            <a:off x="-476250" y="1408113"/>
            <a:ext cx="4789488" cy="3194050"/>
          </a:xfrm>
          <a:prstGeom prst="rect">
            <a:avLst/>
          </a:prstGeom>
          <a:noFill/>
          <a:ln w="9525">
            <a:noFill/>
          </a:ln>
        </p:spPr>
        <p:txBody>
          <a:bodyPr anchor="t" anchorCtr="0"/>
          <a:p>
            <a:pPr eaLnBrk="0" hangingPunct="0"/>
            <a:endParaRPr lang="zh-CN" altLang="en-US" dirty="0">
              <a:latin typeface="微软雅黑" panose="020B0503020204020204" pitchFamily="34" charset="-122"/>
              <a:ea typeface="微软雅黑" panose="020B0503020204020204" pitchFamily="34" charset="-122"/>
            </a:endParaRPr>
          </a:p>
        </p:txBody>
      </p:sp>
      <p:grpSp>
        <p:nvGrpSpPr>
          <p:cNvPr id="12290" name="组合 5"/>
          <p:cNvGrpSpPr/>
          <p:nvPr/>
        </p:nvGrpSpPr>
        <p:grpSpPr>
          <a:xfrm>
            <a:off x="228600" y="5126038"/>
            <a:ext cx="4267200" cy="1363662"/>
            <a:chOff x="305118" y="4395153"/>
            <a:chExt cx="4266882" cy="941553"/>
          </a:xfrm>
        </p:grpSpPr>
        <p:sp>
          <p:nvSpPr>
            <p:cNvPr id="12291" name="文本框 3"/>
            <p:cNvSpPr txBox="1"/>
            <p:nvPr/>
          </p:nvSpPr>
          <p:spPr>
            <a:xfrm>
              <a:off x="305118" y="4395153"/>
              <a:ext cx="3398520" cy="339367"/>
            </a:xfrm>
            <a:prstGeom prst="rect">
              <a:avLst/>
            </a:prstGeom>
            <a:noFill/>
            <a:ln w="9525">
              <a:noFill/>
            </a:ln>
          </p:spPr>
          <p:txBody>
            <a:bodyPr anchor="t" anchorCtr="0">
              <a:spAutoFit/>
            </a:bodyPr>
            <a:p>
              <a:pPr marL="104775">
                <a:lnSpc>
                  <a:spcPct val="130000"/>
                </a:lnSpc>
                <a:buClr>
                  <a:srgbClr val="10CF9B"/>
                </a:buClr>
              </a:pPr>
              <a:r>
                <a:rPr lang="zh-CN" altLang="en-US" sz="2000" b="1" dirty="0">
                  <a:latin typeface="微软雅黑" panose="020B0503020204020204" pitchFamily="34" charset="-122"/>
                  <a:ea typeface="微软雅黑" panose="020B0503020204020204" pitchFamily="34" charset="-122"/>
                </a:rPr>
                <a:t>轮廓检测</a:t>
              </a:r>
              <a:endParaRPr lang="en-US" altLang="zh-CN" sz="2000" b="1" dirty="0">
                <a:latin typeface="微软雅黑" panose="020B0503020204020204" pitchFamily="34" charset="-122"/>
                <a:ea typeface="微软雅黑" panose="020B0503020204020204" pitchFamily="34" charset="-122"/>
              </a:endParaRPr>
            </a:p>
          </p:txBody>
        </p:sp>
        <p:sp>
          <p:nvSpPr>
            <p:cNvPr id="12292" name="文本框 4"/>
            <p:cNvSpPr txBox="1"/>
            <p:nvPr/>
          </p:nvSpPr>
          <p:spPr>
            <a:xfrm>
              <a:off x="305118" y="4777233"/>
              <a:ext cx="4266882" cy="559473"/>
            </a:xfrm>
            <a:prstGeom prst="rect">
              <a:avLst/>
            </a:prstGeom>
            <a:noFill/>
            <a:ln w="9525">
              <a:noFill/>
            </a:ln>
          </p:spPr>
          <p:txBody>
            <a:bodyPr anchor="t" anchorCtr="0">
              <a:spAutoFit/>
            </a:bodyPr>
            <a:p>
              <a:pPr marL="104775">
                <a:lnSpc>
                  <a:spcPct val="130000"/>
                </a:lnSpc>
                <a:buClr>
                  <a:srgbClr val="10CF9B"/>
                </a:buClr>
              </a:pPr>
              <a:r>
                <a:rPr lang="zh-CN" altLang="en-US" dirty="0">
                  <a:latin typeface="微软雅黑" panose="020B0503020204020204" pitchFamily="34" charset="-122"/>
                  <a:ea typeface="微软雅黑" panose="020B0503020204020204" pitchFamily="34" charset="-122"/>
                </a:rPr>
                <a:t>将所有连续点的曲线设置为同一颜色，可以用于提取轮廓信息</a:t>
              </a:r>
              <a:endParaRPr lang="zh-CN" altLang="zh-CN" dirty="0">
                <a:latin typeface="微软雅黑" panose="020B0503020204020204" pitchFamily="34" charset="-122"/>
                <a:ea typeface="微软雅黑" panose="020B0503020204020204" pitchFamily="34" charset="-122"/>
              </a:endParaRPr>
            </a:p>
          </p:txBody>
        </p:sp>
      </p:grpSp>
      <p:sp>
        <p:nvSpPr>
          <p:cNvPr id="7" name="椭圆 6"/>
          <p:cNvSpPr>
            <a:spLocks noChangeAspect="1"/>
          </p:cNvSpPr>
          <p:nvPr/>
        </p:nvSpPr>
        <p:spPr>
          <a:xfrm>
            <a:off x="4727575" y="1062038"/>
            <a:ext cx="1081088" cy="108108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2294" name="组合 27"/>
          <p:cNvGrpSpPr/>
          <p:nvPr/>
        </p:nvGrpSpPr>
        <p:grpSpPr>
          <a:xfrm>
            <a:off x="5808663" y="1023938"/>
            <a:ext cx="3117850" cy="2424112"/>
            <a:chOff x="5808360" y="908189"/>
            <a:chExt cx="3117927" cy="2424213"/>
          </a:xfrm>
        </p:grpSpPr>
        <p:sp>
          <p:nvSpPr>
            <p:cNvPr id="12295" name="文本框 21"/>
            <p:cNvSpPr txBox="1"/>
            <p:nvPr/>
          </p:nvSpPr>
          <p:spPr>
            <a:xfrm>
              <a:off x="5808360" y="908189"/>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实现原理</a:t>
              </a:r>
              <a:endParaRPr lang="zh-CN" altLang="en-US" sz="2400" b="1" dirty="0">
                <a:latin typeface="微软雅黑" panose="020B0503020204020204" pitchFamily="34" charset="-122"/>
                <a:ea typeface="微软雅黑" panose="020B0503020204020204" pitchFamily="34" charset="-122"/>
              </a:endParaRPr>
            </a:p>
          </p:txBody>
        </p:sp>
        <p:sp>
          <p:nvSpPr>
            <p:cNvPr id="12296" name="文本框 22"/>
            <p:cNvSpPr txBox="1"/>
            <p:nvPr/>
          </p:nvSpPr>
          <p:spPr>
            <a:xfrm>
              <a:off x="5808361" y="1270947"/>
              <a:ext cx="3117926" cy="2061455"/>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图像去噪，转化为二值图像，寻找轮廓的过程用前面的</a:t>
              </a:r>
              <a:r>
                <a:rPr lang="en-US" altLang="zh-CN" sz="1600" dirty="0">
                  <a:latin typeface="微软雅黑" panose="020B0503020204020204" pitchFamily="34" charset="-122"/>
                  <a:ea typeface="微软雅黑" panose="020B0503020204020204" pitchFamily="34" charset="-122"/>
                </a:rPr>
                <a:t>canny</a:t>
              </a:r>
              <a:r>
                <a:rPr lang="zh-CN" altLang="en-US" sz="1600" dirty="0">
                  <a:latin typeface="微软雅黑" panose="020B0503020204020204" pitchFamily="34" charset="-122"/>
                  <a:ea typeface="微软雅黑" panose="020B0503020204020204" pitchFamily="34" charset="-122"/>
                </a:rPr>
                <a:t>边缘检测后的图像实现，找到轮廓后，把轮廓的信息保存，然后在源图像中绘制出即可，通过找出轮廓可以得到轮廓内图像的面积等信息，其中可调的参数是二值图像的阈值，同阈值二值化操作</a:t>
              </a:r>
              <a:endParaRPr lang="zh-CN" altLang="en-US" sz="1600" dirty="0">
                <a:latin typeface="微软雅黑" panose="020B0503020204020204" pitchFamily="34" charset="-122"/>
                <a:ea typeface="微软雅黑" panose="020B0503020204020204" pitchFamily="34" charset="-122"/>
              </a:endParaRPr>
            </a:p>
          </p:txBody>
        </p:sp>
      </p:grpSp>
      <p:sp>
        <p:nvSpPr>
          <p:cNvPr id="12297" name="Freeform 48"/>
          <p:cNvSpPr>
            <a:spLocks noChangeAspect="1" noEditPoints="1"/>
          </p:cNvSpPr>
          <p:nvPr/>
        </p:nvSpPr>
        <p:spPr>
          <a:xfrm>
            <a:off x="4999038" y="1333500"/>
            <a:ext cx="539750" cy="5397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6" h="96">
                <a:moveTo>
                  <a:pt x="92" y="41"/>
                </a:moveTo>
                <a:cubicBezTo>
                  <a:pt x="88" y="41"/>
                  <a:pt x="88" y="41"/>
                  <a:pt x="88" y="41"/>
                </a:cubicBezTo>
                <a:cubicBezTo>
                  <a:pt x="86" y="41"/>
                  <a:pt x="84" y="39"/>
                  <a:pt x="83" y="37"/>
                </a:cubicBezTo>
                <a:cubicBezTo>
                  <a:pt x="81" y="31"/>
                  <a:pt x="81" y="31"/>
                  <a:pt x="81" y="31"/>
                </a:cubicBezTo>
                <a:cubicBezTo>
                  <a:pt x="80" y="29"/>
                  <a:pt x="80" y="26"/>
                  <a:pt x="81" y="25"/>
                </a:cubicBezTo>
                <a:cubicBezTo>
                  <a:pt x="85" y="22"/>
                  <a:pt x="85" y="22"/>
                  <a:pt x="85" y="22"/>
                </a:cubicBezTo>
                <a:cubicBezTo>
                  <a:pt x="86" y="20"/>
                  <a:pt x="86" y="18"/>
                  <a:pt x="85" y="17"/>
                </a:cubicBezTo>
                <a:cubicBezTo>
                  <a:pt x="79" y="11"/>
                  <a:pt x="79" y="11"/>
                  <a:pt x="79" y="11"/>
                </a:cubicBezTo>
                <a:cubicBezTo>
                  <a:pt x="78" y="10"/>
                  <a:pt x="76" y="10"/>
                  <a:pt x="74" y="11"/>
                </a:cubicBezTo>
                <a:cubicBezTo>
                  <a:pt x="71" y="15"/>
                  <a:pt x="71" y="15"/>
                  <a:pt x="71" y="15"/>
                </a:cubicBezTo>
                <a:cubicBezTo>
                  <a:pt x="70" y="16"/>
                  <a:pt x="67" y="16"/>
                  <a:pt x="65" y="15"/>
                </a:cubicBezTo>
                <a:cubicBezTo>
                  <a:pt x="59" y="13"/>
                  <a:pt x="59" y="13"/>
                  <a:pt x="59" y="13"/>
                </a:cubicBezTo>
                <a:cubicBezTo>
                  <a:pt x="57" y="12"/>
                  <a:pt x="55" y="10"/>
                  <a:pt x="55" y="8"/>
                </a:cubicBezTo>
                <a:cubicBezTo>
                  <a:pt x="55" y="4"/>
                  <a:pt x="55" y="4"/>
                  <a:pt x="55" y="4"/>
                </a:cubicBezTo>
                <a:cubicBezTo>
                  <a:pt x="55" y="2"/>
                  <a:pt x="54" y="0"/>
                  <a:pt x="52" y="0"/>
                </a:cubicBezTo>
                <a:cubicBezTo>
                  <a:pt x="44" y="0"/>
                  <a:pt x="44" y="0"/>
                  <a:pt x="44" y="0"/>
                </a:cubicBezTo>
                <a:cubicBezTo>
                  <a:pt x="42" y="0"/>
                  <a:pt x="41" y="2"/>
                  <a:pt x="41" y="4"/>
                </a:cubicBezTo>
                <a:cubicBezTo>
                  <a:pt x="41" y="8"/>
                  <a:pt x="41" y="8"/>
                  <a:pt x="41" y="8"/>
                </a:cubicBezTo>
                <a:cubicBezTo>
                  <a:pt x="41" y="10"/>
                  <a:pt x="39" y="12"/>
                  <a:pt x="37" y="13"/>
                </a:cubicBezTo>
                <a:cubicBezTo>
                  <a:pt x="31" y="15"/>
                  <a:pt x="31" y="15"/>
                  <a:pt x="31" y="15"/>
                </a:cubicBezTo>
                <a:cubicBezTo>
                  <a:pt x="29" y="16"/>
                  <a:pt x="26" y="16"/>
                  <a:pt x="25" y="15"/>
                </a:cubicBezTo>
                <a:cubicBezTo>
                  <a:pt x="22" y="11"/>
                  <a:pt x="22" y="11"/>
                  <a:pt x="22" y="11"/>
                </a:cubicBezTo>
                <a:cubicBezTo>
                  <a:pt x="20" y="10"/>
                  <a:pt x="18" y="10"/>
                  <a:pt x="17" y="11"/>
                </a:cubicBezTo>
                <a:cubicBezTo>
                  <a:pt x="11" y="17"/>
                  <a:pt x="11" y="17"/>
                  <a:pt x="11" y="17"/>
                </a:cubicBezTo>
                <a:cubicBezTo>
                  <a:pt x="10" y="18"/>
                  <a:pt x="10" y="20"/>
                  <a:pt x="11" y="22"/>
                </a:cubicBezTo>
                <a:cubicBezTo>
                  <a:pt x="15" y="25"/>
                  <a:pt x="15" y="25"/>
                  <a:pt x="15" y="25"/>
                </a:cubicBezTo>
                <a:cubicBezTo>
                  <a:pt x="16" y="26"/>
                  <a:pt x="16" y="29"/>
                  <a:pt x="15" y="31"/>
                </a:cubicBezTo>
                <a:cubicBezTo>
                  <a:pt x="13" y="37"/>
                  <a:pt x="13" y="37"/>
                  <a:pt x="13" y="37"/>
                </a:cubicBezTo>
                <a:cubicBezTo>
                  <a:pt x="12" y="39"/>
                  <a:pt x="10" y="41"/>
                  <a:pt x="8" y="41"/>
                </a:cubicBezTo>
                <a:cubicBezTo>
                  <a:pt x="4" y="41"/>
                  <a:pt x="4" y="41"/>
                  <a:pt x="4" y="41"/>
                </a:cubicBezTo>
                <a:cubicBezTo>
                  <a:pt x="2" y="41"/>
                  <a:pt x="0" y="42"/>
                  <a:pt x="0" y="44"/>
                </a:cubicBezTo>
                <a:cubicBezTo>
                  <a:pt x="0" y="52"/>
                  <a:pt x="0" y="52"/>
                  <a:pt x="0" y="52"/>
                </a:cubicBezTo>
                <a:cubicBezTo>
                  <a:pt x="0" y="54"/>
                  <a:pt x="2" y="55"/>
                  <a:pt x="4" y="55"/>
                </a:cubicBezTo>
                <a:cubicBezTo>
                  <a:pt x="8" y="55"/>
                  <a:pt x="8" y="55"/>
                  <a:pt x="8" y="55"/>
                </a:cubicBezTo>
                <a:cubicBezTo>
                  <a:pt x="10" y="55"/>
                  <a:pt x="12" y="57"/>
                  <a:pt x="13" y="59"/>
                </a:cubicBezTo>
                <a:cubicBezTo>
                  <a:pt x="15" y="65"/>
                  <a:pt x="15" y="65"/>
                  <a:pt x="15" y="65"/>
                </a:cubicBezTo>
                <a:cubicBezTo>
                  <a:pt x="16" y="67"/>
                  <a:pt x="16" y="70"/>
                  <a:pt x="15" y="71"/>
                </a:cubicBezTo>
                <a:cubicBezTo>
                  <a:pt x="11" y="74"/>
                  <a:pt x="11" y="74"/>
                  <a:pt x="11" y="74"/>
                </a:cubicBezTo>
                <a:cubicBezTo>
                  <a:pt x="10" y="76"/>
                  <a:pt x="10" y="78"/>
                  <a:pt x="11" y="79"/>
                </a:cubicBezTo>
                <a:cubicBezTo>
                  <a:pt x="17" y="85"/>
                  <a:pt x="17" y="85"/>
                  <a:pt x="17" y="85"/>
                </a:cubicBezTo>
                <a:cubicBezTo>
                  <a:pt x="18" y="86"/>
                  <a:pt x="20" y="86"/>
                  <a:pt x="22" y="85"/>
                </a:cubicBezTo>
                <a:cubicBezTo>
                  <a:pt x="25" y="81"/>
                  <a:pt x="25" y="81"/>
                  <a:pt x="25" y="81"/>
                </a:cubicBezTo>
                <a:cubicBezTo>
                  <a:pt x="26" y="80"/>
                  <a:pt x="29" y="80"/>
                  <a:pt x="31" y="81"/>
                </a:cubicBezTo>
                <a:cubicBezTo>
                  <a:pt x="37" y="83"/>
                  <a:pt x="37" y="83"/>
                  <a:pt x="37" y="83"/>
                </a:cubicBezTo>
                <a:cubicBezTo>
                  <a:pt x="39" y="84"/>
                  <a:pt x="41" y="86"/>
                  <a:pt x="41" y="88"/>
                </a:cubicBezTo>
                <a:cubicBezTo>
                  <a:pt x="41" y="92"/>
                  <a:pt x="41" y="92"/>
                  <a:pt x="41" y="92"/>
                </a:cubicBezTo>
                <a:cubicBezTo>
                  <a:pt x="41" y="94"/>
                  <a:pt x="42" y="96"/>
                  <a:pt x="44" y="96"/>
                </a:cubicBezTo>
                <a:cubicBezTo>
                  <a:pt x="52" y="96"/>
                  <a:pt x="52" y="96"/>
                  <a:pt x="52" y="96"/>
                </a:cubicBezTo>
                <a:cubicBezTo>
                  <a:pt x="54" y="96"/>
                  <a:pt x="55" y="94"/>
                  <a:pt x="55" y="92"/>
                </a:cubicBezTo>
                <a:cubicBezTo>
                  <a:pt x="55" y="88"/>
                  <a:pt x="55" y="88"/>
                  <a:pt x="55" y="88"/>
                </a:cubicBezTo>
                <a:cubicBezTo>
                  <a:pt x="55" y="86"/>
                  <a:pt x="57" y="84"/>
                  <a:pt x="59" y="83"/>
                </a:cubicBezTo>
                <a:cubicBezTo>
                  <a:pt x="65" y="81"/>
                  <a:pt x="65" y="81"/>
                  <a:pt x="65" y="81"/>
                </a:cubicBezTo>
                <a:cubicBezTo>
                  <a:pt x="67" y="80"/>
                  <a:pt x="70" y="80"/>
                  <a:pt x="71" y="81"/>
                </a:cubicBezTo>
                <a:cubicBezTo>
                  <a:pt x="74" y="85"/>
                  <a:pt x="74" y="85"/>
                  <a:pt x="74" y="85"/>
                </a:cubicBezTo>
                <a:cubicBezTo>
                  <a:pt x="76" y="86"/>
                  <a:pt x="78" y="86"/>
                  <a:pt x="79" y="85"/>
                </a:cubicBezTo>
                <a:cubicBezTo>
                  <a:pt x="85" y="79"/>
                  <a:pt x="85" y="79"/>
                  <a:pt x="85" y="79"/>
                </a:cubicBezTo>
                <a:cubicBezTo>
                  <a:pt x="86" y="78"/>
                  <a:pt x="86" y="76"/>
                  <a:pt x="85" y="74"/>
                </a:cubicBezTo>
                <a:cubicBezTo>
                  <a:pt x="81" y="71"/>
                  <a:pt x="81" y="71"/>
                  <a:pt x="81" y="71"/>
                </a:cubicBezTo>
                <a:cubicBezTo>
                  <a:pt x="80" y="70"/>
                  <a:pt x="80" y="67"/>
                  <a:pt x="81" y="65"/>
                </a:cubicBezTo>
                <a:cubicBezTo>
                  <a:pt x="83" y="59"/>
                  <a:pt x="83" y="59"/>
                  <a:pt x="83" y="59"/>
                </a:cubicBezTo>
                <a:cubicBezTo>
                  <a:pt x="84" y="57"/>
                  <a:pt x="86" y="55"/>
                  <a:pt x="88" y="55"/>
                </a:cubicBezTo>
                <a:cubicBezTo>
                  <a:pt x="92" y="55"/>
                  <a:pt x="92" y="55"/>
                  <a:pt x="92" y="55"/>
                </a:cubicBezTo>
                <a:cubicBezTo>
                  <a:pt x="94" y="55"/>
                  <a:pt x="96" y="54"/>
                  <a:pt x="96" y="52"/>
                </a:cubicBezTo>
                <a:cubicBezTo>
                  <a:pt x="96" y="44"/>
                  <a:pt x="96" y="44"/>
                  <a:pt x="96" y="44"/>
                </a:cubicBezTo>
                <a:cubicBezTo>
                  <a:pt x="96" y="42"/>
                  <a:pt x="94" y="41"/>
                  <a:pt x="92" y="41"/>
                </a:cubicBezTo>
                <a:close/>
                <a:moveTo>
                  <a:pt x="66" y="48"/>
                </a:moveTo>
                <a:cubicBezTo>
                  <a:pt x="66" y="58"/>
                  <a:pt x="58" y="66"/>
                  <a:pt x="48" y="66"/>
                </a:cubicBezTo>
                <a:cubicBezTo>
                  <a:pt x="38" y="66"/>
                  <a:pt x="30" y="58"/>
                  <a:pt x="30" y="48"/>
                </a:cubicBezTo>
                <a:cubicBezTo>
                  <a:pt x="30" y="38"/>
                  <a:pt x="38" y="30"/>
                  <a:pt x="48" y="30"/>
                </a:cubicBezTo>
                <a:cubicBezTo>
                  <a:pt x="58" y="30"/>
                  <a:pt x="66" y="38"/>
                  <a:pt x="66" y="48"/>
                </a:cubicBezTo>
                <a:close/>
              </a:path>
            </a:pathLst>
          </a:custGeom>
          <a:solidFill>
            <a:schemeClr val="bg1"/>
          </a:solidFill>
          <a:ln w="9525">
            <a:noFill/>
          </a:ln>
        </p:spPr>
        <p:txBody>
          <a:bodyPr/>
          <a:p>
            <a:endParaRPr lang="zh-CN" altLang="en-US"/>
          </a:p>
        </p:txBody>
      </p:sp>
      <p:grpSp>
        <p:nvGrpSpPr>
          <p:cNvPr id="12298" name="组合 31"/>
          <p:cNvGrpSpPr/>
          <p:nvPr/>
        </p:nvGrpSpPr>
        <p:grpSpPr>
          <a:xfrm>
            <a:off x="4727575" y="2900363"/>
            <a:ext cx="1081088" cy="1079500"/>
            <a:chOff x="4728360" y="2784242"/>
            <a:chExt cx="1080000" cy="1080000"/>
          </a:xfrm>
        </p:grpSpPr>
        <p:sp>
          <p:nvSpPr>
            <p:cNvPr id="8" name="椭圆 7"/>
            <p:cNvSpPr>
              <a:spLocks noChangeAspect="1"/>
            </p:cNvSpPr>
            <p:nvPr/>
          </p:nvSpPr>
          <p:spPr>
            <a:xfrm>
              <a:off x="4728360" y="2784242"/>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300" name="Freeform 680"/>
            <p:cNvSpPr>
              <a:spLocks noChangeAspect="1" noEditPoints="1"/>
            </p:cNvSpPr>
            <p:nvPr/>
          </p:nvSpPr>
          <p:spPr>
            <a:xfrm>
              <a:off x="4998360" y="3050467"/>
              <a:ext cx="540000" cy="547551"/>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1" h="72">
                  <a:moveTo>
                    <a:pt x="32" y="17"/>
                  </a:moveTo>
                  <a:cubicBezTo>
                    <a:pt x="31" y="14"/>
                    <a:pt x="29" y="12"/>
                    <a:pt x="26" y="11"/>
                  </a:cubicBezTo>
                  <a:cubicBezTo>
                    <a:pt x="23" y="10"/>
                    <a:pt x="20" y="9"/>
                    <a:pt x="17" y="11"/>
                  </a:cubicBezTo>
                  <a:cubicBezTo>
                    <a:pt x="14" y="12"/>
                    <a:pt x="12" y="14"/>
                    <a:pt x="11" y="17"/>
                  </a:cubicBezTo>
                  <a:cubicBezTo>
                    <a:pt x="9" y="19"/>
                    <a:pt x="9" y="23"/>
                    <a:pt x="10" y="25"/>
                  </a:cubicBezTo>
                  <a:cubicBezTo>
                    <a:pt x="11" y="28"/>
                    <a:pt x="13" y="30"/>
                    <a:pt x="16" y="32"/>
                  </a:cubicBezTo>
                  <a:cubicBezTo>
                    <a:pt x="19" y="33"/>
                    <a:pt x="22" y="33"/>
                    <a:pt x="25" y="32"/>
                  </a:cubicBezTo>
                  <a:cubicBezTo>
                    <a:pt x="28" y="31"/>
                    <a:pt x="30" y="29"/>
                    <a:pt x="32" y="26"/>
                  </a:cubicBezTo>
                  <a:cubicBezTo>
                    <a:pt x="33" y="23"/>
                    <a:pt x="33" y="20"/>
                    <a:pt x="32" y="17"/>
                  </a:cubicBezTo>
                  <a:close/>
                  <a:moveTo>
                    <a:pt x="31" y="7"/>
                  </a:moveTo>
                  <a:cubicBezTo>
                    <a:pt x="32" y="7"/>
                    <a:pt x="33" y="8"/>
                    <a:pt x="33" y="9"/>
                  </a:cubicBezTo>
                  <a:cubicBezTo>
                    <a:pt x="36" y="7"/>
                    <a:pt x="36" y="7"/>
                    <a:pt x="36" y="7"/>
                  </a:cubicBezTo>
                  <a:cubicBezTo>
                    <a:pt x="38" y="8"/>
                    <a:pt x="39" y="10"/>
                    <a:pt x="39" y="11"/>
                  </a:cubicBezTo>
                  <a:cubicBezTo>
                    <a:pt x="37" y="14"/>
                    <a:pt x="37" y="14"/>
                    <a:pt x="37" y="14"/>
                  </a:cubicBezTo>
                  <a:cubicBezTo>
                    <a:pt x="37" y="14"/>
                    <a:pt x="37" y="15"/>
                    <a:pt x="37" y="15"/>
                  </a:cubicBezTo>
                  <a:cubicBezTo>
                    <a:pt x="38" y="16"/>
                    <a:pt x="38" y="16"/>
                    <a:pt x="38" y="17"/>
                  </a:cubicBezTo>
                  <a:cubicBezTo>
                    <a:pt x="41" y="17"/>
                    <a:pt x="41" y="17"/>
                    <a:pt x="41" y="17"/>
                  </a:cubicBezTo>
                  <a:cubicBezTo>
                    <a:pt x="42" y="19"/>
                    <a:pt x="42" y="20"/>
                    <a:pt x="42" y="22"/>
                  </a:cubicBezTo>
                  <a:cubicBezTo>
                    <a:pt x="38" y="22"/>
                    <a:pt x="38" y="22"/>
                    <a:pt x="38" y="22"/>
                  </a:cubicBezTo>
                  <a:cubicBezTo>
                    <a:pt x="38" y="24"/>
                    <a:pt x="38" y="25"/>
                    <a:pt x="38" y="26"/>
                  </a:cubicBezTo>
                  <a:cubicBezTo>
                    <a:pt x="41" y="28"/>
                    <a:pt x="41" y="28"/>
                    <a:pt x="41" y="28"/>
                  </a:cubicBezTo>
                  <a:cubicBezTo>
                    <a:pt x="41" y="29"/>
                    <a:pt x="40" y="31"/>
                    <a:pt x="39" y="32"/>
                  </a:cubicBezTo>
                  <a:cubicBezTo>
                    <a:pt x="36" y="31"/>
                    <a:pt x="36" y="31"/>
                    <a:pt x="36" y="31"/>
                  </a:cubicBezTo>
                  <a:cubicBezTo>
                    <a:pt x="35" y="32"/>
                    <a:pt x="34" y="33"/>
                    <a:pt x="33" y="34"/>
                  </a:cubicBezTo>
                  <a:cubicBezTo>
                    <a:pt x="35" y="37"/>
                    <a:pt x="35" y="37"/>
                    <a:pt x="35" y="37"/>
                  </a:cubicBezTo>
                  <a:cubicBezTo>
                    <a:pt x="34" y="38"/>
                    <a:pt x="33" y="39"/>
                    <a:pt x="31" y="40"/>
                  </a:cubicBezTo>
                  <a:cubicBezTo>
                    <a:pt x="29" y="37"/>
                    <a:pt x="29" y="37"/>
                    <a:pt x="29" y="37"/>
                  </a:cubicBezTo>
                  <a:cubicBezTo>
                    <a:pt x="28" y="37"/>
                    <a:pt x="28" y="37"/>
                    <a:pt x="27" y="38"/>
                  </a:cubicBezTo>
                  <a:cubicBezTo>
                    <a:pt x="27" y="38"/>
                    <a:pt x="26" y="38"/>
                    <a:pt x="26" y="38"/>
                  </a:cubicBezTo>
                  <a:cubicBezTo>
                    <a:pt x="26" y="42"/>
                    <a:pt x="26" y="42"/>
                    <a:pt x="26" y="42"/>
                  </a:cubicBezTo>
                  <a:cubicBezTo>
                    <a:pt x="24" y="42"/>
                    <a:pt x="22" y="42"/>
                    <a:pt x="21" y="42"/>
                  </a:cubicBezTo>
                  <a:cubicBezTo>
                    <a:pt x="20" y="39"/>
                    <a:pt x="20" y="39"/>
                    <a:pt x="20" y="39"/>
                  </a:cubicBezTo>
                  <a:cubicBezTo>
                    <a:pt x="19" y="39"/>
                    <a:pt x="18" y="38"/>
                    <a:pt x="17" y="38"/>
                  </a:cubicBezTo>
                  <a:cubicBezTo>
                    <a:pt x="15" y="41"/>
                    <a:pt x="15" y="41"/>
                    <a:pt x="15" y="41"/>
                  </a:cubicBezTo>
                  <a:cubicBezTo>
                    <a:pt x="13" y="41"/>
                    <a:pt x="11" y="40"/>
                    <a:pt x="10" y="39"/>
                  </a:cubicBezTo>
                  <a:cubicBezTo>
                    <a:pt x="11" y="36"/>
                    <a:pt x="11" y="36"/>
                    <a:pt x="11" y="36"/>
                  </a:cubicBezTo>
                  <a:cubicBezTo>
                    <a:pt x="10" y="35"/>
                    <a:pt x="10" y="34"/>
                    <a:pt x="9" y="34"/>
                  </a:cubicBezTo>
                  <a:cubicBezTo>
                    <a:pt x="6" y="35"/>
                    <a:pt x="6" y="35"/>
                    <a:pt x="6" y="35"/>
                  </a:cubicBezTo>
                  <a:cubicBezTo>
                    <a:pt x="4" y="34"/>
                    <a:pt x="3" y="33"/>
                    <a:pt x="3" y="31"/>
                  </a:cubicBezTo>
                  <a:cubicBezTo>
                    <a:pt x="5" y="29"/>
                    <a:pt x="5" y="29"/>
                    <a:pt x="5" y="29"/>
                  </a:cubicBezTo>
                  <a:cubicBezTo>
                    <a:pt x="5" y="28"/>
                    <a:pt x="5" y="28"/>
                    <a:pt x="5" y="27"/>
                  </a:cubicBezTo>
                  <a:cubicBezTo>
                    <a:pt x="5" y="27"/>
                    <a:pt x="4" y="26"/>
                    <a:pt x="4" y="26"/>
                  </a:cubicBezTo>
                  <a:cubicBezTo>
                    <a:pt x="1" y="26"/>
                    <a:pt x="1" y="26"/>
                    <a:pt x="1" y="26"/>
                  </a:cubicBezTo>
                  <a:cubicBezTo>
                    <a:pt x="0" y="24"/>
                    <a:pt x="0" y="22"/>
                    <a:pt x="0" y="21"/>
                  </a:cubicBezTo>
                  <a:cubicBezTo>
                    <a:pt x="4" y="20"/>
                    <a:pt x="4" y="20"/>
                    <a:pt x="4" y="20"/>
                  </a:cubicBezTo>
                  <a:cubicBezTo>
                    <a:pt x="4" y="19"/>
                    <a:pt x="4" y="18"/>
                    <a:pt x="4" y="17"/>
                  </a:cubicBezTo>
                  <a:cubicBezTo>
                    <a:pt x="1" y="15"/>
                    <a:pt x="1" y="15"/>
                    <a:pt x="1" y="15"/>
                  </a:cubicBezTo>
                  <a:cubicBezTo>
                    <a:pt x="2" y="13"/>
                    <a:pt x="2" y="12"/>
                    <a:pt x="3" y="10"/>
                  </a:cubicBezTo>
                  <a:cubicBezTo>
                    <a:pt x="7" y="12"/>
                    <a:pt x="7" y="12"/>
                    <a:pt x="7" y="12"/>
                  </a:cubicBezTo>
                  <a:cubicBezTo>
                    <a:pt x="7" y="11"/>
                    <a:pt x="8" y="10"/>
                    <a:pt x="9" y="9"/>
                  </a:cubicBezTo>
                  <a:cubicBezTo>
                    <a:pt x="7" y="6"/>
                    <a:pt x="7" y="6"/>
                    <a:pt x="7" y="6"/>
                  </a:cubicBezTo>
                  <a:cubicBezTo>
                    <a:pt x="8" y="5"/>
                    <a:pt x="10" y="4"/>
                    <a:pt x="11" y="3"/>
                  </a:cubicBezTo>
                  <a:cubicBezTo>
                    <a:pt x="13" y="6"/>
                    <a:pt x="13" y="6"/>
                    <a:pt x="13" y="6"/>
                  </a:cubicBezTo>
                  <a:cubicBezTo>
                    <a:pt x="14" y="5"/>
                    <a:pt x="14" y="5"/>
                    <a:pt x="15" y="5"/>
                  </a:cubicBezTo>
                  <a:cubicBezTo>
                    <a:pt x="16" y="5"/>
                    <a:pt x="16" y="5"/>
                    <a:pt x="17" y="4"/>
                  </a:cubicBezTo>
                  <a:cubicBezTo>
                    <a:pt x="17" y="1"/>
                    <a:pt x="17" y="1"/>
                    <a:pt x="17" y="1"/>
                  </a:cubicBezTo>
                  <a:cubicBezTo>
                    <a:pt x="18" y="0"/>
                    <a:pt x="20" y="0"/>
                    <a:pt x="22" y="1"/>
                  </a:cubicBezTo>
                  <a:cubicBezTo>
                    <a:pt x="22" y="4"/>
                    <a:pt x="22" y="4"/>
                    <a:pt x="22" y="4"/>
                  </a:cubicBezTo>
                  <a:cubicBezTo>
                    <a:pt x="23" y="4"/>
                    <a:pt x="25" y="4"/>
                    <a:pt x="26" y="4"/>
                  </a:cubicBezTo>
                  <a:cubicBezTo>
                    <a:pt x="27" y="2"/>
                    <a:pt x="27" y="2"/>
                    <a:pt x="27" y="2"/>
                  </a:cubicBezTo>
                  <a:cubicBezTo>
                    <a:pt x="29" y="2"/>
                    <a:pt x="31" y="3"/>
                    <a:pt x="32" y="4"/>
                  </a:cubicBezTo>
                  <a:cubicBezTo>
                    <a:pt x="31" y="7"/>
                    <a:pt x="31" y="7"/>
                    <a:pt x="31" y="7"/>
                  </a:cubicBezTo>
                  <a:close/>
                  <a:moveTo>
                    <a:pt x="60" y="47"/>
                  </a:moveTo>
                  <a:cubicBezTo>
                    <a:pt x="59" y="44"/>
                    <a:pt x="57" y="42"/>
                    <a:pt x="54" y="41"/>
                  </a:cubicBezTo>
                  <a:cubicBezTo>
                    <a:pt x="51" y="39"/>
                    <a:pt x="48" y="39"/>
                    <a:pt x="45" y="40"/>
                  </a:cubicBezTo>
                  <a:cubicBezTo>
                    <a:pt x="43" y="41"/>
                    <a:pt x="40" y="44"/>
                    <a:pt x="39" y="46"/>
                  </a:cubicBezTo>
                  <a:cubicBezTo>
                    <a:pt x="38" y="49"/>
                    <a:pt x="38" y="52"/>
                    <a:pt x="39" y="55"/>
                  </a:cubicBezTo>
                  <a:cubicBezTo>
                    <a:pt x="40" y="58"/>
                    <a:pt x="42" y="60"/>
                    <a:pt x="45" y="62"/>
                  </a:cubicBezTo>
                  <a:cubicBezTo>
                    <a:pt x="48" y="63"/>
                    <a:pt x="51" y="63"/>
                    <a:pt x="54" y="62"/>
                  </a:cubicBezTo>
                  <a:cubicBezTo>
                    <a:pt x="56" y="61"/>
                    <a:pt x="59" y="59"/>
                    <a:pt x="60" y="56"/>
                  </a:cubicBezTo>
                  <a:cubicBezTo>
                    <a:pt x="61" y="53"/>
                    <a:pt x="61" y="50"/>
                    <a:pt x="60" y="47"/>
                  </a:cubicBezTo>
                  <a:close/>
                  <a:moveTo>
                    <a:pt x="59" y="37"/>
                  </a:moveTo>
                  <a:cubicBezTo>
                    <a:pt x="60" y="37"/>
                    <a:pt x="61" y="38"/>
                    <a:pt x="62" y="39"/>
                  </a:cubicBezTo>
                  <a:cubicBezTo>
                    <a:pt x="65" y="37"/>
                    <a:pt x="65" y="37"/>
                    <a:pt x="65" y="37"/>
                  </a:cubicBezTo>
                  <a:cubicBezTo>
                    <a:pt x="66" y="38"/>
                    <a:pt x="67" y="40"/>
                    <a:pt x="68" y="41"/>
                  </a:cubicBezTo>
                  <a:cubicBezTo>
                    <a:pt x="65" y="44"/>
                    <a:pt x="65" y="44"/>
                    <a:pt x="65" y="44"/>
                  </a:cubicBezTo>
                  <a:cubicBezTo>
                    <a:pt x="65" y="44"/>
                    <a:pt x="66" y="45"/>
                    <a:pt x="66" y="45"/>
                  </a:cubicBezTo>
                  <a:cubicBezTo>
                    <a:pt x="66" y="46"/>
                    <a:pt x="66" y="46"/>
                    <a:pt x="66" y="47"/>
                  </a:cubicBezTo>
                  <a:cubicBezTo>
                    <a:pt x="70" y="47"/>
                    <a:pt x="70" y="47"/>
                    <a:pt x="70" y="47"/>
                  </a:cubicBezTo>
                  <a:cubicBezTo>
                    <a:pt x="70" y="48"/>
                    <a:pt x="71" y="50"/>
                    <a:pt x="70" y="52"/>
                  </a:cubicBezTo>
                  <a:cubicBezTo>
                    <a:pt x="67" y="52"/>
                    <a:pt x="67" y="52"/>
                    <a:pt x="67" y="52"/>
                  </a:cubicBezTo>
                  <a:cubicBezTo>
                    <a:pt x="67" y="53"/>
                    <a:pt x="67" y="55"/>
                    <a:pt x="66" y="56"/>
                  </a:cubicBezTo>
                  <a:cubicBezTo>
                    <a:pt x="69" y="57"/>
                    <a:pt x="69" y="57"/>
                    <a:pt x="69" y="57"/>
                  </a:cubicBezTo>
                  <a:cubicBezTo>
                    <a:pt x="69" y="59"/>
                    <a:pt x="68" y="61"/>
                    <a:pt x="67" y="62"/>
                  </a:cubicBezTo>
                  <a:cubicBezTo>
                    <a:pt x="64" y="61"/>
                    <a:pt x="64" y="61"/>
                    <a:pt x="64" y="61"/>
                  </a:cubicBezTo>
                  <a:cubicBezTo>
                    <a:pt x="63" y="62"/>
                    <a:pt x="63" y="63"/>
                    <a:pt x="62" y="63"/>
                  </a:cubicBezTo>
                  <a:cubicBezTo>
                    <a:pt x="63" y="66"/>
                    <a:pt x="63" y="66"/>
                    <a:pt x="63" y="66"/>
                  </a:cubicBezTo>
                  <a:cubicBezTo>
                    <a:pt x="62" y="68"/>
                    <a:pt x="61" y="69"/>
                    <a:pt x="59" y="69"/>
                  </a:cubicBezTo>
                  <a:cubicBezTo>
                    <a:pt x="57" y="67"/>
                    <a:pt x="57" y="67"/>
                    <a:pt x="57" y="67"/>
                  </a:cubicBezTo>
                  <a:cubicBezTo>
                    <a:pt x="57" y="67"/>
                    <a:pt x="56" y="67"/>
                    <a:pt x="56" y="67"/>
                  </a:cubicBezTo>
                  <a:cubicBezTo>
                    <a:pt x="55" y="68"/>
                    <a:pt x="55" y="68"/>
                    <a:pt x="54" y="68"/>
                  </a:cubicBezTo>
                  <a:cubicBezTo>
                    <a:pt x="54" y="71"/>
                    <a:pt x="54" y="71"/>
                    <a:pt x="54" y="71"/>
                  </a:cubicBezTo>
                  <a:cubicBezTo>
                    <a:pt x="52" y="72"/>
                    <a:pt x="51" y="72"/>
                    <a:pt x="49" y="72"/>
                  </a:cubicBezTo>
                  <a:cubicBezTo>
                    <a:pt x="48" y="69"/>
                    <a:pt x="48" y="69"/>
                    <a:pt x="48" y="69"/>
                  </a:cubicBezTo>
                  <a:cubicBezTo>
                    <a:pt x="47" y="68"/>
                    <a:pt x="46" y="68"/>
                    <a:pt x="45" y="68"/>
                  </a:cubicBezTo>
                  <a:cubicBezTo>
                    <a:pt x="43" y="71"/>
                    <a:pt x="43" y="71"/>
                    <a:pt x="43" y="71"/>
                  </a:cubicBezTo>
                  <a:cubicBezTo>
                    <a:pt x="41" y="71"/>
                    <a:pt x="40" y="70"/>
                    <a:pt x="39" y="69"/>
                  </a:cubicBezTo>
                  <a:cubicBezTo>
                    <a:pt x="40" y="66"/>
                    <a:pt x="40" y="66"/>
                    <a:pt x="40" y="66"/>
                  </a:cubicBezTo>
                  <a:cubicBezTo>
                    <a:pt x="39" y="65"/>
                    <a:pt x="38" y="64"/>
                    <a:pt x="37" y="63"/>
                  </a:cubicBezTo>
                  <a:cubicBezTo>
                    <a:pt x="34" y="65"/>
                    <a:pt x="34" y="65"/>
                    <a:pt x="34" y="65"/>
                  </a:cubicBezTo>
                  <a:cubicBezTo>
                    <a:pt x="33" y="64"/>
                    <a:pt x="32" y="63"/>
                    <a:pt x="31" y="61"/>
                  </a:cubicBezTo>
                  <a:cubicBezTo>
                    <a:pt x="34" y="59"/>
                    <a:pt x="34" y="59"/>
                    <a:pt x="34" y="59"/>
                  </a:cubicBezTo>
                  <a:cubicBezTo>
                    <a:pt x="34" y="58"/>
                    <a:pt x="33" y="58"/>
                    <a:pt x="33" y="57"/>
                  </a:cubicBezTo>
                  <a:cubicBezTo>
                    <a:pt x="33" y="57"/>
                    <a:pt x="33" y="56"/>
                    <a:pt x="33" y="56"/>
                  </a:cubicBezTo>
                  <a:cubicBezTo>
                    <a:pt x="29" y="56"/>
                    <a:pt x="29" y="56"/>
                    <a:pt x="29" y="56"/>
                  </a:cubicBezTo>
                  <a:cubicBezTo>
                    <a:pt x="29" y="54"/>
                    <a:pt x="28" y="52"/>
                    <a:pt x="29" y="51"/>
                  </a:cubicBezTo>
                  <a:cubicBezTo>
                    <a:pt x="32" y="50"/>
                    <a:pt x="32" y="50"/>
                    <a:pt x="32" y="50"/>
                  </a:cubicBezTo>
                  <a:cubicBezTo>
                    <a:pt x="32" y="49"/>
                    <a:pt x="32" y="48"/>
                    <a:pt x="33" y="47"/>
                  </a:cubicBezTo>
                  <a:cubicBezTo>
                    <a:pt x="30" y="45"/>
                    <a:pt x="30" y="45"/>
                    <a:pt x="30" y="45"/>
                  </a:cubicBezTo>
                  <a:cubicBezTo>
                    <a:pt x="30" y="43"/>
                    <a:pt x="31" y="42"/>
                    <a:pt x="32" y="40"/>
                  </a:cubicBezTo>
                  <a:cubicBezTo>
                    <a:pt x="35" y="41"/>
                    <a:pt x="35" y="41"/>
                    <a:pt x="35" y="41"/>
                  </a:cubicBezTo>
                  <a:cubicBezTo>
                    <a:pt x="36" y="40"/>
                    <a:pt x="36" y="40"/>
                    <a:pt x="37" y="39"/>
                  </a:cubicBezTo>
                  <a:cubicBezTo>
                    <a:pt x="36" y="36"/>
                    <a:pt x="36" y="36"/>
                    <a:pt x="36" y="36"/>
                  </a:cubicBezTo>
                  <a:cubicBezTo>
                    <a:pt x="37" y="34"/>
                    <a:pt x="38" y="33"/>
                    <a:pt x="40" y="33"/>
                  </a:cubicBezTo>
                  <a:cubicBezTo>
                    <a:pt x="42" y="36"/>
                    <a:pt x="42" y="36"/>
                    <a:pt x="42" y="36"/>
                  </a:cubicBezTo>
                  <a:cubicBezTo>
                    <a:pt x="42" y="35"/>
                    <a:pt x="43" y="35"/>
                    <a:pt x="43" y="35"/>
                  </a:cubicBezTo>
                  <a:cubicBezTo>
                    <a:pt x="44" y="35"/>
                    <a:pt x="45" y="34"/>
                    <a:pt x="45" y="34"/>
                  </a:cubicBezTo>
                  <a:cubicBezTo>
                    <a:pt x="45" y="31"/>
                    <a:pt x="45" y="31"/>
                    <a:pt x="45" y="31"/>
                  </a:cubicBezTo>
                  <a:cubicBezTo>
                    <a:pt x="47" y="30"/>
                    <a:pt x="48" y="30"/>
                    <a:pt x="50" y="30"/>
                  </a:cubicBezTo>
                  <a:cubicBezTo>
                    <a:pt x="51" y="34"/>
                    <a:pt x="51" y="34"/>
                    <a:pt x="51" y="34"/>
                  </a:cubicBezTo>
                  <a:cubicBezTo>
                    <a:pt x="52" y="34"/>
                    <a:pt x="53" y="34"/>
                    <a:pt x="54" y="34"/>
                  </a:cubicBezTo>
                  <a:cubicBezTo>
                    <a:pt x="56" y="31"/>
                    <a:pt x="56" y="31"/>
                    <a:pt x="56" y="31"/>
                  </a:cubicBezTo>
                  <a:cubicBezTo>
                    <a:pt x="58" y="32"/>
                    <a:pt x="59" y="32"/>
                    <a:pt x="60" y="33"/>
                  </a:cubicBezTo>
                  <a:lnTo>
                    <a:pt x="59" y="37"/>
                  </a:lnTo>
                  <a:close/>
                </a:path>
              </a:pathLst>
            </a:custGeom>
            <a:solidFill>
              <a:schemeClr val="bg1"/>
            </a:solidFill>
            <a:ln w="9525">
              <a:noFill/>
            </a:ln>
          </p:spPr>
          <p:txBody>
            <a:bodyPr/>
            <a:p>
              <a:endParaRPr lang="zh-CN" altLang="en-US"/>
            </a:p>
          </p:txBody>
        </p:sp>
      </p:grpSp>
      <p:grpSp>
        <p:nvGrpSpPr>
          <p:cNvPr id="12301" name="组合 30"/>
          <p:cNvGrpSpPr/>
          <p:nvPr/>
        </p:nvGrpSpPr>
        <p:grpSpPr>
          <a:xfrm>
            <a:off x="4727575" y="4738688"/>
            <a:ext cx="1081088" cy="1079500"/>
            <a:chOff x="4728360" y="4621881"/>
            <a:chExt cx="1080000" cy="1080000"/>
          </a:xfrm>
        </p:grpSpPr>
        <p:sp>
          <p:nvSpPr>
            <p:cNvPr id="9" name="椭圆 8"/>
            <p:cNvSpPr>
              <a:spLocks noChangeAspect="1"/>
            </p:cNvSpPr>
            <p:nvPr/>
          </p:nvSpPr>
          <p:spPr>
            <a:xfrm>
              <a:off x="4728360" y="4621881"/>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303" name="Freeform 762"/>
            <p:cNvSpPr>
              <a:spLocks noChangeAspect="1" noEditPoints="1"/>
            </p:cNvSpPr>
            <p:nvPr/>
          </p:nvSpPr>
          <p:spPr>
            <a:xfrm>
              <a:off x="4998360" y="4883882"/>
              <a:ext cx="540000" cy="555999"/>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67" h="69">
                  <a:moveTo>
                    <a:pt x="24" y="31"/>
                  </a:moveTo>
                  <a:cubicBezTo>
                    <a:pt x="25" y="32"/>
                    <a:pt x="26" y="32"/>
                    <a:pt x="27" y="32"/>
                  </a:cubicBezTo>
                  <a:cubicBezTo>
                    <a:pt x="29" y="30"/>
                    <a:pt x="29" y="30"/>
                    <a:pt x="29" y="30"/>
                  </a:cubicBezTo>
                  <a:cubicBezTo>
                    <a:pt x="31" y="30"/>
                    <a:pt x="32" y="31"/>
                    <a:pt x="33" y="32"/>
                  </a:cubicBezTo>
                  <a:cubicBezTo>
                    <a:pt x="32" y="35"/>
                    <a:pt x="32" y="35"/>
                    <a:pt x="32" y="35"/>
                  </a:cubicBezTo>
                  <a:cubicBezTo>
                    <a:pt x="32" y="35"/>
                    <a:pt x="33" y="36"/>
                    <a:pt x="33" y="36"/>
                  </a:cubicBezTo>
                  <a:cubicBezTo>
                    <a:pt x="34" y="37"/>
                    <a:pt x="34" y="37"/>
                    <a:pt x="34" y="37"/>
                  </a:cubicBezTo>
                  <a:cubicBezTo>
                    <a:pt x="37" y="36"/>
                    <a:pt x="37" y="36"/>
                    <a:pt x="37" y="36"/>
                  </a:cubicBezTo>
                  <a:cubicBezTo>
                    <a:pt x="39" y="37"/>
                    <a:pt x="39" y="39"/>
                    <a:pt x="40" y="40"/>
                  </a:cubicBezTo>
                  <a:cubicBezTo>
                    <a:pt x="37" y="42"/>
                    <a:pt x="37" y="42"/>
                    <a:pt x="37" y="42"/>
                  </a:cubicBezTo>
                  <a:cubicBezTo>
                    <a:pt x="37" y="43"/>
                    <a:pt x="38" y="44"/>
                    <a:pt x="38" y="46"/>
                  </a:cubicBezTo>
                  <a:cubicBezTo>
                    <a:pt x="41" y="46"/>
                    <a:pt x="41" y="46"/>
                    <a:pt x="41" y="46"/>
                  </a:cubicBezTo>
                  <a:cubicBezTo>
                    <a:pt x="42" y="48"/>
                    <a:pt x="42" y="49"/>
                    <a:pt x="41" y="51"/>
                  </a:cubicBezTo>
                  <a:cubicBezTo>
                    <a:pt x="38" y="51"/>
                    <a:pt x="38" y="51"/>
                    <a:pt x="38" y="51"/>
                  </a:cubicBezTo>
                  <a:cubicBezTo>
                    <a:pt x="38" y="52"/>
                    <a:pt x="37" y="53"/>
                    <a:pt x="37" y="54"/>
                  </a:cubicBezTo>
                  <a:cubicBezTo>
                    <a:pt x="40" y="56"/>
                    <a:pt x="40" y="56"/>
                    <a:pt x="40" y="56"/>
                  </a:cubicBezTo>
                  <a:cubicBezTo>
                    <a:pt x="39" y="58"/>
                    <a:pt x="38" y="60"/>
                    <a:pt x="37" y="61"/>
                  </a:cubicBezTo>
                  <a:cubicBezTo>
                    <a:pt x="34" y="59"/>
                    <a:pt x="34" y="59"/>
                    <a:pt x="34" y="59"/>
                  </a:cubicBezTo>
                  <a:cubicBezTo>
                    <a:pt x="34" y="60"/>
                    <a:pt x="33" y="60"/>
                    <a:pt x="33" y="60"/>
                  </a:cubicBezTo>
                  <a:cubicBezTo>
                    <a:pt x="33" y="61"/>
                    <a:pt x="32" y="61"/>
                    <a:pt x="32" y="62"/>
                  </a:cubicBezTo>
                  <a:cubicBezTo>
                    <a:pt x="33" y="65"/>
                    <a:pt x="33" y="65"/>
                    <a:pt x="33" y="65"/>
                  </a:cubicBezTo>
                  <a:cubicBezTo>
                    <a:pt x="32" y="66"/>
                    <a:pt x="30" y="67"/>
                    <a:pt x="29" y="67"/>
                  </a:cubicBezTo>
                  <a:cubicBezTo>
                    <a:pt x="27" y="64"/>
                    <a:pt x="27" y="64"/>
                    <a:pt x="27" y="64"/>
                  </a:cubicBezTo>
                  <a:cubicBezTo>
                    <a:pt x="26" y="65"/>
                    <a:pt x="25" y="65"/>
                    <a:pt x="24" y="65"/>
                  </a:cubicBezTo>
                  <a:cubicBezTo>
                    <a:pt x="23" y="69"/>
                    <a:pt x="23" y="69"/>
                    <a:pt x="23" y="69"/>
                  </a:cubicBezTo>
                  <a:cubicBezTo>
                    <a:pt x="22" y="69"/>
                    <a:pt x="20" y="69"/>
                    <a:pt x="18" y="69"/>
                  </a:cubicBezTo>
                  <a:cubicBezTo>
                    <a:pt x="18" y="65"/>
                    <a:pt x="18" y="65"/>
                    <a:pt x="18" y="65"/>
                  </a:cubicBezTo>
                  <a:cubicBezTo>
                    <a:pt x="17" y="65"/>
                    <a:pt x="16" y="65"/>
                    <a:pt x="15" y="64"/>
                  </a:cubicBezTo>
                  <a:cubicBezTo>
                    <a:pt x="13" y="67"/>
                    <a:pt x="13" y="67"/>
                    <a:pt x="13" y="67"/>
                  </a:cubicBezTo>
                  <a:cubicBezTo>
                    <a:pt x="11" y="67"/>
                    <a:pt x="10" y="66"/>
                    <a:pt x="9" y="65"/>
                  </a:cubicBezTo>
                  <a:cubicBezTo>
                    <a:pt x="10" y="62"/>
                    <a:pt x="10" y="62"/>
                    <a:pt x="10" y="62"/>
                  </a:cubicBezTo>
                  <a:cubicBezTo>
                    <a:pt x="10" y="61"/>
                    <a:pt x="9" y="61"/>
                    <a:pt x="9" y="60"/>
                  </a:cubicBezTo>
                  <a:cubicBezTo>
                    <a:pt x="8" y="60"/>
                    <a:pt x="8" y="60"/>
                    <a:pt x="8" y="59"/>
                  </a:cubicBezTo>
                  <a:cubicBezTo>
                    <a:pt x="5" y="61"/>
                    <a:pt x="5" y="61"/>
                    <a:pt x="5" y="61"/>
                  </a:cubicBezTo>
                  <a:cubicBezTo>
                    <a:pt x="3" y="59"/>
                    <a:pt x="2" y="58"/>
                    <a:pt x="2" y="56"/>
                  </a:cubicBezTo>
                  <a:cubicBezTo>
                    <a:pt x="5" y="54"/>
                    <a:pt x="5" y="54"/>
                    <a:pt x="5" y="54"/>
                  </a:cubicBezTo>
                  <a:cubicBezTo>
                    <a:pt x="4" y="53"/>
                    <a:pt x="4" y="52"/>
                    <a:pt x="4" y="51"/>
                  </a:cubicBezTo>
                  <a:cubicBezTo>
                    <a:pt x="1" y="51"/>
                    <a:pt x="1" y="51"/>
                    <a:pt x="1" y="51"/>
                  </a:cubicBezTo>
                  <a:cubicBezTo>
                    <a:pt x="0" y="49"/>
                    <a:pt x="0" y="47"/>
                    <a:pt x="1" y="46"/>
                  </a:cubicBezTo>
                  <a:cubicBezTo>
                    <a:pt x="4" y="45"/>
                    <a:pt x="4" y="45"/>
                    <a:pt x="4" y="45"/>
                  </a:cubicBezTo>
                  <a:cubicBezTo>
                    <a:pt x="4" y="44"/>
                    <a:pt x="4" y="43"/>
                    <a:pt x="5" y="42"/>
                  </a:cubicBezTo>
                  <a:cubicBezTo>
                    <a:pt x="2" y="40"/>
                    <a:pt x="2" y="40"/>
                    <a:pt x="2" y="40"/>
                  </a:cubicBezTo>
                  <a:cubicBezTo>
                    <a:pt x="3" y="38"/>
                    <a:pt x="3" y="37"/>
                    <a:pt x="5" y="36"/>
                  </a:cubicBezTo>
                  <a:cubicBezTo>
                    <a:pt x="8" y="37"/>
                    <a:pt x="8" y="37"/>
                    <a:pt x="8" y="37"/>
                  </a:cubicBezTo>
                  <a:cubicBezTo>
                    <a:pt x="8" y="37"/>
                    <a:pt x="8" y="37"/>
                    <a:pt x="9" y="36"/>
                  </a:cubicBezTo>
                  <a:cubicBezTo>
                    <a:pt x="9" y="36"/>
                    <a:pt x="10" y="35"/>
                    <a:pt x="10" y="35"/>
                  </a:cubicBezTo>
                  <a:cubicBezTo>
                    <a:pt x="9" y="32"/>
                    <a:pt x="9" y="32"/>
                    <a:pt x="9" y="32"/>
                  </a:cubicBezTo>
                  <a:cubicBezTo>
                    <a:pt x="10" y="31"/>
                    <a:pt x="11" y="30"/>
                    <a:pt x="13" y="29"/>
                  </a:cubicBezTo>
                  <a:cubicBezTo>
                    <a:pt x="15" y="32"/>
                    <a:pt x="15" y="32"/>
                    <a:pt x="15" y="32"/>
                  </a:cubicBezTo>
                  <a:cubicBezTo>
                    <a:pt x="16" y="32"/>
                    <a:pt x="17" y="32"/>
                    <a:pt x="18" y="31"/>
                  </a:cubicBezTo>
                  <a:cubicBezTo>
                    <a:pt x="19" y="28"/>
                    <a:pt x="19" y="28"/>
                    <a:pt x="19" y="28"/>
                  </a:cubicBezTo>
                  <a:cubicBezTo>
                    <a:pt x="20" y="28"/>
                    <a:pt x="22" y="28"/>
                    <a:pt x="24" y="28"/>
                  </a:cubicBezTo>
                  <a:cubicBezTo>
                    <a:pt x="24" y="31"/>
                    <a:pt x="24" y="31"/>
                    <a:pt x="24" y="31"/>
                  </a:cubicBezTo>
                  <a:close/>
                  <a:moveTo>
                    <a:pt x="56" y="17"/>
                  </a:moveTo>
                  <a:cubicBezTo>
                    <a:pt x="56" y="14"/>
                    <a:pt x="56" y="14"/>
                    <a:pt x="56" y="14"/>
                  </a:cubicBezTo>
                  <a:cubicBezTo>
                    <a:pt x="55" y="14"/>
                    <a:pt x="54" y="14"/>
                    <a:pt x="53" y="14"/>
                  </a:cubicBezTo>
                  <a:cubicBezTo>
                    <a:pt x="52" y="16"/>
                    <a:pt x="52" y="16"/>
                    <a:pt x="52" y="16"/>
                  </a:cubicBezTo>
                  <a:cubicBezTo>
                    <a:pt x="51" y="16"/>
                    <a:pt x="51" y="16"/>
                    <a:pt x="50" y="17"/>
                  </a:cubicBezTo>
                  <a:cubicBezTo>
                    <a:pt x="49" y="15"/>
                    <a:pt x="49" y="15"/>
                    <a:pt x="49" y="15"/>
                  </a:cubicBezTo>
                  <a:cubicBezTo>
                    <a:pt x="48" y="15"/>
                    <a:pt x="47" y="15"/>
                    <a:pt x="46" y="16"/>
                  </a:cubicBezTo>
                  <a:cubicBezTo>
                    <a:pt x="46" y="18"/>
                    <a:pt x="46" y="18"/>
                    <a:pt x="46" y="18"/>
                  </a:cubicBezTo>
                  <a:cubicBezTo>
                    <a:pt x="46" y="18"/>
                    <a:pt x="46" y="19"/>
                    <a:pt x="45" y="19"/>
                  </a:cubicBezTo>
                  <a:cubicBezTo>
                    <a:pt x="45" y="19"/>
                    <a:pt x="45" y="19"/>
                    <a:pt x="45" y="20"/>
                  </a:cubicBezTo>
                  <a:cubicBezTo>
                    <a:pt x="43" y="18"/>
                    <a:pt x="43" y="18"/>
                    <a:pt x="43" y="18"/>
                  </a:cubicBezTo>
                  <a:cubicBezTo>
                    <a:pt x="42" y="19"/>
                    <a:pt x="41" y="20"/>
                    <a:pt x="41" y="21"/>
                  </a:cubicBezTo>
                  <a:cubicBezTo>
                    <a:pt x="42" y="23"/>
                    <a:pt x="42" y="23"/>
                    <a:pt x="42" y="23"/>
                  </a:cubicBezTo>
                  <a:cubicBezTo>
                    <a:pt x="42" y="24"/>
                    <a:pt x="42" y="24"/>
                    <a:pt x="41" y="25"/>
                  </a:cubicBezTo>
                  <a:cubicBezTo>
                    <a:pt x="39" y="25"/>
                    <a:pt x="39" y="25"/>
                    <a:pt x="39" y="25"/>
                  </a:cubicBezTo>
                  <a:cubicBezTo>
                    <a:pt x="39" y="26"/>
                    <a:pt x="38" y="27"/>
                    <a:pt x="39" y="28"/>
                  </a:cubicBezTo>
                  <a:cubicBezTo>
                    <a:pt x="41" y="29"/>
                    <a:pt x="41" y="29"/>
                    <a:pt x="41" y="29"/>
                  </a:cubicBezTo>
                  <a:cubicBezTo>
                    <a:pt x="41" y="30"/>
                    <a:pt x="41" y="30"/>
                    <a:pt x="41" y="31"/>
                  </a:cubicBezTo>
                  <a:cubicBezTo>
                    <a:pt x="39" y="32"/>
                    <a:pt x="39" y="32"/>
                    <a:pt x="39" y="32"/>
                  </a:cubicBezTo>
                  <a:cubicBezTo>
                    <a:pt x="39" y="33"/>
                    <a:pt x="40" y="34"/>
                    <a:pt x="41" y="35"/>
                  </a:cubicBezTo>
                  <a:cubicBezTo>
                    <a:pt x="43" y="35"/>
                    <a:pt x="43" y="35"/>
                    <a:pt x="43" y="35"/>
                  </a:cubicBezTo>
                  <a:cubicBezTo>
                    <a:pt x="43" y="35"/>
                    <a:pt x="43" y="35"/>
                    <a:pt x="44" y="36"/>
                  </a:cubicBezTo>
                  <a:cubicBezTo>
                    <a:pt x="44" y="36"/>
                    <a:pt x="44" y="36"/>
                    <a:pt x="44" y="37"/>
                  </a:cubicBezTo>
                  <a:cubicBezTo>
                    <a:pt x="43" y="39"/>
                    <a:pt x="43" y="39"/>
                    <a:pt x="43" y="39"/>
                  </a:cubicBezTo>
                  <a:cubicBezTo>
                    <a:pt x="44" y="39"/>
                    <a:pt x="45" y="40"/>
                    <a:pt x="46" y="41"/>
                  </a:cubicBezTo>
                  <a:cubicBezTo>
                    <a:pt x="47" y="39"/>
                    <a:pt x="47" y="39"/>
                    <a:pt x="47" y="39"/>
                  </a:cubicBezTo>
                  <a:cubicBezTo>
                    <a:pt x="48" y="39"/>
                    <a:pt x="49" y="39"/>
                    <a:pt x="50" y="40"/>
                  </a:cubicBezTo>
                  <a:cubicBezTo>
                    <a:pt x="50" y="42"/>
                    <a:pt x="50" y="42"/>
                    <a:pt x="50" y="42"/>
                  </a:cubicBezTo>
                  <a:cubicBezTo>
                    <a:pt x="51" y="42"/>
                    <a:pt x="52" y="43"/>
                    <a:pt x="53" y="42"/>
                  </a:cubicBezTo>
                  <a:cubicBezTo>
                    <a:pt x="54" y="40"/>
                    <a:pt x="54" y="40"/>
                    <a:pt x="54" y="40"/>
                  </a:cubicBezTo>
                  <a:cubicBezTo>
                    <a:pt x="54" y="40"/>
                    <a:pt x="55" y="40"/>
                    <a:pt x="56" y="40"/>
                  </a:cubicBezTo>
                  <a:cubicBezTo>
                    <a:pt x="57" y="42"/>
                    <a:pt x="57" y="42"/>
                    <a:pt x="57" y="42"/>
                  </a:cubicBezTo>
                  <a:cubicBezTo>
                    <a:pt x="58" y="42"/>
                    <a:pt x="59" y="41"/>
                    <a:pt x="60" y="40"/>
                  </a:cubicBezTo>
                  <a:cubicBezTo>
                    <a:pt x="59" y="38"/>
                    <a:pt x="59" y="38"/>
                    <a:pt x="59" y="38"/>
                  </a:cubicBezTo>
                  <a:cubicBezTo>
                    <a:pt x="60" y="38"/>
                    <a:pt x="60" y="38"/>
                    <a:pt x="60" y="38"/>
                  </a:cubicBezTo>
                  <a:cubicBezTo>
                    <a:pt x="61" y="37"/>
                    <a:pt x="61" y="37"/>
                    <a:pt x="61" y="37"/>
                  </a:cubicBezTo>
                  <a:cubicBezTo>
                    <a:pt x="63" y="38"/>
                    <a:pt x="63" y="38"/>
                    <a:pt x="63" y="38"/>
                  </a:cubicBezTo>
                  <a:cubicBezTo>
                    <a:pt x="64" y="37"/>
                    <a:pt x="65" y="36"/>
                    <a:pt x="65" y="35"/>
                  </a:cubicBezTo>
                  <a:cubicBezTo>
                    <a:pt x="64" y="34"/>
                    <a:pt x="64" y="34"/>
                    <a:pt x="64" y="34"/>
                  </a:cubicBezTo>
                  <a:cubicBezTo>
                    <a:pt x="64" y="33"/>
                    <a:pt x="64" y="32"/>
                    <a:pt x="64" y="31"/>
                  </a:cubicBezTo>
                  <a:cubicBezTo>
                    <a:pt x="67" y="31"/>
                    <a:pt x="67" y="31"/>
                    <a:pt x="67" y="31"/>
                  </a:cubicBezTo>
                  <a:cubicBezTo>
                    <a:pt x="67" y="30"/>
                    <a:pt x="67" y="29"/>
                    <a:pt x="67" y="28"/>
                  </a:cubicBezTo>
                  <a:cubicBezTo>
                    <a:pt x="65" y="28"/>
                    <a:pt x="65" y="28"/>
                    <a:pt x="65" y="28"/>
                  </a:cubicBezTo>
                  <a:cubicBezTo>
                    <a:pt x="65" y="27"/>
                    <a:pt x="65" y="26"/>
                    <a:pt x="64" y="25"/>
                  </a:cubicBezTo>
                  <a:cubicBezTo>
                    <a:pt x="67" y="24"/>
                    <a:pt x="67" y="24"/>
                    <a:pt x="67" y="24"/>
                  </a:cubicBezTo>
                  <a:cubicBezTo>
                    <a:pt x="66" y="23"/>
                    <a:pt x="66" y="22"/>
                    <a:pt x="65" y="21"/>
                  </a:cubicBezTo>
                  <a:cubicBezTo>
                    <a:pt x="63" y="22"/>
                    <a:pt x="63" y="22"/>
                    <a:pt x="63" y="22"/>
                  </a:cubicBezTo>
                  <a:cubicBezTo>
                    <a:pt x="63" y="21"/>
                    <a:pt x="62" y="21"/>
                    <a:pt x="62" y="21"/>
                  </a:cubicBezTo>
                  <a:cubicBezTo>
                    <a:pt x="62" y="20"/>
                    <a:pt x="62" y="20"/>
                    <a:pt x="61" y="20"/>
                  </a:cubicBezTo>
                  <a:cubicBezTo>
                    <a:pt x="63" y="18"/>
                    <a:pt x="63" y="18"/>
                    <a:pt x="63" y="18"/>
                  </a:cubicBezTo>
                  <a:cubicBezTo>
                    <a:pt x="62" y="17"/>
                    <a:pt x="61" y="16"/>
                    <a:pt x="60" y="16"/>
                  </a:cubicBezTo>
                  <a:cubicBezTo>
                    <a:pt x="58" y="18"/>
                    <a:pt x="58" y="18"/>
                    <a:pt x="58" y="18"/>
                  </a:cubicBezTo>
                  <a:cubicBezTo>
                    <a:pt x="58" y="17"/>
                    <a:pt x="57" y="17"/>
                    <a:pt x="56" y="17"/>
                  </a:cubicBezTo>
                  <a:close/>
                  <a:moveTo>
                    <a:pt x="53" y="23"/>
                  </a:moveTo>
                  <a:cubicBezTo>
                    <a:pt x="55" y="23"/>
                    <a:pt x="56" y="24"/>
                    <a:pt x="57" y="25"/>
                  </a:cubicBezTo>
                  <a:cubicBezTo>
                    <a:pt x="58" y="26"/>
                    <a:pt x="58" y="27"/>
                    <a:pt x="58" y="29"/>
                  </a:cubicBezTo>
                  <a:cubicBezTo>
                    <a:pt x="58" y="30"/>
                    <a:pt x="57" y="31"/>
                    <a:pt x="56" y="32"/>
                  </a:cubicBezTo>
                  <a:cubicBezTo>
                    <a:pt x="55" y="33"/>
                    <a:pt x="54" y="33"/>
                    <a:pt x="52" y="33"/>
                  </a:cubicBezTo>
                  <a:cubicBezTo>
                    <a:pt x="51" y="33"/>
                    <a:pt x="50" y="32"/>
                    <a:pt x="49" y="31"/>
                  </a:cubicBezTo>
                  <a:cubicBezTo>
                    <a:pt x="48" y="30"/>
                    <a:pt x="48" y="29"/>
                    <a:pt x="48" y="28"/>
                  </a:cubicBezTo>
                  <a:cubicBezTo>
                    <a:pt x="48" y="26"/>
                    <a:pt x="49" y="25"/>
                    <a:pt x="50" y="24"/>
                  </a:cubicBezTo>
                  <a:cubicBezTo>
                    <a:pt x="51" y="23"/>
                    <a:pt x="52" y="23"/>
                    <a:pt x="53" y="23"/>
                  </a:cubicBezTo>
                  <a:close/>
                  <a:moveTo>
                    <a:pt x="55" y="27"/>
                  </a:moveTo>
                  <a:cubicBezTo>
                    <a:pt x="55" y="27"/>
                    <a:pt x="55" y="28"/>
                    <a:pt x="55" y="28"/>
                  </a:cubicBezTo>
                  <a:cubicBezTo>
                    <a:pt x="55" y="29"/>
                    <a:pt x="55" y="30"/>
                    <a:pt x="54" y="30"/>
                  </a:cubicBezTo>
                  <a:cubicBezTo>
                    <a:pt x="54" y="30"/>
                    <a:pt x="53" y="31"/>
                    <a:pt x="53" y="31"/>
                  </a:cubicBezTo>
                  <a:cubicBezTo>
                    <a:pt x="52" y="30"/>
                    <a:pt x="51" y="30"/>
                    <a:pt x="51" y="30"/>
                  </a:cubicBezTo>
                  <a:cubicBezTo>
                    <a:pt x="51" y="29"/>
                    <a:pt x="50" y="29"/>
                    <a:pt x="51" y="28"/>
                  </a:cubicBezTo>
                  <a:cubicBezTo>
                    <a:pt x="51" y="27"/>
                    <a:pt x="51" y="27"/>
                    <a:pt x="51" y="26"/>
                  </a:cubicBezTo>
                  <a:cubicBezTo>
                    <a:pt x="52" y="26"/>
                    <a:pt x="52" y="26"/>
                    <a:pt x="53" y="26"/>
                  </a:cubicBezTo>
                  <a:cubicBezTo>
                    <a:pt x="54" y="26"/>
                    <a:pt x="54" y="26"/>
                    <a:pt x="55" y="27"/>
                  </a:cubicBezTo>
                  <a:close/>
                  <a:moveTo>
                    <a:pt x="59" y="23"/>
                  </a:moveTo>
                  <a:cubicBezTo>
                    <a:pt x="60" y="25"/>
                    <a:pt x="61" y="27"/>
                    <a:pt x="61" y="29"/>
                  </a:cubicBezTo>
                  <a:cubicBezTo>
                    <a:pt x="60" y="31"/>
                    <a:pt x="59" y="33"/>
                    <a:pt x="58" y="34"/>
                  </a:cubicBezTo>
                  <a:cubicBezTo>
                    <a:pt x="56" y="36"/>
                    <a:pt x="54" y="36"/>
                    <a:pt x="52" y="36"/>
                  </a:cubicBezTo>
                  <a:cubicBezTo>
                    <a:pt x="50" y="36"/>
                    <a:pt x="48" y="35"/>
                    <a:pt x="47" y="33"/>
                  </a:cubicBezTo>
                  <a:cubicBezTo>
                    <a:pt x="45" y="32"/>
                    <a:pt x="45" y="30"/>
                    <a:pt x="45" y="27"/>
                  </a:cubicBezTo>
                  <a:cubicBezTo>
                    <a:pt x="45" y="25"/>
                    <a:pt x="46" y="23"/>
                    <a:pt x="48" y="22"/>
                  </a:cubicBezTo>
                  <a:cubicBezTo>
                    <a:pt x="50" y="21"/>
                    <a:pt x="52" y="20"/>
                    <a:pt x="54" y="20"/>
                  </a:cubicBezTo>
                  <a:cubicBezTo>
                    <a:pt x="56" y="21"/>
                    <a:pt x="58" y="22"/>
                    <a:pt x="59" y="23"/>
                  </a:cubicBezTo>
                  <a:close/>
                  <a:moveTo>
                    <a:pt x="31" y="3"/>
                  </a:moveTo>
                  <a:cubicBezTo>
                    <a:pt x="31" y="1"/>
                    <a:pt x="31" y="1"/>
                    <a:pt x="31" y="1"/>
                  </a:cubicBezTo>
                  <a:cubicBezTo>
                    <a:pt x="30" y="1"/>
                    <a:pt x="29" y="0"/>
                    <a:pt x="28" y="1"/>
                  </a:cubicBezTo>
                  <a:cubicBezTo>
                    <a:pt x="27" y="3"/>
                    <a:pt x="27" y="3"/>
                    <a:pt x="27" y="3"/>
                  </a:cubicBezTo>
                  <a:cubicBezTo>
                    <a:pt x="27" y="3"/>
                    <a:pt x="26" y="3"/>
                    <a:pt x="25" y="3"/>
                  </a:cubicBezTo>
                  <a:cubicBezTo>
                    <a:pt x="24" y="1"/>
                    <a:pt x="24" y="1"/>
                    <a:pt x="24" y="1"/>
                  </a:cubicBezTo>
                  <a:cubicBezTo>
                    <a:pt x="23" y="1"/>
                    <a:pt x="22" y="2"/>
                    <a:pt x="21" y="3"/>
                  </a:cubicBezTo>
                  <a:cubicBezTo>
                    <a:pt x="21" y="5"/>
                    <a:pt x="21" y="5"/>
                    <a:pt x="21" y="5"/>
                  </a:cubicBezTo>
                  <a:cubicBezTo>
                    <a:pt x="21" y="5"/>
                    <a:pt x="21" y="5"/>
                    <a:pt x="20" y="6"/>
                  </a:cubicBezTo>
                  <a:cubicBezTo>
                    <a:pt x="20" y="6"/>
                    <a:pt x="20" y="6"/>
                    <a:pt x="20" y="6"/>
                  </a:cubicBezTo>
                  <a:cubicBezTo>
                    <a:pt x="18" y="5"/>
                    <a:pt x="18" y="5"/>
                    <a:pt x="18" y="5"/>
                  </a:cubicBezTo>
                  <a:cubicBezTo>
                    <a:pt x="17" y="6"/>
                    <a:pt x="16" y="7"/>
                    <a:pt x="16" y="8"/>
                  </a:cubicBezTo>
                  <a:cubicBezTo>
                    <a:pt x="17" y="9"/>
                    <a:pt x="17" y="9"/>
                    <a:pt x="17" y="9"/>
                  </a:cubicBezTo>
                  <a:cubicBezTo>
                    <a:pt x="17" y="10"/>
                    <a:pt x="17" y="11"/>
                    <a:pt x="16" y="12"/>
                  </a:cubicBezTo>
                  <a:cubicBezTo>
                    <a:pt x="14" y="12"/>
                    <a:pt x="14" y="12"/>
                    <a:pt x="14" y="12"/>
                  </a:cubicBezTo>
                  <a:cubicBezTo>
                    <a:pt x="14" y="13"/>
                    <a:pt x="14" y="14"/>
                    <a:pt x="14" y="15"/>
                  </a:cubicBezTo>
                  <a:cubicBezTo>
                    <a:pt x="16" y="15"/>
                    <a:pt x="16" y="15"/>
                    <a:pt x="16" y="15"/>
                  </a:cubicBezTo>
                  <a:cubicBezTo>
                    <a:pt x="16" y="16"/>
                    <a:pt x="16" y="17"/>
                    <a:pt x="16" y="18"/>
                  </a:cubicBezTo>
                  <a:cubicBezTo>
                    <a:pt x="14" y="19"/>
                    <a:pt x="14" y="19"/>
                    <a:pt x="14" y="19"/>
                  </a:cubicBezTo>
                  <a:cubicBezTo>
                    <a:pt x="14" y="20"/>
                    <a:pt x="15" y="21"/>
                    <a:pt x="16" y="22"/>
                  </a:cubicBezTo>
                  <a:cubicBezTo>
                    <a:pt x="18" y="21"/>
                    <a:pt x="18" y="21"/>
                    <a:pt x="18" y="21"/>
                  </a:cubicBezTo>
                  <a:cubicBezTo>
                    <a:pt x="18" y="22"/>
                    <a:pt x="18" y="22"/>
                    <a:pt x="19" y="22"/>
                  </a:cubicBezTo>
                  <a:cubicBezTo>
                    <a:pt x="19" y="23"/>
                    <a:pt x="19" y="23"/>
                    <a:pt x="19" y="23"/>
                  </a:cubicBezTo>
                  <a:cubicBezTo>
                    <a:pt x="18" y="25"/>
                    <a:pt x="18" y="25"/>
                    <a:pt x="18" y="25"/>
                  </a:cubicBezTo>
                  <a:cubicBezTo>
                    <a:pt x="19" y="26"/>
                    <a:pt x="20" y="27"/>
                    <a:pt x="21" y="27"/>
                  </a:cubicBezTo>
                  <a:cubicBezTo>
                    <a:pt x="23" y="25"/>
                    <a:pt x="23" y="25"/>
                    <a:pt x="23" y="25"/>
                  </a:cubicBezTo>
                  <a:cubicBezTo>
                    <a:pt x="23" y="26"/>
                    <a:pt x="24" y="26"/>
                    <a:pt x="25" y="26"/>
                  </a:cubicBezTo>
                  <a:cubicBezTo>
                    <a:pt x="25" y="29"/>
                    <a:pt x="25" y="29"/>
                    <a:pt x="25" y="29"/>
                  </a:cubicBezTo>
                  <a:cubicBezTo>
                    <a:pt x="26" y="29"/>
                    <a:pt x="27" y="29"/>
                    <a:pt x="28" y="29"/>
                  </a:cubicBezTo>
                  <a:cubicBezTo>
                    <a:pt x="29" y="27"/>
                    <a:pt x="29" y="27"/>
                    <a:pt x="29" y="27"/>
                  </a:cubicBezTo>
                  <a:cubicBezTo>
                    <a:pt x="29" y="27"/>
                    <a:pt x="30" y="27"/>
                    <a:pt x="31" y="26"/>
                  </a:cubicBezTo>
                  <a:cubicBezTo>
                    <a:pt x="32" y="28"/>
                    <a:pt x="32" y="28"/>
                    <a:pt x="32" y="28"/>
                  </a:cubicBezTo>
                  <a:cubicBezTo>
                    <a:pt x="33" y="28"/>
                    <a:pt x="34" y="28"/>
                    <a:pt x="35" y="27"/>
                  </a:cubicBezTo>
                  <a:cubicBezTo>
                    <a:pt x="34" y="25"/>
                    <a:pt x="34" y="25"/>
                    <a:pt x="34" y="25"/>
                  </a:cubicBezTo>
                  <a:cubicBezTo>
                    <a:pt x="35" y="25"/>
                    <a:pt x="35" y="24"/>
                    <a:pt x="35" y="24"/>
                  </a:cubicBezTo>
                  <a:cubicBezTo>
                    <a:pt x="36" y="24"/>
                    <a:pt x="36" y="24"/>
                    <a:pt x="36" y="23"/>
                  </a:cubicBezTo>
                  <a:cubicBezTo>
                    <a:pt x="38" y="25"/>
                    <a:pt x="38" y="25"/>
                    <a:pt x="38" y="25"/>
                  </a:cubicBezTo>
                  <a:cubicBezTo>
                    <a:pt x="39" y="24"/>
                    <a:pt x="40" y="23"/>
                    <a:pt x="40" y="22"/>
                  </a:cubicBezTo>
                  <a:cubicBezTo>
                    <a:pt x="39" y="20"/>
                    <a:pt x="39" y="20"/>
                    <a:pt x="39" y="20"/>
                  </a:cubicBezTo>
                  <a:cubicBezTo>
                    <a:pt x="39" y="20"/>
                    <a:pt x="39" y="19"/>
                    <a:pt x="39" y="18"/>
                  </a:cubicBezTo>
                  <a:cubicBezTo>
                    <a:pt x="42" y="18"/>
                    <a:pt x="42" y="18"/>
                    <a:pt x="42" y="18"/>
                  </a:cubicBezTo>
                  <a:cubicBezTo>
                    <a:pt x="42" y="17"/>
                    <a:pt x="42" y="16"/>
                    <a:pt x="42" y="15"/>
                  </a:cubicBezTo>
                  <a:cubicBezTo>
                    <a:pt x="40" y="14"/>
                    <a:pt x="40" y="14"/>
                    <a:pt x="40" y="14"/>
                  </a:cubicBezTo>
                  <a:cubicBezTo>
                    <a:pt x="40" y="13"/>
                    <a:pt x="40" y="13"/>
                    <a:pt x="40" y="12"/>
                  </a:cubicBezTo>
                  <a:cubicBezTo>
                    <a:pt x="42" y="11"/>
                    <a:pt x="42" y="11"/>
                    <a:pt x="42" y="11"/>
                  </a:cubicBezTo>
                  <a:cubicBezTo>
                    <a:pt x="41" y="10"/>
                    <a:pt x="41" y="9"/>
                    <a:pt x="40" y="8"/>
                  </a:cubicBezTo>
                  <a:cubicBezTo>
                    <a:pt x="38" y="8"/>
                    <a:pt x="38" y="8"/>
                    <a:pt x="38" y="8"/>
                  </a:cubicBezTo>
                  <a:cubicBezTo>
                    <a:pt x="38" y="8"/>
                    <a:pt x="37" y="8"/>
                    <a:pt x="37" y="7"/>
                  </a:cubicBezTo>
                  <a:cubicBezTo>
                    <a:pt x="37" y="7"/>
                    <a:pt x="37" y="7"/>
                    <a:pt x="36" y="7"/>
                  </a:cubicBezTo>
                  <a:cubicBezTo>
                    <a:pt x="38" y="5"/>
                    <a:pt x="38" y="5"/>
                    <a:pt x="38" y="5"/>
                  </a:cubicBezTo>
                  <a:cubicBezTo>
                    <a:pt x="37" y="4"/>
                    <a:pt x="36" y="3"/>
                    <a:pt x="35" y="2"/>
                  </a:cubicBezTo>
                  <a:cubicBezTo>
                    <a:pt x="33" y="4"/>
                    <a:pt x="33" y="4"/>
                    <a:pt x="33" y="4"/>
                  </a:cubicBezTo>
                  <a:cubicBezTo>
                    <a:pt x="33" y="4"/>
                    <a:pt x="32" y="4"/>
                    <a:pt x="31" y="3"/>
                  </a:cubicBezTo>
                  <a:close/>
                  <a:moveTo>
                    <a:pt x="28" y="10"/>
                  </a:moveTo>
                  <a:cubicBezTo>
                    <a:pt x="30" y="10"/>
                    <a:pt x="31" y="11"/>
                    <a:pt x="32" y="12"/>
                  </a:cubicBezTo>
                  <a:cubicBezTo>
                    <a:pt x="33" y="13"/>
                    <a:pt x="33" y="14"/>
                    <a:pt x="33" y="15"/>
                  </a:cubicBezTo>
                  <a:cubicBezTo>
                    <a:pt x="33" y="17"/>
                    <a:pt x="32" y="18"/>
                    <a:pt x="31" y="19"/>
                  </a:cubicBezTo>
                  <a:cubicBezTo>
                    <a:pt x="30" y="20"/>
                    <a:pt x="29" y="20"/>
                    <a:pt x="27" y="20"/>
                  </a:cubicBezTo>
                  <a:cubicBezTo>
                    <a:pt x="26" y="20"/>
                    <a:pt x="25" y="19"/>
                    <a:pt x="24" y="18"/>
                  </a:cubicBezTo>
                  <a:cubicBezTo>
                    <a:pt x="23" y="17"/>
                    <a:pt x="23" y="16"/>
                    <a:pt x="23" y="14"/>
                  </a:cubicBezTo>
                  <a:cubicBezTo>
                    <a:pt x="23" y="13"/>
                    <a:pt x="24" y="12"/>
                    <a:pt x="25" y="11"/>
                  </a:cubicBezTo>
                  <a:cubicBezTo>
                    <a:pt x="26" y="10"/>
                    <a:pt x="27" y="10"/>
                    <a:pt x="28" y="10"/>
                  </a:cubicBezTo>
                  <a:close/>
                  <a:moveTo>
                    <a:pt x="30" y="13"/>
                  </a:moveTo>
                  <a:cubicBezTo>
                    <a:pt x="30" y="14"/>
                    <a:pt x="30" y="14"/>
                    <a:pt x="30" y="15"/>
                  </a:cubicBezTo>
                  <a:cubicBezTo>
                    <a:pt x="30" y="16"/>
                    <a:pt x="30" y="16"/>
                    <a:pt x="29" y="17"/>
                  </a:cubicBezTo>
                  <a:cubicBezTo>
                    <a:pt x="29" y="17"/>
                    <a:pt x="28" y="17"/>
                    <a:pt x="28" y="17"/>
                  </a:cubicBezTo>
                  <a:cubicBezTo>
                    <a:pt x="27" y="17"/>
                    <a:pt x="26" y="17"/>
                    <a:pt x="26" y="16"/>
                  </a:cubicBezTo>
                  <a:cubicBezTo>
                    <a:pt x="26" y="16"/>
                    <a:pt x="26" y="15"/>
                    <a:pt x="26" y="15"/>
                  </a:cubicBezTo>
                  <a:cubicBezTo>
                    <a:pt x="26" y="14"/>
                    <a:pt x="26" y="13"/>
                    <a:pt x="26" y="13"/>
                  </a:cubicBezTo>
                  <a:cubicBezTo>
                    <a:pt x="27" y="13"/>
                    <a:pt x="28" y="12"/>
                    <a:pt x="28" y="13"/>
                  </a:cubicBezTo>
                  <a:cubicBezTo>
                    <a:pt x="29" y="13"/>
                    <a:pt x="29" y="13"/>
                    <a:pt x="30" y="13"/>
                  </a:cubicBezTo>
                  <a:close/>
                  <a:moveTo>
                    <a:pt x="34" y="10"/>
                  </a:moveTo>
                  <a:cubicBezTo>
                    <a:pt x="35" y="11"/>
                    <a:pt x="36" y="14"/>
                    <a:pt x="36" y="16"/>
                  </a:cubicBezTo>
                  <a:cubicBezTo>
                    <a:pt x="36" y="18"/>
                    <a:pt x="34" y="20"/>
                    <a:pt x="33" y="21"/>
                  </a:cubicBezTo>
                  <a:cubicBezTo>
                    <a:pt x="31" y="22"/>
                    <a:pt x="29" y="23"/>
                    <a:pt x="27" y="23"/>
                  </a:cubicBezTo>
                  <a:cubicBezTo>
                    <a:pt x="25" y="22"/>
                    <a:pt x="23" y="21"/>
                    <a:pt x="22" y="20"/>
                  </a:cubicBezTo>
                  <a:cubicBezTo>
                    <a:pt x="21" y="18"/>
                    <a:pt x="20" y="16"/>
                    <a:pt x="20" y="14"/>
                  </a:cubicBezTo>
                  <a:cubicBezTo>
                    <a:pt x="20" y="12"/>
                    <a:pt x="21" y="10"/>
                    <a:pt x="23" y="9"/>
                  </a:cubicBezTo>
                  <a:cubicBezTo>
                    <a:pt x="25" y="7"/>
                    <a:pt x="27" y="7"/>
                    <a:pt x="29" y="7"/>
                  </a:cubicBezTo>
                  <a:cubicBezTo>
                    <a:pt x="31" y="7"/>
                    <a:pt x="33" y="8"/>
                    <a:pt x="34" y="10"/>
                  </a:cubicBezTo>
                  <a:close/>
                  <a:moveTo>
                    <a:pt x="21" y="41"/>
                  </a:moveTo>
                  <a:cubicBezTo>
                    <a:pt x="19" y="41"/>
                    <a:pt x="17" y="42"/>
                    <a:pt x="16" y="43"/>
                  </a:cubicBezTo>
                  <a:cubicBezTo>
                    <a:pt x="14" y="44"/>
                    <a:pt x="14" y="46"/>
                    <a:pt x="14" y="48"/>
                  </a:cubicBezTo>
                  <a:cubicBezTo>
                    <a:pt x="14" y="50"/>
                    <a:pt x="14" y="52"/>
                    <a:pt x="16" y="54"/>
                  </a:cubicBezTo>
                  <a:cubicBezTo>
                    <a:pt x="17" y="55"/>
                    <a:pt x="19" y="56"/>
                    <a:pt x="21" y="56"/>
                  </a:cubicBezTo>
                  <a:cubicBezTo>
                    <a:pt x="23" y="56"/>
                    <a:pt x="25" y="55"/>
                    <a:pt x="26" y="54"/>
                  </a:cubicBezTo>
                  <a:cubicBezTo>
                    <a:pt x="28" y="52"/>
                    <a:pt x="28" y="50"/>
                    <a:pt x="28" y="48"/>
                  </a:cubicBezTo>
                  <a:cubicBezTo>
                    <a:pt x="28" y="46"/>
                    <a:pt x="28" y="44"/>
                    <a:pt x="26" y="43"/>
                  </a:cubicBezTo>
                  <a:cubicBezTo>
                    <a:pt x="25" y="42"/>
                    <a:pt x="23" y="41"/>
                    <a:pt x="21" y="41"/>
                  </a:cubicBezTo>
                  <a:close/>
                  <a:moveTo>
                    <a:pt x="23" y="46"/>
                  </a:moveTo>
                  <a:cubicBezTo>
                    <a:pt x="23" y="45"/>
                    <a:pt x="22" y="45"/>
                    <a:pt x="21" y="45"/>
                  </a:cubicBezTo>
                  <a:cubicBezTo>
                    <a:pt x="20" y="45"/>
                    <a:pt x="19" y="45"/>
                    <a:pt x="19" y="46"/>
                  </a:cubicBezTo>
                  <a:cubicBezTo>
                    <a:pt x="18" y="47"/>
                    <a:pt x="18" y="47"/>
                    <a:pt x="18" y="48"/>
                  </a:cubicBezTo>
                  <a:cubicBezTo>
                    <a:pt x="18" y="49"/>
                    <a:pt x="18" y="50"/>
                    <a:pt x="19" y="51"/>
                  </a:cubicBezTo>
                  <a:cubicBezTo>
                    <a:pt x="19" y="51"/>
                    <a:pt x="20" y="52"/>
                    <a:pt x="21" y="52"/>
                  </a:cubicBezTo>
                  <a:cubicBezTo>
                    <a:pt x="22" y="52"/>
                    <a:pt x="23" y="51"/>
                    <a:pt x="23" y="51"/>
                  </a:cubicBezTo>
                  <a:cubicBezTo>
                    <a:pt x="24" y="50"/>
                    <a:pt x="24" y="49"/>
                    <a:pt x="24" y="48"/>
                  </a:cubicBezTo>
                  <a:cubicBezTo>
                    <a:pt x="24" y="47"/>
                    <a:pt x="24" y="47"/>
                    <a:pt x="23" y="46"/>
                  </a:cubicBezTo>
                  <a:close/>
                  <a:moveTo>
                    <a:pt x="29" y="40"/>
                  </a:moveTo>
                  <a:cubicBezTo>
                    <a:pt x="27" y="38"/>
                    <a:pt x="24" y="37"/>
                    <a:pt x="21" y="37"/>
                  </a:cubicBezTo>
                  <a:cubicBezTo>
                    <a:pt x="18" y="37"/>
                    <a:pt x="15" y="38"/>
                    <a:pt x="13" y="40"/>
                  </a:cubicBezTo>
                  <a:cubicBezTo>
                    <a:pt x="11" y="42"/>
                    <a:pt x="10" y="45"/>
                    <a:pt x="10" y="48"/>
                  </a:cubicBezTo>
                  <a:cubicBezTo>
                    <a:pt x="10" y="51"/>
                    <a:pt x="11" y="54"/>
                    <a:pt x="13" y="56"/>
                  </a:cubicBezTo>
                  <a:cubicBezTo>
                    <a:pt x="15" y="58"/>
                    <a:pt x="18" y="60"/>
                    <a:pt x="21" y="60"/>
                  </a:cubicBezTo>
                  <a:cubicBezTo>
                    <a:pt x="24" y="60"/>
                    <a:pt x="27" y="58"/>
                    <a:pt x="29" y="56"/>
                  </a:cubicBezTo>
                  <a:cubicBezTo>
                    <a:pt x="31" y="54"/>
                    <a:pt x="32" y="51"/>
                    <a:pt x="32" y="48"/>
                  </a:cubicBezTo>
                  <a:cubicBezTo>
                    <a:pt x="32" y="45"/>
                    <a:pt x="31" y="42"/>
                    <a:pt x="29" y="40"/>
                  </a:cubicBezTo>
                  <a:close/>
                </a:path>
              </a:pathLst>
            </a:custGeom>
            <a:solidFill>
              <a:schemeClr val="bg1"/>
            </a:solidFill>
            <a:ln w="9525">
              <a:noFill/>
            </a:ln>
          </p:spPr>
          <p:txBody>
            <a:bodyPr/>
            <a:p>
              <a:endParaRPr lang="zh-CN" altLang="en-US"/>
            </a:p>
          </p:txBody>
        </p:sp>
      </p:grpSp>
      <p:cxnSp>
        <p:nvCxnSpPr>
          <p:cNvPr id="26" name="直接连接符 2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12305"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12306" name="文本框 39"/>
          <p:cNvSpPr txBox="1"/>
          <p:nvPr/>
        </p:nvSpPr>
        <p:spPr>
          <a:xfrm>
            <a:off x="1073150" y="230188"/>
            <a:ext cx="4976813" cy="398462"/>
          </a:xfrm>
          <a:prstGeom prst="rect">
            <a:avLst/>
          </a:prstGeom>
          <a:noFill/>
          <a:ln w="9525">
            <a:noFill/>
          </a:ln>
        </p:spPr>
        <p:txBody>
          <a:bodyPr anchor="t" anchorCtr="0">
            <a:spAutoFit/>
          </a:bodyPr>
          <a:p>
            <a:pPr>
              <a:buClrTx/>
              <a:buFontTx/>
            </a:pPr>
            <a:r>
              <a:rPr lang="zh-CN" altLang="zh-CN" sz="2000" b="1" dirty="0">
                <a:solidFill>
                  <a:srgbClr val="1F3A65"/>
                </a:solidFill>
                <a:latin typeface="微软雅黑" panose="020B0503020204020204" pitchFamily="34" charset="-122"/>
                <a:ea typeface="微软雅黑" panose="020B0503020204020204" pitchFamily="34" charset="-122"/>
              </a:rPr>
              <a:t>功能展示</a:t>
            </a:r>
            <a:endParaRPr lang="zh-CN" altLang="zh-CN" sz="2000" b="1" dirty="0">
              <a:solidFill>
                <a:srgbClr val="1F3A65"/>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4378325" y="1724025"/>
            <a:ext cx="0" cy="3789363"/>
          </a:xfrm>
          <a:prstGeom prst="line">
            <a:avLst/>
          </a:prstGeom>
          <a:ln>
            <a:solidFill>
              <a:schemeClr val="accent3">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12308" name="图片 4"/>
          <p:cNvPicPr>
            <a:picLocks noChangeAspect="1"/>
          </p:cNvPicPr>
          <p:nvPr/>
        </p:nvPicPr>
        <p:blipFill>
          <a:blip r:embed="rId1"/>
          <a:stretch>
            <a:fillRect/>
          </a:stretch>
        </p:blipFill>
        <p:spPr>
          <a:xfrm>
            <a:off x="438150" y="2052638"/>
            <a:ext cx="3478213" cy="2611437"/>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矩形 9"/>
          <p:cNvSpPr/>
          <p:nvPr/>
        </p:nvSpPr>
        <p:spPr>
          <a:xfrm>
            <a:off x="-476250" y="1408113"/>
            <a:ext cx="4789488" cy="3194050"/>
          </a:xfrm>
          <a:prstGeom prst="rect">
            <a:avLst/>
          </a:prstGeom>
          <a:noFill/>
          <a:ln w="9525">
            <a:noFill/>
          </a:ln>
        </p:spPr>
        <p:txBody>
          <a:bodyPr anchor="t" anchorCtr="0"/>
          <a:p>
            <a:pPr eaLnBrk="0" hangingPunct="0"/>
            <a:endParaRPr lang="zh-CN" altLang="en-US" dirty="0">
              <a:latin typeface="微软雅黑" panose="020B0503020204020204" pitchFamily="34" charset="-122"/>
              <a:ea typeface="微软雅黑" panose="020B0503020204020204" pitchFamily="34" charset="-122"/>
            </a:endParaRPr>
          </a:p>
        </p:txBody>
      </p:sp>
      <p:grpSp>
        <p:nvGrpSpPr>
          <p:cNvPr id="13314" name="组合 5"/>
          <p:cNvGrpSpPr/>
          <p:nvPr/>
        </p:nvGrpSpPr>
        <p:grpSpPr>
          <a:xfrm>
            <a:off x="153988" y="5381625"/>
            <a:ext cx="4267200" cy="1546225"/>
            <a:chOff x="305118" y="4328946"/>
            <a:chExt cx="4266882" cy="1067391"/>
          </a:xfrm>
        </p:grpSpPr>
        <p:sp>
          <p:nvSpPr>
            <p:cNvPr id="13315" name="文本框 3"/>
            <p:cNvSpPr txBox="1"/>
            <p:nvPr/>
          </p:nvSpPr>
          <p:spPr>
            <a:xfrm>
              <a:off x="305118" y="4328946"/>
              <a:ext cx="3398520" cy="339286"/>
            </a:xfrm>
            <a:prstGeom prst="rect">
              <a:avLst/>
            </a:prstGeom>
            <a:noFill/>
            <a:ln w="9525">
              <a:noFill/>
            </a:ln>
          </p:spPr>
          <p:txBody>
            <a:bodyPr anchor="t" anchorCtr="0">
              <a:spAutoFit/>
            </a:bodyPr>
            <a:p>
              <a:pPr marL="104775">
                <a:lnSpc>
                  <a:spcPct val="130000"/>
                </a:lnSpc>
                <a:buClr>
                  <a:srgbClr val="10CF9B"/>
                </a:buClr>
              </a:pPr>
              <a:r>
                <a:rPr lang="zh-CN" altLang="en-US" sz="2000" b="1" dirty="0">
                  <a:latin typeface="微软雅黑" panose="020B0503020204020204" pitchFamily="34" charset="-122"/>
                  <a:ea typeface="微软雅黑" panose="020B0503020204020204" pitchFamily="34" charset="-122"/>
                </a:rPr>
                <a:t>高斯滤波与均值滤波</a:t>
              </a:r>
              <a:endParaRPr lang="en-US" altLang="zh-CN" sz="2000" b="1" dirty="0">
                <a:latin typeface="微软雅黑" panose="020B0503020204020204" pitchFamily="34" charset="-122"/>
                <a:ea typeface="微软雅黑" panose="020B0503020204020204" pitchFamily="34" charset="-122"/>
              </a:endParaRPr>
            </a:p>
          </p:txBody>
        </p:sp>
        <p:sp>
          <p:nvSpPr>
            <p:cNvPr id="13316" name="文本框 4"/>
            <p:cNvSpPr txBox="1"/>
            <p:nvPr/>
          </p:nvSpPr>
          <p:spPr>
            <a:xfrm>
              <a:off x="305118" y="4588258"/>
              <a:ext cx="4266882" cy="808079"/>
            </a:xfrm>
            <a:prstGeom prst="rect">
              <a:avLst/>
            </a:prstGeom>
            <a:noFill/>
            <a:ln w="9525">
              <a:noFill/>
            </a:ln>
          </p:spPr>
          <p:txBody>
            <a:bodyPr anchor="t" anchorCtr="0">
              <a:spAutoFit/>
            </a:bodyPr>
            <a:p>
              <a:pPr marL="104775">
                <a:lnSpc>
                  <a:spcPct val="130000"/>
                </a:lnSpc>
                <a:buClr>
                  <a:srgbClr val="10CF9B"/>
                </a:buClr>
              </a:pPr>
              <a:r>
                <a:rPr lang="zh-CN" altLang="zh-CN" dirty="0">
                  <a:latin typeface="微软雅黑" panose="020B0503020204020204" pitchFamily="34" charset="-122"/>
                  <a:ea typeface="微软雅黑" panose="020B0503020204020204" pitchFamily="34" charset="-122"/>
                </a:rPr>
                <a:t>从上到下分别是高斯滤波和均值滤波，在尽量保持图像原始特征的前提下，对图像的噪声进行抑制</a:t>
              </a:r>
              <a:endParaRPr lang="zh-CN" altLang="zh-CN" dirty="0">
                <a:latin typeface="微软雅黑" panose="020B0503020204020204" pitchFamily="34" charset="-122"/>
                <a:ea typeface="微软雅黑" panose="020B0503020204020204" pitchFamily="34" charset="-122"/>
              </a:endParaRPr>
            </a:p>
          </p:txBody>
        </p:sp>
      </p:grpSp>
      <p:sp>
        <p:nvSpPr>
          <p:cNvPr id="7" name="椭圆 6"/>
          <p:cNvSpPr>
            <a:spLocks noChangeAspect="1"/>
          </p:cNvSpPr>
          <p:nvPr/>
        </p:nvSpPr>
        <p:spPr>
          <a:xfrm>
            <a:off x="4727575" y="1062038"/>
            <a:ext cx="1081088" cy="108108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3318" name="组合 27"/>
          <p:cNvGrpSpPr/>
          <p:nvPr/>
        </p:nvGrpSpPr>
        <p:grpSpPr>
          <a:xfrm>
            <a:off x="5808663" y="1023938"/>
            <a:ext cx="3117850" cy="1460500"/>
            <a:chOff x="5807725" y="888502"/>
            <a:chExt cx="3118562" cy="1460803"/>
          </a:xfrm>
        </p:grpSpPr>
        <p:sp>
          <p:nvSpPr>
            <p:cNvPr id="13319" name="文本框 21"/>
            <p:cNvSpPr txBox="1"/>
            <p:nvPr/>
          </p:nvSpPr>
          <p:spPr>
            <a:xfrm>
              <a:off x="5807725" y="888502"/>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实现原理</a:t>
              </a:r>
              <a:endParaRPr lang="zh-CN" altLang="en-US" sz="2400" b="1" dirty="0">
                <a:latin typeface="微软雅黑" panose="020B0503020204020204" pitchFamily="34" charset="-122"/>
                <a:ea typeface="微软雅黑" panose="020B0503020204020204" pitchFamily="34" charset="-122"/>
              </a:endParaRPr>
            </a:p>
          </p:txBody>
        </p:sp>
        <p:sp>
          <p:nvSpPr>
            <p:cNvPr id="13320" name="文本框 22"/>
            <p:cNvSpPr txBox="1"/>
            <p:nvPr/>
          </p:nvSpPr>
          <p:spPr>
            <a:xfrm>
              <a:off x="5808361" y="1272852"/>
              <a:ext cx="3117926" cy="1076453"/>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采用</a:t>
              </a:r>
              <a:r>
                <a:rPr lang="en-US" altLang="zh-CN" sz="1600" dirty="0">
                  <a:latin typeface="微软雅黑" panose="020B0503020204020204" pitchFamily="34" charset="-122"/>
                  <a:ea typeface="微软雅黑" panose="020B0503020204020204" pitchFamily="34" charset="-122"/>
                </a:rPr>
                <a:t>OpenCV</a:t>
              </a:r>
              <a:r>
                <a:rPr lang="zh-CN" altLang="en-US" sz="1600" dirty="0">
                  <a:latin typeface="微软雅黑" panose="020B0503020204020204" pitchFamily="34" charset="-122"/>
                  <a:ea typeface="微软雅黑" panose="020B0503020204020204" pitchFamily="34" charset="-122"/>
                </a:rPr>
                <a:t>滤波器进行滤波操作，这里才用两种不同的滤波器进行操作，高斯滤波中，可调的参数是标准差</a:t>
              </a:r>
              <a:endParaRPr lang="zh-CN" altLang="en-US" sz="1600" dirty="0">
                <a:latin typeface="微软雅黑" panose="020B0503020204020204" pitchFamily="34" charset="-122"/>
                <a:ea typeface="微软雅黑" panose="020B0503020204020204" pitchFamily="34" charset="-122"/>
              </a:endParaRPr>
            </a:p>
          </p:txBody>
        </p:sp>
      </p:grpSp>
      <p:sp>
        <p:nvSpPr>
          <p:cNvPr id="13321" name="Freeform 48"/>
          <p:cNvSpPr>
            <a:spLocks noChangeAspect="1" noEditPoints="1"/>
          </p:cNvSpPr>
          <p:nvPr/>
        </p:nvSpPr>
        <p:spPr>
          <a:xfrm>
            <a:off x="4999038" y="1333500"/>
            <a:ext cx="539750" cy="5397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6" h="96">
                <a:moveTo>
                  <a:pt x="92" y="41"/>
                </a:moveTo>
                <a:cubicBezTo>
                  <a:pt x="88" y="41"/>
                  <a:pt x="88" y="41"/>
                  <a:pt x="88" y="41"/>
                </a:cubicBezTo>
                <a:cubicBezTo>
                  <a:pt x="86" y="41"/>
                  <a:pt x="84" y="39"/>
                  <a:pt x="83" y="37"/>
                </a:cubicBezTo>
                <a:cubicBezTo>
                  <a:pt x="81" y="31"/>
                  <a:pt x="81" y="31"/>
                  <a:pt x="81" y="31"/>
                </a:cubicBezTo>
                <a:cubicBezTo>
                  <a:pt x="80" y="29"/>
                  <a:pt x="80" y="26"/>
                  <a:pt x="81" y="25"/>
                </a:cubicBezTo>
                <a:cubicBezTo>
                  <a:pt x="85" y="22"/>
                  <a:pt x="85" y="22"/>
                  <a:pt x="85" y="22"/>
                </a:cubicBezTo>
                <a:cubicBezTo>
                  <a:pt x="86" y="20"/>
                  <a:pt x="86" y="18"/>
                  <a:pt x="85" y="17"/>
                </a:cubicBezTo>
                <a:cubicBezTo>
                  <a:pt x="79" y="11"/>
                  <a:pt x="79" y="11"/>
                  <a:pt x="79" y="11"/>
                </a:cubicBezTo>
                <a:cubicBezTo>
                  <a:pt x="78" y="10"/>
                  <a:pt x="76" y="10"/>
                  <a:pt x="74" y="11"/>
                </a:cubicBezTo>
                <a:cubicBezTo>
                  <a:pt x="71" y="15"/>
                  <a:pt x="71" y="15"/>
                  <a:pt x="71" y="15"/>
                </a:cubicBezTo>
                <a:cubicBezTo>
                  <a:pt x="70" y="16"/>
                  <a:pt x="67" y="16"/>
                  <a:pt x="65" y="15"/>
                </a:cubicBezTo>
                <a:cubicBezTo>
                  <a:pt x="59" y="13"/>
                  <a:pt x="59" y="13"/>
                  <a:pt x="59" y="13"/>
                </a:cubicBezTo>
                <a:cubicBezTo>
                  <a:pt x="57" y="12"/>
                  <a:pt x="55" y="10"/>
                  <a:pt x="55" y="8"/>
                </a:cubicBezTo>
                <a:cubicBezTo>
                  <a:pt x="55" y="4"/>
                  <a:pt x="55" y="4"/>
                  <a:pt x="55" y="4"/>
                </a:cubicBezTo>
                <a:cubicBezTo>
                  <a:pt x="55" y="2"/>
                  <a:pt x="54" y="0"/>
                  <a:pt x="52" y="0"/>
                </a:cubicBezTo>
                <a:cubicBezTo>
                  <a:pt x="44" y="0"/>
                  <a:pt x="44" y="0"/>
                  <a:pt x="44" y="0"/>
                </a:cubicBezTo>
                <a:cubicBezTo>
                  <a:pt x="42" y="0"/>
                  <a:pt x="41" y="2"/>
                  <a:pt x="41" y="4"/>
                </a:cubicBezTo>
                <a:cubicBezTo>
                  <a:pt x="41" y="8"/>
                  <a:pt x="41" y="8"/>
                  <a:pt x="41" y="8"/>
                </a:cubicBezTo>
                <a:cubicBezTo>
                  <a:pt x="41" y="10"/>
                  <a:pt x="39" y="12"/>
                  <a:pt x="37" y="13"/>
                </a:cubicBezTo>
                <a:cubicBezTo>
                  <a:pt x="31" y="15"/>
                  <a:pt x="31" y="15"/>
                  <a:pt x="31" y="15"/>
                </a:cubicBezTo>
                <a:cubicBezTo>
                  <a:pt x="29" y="16"/>
                  <a:pt x="26" y="16"/>
                  <a:pt x="25" y="15"/>
                </a:cubicBezTo>
                <a:cubicBezTo>
                  <a:pt x="22" y="11"/>
                  <a:pt x="22" y="11"/>
                  <a:pt x="22" y="11"/>
                </a:cubicBezTo>
                <a:cubicBezTo>
                  <a:pt x="20" y="10"/>
                  <a:pt x="18" y="10"/>
                  <a:pt x="17" y="11"/>
                </a:cubicBezTo>
                <a:cubicBezTo>
                  <a:pt x="11" y="17"/>
                  <a:pt x="11" y="17"/>
                  <a:pt x="11" y="17"/>
                </a:cubicBezTo>
                <a:cubicBezTo>
                  <a:pt x="10" y="18"/>
                  <a:pt x="10" y="20"/>
                  <a:pt x="11" y="22"/>
                </a:cubicBezTo>
                <a:cubicBezTo>
                  <a:pt x="15" y="25"/>
                  <a:pt x="15" y="25"/>
                  <a:pt x="15" y="25"/>
                </a:cubicBezTo>
                <a:cubicBezTo>
                  <a:pt x="16" y="26"/>
                  <a:pt x="16" y="29"/>
                  <a:pt x="15" y="31"/>
                </a:cubicBezTo>
                <a:cubicBezTo>
                  <a:pt x="13" y="37"/>
                  <a:pt x="13" y="37"/>
                  <a:pt x="13" y="37"/>
                </a:cubicBezTo>
                <a:cubicBezTo>
                  <a:pt x="12" y="39"/>
                  <a:pt x="10" y="41"/>
                  <a:pt x="8" y="41"/>
                </a:cubicBezTo>
                <a:cubicBezTo>
                  <a:pt x="4" y="41"/>
                  <a:pt x="4" y="41"/>
                  <a:pt x="4" y="41"/>
                </a:cubicBezTo>
                <a:cubicBezTo>
                  <a:pt x="2" y="41"/>
                  <a:pt x="0" y="42"/>
                  <a:pt x="0" y="44"/>
                </a:cubicBezTo>
                <a:cubicBezTo>
                  <a:pt x="0" y="52"/>
                  <a:pt x="0" y="52"/>
                  <a:pt x="0" y="52"/>
                </a:cubicBezTo>
                <a:cubicBezTo>
                  <a:pt x="0" y="54"/>
                  <a:pt x="2" y="55"/>
                  <a:pt x="4" y="55"/>
                </a:cubicBezTo>
                <a:cubicBezTo>
                  <a:pt x="8" y="55"/>
                  <a:pt x="8" y="55"/>
                  <a:pt x="8" y="55"/>
                </a:cubicBezTo>
                <a:cubicBezTo>
                  <a:pt x="10" y="55"/>
                  <a:pt x="12" y="57"/>
                  <a:pt x="13" y="59"/>
                </a:cubicBezTo>
                <a:cubicBezTo>
                  <a:pt x="15" y="65"/>
                  <a:pt x="15" y="65"/>
                  <a:pt x="15" y="65"/>
                </a:cubicBezTo>
                <a:cubicBezTo>
                  <a:pt x="16" y="67"/>
                  <a:pt x="16" y="70"/>
                  <a:pt x="15" y="71"/>
                </a:cubicBezTo>
                <a:cubicBezTo>
                  <a:pt x="11" y="74"/>
                  <a:pt x="11" y="74"/>
                  <a:pt x="11" y="74"/>
                </a:cubicBezTo>
                <a:cubicBezTo>
                  <a:pt x="10" y="76"/>
                  <a:pt x="10" y="78"/>
                  <a:pt x="11" y="79"/>
                </a:cubicBezTo>
                <a:cubicBezTo>
                  <a:pt x="17" y="85"/>
                  <a:pt x="17" y="85"/>
                  <a:pt x="17" y="85"/>
                </a:cubicBezTo>
                <a:cubicBezTo>
                  <a:pt x="18" y="86"/>
                  <a:pt x="20" y="86"/>
                  <a:pt x="22" y="85"/>
                </a:cubicBezTo>
                <a:cubicBezTo>
                  <a:pt x="25" y="81"/>
                  <a:pt x="25" y="81"/>
                  <a:pt x="25" y="81"/>
                </a:cubicBezTo>
                <a:cubicBezTo>
                  <a:pt x="26" y="80"/>
                  <a:pt x="29" y="80"/>
                  <a:pt x="31" y="81"/>
                </a:cubicBezTo>
                <a:cubicBezTo>
                  <a:pt x="37" y="83"/>
                  <a:pt x="37" y="83"/>
                  <a:pt x="37" y="83"/>
                </a:cubicBezTo>
                <a:cubicBezTo>
                  <a:pt x="39" y="84"/>
                  <a:pt x="41" y="86"/>
                  <a:pt x="41" y="88"/>
                </a:cubicBezTo>
                <a:cubicBezTo>
                  <a:pt x="41" y="92"/>
                  <a:pt x="41" y="92"/>
                  <a:pt x="41" y="92"/>
                </a:cubicBezTo>
                <a:cubicBezTo>
                  <a:pt x="41" y="94"/>
                  <a:pt x="42" y="96"/>
                  <a:pt x="44" y="96"/>
                </a:cubicBezTo>
                <a:cubicBezTo>
                  <a:pt x="52" y="96"/>
                  <a:pt x="52" y="96"/>
                  <a:pt x="52" y="96"/>
                </a:cubicBezTo>
                <a:cubicBezTo>
                  <a:pt x="54" y="96"/>
                  <a:pt x="55" y="94"/>
                  <a:pt x="55" y="92"/>
                </a:cubicBezTo>
                <a:cubicBezTo>
                  <a:pt x="55" y="88"/>
                  <a:pt x="55" y="88"/>
                  <a:pt x="55" y="88"/>
                </a:cubicBezTo>
                <a:cubicBezTo>
                  <a:pt x="55" y="86"/>
                  <a:pt x="57" y="84"/>
                  <a:pt x="59" y="83"/>
                </a:cubicBezTo>
                <a:cubicBezTo>
                  <a:pt x="65" y="81"/>
                  <a:pt x="65" y="81"/>
                  <a:pt x="65" y="81"/>
                </a:cubicBezTo>
                <a:cubicBezTo>
                  <a:pt x="67" y="80"/>
                  <a:pt x="70" y="80"/>
                  <a:pt x="71" y="81"/>
                </a:cubicBezTo>
                <a:cubicBezTo>
                  <a:pt x="74" y="85"/>
                  <a:pt x="74" y="85"/>
                  <a:pt x="74" y="85"/>
                </a:cubicBezTo>
                <a:cubicBezTo>
                  <a:pt x="76" y="86"/>
                  <a:pt x="78" y="86"/>
                  <a:pt x="79" y="85"/>
                </a:cubicBezTo>
                <a:cubicBezTo>
                  <a:pt x="85" y="79"/>
                  <a:pt x="85" y="79"/>
                  <a:pt x="85" y="79"/>
                </a:cubicBezTo>
                <a:cubicBezTo>
                  <a:pt x="86" y="78"/>
                  <a:pt x="86" y="76"/>
                  <a:pt x="85" y="74"/>
                </a:cubicBezTo>
                <a:cubicBezTo>
                  <a:pt x="81" y="71"/>
                  <a:pt x="81" y="71"/>
                  <a:pt x="81" y="71"/>
                </a:cubicBezTo>
                <a:cubicBezTo>
                  <a:pt x="80" y="70"/>
                  <a:pt x="80" y="67"/>
                  <a:pt x="81" y="65"/>
                </a:cubicBezTo>
                <a:cubicBezTo>
                  <a:pt x="83" y="59"/>
                  <a:pt x="83" y="59"/>
                  <a:pt x="83" y="59"/>
                </a:cubicBezTo>
                <a:cubicBezTo>
                  <a:pt x="84" y="57"/>
                  <a:pt x="86" y="55"/>
                  <a:pt x="88" y="55"/>
                </a:cubicBezTo>
                <a:cubicBezTo>
                  <a:pt x="92" y="55"/>
                  <a:pt x="92" y="55"/>
                  <a:pt x="92" y="55"/>
                </a:cubicBezTo>
                <a:cubicBezTo>
                  <a:pt x="94" y="55"/>
                  <a:pt x="96" y="54"/>
                  <a:pt x="96" y="52"/>
                </a:cubicBezTo>
                <a:cubicBezTo>
                  <a:pt x="96" y="44"/>
                  <a:pt x="96" y="44"/>
                  <a:pt x="96" y="44"/>
                </a:cubicBezTo>
                <a:cubicBezTo>
                  <a:pt x="96" y="42"/>
                  <a:pt x="94" y="41"/>
                  <a:pt x="92" y="41"/>
                </a:cubicBezTo>
                <a:close/>
                <a:moveTo>
                  <a:pt x="66" y="48"/>
                </a:moveTo>
                <a:cubicBezTo>
                  <a:pt x="66" y="58"/>
                  <a:pt x="58" y="66"/>
                  <a:pt x="48" y="66"/>
                </a:cubicBezTo>
                <a:cubicBezTo>
                  <a:pt x="38" y="66"/>
                  <a:pt x="30" y="58"/>
                  <a:pt x="30" y="48"/>
                </a:cubicBezTo>
                <a:cubicBezTo>
                  <a:pt x="30" y="38"/>
                  <a:pt x="38" y="30"/>
                  <a:pt x="48" y="30"/>
                </a:cubicBezTo>
                <a:cubicBezTo>
                  <a:pt x="58" y="30"/>
                  <a:pt x="66" y="38"/>
                  <a:pt x="66" y="48"/>
                </a:cubicBezTo>
                <a:close/>
              </a:path>
            </a:pathLst>
          </a:custGeom>
          <a:solidFill>
            <a:schemeClr val="bg1"/>
          </a:solidFill>
          <a:ln w="9525">
            <a:noFill/>
          </a:ln>
        </p:spPr>
        <p:txBody>
          <a:bodyPr/>
          <a:p>
            <a:endParaRPr lang="zh-CN" altLang="en-US"/>
          </a:p>
        </p:txBody>
      </p:sp>
      <p:grpSp>
        <p:nvGrpSpPr>
          <p:cNvPr id="13322" name="组合 30"/>
          <p:cNvGrpSpPr/>
          <p:nvPr/>
        </p:nvGrpSpPr>
        <p:grpSpPr>
          <a:xfrm>
            <a:off x="4727575" y="4738688"/>
            <a:ext cx="1081088" cy="1079500"/>
            <a:chOff x="4728360" y="4621881"/>
            <a:chExt cx="1080000" cy="1080000"/>
          </a:xfrm>
        </p:grpSpPr>
        <p:sp>
          <p:nvSpPr>
            <p:cNvPr id="9" name="椭圆 8"/>
            <p:cNvSpPr>
              <a:spLocks noChangeAspect="1"/>
            </p:cNvSpPr>
            <p:nvPr/>
          </p:nvSpPr>
          <p:spPr>
            <a:xfrm>
              <a:off x="4728360" y="4621881"/>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324" name="Freeform 762"/>
            <p:cNvSpPr>
              <a:spLocks noChangeAspect="1" noEditPoints="1"/>
            </p:cNvSpPr>
            <p:nvPr/>
          </p:nvSpPr>
          <p:spPr>
            <a:xfrm>
              <a:off x="4998360" y="4883882"/>
              <a:ext cx="540000" cy="555999"/>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67" h="69">
                  <a:moveTo>
                    <a:pt x="24" y="31"/>
                  </a:moveTo>
                  <a:cubicBezTo>
                    <a:pt x="25" y="32"/>
                    <a:pt x="26" y="32"/>
                    <a:pt x="27" y="32"/>
                  </a:cubicBezTo>
                  <a:cubicBezTo>
                    <a:pt x="29" y="30"/>
                    <a:pt x="29" y="30"/>
                    <a:pt x="29" y="30"/>
                  </a:cubicBezTo>
                  <a:cubicBezTo>
                    <a:pt x="31" y="30"/>
                    <a:pt x="32" y="31"/>
                    <a:pt x="33" y="32"/>
                  </a:cubicBezTo>
                  <a:cubicBezTo>
                    <a:pt x="32" y="35"/>
                    <a:pt x="32" y="35"/>
                    <a:pt x="32" y="35"/>
                  </a:cubicBezTo>
                  <a:cubicBezTo>
                    <a:pt x="32" y="35"/>
                    <a:pt x="33" y="36"/>
                    <a:pt x="33" y="36"/>
                  </a:cubicBezTo>
                  <a:cubicBezTo>
                    <a:pt x="34" y="37"/>
                    <a:pt x="34" y="37"/>
                    <a:pt x="34" y="37"/>
                  </a:cubicBezTo>
                  <a:cubicBezTo>
                    <a:pt x="37" y="36"/>
                    <a:pt x="37" y="36"/>
                    <a:pt x="37" y="36"/>
                  </a:cubicBezTo>
                  <a:cubicBezTo>
                    <a:pt x="39" y="37"/>
                    <a:pt x="39" y="39"/>
                    <a:pt x="40" y="40"/>
                  </a:cubicBezTo>
                  <a:cubicBezTo>
                    <a:pt x="37" y="42"/>
                    <a:pt x="37" y="42"/>
                    <a:pt x="37" y="42"/>
                  </a:cubicBezTo>
                  <a:cubicBezTo>
                    <a:pt x="37" y="43"/>
                    <a:pt x="38" y="44"/>
                    <a:pt x="38" y="46"/>
                  </a:cubicBezTo>
                  <a:cubicBezTo>
                    <a:pt x="41" y="46"/>
                    <a:pt x="41" y="46"/>
                    <a:pt x="41" y="46"/>
                  </a:cubicBezTo>
                  <a:cubicBezTo>
                    <a:pt x="42" y="48"/>
                    <a:pt x="42" y="49"/>
                    <a:pt x="41" y="51"/>
                  </a:cubicBezTo>
                  <a:cubicBezTo>
                    <a:pt x="38" y="51"/>
                    <a:pt x="38" y="51"/>
                    <a:pt x="38" y="51"/>
                  </a:cubicBezTo>
                  <a:cubicBezTo>
                    <a:pt x="38" y="52"/>
                    <a:pt x="37" y="53"/>
                    <a:pt x="37" y="54"/>
                  </a:cubicBezTo>
                  <a:cubicBezTo>
                    <a:pt x="40" y="56"/>
                    <a:pt x="40" y="56"/>
                    <a:pt x="40" y="56"/>
                  </a:cubicBezTo>
                  <a:cubicBezTo>
                    <a:pt x="39" y="58"/>
                    <a:pt x="38" y="60"/>
                    <a:pt x="37" y="61"/>
                  </a:cubicBezTo>
                  <a:cubicBezTo>
                    <a:pt x="34" y="59"/>
                    <a:pt x="34" y="59"/>
                    <a:pt x="34" y="59"/>
                  </a:cubicBezTo>
                  <a:cubicBezTo>
                    <a:pt x="34" y="60"/>
                    <a:pt x="33" y="60"/>
                    <a:pt x="33" y="60"/>
                  </a:cubicBezTo>
                  <a:cubicBezTo>
                    <a:pt x="33" y="61"/>
                    <a:pt x="32" y="61"/>
                    <a:pt x="32" y="62"/>
                  </a:cubicBezTo>
                  <a:cubicBezTo>
                    <a:pt x="33" y="65"/>
                    <a:pt x="33" y="65"/>
                    <a:pt x="33" y="65"/>
                  </a:cubicBezTo>
                  <a:cubicBezTo>
                    <a:pt x="32" y="66"/>
                    <a:pt x="30" y="67"/>
                    <a:pt x="29" y="67"/>
                  </a:cubicBezTo>
                  <a:cubicBezTo>
                    <a:pt x="27" y="64"/>
                    <a:pt x="27" y="64"/>
                    <a:pt x="27" y="64"/>
                  </a:cubicBezTo>
                  <a:cubicBezTo>
                    <a:pt x="26" y="65"/>
                    <a:pt x="25" y="65"/>
                    <a:pt x="24" y="65"/>
                  </a:cubicBezTo>
                  <a:cubicBezTo>
                    <a:pt x="23" y="69"/>
                    <a:pt x="23" y="69"/>
                    <a:pt x="23" y="69"/>
                  </a:cubicBezTo>
                  <a:cubicBezTo>
                    <a:pt x="22" y="69"/>
                    <a:pt x="20" y="69"/>
                    <a:pt x="18" y="69"/>
                  </a:cubicBezTo>
                  <a:cubicBezTo>
                    <a:pt x="18" y="65"/>
                    <a:pt x="18" y="65"/>
                    <a:pt x="18" y="65"/>
                  </a:cubicBezTo>
                  <a:cubicBezTo>
                    <a:pt x="17" y="65"/>
                    <a:pt x="16" y="65"/>
                    <a:pt x="15" y="64"/>
                  </a:cubicBezTo>
                  <a:cubicBezTo>
                    <a:pt x="13" y="67"/>
                    <a:pt x="13" y="67"/>
                    <a:pt x="13" y="67"/>
                  </a:cubicBezTo>
                  <a:cubicBezTo>
                    <a:pt x="11" y="67"/>
                    <a:pt x="10" y="66"/>
                    <a:pt x="9" y="65"/>
                  </a:cubicBezTo>
                  <a:cubicBezTo>
                    <a:pt x="10" y="62"/>
                    <a:pt x="10" y="62"/>
                    <a:pt x="10" y="62"/>
                  </a:cubicBezTo>
                  <a:cubicBezTo>
                    <a:pt x="10" y="61"/>
                    <a:pt x="9" y="61"/>
                    <a:pt x="9" y="60"/>
                  </a:cubicBezTo>
                  <a:cubicBezTo>
                    <a:pt x="8" y="60"/>
                    <a:pt x="8" y="60"/>
                    <a:pt x="8" y="59"/>
                  </a:cubicBezTo>
                  <a:cubicBezTo>
                    <a:pt x="5" y="61"/>
                    <a:pt x="5" y="61"/>
                    <a:pt x="5" y="61"/>
                  </a:cubicBezTo>
                  <a:cubicBezTo>
                    <a:pt x="3" y="59"/>
                    <a:pt x="2" y="58"/>
                    <a:pt x="2" y="56"/>
                  </a:cubicBezTo>
                  <a:cubicBezTo>
                    <a:pt x="5" y="54"/>
                    <a:pt x="5" y="54"/>
                    <a:pt x="5" y="54"/>
                  </a:cubicBezTo>
                  <a:cubicBezTo>
                    <a:pt x="4" y="53"/>
                    <a:pt x="4" y="52"/>
                    <a:pt x="4" y="51"/>
                  </a:cubicBezTo>
                  <a:cubicBezTo>
                    <a:pt x="1" y="51"/>
                    <a:pt x="1" y="51"/>
                    <a:pt x="1" y="51"/>
                  </a:cubicBezTo>
                  <a:cubicBezTo>
                    <a:pt x="0" y="49"/>
                    <a:pt x="0" y="47"/>
                    <a:pt x="1" y="46"/>
                  </a:cubicBezTo>
                  <a:cubicBezTo>
                    <a:pt x="4" y="45"/>
                    <a:pt x="4" y="45"/>
                    <a:pt x="4" y="45"/>
                  </a:cubicBezTo>
                  <a:cubicBezTo>
                    <a:pt x="4" y="44"/>
                    <a:pt x="4" y="43"/>
                    <a:pt x="5" y="42"/>
                  </a:cubicBezTo>
                  <a:cubicBezTo>
                    <a:pt x="2" y="40"/>
                    <a:pt x="2" y="40"/>
                    <a:pt x="2" y="40"/>
                  </a:cubicBezTo>
                  <a:cubicBezTo>
                    <a:pt x="3" y="38"/>
                    <a:pt x="3" y="37"/>
                    <a:pt x="5" y="36"/>
                  </a:cubicBezTo>
                  <a:cubicBezTo>
                    <a:pt x="8" y="37"/>
                    <a:pt x="8" y="37"/>
                    <a:pt x="8" y="37"/>
                  </a:cubicBezTo>
                  <a:cubicBezTo>
                    <a:pt x="8" y="37"/>
                    <a:pt x="8" y="37"/>
                    <a:pt x="9" y="36"/>
                  </a:cubicBezTo>
                  <a:cubicBezTo>
                    <a:pt x="9" y="36"/>
                    <a:pt x="10" y="35"/>
                    <a:pt x="10" y="35"/>
                  </a:cubicBezTo>
                  <a:cubicBezTo>
                    <a:pt x="9" y="32"/>
                    <a:pt x="9" y="32"/>
                    <a:pt x="9" y="32"/>
                  </a:cubicBezTo>
                  <a:cubicBezTo>
                    <a:pt x="10" y="31"/>
                    <a:pt x="11" y="30"/>
                    <a:pt x="13" y="29"/>
                  </a:cubicBezTo>
                  <a:cubicBezTo>
                    <a:pt x="15" y="32"/>
                    <a:pt x="15" y="32"/>
                    <a:pt x="15" y="32"/>
                  </a:cubicBezTo>
                  <a:cubicBezTo>
                    <a:pt x="16" y="32"/>
                    <a:pt x="17" y="32"/>
                    <a:pt x="18" y="31"/>
                  </a:cubicBezTo>
                  <a:cubicBezTo>
                    <a:pt x="19" y="28"/>
                    <a:pt x="19" y="28"/>
                    <a:pt x="19" y="28"/>
                  </a:cubicBezTo>
                  <a:cubicBezTo>
                    <a:pt x="20" y="28"/>
                    <a:pt x="22" y="28"/>
                    <a:pt x="24" y="28"/>
                  </a:cubicBezTo>
                  <a:cubicBezTo>
                    <a:pt x="24" y="31"/>
                    <a:pt x="24" y="31"/>
                    <a:pt x="24" y="31"/>
                  </a:cubicBezTo>
                  <a:close/>
                  <a:moveTo>
                    <a:pt x="56" y="17"/>
                  </a:moveTo>
                  <a:cubicBezTo>
                    <a:pt x="56" y="14"/>
                    <a:pt x="56" y="14"/>
                    <a:pt x="56" y="14"/>
                  </a:cubicBezTo>
                  <a:cubicBezTo>
                    <a:pt x="55" y="14"/>
                    <a:pt x="54" y="14"/>
                    <a:pt x="53" y="14"/>
                  </a:cubicBezTo>
                  <a:cubicBezTo>
                    <a:pt x="52" y="16"/>
                    <a:pt x="52" y="16"/>
                    <a:pt x="52" y="16"/>
                  </a:cubicBezTo>
                  <a:cubicBezTo>
                    <a:pt x="51" y="16"/>
                    <a:pt x="51" y="16"/>
                    <a:pt x="50" y="17"/>
                  </a:cubicBezTo>
                  <a:cubicBezTo>
                    <a:pt x="49" y="15"/>
                    <a:pt x="49" y="15"/>
                    <a:pt x="49" y="15"/>
                  </a:cubicBezTo>
                  <a:cubicBezTo>
                    <a:pt x="48" y="15"/>
                    <a:pt x="47" y="15"/>
                    <a:pt x="46" y="16"/>
                  </a:cubicBezTo>
                  <a:cubicBezTo>
                    <a:pt x="46" y="18"/>
                    <a:pt x="46" y="18"/>
                    <a:pt x="46" y="18"/>
                  </a:cubicBezTo>
                  <a:cubicBezTo>
                    <a:pt x="46" y="18"/>
                    <a:pt x="46" y="19"/>
                    <a:pt x="45" y="19"/>
                  </a:cubicBezTo>
                  <a:cubicBezTo>
                    <a:pt x="45" y="19"/>
                    <a:pt x="45" y="19"/>
                    <a:pt x="45" y="20"/>
                  </a:cubicBezTo>
                  <a:cubicBezTo>
                    <a:pt x="43" y="18"/>
                    <a:pt x="43" y="18"/>
                    <a:pt x="43" y="18"/>
                  </a:cubicBezTo>
                  <a:cubicBezTo>
                    <a:pt x="42" y="19"/>
                    <a:pt x="41" y="20"/>
                    <a:pt x="41" y="21"/>
                  </a:cubicBezTo>
                  <a:cubicBezTo>
                    <a:pt x="42" y="23"/>
                    <a:pt x="42" y="23"/>
                    <a:pt x="42" y="23"/>
                  </a:cubicBezTo>
                  <a:cubicBezTo>
                    <a:pt x="42" y="24"/>
                    <a:pt x="42" y="24"/>
                    <a:pt x="41" y="25"/>
                  </a:cubicBezTo>
                  <a:cubicBezTo>
                    <a:pt x="39" y="25"/>
                    <a:pt x="39" y="25"/>
                    <a:pt x="39" y="25"/>
                  </a:cubicBezTo>
                  <a:cubicBezTo>
                    <a:pt x="39" y="26"/>
                    <a:pt x="38" y="27"/>
                    <a:pt x="39" y="28"/>
                  </a:cubicBezTo>
                  <a:cubicBezTo>
                    <a:pt x="41" y="29"/>
                    <a:pt x="41" y="29"/>
                    <a:pt x="41" y="29"/>
                  </a:cubicBezTo>
                  <a:cubicBezTo>
                    <a:pt x="41" y="30"/>
                    <a:pt x="41" y="30"/>
                    <a:pt x="41" y="31"/>
                  </a:cubicBezTo>
                  <a:cubicBezTo>
                    <a:pt x="39" y="32"/>
                    <a:pt x="39" y="32"/>
                    <a:pt x="39" y="32"/>
                  </a:cubicBezTo>
                  <a:cubicBezTo>
                    <a:pt x="39" y="33"/>
                    <a:pt x="40" y="34"/>
                    <a:pt x="41" y="35"/>
                  </a:cubicBezTo>
                  <a:cubicBezTo>
                    <a:pt x="43" y="35"/>
                    <a:pt x="43" y="35"/>
                    <a:pt x="43" y="35"/>
                  </a:cubicBezTo>
                  <a:cubicBezTo>
                    <a:pt x="43" y="35"/>
                    <a:pt x="43" y="35"/>
                    <a:pt x="44" y="36"/>
                  </a:cubicBezTo>
                  <a:cubicBezTo>
                    <a:pt x="44" y="36"/>
                    <a:pt x="44" y="36"/>
                    <a:pt x="44" y="37"/>
                  </a:cubicBezTo>
                  <a:cubicBezTo>
                    <a:pt x="43" y="39"/>
                    <a:pt x="43" y="39"/>
                    <a:pt x="43" y="39"/>
                  </a:cubicBezTo>
                  <a:cubicBezTo>
                    <a:pt x="44" y="39"/>
                    <a:pt x="45" y="40"/>
                    <a:pt x="46" y="41"/>
                  </a:cubicBezTo>
                  <a:cubicBezTo>
                    <a:pt x="47" y="39"/>
                    <a:pt x="47" y="39"/>
                    <a:pt x="47" y="39"/>
                  </a:cubicBezTo>
                  <a:cubicBezTo>
                    <a:pt x="48" y="39"/>
                    <a:pt x="49" y="39"/>
                    <a:pt x="50" y="40"/>
                  </a:cubicBezTo>
                  <a:cubicBezTo>
                    <a:pt x="50" y="42"/>
                    <a:pt x="50" y="42"/>
                    <a:pt x="50" y="42"/>
                  </a:cubicBezTo>
                  <a:cubicBezTo>
                    <a:pt x="51" y="42"/>
                    <a:pt x="52" y="43"/>
                    <a:pt x="53" y="42"/>
                  </a:cubicBezTo>
                  <a:cubicBezTo>
                    <a:pt x="54" y="40"/>
                    <a:pt x="54" y="40"/>
                    <a:pt x="54" y="40"/>
                  </a:cubicBezTo>
                  <a:cubicBezTo>
                    <a:pt x="54" y="40"/>
                    <a:pt x="55" y="40"/>
                    <a:pt x="56" y="40"/>
                  </a:cubicBezTo>
                  <a:cubicBezTo>
                    <a:pt x="57" y="42"/>
                    <a:pt x="57" y="42"/>
                    <a:pt x="57" y="42"/>
                  </a:cubicBezTo>
                  <a:cubicBezTo>
                    <a:pt x="58" y="42"/>
                    <a:pt x="59" y="41"/>
                    <a:pt x="60" y="40"/>
                  </a:cubicBezTo>
                  <a:cubicBezTo>
                    <a:pt x="59" y="38"/>
                    <a:pt x="59" y="38"/>
                    <a:pt x="59" y="38"/>
                  </a:cubicBezTo>
                  <a:cubicBezTo>
                    <a:pt x="60" y="38"/>
                    <a:pt x="60" y="38"/>
                    <a:pt x="60" y="38"/>
                  </a:cubicBezTo>
                  <a:cubicBezTo>
                    <a:pt x="61" y="37"/>
                    <a:pt x="61" y="37"/>
                    <a:pt x="61" y="37"/>
                  </a:cubicBezTo>
                  <a:cubicBezTo>
                    <a:pt x="63" y="38"/>
                    <a:pt x="63" y="38"/>
                    <a:pt x="63" y="38"/>
                  </a:cubicBezTo>
                  <a:cubicBezTo>
                    <a:pt x="64" y="37"/>
                    <a:pt x="65" y="36"/>
                    <a:pt x="65" y="35"/>
                  </a:cubicBezTo>
                  <a:cubicBezTo>
                    <a:pt x="64" y="34"/>
                    <a:pt x="64" y="34"/>
                    <a:pt x="64" y="34"/>
                  </a:cubicBezTo>
                  <a:cubicBezTo>
                    <a:pt x="64" y="33"/>
                    <a:pt x="64" y="32"/>
                    <a:pt x="64" y="31"/>
                  </a:cubicBezTo>
                  <a:cubicBezTo>
                    <a:pt x="67" y="31"/>
                    <a:pt x="67" y="31"/>
                    <a:pt x="67" y="31"/>
                  </a:cubicBezTo>
                  <a:cubicBezTo>
                    <a:pt x="67" y="30"/>
                    <a:pt x="67" y="29"/>
                    <a:pt x="67" y="28"/>
                  </a:cubicBezTo>
                  <a:cubicBezTo>
                    <a:pt x="65" y="28"/>
                    <a:pt x="65" y="28"/>
                    <a:pt x="65" y="28"/>
                  </a:cubicBezTo>
                  <a:cubicBezTo>
                    <a:pt x="65" y="27"/>
                    <a:pt x="65" y="26"/>
                    <a:pt x="64" y="25"/>
                  </a:cubicBezTo>
                  <a:cubicBezTo>
                    <a:pt x="67" y="24"/>
                    <a:pt x="67" y="24"/>
                    <a:pt x="67" y="24"/>
                  </a:cubicBezTo>
                  <a:cubicBezTo>
                    <a:pt x="66" y="23"/>
                    <a:pt x="66" y="22"/>
                    <a:pt x="65" y="21"/>
                  </a:cubicBezTo>
                  <a:cubicBezTo>
                    <a:pt x="63" y="22"/>
                    <a:pt x="63" y="22"/>
                    <a:pt x="63" y="22"/>
                  </a:cubicBezTo>
                  <a:cubicBezTo>
                    <a:pt x="63" y="21"/>
                    <a:pt x="62" y="21"/>
                    <a:pt x="62" y="21"/>
                  </a:cubicBezTo>
                  <a:cubicBezTo>
                    <a:pt x="62" y="20"/>
                    <a:pt x="62" y="20"/>
                    <a:pt x="61" y="20"/>
                  </a:cubicBezTo>
                  <a:cubicBezTo>
                    <a:pt x="63" y="18"/>
                    <a:pt x="63" y="18"/>
                    <a:pt x="63" y="18"/>
                  </a:cubicBezTo>
                  <a:cubicBezTo>
                    <a:pt x="62" y="17"/>
                    <a:pt x="61" y="16"/>
                    <a:pt x="60" y="16"/>
                  </a:cubicBezTo>
                  <a:cubicBezTo>
                    <a:pt x="58" y="18"/>
                    <a:pt x="58" y="18"/>
                    <a:pt x="58" y="18"/>
                  </a:cubicBezTo>
                  <a:cubicBezTo>
                    <a:pt x="58" y="17"/>
                    <a:pt x="57" y="17"/>
                    <a:pt x="56" y="17"/>
                  </a:cubicBezTo>
                  <a:close/>
                  <a:moveTo>
                    <a:pt x="53" y="23"/>
                  </a:moveTo>
                  <a:cubicBezTo>
                    <a:pt x="55" y="23"/>
                    <a:pt x="56" y="24"/>
                    <a:pt x="57" y="25"/>
                  </a:cubicBezTo>
                  <a:cubicBezTo>
                    <a:pt x="58" y="26"/>
                    <a:pt x="58" y="27"/>
                    <a:pt x="58" y="29"/>
                  </a:cubicBezTo>
                  <a:cubicBezTo>
                    <a:pt x="58" y="30"/>
                    <a:pt x="57" y="31"/>
                    <a:pt x="56" y="32"/>
                  </a:cubicBezTo>
                  <a:cubicBezTo>
                    <a:pt x="55" y="33"/>
                    <a:pt x="54" y="33"/>
                    <a:pt x="52" y="33"/>
                  </a:cubicBezTo>
                  <a:cubicBezTo>
                    <a:pt x="51" y="33"/>
                    <a:pt x="50" y="32"/>
                    <a:pt x="49" y="31"/>
                  </a:cubicBezTo>
                  <a:cubicBezTo>
                    <a:pt x="48" y="30"/>
                    <a:pt x="48" y="29"/>
                    <a:pt x="48" y="28"/>
                  </a:cubicBezTo>
                  <a:cubicBezTo>
                    <a:pt x="48" y="26"/>
                    <a:pt x="49" y="25"/>
                    <a:pt x="50" y="24"/>
                  </a:cubicBezTo>
                  <a:cubicBezTo>
                    <a:pt x="51" y="23"/>
                    <a:pt x="52" y="23"/>
                    <a:pt x="53" y="23"/>
                  </a:cubicBezTo>
                  <a:close/>
                  <a:moveTo>
                    <a:pt x="55" y="27"/>
                  </a:moveTo>
                  <a:cubicBezTo>
                    <a:pt x="55" y="27"/>
                    <a:pt x="55" y="28"/>
                    <a:pt x="55" y="28"/>
                  </a:cubicBezTo>
                  <a:cubicBezTo>
                    <a:pt x="55" y="29"/>
                    <a:pt x="55" y="30"/>
                    <a:pt x="54" y="30"/>
                  </a:cubicBezTo>
                  <a:cubicBezTo>
                    <a:pt x="54" y="30"/>
                    <a:pt x="53" y="31"/>
                    <a:pt x="53" y="31"/>
                  </a:cubicBezTo>
                  <a:cubicBezTo>
                    <a:pt x="52" y="30"/>
                    <a:pt x="51" y="30"/>
                    <a:pt x="51" y="30"/>
                  </a:cubicBezTo>
                  <a:cubicBezTo>
                    <a:pt x="51" y="29"/>
                    <a:pt x="50" y="29"/>
                    <a:pt x="51" y="28"/>
                  </a:cubicBezTo>
                  <a:cubicBezTo>
                    <a:pt x="51" y="27"/>
                    <a:pt x="51" y="27"/>
                    <a:pt x="51" y="26"/>
                  </a:cubicBezTo>
                  <a:cubicBezTo>
                    <a:pt x="52" y="26"/>
                    <a:pt x="52" y="26"/>
                    <a:pt x="53" y="26"/>
                  </a:cubicBezTo>
                  <a:cubicBezTo>
                    <a:pt x="54" y="26"/>
                    <a:pt x="54" y="26"/>
                    <a:pt x="55" y="27"/>
                  </a:cubicBezTo>
                  <a:close/>
                  <a:moveTo>
                    <a:pt x="59" y="23"/>
                  </a:moveTo>
                  <a:cubicBezTo>
                    <a:pt x="60" y="25"/>
                    <a:pt x="61" y="27"/>
                    <a:pt x="61" y="29"/>
                  </a:cubicBezTo>
                  <a:cubicBezTo>
                    <a:pt x="60" y="31"/>
                    <a:pt x="59" y="33"/>
                    <a:pt x="58" y="34"/>
                  </a:cubicBezTo>
                  <a:cubicBezTo>
                    <a:pt x="56" y="36"/>
                    <a:pt x="54" y="36"/>
                    <a:pt x="52" y="36"/>
                  </a:cubicBezTo>
                  <a:cubicBezTo>
                    <a:pt x="50" y="36"/>
                    <a:pt x="48" y="35"/>
                    <a:pt x="47" y="33"/>
                  </a:cubicBezTo>
                  <a:cubicBezTo>
                    <a:pt x="45" y="32"/>
                    <a:pt x="45" y="30"/>
                    <a:pt x="45" y="27"/>
                  </a:cubicBezTo>
                  <a:cubicBezTo>
                    <a:pt x="45" y="25"/>
                    <a:pt x="46" y="23"/>
                    <a:pt x="48" y="22"/>
                  </a:cubicBezTo>
                  <a:cubicBezTo>
                    <a:pt x="50" y="21"/>
                    <a:pt x="52" y="20"/>
                    <a:pt x="54" y="20"/>
                  </a:cubicBezTo>
                  <a:cubicBezTo>
                    <a:pt x="56" y="21"/>
                    <a:pt x="58" y="22"/>
                    <a:pt x="59" y="23"/>
                  </a:cubicBezTo>
                  <a:close/>
                  <a:moveTo>
                    <a:pt x="31" y="3"/>
                  </a:moveTo>
                  <a:cubicBezTo>
                    <a:pt x="31" y="1"/>
                    <a:pt x="31" y="1"/>
                    <a:pt x="31" y="1"/>
                  </a:cubicBezTo>
                  <a:cubicBezTo>
                    <a:pt x="30" y="1"/>
                    <a:pt x="29" y="0"/>
                    <a:pt x="28" y="1"/>
                  </a:cubicBezTo>
                  <a:cubicBezTo>
                    <a:pt x="27" y="3"/>
                    <a:pt x="27" y="3"/>
                    <a:pt x="27" y="3"/>
                  </a:cubicBezTo>
                  <a:cubicBezTo>
                    <a:pt x="27" y="3"/>
                    <a:pt x="26" y="3"/>
                    <a:pt x="25" y="3"/>
                  </a:cubicBezTo>
                  <a:cubicBezTo>
                    <a:pt x="24" y="1"/>
                    <a:pt x="24" y="1"/>
                    <a:pt x="24" y="1"/>
                  </a:cubicBezTo>
                  <a:cubicBezTo>
                    <a:pt x="23" y="1"/>
                    <a:pt x="22" y="2"/>
                    <a:pt x="21" y="3"/>
                  </a:cubicBezTo>
                  <a:cubicBezTo>
                    <a:pt x="21" y="5"/>
                    <a:pt x="21" y="5"/>
                    <a:pt x="21" y="5"/>
                  </a:cubicBezTo>
                  <a:cubicBezTo>
                    <a:pt x="21" y="5"/>
                    <a:pt x="21" y="5"/>
                    <a:pt x="20" y="6"/>
                  </a:cubicBezTo>
                  <a:cubicBezTo>
                    <a:pt x="20" y="6"/>
                    <a:pt x="20" y="6"/>
                    <a:pt x="20" y="6"/>
                  </a:cubicBezTo>
                  <a:cubicBezTo>
                    <a:pt x="18" y="5"/>
                    <a:pt x="18" y="5"/>
                    <a:pt x="18" y="5"/>
                  </a:cubicBezTo>
                  <a:cubicBezTo>
                    <a:pt x="17" y="6"/>
                    <a:pt x="16" y="7"/>
                    <a:pt x="16" y="8"/>
                  </a:cubicBezTo>
                  <a:cubicBezTo>
                    <a:pt x="17" y="9"/>
                    <a:pt x="17" y="9"/>
                    <a:pt x="17" y="9"/>
                  </a:cubicBezTo>
                  <a:cubicBezTo>
                    <a:pt x="17" y="10"/>
                    <a:pt x="17" y="11"/>
                    <a:pt x="16" y="12"/>
                  </a:cubicBezTo>
                  <a:cubicBezTo>
                    <a:pt x="14" y="12"/>
                    <a:pt x="14" y="12"/>
                    <a:pt x="14" y="12"/>
                  </a:cubicBezTo>
                  <a:cubicBezTo>
                    <a:pt x="14" y="13"/>
                    <a:pt x="14" y="14"/>
                    <a:pt x="14" y="15"/>
                  </a:cubicBezTo>
                  <a:cubicBezTo>
                    <a:pt x="16" y="15"/>
                    <a:pt x="16" y="15"/>
                    <a:pt x="16" y="15"/>
                  </a:cubicBezTo>
                  <a:cubicBezTo>
                    <a:pt x="16" y="16"/>
                    <a:pt x="16" y="17"/>
                    <a:pt x="16" y="18"/>
                  </a:cubicBezTo>
                  <a:cubicBezTo>
                    <a:pt x="14" y="19"/>
                    <a:pt x="14" y="19"/>
                    <a:pt x="14" y="19"/>
                  </a:cubicBezTo>
                  <a:cubicBezTo>
                    <a:pt x="14" y="20"/>
                    <a:pt x="15" y="21"/>
                    <a:pt x="16" y="22"/>
                  </a:cubicBezTo>
                  <a:cubicBezTo>
                    <a:pt x="18" y="21"/>
                    <a:pt x="18" y="21"/>
                    <a:pt x="18" y="21"/>
                  </a:cubicBezTo>
                  <a:cubicBezTo>
                    <a:pt x="18" y="22"/>
                    <a:pt x="18" y="22"/>
                    <a:pt x="19" y="22"/>
                  </a:cubicBezTo>
                  <a:cubicBezTo>
                    <a:pt x="19" y="23"/>
                    <a:pt x="19" y="23"/>
                    <a:pt x="19" y="23"/>
                  </a:cubicBezTo>
                  <a:cubicBezTo>
                    <a:pt x="18" y="25"/>
                    <a:pt x="18" y="25"/>
                    <a:pt x="18" y="25"/>
                  </a:cubicBezTo>
                  <a:cubicBezTo>
                    <a:pt x="19" y="26"/>
                    <a:pt x="20" y="27"/>
                    <a:pt x="21" y="27"/>
                  </a:cubicBezTo>
                  <a:cubicBezTo>
                    <a:pt x="23" y="25"/>
                    <a:pt x="23" y="25"/>
                    <a:pt x="23" y="25"/>
                  </a:cubicBezTo>
                  <a:cubicBezTo>
                    <a:pt x="23" y="26"/>
                    <a:pt x="24" y="26"/>
                    <a:pt x="25" y="26"/>
                  </a:cubicBezTo>
                  <a:cubicBezTo>
                    <a:pt x="25" y="29"/>
                    <a:pt x="25" y="29"/>
                    <a:pt x="25" y="29"/>
                  </a:cubicBezTo>
                  <a:cubicBezTo>
                    <a:pt x="26" y="29"/>
                    <a:pt x="27" y="29"/>
                    <a:pt x="28" y="29"/>
                  </a:cubicBezTo>
                  <a:cubicBezTo>
                    <a:pt x="29" y="27"/>
                    <a:pt x="29" y="27"/>
                    <a:pt x="29" y="27"/>
                  </a:cubicBezTo>
                  <a:cubicBezTo>
                    <a:pt x="29" y="27"/>
                    <a:pt x="30" y="27"/>
                    <a:pt x="31" y="26"/>
                  </a:cubicBezTo>
                  <a:cubicBezTo>
                    <a:pt x="32" y="28"/>
                    <a:pt x="32" y="28"/>
                    <a:pt x="32" y="28"/>
                  </a:cubicBezTo>
                  <a:cubicBezTo>
                    <a:pt x="33" y="28"/>
                    <a:pt x="34" y="28"/>
                    <a:pt x="35" y="27"/>
                  </a:cubicBezTo>
                  <a:cubicBezTo>
                    <a:pt x="34" y="25"/>
                    <a:pt x="34" y="25"/>
                    <a:pt x="34" y="25"/>
                  </a:cubicBezTo>
                  <a:cubicBezTo>
                    <a:pt x="35" y="25"/>
                    <a:pt x="35" y="24"/>
                    <a:pt x="35" y="24"/>
                  </a:cubicBezTo>
                  <a:cubicBezTo>
                    <a:pt x="36" y="24"/>
                    <a:pt x="36" y="24"/>
                    <a:pt x="36" y="23"/>
                  </a:cubicBezTo>
                  <a:cubicBezTo>
                    <a:pt x="38" y="25"/>
                    <a:pt x="38" y="25"/>
                    <a:pt x="38" y="25"/>
                  </a:cubicBezTo>
                  <a:cubicBezTo>
                    <a:pt x="39" y="24"/>
                    <a:pt x="40" y="23"/>
                    <a:pt x="40" y="22"/>
                  </a:cubicBezTo>
                  <a:cubicBezTo>
                    <a:pt x="39" y="20"/>
                    <a:pt x="39" y="20"/>
                    <a:pt x="39" y="20"/>
                  </a:cubicBezTo>
                  <a:cubicBezTo>
                    <a:pt x="39" y="20"/>
                    <a:pt x="39" y="19"/>
                    <a:pt x="39" y="18"/>
                  </a:cubicBezTo>
                  <a:cubicBezTo>
                    <a:pt x="42" y="18"/>
                    <a:pt x="42" y="18"/>
                    <a:pt x="42" y="18"/>
                  </a:cubicBezTo>
                  <a:cubicBezTo>
                    <a:pt x="42" y="17"/>
                    <a:pt x="42" y="16"/>
                    <a:pt x="42" y="15"/>
                  </a:cubicBezTo>
                  <a:cubicBezTo>
                    <a:pt x="40" y="14"/>
                    <a:pt x="40" y="14"/>
                    <a:pt x="40" y="14"/>
                  </a:cubicBezTo>
                  <a:cubicBezTo>
                    <a:pt x="40" y="13"/>
                    <a:pt x="40" y="13"/>
                    <a:pt x="40" y="12"/>
                  </a:cubicBezTo>
                  <a:cubicBezTo>
                    <a:pt x="42" y="11"/>
                    <a:pt x="42" y="11"/>
                    <a:pt x="42" y="11"/>
                  </a:cubicBezTo>
                  <a:cubicBezTo>
                    <a:pt x="41" y="10"/>
                    <a:pt x="41" y="9"/>
                    <a:pt x="40" y="8"/>
                  </a:cubicBezTo>
                  <a:cubicBezTo>
                    <a:pt x="38" y="8"/>
                    <a:pt x="38" y="8"/>
                    <a:pt x="38" y="8"/>
                  </a:cubicBezTo>
                  <a:cubicBezTo>
                    <a:pt x="38" y="8"/>
                    <a:pt x="37" y="8"/>
                    <a:pt x="37" y="7"/>
                  </a:cubicBezTo>
                  <a:cubicBezTo>
                    <a:pt x="37" y="7"/>
                    <a:pt x="37" y="7"/>
                    <a:pt x="36" y="7"/>
                  </a:cubicBezTo>
                  <a:cubicBezTo>
                    <a:pt x="38" y="5"/>
                    <a:pt x="38" y="5"/>
                    <a:pt x="38" y="5"/>
                  </a:cubicBezTo>
                  <a:cubicBezTo>
                    <a:pt x="37" y="4"/>
                    <a:pt x="36" y="3"/>
                    <a:pt x="35" y="2"/>
                  </a:cubicBezTo>
                  <a:cubicBezTo>
                    <a:pt x="33" y="4"/>
                    <a:pt x="33" y="4"/>
                    <a:pt x="33" y="4"/>
                  </a:cubicBezTo>
                  <a:cubicBezTo>
                    <a:pt x="33" y="4"/>
                    <a:pt x="32" y="4"/>
                    <a:pt x="31" y="3"/>
                  </a:cubicBezTo>
                  <a:close/>
                  <a:moveTo>
                    <a:pt x="28" y="10"/>
                  </a:moveTo>
                  <a:cubicBezTo>
                    <a:pt x="30" y="10"/>
                    <a:pt x="31" y="11"/>
                    <a:pt x="32" y="12"/>
                  </a:cubicBezTo>
                  <a:cubicBezTo>
                    <a:pt x="33" y="13"/>
                    <a:pt x="33" y="14"/>
                    <a:pt x="33" y="15"/>
                  </a:cubicBezTo>
                  <a:cubicBezTo>
                    <a:pt x="33" y="17"/>
                    <a:pt x="32" y="18"/>
                    <a:pt x="31" y="19"/>
                  </a:cubicBezTo>
                  <a:cubicBezTo>
                    <a:pt x="30" y="20"/>
                    <a:pt x="29" y="20"/>
                    <a:pt x="27" y="20"/>
                  </a:cubicBezTo>
                  <a:cubicBezTo>
                    <a:pt x="26" y="20"/>
                    <a:pt x="25" y="19"/>
                    <a:pt x="24" y="18"/>
                  </a:cubicBezTo>
                  <a:cubicBezTo>
                    <a:pt x="23" y="17"/>
                    <a:pt x="23" y="16"/>
                    <a:pt x="23" y="14"/>
                  </a:cubicBezTo>
                  <a:cubicBezTo>
                    <a:pt x="23" y="13"/>
                    <a:pt x="24" y="12"/>
                    <a:pt x="25" y="11"/>
                  </a:cubicBezTo>
                  <a:cubicBezTo>
                    <a:pt x="26" y="10"/>
                    <a:pt x="27" y="10"/>
                    <a:pt x="28" y="10"/>
                  </a:cubicBezTo>
                  <a:close/>
                  <a:moveTo>
                    <a:pt x="30" y="13"/>
                  </a:moveTo>
                  <a:cubicBezTo>
                    <a:pt x="30" y="14"/>
                    <a:pt x="30" y="14"/>
                    <a:pt x="30" y="15"/>
                  </a:cubicBezTo>
                  <a:cubicBezTo>
                    <a:pt x="30" y="16"/>
                    <a:pt x="30" y="16"/>
                    <a:pt x="29" y="17"/>
                  </a:cubicBezTo>
                  <a:cubicBezTo>
                    <a:pt x="29" y="17"/>
                    <a:pt x="28" y="17"/>
                    <a:pt x="28" y="17"/>
                  </a:cubicBezTo>
                  <a:cubicBezTo>
                    <a:pt x="27" y="17"/>
                    <a:pt x="26" y="17"/>
                    <a:pt x="26" y="16"/>
                  </a:cubicBezTo>
                  <a:cubicBezTo>
                    <a:pt x="26" y="16"/>
                    <a:pt x="26" y="15"/>
                    <a:pt x="26" y="15"/>
                  </a:cubicBezTo>
                  <a:cubicBezTo>
                    <a:pt x="26" y="14"/>
                    <a:pt x="26" y="13"/>
                    <a:pt x="26" y="13"/>
                  </a:cubicBezTo>
                  <a:cubicBezTo>
                    <a:pt x="27" y="13"/>
                    <a:pt x="28" y="12"/>
                    <a:pt x="28" y="13"/>
                  </a:cubicBezTo>
                  <a:cubicBezTo>
                    <a:pt x="29" y="13"/>
                    <a:pt x="29" y="13"/>
                    <a:pt x="30" y="13"/>
                  </a:cubicBezTo>
                  <a:close/>
                  <a:moveTo>
                    <a:pt x="34" y="10"/>
                  </a:moveTo>
                  <a:cubicBezTo>
                    <a:pt x="35" y="11"/>
                    <a:pt x="36" y="14"/>
                    <a:pt x="36" y="16"/>
                  </a:cubicBezTo>
                  <a:cubicBezTo>
                    <a:pt x="36" y="18"/>
                    <a:pt x="34" y="20"/>
                    <a:pt x="33" y="21"/>
                  </a:cubicBezTo>
                  <a:cubicBezTo>
                    <a:pt x="31" y="22"/>
                    <a:pt x="29" y="23"/>
                    <a:pt x="27" y="23"/>
                  </a:cubicBezTo>
                  <a:cubicBezTo>
                    <a:pt x="25" y="22"/>
                    <a:pt x="23" y="21"/>
                    <a:pt x="22" y="20"/>
                  </a:cubicBezTo>
                  <a:cubicBezTo>
                    <a:pt x="21" y="18"/>
                    <a:pt x="20" y="16"/>
                    <a:pt x="20" y="14"/>
                  </a:cubicBezTo>
                  <a:cubicBezTo>
                    <a:pt x="20" y="12"/>
                    <a:pt x="21" y="10"/>
                    <a:pt x="23" y="9"/>
                  </a:cubicBezTo>
                  <a:cubicBezTo>
                    <a:pt x="25" y="7"/>
                    <a:pt x="27" y="7"/>
                    <a:pt x="29" y="7"/>
                  </a:cubicBezTo>
                  <a:cubicBezTo>
                    <a:pt x="31" y="7"/>
                    <a:pt x="33" y="8"/>
                    <a:pt x="34" y="10"/>
                  </a:cubicBezTo>
                  <a:close/>
                  <a:moveTo>
                    <a:pt x="21" y="41"/>
                  </a:moveTo>
                  <a:cubicBezTo>
                    <a:pt x="19" y="41"/>
                    <a:pt x="17" y="42"/>
                    <a:pt x="16" y="43"/>
                  </a:cubicBezTo>
                  <a:cubicBezTo>
                    <a:pt x="14" y="44"/>
                    <a:pt x="14" y="46"/>
                    <a:pt x="14" y="48"/>
                  </a:cubicBezTo>
                  <a:cubicBezTo>
                    <a:pt x="14" y="50"/>
                    <a:pt x="14" y="52"/>
                    <a:pt x="16" y="54"/>
                  </a:cubicBezTo>
                  <a:cubicBezTo>
                    <a:pt x="17" y="55"/>
                    <a:pt x="19" y="56"/>
                    <a:pt x="21" y="56"/>
                  </a:cubicBezTo>
                  <a:cubicBezTo>
                    <a:pt x="23" y="56"/>
                    <a:pt x="25" y="55"/>
                    <a:pt x="26" y="54"/>
                  </a:cubicBezTo>
                  <a:cubicBezTo>
                    <a:pt x="28" y="52"/>
                    <a:pt x="28" y="50"/>
                    <a:pt x="28" y="48"/>
                  </a:cubicBezTo>
                  <a:cubicBezTo>
                    <a:pt x="28" y="46"/>
                    <a:pt x="28" y="44"/>
                    <a:pt x="26" y="43"/>
                  </a:cubicBezTo>
                  <a:cubicBezTo>
                    <a:pt x="25" y="42"/>
                    <a:pt x="23" y="41"/>
                    <a:pt x="21" y="41"/>
                  </a:cubicBezTo>
                  <a:close/>
                  <a:moveTo>
                    <a:pt x="23" y="46"/>
                  </a:moveTo>
                  <a:cubicBezTo>
                    <a:pt x="23" y="45"/>
                    <a:pt x="22" y="45"/>
                    <a:pt x="21" y="45"/>
                  </a:cubicBezTo>
                  <a:cubicBezTo>
                    <a:pt x="20" y="45"/>
                    <a:pt x="19" y="45"/>
                    <a:pt x="19" y="46"/>
                  </a:cubicBezTo>
                  <a:cubicBezTo>
                    <a:pt x="18" y="47"/>
                    <a:pt x="18" y="47"/>
                    <a:pt x="18" y="48"/>
                  </a:cubicBezTo>
                  <a:cubicBezTo>
                    <a:pt x="18" y="49"/>
                    <a:pt x="18" y="50"/>
                    <a:pt x="19" y="51"/>
                  </a:cubicBezTo>
                  <a:cubicBezTo>
                    <a:pt x="19" y="51"/>
                    <a:pt x="20" y="52"/>
                    <a:pt x="21" y="52"/>
                  </a:cubicBezTo>
                  <a:cubicBezTo>
                    <a:pt x="22" y="52"/>
                    <a:pt x="23" y="51"/>
                    <a:pt x="23" y="51"/>
                  </a:cubicBezTo>
                  <a:cubicBezTo>
                    <a:pt x="24" y="50"/>
                    <a:pt x="24" y="49"/>
                    <a:pt x="24" y="48"/>
                  </a:cubicBezTo>
                  <a:cubicBezTo>
                    <a:pt x="24" y="47"/>
                    <a:pt x="24" y="47"/>
                    <a:pt x="23" y="46"/>
                  </a:cubicBezTo>
                  <a:close/>
                  <a:moveTo>
                    <a:pt x="29" y="40"/>
                  </a:moveTo>
                  <a:cubicBezTo>
                    <a:pt x="27" y="38"/>
                    <a:pt x="24" y="37"/>
                    <a:pt x="21" y="37"/>
                  </a:cubicBezTo>
                  <a:cubicBezTo>
                    <a:pt x="18" y="37"/>
                    <a:pt x="15" y="38"/>
                    <a:pt x="13" y="40"/>
                  </a:cubicBezTo>
                  <a:cubicBezTo>
                    <a:pt x="11" y="42"/>
                    <a:pt x="10" y="45"/>
                    <a:pt x="10" y="48"/>
                  </a:cubicBezTo>
                  <a:cubicBezTo>
                    <a:pt x="10" y="51"/>
                    <a:pt x="11" y="54"/>
                    <a:pt x="13" y="56"/>
                  </a:cubicBezTo>
                  <a:cubicBezTo>
                    <a:pt x="15" y="58"/>
                    <a:pt x="18" y="60"/>
                    <a:pt x="21" y="60"/>
                  </a:cubicBezTo>
                  <a:cubicBezTo>
                    <a:pt x="24" y="60"/>
                    <a:pt x="27" y="58"/>
                    <a:pt x="29" y="56"/>
                  </a:cubicBezTo>
                  <a:cubicBezTo>
                    <a:pt x="31" y="54"/>
                    <a:pt x="32" y="51"/>
                    <a:pt x="32" y="48"/>
                  </a:cubicBezTo>
                  <a:cubicBezTo>
                    <a:pt x="32" y="45"/>
                    <a:pt x="31" y="42"/>
                    <a:pt x="29" y="40"/>
                  </a:cubicBezTo>
                  <a:close/>
                </a:path>
              </a:pathLst>
            </a:custGeom>
            <a:solidFill>
              <a:schemeClr val="bg1"/>
            </a:solidFill>
            <a:ln w="9525">
              <a:noFill/>
            </a:ln>
          </p:spPr>
          <p:txBody>
            <a:bodyPr/>
            <a:p>
              <a:endParaRPr lang="zh-CN" altLang="en-US"/>
            </a:p>
          </p:txBody>
        </p:sp>
      </p:grpSp>
      <p:grpSp>
        <p:nvGrpSpPr>
          <p:cNvPr id="13325" name="组合 35"/>
          <p:cNvGrpSpPr/>
          <p:nvPr/>
        </p:nvGrpSpPr>
        <p:grpSpPr>
          <a:xfrm>
            <a:off x="5808663" y="4664075"/>
            <a:ext cx="3117850" cy="1441450"/>
            <a:chOff x="5808360" y="908189"/>
            <a:chExt cx="3117927" cy="1441116"/>
          </a:xfrm>
        </p:grpSpPr>
        <p:sp>
          <p:nvSpPr>
            <p:cNvPr id="13326" name="文本框 36"/>
            <p:cNvSpPr txBox="1"/>
            <p:nvPr/>
          </p:nvSpPr>
          <p:spPr>
            <a:xfrm>
              <a:off x="5808360" y="908189"/>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均值滤波</a:t>
              </a:r>
              <a:endParaRPr lang="zh-CN" altLang="en-US" sz="2400" b="1" dirty="0">
                <a:latin typeface="微软雅黑" panose="020B0503020204020204" pitchFamily="34" charset="-122"/>
                <a:ea typeface="微软雅黑" panose="020B0503020204020204" pitchFamily="34" charset="-122"/>
              </a:endParaRPr>
            </a:p>
          </p:txBody>
        </p:sp>
        <p:sp>
          <p:nvSpPr>
            <p:cNvPr id="13327" name="文本框 37"/>
            <p:cNvSpPr txBox="1"/>
            <p:nvPr/>
          </p:nvSpPr>
          <p:spPr>
            <a:xfrm>
              <a:off x="5808361" y="1272852"/>
              <a:ext cx="3117926" cy="1076453"/>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对一个像素去5*5的像素和，再取平均数，用这个平均数去替代这个像素点的值，直至所有像素点均完成迭代</a:t>
              </a:r>
              <a:endParaRPr lang="zh-CN" altLang="en-US" sz="1600" dirty="0">
                <a:latin typeface="微软雅黑" panose="020B0503020204020204" pitchFamily="34" charset="-122"/>
                <a:ea typeface="微软雅黑" panose="020B0503020204020204" pitchFamily="34" charset="-122"/>
              </a:endParaRPr>
            </a:p>
          </p:txBody>
        </p:sp>
      </p:grpSp>
      <p:cxnSp>
        <p:nvCxnSpPr>
          <p:cNvPr id="26" name="直接连接符 2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13329"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13330" name="文本框 39"/>
          <p:cNvSpPr txBox="1"/>
          <p:nvPr/>
        </p:nvSpPr>
        <p:spPr>
          <a:xfrm>
            <a:off x="1073150" y="230188"/>
            <a:ext cx="4976813" cy="398462"/>
          </a:xfrm>
          <a:prstGeom prst="rect">
            <a:avLst/>
          </a:prstGeom>
          <a:noFill/>
          <a:ln w="9525">
            <a:noFill/>
          </a:ln>
        </p:spPr>
        <p:txBody>
          <a:bodyPr anchor="t" anchorCtr="0">
            <a:spAutoFit/>
          </a:bodyPr>
          <a:p>
            <a:pPr>
              <a:buClrTx/>
              <a:buFontTx/>
            </a:pPr>
            <a:r>
              <a:rPr lang="zh-CN" altLang="zh-CN" sz="2000" b="1" dirty="0">
                <a:solidFill>
                  <a:srgbClr val="1F3A65"/>
                </a:solidFill>
                <a:latin typeface="微软雅黑" panose="020B0503020204020204" pitchFamily="34" charset="-122"/>
                <a:ea typeface="微软雅黑" panose="020B0503020204020204" pitchFamily="34" charset="-122"/>
              </a:rPr>
              <a:t>功能展示</a:t>
            </a:r>
            <a:endParaRPr lang="zh-CN" altLang="zh-CN" sz="2000" b="1" dirty="0">
              <a:solidFill>
                <a:srgbClr val="1F3A65"/>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4378325" y="1724025"/>
            <a:ext cx="0" cy="3789363"/>
          </a:xfrm>
          <a:prstGeom prst="line">
            <a:avLst/>
          </a:prstGeom>
          <a:ln>
            <a:solidFill>
              <a:schemeClr val="accent3">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13332" name="图片 5"/>
          <p:cNvPicPr>
            <a:picLocks noChangeAspect="1"/>
          </p:cNvPicPr>
          <p:nvPr/>
        </p:nvPicPr>
        <p:blipFill>
          <a:blip r:embed="rId1"/>
          <a:stretch>
            <a:fillRect/>
          </a:stretch>
        </p:blipFill>
        <p:spPr>
          <a:xfrm>
            <a:off x="438150" y="1123950"/>
            <a:ext cx="2813050" cy="2112963"/>
          </a:xfrm>
          <a:prstGeom prst="rect">
            <a:avLst/>
          </a:prstGeom>
          <a:noFill/>
          <a:ln w="9525">
            <a:noFill/>
          </a:ln>
        </p:spPr>
      </p:pic>
      <p:pic>
        <p:nvPicPr>
          <p:cNvPr id="13333" name="图片 6"/>
          <p:cNvPicPr>
            <a:picLocks noChangeAspect="1"/>
          </p:cNvPicPr>
          <p:nvPr/>
        </p:nvPicPr>
        <p:blipFill>
          <a:blip r:embed="rId2"/>
          <a:stretch>
            <a:fillRect/>
          </a:stretch>
        </p:blipFill>
        <p:spPr>
          <a:xfrm>
            <a:off x="488950" y="3362325"/>
            <a:ext cx="2762250" cy="2074863"/>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矩形 9"/>
          <p:cNvSpPr/>
          <p:nvPr/>
        </p:nvSpPr>
        <p:spPr>
          <a:xfrm>
            <a:off x="-476250" y="1408113"/>
            <a:ext cx="4789488" cy="3194050"/>
          </a:xfrm>
          <a:prstGeom prst="rect">
            <a:avLst/>
          </a:prstGeom>
          <a:noFill/>
          <a:ln w="9525">
            <a:noFill/>
          </a:ln>
        </p:spPr>
        <p:txBody>
          <a:bodyPr anchor="t" anchorCtr="0"/>
          <a:p>
            <a:pPr eaLnBrk="0" hangingPunct="0"/>
            <a:endParaRPr lang="zh-CN" altLang="en-US" dirty="0">
              <a:latin typeface="微软雅黑" panose="020B0503020204020204" pitchFamily="34" charset="-122"/>
              <a:ea typeface="微软雅黑" panose="020B0503020204020204" pitchFamily="34" charset="-122"/>
            </a:endParaRPr>
          </a:p>
        </p:txBody>
      </p:sp>
      <p:grpSp>
        <p:nvGrpSpPr>
          <p:cNvPr id="14338" name="组合 31"/>
          <p:cNvGrpSpPr/>
          <p:nvPr/>
        </p:nvGrpSpPr>
        <p:grpSpPr>
          <a:xfrm>
            <a:off x="4797425" y="1349375"/>
            <a:ext cx="1081088" cy="1079500"/>
            <a:chOff x="4728360" y="2784242"/>
            <a:chExt cx="1080000" cy="1080000"/>
          </a:xfrm>
        </p:grpSpPr>
        <p:sp>
          <p:nvSpPr>
            <p:cNvPr id="8" name="椭圆 7"/>
            <p:cNvSpPr>
              <a:spLocks noChangeAspect="1"/>
            </p:cNvSpPr>
            <p:nvPr/>
          </p:nvSpPr>
          <p:spPr>
            <a:xfrm>
              <a:off x="4728360" y="2784242"/>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340" name="Freeform 680"/>
            <p:cNvSpPr>
              <a:spLocks noChangeAspect="1" noEditPoints="1"/>
            </p:cNvSpPr>
            <p:nvPr/>
          </p:nvSpPr>
          <p:spPr>
            <a:xfrm>
              <a:off x="4998360" y="3050467"/>
              <a:ext cx="540000" cy="547551"/>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1" h="72">
                  <a:moveTo>
                    <a:pt x="32" y="17"/>
                  </a:moveTo>
                  <a:cubicBezTo>
                    <a:pt x="31" y="14"/>
                    <a:pt x="29" y="12"/>
                    <a:pt x="26" y="11"/>
                  </a:cubicBezTo>
                  <a:cubicBezTo>
                    <a:pt x="23" y="10"/>
                    <a:pt x="20" y="9"/>
                    <a:pt x="17" y="11"/>
                  </a:cubicBezTo>
                  <a:cubicBezTo>
                    <a:pt x="14" y="12"/>
                    <a:pt x="12" y="14"/>
                    <a:pt x="11" y="17"/>
                  </a:cubicBezTo>
                  <a:cubicBezTo>
                    <a:pt x="9" y="19"/>
                    <a:pt x="9" y="23"/>
                    <a:pt x="10" y="25"/>
                  </a:cubicBezTo>
                  <a:cubicBezTo>
                    <a:pt x="11" y="28"/>
                    <a:pt x="13" y="30"/>
                    <a:pt x="16" y="32"/>
                  </a:cubicBezTo>
                  <a:cubicBezTo>
                    <a:pt x="19" y="33"/>
                    <a:pt x="22" y="33"/>
                    <a:pt x="25" y="32"/>
                  </a:cubicBezTo>
                  <a:cubicBezTo>
                    <a:pt x="28" y="31"/>
                    <a:pt x="30" y="29"/>
                    <a:pt x="32" y="26"/>
                  </a:cubicBezTo>
                  <a:cubicBezTo>
                    <a:pt x="33" y="23"/>
                    <a:pt x="33" y="20"/>
                    <a:pt x="32" y="17"/>
                  </a:cubicBezTo>
                  <a:close/>
                  <a:moveTo>
                    <a:pt x="31" y="7"/>
                  </a:moveTo>
                  <a:cubicBezTo>
                    <a:pt x="32" y="7"/>
                    <a:pt x="33" y="8"/>
                    <a:pt x="33" y="9"/>
                  </a:cubicBezTo>
                  <a:cubicBezTo>
                    <a:pt x="36" y="7"/>
                    <a:pt x="36" y="7"/>
                    <a:pt x="36" y="7"/>
                  </a:cubicBezTo>
                  <a:cubicBezTo>
                    <a:pt x="38" y="8"/>
                    <a:pt x="39" y="10"/>
                    <a:pt x="39" y="11"/>
                  </a:cubicBezTo>
                  <a:cubicBezTo>
                    <a:pt x="37" y="14"/>
                    <a:pt x="37" y="14"/>
                    <a:pt x="37" y="14"/>
                  </a:cubicBezTo>
                  <a:cubicBezTo>
                    <a:pt x="37" y="14"/>
                    <a:pt x="37" y="15"/>
                    <a:pt x="37" y="15"/>
                  </a:cubicBezTo>
                  <a:cubicBezTo>
                    <a:pt x="38" y="16"/>
                    <a:pt x="38" y="16"/>
                    <a:pt x="38" y="17"/>
                  </a:cubicBezTo>
                  <a:cubicBezTo>
                    <a:pt x="41" y="17"/>
                    <a:pt x="41" y="17"/>
                    <a:pt x="41" y="17"/>
                  </a:cubicBezTo>
                  <a:cubicBezTo>
                    <a:pt x="42" y="19"/>
                    <a:pt x="42" y="20"/>
                    <a:pt x="42" y="22"/>
                  </a:cubicBezTo>
                  <a:cubicBezTo>
                    <a:pt x="38" y="22"/>
                    <a:pt x="38" y="22"/>
                    <a:pt x="38" y="22"/>
                  </a:cubicBezTo>
                  <a:cubicBezTo>
                    <a:pt x="38" y="24"/>
                    <a:pt x="38" y="25"/>
                    <a:pt x="38" y="26"/>
                  </a:cubicBezTo>
                  <a:cubicBezTo>
                    <a:pt x="41" y="28"/>
                    <a:pt x="41" y="28"/>
                    <a:pt x="41" y="28"/>
                  </a:cubicBezTo>
                  <a:cubicBezTo>
                    <a:pt x="41" y="29"/>
                    <a:pt x="40" y="31"/>
                    <a:pt x="39" y="32"/>
                  </a:cubicBezTo>
                  <a:cubicBezTo>
                    <a:pt x="36" y="31"/>
                    <a:pt x="36" y="31"/>
                    <a:pt x="36" y="31"/>
                  </a:cubicBezTo>
                  <a:cubicBezTo>
                    <a:pt x="35" y="32"/>
                    <a:pt x="34" y="33"/>
                    <a:pt x="33" y="34"/>
                  </a:cubicBezTo>
                  <a:cubicBezTo>
                    <a:pt x="35" y="37"/>
                    <a:pt x="35" y="37"/>
                    <a:pt x="35" y="37"/>
                  </a:cubicBezTo>
                  <a:cubicBezTo>
                    <a:pt x="34" y="38"/>
                    <a:pt x="33" y="39"/>
                    <a:pt x="31" y="40"/>
                  </a:cubicBezTo>
                  <a:cubicBezTo>
                    <a:pt x="29" y="37"/>
                    <a:pt x="29" y="37"/>
                    <a:pt x="29" y="37"/>
                  </a:cubicBezTo>
                  <a:cubicBezTo>
                    <a:pt x="28" y="37"/>
                    <a:pt x="28" y="37"/>
                    <a:pt x="27" y="38"/>
                  </a:cubicBezTo>
                  <a:cubicBezTo>
                    <a:pt x="27" y="38"/>
                    <a:pt x="26" y="38"/>
                    <a:pt x="26" y="38"/>
                  </a:cubicBezTo>
                  <a:cubicBezTo>
                    <a:pt x="26" y="42"/>
                    <a:pt x="26" y="42"/>
                    <a:pt x="26" y="42"/>
                  </a:cubicBezTo>
                  <a:cubicBezTo>
                    <a:pt x="24" y="42"/>
                    <a:pt x="22" y="42"/>
                    <a:pt x="21" y="42"/>
                  </a:cubicBezTo>
                  <a:cubicBezTo>
                    <a:pt x="20" y="39"/>
                    <a:pt x="20" y="39"/>
                    <a:pt x="20" y="39"/>
                  </a:cubicBezTo>
                  <a:cubicBezTo>
                    <a:pt x="19" y="39"/>
                    <a:pt x="18" y="38"/>
                    <a:pt x="17" y="38"/>
                  </a:cubicBezTo>
                  <a:cubicBezTo>
                    <a:pt x="15" y="41"/>
                    <a:pt x="15" y="41"/>
                    <a:pt x="15" y="41"/>
                  </a:cubicBezTo>
                  <a:cubicBezTo>
                    <a:pt x="13" y="41"/>
                    <a:pt x="11" y="40"/>
                    <a:pt x="10" y="39"/>
                  </a:cubicBezTo>
                  <a:cubicBezTo>
                    <a:pt x="11" y="36"/>
                    <a:pt x="11" y="36"/>
                    <a:pt x="11" y="36"/>
                  </a:cubicBezTo>
                  <a:cubicBezTo>
                    <a:pt x="10" y="35"/>
                    <a:pt x="10" y="34"/>
                    <a:pt x="9" y="34"/>
                  </a:cubicBezTo>
                  <a:cubicBezTo>
                    <a:pt x="6" y="35"/>
                    <a:pt x="6" y="35"/>
                    <a:pt x="6" y="35"/>
                  </a:cubicBezTo>
                  <a:cubicBezTo>
                    <a:pt x="4" y="34"/>
                    <a:pt x="3" y="33"/>
                    <a:pt x="3" y="31"/>
                  </a:cubicBezTo>
                  <a:cubicBezTo>
                    <a:pt x="5" y="29"/>
                    <a:pt x="5" y="29"/>
                    <a:pt x="5" y="29"/>
                  </a:cubicBezTo>
                  <a:cubicBezTo>
                    <a:pt x="5" y="28"/>
                    <a:pt x="5" y="28"/>
                    <a:pt x="5" y="27"/>
                  </a:cubicBezTo>
                  <a:cubicBezTo>
                    <a:pt x="5" y="27"/>
                    <a:pt x="4" y="26"/>
                    <a:pt x="4" y="26"/>
                  </a:cubicBezTo>
                  <a:cubicBezTo>
                    <a:pt x="1" y="26"/>
                    <a:pt x="1" y="26"/>
                    <a:pt x="1" y="26"/>
                  </a:cubicBezTo>
                  <a:cubicBezTo>
                    <a:pt x="0" y="24"/>
                    <a:pt x="0" y="22"/>
                    <a:pt x="0" y="21"/>
                  </a:cubicBezTo>
                  <a:cubicBezTo>
                    <a:pt x="4" y="20"/>
                    <a:pt x="4" y="20"/>
                    <a:pt x="4" y="20"/>
                  </a:cubicBezTo>
                  <a:cubicBezTo>
                    <a:pt x="4" y="19"/>
                    <a:pt x="4" y="18"/>
                    <a:pt x="4" y="17"/>
                  </a:cubicBezTo>
                  <a:cubicBezTo>
                    <a:pt x="1" y="15"/>
                    <a:pt x="1" y="15"/>
                    <a:pt x="1" y="15"/>
                  </a:cubicBezTo>
                  <a:cubicBezTo>
                    <a:pt x="2" y="13"/>
                    <a:pt x="2" y="12"/>
                    <a:pt x="3" y="10"/>
                  </a:cubicBezTo>
                  <a:cubicBezTo>
                    <a:pt x="7" y="12"/>
                    <a:pt x="7" y="12"/>
                    <a:pt x="7" y="12"/>
                  </a:cubicBezTo>
                  <a:cubicBezTo>
                    <a:pt x="7" y="11"/>
                    <a:pt x="8" y="10"/>
                    <a:pt x="9" y="9"/>
                  </a:cubicBezTo>
                  <a:cubicBezTo>
                    <a:pt x="7" y="6"/>
                    <a:pt x="7" y="6"/>
                    <a:pt x="7" y="6"/>
                  </a:cubicBezTo>
                  <a:cubicBezTo>
                    <a:pt x="8" y="5"/>
                    <a:pt x="10" y="4"/>
                    <a:pt x="11" y="3"/>
                  </a:cubicBezTo>
                  <a:cubicBezTo>
                    <a:pt x="13" y="6"/>
                    <a:pt x="13" y="6"/>
                    <a:pt x="13" y="6"/>
                  </a:cubicBezTo>
                  <a:cubicBezTo>
                    <a:pt x="14" y="5"/>
                    <a:pt x="14" y="5"/>
                    <a:pt x="15" y="5"/>
                  </a:cubicBezTo>
                  <a:cubicBezTo>
                    <a:pt x="16" y="5"/>
                    <a:pt x="16" y="5"/>
                    <a:pt x="17" y="4"/>
                  </a:cubicBezTo>
                  <a:cubicBezTo>
                    <a:pt x="17" y="1"/>
                    <a:pt x="17" y="1"/>
                    <a:pt x="17" y="1"/>
                  </a:cubicBezTo>
                  <a:cubicBezTo>
                    <a:pt x="18" y="0"/>
                    <a:pt x="20" y="0"/>
                    <a:pt x="22" y="1"/>
                  </a:cubicBezTo>
                  <a:cubicBezTo>
                    <a:pt x="22" y="4"/>
                    <a:pt x="22" y="4"/>
                    <a:pt x="22" y="4"/>
                  </a:cubicBezTo>
                  <a:cubicBezTo>
                    <a:pt x="23" y="4"/>
                    <a:pt x="25" y="4"/>
                    <a:pt x="26" y="4"/>
                  </a:cubicBezTo>
                  <a:cubicBezTo>
                    <a:pt x="27" y="2"/>
                    <a:pt x="27" y="2"/>
                    <a:pt x="27" y="2"/>
                  </a:cubicBezTo>
                  <a:cubicBezTo>
                    <a:pt x="29" y="2"/>
                    <a:pt x="31" y="3"/>
                    <a:pt x="32" y="4"/>
                  </a:cubicBezTo>
                  <a:cubicBezTo>
                    <a:pt x="31" y="7"/>
                    <a:pt x="31" y="7"/>
                    <a:pt x="31" y="7"/>
                  </a:cubicBezTo>
                  <a:close/>
                  <a:moveTo>
                    <a:pt x="60" y="47"/>
                  </a:moveTo>
                  <a:cubicBezTo>
                    <a:pt x="59" y="44"/>
                    <a:pt x="57" y="42"/>
                    <a:pt x="54" y="41"/>
                  </a:cubicBezTo>
                  <a:cubicBezTo>
                    <a:pt x="51" y="39"/>
                    <a:pt x="48" y="39"/>
                    <a:pt x="45" y="40"/>
                  </a:cubicBezTo>
                  <a:cubicBezTo>
                    <a:pt x="43" y="41"/>
                    <a:pt x="40" y="44"/>
                    <a:pt x="39" y="46"/>
                  </a:cubicBezTo>
                  <a:cubicBezTo>
                    <a:pt x="38" y="49"/>
                    <a:pt x="38" y="52"/>
                    <a:pt x="39" y="55"/>
                  </a:cubicBezTo>
                  <a:cubicBezTo>
                    <a:pt x="40" y="58"/>
                    <a:pt x="42" y="60"/>
                    <a:pt x="45" y="62"/>
                  </a:cubicBezTo>
                  <a:cubicBezTo>
                    <a:pt x="48" y="63"/>
                    <a:pt x="51" y="63"/>
                    <a:pt x="54" y="62"/>
                  </a:cubicBezTo>
                  <a:cubicBezTo>
                    <a:pt x="56" y="61"/>
                    <a:pt x="59" y="59"/>
                    <a:pt x="60" y="56"/>
                  </a:cubicBezTo>
                  <a:cubicBezTo>
                    <a:pt x="61" y="53"/>
                    <a:pt x="61" y="50"/>
                    <a:pt x="60" y="47"/>
                  </a:cubicBezTo>
                  <a:close/>
                  <a:moveTo>
                    <a:pt x="59" y="37"/>
                  </a:moveTo>
                  <a:cubicBezTo>
                    <a:pt x="60" y="37"/>
                    <a:pt x="61" y="38"/>
                    <a:pt x="62" y="39"/>
                  </a:cubicBezTo>
                  <a:cubicBezTo>
                    <a:pt x="65" y="37"/>
                    <a:pt x="65" y="37"/>
                    <a:pt x="65" y="37"/>
                  </a:cubicBezTo>
                  <a:cubicBezTo>
                    <a:pt x="66" y="38"/>
                    <a:pt x="67" y="40"/>
                    <a:pt x="68" y="41"/>
                  </a:cubicBezTo>
                  <a:cubicBezTo>
                    <a:pt x="65" y="44"/>
                    <a:pt x="65" y="44"/>
                    <a:pt x="65" y="44"/>
                  </a:cubicBezTo>
                  <a:cubicBezTo>
                    <a:pt x="65" y="44"/>
                    <a:pt x="66" y="45"/>
                    <a:pt x="66" y="45"/>
                  </a:cubicBezTo>
                  <a:cubicBezTo>
                    <a:pt x="66" y="46"/>
                    <a:pt x="66" y="46"/>
                    <a:pt x="66" y="47"/>
                  </a:cubicBezTo>
                  <a:cubicBezTo>
                    <a:pt x="70" y="47"/>
                    <a:pt x="70" y="47"/>
                    <a:pt x="70" y="47"/>
                  </a:cubicBezTo>
                  <a:cubicBezTo>
                    <a:pt x="70" y="48"/>
                    <a:pt x="71" y="50"/>
                    <a:pt x="70" y="52"/>
                  </a:cubicBezTo>
                  <a:cubicBezTo>
                    <a:pt x="67" y="52"/>
                    <a:pt x="67" y="52"/>
                    <a:pt x="67" y="52"/>
                  </a:cubicBezTo>
                  <a:cubicBezTo>
                    <a:pt x="67" y="53"/>
                    <a:pt x="67" y="55"/>
                    <a:pt x="66" y="56"/>
                  </a:cubicBezTo>
                  <a:cubicBezTo>
                    <a:pt x="69" y="57"/>
                    <a:pt x="69" y="57"/>
                    <a:pt x="69" y="57"/>
                  </a:cubicBezTo>
                  <a:cubicBezTo>
                    <a:pt x="69" y="59"/>
                    <a:pt x="68" y="61"/>
                    <a:pt x="67" y="62"/>
                  </a:cubicBezTo>
                  <a:cubicBezTo>
                    <a:pt x="64" y="61"/>
                    <a:pt x="64" y="61"/>
                    <a:pt x="64" y="61"/>
                  </a:cubicBezTo>
                  <a:cubicBezTo>
                    <a:pt x="63" y="62"/>
                    <a:pt x="63" y="63"/>
                    <a:pt x="62" y="63"/>
                  </a:cubicBezTo>
                  <a:cubicBezTo>
                    <a:pt x="63" y="66"/>
                    <a:pt x="63" y="66"/>
                    <a:pt x="63" y="66"/>
                  </a:cubicBezTo>
                  <a:cubicBezTo>
                    <a:pt x="62" y="68"/>
                    <a:pt x="61" y="69"/>
                    <a:pt x="59" y="69"/>
                  </a:cubicBezTo>
                  <a:cubicBezTo>
                    <a:pt x="57" y="67"/>
                    <a:pt x="57" y="67"/>
                    <a:pt x="57" y="67"/>
                  </a:cubicBezTo>
                  <a:cubicBezTo>
                    <a:pt x="57" y="67"/>
                    <a:pt x="56" y="67"/>
                    <a:pt x="56" y="67"/>
                  </a:cubicBezTo>
                  <a:cubicBezTo>
                    <a:pt x="55" y="68"/>
                    <a:pt x="55" y="68"/>
                    <a:pt x="54" y="68"/>
                  </a:cubicBezTo>
                  <a:cubicBezTo>
                    <a:pt x="54" y="71"/>
                    <a:pt x="54" y="71"/>
                    <a:pt x="54" y="71"/>
                  </a:cubicBezTo>
                  <a:cubicBezTo>
                    <a:pt x="52" y="72"/>
                    <a:pt x="51" y="72"/>
                    <a:pt x="49" y="72"/>
                  </a:cubicBezTo>
                  <a:cubicBezTo>
                    <a:pt x="48" y="69"/>
                    <a:pt x="48" y="69"/>
                    <a:pt x="48" y="69"/>
                  </a:cubicBezTo>
                  <a:cubicBezTo>
                    <a:pt x="47" y="68"/>
                    <a:pt x="46" y="68"/>
                    <a:pt x="45" y="68"/>
                  </a:cubicBezTo>
                  <a:cubicBezTo>
                    <a:pt x="43" y="71"/>
                    <a:pt x="43" y="71"/>
                    <a:pt x="43" y="71"/>
                  </a:cubicBezTo>
                  <a:cubicBezTo>
                    <a:pt x="41" y="71"/>
                    <a:pt x="40" y="70"/>
                    <a:pt x="39" y="69"/>
                  </a:cubicBezTo>
                  <a:cubicBezTo>
                    <a:pt x="40" y="66"/>
                    <a:pt x="40" y="66"/>
                    <a:pt x="40" y="66"/>
                  </a:cubicBezTo>
                  <a:cubicBezTo>
                    <a:pt x="39" y="65"/>
                    <a:pt x="38" y="64"/>
                    <a:pt x="37" y="63"/>
                  </a:cubicBezTo>
                  <a:cubicBezTo>
                    <a:pt x="34" y="65"/>
                    <a:pt x="34" y="65"/>
                    <a:pt x="34" y="65"/>
                  </a:cubicBezTo>
                  <a:cubicBezTo>
                    <a:pt x="33" y="64"/>
                    <a:pt x="32" y="63"/>
                    <a:pt x="31" y="61"/>
                  </a:cubicBezTo>
                  <a:cubicBezTo>
                    <a:pt x="34" y="59"/>
                    <a:pt x="34" y="59"/>
                    <a:pt x="34" y="59"/>
                  </a:cubicBezTo>
                  <a:cubicBezTo>
                    <a:pt x="34" y="58"/>
                    <a:pt x="33" y="58"/>
                    <a:pt x="33" y="57"/>
                  </a:cubicBezTo>
                  <a:cubicBezTo>
                    <a:pt x="33" y="57"/>
                    <a:pt x="33" y="56"/>
                    <a:pt x="33" y="56"/>
                  </a:cubicBezTo>
                  <a:cubicBezTo>
                    <a:pt x="29" y="56"/>
                    <a:pt x="29" y="56"/>
                    <a:pt x="29" y="56"/>
                  </a:cubicBezTo>
                  <a:cubicBezTo>
                    <a:pt x="29" y="54"/>
                    <a:pt x="28" y="52"/>
                    <a:pt x="29" y="51"/>
                  </a:cubicBezTo>
                  <a:cubicBezTo>
                    <a:pt x="32" y="50"/>
                    <a:pt x="32" y="50"/>
                    <a:pt x="32" y="50"/>
                  </a:cubicBezTo>
                  <a:cubicBezTo>
                    <a:pt x="32" y="49"/>
                    <a:pt x="32" y="48"/>
                    <a:pt x="33" y="47"/>
                  </a:cubicBezTo>
                  <a:cubicBezTo>
                    <a:pt x="30" y="45"/>
                    <a:pt x="30" y="45"/>
                    <a:pt x="30" y="45"/>
                  </a:cubicBezTo>
                  <a:cubicBezTo>
                    <a:pt x="30" y="43"/>
                    <a:pt x="31" y="42"/>
                    <a:pt x="32" y="40"/>
                  </a:cubicBezTo>
                  <a:cubicBezTo>
                    <a:pt x="35" y="41"/>
                    <a:pt x="35" y="41"/>
                    <a:pt x="35" y="41"/>
                  </a:cubicBezTo>
                  <a:cubicBezTo>
                    <a:pt x="36" y="40"/>
                    <a:pt x="36" y="40"/>
                    <a:pt x="37" y="39"/>
                  </a:cubicBezTo>
                  <a:cubicBezTo>
                    <a:pt x="36" y="36"/>
                    <a:pt x="36" y="36"/>
                    <a:pt x="36" y="36"/>
                  </a:cubicBezTo>
                  <a:cubicBezTo>
                    <a:pt x="37" y="34"/>
                    <a:pt x="38" y="33"/>
                    <a:pt x="40" y="33"/>
                  </a:cubicBezTo>
                  <a:cubicBezTo>
                    <a:pt x="42" y="36"/>
                    <a:pt x="42" y="36"/>
                    <a:pt x="42" y="36"/>
                  </a:cubicBezTo>
                  <a:cubicBezTo>
                    <a:pt x="42" y="35"/>
                    <a:pt x="43" y="35"/>
                    <a:pt x="43" y="35"/>
                  </a:cubicBezTo>
                  <a:cubicBezTo>
                    <a:pt x="44" y="35"/>
                    <a:pt x="45" y="34"/>
                    <a:pt x="45" y="34"/>
                  </a:cubicBezTo>
                  <a:cubicBezTo>
                    <a:pt x="45" y="31"/>
                    <a:pt x="45" y="31"/>
                    <a:pt x="45" y="31"/>
                  </a:cubicBezTo>
                  <a:cubicBezTo>
                    <a:pt x="47" y="30"/>
                    <a:pt x="48" y="30"/>
                    <a:pt x="50" y="30"/>
                  </a:cubicBezTo>
                  <a:cubicBezTo>
                    <a:pt x="51" y="34"/>
                    <a:pt x="51" y="34"/>
                    <a:pt x="51" y="34"/>
                  </a:cubicBezTo>
                  <a:cubicBezTo>
                    <a:pt x="52" y="34"/>
                    <a:pt x="53" y="34"/>
                    <a:pt x="54" y="34"/>
                  </a:cubicBezTo>
                  <a:cubicBezTo>
                    <a:pt x="56" y="31"/>
                    <a:pt x="56" y="31"/>
                    <a:pt x="56" y="31"/>
                  </a:cubicBezTo>
                  <a:cubicBezTo>
                    <a:pt x="58" y="32"/>
                    <a:pt x="59" y="32"/>
                    <a:pt x="60" y="33"/>
                  </a:cubicBezTo>
                  <a:lnTo>
                    <a:pt x="59" y="37"/>
                  </a:lnTo>
                  <a:close/>
                </a:path>
              </a:pathLst>
            </a:custGeom>
            <a:solidFill>
              <a:schemeClr val="bg1"/>
            </a:solidFill>
            <a:ln w="9525">
              <a:noFill/>
            </a:ln>
          </p:spPr>
          <p:txBody>
            <a:bodyPr/>
            <a:p>
              <a:endParaRPr lang="zh-CN" altLang="en-US"/>
            </a:p>
          </p:txBody>
        </p:sp>
      </p:grpSp>
      <p:grpSp>
        <p:nvGrpSpPr>
          <p:cNvPr id="14341" name="组合 32"/>
          <p:cNvGrpSpPr/>
          <p:nvPr/>
        </p:nvGrpSpPr>
        <p:grpSpPr>
          <a:xfrm>
            <a:off x="5905500" y="1479550"/>
            <a:ext cx="3117850" cy="2917825"/>
            <a:chOff x="5808360" y="908189"/>
            <a:chExt cx="3117927" cy="2918302"/>
          </a:xfrm>
        </p:grpSpPr>
        <p:sp>
          <p:nvSpPr>
            <p:cNvPr id="14342" name="文本框 33"/>
            <p:cNvSpPr txBox="1"/>
            <p:nvPr/>
          </p:nvSpPr>
          <p:spPr>
            <a:xfrm>
              <a:off x="5808360" y="908189"/>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高斯滤波</a:t>
              </a:r>
              <a:endParaRPr lang="zh-CN" altLang="en-US" sz="2400" b="1" dirty="0">
                <a:latin typeface="微软雅黑" panose="020B0503020204020204" pitchFamily="34" charset="-122"/>
                <a:ea typeface="微软雅黑" panose="020B0503020204020204" pitchFamily="34" charset="-122"/>
              </a:endParaRPr>
            </a:p>
          </p:txBody>
        </p:sp>
        <p:sp>
          <p:nvSpPr>
            <p:cNvPr id="14343" name="文本框 34"/>
            <p:cNvSpPr txBox="1"/>
            <p:nvPr/>
          </p:nvSpPr>
          <p:spPr>
            <a:xfrm>
              <a:off x="5808361" y="1272852"/>
              <a:ext cx="3117926" cy="2553639"/>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是采用一种线性平滑滤波器，对于服从正态分布的噪声有很好的抑制作用。对比均值滤波，其不同在于它的滤波器的模板系数随着距离模板中心的增大而减小（服从二维高斯分布），所以调用</a:t>
              </a:r>
              <a:r>
                <a:rPr lang="en-US" altLang="zh-CN" sz="1600" dirty="0">
                  <a:latin typeface="微软雅黑" panose="020B0503020204020204" pitchFamily="34" charset="-122"/>
                  <a:ea typeface="微软雅黑" panose="020B0503020204020204" pitchFamily="34" charset="-122"/>
                </a:rPr>
                <a:t>OpenCV</a:t>
              </a:r>
              <a:r>
                <a:rPr lang="zh-CN" altLang="en-US" sz="1600" dirty="0">
                  <a:latin typeface="微软雅黑" panose="020B0503020204020204" pitchFamily="34" charset="-122"/>
                  <a:ea typeface="微软雅黑" panose="020B0503020204020204" pitchFamily="34" charset="-122"/>
                </a:rPr>
                <a:t>里的高斯滤波，找到模板，我采用的是</a:t>
              </a:r>
              <a:r>
                <a:rPr lang="en-US" altLang="zh-CN" sz="1600" dirty="0">
                  <a:latin typeface="微软雅黑" panose="020B0503020204020204" pitchFamily="34" charset="-122"/>
                  <a:ea typeface="微软雅黑" panose="020B0503020204020204" pitchFamily="34" charset="-122"/>
                </a:rPr>
                <a:t>5x5</a:t>
              </a:r>
              <a:r>
                <a:rPr lang="zh-CN" altLang="en-US" sz="1600" dirty="0">
                  <a:latin typeface="微软雅黑" panose="020B0503020204020204" pitchFamily="34" charset="-122"/>
                  <a:ea typeface="微软雅黑" panose="020B0503020204020204" pitchFamily="34" charset="-122"/>
                </a:rPr>
                <a:t>的高斯滤波，然后通过调节标准差改变滤波强度。</a:t>
              </a:r>
              <a:endParaRPr lang="zh-CN" altLang="en-US" sz="1600" dirty="0">
                <a:latin typeface="微软雅黑" panose="020B0503020204020204" pitchFamily="34" charset="-122"/>
                <a:ea typeface="微软雅黑" panose="020B0503020204020204" pitchFamily="34" charset="-122"/>
              </a:endParaRPr>
            </a:p>
          </p:txBody>
        </p:sp>
      </p:grpSp>
      <p:cxnSp>
        <p:nvCxnSpPr>
          <p:cNvPr id="26" name="直接连接符 2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14345"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14346" name="文本框 39"/>
          <p:cNvSpPr txBox="1"/>
          <p:nvPr/>
        </p:nvSpPr>
        <p:spPr>
          <a:xfrm>
            <a:off x="1073150" y="230188"/>
            <a:ext cx="4976813" cy="398462"/>
          </a:xfrm>
          <a:prstGeom prst="rect">
            <a:avLst/>
          </a:prstGeom>
          <a:noFill/>
          <a:ln w="9525">
            <a:noFill/>
          </a:ln>
        </p:spPr>
        <p:txBody>
          <a:bodyPr anchor="t" anchorCtr="0">
            <a:spAutoFit/>
          </a:bodyPr>
          <a:p>
            <a:pPr>
              <a:buClrTx/>
              <a:buFontTx/>
            </a:pPr>
            <a:r>
              <a:rPr lang="zh-CN" altLang="zh-CN" sz="2000" b="1" dirty="0">
                <a:solidFill>
                  <a:srgbClr val="1F3A65"/>
                </a:solidFill>
                <a:latin typeface="微软雅黑" panose="020B0503020204020204" pitchFamily="34" charset="-122"/>
                <a:ea typeface="微软雅黑" panose="020B0503020204020204" pitchFamily="34" charset="-122"/>
              </a:rPr>
              <a:t>功能展示</a:t>
            </a:r>
            <a:endParaRPr lang="zh-CN" altLang="zh-CN" sz="2000" b="1" dirty="0">
              <a:solidFill>
                <a:srgbClr val="1F3A65"/>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4378325" y="1724025"/>
            <a:ext cx="0" cy="3789363"/>
          </a:xfrm>
          <a:prstGeom prst="line">
            <a:avLst/>
          </a:prstGeom>
          <a:ln>
            <a:solidFill>
              <a:schemeClr val="accent3">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14348" name="图片 99" descr="C:/Users/李子毅/AppData/Local/Temp/wps/INetCache/d110ce1bd7da7cb1e91c6f13efb55867"/>
          <p:cNvPicPr/>
          <p:nvPr/>
        </p:nvPicPr>
        <p:blipFill>
          <a:blip r:embed="rId1" r:link="rId2"/>
          <a:stretch>
            <a:fillRect/>
          </a:stretch>
        </p:blipFill>
        <p:spPr>
          <a:xfrm>
            <a:off x="381000" y="962025"/>
            <a:ext cx="4389438" cy="4551363"/>
          </a:xfrm>
          <a:prstGeom prst="rect">
            <a:avLst/>
          </a:prstGeom>
          <a:noFill/>
          <a:ln w="9525">
            <a:noFill/>
          </a:ln>
        </p:spPr>
      </p:pic>
      <p:pic>
        <p:nvPicPr>
          <p:cNvPr id="13332" name="图片 5"/>
          <p:cNvPicPr>
            <a:picLocks noChangeAspect="1"/>
          </p:cNvPicPr>
          <p:nvPr/>
        </p:nvPicPr>
        <p:blipFill>
          <a:blip r:embed="rId3"/>
          <a:stretch>
            <a:fillRect/>
          </a:stretch>
        </p:blipFill>
        <p:spPr>
          <a:xfrm>
            <a:off x="438150" y="1123950"/>
            <a:ext cx="2813050" cy="2112963"/>
          </a:xfrm>
          <a:prstGeom prst="rect">
            <a:avLst/>
          </a:prstGeom>
          <a:noFill/>
          <a:ln w="9525">
            <a:noFill/>
          </a:ln>
        </p:spPr>
      </p:pic>
      <p:pic>
        <p:nvPicPr>
          <p:cNvPr id="13333" name="图片 6"/>
          <p:cNvPicPr>
            <a:picLocks noChangeAspect="1"/>
          </p:cNvPicPr>
          <p:nvPr/>
        </p:nvPicPr>
        <p:blipFill>
          <a:blip r:embed="rId4"/>
          <a:stretch>
            <a:fillRect/>
          </a:stretch>
        </p:blipFill>
        <p:spPr>
          <a:xfrm>
            <a:off x="488950" y="3362325"/>
            <a:ext cx="2762250" cy="2074863"/>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矩形 9"/>
          <p:cNvSpPr/>
          <p:nvPr/>
        </p:nvSpPr>
        <p:spPr>
          <a:xfrm>
            <a:off x="-476250" y="1408113"/>
            <a:ext cx="4789488" cy="3194050"/>
          </a:xfrm>
          <a:prstGeom prst="rect">
            <a:avLst/>
          </a:prstGeom>
          <a:noFill/>
          <a:ln w="9525">
            <a:noFill/>
          </a:ln>
        </p:spPr>
        <p:txBody>
          <a:bodyPr anchor="t" anchorCtr="0"/>
          <a:p>
            <a:pPr eaLnBrk="0" hangingPunct="0"/>
            <a:endParaRPr lang="zh-CN" altLang="en-US" dirty="0">
              <a:latin typeface="微软雅黑" panose="020B0503020204020204" pitchFamily="34" charset="-122"/>
              <a:ea typeface="微软雅黑" panose="020B0503020204020204" pitchFamily="34" charset="-122"/>
            </a:endParaRPr>
          </a:p>
        </p:txBody>
      </p:sp>
      <p:grpSp>
        <p:nvGrpSpPr>
          <p:cNvPr id="15362" name="组合 5"/>
          <p:cNvGrpSpPr/>
          <p:nvPr/>
        </p:nvGrpSpPr>
        <p:grpSpPr>
          <a:xfrm>
            <a:off x="111125" y="5641023"/>
            <a:ext cx="4267200" cy="996950"/>
            <a:chOff x="305118" y="4395153"/>
            <a:chExt cx="4266882" cy="688562"/>
          </a:xfrm>
        </p:grpSpPr>
        <p:sp>
          <p:nvSpPr>
            <p:cNvPr id="15363" name="文本框 3"/>
            <p:cNvSpPr txBox="1"/>
            <p:nvPr/>
          </p:nvSpPr>
          <p:spPr>
            <a:xfrm>
              <a:off x="305118" y="4395153"/>
              <a:ext cx="3930992" cy="339367"/>
            </a:xfrm>
            <a:prstGeom prst="rect">
              <a:avLst/>
            </a:prstGeom>
            <a:noFill/>
            <a:ln w="9525">
              <a:noFill/>
            </a:ln>
          </p:spPr>
          <p:txBody>
            <a:bodyPr wrap="square" anchor="t" anchorCtr="0">
              <a:spAutoFit/>
            </a:bodyPr>
            <a:p>
              <a:pPr marL="104775">
                <a:lnSpc>
                  <a:spcPct val="130000"/>
                </a:lnSpc>
                <a:buClr>
                  <a:srgbClr val="10CF9B"/>
                </a:buClr>
              </a:pPr>
              <a:r>
                <a:rPr lang="zh-CN" altLang="en-US" sz="2000" b="1" dirty="0">
                  <a:latin typeface="微软雅黑" panose="020B0503020204020204" pitchFamily="34" charset="-122"/>
                  <a:ea typeface="微软雅黑" panose="020B0503020204020204" pitchFamily="34" charset="-122"/>
                </a:rPr>
                <a:t>色彩空间转换与调节饱和度操作</a:t>
              </a:r>
              <a:endParaRPr lang="en-US" altLang="zh-CN" sz="2000" b="1" dirty="0">
                <a:latin typeface="微软雅黑" panose="020B0503020204020204" pitchFamily="34" charset="-122"/>
                <a:ea typeface="微软雅黑" panose="020B0503020204020204" pitchFamily="34" charset="-122"/>
              </a:endParaRPr>
            </a:p>
          </p:txBody>
        </p:sp>
        <p:sp>
          <p:nvSpPr>
            <p:cNvPr id="15364" name="文本框 4"/>
            <p:cNvSpPr txBox="1"/>
            <p:nvPr/>
          </p:nvSpPr>
          <p:spPr>
            <a:xfrm>
              <a:off x="305118" y="4772410"/>
              <a:ext cx="4266882" cy="311305"/>
            </a:xfrm>
            <a:prstGeom prst="rect">
              <a:avLst/>
            </a:prstGeom>
            <a:noFill/>
            <a:ln w="9525">
              <a:noFill/>
            </a:ln>
          </p:spPr>
          <p:txBody>
            <a:bodyPr anchor="t" anchorCtr="0">
              <a:spAutoFit/>
            </a:bodyPr>
            <a:p>
              <a:pPr marL="104775">
                <a:lnSpc>
                  <a:spcPct val="130000"/>
                </a:lnSpc>
                <a:buClr>
                  <a:srgbClr val="10CF9B"/>
                </a:buClr>
              </a:pPr>
              <a:endParaRPr lang="zh-CN" altLang="zh-CN" dirty="0">
                <a:latin typeface="微软雅黑" panose="020B0503020204020204" pitchFamily="34" charset="-122"/>
                <a:ea typeface="微软雅黑" panose="020B0503020204020204" pitchFamily="34" charset="-122"/>
              </a:endParaRPr>
            </a:p>
          </p:txBody>
        </p:sp>
      </p:grpSp>
      <p:sp>
        <p:nvSpPr>
          <p:cNvPr id="7" name="椭圆 6"/>
          <p:cNvSpPr>
            <a:spLocks noChangeAspect="1"/>
          </p:cNvSpPr>
          <p:nvPr/>
        </p:nvSpPr>
        <p:spPr>
          <a:xfrm>
            <a:off x="4727575" y="1062038"/>
            <a:ext cx="1081088" cy="108108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5366" name="组合 27"/>
          <p:cNvGrpSpPr/>
          <p:nvPr/>
        </p:nvGrpSpPr>
        <p:grpSpPr>
          <a:xfrm>
            <a:off x="5808663" y="1004888"/>
            <a:ext cx="3117850" cy="1212850"/>
            <a:chOff x="5808360" y="888502"/>
            <a:chExt cx="3117927" cy="1214394"/>
          </a:xfrm>
        </p:grpSpPr>
        <p:sp>
          <p:nvSpPr>
            <p:cNvPr id="15367" name="文本框 21"/>
            <p:cNvSpPr txBox="1"/>
            <p:nvPr/>
          </p:nvSpPr>
          <p:spPr>
            <a:xfrm>
              <a:off x="5808360" y="888502"/>
              <a:ext cx="2907737" cy="460430"/>
            </a:xfrm>
            <a:prstGeom prst="rect">
              <a:avLst/>
            </a:prstGeom>
            <a:noFill/>
            <a:ln w="9525">
              <a:noFill/>
            </a:ln>
          </p:spPr>
          <p:txBody>
            <a:bodyPr wrap="square" anchor="t" anchorCtr="0">
              <a:spAutoFit/>
            </a:bodyPr>
            <a:p>
              <a:r>
                <a:rPr lang="zh-CN" altLang="en-US" sz="2400" b="1" dirty="0">
                  <a:latin typeface="微软雅黑" panose="020B0503020204020204" pitchFamily="34" charset="-122"/>
                  <a:ea typeface="微软雅黑" panose="020B0503020204020204" pitchFamily="34" charset="-122"/>
                </a:rPr>
                <a:t>色彩空间转换</a:t>
              </a:r>
              <a:endParaRPr lang="zh-CN" altLang="en-US" sz="2400" b="1" dirty="0">
                <a:latin typeface="微软雅黑" panose="020B0503020204020204" pitchFamily="34" charset="-122"/>
                <a:ea typeface="微软雅黑" panose="020B0503020204020204" pitchFamily="34" charset="-122"/>
              </a:endParaRPr>
            </a:p>
          </p:txBody>
        </p:sp>
        <p:sp>
          <p:nvSpPr>
            <p:cNvPr id="15368" name="文本框 22"/>
            <p:cNvSpPr txBox="1"/>
            <p:nvPr/>
          </p:nvSpPr>
          <p:spPr>
            <a:xfrm>
              <a:off x="5808361" y="1272852"/>
              <a:ext cx="3117926" cy="830044"/>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将</a:t>
              </a:r>
              <a:r>
                <a:rPr lang="en-US" altLang="zh-CN" sz="1600" dirty="0">
                  <a:latin typeface="微软雅黑" panose="020B0503020204020204" pitchFamily="34" charset="-122"/>
                  <a:ea typeface="微软雅黑" panose="020B0503020204020204" pitchFamily="34" charset="-122"/>
                </a:rPr>
                <a:t>RGB</a:t>
              </a:r>
              <a:r>
                <a:rPr lang="zh-CN" altLang="en-US" sz="1600" dirty="0">
                  <a:latin typeface="微软雅黑" panose="020B0503020204020204" pitchFamily="34" charset="-122"/>
                  <a:ea typeface="微软雅黑" panose="020B0503020204020204" pitchFamily="34" charset="-122"/>
                </a:rPr>
                <a:t>空间映射到</a:t>
              </a:r>
              <a:r>
                <a:rPr lang="en-US" altLang="zh-CN" sz="1600" dirty="0">
                  <a:latin typeface="微软雅黑" panose="020B0503020204020204" pitchFamily="34" charset="-122"/>
                  <a:ea typeface="微软雅黑" panose="020B0503020204020204" pitchFamily="34" charset="-122"/>
                </a:rPr>
                <a:t>Ycbcr</a:t>
              </a:r>
              <a:r>
                <a:rPr lang="zh-CN" altLang="en-US" sz="1600" dirty="0">
                  <a:latin typeface="微软雅黑" panose="020B0503020204020204" pitchFamily="34" charset="-122"/>
                  <a:ea typeface="微软雅黑" panose="020B0503020204020204" pitchFamily="34" charset="-122"/>
                </a:rPr>
                <a:t>空间，其中选择了亮度和色度两个参数作为可调节参数</a:t>
              </a:r>
              <a:endParaRPr lang="zh-CN" altLang="en-US" sz="1600" dirty="0">
                <a:latin typeface="微软雅黑" panose="020B0503020204020204" pitchFamily="34" charset="-122"/>
                <a:ea typeface="微软雅黑" panose="020B0503020204020204" pitchFamily="34" charset="-122"/>
              </a:endParaRPr>
            </a:p>
          </p:txBody>
        </p:sp>
      </p:grpSp>
      <p:sp>
        <p:nvSpPr>
          <p:cNvPr id="15369" name="Freeform 48"/>
          <p:cNvSpPr>
            <a:spLocks noChangeAspect="1" noEditPoints="1"/>
          </p:cNvSpPr>
          <p:nvPr/>
        </p:nvSpPr>
        <p:spPr>
          <a:xfrm>
            <a:off x="4999038" y="1333500"/>
            <a:ext cx="539750" cy="5397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6" h="96">
                <a:moveTo>
                  <a:pt x="92" y="41"/>
                </a:moveTo>
                <a:cubicBezTo>
                  <a:pt x="88" y="41"/>
                  <a:pt x="88" y="41"/>
                  <a:pt x="88" y="41"/>
                </a:cubicBezTo>
                <a:cubicBezTo>
                  <a:pt x="86" y="41"/>
                  <a:pt x="84" y="39"/>
                  <a:pt x="83" y="37"/>
                </a:cubicBezTo>
                <a:cubicBezTo>
                  <a:pt x="81" y="31"/>
                  <a:pt x="81" y="31"/>
                  <a:pt x="81" y="31"/>
                </a:cubicBezTo>
                <a:cubicBezTo>
                  <a:pt x="80" y="29"/>
                  <a:pt x="80" y="26"/>
                  <a:pt x="81" y="25"/>
                </a:cubicBezTo>
                <a:cubicBezTo>
                  <a:pt x="85" y="22"/>
                  <a:pt x="85" y="22"/>
                  <a:pt x="85" y="22"/>
                </a:cubicBezTo>
                <a:cubicBezTo>
                  <a:pt x="86" y="20"/>
                  <a:pt x="86" y="18"/>
                  <a:pt x="85" y="17"/>
                </a:cubicBezTo>
                <a:cubicBezTo>
                  <a:pt x="79" y="11"/>
                  <a:pt x="79" y="11"/>
                  <a:pt x="79" y="11"/>
                </a:cubicBezTo>
                <a:cubicBezTo>
                  <a:pt x="78" y="10"/>
                  <a:pt x="76" y="10"/>
                  <a:pt x="74" y="11"/>
                </a:cubicBezTo>
                <a:cubicBezTo>
                  <a:pt x="71" y="15"/>
                  <a:pt x="71" y="15"/>
                  <a:pt x="71" y="15"/>
                </a:cubicBezTo>
                <a:cubicBezTo>
                  <a:pt x="70" y="16"/>
                  <a:pt x="67" y="16"/>
                  <a:pt x="65" y="15"/>
                </a:cubicBezTo>
                <a:cubicBezTo>
                  <a:pt x="59" y="13"/>
                  <a:pt x="59" y="13"/>
                  <a:pt x="59" y="13"/>
                </a:cubicBezTo>
                <a:cubicBezTo>
                  <a:pt x="57" y="12"/>
                  <a:pt x="55" y="10"/>
                  <a:pt x="55" y="8"/>
                </a:cubicBezTo>
                <a:cubicBezTo>
                  <a:pt x="55" y="4"/>
                  <a:pt x="55" y="4"/>
                  <a:pt x="55" y="4"/>
                </a:cubicBezTo>
                <a:cubicBezTo>
                  <a:pt x="55" y="2"/>
                  <a:pt x="54" y="0"/>
                  <a:pt x="52" y="0"/>
                </a:cubicBezTo>
                <a:cubicBezTo>
                  <a:pt x="44" y="0"/>
                  <a:pt x="44" y="0"/>
                  <a:pt x="44" y="0"/>
                </a:cubicBezTo>
                <a:cubicBezTo>
                  <a:pt x="42" y="0"/>
                  <a:pt x="41" y="2"/>
                  <a:pt x="41" y="4"/>
                </a:cubicBezTo>
                <a:cubicBezTo>
                  <a:pt x="41" y="8"/>
                  <a:pt x="41" y="8"/>
                  <a:pt x="41" y="8"/>
                </a:cubicBezTo>
                <a:cubicBezTo>
                  <a:pt x="41" y="10"/>
                  <a:pt x="39" y="12"/>
                  <a:pt x="37" y="13"/>
                </a:cubicBezTo>
                <a:cubicBezTo>
                  <a:pt x="31" y="15"/>
                  <a:pt x="31" y="15"/>
                  <a:pt x="31" y="15"/>
                </a:cubicBezTo>
                <a:cubicBezTo>
                  <a:pt x="29" y="16"/>
                  <a:pt x="26" y="16"/>
                  <a:pt x="25" y="15"/>
                </a:cubicBezTo>
                <a:cubicBezTo>
                  <a:pt x="22" y="11"/>
                  <a:pt x="22" y="11"/>
                  <a:pt x="22" y="11"/>
                </a:cubicBezTo>
                <a:cubicBezTo>
                  <a:pt x="20" y="10"/>
                  <a:pt x="18" y="10"/>
                  <a:pt x="17" y="11"/>
                </a:cubicBezTo>
                <a:cubicBezTo>
                  <a:pt x="11" y="17"/>
                  <a:pt x="11" y="17"/>
                  <a:pt x="11" y="17"/>
                </a:cubicBezTo>
                <a:cubicBezTo>
                  <a:pt x="10" y="18"/>
                  <a:pt x="10" y="20"/>
                  <a:pt x="11" y="22"/>
                </a:cubicBezTo>
                <a:cubicBezTo>
                  <a:pt x="15" y="25"/>
                  <a:pt x="15" y="25"/>
                  <a:pt x="15" y="25"/>
                </a:cubicBezTo>
                <a:cubicBezTo>
                  <a:pt x="16" y="26"/>
                  <a:pt x="16" y="29"/>
                  <a:pt x="15" y="31"/>
                </a:cubicBezTo>
                <a:cubicBezTo>
                  <a:pt x="13" y="37"/>
                  <a:pt x="13" y="37"/>
                  <a:pt x="13" y="37"/>
                </a:cubicBezTo>
                <a:cubicBezTo>
                  <a:pt x="12" y="39"/>
                  <a:pt x="10" y="41"/>
                  <a:pt x="8" y="41"/>
                </a:cubicBezTo>
                <a:cubicBezTo>
                  <a:pt x="4" y="41"/>
                  <a:pt x="4" y="41"/>
                  <a:pt x="4" y="41"/>
                </a:cubicBezTo>
                <a:cubicBezTo>
                  <a:pt x="2" y="41"/>
                  <a:pt x="0" y="42"/>
                  <a:pt x="0" y="44"/>
                </a:cubicBezTo>
                <a:cubicBezTo>
                  <a:pt x="0" y="52"/>
                  <a:pt x="0" y="52"/>
                  <a:pt x="0" y="52"/>
                </a:cubicBezTo>
                <a:cubicBezTo>
                  <a:pt x="0" y="54"/>
                  <a:pt x="2" y="55"/>
                  <a:pt x="4" y="55"/>
                </a:cubicBezTo>
                <a:cubicBezTo>
                  <a:pt x="8" y="55"/>
                  <a:pt x="8" y="55"/>
                  <a:pt x="8" y="55"/>
                </a:cubicBezTo>
                <a:cubicBezTo>
                  <a:pt x="10" y="55"/>
                  <a:pt x="12" y="57"/>
                  <a:pt x="13" y="59"/>
                </a:cubicBezTo>
                <a:cubicBezTo>
                  <a:pt x="15" y="65"/>
                  <a:pt x="15" y="65"/>
                  <a:pt x="15" y="65"/>
                </a:cubicBezTo>
                <a:cubicBezTo>
                  <a:pt x="16" y="67"/>
                  <a:pt x="16" y="70"/>
                  <a:pt x="15" y="71"/>
                </a:cubicBezTo>
                <a:cubicBezTo>
                  <a:pt x="11" y="74"/>
                  <a:pt x="11" y="74"/>
                  <a:pt x="11" y="74"/>
                </a:cubicBezTo>
                <a:cubicBezTo>
                  <a:pt x="10" y="76"/>
                  <a:pt x="10" y="78"/>
                  <a:pt x="11" y="79"/>
                </a:cubicBezTo>
                <a:cubicBezTo>
                  <a:pt x="17" y="85"/>
                  <a:pt x="17" y="85"/>
                  <a:pt x="17" y="85"/>
                </a:cubicBezTo>
                <a:cubicBezTo>
                  <a:pt x="18" y="86"/>
                  <a:pt x="20" y="86"/>
                  <a:pt x="22" y="85"/>
                </a:cubicBezTo>
                <a:cubicBezTo>
                  <a:pt x="25" y="81"/>
                  <a:pt x="25" y="81"/>
                  <a:pt x="25" y="81"/>
                </a:cubicBezTo>
                <a:cubicBezTo>
                  <a:pt x="26" y="80"/>
                  <a:pt x="29" y="80"/>
                  <a:pt x="31" y="81"/>
                </a:cubicBezTo>
                <a:cubicBezTo>
                  <a:pt x="37" y="83"/>
                  <a:pt x="37" y="83"/>
                  <a:pt x="37" y="83"/>
                </a:cubicBezTo>
                <a:cubicBezTo>
                  <a:pt x="39" y="84"/>
                  <a:pt x="41" y="86"/>
                  <a:pt x="41" y="88"/>
                </a:cubicBezTo>
                <a:cubicBezTo>
                  <a:pt x="41" y="92"/>
                  <a:pt x="41" y="92"/>
                  <a:pt x="41" y="92"/>
                </a:cubicBezTo>
                <a:cubicBezTo>
                  <a:pt x="41" y="94"/>
                  <a:pt x="42" y="96"/>
                  <a:pt x="44" y="96"/>
                </a:cubicBezTo>
                <a:cubicBezTo>
                  <a:pt x="52" y="96"/>
                  <a:pt x="52" y="96"/>
                  <a:pt x="52" y="96"/>
                </a:cubicBezTo>
                <a:cubicBezTo>
                  <a:pt x="54" y="96"/>
                  <a:pt x="55" y="94"/>
                  <a:pt x="55" y="92"/>
                </a:cubicBezTo>
                <a:cubicBezTo>
                  <a:pt x="55" y="88"/>
                  <a:pt x="55" y="88"/>
                  <a:pt x="55" y="88"/>
                </a:cubicBezTo>
                <a:cubicBezTo>
                  <a:pt x="55" y="86"/>
                  <a:pt x="57" y="84"/>
                  <a:pt x="59" y="83"/>
                </a:cubicBezTo>
                <a:cubicBezTo>
                  <a:pt x="65" y="81"/>
                  <a:pt x="65" y="81"/>
                  <a:pt x="65" y="81"/>
                </a:cubicBezTo>
                <a:cubicBezTo>
                  <a:pt x="67" y="80"/>
                  <a:pt x="70" y="80"/>
                  <a:pt x="71" y="81"/>
                </a:cubicBezTo>
                <a:cubicBezTo>
                  <a:pt x="74" y="85"/>
                  <a:pt x="74" y="85"/>
                  <a:pt x="74" y="85"/>
                </a:cubicBezTo>
                <a:cubicBezTo>
                  <a:pt x="76" y="86"/>
                  <a:pt x="78" y="86"/>
                  <a:pt x="79" y="85"/>
                </a:cubicBezTo>
                <a:cubicBezTo>
                  <a:pt x="85" y="79"/>
                  <a:pt x="85" y="79"/>
                  <a:pt x="85" y="79"/>
                </a:cubicBezTo>
                <a:cubicBezTo>
                  <a:pt x="86" y="78"/>
                  <a:pt x="86" y="76"/>
                  <a:pt x="85" y="74"/>
                </a:cubicBezTo>
                <a:cubicBezTo>
                  <a:pt x="81" y="71"/>
                  <a:pt x="81" y="71"/>
                  <a:pt x="81" y="71"/>
                </a:cubicBezTo>
                <a:cubicBezTo>
                  <a:pt x="80" y="70"/>
                  <a:pt x="80" y="67"/>
                  <a:pt x="81" y="65"/>
                </a:cubicBezTo>
                <a:cubicBezTo>
                  <a:pt x="83" y="59"/>
                  <a:pt x="83" y="59"/>
                  <a:pt x="83" y="59"/>
                </a:cubicBezTo>
                <a:cubicBezTo>
                  <a:pt x="84" y="57"/>
                  <a:pt x="86" y="55"/>
                  <a:pt x="88" y="55"/>
                </a:cubicBezTo>
                <a:cubicBezTo>
                  <a:pt x="92" y="55"/>
                  <a:pt x="92" y="55"/>
                  <a:pt x="92" y="55"/>
                </a:cubicBezTo>
                <a:cubicBezTo>
                  <a:pt x="94" y="55"/>
                  <a:pt x="96" y="54"/>
                  <a:pt x="96" y="52"/>
                </a:cubicBezTo>
                <a:cubicBezTo>
                  <a:pt x="96" y="44"/>
                  <a:pt x="96" y="44"/>
                  <a:pt x="96" y="44"/>
                </a:cubicBezTo>
                <a:cubicBezTo>
                  <a:pt x="96" y="42"/>
                  <a:pt x="94" y="41"/>
                  <a:pt x="92" y="41"/>
                </a:cubicBezTo>
                <a:close/>
                <a:moveTo>
                  <a:pt x="66" y="48"/>
                </a:moveTo>
                <a:cubicBezTo>
                  <a:pt x="66" y="58"/>
                  <a:pt x="58" y="66"/>
                  <a:pt x="48" y="66"/>
                </a:cubicBezTo>
                <a:cubicBezTo>
                  <a:pt x="38" y="66"/>
                  <a:pt x="30" y="58"/>
                  <a:pt x="30" y="48"/>
                </a:cubicBezTo>
                <a:cubicBezTo>
                  <a:pt x="30" y="38"/>
                  <a:pt x="38" y="30"/>
                  <a:pt x="48" y="30"/>
                </a:cubicBezTo>
                <a:cubicBezTo>
                  <a:pt x="58" y="30"/>
                  <a:pt x="66" y="38"/>
                  <a:pt x="66" y="48"/>
                </a:cubicBezTo>
                <a:close/>
              </a:path>
            </a:pathLst>
          </a:custGeom>
          <a:solidFill>
            <a:schemeClr val="bg1"/>
          </a:solidFill>
          <a:ln w="9525">
            <a:noFill/>
          </a:ln>
        </p:spPr>
        <p:txBody>
          <a:bodyPr/>
          <a:p>
            <a:endParaRPr lang="zh-CN" altLang="en-US"/>
          </a:p>
        </p:txBody>
      </p:sp>
      <p:grpSp>
        <p:nvGrpSpPr>
          <p:cNvPr id="15370" name="组合 31"/>
          <p:cNvGrpSpPr/>
          <p:nvPr/>
        </p:nvGrpSpPr>
        <p:grpSpPr>
          <a:xfrm>
            <a:off x="4727575" y="2900363"/>
            <a:ext cx="1081088" cy="1079500"/>
            <a:chOff x="4728360" y="2784242"/>
            <a:chExt cx="1080000" cy="1080000"/>
          </a:xfrm>
        </p:grpSpPr>
        <p:sp>
          <p:nvSpPr>
            <p:cNvPr id="8" name="椭圆 7"/>
            <p:cNvSpPr>
              <a:spLocks noChangeAspect="1"/>
            </p:cNvSpPr>
            <p:nvPr/>
          </p:nvSpPr>
          <p:spPr>
            <a:xfrm>
              <a:off x="4728360" y="2784242"/>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372" name="Freeform 680"/>
            <p:cNvSpPr>
              <a:spLocks noChangeAspect="1" noEditPoints="1"/>
            </p:cNvSpPr>
            <p:nvPr/>
          </p:nvSpPr>
          <p:spPr>
            <a:xfrm>
              <a:off x="4998360" y="3050467"/>
              <a:ext cx="540000" cy="547551"/>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1" h="72">
                  <a:moveTo>
                    <a:pt x="32" y="17"/>
                  </a:moveTo>
                  <a:cubicBezTo>
                    <a:pt x="31" y="14"/>
                    <a:pt x="29" y="12"/>
                    <a:pt x="26" y="11"/>
                  </a:cubicBezTo>
                  <a:cubicBezTo>
                    <a:pt x="23" y="10"/>
                    <a:pt x="20" y="9"/>
                    <a:pt x="17" y="11"/>
                  </a:cubicBezTo>
                  <a:cubicBezTo>
                    <a:pt x="14" y="12"/>
                    <a:pt x="12" y="14"/>
                    <a:pt x="11" y="17"/>
                  </a:cubicBezTo>
                  <a:cubicBezTo>
                    <a:pt x="9" y="19"/>
                    <a:pt x="9" y="23"/>
                    <a:pt x="10" y="25"/>
                  </a:cubicBezTo>
                  <a:cubicBezTo>
                    <a:pt x="11" y="28"/>
                    <a:pt x="13" y="30"/>
                    <a:pt x="16" y="32"/>
                  </a:cubicBezTo>
                  <a:cubicBezTo>
                    <a:pt x="19" y="33"/>
                    <a:pt x="22" y="33"/>
                    <a:pt x="25" y="32"/>
                  </a:cubicBezTo>
                  <a:cubicBezTo>
                    <a:pt x="28" y="31"/>
                    <a:pt x="30" y="29"/>
                    <a:pt x="32" y="26"/>
                  </a:cubicBezTo>
                  <a:cubicBezTo>
                    <a:pt x="33" y="23"/>
                    <a:pt x="33" y="20"/>
                    <a:pt x="32" y="17"/>
                  </a:cubicBezTo>
                  <a:close/>
                  <a:moveTo>
                    <a:pt x="31" y="7"/>
                  </a:moveTo>
                  <a:cubicBezTo>
                    <a:pt x="32" y="7"/>
                    <a:pt x="33" y="8"/>
                    <a:pt x="33" y="9"/>
                  </a:cubicBezTo>
                  <a:cubicBezTo>
                    <a:pt x="36" y="7"/>
                    <a:pt x="36" y="7"/>
                    <a:pt x="36" y="7"/>
                  </a:cubicBezTo>
                  <a:cubicBezTo>
                    <a:pt x="38" y="8"/>
                    <a:pt x="39" y="10"/>
                    <a:pt x="39" y="11"/>
                  </a:cubicBezTo>
                  <a:cubicBezTo>
                    <a:pt x="37" y="14"/>
                    <a:pt x="37" y="14"/>
                    <a:pt x="37" y="14"/>
                  </a:cubicBezTo>
                  <a:cubicBezTo>
                    <a:pt x="37" y="14"/>
                    <a:pt x="37" y="15"/>
                    <a:pt x="37" y="15"/>
                  </a:cubicBezTo>
                  <a:cubicBezTo>
                    <a:pt x="38" y="16"/>
                    <a:pt x="38" y="16"/>
                    <a:pt x="38" y="17"/>
                  </a:cubicBezTo>
                  <a:cubicBezTo>
                    <a:pt x="41" y="17"/>
                    <a:pt x="41" y="17"/>
                    <a:pt x="41" y="17"/>
                  </a:cubicBezTo>
                  <a:cubicBezTo>
                    <a:pt x="42" y="19"/>
                    <a:pt x="42" y="20"/>
                    <a:pt x="42" y="22"/>
                  </a:cubicBezTo>
                  <a:cubicBezTo>
                    <a:pt x="38" y="22"/>
                    <a:pt x="38" y="22"/>
                    <a:pt x="38" y="22"/>
                  </a:cubicBezTo>
                  <a:cubicBezTo>
                    <a:pt x="38" y="24"/>
                    <a:pt x="38" y="25"/>
                    <a:pt x="38" y="26"/>
                  </a:cubicBezTo>
                  <a:cubicBezTo>
                    <a:pt x="41" y="28"/>
                    <a:pt x="41" y="28"/>
                    <a:pt x="41" y="28"/>
                  </a:cubicBezTo>
                  <a:cubicBezTo>
                    <a:pt x="41" y="29"/>
                    <a:pt x="40" y="31"/>
                    <a:pt x="39" y="32"/>
                  </a:cubicBezTo>
                  <a:cubicBezTo>
                    <a:pt x="36" y="31"/>
                    <a:pt x="36" y="31"/>
                    <a:pt x="36" y="31"/>
                  </a:cubicBezTo>
                  <a:cubicBezTo>
                    <a:pt x="35" y="32"/>
                    <a:pt x="34" y="33"/>
                    <a:pt x="33" y="34"/>
                  </a:cubicBezTo>
                  <a:cubicBezTo>
                    <a:pt x="35" y="37"/>
                    <a:pt x="35" y="37"/>
                    <a:pt x="35" y="37"/>
                  </a:cubicBezTo>
                  <a:cubicBezTo>
                    <a:pt x="34" y="38"/>
                    <a:pt x="33" y="39"/>
                    <a:pt x="31" y="40"/>
                  </a:cubicBezTo>
                  <a:cubicBezTo>
                    <a:pt x="29" y="37"/>
                    <a:pt x="29" y="37"/>
                    <a:pt x="29" y="37"/>
                  </a:cubicBezTo>
                  <a:cubicBezTo>
                    <a:pt x="28" y="37"/>
                    <a:pt x="28" y="37"/>
                    <a:pt x="27" y="38"/>
                  </a:cubicBezTo>
                  <a:cubicBezTo>
                    <a:pt x="27" y="38"/>
                    <a:pt x="26" y="38"/>
                    <a:pt x="26" y="38"/>
                  </a:cubicBezTo>
                  <a:cubicBezTo>
                    <a:pt x="26" y="42"/>
                    <a:pt x="26" y="42"/>
                    <a:pt x="26" y="42"/>
                  </a:cubicBezTo>
                  <a:cubicBezTo>
                    <a:pt x="24" y="42"/>
                    <a:pt x="22" y="42"/>
                    <a:pt x="21" y="42"/>
                  </a:cubicBezTo>
                  <a:cubicBezTo>
                    <a:pt x="20" y="39"/>
                    <a:pt x="20" y="39"/>
                    <a:pt x="20" y="39"/>
                  </a:cubicBezTo>
                  <a:cubicBezTo>
                    <a:pt x="19" y="39"/>
                    <a:pt x="18" y="38"/>
                    <a:pt x="17" y="38"/>
                  </a:cubicBezTo>
                  <a:cubicBezTo>
                    <a:pt x="15" y="41"/>
                    <a:pt x="15" y="41"/>
                    <a:pt x="15" y="41"/>
                  </a:cubicBezTo>
                  <a:cubicBezTo>
                    <a:pt x="13" y="41"/>
                    <a:pt x="11" y="40"/>
                    <a:pt x="10" y="39"/>
                  </a:cubicBezTo>
                  <a:cubicBezTo>
                    <a:pt x="11" y="36"/>
                    <a:pt x="11" y="36"/>
                    <a:pt x="11" y="36"/>
                  </a:cubicBezTo>
                  <a:cubicBezTo>
                    <a:pt x="10" y="35"/>
                    <a:pt x="10" y="34"/>
                    <a:pt x="9" y="34"/>
                  </a:cubicBezTo>
                  <a:cubicBezTo>
                    <a:pt x="6" y="35"/>
                    <a:pt x="6" y="35"/>
                    <a:pt x="6" y="35"/>
                  </a:cubicBezTo>
                  <a:cubicBezTo>
                    <a:pt x="4" y="34"/>
                    <a:pt x="3" y="33"/>
                    <a:pt x="3" y="31"/>
                  </a:cubicBezTo>
                  <a:cubicBezTo>
                    <a:pt x="5" y="29"/>
                    <a:pt x="5" y="29"/>
                    <a:pt x="5" y="29"/>
                  </a:cubicBezTo>
                  <a:cubicBezTo>
                    <a:pt x="5" y="28"/>
                    <a:pt x="5" y="28"/>
                    <a:pt x="5" y="27"/>
                  </a:cubicBezTo>
                  <a:cubicBezTo>
                    <a:pt x="5" y="27"/>
                    <a:pt x="4" y="26"/>
                    <a:pt x="4" y="26"/>
                  </a:cubicBezTo>
                  <a:cubicBezTo>
                    <a:pt x="1" y="26"/>
                    <a:pt x="1" y="26"/>
                    <a:pt x="1" y="26"/>
                  </a:cubicBezTo>
                  <a:cubicBezTo>
                    <a:pt x="0" y="24"/>
                    <a:pt x="0" y="22"/>
                    <a:pt x="0" y="21"/>
                  </a:cubicBezTo>
                  <a:cubicBezTo>
                    <a:pt x="4" y="20"/>
                    <a:pt x="4" y="20"/>
                    <a:pt x="4" y="20"/>
                  </a:cubicBezTo>
                  <a:cubicBezTo>
                    <a:pt x="4" y="19"/>
                    <a:pt x="4" y="18"/>
                    <a:pt x="4" y="17"/>
                  </a:cubicBezTo>
                  <a:cubicBezTo>
                    <a:pt x="1" y="15"/>
                    <a:pt x="1" y="15"/>
                    <a:pt x="1" y="15"/>
                  </a:cubicBezTo>
                  <a:cubicBezTo>
                    <a:pt x="2" y="13"/>
                    <a:pt x="2" y="12"/>
                    <a:pt x="3" y="10"/>
                  </a:cubicBezTo>
                  <a:cubicBezTo>
                    <a:pt x="7" y="12"/>
                    <a:pt x="7" y="12"/>
                    <a:pt x="7" y="12"/>
                  </a:cubicBezTo>
                  <a:cubicBezTo>
                    <a:pt x="7" y="11"/>
                    <a:pt x="8" y="10"/>
                    <a:pt x="9" y="9"/>
                  </a:cubicBezTo>
                  <a:cubicBezTo>
                    <a:pt x="7" y="6"/>
                    <a:pt x="7" y="6"/>
                    <a:pt x="7" y="6"/>
                  </a:cubicBezTo>
                  <a:cubicBezTo>
                    <a:pt x="8" y="5"/>
                    <a:pt x="10" y="4"/>
                    <a:pt x="11" y="3"/>
                  </a:cubicBezTo>
                  <a:cubicBezTo>
                    <a:pt x="13" y="6"/>
                    <a:pt x="13" y="6"/>
                    <a:pt x="13" y="6"/>
                  </a:cubicBezTo>
                  <a:cubicBezTo>
                    <a:pt x="14" y="5"/>
                    <a:pt x="14" y="5"/>
                    <a:pt x="15" y="5"/>
                  </a:cubicBezTo>
                  <a:cubicBezTo>
                    <a:pt x="16" y="5"/>
                    <a:pt x="16" y="5"/>
                    <a:pt x="17" y="4"/>
                  </a:cubicBezTo>
                  <a:cubicBezTo>
                    <a:pt x="17" y="1"/>
                    <a:pt x="17" y="1"/>
                    <a:pt x="17" y="1"/>
                  </a:cubicBezTo>
                  <a:cubicBezTo>
                    <a:pt x="18" y="0"/>
                    <a:pt x="20" y="0"/>
                    <a:pt x="22" y="1"/>
                  </a:cubicBezTo>
                  <a:cubicBezTo>
                    <a:pt x="22" y="4"/>
                    <a:pt x="22" y="4"/>
                    <a:pt x="22" y="4"/>
                  </a:cubicBezTo>
                  <a:cubicBezTo>
                    <a:pt x="23" y="4"/>
                    <a:pt x="25" y="4"/>
                    <a:pt x="26" y="4"/>
                  </a:cubicBezTo>
                  <a:cubicBezTo>
                    <a:pt x="27" y="2"/>
                    <a:pt x="27" y="2"/>
                    <a:pt x="27" y="2"/>
                  </a:cubicBezTo>
                  <a:cubicBezTo>
                    <a:pt x="29" y="2"/>
                    <a:pt x="31" y="3"/>
                    <a:pt x="32" y="4"/>
                  </a:cubicBezTo>
                  <a:cubicBezTo>
                    <a:pt x="31" y="7"/>
                    <a:pt x="31" y="7"/>
                    <a:pt x="31" y="7"/>
                  </a:cubicBezTo>
                  <a:close/>
                  <a:moveTo>
                    <a:pt x="60" y="47"/>
                  </a:moveTo>
                  <a:cubicBezTo>
                    <a:pt x="59" y="44"/>
                    <a:pt x="57" y="42"/>
                    <a:pt x="54" y="41"/>
                  </a:cubicBezTo>
                  <a:cubicBezTo>
                    <a:pt x="51" y="39"/>
                    <a:pt x="48" y="39"/>
                    <a:pt x="45" y="40"/>
                  </a:cubicBezTo>
                  <a:cubicBezTo>
                    <a:pt x="43" y="41"/>
                    <a:pt x="40" y="44"/>
                    <a:pt x="39" y="46"/>
                  </a:cubicBezTo>
                  <a:cubicBezTo>
                    <a:pt x="38" y="49"/>
                    <a:pt x="38" y="52"/>
                    <a:pt x="39" y="55"/>
                  </a:cubicBezTo>
                  <a:cubicBezTo>
                    <a:pt x="40" y="58"/>
                    <a:pt x="42" y="60"/>
                    <a:pt x="45" y="62"/>
                  </a:cubicBezTo>
                  <a:cubicBezTo>
                    <a:pt x="48" y="63"/>
                    <a:pt x="51" y="63"/>
                    <a:pt x="54" y="62"/>
                  </a:cubicBezTo>
                  <a:cubicBezTo>
                    <a:pt x="56" y="61"/>
                    <a:pt x="59" y="59"/>
                    <a:pt x="60" y="56"/>
                  </a:cubicBezTo>
                  <a:cubicBezTo>
                    <a:pt x="61" y="53"/>
                    <a:pt x="61" y="50"/>
                    <a:pt x="60" y="47"/>
                  </a:cubicBezTo>
                  <a:close/>
                  <a:moveTo>
                    <a:pt x="59" y="37"/>
                  </a:moveTo>
                  <a:cubicBezTo>
                    <a:pt x="60" y="37"/>
                    <a:pt x="61" y="38"/>
                    <a:pt x="62" y="39"/>
                  </a:cubicBezTo>
                  <a:cubicBezTo>
                    <a:pt x="65" y="37"/>
                    <a:pt x="65" y="37"/>
                    <a:pt x="65" y="37"/>
                  </a:cubicBezTo>
                  <a:cubicBezTo>
                    <a:pt x="66" y="38"/>
                    <a:pt x="67" y="40"/>
                    <a:pt x="68" y="41"/>
                  </a:cubicBezTo>
                  <a:cubicBezTo>
                    <a:pt x="65" y="44"/>
                    <a:pt x="65" y="44"/>
                    <a:pt x="65" y="44"/>
                  </a:cubicBezTo>
                  <a:cubicBezTo>
                    <a:pt x="65" y="44"/>
                    <a:pt x="66" y="45"/>
                    <a:pt x="66" y="45"/>
                  </a:cubicBezTo>
                  <a:cubicBezTo>
                    <a:pt x="66" y="46"/>
                    <a:pt x="66" y="46"/>
                    <a:pt x="66" y="47"/>
                  </a:cubicBezTo>
                  <a:cubicBezTo>
                    <a:pt x="70" y="47"/>
                    <a:pt x="70" y="47"/>
                    <a:pt x="70" y="47"/>
                  </a:cubicBezTo>
                  <a:cubicBezTo>
                    <a:pt x="70" y="48"/>
                    <a:pt x="71" y="50"/>
                    <a:pt x="70" y="52"/>
                  </a:cubicBezTo>
                  <a:cubicBezTo>
                    <a:pt x="67" y="52"/>
                    <a:pt x="67" y="52"/>
                    <a:pt x="67" y="52"/>
                  </a:cubicBezTo>
                  <a:cubicBezTo>
                    <a:pt x="67" y="53"/>
                    <a:pt x="67" y="55"/>
                    <a:pt x="66" y="56"/>
                  </a:cubicBezTo>
                  <a:cubicBezTo>
                    <a:pt x="69" y="57"/>
                    <a:pt x="69" y="57"/>
                    <a:pt x="69" y="57"/>
                  </a:cubicBezTo>
                  <a:cubicBezTo>
                    <a:pt x="69" y="59"/>
                    <a:pt x="68" y="61"/>
                    <a:pt x="67" y="62"/>
                  </a:cubicBezTo>
                  <a:cubicBezTo>
                    <a:pt x="64" y="61"/>
                    <a:pt x="64" y="61"/>
                    <a:pt x="64" y="61"/>
                  </a:cubicBezTo>
                  <a:cubicBezTo>
                    <a:pt x="63" y="62"/>
                    <a:pt x="63" y="63"/>
                    <a:pt x="62" y="63"/>
                  </a:cubicBezTo>
                  <a:cubicBezTo>
                    <a:pt x="63" y="66"/>
                    <a:pt x="63" y="66"/>
                    <a:pt x="63" y="66"/>
                  </a:cubicBezTo>
                  <a:cubicBezTo>
                    <a:pt x="62" y="68"/>
                    <a:pt x="61" y="69"/>
                    <a:pt x="59" y="69"/>
                  </a:cubicBezTo>
                  <a:cubicBezTo>
                    <a:pt x="57" y="67"/>
                    <a:pt x="57" y="67"/>
                    <a:pt x="57" y="67"/>
                  </a:cubicBezTo>
                  <a:cubicBezTo>
                    <a:pt x="57" y="67"/>
                    <a:pt x="56" y="67"/>
                    <a:pt x="56" y="67"/>
                  </a:cubicBezTo>
                  <a:cubicBezTo>
                    <a:pt x="55" y="68"/>
                    <a:pt x="55" y="68"/>
                    <a:pt x="54" y="68"/>
                  </a:cubicBezTo>
                  <a:cubicBezTo>
                    <a:pt x="54" y="71"/>
                    <a:pt x="54" y="71"/>
                    <a:pt x="54" y="71"/>
                  </a:cubicBezTo>
                  <a:cubicBezTo>
                    <a:pt x="52" y="72"/>
                    <a:pt x="51" y="72"/>
                    <a:pt x="49" y="72"/>
                  </a:cubicBezTo>
                  <a:cubicBezTo>
                    <a:pt x="48" y="69"/>
                    <a:pt x="48" y="69"/>
                    <a:pt x="48" y="69"/>
                  </a:cubicBezTo>
                  <a:cubicBezTo>
                    <a:pt x="47" y="68"/>
                    <a:pt x="46" y="68"/>
                    <a:pt x="45" y="68"/>
                  </a:cubicBezTo>
                  <a:cubicBezTo>
                    <a:pt x="43" y="71"/>
                    <a:pt x="43" y="71"/>
                    <a:pt x="43" y="71"/>
                  </a:cubicBezTo>
                  <a:cubicBezTo>
                    <a:pt x="41" y="71"/>
                    <a:pt x="40" y="70"/>
                    <a:pt x="39" y="69"/>
                  </a:cubicBezTo>
                  <a:cubicBezTo>
                    <a:pt x="40" y="66"/>
                    <a:pt x="40" y="66"/>
                    <a:pt x="40" y="66"/>
                  </a:cubicBezTo>
                  <a:cubicBezTo>
                    <a:pt x="39" y="65"/>
                    <a:pt x="38" y="64"/>
                    <a:pt x="37" y="63"/>
                  </a:cubicBezTo>
                  <a:cubicBezTo>
                    <a:pt x="34" y="65"/>
                    <a:pt x="34" y="65"/>
                    <a:pt x="34" y="65"/>
                  </a:cubicBezTo>
                  <a:cubicBezTo>
                    <a:pt x="33" y="64"/>
                    <a:pt x="32" y="63"/>
                    <a:pt x="31" y="61"/>
                  </a:cubicBezTo>
                  <a:cubicBezTo>
                    <a:pt x="34" y="59"/>
                    <a:pt x="34" y="59"/>
                    <a:pt x="34" y="59"/>
                  </a:cubicBezTo>
                  <a:cubicBezTo>
                    <a:pt x="34" y="58"/>
                    <a:pt x="33" y="58"/>
                    <a:pt x="33" y="57"/>
                  </a:cubicBezTo>
                  <a:cubicBezTo>
                    <a:pt x="33" y="57"/>
                    <a:pt x="33" y="56"/>
                    <a:pt x="33" y="56"/>
                  </a:cubicBezTo>
                  <a:cubicBezTo>
                    <a:pt x="29" y="56"/>
                    <a:pt x="29" y="56"/>
                    <a:pt x="29" y="56"/>
                  </a:cubicBezTo>
                  <a:cubicBezTo>
                    <a:pt x="29" y="54"/>
                    <a:pt x="28" y="52"/>
                    <a:pt x="29" y="51"/>
                  </a:cubicBezTo>
                  <a:cubicBezTo>
                    <a:pt x="32" y="50"/>
                    <a:pt x="32" y="50"/>
                    <a:pt x="32" y="50"/>
                  </a:cubicBezTo>
                  <a:cubicBezTo>
                    <a:pt x="32" y="49"/>
                    <a:pt x="32" y="48"/>
                    <a:pt x="33" y="47"/>
                  </a:cubicBezTo>
                  <a:cubicBezTo>
                    <a:pt x="30" y="45"/>
                    <a:pt x="30" y="45"/>
                    <a:pt x="30" y="45"/>
                  </a:cubicBezTo>
                  <a:cubicBezTo>
                    <a:pt x="30" y="43"/>
                    <a:pt x="31" y="42"/>
                    <a:pt x="32" y="40"/>
                  </a:cubicBezTo>
                  <a:cubicBezTo>
                    <a:pt x="35" y="41"/>
                    <a:pt x="35" y="41"/>
                    <a:pt x="35" y="41"/>
                  </a:cubicBezTo>
                  <a:cubicBezTo>
                    <a:pt x="36" y="40"/>
                    <a:pt x="36" y="40"/>
                    <a:pt x="37" y="39"/>
                  </a:cubicBezTo>
                  <a:cubicBezTo>
                    <a:pt x="36" y="36"/>
                    <a:pt x="36" y="36"/>
                    <a:pt x="36" y="36"/>
                  </a:cubicBezTo>
                  <a:cubicBezTo>
                    <a:pt x="37" y="34"/>
                    <a:pt x="38" y="33"/>
                    <a:pt x="40" y="33"/>
                  </a:cubicBezTo>
                  <a:cubicBezTo>
                    <a:pt x="42" y="36"/>
                    <a:pt x="42" y="36"/>
                    <a:pt x="42" y="36"/>
                  </a:cubicBezTo>
                  <a:cubicBezTo>
                    <a:pt x="42" y="35"/>
                    <a:pt x="43" y="35"/>
                    <a:pt x="43" y="35"/>
                  </a:cubicBezTo>
                  <a:cubicBezTo>
                    <a:pt x="44" y="35"/>
                    <a:pt x="45" y="34"/>
                    <a:pt x="45" y="34"/>
                  </a:cubicBezTo>
                  <a:cubicBezTo>
                    <a:pt x="45" y="31"/>
                    <a:pt x="45" y="31"/>
                    <a:pt x="45" y="31"/>
                  </a:cubicBezTo>
                  <a:cubicBezTo>
                    <a:pt x="47" y="30"/>
                    <a:pt x="48" y="30"/>
                    <a:pt x="50" y="30"/>
                  </a:cubicBezTo>
                  <a:cubicBezTo>
                    <a:pt x="51" y="34"/>
                    <a:pt x="51" y="34"/>
                    <a:pt x="51" y="34"/>
                  </a:cubicBezTo>
                  <a:cubicBezTo>
                    <a:pt x="52" y="34"/>
                    <a:pt x="53" y="34"/>
                    <a:pt x="54" y="34"/>
                  </a:cubicBezTo>
                  <a:cubicBezTo>
                    <a:pt x="56" y="31"/>
                    <a:pt x="56" y="31"/>
                    <a:pt x="56" y="31"/>
                  </a:cubicBezTo>
                  <a:cubicBezTo>
                    <a:pt x="58" y="32"/>
                    <a:pt x="59" y="32"/>
                    <a:pt x="60" y="33"/>
                  </a:cubicBezTo>
                  <a:lnTo>
                    <a:pt x="59" y="37"/>
                  </a:lnTo>
                  <a:close/>
                </a:path>
              </a:pathLst>
            </a:custGeom>
            <a:solidFill>
              <a:schemeClr val="bg1"/>
            </a:solidFill>
            <a:ln w="9525">
              <a:noFill/>
            </a:ln>
          </p:spPr>
          <p:txBody>
            <a:bodyPr/>
            <a:p>
              <a:endParaRPr lang="zh-CN" altLang="en-US"/>
            </a:p>
          </p:txBody>
        </p:sp>
      </p:grpSp>
      <p:grpSp>
        <p:nvGrpSpPr>
          <p:cNvPr id="15373" name="组合 32"/>
          <p:cNvGrpSpPr/>
          <p:nvPr/>
        </p:nvGrpSpPr>
        <p:grpSpPr>
          <a:xfrm>
            <a:off x="5808663" y="2871788"/>
            <a:ext cx="3117850" cy="2425700"/>
            <a:chOff x="5808360" y="908189"/>
            <a:chExt cx="3117927" cy="2426118"/>
          </a:xfrm>
        </p:grpSpPr>
        <p:sp>
          <p:nvSpPr>
            <p:cNvPr id="15374" name="文本框 33"/>
            <p:cNvSpPr txBox="1"/>
            <p:nvPr/>
          </p:nvSpPr>
          <p:spPr>
            <a:xfrm>
              <a:off x="5808360" y="908189"/>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调节饱和度</a:t>
              </a:r>
              <a:endParaRPr lang="zh-CN" altLang="en-US" sz="2400" b="1" dirty="0">
                <a:latin typeface="微软雅黑" panose="020B0503020204020204" pitchFamily="34" charset="-122"/>
                <a:ea typeface="微软雅黑" panose="020B0503020204020204" pitchFamily="34" charset="-122"/>
              </a:endParaRPr>
            </a:p>
          </p:txBody>
        </p:sp>
        <p:sp>
          <p:nvSpPr>
            <p:cNvPr id="15375" name="文本框 34"/>
            <p:cNvSpPr txBox="1"/>
            <p:nvPr/>
          </p:nvSpPr>
          <p:spPr>
            <a:xfrm>
              <a:off x="5808361" y="1272852"/>
              <a:ext cx="3117926" cy="2061455"/>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首先通过计算得到一个对比度阈值，然后将其进行（8,8）的直方图均衡化操作，然后将这个操作应用到每一帧的图像上，采用的同样是先转化为其他的颜色模型，这里我选择转化为lab模型，然后进行对比度增强操作，再转化到RGB空间即可！</a:t>
              </a:r>
              <a:endParaRPr lang="zh-CN" altLang="en-US" sz="1600" dirty="0">
                <a:latin typeface="微软雅黑" panose="020B0503020204020204" pitchFamily="34" charset="-122"/>
                <a:ea typeface="微软雅黑" panose="020B0503020204020204" pitchFamily="34" charset="-122"/>
              </a:endParaRPr>
            </a:p>
          </p:txBody>
        </p:sp>
      </p:grpSp>
      <p:cxnSp>
        <p:nvCxnSpPr>
          <p:cNvPr id="26" name="直接连接符 2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15377"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15378" name="文本框 39"/>
          <p:cNvSpPr txBox="1"/>
          <p:nvPr/>
        </p:nvSpPr>
        <p:spPr>
          <a:xfrm>
            <a:off x="1073150" y="230188"/>
            <a:ext cx="4976813" cy="398462"/>
          </a:xfrm>
          <a:prstGeom prst="rect">
            <a:avLst/>
          </a:prstGeom>
          <a:noFill/>
          <a:ln w="9525">
            <a:noFill/>
          </a:ln>
        </p:spPr>
        <p:txBody>
          <a:bodyPr anchor="t" anchorCtr="0">
            <a:spAutoFit/>
          </a:bodyPr>
          <a:p>
            <a:pPr>
              <a:buClrTx/>
              <a:buFontTx/>
            </a:pPr>
            <a:r>
              <a:rPr lang="zh-CN" altLang="zh-CN" sz="2000" b="1" dirty="0">
                <a:solidFill>
                  <a:srgbClr val="1F3A65"/>
                </a:solidFill>
                <a:latin typeface="微软雅黑" panose="020B0503020204020204" pitchFamily="34" charset="-122"/>
                <a:ea typeface="微软雅黑" panose="020B0503020204020204" pitchFamily="34" charset="-122"/>
              </a:rPr>
              <a:t>功能展示</a:t>
            </a:r>
            <a:endParaRPr lang="zh-CN" altLang="zh-CN" sz="2000" b="1" dirty="0">
              <a:solidFill>
                <a:srgbClr val="1F3A65"/>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4378325" y="1724025"/>
            <a:ext cx="0" cy="3789363"/>
          </a:xfrm>
          <a:prstGeom prst="line">
            <a:avLst/>
          </a:prstGeom>
          <a:ln>
            <a:solidFill>
              <a:schemeClr val="accent3">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15380" name="图片 3"/>
          <p:cNvPicPr>
            <a:picLocks noChangeAspect="1"/>
          </p:cNvPicPr>
          <p:nvPr/>
        </p:nvPicPr>
        <p:blipFill>
          <a:blip r:embed="rId1"/>
          <a:stretch>
            <a:fillRect/>
          </a:stretch>
        </p:blipFill>
        <p:spPr>
          <a:xfrm>
            <a:off x="493713" y="1266825"/>
            <a:ext cx="2620962" cy="1968500"/>
          </a:xfrm>
          <a:prstGeom prst="rect">
            <a:avLst/>
          </a:prstGeom>
          <a:noFill/>
          <a:ln w="9525">
            <a:noFill/>
          </a:ln>
        </p:spPr>
      </p:pic>
      <p:pic>
        <p:nvPicPr>
          <p:cNvPr id="2" name="图片 1"/>
          <p:cNvPicPr>
            <a:picLocks noChangeAspect="1"/>
          </p:cNvPicPr>
          <p:nvPr/>
        </p:nvPicPr>
        <p:blipFill>
          <a:blip r:embed="rId2"/>
          <a:srcRect r="2000" b="44627"/>
          <a:stretch>
            <a:fillRect/>
          </a:stretch>
        </p:blipFill>
        <p:spPr>
          <a:xfrm>
            <a:off x="544830" y="3284220"/>
            <a:ext cx="2824480" cy="20650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矩形 9"/>
          <p:cNvSpPr/>
          <p:nvPr/>
        </p:nvSpPr>
        <p:spPr>
          <a:xfrm>
            <a:off x="-476250" y="1408113"/>
            <a:ext cx="4789488" cy="3194050"/>
          </a:xfrm>
          <a:prstGeom prst="rect">
            <a:avLst/>
          </a:prstGeom>
          <a:noFill/>
          <a:ln w="9525">
            <a:noFill/>
          </a:ln>
        </p:spPr>
        <p:txBody>
          <a:bodyPr anchor="t" anchorCtr="0"/>
          <a:p>
            <a:pPr eaLnBrk="0" hangingPunct="0"/>
            <a:endParaRPr lang="zh-CN" altLang="en-US" dirty="0">
              <a:latin typeface="微软雅黑" panose="020B0503020204020204" pitchFamily="34" charset="-122"/>
              <a:ea typeface="微软雅黑" panose="020B0503020204020204" pitchFamily="34" charset="-122"/>
            </a:endParaRPr>
          </a:p>
        </p:txBody>
      </p:sp>
      <p:sp>
        <p:nvSpPr>
          <p:cNvPr id="16386" name="文本框 3"/>
          <p:cNvSpPr txBox="1"/>
          <p:nvPr/>
        </p:nvSpPr>
        <p:spPr>
          <a:xfrm>
            <a:off x="222250" y="5126038"/>
            <a:ext cx="3398838" cy="490537"/>
          </a:xfrm>
          <a:prstGeom prst="rect">
            <a:avLst/>
          </a:prstGeom>
          <a:noFill/>
          <a:ln w="9525">
            <a:noFill/>
          </a:ln>
        </p:spPr>
        <p:txBody>
          <a:bodyPr anchor="t" anchorCtr="0">
            <a:spAutoFit/>
          </a:bodyPr>
          <a:p>
            <a:pPr marL="104775">
              <a:lnSpc>
                <a:spcPct val="130000"/>
              </a:lnSpc>
              <a:buClr>
                <a:srgbClr val="10CF9B"/>
              </a:buClr>
            </a:pPr>
            <a:r>
              <a:rPr lang="zh-CN" altLang="en-US" sz="2000" b="1" dirty="0">
                <a:latin typeface="微软雅黑" panose="020B0503020204020204" pitchFamily="34" charset="-122"/>
                <a:ea typeface="微软雅黑" panose="020B0503020204020204" pitchFamily="34" charset="-122"/>
              </a:rPr>
              <a:t>笑脸识别</a:t>
            </a:r>
            <a:endParaRPr lang="en-US" altLang="zh-CN" sz="2000" b="1" dirty="0">
              <a:latin typeface="微软雅黑" panose="020B0503020204020204" pitchFamily="34" charset="-122"/>
              <a:ea typeface="微软雅黑" panose="020B0503020204020204" pitchFamily="34" charset="-122"/>
            </a:endParaRPr>
          </a:p>
        </p:txBody>
      </p:sp>
      <p:sp>
        <p:nvSpPr>
          <p:cNvPr id="7" name="椭圆 6"/>
          <p:cNvSpPr>
            <a:spLocks noChangeAspect="1"/>
          </p:cNvSpPr>
          <p:nvPr/>
        </p:nvSpPr>
        <p:spPr>
          <a:xfrm>
            <a:off x="4727575" y="1062038"/>
            <a:ext cx="1081088" cy="108108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6388" name="组合 27"/>
          <p:cNvGrpSpPr/>
          <p:nvPr/>
        </p:nvGrpSpPr>
        <p:grpSpPr>
          <a:xfrm>
            <a:off x="5808663" y="1023938"/>
            <a:ext cx="5207000" cy="3409950"/>
            <a:chOff x="5808360" y="908189"/>
            <a:chExt cx="5207764" cy="3411121"/>
          </a:xfrm>
        </p:grpSpPr>
        <p:sp>
          <p:nvSpPr>
            <p:cNvPr id="16389" name="文本框 21"/>
            <p:cNvSpPr txBox="1"/>
            <p:nvPr/>
          </p:nvSpPr>
          <p:spPr>
            <a:xfrm>
              <a:off x="5808360" y="908189"/>
              <a:ext cx="5207764" cy="460430"/>
            </a:xfrm>
            <a:prstGeom prst="rect">
              <a:avLst/>
            </a:prstGeom>
            <a:noFill/>
            <a:ln w="9525">
              <a:noFill/>
            </a:ln>
          </p:spPr>
          <p:txBody>
            <a:bodyPr wrap="square" anchor="t" anchorCtr="0">
              <a:spAutoFit/>
            </a:bodyPr>
            <a:p>
              <a:r>
                <a:rPr lang="zh-CN" altLang="en-US" sz="2400" b="1" dirty="0">
                  <a:latin typeface="微软雅黑" panose="020B0503020204020204" pitchFamily="34" charset="-122"/>
                  <a:ea typeface="微软雅黑" panose="020B0503020204020204" pitchFamily="34" charset="-122"/>
                </a:rPr>
                <a:t>基于</a:t>
              </a:r>
              <a:r>
                <a:rPr lang="en-US" altLang="zh-CN" sz="2400" b="1" dirty="0">
                  <a:latin typeface="微软雅黑" panose="020B0503020204020204" pitchFamily="34" charset="-122"/>
                  <a:ea typeface="微软雅黑" panose="020B0503020204020204" pitchFamily="34" charset="-122"/>
                </a:rPr>
                <a:t>harr</a:t>
              </a:r>
              <a:r>
                <a:rPr lang="zh-CN" altLang="en-US" sz="2400" b="1" dirty="0">
                  <a:latin typeface="微软雅黑" panose="020B0503020204020204" pitchFamily="34" charset="-122"/>
                  <a:ea typeface="微软雅黑" panose="020B0503020204020204" pitchFamily="34" charset="-122"/>
                </a:rPr>
                <a:t>特征的级联分类器</a:t>
              </a:r>
              <a:endParaRPr lang="zh-CN" altLang="en-US" sz="2400" b="1" dirty="0">
                <a:latin typeface="微软雅黑" panose="020B0503020204020204" pitchFamily="34" charset="-122"/>
                <a:ea typeface="微软雅黑" panose="020B0503020204020204" pitchFamily="34" charset="-122"/>
              </a:endParaRPr>
            </a:p>
          </p:txBody>
        </p:sp>
        <p:sp>
          <p:nvSpPr>
            <p:cNvPr id="16390" name="文本框 22"/>
            <p:cNvSpPr txBox="1"/>
            <p:nvPr/>
          </p:nvSpPr>
          <p:spPr>
            <a:xfrm>
              <a:off x="5808361" y="1272852"/>
              <a:ext cx="3117926" cy="3046458"/>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采用基于harr特征的级联分类器进行实现，级联分类器的函数是通过大量带人脸和不带人脸的图片通过机器学习得到的。训练开始时，所有训练集中的图片具有相同的权重，对于被分类错误的图片，提升权重，重新计算出新的错误率和新的权重。直到错误率或迭代次数达到要求。这种方法叫做Adaboost，最终的分类器是一个强分类器，它是众多弱分类器的组合</a:t>
              </a:r>
              <a:endParaRPr lang="zh-CN" altLang="en-US" sz="1600" dirty="0">
                <a:latin typeface="微软雅黑" panose="020B0503020204020204" pitchFamily="34" charset="-122"/>
                <a:ea typeface="微软雅黑" panose="020B0503020204020204" pitchFamily="34" charset="-122"/>
              </a:endParaRPr>
            </a:p>
          </p:txBody>
        </p:sp>
      </p:grpSp>
      <p:sp>
        <p:nvSpPr>
          <p:cNvPr id="16391" name="Freeform 48"/>
          <p:cNvSpPr>
            <a:spLocks noChangeAspect="1" noEditPoints="1"/>
          </p:cNvSpPr>
          <p:nvPr/>
        </p:nvSpPr>
        <p:spPr>
          <a:xfrm>
            <a:off x="4999038" y="1333500"/>
            <a:ext cx="539750" cy="5397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6" h="96">
                <a:moveTo>
                  <a:pt x="92" y="41"/>
                </a:moveTo>
                <a:cubicBezTo>
                  <a:pt x="88" y="41"/>
                  <a:pt x="88" y="41"/>
                  <a:pt x="88" y="41"/>
                </a:cubicBezTo>
                <a:cubicBezTo>
                  <a:pt x="86" y="41"/>
                  <a:pt x="84" y="39"/>
                  <a:pt x="83" y="37"/>
                </a:cubicBezTo>
                <a:cubicBezTo>
                  <a:pt x="81" y="31"/>
                  <a:pt x="81" y="31"/>
                  <a:pt x="81" y="31"/>
                </a:cubicBezTo>
                <a:cubicBezTo>
                  <a:pt x="80" y="29"/>
                  <a:pt x="80" y="26"/>
                  <a:pt x="81" y="25"/>
                </a:cubicBezTo>
                <a:cubicBezTo>
                  <a:pt x="85" y="22"/>
                  <a:pt x="85" y="22"/>
                  <a:pt x="85" y="22"/>
                </a:cubicBezTo>
                <a:cubicBezTo>
                  <a:pt x="86" y="20"/>
                  <a:pt x="86" y="18"/>
                  <a:pt x="85" y="17"/>
                </a:cubicBezTo>
                <a:cubicBezTo>
                  <a:pt x="79" y="11"/>
                  <a:pt x="79" y="11"/>
                  <a:pt x="79" y="11"/>
                </a:cubicBezTo>
                <a:cubicBezTo>
                  <a:pt x="78" y="10"/>
                  <a:pt x="76" y="10"/>
                  <a:pt x="74" y="11"/>
                </a:cubicBezTo>
                <a:cubicBezTo>
                  <a:pt x="71" y="15"/>
                  <a:pt x="71" y="15"/>
                  <a:pt x="71" y="15"/>
                </a:cubicBezTo>
                <a:cubicBezTo>
                  <a:pt x="70" y="16"/>
                  <a:pt x="67" y="16"/>
                  <a:pt x="65" y="15"/>
                </a:cubicBezTo>
                <a:cubicBezTo>
                  <a:pt x="59" y="13"/>
                  <a:pt x="59" y="13"/>
                  <a:pt x="59" y="13"/>
                </a:cubicBezTo>
                <a:cubicBezTo>
                  <a:pt x="57" y="12"/>
                  <a:pt x="55" y="10"/>
                  <a:pt x="55" y="8"/>
                </a:cubicBezTo>
                <a:cubicBezTo>
                  <a:pt x="55" y="4"/>
                  <a:pt x="55" y="4"/>
                  <a:pt x="55" y="4"/>
                </a:cubicBezTo>
                <a:cubicBezTo>
                  <a:pt x="55" y="2"/>
                  <a:pt x="54" y="0"/>
                  <a:pt x="52" y="0"/>
                </a:cubicBezTo>
                <a:cubicBezTo>
                  <a:pt x="44" y="0"/>
                  <a:pt x="44" y="0"/>
                  <a:pt x="44" y="0"/>
                </a:cubicBezTo>
                <a:cubicBezTo>
                  <a:pt x="42" y="0"/>
                  <a:pt x="41" y="2"/>
                  <a:pt x="41" y="4"/>
                </a:cubicBezTo>
                <a:cubicBezTo>
                  <a:pt x="41" y="8"/>
                  <a:pt x="41" y="8"/>
                  <a:pt x="41" y="8"/>
                </a:cubicBezTo>
                <a:cubicBezTo>
                  <a:pt x="41" y="10"/>
                  <a:pt x="39" y="12"/>
                  <a:pt x="37" y="13"/>
                </a:cubicBezTo>
                <a:cubicBezTo>
                  <a:pt x="31" y="15"/>
                  <a:pt x="31" y="15"/>
                  <a:pt x="31" y="15"/>
                </a:cubicBezTo>
                <a:cubicBezTo>
                  <a:pt x="29" y="16"/>
                  <a:pt x="26" y="16"/>
                  <a:pt x="25" y="15"/>
                </a:cubicBezTo>
                <a:cubicBezTo>
                  <a:pt x="22" y="11"/>
                  <a:pt x="22" y="11"/>
                  <a:pt x="22" y="11"/>
                </a:cubicBezTo>
                <a:cubicBezTo>
                  <a:pt x="20" y="10"/>
                  <a:pt x="18" y="10"/>
                  <a:pt x="17" y="11"/>
                </a:cubicBezTo>
                <a:cubicBezTo>
                  <a:pt x="11" y="17"/>
                  <a:pt x="11" y="17"/>
                  <a:pt x="11" y="17"/>
                </a:cubicBezTo>
                <a:cubicBezTo>
                  <a:pt x="10" y="18"/>
                  <a:pt x="10" y="20"/>
                  <a:pt x="11" y="22"/>
                </a:cubicBezTo>
                <a:cubicBezTo>
                  <a:pt x="15" y="25"/>
                  <a:pt x="15" y="25"/>
                  <a:pt x="15" y="25"/>
                </a:cubicBezTo>
                <a:cubicBezTo>
                  <a:pt x="16" y="26"/>
                  <a:pt x="16" y="29"/>
                  <a:pt x="15" y="31"/>
                </a:cubicBezTo>
                <a:cubicBezTo>
                  <a:pt x="13" y="37"/>
                  <a:pt x="13" y="37"/>
                  <a:pt x="13" y="37"/>
                </a:cubicBezTo>
                <a:cubicBezTo>
                  <a:pt x="12" y="39"/>
                  <a:pt x="10" y="41"/>
                  <a:pt x="8" y="41"/>
                </a:cubicBezTo>
                <a:cubicBezTo>
                  <a:pt x="4" y="41"/>
                  <a:pt x="4" y="41"/>
                  <a:pt x="4" y="41"/>
                </a:cubicBezTo>
                <a:cubicBezTo>
                  <a:pt x="2" y="41"/>
                  <a:pt x="0" y="42"/>
                  <a:pt x="0" y="44"/>
                </a:cubicBezTo>
                <a:cubicBezTo>
                  <a:pt x="0" y="52"/>
                  <a:pt x="0" y="52"/>
                  <a:pt x="0" y="52"/>
                </a:cubicBezTo>
                <a:cubicBezTo>
                  <a:pt x="0" y="54"/>
                  <a:pt x="2" y="55"/>
                  <a:pt x="4" y="55"/>
                </a:cubicBezTo>
                <a:cubicBezTo>
                  <a:pt x="8" y="55"/>
                  <a:pt x="8" y="55"/>
                  <a:pt x="8" y="55"/>
                </a:cubicBezTo>
                <a:cubicBezTo>
                  <a:pt x="10" y="55"/>
                  <a:pt x="12" y="57"/>
                  <a:pt x="13" y="59"/>
                </a:cubicBezTo>
                <a:cubicBezTo>
                  <a:pt x="15" y="65"/>
                  <a:pt x="15" y="65"/>
                  <a:pt x="15" y="65"/>
                </a:cubicBezTo>
                <a:cubicBezTo>
                  <a:pt x="16" y="67"/>
                  <a:pt x="16" y="70"/>
                  <a:pt x="15" y="71"/>
                </a:cubicBezTo>
                <a:cubicBezTo>
                  <a:pt x="11" y="74"/>
                  <a:pt x="11" y="74"/>
                  <a:pt x="11" y="74"/>
                </a:cubicBezTo>
                <a:cubicBezTo>
                  <a:pt x="10" y="76"/>
                  <a:pt x="10" y="78"/>
                  <a:pt x="11" y="79"/>
                </a:cubicBezTo>
                <a:cubicBezTo>
                  <a:pt x="17" y="85"/>
                  <a:pt x="17" y="85"/>
                  <a:pt x="17" y="85"/>
                </a:cubicBezTo>
                <a:cubicBezTo>
                  <a:pt x="18" y="86"/>
                  <a:pt x="20" y="86"/>
                  <a:pt x="22" y="85"/>
                </a:cubicBezTo>
                <a:cubicBezTo>
                  <a:pt x="25" y="81"/>
                  <a:pt x="25" y="81"/>
                  <a:pt x="25" y="81"/>
                </a:cubicBezTo>
                <a:cubicBezTo>
                  <a:pt x="26" y="80"/>
                  <a:pt x="29" y="80"/>
                  <a:pt x="31" y="81"/>
                </a:cubicBezTo>
                <a:cubicBezTo>
                  <a:pt x="37" y="83"/>
                  <a:pt x="37" y="83"/>
                  <a:pt x="37" y="83"/>
                </a:cubicBezTo>
                <a:cubicBezTo>
                  <a:pt x="39" y="84"/>
                  <a:pt x="41" y="86"/>
                  <a:pt x="41" y="88"/>
                </a:cubicBezTo>
                <a:cubicBezTo>
                  <a:pt x="41" y="92"/>
                  <a:pt x="41" y="92"/>
                  <a:pt x="41" y="92"/>
                </a:cubicBezTo>
                <a:cubicBezTo>
                  <a:pt x="41" y="94"/>
                  <a:pt x="42" y="96"/>
                  <a:pt x="44" y="96"/>
                </a:cubicBezTo>
                <a:cubicBezTo>
                  <a:pt x="52" y="96"/>
                  <a:pt x="52" y="96"/>
                  <a:pt x="52" y="96"/>
                </a:cubicBezTo>
                <a:cubicBezTo>
                  <a:pt x="54" y="96"/>
                  <a:pt x="55" y="94"/>
                  <a:pt x="55" y="92"/>
                </a:cubicBezTo>
                <a:cubicBezTo>
                  <a:pt x="55" y="88"/>
                  <a:pt x="55" y="88"/>
                  <a:pt x="55" y="88"/>
                </a:cubicBezTo>
                <a:cubicBezTo>
                  <a:pt x="55" y="86"/>
                  <a:pt x="57" y="84"/>
                  <a:pt x="59" y="83"/>
                </a:cubicBezTo>
                <a:cubicBezTo>
                  <a:pt x="65" y="81"/>
                  <a:pt x="65" y="81"/>
                  <a:pt x="65" y="81"/>
                </a:cubicBezTo>
                <a:cubicBezTo>
                  <a:pt x="67" y="80"/>
                  <a:pt x="70" y="80"/>
                  <a:pt x="71" y="81"/>
                </a:cubicBezTo>
                <a:cubicBezTo>
                  <a:pt x="74" y="85"/>
                  <a:pt x="74" y="85"/>
                  <a:pt x="74" y="85"/>
                </a:cubicBezTo>
                <a:cubicBezTo>
                  <a:pt x="76" y="86"/>
                  <a:pt x="78" y="86"/>
                  <a:pt x="79" y="85"/>
                </a:cubicBezTo>
                <a:cubicBezTo>
                  <a:pt x="85" y="79"/>
                  <a:pt x="85" y="79"/>
                  <a:pt x="85" y="79"/>
                </a:cubicBezTo>
                <a:cubicBezTo>
                  <a:pt x="86" y="78"/>
                  <a:pt x="86" y="76"/>
                  <a:pt x="85" y="74"/>
                </a:cubicBezTo>
                <a:cubicBezTo>
                  <a:pt x="81" y="71"/>
                  <a:pt x="81" y="71"/>
                  <a:pt x="81" y="71"/>
                </a:cubicBezTo>
                <a:cubicBezTo>
                  <a:pt x="80" y="70"/>
                  <a:pt x="80" y="67"/>
                  <a:pt x="81" y="65"/>
                </a:cubicBezTo>
                <a:cubicBezTo>
                  <a:pt x="83" y="59"/>
                  <a:pt x="83" y="59"/>
                  <a:pt x="83" y="59"/>
                </a:cubicBezTo>
                <a:cubicBezTo>
                  <a:pt x="84" y="57"/>
                  <a:pt x="86" y="55"/>
                  <a:pt x="88" y="55"/>
                </a:cubicBezTo>
                <a:cubicBezTo>
                  <a:pt x="92" y="55"/>
                  <a:pt x="92" y="55"/>
                  <a:pt x="92" y="55"/>
                </a:cubicBezTo>
                <a:cubicBezTo>
                  <a:pt x="94" y="55"/>
                  <a:pt x="96" y="54"/>
                  <a:pt x="96" y="52"/>
                </a:cubicBezTo>
                <a:cubicBezTo>
                  <a:pt x="96" y="44"/>
                  <a:pt x="96" y="44"/>
                  <a:pt x="96" y="44"/>
                </a:cubicBezTo>
                <a:cubicBezTo>
                  <a:pt x="96" y="42"/>
                  <a:pt x="94" y="41"/>
                  <a:pt x="92" y="41"/>
                </a:cubicBezTo>
                <a:close/>
                <a:moveTo>
                  <a:pt x="66" y="48"/>
                </a:moveTo>
                <a:cubicBezTo>
                  <a:pt x="66" y="58"/>
                  <a:pt x="58" y="66"/>
                  <a:pt x="48" y="66"/>
                </a:cubicBezTo>
                <a:cubicBezTo>
                  <a:pt x="38" y="66"/>
                  <a:pt x="30" y="58"/>
                  <a:pt x="30" y="48"/>
                </a:cubicBezTo>
                <a:cubicBezTo>
                  <a:pt x="30" y="38"/>
                  <a:pt x="38" y="30"/>
                  <a:pt x="48" y="30"/>
                </a:cubicBezTo>
                <a:cubicBezTo>
                  <a:pt x="58" y="30"/>
                  <a:pt x="66" y="38"/>
                  <a:pt x="66" y="48"/>
                </a:cubicBezTo>
                <a:close/>
              </a:path>
            </a:pathLst>
          </a:custGeom>
          <a:solidFill>
            <a:schemeClr val="bg1"/>
          </a:solidFill>
          <a:ln w="9525">
            <a:noFill/>
          </a:ln>
        </p:spPr>
        <p:txBody>
          <a:bodyPr/>
          <a:p>
            <a:endParaRPr lang="zh-CN" altLang="en-US"/>
          </a:p>
        </p:txBody>
      </p:sp>
      <p:grpSp>
        <p:nvGrpSpPr>
          <p:cNvPr id="16392" name="组合 31"/>
          <p:cNvGrpSpPr/>
          <p:nvPr/>
        </p:nvGrpSpPr>
        <p:grpSpPr>
          <a:xfrm>
            <a:off x="4727575" y="4767263"/>
            <a:ext cx="1081088" cy="1079500"/>
            <a:chOff x="4728360" y="2784242"/>
            <a:chExt cx="1080000" cy="1080000"/>
          </a:xfrm>
        </p:grpSpPr>
        <p:sp>
          <p:nvSpPr>
            <p:cNvPr id="8" name="椭圆 7"/>
            <p:cNvSpPr>
              <a:spLocks noChangeAspect="1"/>
            </p:cNvSpPr>
            <p:nvPr/>
          </p:nvSpPr>
          <p:spPr>
            <a:xfrm>
              <a:off x="4728360" y="2784242"/>
              <a:ext cx="1080000" cy="1080000"/>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394" name="Freeform 680"/>
            <p:cNvSpPr>
              <a:spLocks noChangeAspect="1" noEditPoints="1"/>
            </p:cNvSpPr>
            <p:nvPr/>
          </p:nvSpPr>
          <p:spPr>
            <a:xfrm>
              <a:off x="4998360" y="3050467"/>
              <a:ext cx="540000" cy="547551"/>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1" h="72">
                  <a:moveTo>
                    <a:pt x="32" y="17"/>
                  </a:moveTo>
                  <a:cubicBezTo>
                    <a:pt x="31" y="14"/>
                    <a:pt x="29" y="12"/>
                    <a:pt x="26" y="11"/>
                  </a:cubicBezTo>
                  <a:cubicBezTo>
                    <a:pt x="23" y="10"/>
                    <a:pt x="20" y="9"/>
                    <a:pt x="17" y="11"/>
                  </a:cubicBezTo>
                  <a:cubicBezTo>
                    <a:pt x="14" y="12"/>
                    <a:pt x="12" y="14"/>
                    <a:pt x="11" y="17"/>
                  </a:cubicBezTo>
                  <a:cubicBezTo>
                    <a:pt x="9" y="19"/>
                    <a:pt x="9" y="23"/>
                    <a:pt x="10" y="25"/>
                  </a:cubicBezTo>
                  <a:cubicBezTo>
                    <a:pt x="11" y="28"/>
                    <a:pt x="13" y="30"/>
                    <a:pt x="16" y="32"/>
                  </a:cubicBezTo>
                  <a:cubicBezTo>
                    <a:pt x="19" y="33"/>
                    <a:pt x="22" y="33"/>
                    <a:pt x="25" y="32"/>
                  </a:cubicBezTo>
                  <a:cubicBezTo>
                    <a:pt x="28" y="31"/>
                    <a:pt x="30" y="29"/>
                    <a:pt x="32" y="26"/>
                  </a:cubicBezTo>
                  <a:cubicBezTo>
                    <a:pt x="33" y="23"/>
                    <a:pt x="33" y="20"/>
                    <a:pt x="32" y="17"/>
                  </a:cubicBezTo>
                  <a:close/>
                  <a:moveTo>
                    <a:pt x="31" y="7"/>
                  </a:moveTo>
                  <a:cubicBezTo>
                    <a:pt x="32" y="7"/>
                    <a:pt x="33" y="8"/>
                    <a:pt x="33" y="9"/>
                  </a:cubicBezTo>
                  <a:cubicBezTo>
                    <a:pt x="36" y="7"/>
                    <a:pt x="36" y="7"/>
                    <a:pt x="36" y="7"/>
                  </a:cubicBezTo>
                  <a:cubicBezTo>
                    <a:pt x="38" y="8"/>
                    <a:pt x="39" y="10"/>
                    <a:pt x="39" y="11"/>
                  </a:cubicBezTo>
                  <a:cubicBezTo>
                    <a:pt x="37" y="14"/>
                    <a:pt x="37" y="14"/>
                    <a:pt x="37" y="14"/>
                  </a:cubicBezTo>
                  <a:cubicBezTo>
                    <a:pt x="37" y="14"/>
                    <a:pt x="37" y="15"/>
                    <a:pt x="37" y="15"/>
                  </a:cubicBezTo>
                  <a:cubicBezTo>
                    <a:pt x="38" y="16"/>
                    <a:pt x="38" y="16"/>
                    <a:pt x="38" y="17"/>
                  </a:cubicBezTo>
                  <a:cubicBezTo>
                    <a:pt x="41" y="17"/>
                    <a:pt x="41" y="17"/>
                    <a:pt x="41" y="17"/>
                  </a:cubicBezTo>
                  <a:cubicBezTo>
                    <a:pt x="42" y="19"/>
                    <a:pt x="42" y="20"/>
                    <a:pt x="42" y="22"/>
                  </a:cubicBezTo>
                  <a:cubicBezTo>
                    <a:pt x="38" y="22"/>
                    <a:pt x="38" y="22"/>
                    <a:pt x="38" y="22"/>
                  </a:cubicBezTo>
                  <a:cubicBezTo>
                    <a:pt x="38" y="24"/>
                    <a:pt x="38" y="25"/>
                    <a:pt x="38" y="26"/>
                  </a:cubicBezTo>
                  <a:cubicBezTo>
                    <a:pt x="41" y="28"/>
                    <a:pt x="41" y="28"/>
                    <a:pt x="41" y="28"/>
                  </a:cubicBezTo>
                  <a:cubicBezTo>
                    <a:pt x="41" y="29"/>
                    <a:pt x="40" y="31"/>
                    <a:pt x="39" y="32"/>
                  </a:cubicBezTo>
                  <a:cubicBezTo>
                    <a:pt x="36" y="31"/>
                    <a:pt x="36" y="31"/>
                    <a:pt x="36" y="31"/>
                  </a:cubicBezTo>
                  <a:cubicBezTo>
                    <a:pt x="35" y="32"/>
                    <a:pt x="34" y="33"/>
                    <a:pt x="33" y="34"/>
                  </a:cubicBezTo>
                  <a:cubicBezTo>
                    <a:pt x="35" y="37"/>
                    <a:pt x="35" y="37"/>
                    <a:pt x="35" y="37"/>
                  </a:cubicBezTo>
                  <a:cubicBezTo>
                    <a:pt x="34" y="38"/>
                    <a:pt x="33" y="39"/>
                    <a:pt x="31" y="40"/>
                  </a:cubicBezTo>
                  <a:cubicBezTo>
                    <a:pt x="29" y="37"/>
                    <a:pt x="29" y="37"/>
                    <a:pt x="29" y="37"/>
                  </a:cubicBezTo>
                  <a:cubicBezTo>
                    <a:pt x="28" y="37"/>
                    <a:pt x="28" y="37"/>
                    <a:pt x="27" y="38"/>
                  </a:cubicBezTo>
                  <a:cubicBezTo>
                    <a:pt x="27" y="38"/>
                    <a:pt x="26" y="38"/>
                    <a:pt x="26" y="38"/>
                  </a:cubicBezTo>
                  <a:cubicBezTo>
                    <a:pt x="26" y="42"/>
                    <a:pt x="26" y="42"/>
                    <a:pt x="26" y="42"/>
                  </a:cubicBezTo>
                  <a:cubicBezTo>
                    <a:pt x="24" y="42"/>
                    <a:pt x="22" y="42"/>
                    <a:pt x="21" y="42"/>
                  </a:cubicBezTo>
                  <a:cubicBezTo>
                    <a:pt x="20" y="39"/>
                    <a:pt x="20" y="39"/>
                    <a:pt x="20" y="39"/>
                  </a:cubicBezTo>
                  <a:cubicBezTo>
                    <a:pt x="19" y="39"/>
                    <a:pt x="18" y="38"/>
                    <a:pt x="17" y="38"/>
                  </a:cubicBezTo>
                  <a:cubicBezTo>
                    <a:pt x="15" y="41"/>
                    <a:pt x="15" y="41"/>
                    <a:pt x="15" y="41"/>
                  </a:cubicBezTo>
                  <a:cubicBezTo>
                    <a:pt x="13" y="41"/>
                    <a:pt x="11" y="40"/>
                    <a:pt x="10" y="39"/>
                  </a:cubicBezTo>
                  <a:cubicBezTo>
                    <a:pt x="11" y="36"/>
                    <a:pt x="11" y="36"/>
                    <a:pt x="11" y="36"/>
                  </a:cubicBezTo>
                  <a:cubicBezTo>
                    <a:pt x="10" y="35"/>
                    <a:pt x="10" y="34"/>
                    <a:pt x="9" y="34"/>
                  </a:cubicBezTo>
                  <a:cubicBezTo>
                    <a:pt x="6" y="35"/>
                    <a:pt x="6" y="35"/>
                    <a:pt x="6" y="35"/>
                  </a:cubicBezTo>
                  <a:cubicBezTo>
                    <a:pt x="4" y="34"/>
                    <a:pt x="3" y="33"/>
                    <a:pt x="3" y="31"/>
                  </a:cubicBezTo>
                  <a:cubicBezTo>
                    <a:pt x="5" y="29"/>
                    <a:pt x="5" y="29"/>
                    <a:pt x="5" y="29"/>
                  </a:cubicBezTo>
                  <a:cubicBezTo>
                    <a:pt x="5" y="28"/>
                    <a:pt x="5" y="28"/>
                    <a:pt x="5" y="27"/>
                  </a:cubicBezTo>
                  <a:cubicBezTo>
                    <a:pt x="5" y="27"/>
                    <a:pt x="4" y="26"/>
                    <a:pt x="4" y="26"/>
                  </a:cubicBezTo>
                  <a:cubicBezTo>
                    <a:pt x="1" y="26"/>
                    <a:pt x="1" y="26"/>
                    <a:pt x="1" y="26"/>
                  </a:cubicBezTo>
                  <a:cubicBezTo>
                    <a:pt x="0" y="24"/>
                    <a:pt x="0" y="22"/>
                    <a:pt x="0" y="21"/>
                  </a:cubicBezTo>
                  <a:cubicBezTo>
                    <a:pt x="4" y="20"/>
                    <a:pt x="4" y="20"/>
                    <a:pt x="4" y="20"/>
                  </a:cubicBezTo>
                  <a:cubicBezTo>
                    <a:pt x="4" y="19"/>
                    <a:pt x="4" y="18"/>
                    <a:pt x="4" y="17"/>
                  </a:cubicBezTo>
                  <a:cubicBezTo>
                    <a:pt x="1" y="15"/>
                    <a:pt x="1" y="15"/>
                    <a:pt x="1" y="15"/>
                  </a:cubicBezTo>
                  <a:cubicBezTo>
                    <a:pt x="2" y="13"/>
                    <a:pt x="2" y="12"/>
                    <a:pt x="3" y="10"/>
                  </a:cubicBezTo>
                  <a:cubicBezTo>
                    <a:pt x="7" y="12"/>
                    <a:pt x="7" y="12"/>
                    <a:pt x="7" y="12"/>
                  </a:cubicBezTo>
                  <a:cubicBezTo>
                    <a:pt x="7" y="11"/>
                    <a:pt x="8" y="10"/>
                    <a:pt x="9" y="9"/>
                  </a:cubicBezTo>
                  <a:cubicBezTo>
                    <a:pt x="7" y="6"/>
                    <a:pt x="7" y="6"/>
                    <a:pt x="7" y="6"/>
                  </a:cubicBezTo>
                  <a:cubicBezTo>
                    <a:pt x="8" y="5"/>
                    <a:pt x="10" y="4"/>
                    <a:pt x="11" y="3"/>
                  </a:cubicBezTo>
                  <a:cubicBezTo>
                    <a:pt x="13" y="6"/>
                    <a:pt x="13" y="6"/>
                    <a:pt x="13" y="6"/>
                  </a:cubicBezTo>
                  <a:cubicBezTo>
                    <a:pt x="14" y="5"/>
                    <a:pt x="14" y="5"/>
                    <a:pt x="15" y="5"/>
                  </a:cubicBezTo>
                  <a:cubicBezTo>
                    <a:pt x="16" y="5"/>
                    <a:pt x="16" y="5"/>
                    <a:pt x="17" y="4"/>
                  </a:cubicBezTo>
                  <a:cubicBezTo>
                    <a:pt x="17" y="1"/>
                    <a:pt x="17" y="1"/>
                    <a:pt x="17" y="1"/>
                  </a:cubicBezTo>
                  <a:cubicBezTo>
                    <a:pt x="18" y="0"/>
                    <a:pt x="20" y="0"/>
                    <a:pt x="22" y="1"/>
                  </a:cubicBezTo>
                  <a:cubicBezTo>
                    <a:pt x="22" y="4"/>
                    <a:pt x="22" y="4"/>
                    <a:pt x="22" y="4"/>
                  </a:cubicBezTo>
                  <a:cubicBezTo>
                    <a:pt x="23" y="4"/>
                    <a:pt x="25" y="4"/>
                    <a:pt x="26" y="4"/>
                  </a:cubicBezTo>
                  <a:cubicBezTo>
                    <a:pt x="27" y="2"/>
                    <a:pt x="27" y="2"/>
                    <a:pt x="27" y="2"/>
                  </a:cubicBezTo>
                  <a:cubicBezTo>
                    <a:pt x="29" y="2"/>
                    <a:pt x="31" y="3"/>
                    <a:pt x="32" y="4"/>
                  </a:cubicBezTo>
                  <a:cubicBezTo>
                    <a:pt x="31" y="7"/>
                    <a:pt x="31" y="7"/>
                    <a:pt x="31" y="7"/>
                  </a:cubicBezTo>
                  <a:close/>
                  <a:moveTo>
                    <a:pt x="60" y="47"/>
                  </a:moveTo>
                  <a:cubicBezTo>
                    <a:pt x="59" y="44"/>
                    <a:pt x="57" y="42"/>
                    <a:pt x="54" y="41"/>
                  </a:cubicBezTo>
                  <a:cubicBezTo>
                    <a:pt x="51" y="39"/>
                    <a:pt x="48" y="39"/>
                    <a:pt x="45" y="40"/>
                  </a:cubicBezTo>
                  <a:cubicBezTo>
                    <a:pt x="43" y="41"/>
                    <a:pt x="40" y="44"/>
                    <a:pt x="39" y="46"/>
                  </a:cubicBezTo>
                  <a:cubicBezTo>
                    <a:pt x="38" y="49"/>
                    <a:pt x="38" y="52"/>
                    <a:pt x="39" y="55"/>
                  </a:cubicBezTo>
                  <a:cubicBezTo>
                    <a:pt x="40" y="58"/>
                    <a:pt x="42" y="60"/>
                    <a:pt x="45" y="62"/>
                  </a:cubicBezTo>
                  <a:cubicBezTo>
                    <a:pt x="48" y="63"/>
                    <a:pt x="51" y="63"/>
                    <a:pt x="54" y="62"/>
                  </a:cubicBezTo>
                  <a:cubicBezTo>
                    <a:pt x="56" y="61"/>
                    <a:pt x="59" y="59"/>
                    <a:pt x="60" y="56"/>
                  </a:cubicBezTo>
                  <a:cubicBezTo>
                    <a:pt x="61" y="53"/>
                    <a:pt x="61" y="50"/>
                    <a:pt x="60" y="47"/>
                  </a:cubicBezTo>
                  <a:close/>
                  <a:moveTo>
                    <a:pt x="59" y="37"/>
                  </a:moveTo>
                  <a:cubicBezTo>
                    <a:pt x="60" y="37"/>
                    <a:pt x="61" y="38"/>
                    <a:pt x="62" y="39"/>
                  </a:cubicBezTo>
                  <a:cubicBezTo>
                    <a:pt x="65" y="37"/>
                    <a:pt x="65" y="37"/>
                    <a:pt x="65" y="37"/>
                  </a:cubicBezTo>
                  <a:cubicBezTo>
                    <a:pt x="66" y="38"/>
                    <a:pt x="67" y="40"/>
                    <a:pt x="68" y="41"/>
                  </a:cubicBezTo>
                  <a:cubicBezTo>
                    <a:pt x="65" y="44"/>
                    <a:pt x="65" y="44"/>
                    <a:pt x="65" y="44"/>
                  </a:cubicBezTo>
                  <a:cubicBezTo>
                    <a:pt x="65" y="44"/>
                    <a:pt x="66" y="45"/>
                    <a:pt x="66" y="45"/>
                  </a:cubicBezTo>
                  <a:cubicBezTo>
                    <a:pt x="66" y="46"/>
                    <a:pt x="66" y="46"/>
                    <a:pt x="66" y="47"/>
                  </a:cubicBezTo>
                  <a:cubicBezTo>
                    <a:pt x="70" y="47"/>
                    <a:pt x="70" y="47"/>
                    <a:pt x="70" y="47"/>
                  </a:cubicBezTo>
                  <a:cubicBezTo>
                    <a:pt x="70" y="48"/>
                    <a:pt x="71" y="50"/>
                    <a:pt x="70" y="52"/>
                  </a:cubicBezTo>
                  <a:cubicBezTo>
                    <a:pt x="67" y="52"/>
                    <a:pt x="67" y="52"/>
                    <a:pt x="67" y="52"/>
                  </a:cubicBezTo>
                  <a:cubicBezTo>
                    <a:pt x="67" y="53"/>
                    <a:pt x="67" y="55"/>
                    <a:pt x="66" y="56"/>
                  </a:cubicBezTo>
                  <a:cubicBezTo>
                    <a:pt x="69" y="57"/>
                    <a:pt x="69" y="57"/>
                    <a:pt x="69" y="57"/>
                  </a:cubicBezTo>
                  <a:cubicBezTo>
                    <a:pt x="69" y="59"/>
                    <a:pt x="68" y="61"/>
                    <a:pt x="67" y="62"/>
                  </a:cubicBezTo>
                  <a:cubicBezTo>
                    <a:pt x="64" y="61"/>
                    <a:pt x="64" y="61"/>
                    <a:pt x="64" y="61"/>
                  </a:cubicBezTo>
                  <a:cubicBezTo>
                    <a:pt x="63" y="62"/>
                    <a:pt x="63" y="63"/>
                    <a:pt x="62" y="63"/>
                  </a:cubicBezTo>
                  <a:cubicBezTo>
                    <a:pt x="63" y="66"/>
                    <a:pt x="63" y="66"/>
                    <a:pt x="63" y="66"/>
                  </a:cubicBezTo>
                  <a:cubicBezTo>
                    <a:pt x="62" y="68"/>
                    <a:pt x="61" y="69"/>
                    <a:pt x="59" y="69"/>
                  </a:cubicBezTo>
                  <a:cubicBezTo>
                    <a:pt x="57" y="67"/>
                    <a:pt x="57" y="67"/>
                    <a:pt x="57" y="67"/>
                  </a:cubicBezTo>
                  <a:cubicBezTo>
                    <a:pt x="57" y="67"/>
                    <a:pt x="56" y="67"/>
                    <a:pt x="56" y="67"/>
                  </a:cubicBezTo>
                  <a:cubicBezTo>
                    <a:pt x="55" y="68"/>
                    <a:pt x="55" y="68"/>
                    <a:pt x="54" y="68"/>
                  </a:cubicBezTo>
                  <a:cubicBezTo>
                    <a:pt x="54" y="71"/>
                    <a:pt x="54" y="71"/>
                    <a:pt x="54" y="71"/>
                  </a:cubicBezTo>
                  <a:cubicBezTo>
                    <a:pt x="52" y="72"/>
                    <a:pt x="51" y="72"/>
                    <a:pt x="49" y="72"/>
                  </a:cubicBezTo>
                  <a:cubicBezTo>
                    <a:pt x="48" y="69"/>
                    <a:pt x="48" y="69"/>
                    <a:pt x="48" y="69"/>
                  </a:cubicBezTo>
                  <a:cubicBezTo>
                    <a:pt x="47" y="68"/>
                    <a:pt x="46" y="68"/>
                    <a:pt x="45" y="68"/>
                  </a:cubicBezTo>
                  <a:cubicBezTo>
                    <a:pt x="43" y="71"/>
                    <a:pt x="43" y="71"/>
                    <a:pt x="43" y="71"/>
                  </a:cubicBezTo>
                  <a:cubicBezTo>
                    <a:pt x="41" y="71"/>
                    <a:pt x="40" y="70"/>
                    <a:pt x="39" y="69"/>
                  </a:cubicBezTo>
                  <a:cubicBezTo>
                    <a:pt x="40" y="66"/>
                    <a:pt x="40" y="66"/>
                    <a:pt x="40" y="66"/>
                  </a:cubicBezTo>
                  <a:cubicBezTo>
                    <a:pt x="39" y="65"/>
                    <a:pt x="38" y="64"/>
                    <a:pt x="37" y="63"/>
                  </a:cubicBezTo>
                  <a:cubicBezTo>
                    <a:pt x="34" y="65"/>
                    <a:pt x="34" y="65"/>
                    <a:pt x="34" y="65"/>
                  </a:cubicBezTo>
                  <a:cubicBezTo>
                    <a:pt x="33" y="64"/>
                    <a:pt x="32" y="63"/>
                    <a:pt x="31" y="61"/>
                  </a:cubicBezTo>
                  <a:cubicBezTo>
                    <a:pt x="34" y="59"/>
                    <a:pt x="34" y="59"/>
                    <a:pt x="34" y="59"/>
                  </a:cubicBezTo>
                  <a:cubicBezTo>
                    <a:pt x="34" y="58"/>
                    <a:pt x="33" y="58"/>
                    <a:pt x="33" y="57"/>
                  </a:cubicBezTo>
                  <a:cubicBezTo>
                    <a:pt x="33" y="57"/>
                    <a:pt x="33" y="56"/>
                    <a:pt x="33" y="56"/>
                  </a:cubicBezTo>
                  <a:cubicBezTo>
                    <a:pt x="29" y="56"/>
                    <a:pt x="29" y="56"/>
                    <a:pt x="29" y="56"/>
                  </a:cubicBezTo>
                  <a:cubicBezTo>
                    <a:pt x="29" y="54"/>
                    <a:pt x="28" y="52"/>
                    <a:pt x="29" y="51"/>
                  </a:cubicBezTo>
                  <a:cubicBezTo>
                    <a:pt x="32" y="50"/>
                    <a:pt x="32" y="50"/>
                    <a:pt x="32" y="50"/>
                  </a:cubicBezTo>
                  <a:cubicBezTo>
                    <a:pt x="32" y="49"/>
                    <a:pt x="32" y="48"/>
                    <a:pt x="33" y="47"/>
                  </a:cubicBezTo>
                  <a:cubicBezTo>
                    <a:pt x="30" y="45"/>
                    <a:pt x="30" y="45"/>
                    <a:pt x="30" y="45"/>
                  </a:cubicBezTo>
                  <a:cubicBezTo>
                    <a:pt x="30" y="43"/>
                    <a:pt x="31" y="42"/>
                    <a:pt x="32" y="40"/>
                  </a:cubicBezTo>
                  <a:cubicBezTo>
                    <a:pt x="35" y="41"/>
                    <a:pt x="35" y="41"/>
                    <a:pt x="35" y="41"/>
                  </a:cubicBezTo>
                  <a:cubicBezTo>
                    <a:pt x="36" y="40"/>
                    <a:pt x="36" y="40"/>
                    <a:pt x="37" y="39"/>
                  </a:cubicBezTo>
                  <a:cubicBezTo>
                    <a:pt x="36" y="36"/>
                    <a:pt x="36" y="36"/>
                    <a:pt x="36" y="36"/>
                  </a:cubicBezTo>
                  <a:cubicBezTo>
                    <a:pt x="37" y="34"/>
                    <a:pt x="38" y="33"/>
                    <a:pt x="40" y="33"/>
                  </a:cubicBezTo>
                  <a:cubicBezTo>
                    <a:pt x="42" y="36"/>
                    <a:pt x="42" y="36"/>
                    <a:pt x="42" y="36"/>
                  </a:cubicBezTo>
                  <a:cubicBezTo>
                    <a:pt x="42" y="35"/>
                    <a:pt x="43" y="35"/>
                    <a:pt x="43" y="35"/>
                  </a:cubicBezTo>
                  <a:cubicBezTo>
                    <a:pt x="44" y="35"/>
                    <a:pt x="45" y="34"/>
                    <a:pt x="45" y="34"/>
                  </a:cubicBezTo>
                  <a:cubicBezTo>
                    <a:pt x="45" y="31"/>
                    <a:pt x="45" y="31"/>
                    <a:pt x="45" y="31"/>
                  </a:cubicBezTo>
                  <a:cubicBezTo>
                    <a:pt x="47" y="30"/>
                    <a:pt x="48" y="30"/>
                    <a:pt x="50" y="30"/>
                  </a:cubicBezTo>
                  <a:cubicBezTo>
                    <a:pt x="51" y="34"/>
                    <a:pt x="51" y="34"/>
                    <a:pt x="51" y="34"/>
                  </a:cubicBezTo>
                  <a:cubicBezTo>
                    <a:pt x="52" y="34"/>
                    <a:pt x="53" y="34"/>
                    <a:pt x="54" y="34"/>
                  </a:cubicBezTo>
                  <a:cubicBezTo>
                    <a:pt x="56" y="31"/>
                    <a:pt x="56" y="31"/>
                    <a:pt x="56" y="31"/>
                  </a:cubicBezTo>
                  <a:cubicBezTo>
                    <a:pt x="58" y="32"/>
                    <a:pt x="59" y="32"/>
                    <a:pt x="60" y="33"/>
                  </a:cubicBezTo>
                  <a:lnTo>
                    <a:pt x="59" y="37"/>
                  </a:lnTo>
                  <a:close/>
                </a:path>
              </a:pathLst>
            </a:custGeom>
            <a:solidFill>
              <a:schemeClr val="bg1"/>
            </a:solidFill>
            <a:ln w="9525">
              <a:noFill/>
            </a:ln>
          </p:spPr>
          <p:txBody>
            <a:bodyPr/>
            <a:p>
              <a:endParaRPr lang="zh-CN" altLang="en-US"/>
            </a:p>
          </p:txBody>
        </p:sp>
      </p:grpSp>
      <p:grpSp>
        <p:nvGrpSpPr>
          <p:cNvPr id="16395" name="组合 32"/>
          <p:cNvGrpSpPr/>
          <p:nvPr/>
        </p:nvGrpSpPr>
        <p:grpSpPr>
          <a:xfrm>
            <a:off x="5808663" y="4570413"/>
            <a:ext cx="3117850" cy="1747837"/>
            <a:chOff x="5808360" y="712586"/>
            <a:chExt cx="3117927" cy="1747222"/>
          </a:xfrm>
        </p:grpSpPr>
        <p:sp>
          <p:nvSpPr>
            <p:cNvPr id="16396" name="文本框 33"/>
            <p:cNvSpPr txBox="1"/>
            <p:nvPr/>
          </p:nvSpPr>
          <p:spPr>
            <a:xfrm>
              <a:off x="5808360" y="712586"/>
              <a:ext cx="1813560" cy="460430"/>
            </a:xfrm>
            <a:prstGeom prst="rect">
              <a:avLst/>
            </a:prstGeom>
            <a:noFill/>
            <a:ln w="9525">
              <a:noFill/>
            </a:ln>
          </p:spPr>
          <p:txBody>
            <a:bodyPr anchor="t" anchorCtr="0">
              <a:spAutoFit/>
            </a:bodyPr>
            <a:p>
              <a:r>
                <a:rPr lang="zh-CN" altLang="en-US" sz="2400" b="1" dirty="0">
                  <a:latin typeface="微软雅黑" panose="020B0503020204020204" pitchFamily="34" charset="-122"/>
                  <a:ea typeface="微软雅黑" panose="020B0503020204020204" pitchFamily="34" charset="-122"/>
                </a:rPr>
                <a:t>具体思路</a:t>
              </a:r>
              <a:endParaRPr lang="zh-CN" altLang="en-US" sz="2400" b="1" dirty="0">
                <a:latin typeface="微软雅黑" panose="020B0503020204020204" pitchFamily="34" charset="-122"/>
                <a:ea typeface="微软雅黑" panose="020B0503020204020204" pitchFamily="34" charset="-122"/>
              </a:endParaRPr>
            </a:p>
          </p:txBody>
        </p:sp>
        <p:sp>
          <p:nvSpPr>
            <p:cNvPr id="16397" name="文本框 34"/>
            <p:cNvSpPr txBox="1"/>
            <p:nvPr/>
          </p:nvSpPr>
          <p:spPr>
            <a:xfrm>
              <a:off x="5808361" y="1137581"/>
              <a:ext cx="3117926" cy="1322227"/>
            </a:xfrm>
            <a:prstGeom prst="rect">
              <a:avLst/>
            </a:prstGeom>
            <a:noFill/>
            <a:ln w="9525">
              <a:noFill/>
            </a:ln>
          </p:spPr>
          <p:txBody>
            <a:bodyPr anchor="t" anchorCtr="0">
              <a:spAutoFit/>
            </a:bodyPr>
            <a:p>
              <a:r>
                <a:rPr lang="zh-CN" altLang="en-US" sz="1600" dirty="0">
                  <a:latin typeface="微软雅黑" panose="020B0503020204020204" pitchFamily="34" charset="-122"/>
                  <a:ea typeface="微软雅黑" panose="020B0503020204020204" pitchFamily="34" charset="-122"/>
                </a:rPr>
                <a:t>首先通过该分类器寻找人脸区域，然后画出，然后在画出的这块区域用微笑级联分类器和人眼级联分类器找到微笑和人眼，再绘制出人眼和微笑</a:t>
              </a:r>
              <a:endParaRPr lang="zh-CN" altLang="en-US" sz="1600" dirty="0">
                <a:latin typeface="微软雅黑" panose="020B0503020204020204" pitchFamily="34" charset="-122"/>
                <a:ea typeface="微软雅黑" panose="020B0503020204020204" pitchFamily="34" charset="-122"/>
              </a:endParaRPr>
            </a:p>
          </p:txBody>
        </p:sp>
      </p:grpSp>
      <p:cxnSp>
        <p:nvCxnSpPr>
          <p:cNvPr id="26" name="直接连接符 2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16399" name="Freeform 15"/>
          <p:cNvSpPr>
            <a:spLocks noChangeAspect="1" noEditPoints="1"/>
          </p:cNvSpPr>
          <p:nvPr/>
        </p:nvSpPr>
        <p:spPr>
          <a:xfrm>
            <a:off x="438150" y="322263"/>
            <a:ext cx="508000" cy="503237"/>
          </a:xfrm>
          <a:custGeom>
            <a:avLst/>
            <a:gdLst/>
            <a:ahLst/>
            <a:cxnLst>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7" h="96">
                <a:moveTo>
                  <a:pt x="94" y="82"/>
                </a:moveTo>
                <a:cubicBezTo>
                  <a:pt x="71" y="59"/>
                  <a:pt x="71" y="59"/>
                  <a:pt x="71" y="59"/>
                </a:cubicBezTo>
                <a:cubicBezTo>
                  <a:pt x="70" y="59"/>
                  <a:pt x="70" y="59"/>
                  <a:pt x="70" y="59"/>
                </a:cubicBezTo>
                <a:cubicBezTo>
                  <a:pt x="74" y="53"/>
                  <a:pt x="76" y="46"/>
                  <a:pt x="76" y="38"/>
                </a:cubicBezTo>
                <a:cubicBezTo>
                  <a:pt x="76" y="17"/>
                  <a:pt x="59" y="0"/>
                  <a:pt x="38" y="0"/>
                </a:cubicBezTo>
                <a:cubicBezTo>
                  <a:pt x="17" y="0"/>
                  <a:pt x="0" y="17"/>
                  <a:pt x="0" y="38"/>
                </a:cubicBezTo>
                <a:cubicBezTo>
                  <a:pt x="0" y="59"/>
                  <a:pt x="17" y="76"/>
                  <a:pt x="38" y="76"/>
                </a:cubicBezTo>
                <a:cubicBezTo>
                  <a:pt x="46" y="76"/>
                  <a:pt x="53" y="74"/>
                  <a:pt x="59" y="70"/>
                </a:cubicBezTo>
                <a:cubicBezTo>
                  <a:pt x="59" y="71"/>
                  <a:pt x="59" y="71"/>
                  <a:pt x="59" y="71"/>
                </a:cubicBezTo>
                <a:cubicBezTo>
                  <a:pt x="82" y="94"/>
                  <a:pt x="82" y="94"/>
                  <a:pt x="82" y="94"/>
                </a:cubicBezTo>
                <a:cubicBezTo>
                  <a:pt x="84" y="95"/>
                  <a:pt x="86" y="96"/>
                  <a:pt x="88" y="96"/>
                </a:cubicBezTo>
                <a:cubicBezTo>
                  <a:pt x="90" y="96"/>
                  <a:pt x="92" y="95"/>
                  <a:pt x="94" y="94"/>
                </a:cubicBezTo>
                <a:cubicBezTo>
                  <a:pt x="97" y="91"/>
                  <a:pt x="97" y="85"/>
                  <a:pt x="94" y="82"/>
                </a:cubicBezTo>
                <a:close/>
                <a:moveTo>
                  <a:pt x="38" y="64"/>
                </a:moveTo>
                <a:cubicBezTo>
                  <a:pt x="24" y="64"/>
                  <a:pt x="12" y="52"/>
                  <a:pt x="12" y="38"/>
                </a:cubicBezTo>
                <a:cubicBezTo>
                  <a:pt x="12" y="24"/>
                  <a:pt x="24" y="12"/>
                  <a:pt x="38" y="12"/>
                </a:cubicBezTo>
                <a:cubicBezTo>
                  <a:pt x="52" y="12"/>
                  <a:pt x="64" y="24"/>
                  <a:pt x="64" y="38"/>
                </a:cubicBezTo>
                <a:cubicBezTo>
                  <a:pt x="64" y="52"/>
                  <a:pt x="52" y="64"/>
                  <a:pt x="38" y="64"/>
                </a:cubicBezTo>
                <a:close/>
              </a:path>
            </a:pathLst>
          </a:custGeom>
          <a:solidFill>
            <a:srgbClr val="1F3A65"/>
          </a:solidFill>
          <a:ln w="9525">
            <a:noFill/>
          </a:ln>
        </p:spPr>
        <p:txBody>
          <a:bodyPr/>
          <a:p>
            <a:endParaRPr lang="zh-CN" altLang="en-US"/>
          </a:p>
        </p:txBody>
      </p:sp>
      <p:sp>
        <p:nvSpPr>
          <p:cNvPr id="16400" name="文本框 39"/>
          <p:cNvSpPr txBox="1"/>
          <p:nvPr/>
        </p:nvSpPr>
        <p:spPr>
          <a:xfrm>
            <a:off x="1073150" y="230188"/>
            <a:ext cx="4976813" cy="398462"/>
          </a:xfrm>
          <a:prstGeom prst="rect">
            <a:avLst/>
          </a:prstGeom>
          <a:noFill/>
          <a:ln w="9525">
            <a:noFill/>
          </a:ln>
        </p:spPr>
        <p:txBody>
          <a:bodyPr anchor="t" anchorCtr="0">
            <a:spAutoFit/>
          </a:bodyPr>
          <a:p>
            <a:pPr>
              <a:buClrTx/>
              <a:buFontTx/>
            </a:pPr>
            <a:r>
              <a:rPr lang="zh-CN" altLang="zh-CN" sz="2000" b="1" dirty="0">
                <a:solidFill>
                  <a:srgbClr val="1F3A65"/>
                </a:solidFill>
                <a:latin typeface="微软雅黑" panose="020B0503020204020204" pitchFamily="34" charset="-122"/>
                <a:ea typeface="微软雅黑" panose="020B0503020204020204" pitchFamily="34" charset="-122"/>
              </a:rPr>
              <a:t>功能展示</a:t>
            </a:r>
            <a:endParaRPr lang="zh-CN" altLang="zh-CN" sz="2000" b="1" dirty="0">
              <a:solidFill>
                <a:srgbClr val="1F3A65"/>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4378325" y="1724025"/>
            <a:ext cx="0" cy="3789363"/>
          </a:xfrm>
          <a:prstGeom prst="line">
            <a:avLst/>
          </a:prstGeom>
          <a:ln>
            <a:solidFill>
              <a:schemeClr val="accent3">
                <a:lumMod val="7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1"/>
            <a:ext cx="4203699" cy="6858000"/>
          </a:xfrm>
          <a:prstGeom prst="rect">
            <a:avLst/>
          </a:prstGeom>
          <a:blipFill dpi="0" rotWithShape="1">
            <a:blip r:embed="rId1" cstate="print"/>
            <a:srcRect/>
            <a:tile tx="-25400" ty="-508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椭圆 2"/>
          <p:cNvSpPr/>
          <p:nvPr/>
        </p:nvSpPr>
        <p:spPr>
          <a:xfrm>
            <a:off x="1314450" y="2735263"/>
            <a:ext cx="1574800" cy="1574800"/>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800" b="1" i="0" u="none" strike="noStrike" kern="1200" cap="none" spc="0" normalizeH="0" baseline="0" noProof="0" dirty="0">
                <a:ln>
                  <a:noFill/>
                </a:ln>
                <a:solidFill>
                  <a:schemeClr val="lt1"/>
                </a:solidFill>
                <a:effectLst/>
                <a:uLnTx/>
                <a:uFillTx/>
                <a:latin typeface="+mn-lt"/>
                <a:ea typeface="+mn-ea"/>
                <a:cs typeface="+mn-cs"/>
              </a:rPr>
              <a:t>2</a:t>
            </a:r>
            <a:endParaRPr kumimoji="0" lang="zh-CN" altLang="en-US" sz="8800" b="1" i="0" u="none" strike="noStrike" kern="1200" cap="none" spc="0" normalizeH="0" baseline="0" noProof="0" dirty="0">
              <a:ln>
                <a:noFill/>
              </a:ln>
              <a:solidFill>
                <a:schemeClr val="lt1"/>
              </a:solidFill>
              <a:effectLst/>
              <a:uLnTx/>
              <a:uFillTx/>
              <a:latin typeface="+mn-lt"/>
              <a:ea typeface="+mn-ea"/>
              <a:cs typeface="+mn-cs"/>
            </a:endParaRPr>
          </a:p>
        </p:txBody>
      </p:sp>
      <p:sp>
        <p:nvSpPr>
          <p:cNvPr id="7" name="文本框 6"/>
          <p:cNvSpPr txBox="1"/>
          <p:nvPr/>
        </p:nvSpPr>
        <p:spPr>
          <a:xfrm>
            <a:off x="4564063" y="3068638"/>
            <a:ext cx="4373562" cy="1322387"/>
          </a:xfrm>
          <a:prstGeom prst="rect">
            <a:avLst/>
          </a:prstGeom>
          <a:noFill/>
          <a:ln w="9525">
            <a:noFill/>
          </a:ln>
        </p:spPr>
        <p:txBody>
          <a:bodyPr anchor="t" anchorCtr="0">
            <a:spAutoFit/>
          </a:bodyPr>
          <a:p>
            <a:r>
              <a:rPr lang="zh-CN" altLang="en-US" sz="4000" b="1" dirty="0">
                <a:solidFill>
                  <a:srgbClr val="1F3A65"/>
                </a:solidFill>
                <a:latin typeface="微软雅黑" panose="020B0503020204020204" pitchFamily="34" charset="-122"/>
                <a:ea typeface="微软雅黑" panose="020B0503020204020204" pitchFamily="34" charset="-122"/>
              </a:rPr>
              <a:t>利用深度学习技术改进后的人脸识别</a:t>
            </a:r>
            <a:endParaRPr lang="zh-CN" altLang="en-US" sz="4000" b="1" dirty="0">
              <a:solidFill>
                <a:srgbClr val="1F3A65"/>
              </a:solidFill>
              <a:latin typeface="微软雅黑" panose="020B0503020204020204" pitchFamily="34" charset="-122"/>
              <a:ea typeface="微软雅黑" panose="020B0503020204020204" pitchFamily="34" charset="-122"/>
            </a:endParaRPr>
          </a:p>
        </p:txBody>
      </p:sp>
      <p:grpSp>
        <p:nvGrpSpPr>
          <p:cNvPr id="4" name="组合 7"/>
          <p:cNvGrpSpPr>
            <a:grpSpLocks noChangeAspect="1"/>
          </p:cNvGrpSpPr>
          <p:nvPr/>
        </p:nvGrpSpPr>
        <p:grpSpPr>
          <a:xfrm>
            <a:off x="3843338" y="3068638"/>
            <a:ext cx="720725" cy="720725"/>
            <a:chOff x="3728680" y="2447558"/>
            <a:chExt cx="540000" cy="540000"/>
          </a:xfrm>
        </p:grpSpPr>
        <p:sp>
          <p:nvSpPr>
            <p:cNvPr id="10" name="椭圆 9"/>
            <p:cNvSpPr>
              <a:spLocks noChangeAspect="1"/>
            </p:cNvSpPr>
            <p:nvPr/>
          </p:nvSpPr>
          <p:spPr>
            <a:xfrm rot="10800000">
              <a:off x="3728680" y="2447558"/>
              <a:ext cx="540000" cy="540000"/>
            </a:xfrm>
            <a:prstGeom prst="ellipse">
              <a:avLst/>
            </a:prstGeom>
            <a:solidFill>
              <a:srgbClr val="1F3A6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0CF9B"/>
                </a:solidFill>
                <a:effectLst/>
                <a:uLnTx/>
                <a:uFillTx/>
                <a:latin typeface="+mn-lt"/>
                <a:ea typeface="+mn-ea"/>
                <a:cs typeface="+mn-cs"/>
              </a:endParaRPr>
            </a:p>
          </p:txBody>
        </p:sp>
        <p:sp>
          <p:nvSpPr>
            <p:cNvPr id="17414" name="Freeform 479"/>
            <p:cNvSpPr>
              <a:spLocks noChangeAspect="1" noEditPoints="1"/>
            </p:cNvSpPr>
            <p:nvPr/>
          </p:nvSpPr>
          <p:spPr>
            <a:xfrm>
              <a:off x="3849176" y="2598324"/>
              <a:ext cx="306000" cy="238469"/>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2" h="56">
                  <a:moveTo>
                    <a:pt x="72" y="35"/>
                  </a:moveTo>
                  <a:cubicBezTo>
                    <a:pt x="31" y="43"/>
                    <a:pt x="31" y="43"/>
                    <a:pt x="31" y="43"/>
                  </a:cubicBezTo>
                  <a:cubicBezTo>
                    <a:pt x="30" y="47"/>
                    <a:pt x="30" y="50"/>
                    <a:pt x="31" y="53"/>
                  </a:cubicBezTo>
                  <a:cubicBezTo>
                    <a:pt x="71" y="44"/>
                    <a:pt x="71" y="44"/>
                    <a:pt x="71" y="44"/>
                  </a:cubicBezTo>
                  <a:cubicBezTo>
                    <a:pt x="72" y="47"/>
                    <a:pt x="72" y="47"/>
                    <a:pt x="72" y="47"/>
                  </a:cubicBezTo>
                  <a:cubicBezTo>
                    <a:pt x="30" y="56"/>
                    <a:pt x="30" y="56"/>
                    <a:pt x="30" y="56"/>
                  </a:cubicBezTo>
                  <a:cubicBezTo>
                    <a:pt x="29" y="56"/>
                    <a:pt x="29" y="56"/>
                    <a:pt x="29" y="56"/>
                  </a:cubicBezTo>
                  <a:cubicBezTo>
                    <a:pt x="2" y="39"/>
                    <a:pt x="2" y="39"/>
                    <a:pt x="2" y="39"/>
                  </a:cubicBezTo>
                  <a:cubicBezTo>
                    <a:pt x="1" y="36"/>
                    <a:pt x="0" y="32"/>
                    <a:pt x="2" y="29"/>
                  </a:cubicBezTo>
                  <a:cubicBezTo>
                    <a:pt x="5" y="28"/>
                    <a:pt x="5" y="28"/>
                    <a:pt x="5" y="28"/>
                  </a:cubicBezTo>
                  <a:cubicBezTo>
                    <a:pt x="5" y="29"/>
                    <a:pt x="5" y="29"/>
                    <a:pt x="5" y="29"/>
                  </a:cubicBezTo>
                  <a:cubicBezTo>
                    <a:pt x="40" y="37"/>
                    <a:pt x="40" y="37"/>
                    <a:pt x="40" y="37"/>
                  </a:cubicBezTo>
                  <a:cubicBezTo>
                    <a:pt x="40" y="36"/>
                    <a:pt x="40" y="34"/>
                    <a:pt x="40" y="33"/>
                  </a:cubicBezTo>
                  <a:cubicBezTo>
                    <a:pt x="40" y="32"/>
                    <a:pt x="40" y="30"/>
                    <a:pt x="40" y="29"/>
                  </a:cubicBezTo>
                  <a:cubicBezTo>
                    <a:pt x="5" y="22"/>
                    <a:pt x="5" y="22"/>
                    <a:pt x="5" y="22"/>
                  </a:cubicBezTo>
                  <a:cubicBezTo>
                    <a:pt x="5" y="19"/>
                    <a:pt x="5" y="19"/>
                    <a:pt x="5" y="19"/>
                  </a:cubicBezTo>
                  <a:cubicBezTo>
                    <a:pt x="5" y="19"/>
                    <a:pt x="5" y="19"/>
                    <a:pt x="5" y="19"/>
                  </a:cubicBezTo>
                  <a:cubicBezTo>
                    <a:pt x="5" y="19"/>
                    <a:pt x="5" y="19"/>
                    <a:pt x="5" y="19"/>
                  </a:cubicBezTo>
                  <a:cubicBezTo>
                    <a:pt x="5" y="19"/>
                    <a:pt x="5" y="19"/>
                    <a:pt x="5" y="19"/>
                  </a:cubicBezTo>
                  <a:cubicBezTo>
                    <a:pt x="7" y="18"/>
                    <a:pt x="7" y="18"/>
                    <a:pt x="7" y="18"/>
                  </a:cubicBezTo>
                  <a:cubicBezTo>
                    <a:pt x="7" y="16"/>
                    <a:pt x="7" y="16"/>
                    <a:pt x="7" y="16"/>
                  </a:cubicBezTo>
                  <a:cubicBezTo>
                    <a:pt x="40" y="24"/>
                    <a:pt x="40" y="24"/>
                    <a:pt x="40" y="24"/>
                  </a:cubicBezTo>
                  <a:cubicBezTo>
                    <a:pt x="40" y="23"/>
                    <a:pt x="40" y="22"/>
                    <a:pt x="40" y="21"/>
                  </a:cubicBezTo>
                  <a:cubicBezTo>
                    <a:pt x="40" y="19"/>
                    <a:pt x="40" y="18"/>
                    <a:pt x="40" y="17"/>
                  </a:cubicBezTo>
                  <a:cubicBezTo>
                    <a:pt x="7" y="9"/>
                    <a:pt x="7" y="9"/>
                    <a:pt x="7" y="9"/>
                  </a:cubicBezTo>
                  <a:cubicBezTo>
                    <a:pt x="7" y="6"/>
                    <a:pt x="7" y="6"/>
                    <a:pt x="7" y="6"/>
                  </a:cubicBezTo>
                  <a:cubicBezTo>
                    <a:pt x="33" y="0"/>
                    <a:pt x="33" y="0"/>
                    <a:pt x="33" y="0"/>
                  </a:cubicBezTo>
                  <a:cubicBezTo>
                    <a:pt x="63" y="6"/>
                    <a:pt x="63" y="6"/>
                    <a:pt x="63" y="6"/>
                  </a:cubicBezTo>
                  <a:cubicBezTo>
                    <a:pt x="64" y="9"/>
                    <a:pt x="64" y="11"/>
                    <a:pt x="63" y="14"/>
                  </a:cubicBezTo>
                  <a:cubicBezTo>
                    <a:pt x="60" y="15"/>
                    <a:pt x="60" y="15"/>
                    <a:pt x="60" y="15"/>
                  </a:cubicBezTo>
                  <a:cubicBezTo>
                    <a:pt x="64" y="16"/>
                    <a:pt x="64" y="16"/>
                    <a:pt x="64" y="16"/>
                  </a:cubicBezTo>
                  <a:cubicBezTo>
                    <a:pt x="66" y="19"/>
                    <a:pt x="66" y="22"/>
                    <a:pt x="64" y="25"/>
                  </a:cubicBezTo>
                  <a:cubicBezTo>
                    <a:pt x="58" y="29"/>
                    <a:pt x="58" y="29"/>
                    <a:pt x="58" y="29"/>
                  </a:cubicBezTo>
                  <a:cubicBezTo>
                    <a:pt x="72" y="33"/>
                    <a:pt x="72" y="33"/>
                    <a:pt x="72" y="33"/>
                  </a:cubicBezTo>
                  <a:cubicBezTo>
                    <a:pt x="72" y="35"/>
                    <a:pt x="72" y="35"/>
                    <a:pt x="72" y="35"/>
                  </a:cubicBezTo>
                  <a:close/>
                  <a:moveTo>
                    <a:pt x="33" y="50"/>
                  </a:moveTo>
                  <a:cubicBezTo>
                    <a:pt x="33" y="50"/>
                    <a:pt x="33" y="50"/>
                    <a:pt x="33" y="50"/>
                  </a:cubicBezTo>
                  <a:cubicBezTo>
                    <a:pt x="70" y="43"/>
                    <a:pt x="70" y="43"/>
                    <a:pt x="70" y="43"/>
                  </a:cubicBezTo>
                  <a:cubicBezTo>
                    <a:pt x="70" y="42"/>
                    <a:pt x="70" y="42"/>
                    <a:pt x="70" y="42"/>
                  </a:cubicBezTo>
                  <a:cubicBezTo>
                    <a:pt x="33" y="50"/>
                    <a:pt x="33" y="50"/>
                    <a:pt x="33" y="50"/>
                  </a:cubicBezTo>
                  <a:close/>
                  <a:moveTo>
                    <a:pt x="33" y="47"/>
                  </a:moveTo>
                  <a:cubicBezTo>
                    <a:pt x="33" y="48"/>
                    <a:pt x="33" y="48"/>
                    <a:pt x="33" y="48"/>
                  </a:cubicBezTo>
                  <a:cubicBezTo>
                    <a:pt x="70" y="40"/>
                    <a:pt x="70" y="40"/>
                    <a:pt x="70" y="40"/>
                  </a:cubicBezTo>
                  <a:cubicBezTo>
                    <a:pt x="70" y="39"/>
                    <a:pt x="70" y="39"/>
                    <a:pt x="70" y="39"/>
                  </a:cubicBezTo>
                  <a:cubicBezTo>
                    <a:pt x="33" y="47"/>
                    <a:pt x="33" y="47"/>
                    <a:pt x="33" y="47"/>
                  </a:cubicBezTo>
                  <a:close/>
                  <a:moveTo>
                    <a:pt x="32" y="45"/>
                  </a:moveTo>
                  <a:cubicBezTo>
                    <a:pt x="33" y="46"/>
                    <a:pt x="33" y="46"/>
                    <a:pt x="33" y="46"/>
                  </a:cubicBezTo>
                  <a:cubicBezTo>
                    <a:pt x="70" y="38"/>
                    <a:pt x="70" y="38"/>
                    <a:pt x="70" y="38"/>
                  </a:cubicBezTo>
                  <a:cubicBezTo>
                    <a:pt x="70" y="37"/>
                    <a:pt x="70" y="37"/>
                    <a:pt x="70" y="37"/>
                  </a:cubicBezTo>
                  <a:lnTo>
                    <a:pt x="32" y="45"/>
                  </a:lnTo>
                  <a:close/>
                </a:path>
              </a:pathLst>
            </a:custGeom>
            <a:solidFill>
              <a:schemeClr val="bg1"/>
            </a:solidFill>
            <a:ln w="9525">
              <a:noFill/>
            </a:ln>
          </p:spPr>
          <p:txBody>
            <a:bodyPr/>
            <a:p>
              <a:endParaRPr lang="zh-CN" altLang="en-US"/>
            </a:p>
          </p:txBody>
        </p:sp>
      </p:grpSp>
      <p:pic>
        <p:nvPicPr>
          <p:cNvPr id="17415" name="图片 7"/>
          <p:cNvPicPr>
            <a:picLocks noChangeAspect="1"/>
          </p:cNvPicPr>
          <p:nvPr/>
        </p:nvPicPr>
        <p:blipFill>
          <a:blip r:embed="rId2"/>
          <a:stretch>
            <a:fillRect/>
          </a:stretch>
        </p:blipFill>
        <p:spPr>
          <a:xfrm>
            <a:off x="835025" y="1308100"/>
            <a:ext cx="2762250" cy="695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 fill="hold"/>
                                        <p:tgtEl>
                                          <p:spTgt spid="3"/>
                                        </p:tgtEl>
                                        <p:attrNameLst>
                                          <p:attrName>ppt_w</p:attrName>
                                        </p:attrNameLst>
                                      </p:cBhvr>
                                      <p:tavLst>
                                        <p:tav tm="0">
                                          <p:val>
                                            <p:fltVal val="0.000000"/>
                                          </p:val>
                                        </p:tav>
                                        <p:tav tm="100000">
                                          <p:val>
                                            <p:strVal val="#ppt_w"/>
                                          </p:val>
                                        </p:tav>
                                      </p:tavLst>
                                    </p:anim>
                                    <p:anim calcmode="lin" valueType="num">
                                      <p:cBhvr>
                                        <p:cTn id="8" dur="250" fill="hold"/>
                                        <p:tgtEl>
                                          <p:spTgt spid="3"/>
                                        </p:tgtEl>
                                        <p:attrNameLst>
                                          <p:attrName>ppt_h</p:attrName>
                                        </p:attrNameLst>
                                      </p:cBhvr>
                                      <p:tavLst>
                                        <p:tav tm="0">
                                          <p:val>
                                            <p:fltVal val="0.000000"/>
                                          </p:val>
                                        </p:tav>
                                        <p:tav tm="100000">
                                          <p:val>
                                            <p:strVal val="#ppt_h"/>
                                          </p:val>
                                        </p:tav>
                                      </p:tavLst>
                                    </p:anim>
                                    <p:animEffect transition="in" filter="fade">
                                      <p:cBhvr>
                                        <p:cTn id="9" dur="250"/>
                                        <p:tgtEl>
                                          <p:spTgt spid="3"/>
                                        </p:tgtEl>
                                      </p:cBhvr>
                                    </p:animEffect>
                                  </p:childTnLst>
                                </p:cTn>
                              </p:par>
                              <p:par>
                                <p:cTn id="10" presetID="6" presetClass="emph" presetSubtype="0" autoRev="1" fill="hold" grpId="1" nodeType="withEffect">
                                  <p:stCondLst>
                                    <p:cond delay="240"/>
                                  </p:stCondLst>
                                  <p:childTnLst>
                                    <p:animScale>
                                      <p:cBhvr>
                                        <p:cTn id="11" dur="150" fill="hold"/>
                                        <p:tgtEl>
                                          <p:spTgt spid="3"/>
                                        </p:tgtEl>
                                      </p:cBhvr>
                                      <p:by x="110000" y="110000"/>
                                    </p:animScale>
                                  </p:childTnLst>
                                </p:cTn>
                              </p:par>
                              <p:par>
                                <p:cTn id="12" presetID="53" presetClass="entr" presetSubtype="16" fill="hold" nodeType="withEffect">
                                  <p:stCondLst>
                                    <p:cond delay="540"/>
                                  </p:stCondLst>
                                  <p:childTnLst>
                                    <p:set>
                                      <p:cBhvr>
                                        <p:cTn id="13" dur="1" fill="hold">
                                          <p:stCondLst>
                                            <p:cond delay="0"/>
                                          </p:stCondLst>
                                        </p:cTn>
                                        <p:tgtEl>
                                          <p:spTgt spid="4"/>
                                        </p:tgtEl>
                                        <p:attrNameLst>
                                          <p:attrName>style.visibility</p:attrName>
                                        </p:attrNameLst>
                                      </p:cBhvr>
                                      <p:to>
                                        <p:strVal val="visible"/>
                                      </p:to>
                                    </p:set>
                                    <p:anim calcmode="lin" valueType="num">
                                      <p:cBhvr>
                                        <p:cTn id="14" dur="250" fill="hold"/>
                                        <p:tgtEl>
                                          <p:spTgt spid="4"/>
                                        </p:tgtEl>
                                        <p:attrNameLst>
                                          <p:attrName>ppt_w</p:attrName>
                                        </p:attrNameLst>
                                      </p:cBhvr>
                                      <p:tavLst>
                                        <p:tav tm="0">
                                          <p:val>
                                            <p:fltVal val="0.000000"/>
                                          </p:val>
                                        </p:tav>
                                        <p:tav tm="100000">
                                          <p:val>
                                            <p:strVal val="#ppt_w"/>
                                          </p:val>
                                        </p:tav>
                                      </p:tavLst>
                                    </p:anim>
                                    <p:anim calcmode="lin" valueType="num">
                                      <p:cBhvr>
                                        <p:cTn id="15" dur="250" fill="hold"/>
                                        <p:tgtEl>
                                          <p:spTgt spid="4"/>
                                        </p:tgtEl>
                                        <p:attrNameLst>
                                          <p:attrName>ppt_h</p:attrName>
                                        </p:attrNameLst>
                                      </p:cBhvr>
                                      <p:tavLst>
                                        <p:tav tm="0">
                                          <p:val>
                                            <p:fltVal val="0.000000"/>
                                          </p:val>
                                        </p:tav>
                                        <p:tav tm="100000">
                                          <p:val>
                                            <p:strVal val="#ppt_h"/>
                                          </p:val>
                                        </p:tav>
                                      </p:tavLst>
                                    </p:anim>
                                    <p:animEffect transition="in" filter="fade">
                                      <p:cBhvr>
                                        <p:cTn id="16" dur="250"/>
                                        <p:tgtEl>
                                          <p:spTgt spid="4"/>
                                        </p:tgtEl>
                                      </p:cBhvr>
                                    </p:animEffect>
                                  </p:childTnLst>
                                </p:cTn>
                              </p:par>
                              <p:par>
                                <p:cTn id="17" presetID="6" presetClass="emph" presetSubtype="0" autoRev="1" fill="hold" nodeType="withEffect">
                                  <p:stCondLst>
                                    <p:cond delay="780"/>
                                  </p:stCondLst>
                                  <p:childTnLst>
                                    <p:animScale>
                                      <p:cBhvr>
                                        <p:cTn id="18" dur="150" fill="hold"/>
                                        <p:tgtEl>
                                          <p:spTgt spid="4"/>
                                        </p:tgtEl>
                                      </p:cBhvr>
                                      <p:by x="120000" y="120000"/>
                                    </p:animScale>
                                  </p:childTnLst>
                                </p:cTn>
                              </p:par>
                              <p:par>
                                <p:cTn id="19" presetID="2" presetClass="entr" presetSubtype="2"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1+#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等腰三角形 5"/>
          <p:cNvSpPr/>
          <p:nvPr/>
        </p:nvSpPr>
        <p:spPr>
          <a:xfrm>
            <a:off x="4276725" y="5108575"/>
            <a:ext cx="590550" cy="508000"/>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圆角矩形 7"/>
          <p:cNvSpPr/>
          <p:nvPr/>
        </p:nvSpPr>
        <p:spPr>
          <a:xfrm rot="-180000">
            <a:off x="365125" y="4949825"/>
            <a:ext cx="8413750" cy="95250"/>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8435" name="组合 6"/>
          <p:cNvGrpSpPr/>
          <p:nvPr/>
        </p:nvGrpSpPr>
        <p:grpSpPr>
          <a:xfrm>
            <a:off x="682625" y="1709738"/>
            <a:ext cx="3240088" cy="3240087"/>
            <a:chOff x="682505" y="1588039"/>
            <a:chExt cx="3240000" cy="3240000"/>
          </a:xfrm>
        </p:grpSpPr>
        <p:sp>
          <p:nvSpPr>
            <p:cNvPr id="9" name="椭圆 8"/>
            <p:cNvSpPr>
              <a:spLocks noChangeAspect="1"/>
            </p:cNvSpPr>
            <p:nvPr/>
          </p:nvSpPr>
          <p:spPr>
            <a:xfrm>
              <a:off x="682505" y="1588039"/>
              <a:ext cx="3240000" cy="3240000"/>
            </a:xfrm>
            <a:prstGeom prst="ellipse">
              <a:avLst/>
            </a:prstGeom>
            <a:blipFill dpi="0" rotWithShape="1">
              <a:blip r:embed="rId1" cstate="print"/>
              <a:srcRect/>
              <a:tile tx="-25400" ty="-508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37" name="文本框 16"/>
            <p:cNvSpPr txBox="1"/>
            <p:nvPr/>
          </p:nvSpPr>
          <p:spPr>
            <a:xfrm>
              <a:off x="705675" y="2552130"/>
              <a:ext cx="3193661" cy="1370928"/>
            </a:xfrm>
            <a:prstGeom prst="rect">
              <a:avLst/>
            </a:prstGeom>
            <a:noFill/>
            <a:ln w="9525">
              <a:noFill/>
            </a:ln>
          </p:spPr>
          <p:txBody>
            <a:bodyPr anchor="t" anchorCtr="0">
              <a:spAutoFit/>
            </a:bodyPr>
            <a:p>
              <a:pPr marL="176530" algn="ctr">
                <a:lnSpc>
                  <a:spcPct val="130000"/>
                </a:lnSpc>
              </a:pPr>
              <a:r>
                <a:rPr lang="zh-CN" altLang="zh-CN" sz="1600" dirty="0">
                  <a:solidFill>
                    <a:schemeClr val="bg1"/>
                  </a:solidFill>
                  <a:latin typeface="微软雅黑" panose="020B0503020204020204" pitchFamily="34" charset="-122"/>
                  <a:ea typeface="微软雅黑" panose="020B0503020204020204" pitchFamily="34" charset="-122"/>
                </a:rPr>
                <a:t>采用机器学习技术，只能识别出人脸区域，但并不能识别出该区域的人是谁，且经常出现人脸区域识别错误的情况</a:t>
              </a:r>
              <a:endParaRPr lang="zh-CN" altLang="zh-CN" sz="1600"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373049" y="2424629"/>
              <a:ext cx="18589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439" name="文本框 4"/>
            <p:cNvSpPr txBox="1"/>
            <p:nvPr/>
          </p:nvSpPr>
          <p:spPr>
            <a:xfrm>
              <a:off x="1156497" y="1919064"/>
              <a:ext cx="2382295" cy="829923"/>
            </a:xfrm>
            <a:prstGeom prst="rect">
              <a:avLst/>
            </a:prstGeom>
            <a:noFill/>
            <a:ln w="9525">
              <a:noFill/>
            </a:ln>
          </p:spPr>
          <p:txBody>
            <a:bodyPr anchor="t" anchorCtr="0">
              <a:spAutoFit/>
            </a:bodyPr>
            <a:p>
              <a:pPr algn="ctr"/>
              <a:r>
                <a:rPr lang="en-US" altLang="zh-CN" sz="2400" b="1" dirty="0">
                  <a:solidFill>
                    <a:schemeClr val="bg1"/>
                  </a:solidFill>
                  <a:latin typeface="微软雅黑" panose="020B0503020204020204" pitchFamily="34" charset="-122"/>
                  <a:ea typeface="微软雅黑" panose="020B0503020204020204" pitchFamily="34" charset="-122"/>
                </a:rPr>
                <a:t>OpenCV</a:t>
              </a:r>
              <a:r>
                <a:rPr lang="zh-CN" altLang="en-US" sz="2400" b="1" dirty="0">
                  <a:solidFill>
                    <a:schemeClr val="bg1"/>
                  </a:solidFill>
                  <a:latin typeface="微软雅黑" panose="020B0503020204020204" pitchFamily="34" charset="-122"/>
                  <a:ea typeface="微软雅黑" panose="020B0503020204020204" pitchFamily="34" charset="-122"/>
                </a:rPr>
                <a:t>特征提取</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级联分类器</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8440" name="组合 23"/>
          <p:cNvGrpSpPr/>
          <p:nvPr/>
        </p:nvGrpSpPr>
        <p:grpSpPr>
          <a:xfrm>
            <a:off x="5407025" y="1466850"/>
            <a:ext cx="3240088" cy="3238500"/>
            <a:chOff x="682505" y="1588039"/>
            <a:chExt cx="3240000" cy="3240000"/>
          </a:xfrm>
        </p:grpSpPr>
        <p:sp>
          <p:nvSpPr>
            <p:cNvPr id="25" name="椭圆 24"/>
            <p:cNvSpPr>
              <a:spLocks noChangeAspect="1"/>
            </p:cNvSpPr>
            <p:nvPr/>
          </p:nvSpPr>
          <p:spPr>
            <a:xfrm>
              <a:off x="682505" y="1588039"/>
              <a:ext cx="3240000" cy="3240000"/>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25"/>
            <p:cNvSpPr txBox="1"/>
            <p:nvPr/>
          </p:nvSpPr>
          <p:spPr>
            <a:xfrm>
              <a:off x="705675" y="2552130"/>
              <a:ext cx="3193661" cy="1691788"/>
            </a:xfrm>
            <a:prstGeom prst="rect">
              <a:avLst/>
            </a:prstGeom>
            <a:noFill/>
            <a:ln w="9525">
              <a:noFill/>
            </a:ln>
          </p:spPr>
          <p:txBody>
            <a:bodyPr anchor="t" anchorCtr="0">
              <a:spAutoFit/>
            </a:bodyPr>
            <a:p>
              <a:pPr marL="176530" algn="ctr">
                <a:lnSpc>
                  <a:spcPct val="130000"/>
                </a:lnSpc>
              </a:pPr>
              <a:r>
                <a:rPr lang="zh-CN" altLang="zh-CN" sz="1600" dirty="0">
                  <a:solidFill>
                    <a:schemeClr val="bg1"/>
                  </a:solidFill>
                  <a:latin typeface="微软雅黑" panose="020B0503020204020204" pitchFamily="34" charset="-122"/>
                  <a:ea typeface="微软雅黑" panose="020B0503020204020204" pitchFamily="34" charset="-122"/>
                </a:rPr>
                <a:t>采用大量的数据进行训练，得出来的模型可以针对需求得到一个较好的结果，并且识别出区域的人脸是谁的问题也能够解决，并且识别效果好</a:t>
              </a:r>
              <a:endParaRPr lang="zh-CN" altLang="zh-CN" sz="1600" dirty="0">
                <a:solidFill>
                  <a:schemeClr val="bg1"/>
                </a:solidFill>
                <a:latin typeface="微软雅黑" panose="020B0503020204020204" pitchFamily="34" charset="-122"/>
                <a:ea typeface="微软雅黑" panose="020B0503020204020204" pitchFamily="34" charset="-122"/>
              </a:endParaRPr>
            </a:p>
          </p:txBody>
        </p:sp>
        <p:cxnSp>
          <p:nvCxnSpPr>
            <p:cNvPr id="27" name="直接连接符 26"/>
            <p:cNvCxnSpPr/>
            <p:nvPr/>
          </p:nvCxnSpPr>
          <p:spPr>
            <a:xfrm>
              <a:off x="1373049" y="2423451"/>
              <a:ext cx="18589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444" name="文本框 27"/>
            <p:cNvSpPr txBox="1"/>
            <p:nvPr/>
          </p:nvSpPr>
          <p:spPr>
            <a:xfrm>
              <a:off x="1386841" y="1898596"/>
              <a:ext cx="1806572" cy="830329"/>
            </a:xfrm>
            <a:prstGeom prst="rect">
              <a:avLst/>
            </a:prstGeom>
            <a:noFill/>
            <a:ln w="9525">
              <a:noFill/>
            </a:ln>
          </p:spPr>
          <p:txBody>
            <a:bodyPr anchor="t" anchorCtr="0">
              <a:spAutoFit/>
            </a:bodyPr>
            <a:p>
              <a:pPr algn="ctr"/>
              <a:r>
                <a:rPr lang="en-US" altLang="zh-CN" sz="2400" b="1" dirty="0">
                  <a:solidFill>
                    <a:schemeClr val="bg1"/>
                  </a:solidFill>
                  <a:latin typeface="微软雅黑" panose="020B0503020204020204" pitchFamily="34" charset="-122"/>
                  <a:ea typeface="微软雅黑" panose="020B0503020204020204" pitchFamily="34" charset="-122"/>
                </a:rPr>
                <a:t>Deeplearning</a:t>
              </a:r>
              <a:r>
                <a:rPr lang="zh-CN" altLang="en-US" sz="2400" b="1" dirty="0">
                  <a:solidFill>
                    <a:schemeClr val="bg1"/>
                  </a:solidFill>
                  <a:latin typeface="微软雅黑" panose="020B0503020204020204" pitchFamily="34" charset="-122"/>
                  <a:ea typeface="微软雅黑" panose="020B0503020204020204" pitchFamily="34" charset="-122"/>
                </a:rPr>
                <a:t>技术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cxnSp>
        <p:nvCxnSpPr>
          <p:cNvPr id="16" name="直接连接符 1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73150" y="230188"/>
            <a:ext cx="6883400" cy="398463"/>
          </a:xfrm>
          <a:prstGeom prst="rect">
            <a:avLst/>
          </a:prstGeom>
          <a:noFill/>
        </p:spPr>
        <p:txBody>
          <a:bodyPr>
            <a:spAutoFit/>
          </a:bodyPr>
          <a:lstStyle/>
          <a:p>
            <a:pPr marR="0" defTabSz="914400" fontAlgn="auto">
              <a:spcBef>
                <a:spcPts val="0"/>
              </a:spcBef>
              <a:spcAft>
                <a:spcPts val="0"/>
              </a:spcAft>
              <a:buClrTx/>
              <a:buSzTx/>
              <a:buFontTx/>
              <a:buNone/>
              <a:defRPr/>
            </a:pPr>
            <a:r>
              <a:rPr kumimoji="0" lang="zh-CN" altLang="en-US" kern="1200" cap="none" spc="0" normalizeH="0" baseline="0" noProof="0" dirty="0">
                <a:solidFill>
                  <a:schemeClr val="accent3">
                    <a:lumMod val="60000"/>
                    <a:lumOff val="40000"/>
                  </a:schemeClr>
                </a:solidFill>
                <a:latin typeface="+mn-lt"/>
                <a:ea typeface="+mn-ea"/>
                <a:cs typeface="+mn-cs"/>
              </a:rPr>
              <a:t>人脸识别技术对比</a:t>
            </a:r>
            <a:endParaRPr kumimoji="0" lang="zh-CN" altLang="en-US" sz="2000" b="1" kern="1200" cap="none" spc="0" normalizeH="0" baseline="0" noProof="0" dirty="0">
              <a:solidFill>
                <a:srgbClr val="1F3A65"/>
              </a:solidFill>
              <a:latin typeface="+mn-lt"/>
              <a:ea typeface="+mn-ea"/>
              <a:cs typeface="+mn-cs"/>
            </a:endParaRPr>
          </a:p>
        </p:txBody>
      </p:sp>
      <p:sp>
        <p:nvSpPr>
          <p:cNvPr id="18447" name="Freeform 479"/>
          <p:cNvSpPr>
            <a:spLocks noChangeAspect="1" noEditPoints="1"/>
          </p:cNvSpPr>
          <p:nvPr/>
        </p:nvSpPr>
        <p:spPr>
          <a:xfrm>
            <a:off x="385763" y="360363"/>
            <a:ext cx="555625" cy="433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2" h="56">
                <a:moveTo>
                  <a:pt x="72" y="35"/>
                </a:moveTo>
                <a:cubicBezTo>
                  <a:pt x="31" y="43"/>
                  <a:pt x="31" y="43"/>
                  <a:pt x="31" y="43"/>
                </a:cubicBezTo>
                <a:cubicBezTo>
                  <a:pt x="30" y="47"/>
                  <a:pt x="30" y="50"/>
                  <a:pt x="31" y="53"/>
                </a:cubicBezTo>
                <a:cubicBezTo>
                  <a:pt x="71" y="44"/>
                  <a:pt x="71" y="44"/>
                  <a:pt x="71" y="44"/>
                </a:cubicBezTo>
                <a:cubicBezTo>
                  <a:pt x="72" y="47"/>
                  <a:pt x="72" y="47"/>
                  <a:pt x="72" y="47"/>
                </a:cubicBezTo>
                <a:cubicBezTo>
                  <a:pt x="30" y="56"/>
                  <a:pt x="30" y="56"/>
                  <a:pt x="30" y="56"/>
                </a:cubicBezTo>
                <a:cubicBezTo>
                  <a:pt x="29" y="56"/>
                  <a:pt x="29" y="56"/>
                  <a:pt x="29" y="56"/>
                </a:cubicBezTo>
                <a:cubicBezTo>
                  <a:pt x="2" y="39"/>
                  <a:pt x="2" y="39"/>
                  <a:pt x="2" y="39"/>
                </a:cubicBezTo>
                <a:cubicBezTo>
                  <a:pt x="1" y="36"/>
                  <a:pt x="0" y="32"/>
                  <a:pt x="2" y="29"/>
                </a:cubicBezTo>
                <a:cubicBezTo>
                  <a:pt x="5" y="28"/>
                  <a:pt x="5" y="28"/>
                  <a:pt x="5" y="28"/>
                </a:cubicBezTo>
                <a:cubicBezTo>
                  <a:pt x="5" y="29"/>
                  <a:pt x="5" y="29"/>
                  <a:pt x="5" y="29"/>
                </a:cubicBezTo>
                <a:cubicBezTo>
                  <a:pt x="40" y="37"/>
                  <a:pt x="40" y="37"/>
                  <a:pt x="40" y="37"/>
                </a:cubicBezTo>
                <a:cubicBezTo>
                  <a:pt x="40" y="36"/>
                  <a:pt x="40" y="34"/>
                  <a:pt x="40" y="33"/>
                </a:cubicBezTo>
                <a:cubicBezTo>
                  <a:pt x="40" y="32"/>
                  <a:pt x="40" y="30"/>
                  <a:pt x="40" y="29"/>
                </a:cubicBezTo>
                <a:cubicBezTo>
                  <a:pt x="5" y="22"/>
                  <a:pt x="5" y="22"/>
                  <a:pt x="5" y="22"/>
                </a:cubicBezTo>
                <a:cubicBezTo>
                  <a:pt x="5" y="19"/>
                  <a:pt x="5" y="19"/>
                  <a:pt x="5" y="19"/>
                </a:cubicBezTo>
                <a:cubicBezTo>
                  <a:pt x="5" y="19"/>
                  <a:pt x="5" y="19"/>
                  <a:pt x="5" y="19"/>
                </a:cubicBezTo>
                <a:cubicBezTo>
                  <a:pt x="5" y="19"/>
                  <a:pt x="5" y="19"/>
                  <a:pt x="5" y="19"/>
                </a:cubicBezTo>
                <a:cubicBezTo>
                  <a:pt x="5" y="19"/>
                  <a:pt x="5" y="19"/>
                  <a:pt x="5" y="19"/>
                </a:cubicBezTo>
                <a:cubicBezTo>
                  <a:pt x="7" y="18"/>
                  <a:pt x="7" y="18"/>
                  <a:pt x="7" y="18"/>
                </a:cubicBezTo>
                <a:cubicBezTo>
                  <a:pt x="7" y="16"/>
                  <a:pt x="7" y="16"/>
                  <a:pt x="7" y="16"/>
                </a:cubicBezTo>
                <a:cubicBezTo>
                  <a:pt x="40" y="24"/>
                  <a:pt x="40" y="24"/>
                  <a:pt x="40" y="24"/>
                </a:cubicBezTo>
                <a:cubicBezTo>
                  <a:pt x="40" y="23"/>
                  <a:pt x="40" y="22"/>
                  <a:pt x="40" y="21"/>
                </a:cubicBezTo>
                <a:cubicBezTo>
                  <a:pt x="40" y="19"/>
                  <a:pt x="40" y="18"/>
                  <a:pt x="40" y="17"/>
                </a:cubicBezTo>
                <a:cubicBezTo>
                  <a:pt x="7" y="9"/>
                  <a:pt x="7" y="9"/>
                  <a:pt x="7" y="9"/>
                </a:cubicBezTo>
                <a:cubicBezTo>
                  <a:pt x="7" y="6"/>
                  <a:pt x="7" y="6"/>
                  <a:pt x="7" y="6"/>
                </a:cubicBezTo>
                <a:cubicBezTo>
                  <a:pt x="33" y="0"/>
                  <a:pt x="33" y="0"/>
                  <a:pt x="33" y="0"/>
                </a:cubicBezTo>
                <a:cubicBezTo>
                  <a:pt x="63" y="6"/>
                  <a:pt x="63" y="6"/>
                  <a:pt x="63" y="6"/>
                </a:cubicBezTo>
                <a:cubicBezTo>
                  <a:pt x="64" y="9"/>
                  <a:pt x="64" y="11"/>
                  <a:pt x="63" y="14"/>
                </a:cubicBezTo>
                <a:cubicBezTo>
                  <a:pt x="60" y="15"/>
                  <a:pt x="60" y="15"/>
                  <a:pt x="60" y="15"/>
                </a:cubicBezTo>
                <a:cubicBezTo>
                  <a:pt x="64" y="16"/>
                  <a:pt x="64" y="16"/>
                  <a:pt x="64" y="16"/>
                </a:cubicBezTo>
                <a:cubicBezTo>
                  <a:pt x="66" y="19"/>
                  <a:pt x="66" y="22"/>
                  <a:pt x="64" y="25"/>
                </a:cubicBezTo>
                <a:cubicBezTo>
                  <a:pt x="58" y="29"/>
                  <a:pt x="58" y="29"/>
                  <a:pt x="58" y="29"/>
                </a:cubicBezTo>
                <a:cubicBezTo>
                  <a:pt x="72" y="33"/>
                  <a:pt x="72" y="33"/>
                  <a:pt x="72" y="33"/>
                </a:cubicBezTo>
                <a:cubicBezTo>
                  <a:pt x="72" y="35"/>
                  <a:pt x="72" y="35"/>
                  <a:pt x="72" y="35"/>
                </a:cubicBezTo>
                <a:close/>
                <a:moveTo>
                  <a:pt x="33" y="50"/>
                </a:moveTo>
                <a:cubicBezTo>
                  <a:pt x="33" y="50"/>
                  <a:pt x="33" y="50"/>
                  <a:pt x="33" y="50"/>
                </a:cubicBezTo>
                <a:cubicBezTo>
                  <a:pt x="70" y="43"/>
                  <a:pt x="70" y="43"/>
                  <a:pt x="70" y="43"/>
                </a:cubicBezTo>
                <a:cubicBezTo>
                  <a:pt x="70" y="42"/>
                  <a:pt x="70" y="42"/>
                  <a:pt x="70" y="42"/>
                </a:cubicBezTo>
                <a:cubicBezTo>
                  <a:pt x="33" y="50"/>
                  <a:pt x="33" y="50"/>
                  <a:pt x="33" y="50"/>
                </a:cubicBezTo>
                <a:close/>
                <a:moveTo>
                  <a:pt x="33" y="47"/>
                </a:moveTo>
                <a:cubicBezTo>
                  <a:pt x="33" y="48"/>
                  <a:pt x="33" y="48"/>
                  <a:pt x="33" y="48"/>
                </a:cubicBezTo>
                <a:cubicBezTo>
                  <a:pt x="70" y="40"/>
                  <a:pt x="70" y="40"/>
                  <a:pt x="70" y="40"/>
                </a:cubicBezTo>
                <a:cubicBezTo>
                  <a:pt x="70" y="39"/>
                  <a:pt x="70" y="39"/>
                  <a:pt x="70" y="39"/>
                </a:cubicBezTo>
                <a:cubicBezTo>
                  <a:pt x="33" y="47"/>
                  <a:pt x="33" y="47"/>
                  <a:pt x="33" y="47"/>
                </a:cubicBezTo>
                <a:close/>
                <a:moveTo>
                  <a:pt x="32" y="45"/>
                </a:moveTo>
                <a:cubicBezTo>
                  <a:pt x="33" y="46"/>
                  <a:pt x="33" y="46"/>
                  <a:pt x="33" y="46"/>
                </a:cubicBezTo>
                <a:cubicBezTo>
                  <a:pt x="70" y="38"/>
                  <a:pt x="70" y="38"/>
                  <a:pt x="70" y="38"/>
                </a:cubicBezTo>
                <a:cubicBezTo>
                  <a:pt x="70" y="37"/>
                  <a:pt x="70" y="37"/>
                  <a:pt x="70" y="37"/>
                </a:cubicBezTo>
                <a:lnTo>
                  <a:pt x="32" y="45"/>
                </a:lnTo>
                <a:close/>
              </a:path>
            </a:pathLst>
          </a:custGeom>
          <a:solidFill>
            <a:srgbClr val="1F3A65"/>
          </a:solidFill>
          <a:ln w="9525">
            <a:noFill/>
          </a:ln>
        </p:spPr>
        <p:txBody>
          <a:bodyPr/>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481" name="组合 60"/>
          <p:cNvGrpSpPr/>
          <p:nvPr/>
        </p:nvGrpSpPr>
        <p:grpSpPr>
          <a:xfrm>
            <a:off x="1703388" y="1189355"/>
            <a:ext cx="5931534" cy="1935752"/>
            <a:chOff x="2274769" y="1601432"/>
            <a:chExt cx="5931694" cy="1935302"/>
          </a:xfrm>
        </p:grpSpPr>
        <p:sp>
          <p:nvSpPr>
            <p:cNvPr id="20482" name="文本框 58"/>
            <p:cNvSpPr txBox="1"/>
            <p:nvPr/>
          </p:nvSpPr>
          <p:spPr>
            <a:xfrm>
              <a:off x="2403677" y="1601432"/>
              <a:ext cx="5802786" cy="368214"/>
            </a:xfrm>
            <a:prstGeom prst="rect">
              <a:avLst/>
            </a:prstGeom>
            <a:noFill/>
            <a:ln w="9525">
              <a:noFill/>
            </a:ln>
          </p:spPr>
          <p:txBody>
            <a:bodyPr wrap="square" anchor="t" anchorCtr="0">
              <a:spAutoFit/>
            </a:bodyPr>
            <a:p>
              <a:r>
                <a:rPr lang="en-US" altLang="zh-CN" b="1" dirty="0">
                  <a:latin typeface="微软雅黑" panose="020B0503020204020204" pitchFamily="34" charset="-122"/>
                  <a:ea typeface="微软雅黑" panose="020B0503020204020204" pitchFamily="34" charset="-122"/>
                </a:rPr>
                <a:t>WhyCNN</a:t>
              </a:r>
              <a:r>
                <a:rPr lang="zh-CN" altLang="en-US" b="1" dirty="0">
                  <a:latin typeface="微软雅黑" panose="020B0503020204020204" pitchFamily="34" charset="-122"/>
                  <a:ea typeface="微软雅黑" panose="020B0503020204020204" pitchFamily="34" charset="-122"/>
                </a:rPr>
                <a:t>？现有的技术</a:t>
              </a:r>
              <a:r>
                <a:rPr lang="en-US" altLang="zh-CN" b="1" dirty="0">
                  <a:latin typeface="微软雅黑" panose="020B0503020204020204" pitchFamily="34" charset="-122"/>
                  <a:ea typeface="微软雅黑" panose="020B0503020204020204" pitchFamily="34" charset="-122"/>
                </a:rPr>
                <a:t>-CNN,RNN,Transformer</a:t>
              </a:r>
              <a:endParaRPr lang="en-US" altLang="zh-CN" b="1" dirty="0">
                <a:latin typeface="微软雅黑" panose="020B0503020204020204" pitchFamily="34" charset="-122"/>
                <a:ea typeface="微软雅黑" panose="020B0503020204020204" pitchFamily="34" charset="-122"/>
              </a:endParaRPr>
            </a:p>
          </p:txBody>
        </p:sp>
        <p:sp>
          <p:nvSpPr>
            <p:cNvPr id="20483" name="文本框 59"/>
            <p:cNvSpPr txBox="1"/>
            <p:nvPr/>
          </p:nvSpPr>
          <p:spPr>
            <a:xfrm>
              <a:off x="2274769" y="1971188"/>
              <a:ext cx="5715154" cy="1565546"/>
            </a:xfrm>
            <a:prstGeom prst="rect">
              <a:avLst/>
            </a:prstGeom>
            <a:noFill/>
            <a:ln w="9525">
              <a:noFill/>
            </a:ln>
          </p:spPr>
          <p:txBody>
            <a:bodyPr anchor="t" anchorCtr="0">
              <a:spAutoFit/>
            </a:bodyPr>
            <a:p>
              <a:pPr>
                <a:lnSpc>
                  <a:spcPct val="120000"/>
                </a:lnSpc>
              </a:pPr>
              <a:r>
                <a:rPr lang="zh-CN" altLang="en-US" sz="1600" dirty="0">
                  <a:latin typeface="微软雅黑" panose="020B0503020204020204" pitchFamily="34" charset="-122"/>
                  <a:ea typeface="微软雅黑" panose="020B0503020204020204" pitchFamily="34" charset="-122"/>
                </a:rPr>
                <a:t>这些神经网络的基础都基于最经典的具有前向传导后向纠错能力的</a:t>
              </a:r>
              <a:r>
                <a:rPr lang="en-US" altLang="zh-CN" sz="1600" dirty="0">
                  <a:latin typeface="微软雅黑" panose="020B0503020204020204" pitchFamily="34" charset="-122"/>
                  <a:ea typeface="微软雅黑" panose="020B0503020204020204" pitchFamily="34" charset="-122"/>
                </a:rPr>
                <a:t>BP</a:t>
              </a:r>
              <a:r>
                <a:rPr lang="zh-CN" altLang="en-US" sz="1600" dirty="0">
                  <a:latin typeface="微软雅黑" panose="020B0503020204020204" pitchFamily="34" charset="-122"/>
                  <a:ea typeface="微软雅黑" panose="020B0503020204020204" pitchFamily="34" charset="-122"/>
                </a:rPr>
                <a:t>神经网络，考虑到</a:t>
              </a:r>
              <a:r>
                <a:rPr lang="en-US" altLang="zh-CN" sz="1600" dirty="0">
                  <a:latin typeface="微软雅黑" panose="020B0503020204020204" pitchFamily="34" charset="-122"/>
                  <a:ea typeface="微软雅黑" panose="020B0503020204020204" pitchFamily="34" charset="-122"/>
                </a:rPr>
                <a:t>RNN</a:t>
              </a:r>
              <a:r>
                <a:rPr lang="zh-CN" altLang="en-US" sz="1600" dirty="0">
                  <a:latin typeface="微软雅黑" panose="020B0503020204020204" pitchFamily="34" charset="-122"/>
                  <a:ea typeface="微软雅黑" panose="020B0503020204020204" pitchFamily="34" charset="-122"/>
                </a:rPr>
                <a:t>一般处理时序问题较为简单，</a:t>
              </a:r>
              <a:r>
                <a:rPr lang="en-US" altLang="zh-CN" sz="1600" dirty="0">
                  <a:latin typeface="微软雅黑" panose="020B0503020204020204" pitchFamily="34" charset="-122"/>
                  <a:ea typeface="微软雅黑" panose="020B0503020204020204" pitchFamily="34" charset="-122"/>
                </a:rPr>
                <a:t>transformer</a:t>
              </a:r>
              <a:r>
                <a:rPr lang="zh-CN" altLang="en-US" sz="1600" dirty="0">
                  <a:latin typeface="微软雅黑" panose="020B0503020204020204" pitchFamily="34" charset="-122"/>
                  <a:ea typeface="微软雅黑" panose="020B0503020204020204" pitchFamily="34" charset="-122"/>
                </a:rPr>
                <a:t>技术具有少量的归纳偏见，但对于大量数据集效果好，少量数据效果与</a:t>
              </a:r>
              <a:r>
                <a:rPr lang="en-US" altLang="zh-CN" sz="1600" dirty="0">
                  <a:latin typeface="微软雅黑" panose="020B0503020204020204" pitchFamily="34" charset="-122"/>
                  <a:ea typeface="微软雅黑" panose="020B0503020204020204" pitchFamily="34" charset="-122"/>
                </a:rPr>
                <a:t>CNN</a:t>
              </a:r>
              <a:r>
                <a:rPr lang="zh-CN" altLang="en-US" sz="1600" dirty="0">
                  <a:latin typeface="微软雅黑" panose="020B0503020204020204" pitchFamily="34" charset="-122"/>
                  <a:ea typeface="微软雅黑" panose="020B0503020204020204" pitchFamily="34" charset="-122"/>
                </a:rPr>
                <a:t>无明显差别，且该模型对于参数较为敏感，训练过程较为复杂</a:t>
              </a:r>
              <a:endParaRPr lang="zh-CN" altLang="en-US" sz="1600" dirty="0">
                <a:latin typeface="微软雅黑" panose="020B0503020204020204" pitchFamily="34" charset="-122"/>
                <a:ea typeface="微软雅黑" panose="020B0503020204020204" pitchFamily="34" charset="-122"/>
              </a:endParaRPr>
            </a:p>
          </p:txBody>
        </p:sp>
      </p:grpSp>
      <p:grpSp>
        <p:nvGrpSpPr>
          <p:cNvPr id="20484" name="组合 61"/>
          <p:cNvGrpSpPr/>
          <p:nvPr/>
        </p:nvGrpSpPr>
        <p:grpSpPr>
          <a:xfrm>
            <a:off x="1703705" y="3958590"/>
            <a:ext cx="7122160" cy="2445471"/>
            <a:chOff x="899181" y="1712532"/>
            <a:chExt cx="6311984" cy="2181535"/>
          </a:xfrm>
        </p:grpSpPr>
        <p:sp>
          <p:nvSpPr>
            <p:cNvPr id="20485" name="文本框 62"/>
            <p:cNvSpPr txBox="1"/>
            <p:nvPr/>
          </p:nvSpPr>
          <p:spPr>
            <a:xfrm>
              <a:off x="1028075" y="1712532"/>
              <a:ext cx="1800068" cy="328550"/>
            </a:xfrm>
            <a:prstGeom prst="rect">
              <a:avLst/>
            </a:prstGeom>
            <a:noFill/>
            <a:ln w="9525">
              <a:noFill/>
            </a:ln>
          </p:spPr>
          <p:txBody>
            <a:bodyPr wrap="square" anchor="t" anchorCtr="0">
              <a:spAutoFit/>
            </a:bodyPr>
            <a:p>
              <a:pPr algn="r"/>
              <a:r>
                <a:rPr lang="en-US" altLang="zh-CN" b="1" dirty="0">
                  <a:latin typeface="微软雅黑" panose="020B0503020204020204" pitchFamily="34" charset="-122"/>
                  <a:ea typeface="微软雅黑" panose="020B0503020204020204" pitchFamily="34" charset="-122"/>
                </a:rPr>
                <a:t>CNN</a:t>
              </a:r>
              <a:r>
                <a:rPr lang="zh-CN" altLang="en-US" b="1" dirty="0">
                  <a:latin typeface="微软雅黑" panose="020B0503020204020204" pitchFamily="34" charset="-122"/>
                  <a:ea typeface="微软雅黑" panose="020B0503020204020204" pitchFamily="34" charset="-122"/>
                </a:rPr>
                <a:t>训练原理</a:t>
              </a:r>
              <a:endParaRPr lang="zh-CN" altLang="en-US" b="1" dirty="0">
                <a:latin typeface="微软雅黑" panose="020B0503020204020204" pitchFamily="34" charset="-122"/>
                <a:ea typeface="微软雅黑" panose="020B0503020204020204" pitchFamily="34" charset="-122"/>
              </a:endParaRPr>
            </a:p>
          </p:txBody>
        </p:sp>
        <p:sp>
          <p:nvSpPr>
            <p:cNvPr id="20486" name="文本框 63"/>
            <p:cNvSpPr txBox="1"/>
            <p:nvPr/>
          </p:nvSpPr>
          <p:spPr>
            <a:xfrm>
              <a:off x="899181" y="1970917"/>
              <a:ext cx="6311984" cy="1923150"/>
            </a:xfrm>
            <a:prstGeom prst="rect">
              <a:avLst/>
            </a:prstGeom>
            <a:noFill/>
            <a:ln w="9525">
              <a:noFill/>
            </a:ln>
          </p:spPr>
          <p:txBody>
            <a:bodyPr wrap="square" anchor="t" anchorCtr="0">
              <a:spAutoFit/>
            </a:bodyPr>
            <a:p>
              <a:pPr indent="457200" algn="l">
                <a:lnSpc>
                  <a:spcPct val="120000"/>
                </a:lnSpc>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卷积运算：当把图像矩阵化后，规定一个权值矩阵，这个权值与图像结合保证每个像素点都被结合一起，并经过卷积运算得到一个矩阵。</a:t>
              </a:r>
              <a:endParaRPr lang="zh-CN" altLang="en-US" sz="1600" dirty="0">
                <a:latin typeface="微软雅黑" panose="020B0503020204020204" pitchFamily="34" charset="-122"/>
                <a:ea typeface="微软雅黑" panose="020B0503020204020204" pitchFamily="34" charset="-122"/>
              </a:endParaRPr>
            </a:p>
            <a:p>
              <a:pPr indent="457200" algn="l">
                <a:lnSpc>
                  <a:spcPct val="120000"/>
                </a:lnSpc>
              </a:pP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经过多次卷积运算后的图像进入池化层，对于卷积后的图像只按照规则取部分像素点，该操作用于减少训练量，</a:t>
              </a:r>
              <a:endParaRPr lang="zh-CN" altLang="en-US" sz="1600" dirty="0">
                <a:latin typeface="微软雅黑" panose="020B0503020204020204" pitchFamily="34" charset="-122"/>
                <a:ea typeface="微软雅黑" panose="020B0503020204020204" pitchFamily="34" charset="-122"/>
              </a:endParaRPr>
            </a:p>
            <a:p>
              <a:pPr indent="457200" algn="l">
                <a:lnSpc>
                  <a:spcPct val="120000"/>
                </a:lnSpc>
              </a:pP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然后全连接层用于生成和输入时相同量的像素图，最后输出层加入损失函数的计算，用于预测误差，一旦前向传播完成，反向传播就会开始更新权重与偏差，以减少误差和损失。</a:t>
              </a:r>
              <a:endParaRPr lang="zh-CN" altLang="en-US" sz="1600" dirty="0">
                <a:latin typeface="微软雅黑" panose="020B0503020204020204" pitchFamily="34" charset="-122"/>
                <a:ea typeface="微软雅黑" panose="020B0503020204020204" pitchFamily="34" charset="-122"/>
              </a:endParaRPr>
            </a:p>
          </p:txBody>
        </p:sp>
      </p:grpSp>
      <p:cxnSp>
        <p:nvCxnSpPr>
          <p:cNvPr id="23" name="直接连接符 22"/>
          <p:cNvCxnSpPr/>
          <p:nvPr/>
        </p:nvCxnSpPr>
        <p:spPr bwMode="auto">
          <a:xfrm flipH="1">
            <a:off x="1216025" y="3509963"/>
            <a:ext cx="6710363" cy="0"/>
          </a:xfrm>
          <a:prstGeom prst="line">
            <a:avLst/>
          </a:prstGeom>
          <a:ln w="38100">
            <a:solidFill>
              <a:srgbClr val="1F3A65"/>
            </a:solidFill>
          </a:ln>
        </p:spPr>
        <p:style>
          <a:lnRef idx="1">
            <a:schemeClr val="accent1"/>
          </a:lnRef>
          <a:fillRef idx="0">
            <a:schemeClr val="accent1"/>
          </a:fillRef>
          <a:effectRef idx="0">
            <a:schemeClr val="accent1"/>
          </a:effectRef>
          <a:fontRef idx="minor">
            <a:schemeClr val="tx1"/>
          </a:fontRef>
        </p:style>
      </p:cxnSp>
      <p:sp>
        <p:nvSpPr>
          <p:cNvPr id="49" name="等腰三角形 48"/>
          <p:cNvSpPr/>
          <p:nvPr/>
        </p:nvSpPr>
        <p:spPr bwMode="auto">
          <a:xfrm rot="2700000">
            <a:off x="1373188" y="3132138"/>
            <a:ext cx="304800" cy="263525"/>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6" name="椭圆 35"/>
          <p:cNvSpPr>
            <a:spLocks noChangeAspect="1"/>
          </p:cNvSpPr>
          <p:nvPr/>
        </p:nvSpPr>
        <p:spPr bwMode="auto">
          <a:xfrm>
            <a:off x="803275" y="3117850"/>
            <a:ext cx="863600" cy="863600"/>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490" name="Freeform 624"/>
          <p:cNvSpPr>
            <a:spLocks noChangeAspect="1" noEditPoints="1"/>
          </p:cNvSpPr>
          <p:nvPr/>
        </p:nvSpPr>
        <p:spPr>
          <a:xfrm>
            <a:off x="950913" y="3290888"/>
            <a:ext cx="539750" cy="45720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64" h="54">
                <a:moveTo>
                  <a:pt x="28" y="21"/>
                </a:moveTo>
                <a:cubicBezTo>
                  <a:pt x="31" y="23"/>
                  <a:pt x="34" y="25"/>
                  <a:pt x="36" y="28"/>
                </a:cubicBezTo>
                <a:cubicBezTo>
                  <a:pt x="36" y="28"/>
                  <a:pt x="37" y="29"/>
                  <a:pt x="37" y="29"/>
                </a:cubicBezTo>
                <a:cubicBezTo>
                  <a:pt x="38" y="27"/>
                  <a:pt x="38" y="27"/>
                  <a:pt x="38" y="27"/>
                </a:cubicBezTo>
                <a:cubicBezTo>
                  <a:pt x="38" y="14"/>
                  <a:pt x="38" y="14"/>
                  <a:pt x="38" y="14"/>
                </a:cubicBezTo>
                <a:cubicBezTo>
                  <a:pt x="38" y="14"/>
                  <a:pt x="38" y="14"/>
                  <a:pt x="38" y="14"/>
                </a:cubicBezTo>
                <a:cubicBezTo>
                  <a:pt x="36" y="14"/>
                  <a:pt x="36" y="14"/>
                  <a:pt x="36" y="14"/>
                </a:cubicBezTo>
                <a:cubicBezTo>
                  <a:pt x="36" y="12"/>
                  <a:pt x="36" y="12"/>
                  <a:pt x="36" y="12"/>
                </a:cubicBezTo>
                <a:cubicBezTo>
                  <a:pt x="36" y="9"/>
                  <a:pt x="36" y="9"/>
                  <a:pt x="36" y="9"/>
                </a:cubicBezTo>
                <a:cubicBezTo>
                  <a:pt x="36" y="8"/>
                  <a:pt x="36" y="8"/>
                  <a:pt x="36" y="8"/>
                </a:cubicBezTo>
                <a:cubicBezTo>
                  <a:pt x="38" y="8"/>
                  <a:pt x="38" y="8"/>
                  <a:pt x="38" y="8"/>
                </a:cubicBezTo>
                <a:cubicBezTo>
                  <a:pt x="52" y="8"/>
                  <a:pt x="52" y="8"/>
                  <a:pt x="52" y="8"/>
                </a:cubicBezTo>
                <a:cubicBezTo>
                  <a:pt x="54" y="8"/>
                  <a:pt x="54" y="8"/>
                  <a:pt x="54" y="8"/>
                </a:cubicBezTo>
                <a:cubicBezTo>
                  <a:pt x="54" y="9"/>
                  <a:pt x="54" y="9"/>
                  <a:pt x="54" y="9"/>
                </a:cubicBezTo>
                <a:cubicBezTo>
                  <a:pt x="54" y="12"/>
                  <a:pt x="54" y="12"/>
                  <a:pt x="54" y="12"/>
                </a:cubicBezTo>
                <a:cubicBezTo>
                  <a:pt x="54" y="14"/>
                  <a:pt x="54" y="14"/>
                  <a:pt x="54" y="14"/>
                </a:cubicBezTo>
                <a:cubicBezTo>
                  <a:pt x="52" y="14"/>
                  <a:pt x="52" y="14"/>
                  <a:pt x="52" y="14"/>
                </a:cubicBezTo>
                <a:cubicBezTo>
                  <a:pt x="52" y="27"/>
                  <a:pt x="52" y="27"/>
                  <a:pt x="52" y="27"/>
                </a:cubicBezTo>
                <a:cubicBezTo>
                  <a:pt x="57" y="34"/>
                  <a:pt x="57" y="34"/>
                  <a:pt x="57" y="34"/>
                </a:cubicBezTo>
                <a:cubicBezTo>
                  <a:pt x="57" y="34"/>
                  <a:pt x="57" y="34"/>
                  <a:pt x="57" y="34"/>
                </a:cubicBezTo>
                <a:cubicBezTo>
                  <a:pt x="63" y="45"/>
                  <a:pt x="63" y="45"/>
                  <a:pt x="63" y="45"/>
                </a:cubicBezTo>
                <a:cubicBezTo>
                  <a:pt x="63" y="45"/>
                  <a:pt x="63" y="45"/>
                  <a:pt x="63" y="45"/>
                </a:cubicBezTo>
                <a:cubicBezTo>
                  <a:pt x="64" y="47"/>
                  <a:pt x="64" y="48"/>
                  <a:pt x="64" y="49"/>
                </a:cubicBezTo>
                <a:cubicBezTo>
                  <a:pt x="64" y="50"/>
                  <a:pt x="64" y="51"/>
                  <a:pt x="63" y="51"/>
                </a:cubicBezTo>
                <a:cubicBezTo>
                  <a:pt x="63" y="52"/>
                  <a:pt x="62" y="53"/>
                  <a:pt x="61" y="53"/>
                </a:cubicBezTo>
                <a:cubicBezTo>
                  <a:pt x="61" y="54"/>
                  <a:pt x="60" y="54"/>
                  <a:pt x="59" y="54"/>
                </a:cubicBezTo>
                <a:cubicBezTo>
                  <a:pt x="59" y="54"/>
                  <a:pt x="59" y="54"/>
                  <a:pt x="59" y="54"/>
                </a:cubicBezTo>
                <a:cubicBezTo>
                  <a:pt x="45" y="54"/>
                  <a:pt x="45" y="54"/>
                  <a:pt x="45" y="54"/>
                </a:cubicBezTo>
                <a:cubicBezTo>
                  <a:pt x="32" y="54"/>
                  <a:pt x="32" y="54"/>
                  <a:pt x="32" y="54"/>
                </a:cubicBezTo>
                <a:cubicBezTo>
                  <a:pt x="32" y="54"/>
                  <a:pt x="32" y="54"/>
                  <a:pt x="32" y="54"/>
                </a:cubicBezTo>
                <a:cubicBezTo>
                  <a:pt x="32" y="54"/>
                  <a:pt x="32" y="54"/>
                  <a:pt x="32" y="54"/>
                </a:cubicBezTo>
                <a:cubicBezTo>
                  <a:pt x="32" y="54"/>
                  <a:pt x="32" y="54"/>
                  <a:pt x="32" y="54"/>
                </a:cubicBezTo>
                <a:cubicBezTo>
                  <a:pt x="31" y="54"/>
                  <a:pt x="31" y="54"/>
                  <a:pt x="31" y="54"/>
                </a:cubicBezTo>
                <a:cubicBezTo>
                  <a:pt x="8" y="54"/>
                  <a:pt x="8" y="54"/>
                  <a:pt x="8" y="54"/>
                </a:cubicBezTo>
                <a:cubicBezTo>
                  <a:pt x="7" y="54"/>
                  <a:pt x="7" y="54"/>
                  <a:pt x="7" y="54"/>
                </a:cubicBezTo>
                <a:cubicBezTo>
                  <a:pt x="7" y="53"/>
                  <a:pt x="7" y="53"/>
                  <a:pt x="7" y="53"/>
                </a:cubicBezTo>
                <a:cubicBezTo>
                  <a:pt x="5" y="51"/>
                  <a:pt x="3" y="49"/>
                  <a:pt x="2" y="47"/>
                </a:cubicBezTo>
                <a:cubicBezTo>
                  <a:pt x="1" y="44"/>
                  <a:pt x="0" y="41"/>
                  <a:pt x="0" y="39"/>
                </a:cubicBezTo>
                <a:cubicBezTo>
                  <a:pt x="0" y="35"/>
                  <a:pt x="1" y="31"/>
                  <a:pt x="3" y="28"/>
                </a:cubicBezTo>
                <a:cubicBezTo>
                  <a:pt x="5" y="25"/>
                  <a:pt x="8" y="23"/>
                  <a:pt x="11" y="21"/>
                </a:cubicBezTo>
                <a:cubicBezTo>
                  <a:pt x="11" y="10"/>
                  <a:pt x="11" y="10"/>
                  <a:pt x="11" y="10"/>
                </a:cubicBezTo>
                <a:cubicBezTo>
                  <a:pt x="9" y="10"/>
                  <a:pt x="9" y="10"/>
                  <a:pt x="9" y="10"/>
                </a:cubicBezTo>
                <a:cubicBezTo>
                  <a:pt x="7" y="10"/>
                  <a:pt x="7" y="10"/>
                  <a:pt x="7" y="10"/>
                </a:cubicBezTo>
                <a:cubicBezTo>
                  <a:pt x="7" y="8"/>
                  <a:pt x="7" y="8"/>
                  <a:pt x="7" y="8"/>
                </a:cubicBezTo>
                <a:cubicBezTo>
                  <a:pt x="7" y="2"/>
                  <a:pt x="7" y="2"/>
                  <a:pt x="7" y="2"/>
                </a:cubicBezTo>
                <a:cubicBezTo>
                  <a:pt x="7" y="0"/>
                  <a:pt x="7" y="0"/>
                  <a:pt x="7" y="0"/>
                </a:cubicBezTo>
                <a:cubicBezTo>
                  <a:pt x="9" y="0"/>
                  <a:pt x="9" y="0"/>
                  <a:pt x="9" y="0"/>
                </a:cubicBezTo>
                <a:cubicBezTo>
                  <a:pt x="30" y="0"/>
                  <a:pt x="30" y="0"/>
                  <a:pt x="30" y="0"/>
                </a:cubicBezTo>
                <a:cubicBezTo>
                  <a:pt x="32" y="0"/>
                  <a:pt x="32" y="0"/>
                  <a:pt x="32" y="0"/>
                </a:cubicBezTo>
                <a:cubicBezTo>
                  <a:pt x="32" y="2"/>
                  <a:pt x="32" y="2"/>
                  <a:pt x="32" y="2"/>
                </a:cubicBezTo>
                <a:cubicBezTo>
                  <a:pt x="32" y="8"/>
                  <a:pt x="32" y="8"/>
                  <a:pt x="32" y="8"/>
                </a:cubicBezTo>
                <a:cubicBezTo>
                  <a:pt x="32" y="10"/>
                  <a:pt x="32" y="10"/>
                  <a:pt x="32" y="10"/>
                </a:cubicBezTo>
                <a:cubicBezTo>
                  <a:pt x="30" y="10"/>
                  <a:pt x="30" y="10"/>
                  <a:pt x="30" y="10"/>
                </a:cubicBezTo>
                <a:cubicBezTo>
                  <a:pt x="28" y="10"/>
                  <a:pt x="28" y="10"/>
                  <a:pt x="28" y="10"/>
                </a:cubicBezTo>
                <a:cubicBezTo>
                  <a:pt x="28" y="21"/>
                  <a:pt x="28" y="21"/>
                  <a:pt x="28" y="21"/>
                </a:cubicBezTo>
                <a:close/>
                <a:moveTo>
                  <a:pt x="49" y="35"/>
                </a:moveTo>
                <a:cubicBezTo>
                  <a:pt x="51" y="38"/>
                  <a:pt x="51" y="38"/>
                  <a:pt x="51" y="38"/>
                </a:cubicBezTo>
                <a:cubicBezTo>
                  <a:pt x="57" y="47"/>
                  <a:pt x="57" y="47"/>
                  <a:pt x="57" y="47"/>
                </a:cubicBezTo>
                <a:cubicBezTo>
                  <a:pt x="45" y="47"/>
                  <a:pt x="45" y="47"/>
                  <a:pt x="45" y="47"/>
                </a:cubicBezTo>
                <a:cubicBezTo>
                  <a:pt x="37" y="47"/>
                  <a:pt x="37" y="47"/>
                  <a:pt x="37" y="47"/>
                </a:cubicBezTo>
                <a:cubicBezTo>
                  <a:pt x="37" y="48"/>
                  <a:pt x="36" y="49"/>
                  <a:pt x="36" y="50"/>
                </a:cubicBezTo>
                <a:cubicBezTo>
                  <a:pt x="45" y="50"/>
                  <a:pt x="45" y="50"/>
                  <a:pt x="45" y="50"/>
                </a:cubicBezTo>
                <a:cubicBezTo>
                  <a:pt x="59" y="50"/>
                  <a:pt x="59" y="50"/>
                  <a:pt x="59" y="50"/>
                </a:cubicBezTo>
                <a:cubicBezTo>
                  <a:pt x="59" y="50"/>
                  <a:pt x="59" y="50"/>
                  <a:pt x="59" y="50"/>
                </a:cubicBezTo>
                <a:cubicBezTo>
                  <a:pt x="59" y="50"/>
                  <a:pt x="59" y="50"/>
                  <a:pt x="60" y="50"/>
                </a:cubicBezTo>
                <a:cubicBezTo>
                  <a:pt x="60" y="50"/>
                  <a:pt x="60" y="50"/>
                  <a:pt x="60" y="49"/>
                </a:cubicBezTo>
                <a:cubicBezTo>
                  <a:pt x="60" y="49"/>
                  <a:pt x="60" y="49"/>
                  <a:pt x="60" y="49"/>
                </a:cubicBezTo>
                <a:cubicBezTo>
                  <a:pt x="60" y="48"/>
                  <a:pt x="60" y="48"/>
                  <a:pt x="60" y="47"/>
                </a:cubicBezTo>
                <a:cubicBezTo>
                  <a:pt x="53" y="36"/>
                  <a:pt x="53" y="36"/>
                  <a:pt x="53" y="36"/>
                </a:cubicBezTo>
                <a:cubicBezTo>
                  <a:pt x="53" y="36"/>
                  <a:pt x="53" y="36"/>
                  <a:pt x="53" y="36"/>
                </a:cubicBezTo>
                <a:cubicBezTo>
                  <a:pt x="49" y="28"/>
                  <a:pt x="49" y="28"/>
                  <a:pt x="49" y="28"/>
                </a:cubicBezTo>
                <a:cubicBezTo>
                  <a:pt x="48" y="28"/>
                  <a:pt x="48" y="28"/>
                  <a:pt x="48" y="28"/>
                </a:cubicBezTo>
                <a:cubicBezTo>
                  <a:pt x="48" y="27"/>
                  <a:pt x="48" y="27"/>
                  <a:pt x="48" y="27"/>
                </a:cubicBezTo>
                <a:cubicBezTo>
                  <a:pt x="48" y="12"/>
                  <a:pt x="48" y="12"/>
                  <a:pt x="48" y="12"/>
                </a:cubicBezTo>
                <a:cubicBezTo>
                  <a:pt x="48" y="11"/>
                  <a:pt x="48" y="11"/>
                  <a:pt x="48" y="11"/>
                </a:cubicBezTo>
                <a:cubicBezTo>
                  <a:pt x="42" y="11"/>
                  <a:pt x="42" y="11"/>
                  <a:pt x="42" y="11"/>
                </a:cubicBezTo>
                <a:cubicBezTo>
                  <a:pt x="42" y="12"/>
                  <a:pt x="42" y="12"/>
                  <a:pt x="42" y="12"/>
                </a:cubicBezTo>
                <a:cubicBezTo>
                  <a:pt x="42" y="28"/>
                  <a:pt x="42" y="28"/>
                  <a:pt x="42" y="28"/>
                </a:cubicBezTo>
                <a:cubicBezTo>
                  <a:pt x="42" y="28"/>
                  <a:pt x="42" y="28"/>
                  <a:pt x="42" y="28"/>
                </a:cubicBezTo>
                <a:cubicBezTo>
                  <a:pt x="42" y="29"/>
                  <a:pt x="42" y="29"/>
                  <a:pt x="42" y="29"/>
                </a:cubicBezTo>
                <a:cubicBezTo>
                  <a:pt x="39" y="34"/>
                  <a:pt x="39" y="34"/>
                  <a:pt x="39" y="34"/>
                </a:cubicBezTo>
                <a:cubicBezTo>
                  <a:pt x="39" y="35"/>
                  <a:pt x="39" y="37"/>
                  <a:pt x="39" y="38"/>
                </a:cubicBezTo>
                <a:cubicBezTo>
                  <a:pt x="40" y="38"/>
                  <a:pt x="40" y="38"/>
                  <a:pt x="40" y="38"/>
                </a:cubicBezTo>
                <a:cubicBezTo>
                  <a:pt x="41" y="35"/>
                  <a:pt x="41" y="35"/>
                  <a:pt x="41" y="35"/>
                </a:cubicBezTo>
                <a:cubicBezTo>
                  <a:pt x="49" y="35"/>
                  <a:pt x="49" y="35"/>
                  <a:pt x="49" y="35"/>
                </a:cubicBezTo>
                <a:close/>
                <a:moveTo>
                  <a:pt x="27" y="46"/>
                </a:moveTo>
                <a:cubicBezTo>
                  <a:pt x="27" y="46"/>
                  <a:pt x="27" y="46"/>
                  <a:pt x="27" y="46"/>
                </a:cubicBezTo>
                <a:cubicBezTo>
                  <a:pt x="31" y="39"/>
                  <a:pt x="31" y="39"/>
                  <a:pt x="31" y="39"/>
                </a:cubicBezTo>
                <a:cubicBezTo>
                  <a:pt x="31" y="38"/>
                  <a:pt x="31" y="37"/>
                  <a:pt x="31" y="36"/>
                </a:cubicBezTo>
                <a:cubicBezTo>
                  <a:pt x="31" y="36"/>
                  <a:pt x="31" y="35"/>
                  <a:pt x="30" y="35"/>
                </a:cubicBezTo>
                <a:cubicBezTo>
                  <a:pt x="10" y="35"/>
                  <a:pt x="10" y="35"/>
                  <a:pt x="10" y="35"/>
                </a:cubicBezTo>
                <a:cubicBezTo>
                  <a:pt x="10" y="35"/>
                  <a:pt x="10" y="36"/>
                  <a:pt x="9" y="36"/>
                </a:cubicBezTo>
                <a:cubicBezTo>
                  <a:pt x="9" y="37"/>
                  <a:pt x="9" y="38"/>
                  <a:pt x="9" y="39"/>
                </a:cubicBezTo>
                <a:cubicBezTo>
                  <a:pt x="9" y="40"/>
                  <a:pt x="9" y="42"/>
                  <a:pt x="10" y="43"/>
                </a:cubicBezTo>
                <a:cubicBezTo>
                  <a:pt x="10" y="44"/>
                  <a:pt x="11" y="45"/>
                  <a:pt x="12" y="46"/>
                </a:cubicBezTo>
                <a:cubicBezTo>
                  <a:pt x="27" y="46"/>
                  <a:pt x="27" y="46"/>
                  <a:pt x="27" y="46"/>
                </a:cubicBezTo>
                <a:close/>
                <a:moveTo>
                  <a:pt x="7" y="29"/>
                </a:moveTo>
                <a:cubicBezTo>
                  <a:pt x="8" y="29"/>
                  <a:pt x="8" y="29"/>
                  <a:pt x="8" y="29"/>
                </a:cubicBezTo>
                <a:cubicBezTo>
                  <a:pt x="32" y="29"/>
                  <a:pt x="32" y="29"/>
                  <a:pt x="32" y="29"/>
                </a:cubicBezTo>
                <a:cubicBezTo>
                  <a:pt x="32" y="29"/>
                  <a:pt x="32" y="29"/>
                  <a:pt x="32" y="29"/>
                </a:cubicBezTo>
                <a:cubicBezTo>
                  <a:pt x="31" y="27"/>
                  <a:pt x="28" y="25"/>
                  <a:pt x="26" y="24"/>
                </a:cubicBezTo>
                <a:cubicBezTo>
                  <a:pt x="24" y="24"/>
                  <a:pt x="24" y="24"/>
                  <a:pt x="24" y="24"/>
                </a:cubicBezTo>
                <a:cubicBezTo>
                  <a:pt x="24" y="22"/>
                  <a:pt x="24" y="22"/>
                  <a:pt x="24" y="22"/>
                </a:cubicBezTo>
                <a:cubicBezTo>
                  <a:pt x="24" y="8"/>
                  <a:pt x="24" y="8"/>
                  <a:pt x="24" y="8"/>
                </a:cubicBezTo>
                <a:cubicBezTo>
                  <a:pt x="24" y="6"/>
                  <a:pt x="24" y="6"/>
                  <a:pt x="24" y="6"/>
                </a:cubicBezTo>
                <a:cubicBezTo>
                  <a:pt x="26" y="6"/>
                  <a:pt x="26" y="6"/>
                  <a:pt x="26" y="6"/>
                </a:cubicBezTo>
                <a:cubicBezTo>
                  <a:pt x="28" y="6"/>
                  <a:pt x="28" y="6"/>
                  <a:pt x="28" y="6"/>
                </a:cubicBezTo>
                <a:cubicBezTo>
                  <a:pt x="28" y="4"/>
                  <a:pt x="28" y="4"/>
                  <a:pt x="28" y="4"/>
                </a:cubicBezTo>
                <a:cubicBezTo>
                  <a:pt x="11" y="4"/>
                  <a:pt x="11" y="4"/>
                  <a:pt x="11" y="4"/>
                </a:cubicBezTo>
                <a:cubicBezTo>
                  <a:pt x="11" y="6"/>
                  <a:pt x="11" y="6"/>
                  <a:pt x="11" y="6"/>
                </a:cubicBezTo>
                <a:cubicBezTo>
                  <a:pt x="13" y="6"/>
                  <a:pt x="13" y="6"/>
                  <a:pt x="13" y="6"/>
                </a:cubicBezTo>
                <a:cubicBezTo>
                  <a:pt x="15" y="6"/>
                  <a:pt x="15" y="6"/>
                  <a:pt x="15" y="6"/>
                </a:cubicBezTo>
                <a:cubicBezTo>
                  <a:pt x="15" y="8"/>
                  <a:pt x="15" y="8"/>
                  <a:pt x="15" y="8"/>
                </a:cubicBezTo>
                <a:cubicBezTo>
                  <a:pt x="15" y="22"/>
                  <a:pt x="15" y="22"/>
                  <a:pt x="15" y="22"/>
                </a:cubicBezTo>
                <a:cubicBezTo>
                  <a:pt x="15" y="24"/>
                  <a:pt x="15" y="24"/>
                  <a:pt x="15" y="24"/>
                </a:cubicBezTo>
                <a:cubicBezTo>
                  <a:pt x="14" y="24"/>
                  <a:pt x="14" y="24"/>
                  <a:pt x="14" y="24"/>
                </a:cubicBezTo>
                <a:cubicBezTo>
                  <a:pt x="11" y="25"/>
                  <a:pt x="9" y="27"/>
                  <a:pt x="7" y="29"/>
                </a:cubicBezTo>
                <a:close/>
              </a:path>
            </a:pathLst>
          </a:custGeom>
          <a:solidFill>
            <a:schemeClr val="bg1"/>
          </a:solidFill>
          <a:ln w="9525">
            <a:noFill/>
          </a:ln>
        </p:spPr>
        <p:txBody>
          <a:bodyPr/>
          <a:p>
            <a:endParaRPr lang="zh-CN" altLang="en-US"/>
          </a:p>
        </p:txBody>
      </p:sp>
      <p:sp>
        <p:nvSpPr>
          <p:cNvPr id="52" name="等腰三角形 51"/>
          <p:cNvSpPr/>
          <p:nvPr/>
        </p:nvSpPr>
        <p:spPr bwMode="auto">
          <a:xfrm rot="2700000" flipH="1" flipV="1">
            <a:off x="7464425" y="3625850"/>
            <a:ext cx="304800" cy="263525"/>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5" name="椭圆 54"/>
          <p:cNvSpPr>
            <a:spLocks noChangeAspect="1"/>
          </p:cNvSpPr>
          <p:nvPr/>
        </p:nvSpPr>
        <p:spPr bwMode="auto">
          <a:xfrm rot="10800000" flipH="1" flipV="1">
            <a:off x="7475538" y="3040063"/>
            <a:ext cx="863600" cy="863600"/>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493" name="Freeform 469"/>
          <p:cNvSpPr>
            <a:spLocks noChangeAspect="1" noEditPoints="1"/>
          </p:cNvSpPr>
          <p:nvPr/>
        </p:nvSpPr>
        <p:spPr>
          <a:xfrm>
            <a:off x="7693025" y="3281363"/>
            <a:ext cx="468313" cy="4508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67" h="65">
                <a:moveTo>
                  <a:pt x="30" y="44"/>
                </a:moveTo>
                <a:cubicBezTo>
                  <a:pt x="18" y="56"/>
                  <a:pt x="18" y="56"/>
                  <a:pt x="18" y="56"/>
                </a:cubicBezTo>
                <a:cubicBezTo>
                  <a:pt x="17" y="57"/>
                  <a:pt x="15" y="57"/>
                  <a:pt x="14" y="56"/>
                </a:cubicBezTo>
                <a:cubicBezTo>
                  <a:pt x="14" y="56"/>
                  <a:pt x="14" y="56"/>
                  <a:pt x="14" y="56"/>
                </a:cubicBezTo>
                <a:cubicBezTo>
                  <a:pt x="12" y="54"/>
                  <a:pt x="12" y="52"/>
                  <a:pt x="13" y="51"/>
                </a:cubicBezTo>
                <a:cubicBezTo>
                  <a:pt x="26" y="39"/>
                  <a:pt x="26" y="39"/>
                  <a:pt x="26" y="39"/>
                </a:cubicBezTo>
                <a:cubicBezTo>
                  <a:pt x="22" y="34"/>
                  <a:pt x="22" y="34"/>
                  <a:pt x="22" y="34"/>
                </a:cubicBezTo>
                <a:cubicBezTo>
                  <a:pt x="9" y="47"/>
                  <a:pt x="9" y="47"/>
                  <a:pt x="9" y="47"/>
                </a:cubicBezTo>
                <a:cubicBezTo>
                  <a:pt x="8" y="48"/>
                  <a:pt x="7" y="48"/>
                  <a:pt x="6" y="48"/>
                </a:cubicBezTo>
                <a:cubicBezTo>
                  <a:pt x="3" y="51"/>
                  <a:pt x="4" y="57"/>
                  <a:pt x="8" y="61"/>
                </a:cubicBezTo>
                <a:cubicBezTo>
                  <a:pt x="8" y="61"/>
                  <a:pt x="8" y="61"/>
                  <a:pt x="8" y="61"/>
                </a:cubicBezTo>
                <a:cubicBezTo>
                  <a:pt x="12" y="65"/>
                  <a:pt x="18" y="65"/>
                  <a:pt x="21" y="62"/>
                </a:cubicBezTo>
                <a:cubicBezTo>
                  <a:pt x="21" y="61"/>
                  <a:pt x="21" y="60"/>
                  <a:pt x="22" y="60"/>
                </a:cubicBezTo>
                <a:cubicBezTo>
                  <a:pt x="34" y="48"/>
                  <a:pt x="34" y="48"/>
                  <a:pt x="34" y="48"/>
                </a:cubicBezTo>
                <a:cubicBezTo>
                  <a:pt x="30" y="44"/>
                  <a:pt x="30" y="44"/>
                  <a:pt x="30" y="44"/>
                </a:cubicBezTo>
                <a:close/>
                <a:moveTo>
                  <a:pt x="28" y="22"/>
                </a:moveTo>
                <a:cubicBezTo>
                  <a:pt x="58" y="50"/>
                  <a:pt x="58" y="50"/>
                  <a:pt x="58" y="50"/>
                </a:cubicBezTo>
                <a:cubicBezTo>
                  <a:pt x="61" y="53"/>
                  <a:pt x="61" y="58"/>
                  <a:pt x="58" y="61"/>
                </a:cubicBezTo>
                <a:cubicBezTo>
                  <a:pt x="58" y="61"/>
                  <a:pt x="58" y="61"/>
                  <a:pt x="58" y="61"/>
                </a:cubicBezTo>
                <a:cubicBezTo>
                  <a:pt x="56" y="63"/>
                  <a:pt x="51" y="64"/>
                  <a:pt x="48" y="61"/>
                </a:cubicBezTo>
                <a:cubicBezTo>
                  <a:pt x="21" y="29"/>
                  <a:pt x="21" y="29"/>
                  <a:pt x="21" y="29"/>
                </a:cubicBezTo>
                <a:cubicBezTo>
                  <a:pt x="18" y="31"/>
                  <a:pt x="15" y="32"/>
                  <a:pt x="11" y="31"/>
                </a:cubicBezTo>
                <a:cubicBezTo>
                  <a:pt x="0" y="16"/>
                  <a:pt x="0" y="16"/>
                  <a:pt x="0" y="16"/>
                </a:cubicBezTo>
                <a:cubicBezTo>
                  <a:pt x="3" y="13"/>
                  <a:pt x="3" y="13"/>
                  <a:pt x="3" y="13"/>
                </a:cubicBezTo>
                <a:cubicBezTo>
                  <a:pt x="11" y="21"/>
                  <a:pt x="11" y="21"/>
                  <a:pt x="11" y="21"/>
                </a:cubicBezTo>
                <a:cubicBezTo>
                  <a:pt x="17" y="18"/>
                  <a:pt x="17" y="18"/>
                  <a:pt x="17" y="18"/>
                </a:cubicBezTo>
                <a:cubicBezTo>
                  <a:pt x="20" y="12"/>
                  <a:pt x="20" y="12"/>
                  <a:pt x="20" y="12"/>
                </a:cubicBezTo>
                <a:cubicBezTo>
                  <a:pt x="13" y="3"/>
                  <a:pt x="13" y="3"/>
                  <a:pt x="13" y="3"/>
                </a:cubicBezTo>
                <a:cubicBezTo>
                  <a:pt x="15" y="0"/>
                  <a:pt x="15" y="0"/>
                  <a:pt x="15" y="0"/>
                </a:cubicBezTo>
                <a:cubicBezTo>
                  <a:pt x="30" y="12"/>
                  <a:pt x="30" y="12"/>
                  <a:pt x="30" y="12"/>
                </a:cubicBezTo>
                <a:cubicBezTo>
                  <a:pt x="31" y="16"/>
                  <a:pt x="30" y="19"/>
                  <a:pt x="28" y="22"/>
                </a:cubicBezTo>
                <a:close/>
                <a:moveTo>
                  <a:pt x="60" y="3"/>
                </a:moveTo>
                <a:cubicBezTo>
                  <a:pt x="51" y="8"/>
                  <a:pt x="51" y="8"/>
                  <a:pt x="51" y="8"/>
                </a:cubicBezTo>
                <a:cubicBezTo>
                  <a:pt x="52" y="12"/>
                  <a:pt x="52" y="12"/>
                  <a:pt x="52" y="12"/>
                </a:cubicBezTo>
                <a:cubicBezTo>
                  <a:pt x="38" y="27"/>
                  <a:pt x="38" y="27"/>
                  <a:pt x="38" y="27"/>
                </a:cubicBezTo>
                <a:cubicBezTo>
                  <a:pt x="42" y="31"/>
                  <a:pt x="42" y="31"/>
                  <a:pt x="42" y="31"/>
                </a:cubicBezTo>
                <a:cubicBezTo>
                  <a:pt x="57" y="17"/>
                  <a:pt x="57" y="17"/>
                  <a:pt x="57" y="17"/>
                </a:cubicBezTo>
                <a:cubicBezTo>
                  <a:pt x="61" y="18"/>
                  <a:pt x="61" y="18"/>
                  <a:pt x="61" y="18"/>
                </a:cubicBezTo>
                <a:cubicBezTo>
                  <a:pt x="67" y="9"/>
                  <a:pt x="67" y="9"/>
                  <a:pt x="67" y="9"/>
                </a:cubicBezTo>
                <a:cubicBezTo>
                  <a:pt x="63" y="6"/>
                  <a:pt x="63" y="6"/>
                  <a:pt x="63" y="6"/>
                </a:cubicBezTo>
                <a:lnTo>
                  <a:pt x="60" y="3"/>
                </a:lnTo>
                <a:close/>
              </a:path>
            </a:pathLst>
          </a:custGeom>
          <a:solidFill>
            <a:schemeClr val="bg1"/>
          </a:solidFill>
          <a:ln w="9525">
            <a:noFill/>
          </a:ln>
        </p:spPr>
        <p:txBody>
          <a:bodyPr/>
          <a:p>
            <a:endParaRPr lang="zh-CN" altLang="en-US"/>
          </a:p>
        </p:txBody>
      </p:sp>
      <p:sp>
        <p:nvSpPr>
          <p:cNvPr id="19" name="椭圆 18"/>
          <p:cNvSpPr>
            <a:spLocks noChangeAspect="1"/>
          </p:cNvSpPr>
          <p:nvPr/>
        </p:nvSpPr>
        <p:spPr bwMode="auto">
          <a:xfrm>
            <a:off x="4202113" y="3149600"/>
            <a:ext cx="719138" cy="720725"/>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lt1"/>
                </a:solidFill>
                <a:effectLst/>
                <a:uLnTx/>
                <a:uFillTx/>
                <a:latin typeface="+mn-lt"/>
                <a:ea typeface="+mn-ea"/>
                <a:cs typeface="+mn-cs"/>
              </a:rPr>
              <a:t>VS</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43" name="文本框 42"/>
          <p:cNvSpPr txBox="1"/>
          <p:nvPr/>
        </p:nvSpPr>
        <p:spPr>
          <a:xfrm>
            <a:off x="1073150" y="230188"/>
            <a:ext cx="4976813" cy="398780"/>
          </a:xfrm>
          <a:prstGeom prst="rect">
            <a:avLst/>
          </a:prstGeom>
          <a:noFill/>
        </p:spPr>
        <p:txBody>
          <a:bodyPr>
            <a:spAutoFit/>
          </a:bodyPr>
          <a:lstStyle/>
          <a:p>
            <a:pPr marR="0" defTabSz="914400" fontAlgn="auto">
              <a:spcBef>
                <a:spcPts val="0"/>
              </a:spcBef>
              <a:spcAft>
                <a:spcPts val="0"/>
              </a:spcAft>
              <a:buClrTx/>
              <a:buSzTx/>
              <a:buFontTx/>
              <a:buNone/>
              <a:defRPr/>
            </a:pPr>
            <a:r>
              <a:rPr kumimoji="0" lang="zh-CN" sz="2000" b="1" kern="1200" cap="none" spc="0" normalizeH="0" baseline="0" noProof="0" dirty="0">
                <a:solidFill>
                  <a:srgbClr val="1F3A65"/>
                </a:solidFill>
                <a:latin typeface="+mn-lt"/>
                <a:ea typeface="+mn-ea"/>
                <a:cs typeface="+mn-cs"/>
              </a:rPr>
              <a:t>深度学习模型</a:t>
            </a:r>
            <a:r>
              <a:rPr kumimoji="0" lang="en-US" altLang="zh-CN" sz="2000" b="1" kern="1200" cap="none" spc="0" normalizeH="0" baseline="0" noProof="0" dirty="0">
                <a:solidFill>
                  <a:srgbClr val="1F3A65"/>
                </a:solidFill>
                <a:latin typeface="+mn-lt"/>
                <a:ea typeface="+mn-ea"/>
                <a:cs typeface="+mn-cs"/>
              </a:rPr>
              <a:t>-</a:t>
            </a:r>
            <a:r>
              <a:rPr kumimoji="0" lang="zh-CN" altLang="en-US" sz="2000" b="1" kern="1200" cap="none" spc="0" normalizeH="0" baseline="0" noProof="0" dirty="0">
                <a:solidFill>
                  <a:srgbClr val="1F3A65"/>
                </a:solidFill>
                <a:latin typeface="+mn-lt"/>
                <a:ea typeface="+mn-ea"/>
                <a:cs typeface="+mn-cs"/>
              </a:rPr>
              <a:t>卷积神经网络</a:t>
            </a:r>
            <a:r>
              <a:rPr kumimoji="0" lang="en-US" altLang="zh-CN" sz="2000" b="1" kern="1200" cap="none" spc="0" normalizeH="0" baseline="0" noProof="0" dirty="0">
                <a:solidFill>
                  <a:srgbClr val="1F3A65"/>
                </a:solidFill>
                <a:latin typeface="+mn-lt"/>
                <a:ea typeface="+mn-ea"/>
                <a:cs typeface="+mn-cs"/>
              </a:rPr>
              <a:t>CNN</a:t>
            </a:r>
            <a:endParaRPr kumimoji="0" lang="en-US" altLang="zh-CN" sz="2000" b="1" kern="1200" cap="none" spc="0" normalizeH="0" baseline="0" noProof="0" dirty="0">
              <a:solidFill>
                <a:srgbClr val="1F3A65"/>
              </a:solidFill>
              <a:latin typeface="+mn-lt"/>
              <a:ea typeface="+mn-ea"/>
              <a:cs typeface="+mn-cs"/>
            </a:endParaRPr>
          </a:p>
        </p:txBody>
      </p:sp>
      <p:cxnSp>
        <p:nvCxnSpPr>
          <p:cNvPr id="6" name="直接连接符 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20497" name="Freeform 638"/>
          <p:cNvSpPr>
            <a:spLocks noChangeAspect="1" noEditPoints="1"/>
          </p:cNvSpPr>
          <p:nvPr/>
        </p:nvSpPr>
        <p:spPr>
          <a:xfrm>
            <a:off x="514350" y="336550"/>
            <a:ext cx="503238" cy="4635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21" h="111">
                <a:moveTo>
                  <a:pt x="16" y="0"/>
                </a:moveTo>
                <a:lnTo>
                  <a:pt x="93" y="0"/>
                </a:lnTo>
                <a:lnTo>
                  <a:pt x="99" y="0"/>
                </a:lnTo>
                <a:lnTo>
                  <a:pt x="99" y="4"/>
                </a:lnTo>
                <a:lnTo>
                  <a:pt x="99" y="22"/>
                </a:lnTo>
                <a:lnTo>
                  <a:pt x="89" y="30"/>
                </a:lnTo>
                <a:lnTo>
                  <a:pt x="89" y="8"/>
                </a:lnTo>
                <a:lnTo>
                  <a:pt x="20" y="8"/>
                </a:lnTo>
                <a:lnTo>
                  <a:pt x="20" y="16"/>
                </a:lnTo>
                <a:lnTo>
                  <a:pt x="27" y="14"/>
                </a:lnTo>
                <a:lnTo>
                  <a:pt x="31" y="12"/>
                </a:lnTo>
                <a:lnTo>
                  <a:pt x="35" y="20"/>
                </a:lnTo>
                <a:lnTo>
                  <a:pt x="29" y="22"/>
                </a:lnTo>
                <a:lnTo>
                  <a:pt x="20" y="26"/>
                </a:lnTo>
                <a:lnTo>
                  <a:pt x="20" y="30"/>
                </a:lnTo>
                <a:lnTo>
                  <a:pt x="27" y="28"/>
                </a:lnTo>
                <a:lnTo>
                  <a:pt x="31" y="26"/>
                </a:lnTo>
                <a:lnTo>
                  <a:pt x="35" y="36"/>
                </a:lnTo>
                <a:lnTo>
                  <a:pt x="29" y="39"/>
                </a:lnTo>
                <a:lnTo>
                  <a:pt x="20" y="41"/>
                </a:lnTo>
                <a:lnTo>
                  <a:pt x="20" y="47"/>
                </a:lnTo>
                <a:lnTo>
                  <a:pt x="27" y="45"/>
                </a:lnTo>
                <a:lnTo>
                  <a:pt x="31" y="43"/>
                </a:lnTo>
                <a:lnTo>
                  <a:pt x="35" y="53"/>
                </a:lnTo>
                <a:lnTo>
                  <a:pt x="29" y="55"/>
                </a:lnTo>
                <a:lnTo>
                  <a:pt x="20" y="57"/>
                </a:lnTo>
                <a:lnTo>
                  <a:pt x="20" y="63"/>
                </a:lnTo>
                <a:lnTo>
                  <a:pt x="27" y="61"/>
                </a:lnTo>
                <a:lnTo>
                  <a:pt x="31" y="59"/>
                </a:lnTo>
                <a:lnTo>
                  <a:pt x="35" y="67"/>
                </a:lnTo>
                <a:lnTo>
                  <a:pt x="29" y="69"/>
                </a:lnTo>
                <a:lnTo>
                  <a:pt x="20" y="73"/>
                </a:lnTo>
                <a:lnTo>
                  <a:pt x="20" y="79"/>
                </a:lnTo>
                <a:lnTo>
                  <a:pt x="27" y="77"/>
                </a:lnTo>
                <a:lnTo>
                  <a:pt x="31" y="75"/>
                </a:lnTo>
                <a:lnTo>
                  <a:pt x="35" y="85"/>
                </a:lnTo>
                <a:lnTo>
                  <a:pt x="29" y="87"/>
                </a:lnTo>
                <a:lnTo>
                  <a:pt x="20" y="89"/>
                </a:lnTo>
                <a:lnTo>
                  <a:pt x="20" y="99"/>
                </a:lnTo>
                <a:lnTo>
                  <a:pt x="20" y="101"/>
                </a:lnTo>
                <a:lnTo>
                  <a:pt x="89" y="101"/>
                </a:lnTo>
                <a:lnTo>
                  <a:pt x="89" y="79"/>
                </a:lnTo>
                <a:lnTo>
                  <a:pt x="99" y="71"/>
                </a:lnTo>
                <a:lnTo>
                  <a:pt x="99" y="105"/>
                </a:lnTo>
                <a:lnTo>
                  <a:pt x="99" y="111"/>
                </a:lnTo>
                <a:lnTo>
                  <a:pt x="93" y="111"/>
                </a:lnTo>
                <a:lnTo>
                  <a:pt x="16" y="111"/>
                </a:lnTo>
                <a:lnTo>
                  <a:pt x="10" y="111"/>
                </a:lnTo>
                <a:lnTo>
                  <a:pt x="10" y="105"/>
                </a:lnTo>
                <a:lnTo>
                  <a:pt x="10" y="99"/>
                </a:lnTo>
                <a:lnTo>
                  <a:pt x="0" y="99"/>
                </a:lnTo>
                <a:lnTo>
                  <a:pt x="0" y="89"/>
                </a:lnTo>
                <a:lnTo>
                  <a:pt x="10" y="83"/>
                </a:lnTo>
                <a:lnTo>
                  <a:pt x="10" y="81"/>
                </a:lnTo>
                <a:lnTo>
                  <a:pt x="0" y="81"/>
                </a:lnTo>
                <a:lnTo>
                  <a:pt x="0" y="73"/>
                </a:lnTo>
                <a:lnTo>
                  <a:pt x="10" y="67"/>
                </a:lnTo>
                <a:lnTo>
                  <a:pt x="10" y="65"/>
                </a:lnTo>
                <a:lnTo>
                  <a:pt x="0" y="65"/>
                </a:lnTo>
                <a:lnTo>
                  <a:pt x="0" y="57"/>
                </a:lnTo>
                <a:lnTo>
                  <a:pt x="10" y="51"/>
                </a:lnTo>
                <a:lnTo>
                  <a:pt x="0" y="51"/>
                </a:lnTo>
                <a:lnTo>
                  <a:pt x="0" y="41"/>
                </a:lnTo>
                <a:lnTo>
                  <a:pt x="10" y="34"/>
                </a:lnTo>
                <a:lnTo>
                  <a:pt x="0" y="34"/>
                </a:lnTo>
                <a:lnTo>
                  <a:pt x="0" y="24"/>
                </a:lnTo>
                <a:lnTo>
                  <a:pt x="10" y="20"/>
                </a:lnTo>
                <a:lnTo>
                  <a:pt x="10" y="4"/>
                </a:lnTo>
                <a:lnTo>
                  <a:pt x="10" y="0"/>
                </a:lnTo>
                <a:lnTo>
                  <a:pt x="16" y="0"/>
                </a:lnTo>
                <a:close/>
                <a:moveTo>
                  <a:pt x="43" y="53"/>
                </a:moveTo>
                <a:lnTo>
                  <a:pt x="43" y="59"/>
                </a:lnTo>
                <a:lnTo>
                  <a:pt x="55" y="59"/>
                </a:lnTo>
                <a:lnTo>
                  <a:pt x="55" y="53"/>
                </a:lnTo>
                <a:lnTo>
                  <a:pt x="43" y="53"/>
                </a:lnTo>
                <a:close/>
                <a:moveTo>
                  <a:pt x="43" y="41"/>
                </a:moveTo>
                <a:lnTo>
                  <a:pt x="43" y="47"/>
                </a:lnTo>
                <a:lnTo>
                  <a:pt x="67" y="47"/>
                </a:lnTo>
                <a:lnTo>
                  <a:pt x="67" y="41"/>
                </a:lnTo>
                <a:lnTo>
                  <a:pt x="43" y="41"/>
                </a:lnTo>
                <a:close/>
                <a:moveTo>
                  <a:pt x="43" y="28"/>
                </a:moveTo>
                <a:lnTo>
                  <a:pt x="43" y="34"/>
                </a:lnTo>
                <a:lnTo>
                  <a:pt x="77" y="34"/>
                </a:lnTo>
                <a:lnTo>
                  <a:pt x="77" y="28"/>
                </a:lnTo>
                <a:lnTo>
                  <a:pt x="43" y="28"/>
                </a:lnTo>
                <a:close/>
                <a:moveTo>
                  <a:pt x="43" y="18"/>
                </a:moveTo>
                <a:lnTo>
                  <a:pt x="43" y="22"/>
                </a:lnTo>
                <a:lnTo>
                  <a:pt x="77" y="22"/>
                </a:lnTo>
                <a:lnTo>
                  <a:pt x="77" y="18"/>
                </a:lnTo>
                <a:lnTo>
                  <a:pt x="43" y="18"/>
                </a:lnTo>
                <a:close/>
                <a:moveTo>
                  <a:pt x="55" y="87"/>
                </a:moveTo>
                <a:lnTo>
                  <a:pt x="63" y="87"/>
                </a:lnTo>
                <a:lnTo>
                  <a:pt x="71" y="87"/>
                </a:lnTo>
                <a:lnTo>
                  <a:pt x="65" y="79"/>
                </a:lnTo>
                <a:lnTo>
                  <a:pt x="57" y="73"/>
                </a:lnTo>
                <a:lnTo>
                  <a:pt x="57" y="81"/>
                </a:lnTo>
                <a:lnTo>
                  <a:pt x="55" y="87"/>
                </a:lnTo>
                <a:close/>
                <a:moveTo>
                  <a:pt x="107" y="24"/>
                </a:moveTo>
                <a:lnTo>
                  <a:pt x="63" y="67"/>
                </a:lnTo>
                <a:lnTo>
                  <a:pt x="77" y="81"/>
                </a:lnTo>
                <a:lnTo>
                  <a:pt x="121" y="39"/>
                </a:lnTo>
                <a:lnTo>
                  <a:pt x="107" y="24"/>
                </a:lnTo>
                <a:close/>
              </a:path>
            </a:pathLst>
          </a:custGeom>
          <a:solidFill>
            <a:srgbClr val="1F3A65"/>
          </a:solidFill>
          <a:ln w="9525">
            <a:noFill/>
          </a:ln>
        </p:spPr>
        <p:txBody>
          <a:bodyPr/>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481" name="组合 60"/>
          <p:cNvGrpSpPr/>
          <p:nvPr/>
        </p:nvGrpSpPr>
        <p:grpSpPr>
          <a:xfrm>
            <a:off x="1703388" y="1189355"/>
            <a:ext cx="5931534" cy="1935752"/>
            <a:chOff x="2274769" y="1601432"/>
            <a:chExt cx="5931694" cy="1935302"/>
          </a:xfrm>
        </p:grpSpPr>
        <p:sp>
          <p:nvSpPr>
            <p:cNvPr id="20482" name="文本框 58"/>
            <p:cNvSpPr txBox="1"/>
            <p:nvPr/>
          </p:nvSpPr>
          <p:spPr>
            <a:xfrm>
              <a:off x="2403677" y="1601432"/>
              <a:ext cx="5802786" cy="368214"/>
            </a:xfrm>
            <a:prstGeom prst="rect">
              <a:avLst/>
            </a:prstGeom>
            <a:noFill/>
            <a:ln w="9525">
              <a:noFill/>
            </a:ln>
          </p:spPr>
          <p:txBody>
            <a:bodyPr wrap="square" anchor="t" anchorCtr="0">
              <a:spAutoFit/>
            </a:bodyPr>
            <a:p>
              <a:r>
                <a:rPr lang="en-US" altLang="zh-CN" b="1" dirty="0">
                  <a:latin typeface="微软雅黑" panose="020B0503020204020204" pitchFamily="34" charset="-122"/>
                  <a:ea typeface="微软雅黑" panose="020B0503020204020204" pitchFamily="34" charset="-122"/>
                </a:rPr>
                <a:t>WhyCNN</a:t>
              </a:r>
              <a:r>
                <a:rPr lang="zh-CN" altLang="en-US" b="1" dirty="0">
                  <a:latin typeface="微软雅黑" panose="020B0503020204020204" pitchFamily="34" charset="-122"/>
                  <a:ea typeface="微软雅黑" panose="020B0503020204020204" pitchFamily="34" charset="-122"/>
                </a:rPr>
                <a:t>？现有的技术</a:t>
              </a:r>
              <a:r>
                <a:rPr lang="en-US" altLang="zh-CN" b="1" dirty="0">
                  <a:latin typeface="微软雅黑" panose="020B0503020204020204" pitchFamily="34" charset="-122"/>
                  <a:ea typeface="微软雅黑" panose="020B0503020204020204" pitchFamily="34" charset="-122"/>
                </a:rPr>
                <a:t>-CNN,RNN,Transformer</a:t>
              </a:r>
              <a:endParaRPr lang="en-US" altLang="zh-CN" b="1" dirty="0">
                <a:latin typeface="微软雅黑" panose="020B0503020204020204" pitchFamily="34" charset="-122"/>
                <a:ea typeface="微软雅黑" panose="020B0503020204020204" pitchFamily="34" charset="-122"/>
              </a:endParaRPr>
            </a:p>
          </p:txBody>
        </p:sp>
        <p:sp>
          <p:nvSpPr>
            <p:cNvPr id="20483" name="文本框 59"/>
            <p:cNvSpPr txBox="1"/>
            <p:nvPr/>
          </p:nvSpPr>
          <p:spPr>
            <a:xfrm>
              <a:off x="2274769" y="1971188"/>
              <a:ext cx="5715154" cy="1565546"/>
            </a:xfrm>
            <a:prstGeom prst="rect">
              <a:avLst/>
            </a:prstGeom>
            <a:noFill/>
            <a:ln w="9525">
              <a:noFill/>
            </a:ln>
          </p:spPr>
          <p:txBody>
            <a:bodyPr anchor="t" anchorCtr="0">
              <a:spAutoFit/>
            </a:bodyPr>
            <a:p>
              <a:pPr>
                <a:lnSpc>
                  <a:spcPct val="120000"/>
                </a:lnSpc>
              </a:pPr>
              <a:r>
                <a:rPr lang="zh-CN" altLang="en-US" sz="1600" dirty="0">
                  <a:latin typeface="微软雅黑" panose="020B0503020204020204" pitchFamily="34" charset="-122"/>
                  <a:ea typeface="微软雅黑" panose="020B0503020204020204" pitchFamily="34" charset="-122"/>
                </a:rPr>
                <a:t>这些神经网络的基础都基于最经典的具有前向传导后向纠错能力的</a:t>
              </a:r>
              <a:r>
                <a:rPr lang="en-US" altLang="zh-CN" sz="1600" dirty="0">
                  <a:latin typeface="微软雅黑" panose="020B0503020204020204" pitchFamily="34" charset="-122"/>
                  <a:ea typeface="微软雅黑" panose="020B0503020204020204" pitchFamily="34" charset="-122"/>
                </a:rPr>
                <a:t>BP</a:t>
              </a:r>
              <a:r>
                <a:rPr lang="zh-CN" altLang="en-US" sz="1600" dirty="0">
                  <a:latin typeface="微软雅黑" panose="020B0503020204020204" pitchFamily="34" charset="-122"/>
                  <a:ea typeface="微软雅黑" panose="020B0503020204020204" pitchFamily="34" charset="-122"/>
                </a:rPr>
                <a:t>神经网络，考虑到</a:t>
              </a:r>
              <a:r>
                <a:rPr lang="en-US" altLang="zh-CN" sz="1600" dirty="0">
                  <a:latin typeface="微软雅黑" panose="020B0503020204020204" pitchFamily="34" charset="-122"/>
                  <a:ea typeface="微软雅黑" panose="020B0503020204020204" pitchFamily="34" charset="-122"/>
                </a:rPr>
                <a:t>RNN</a:t>
              </a:r>
              <a:r>
                <a:rPr lang="zh-CN" altLang="en-US" sz="1600" dirty="0">
                  <a:latin typeface="微软雅黑" panose="020B0503020204020204" pitchFamily="34" charset="-122"/>
                  <a:ea typeface="微软雅黑" panose="020B0503020204020204" pitchFamily="34" charset="-122"/>
                </a:rPr>
                <a:t>一般处理时序问题较为简单，</a:t>
              </a:r>
              <a:r>
                <a:rPr lang="en-US" altLang="zh-CN" sz="1600" dirty="0">
                  <a:latin typeface="微软雅黑" panose="020B0503020204020204" pitchFamily="34" charset="-122"/>
                  <a:ea typeface="微软雅黑" panose="020B0503020204020204" pitchFamily="34" charset="-122"/>
                </a:rPr>
                <a:t>transformer</a:t>
              </a:r>
              <a:r>
                <a:rPr lang="zh-CN" altLang="en-US" sz="1600" dirty="0">
                  <a:latin typeface="微软雅黑" panose="020B0503020204020204" pitchFamily="34" charset="-122"/>
                  <a:ea typeface="微软雅黑" panose="020B0503020204020204" pitchFamily="34" charset="-122"/>
                </a:rPr>
                <a:t>技术具有少量的归纳偏见，但对于大量数据集效果好，少量数据效果与</a:t>
              </a:r>
              <a:r>
                <a:rPr lang="en-US" altLang="zh-CN" sz="1600" dirty="0">
                  <a:latin typeface="微软雅黑" panose="020B0503020204020204" pitchFamily="34" charset="-122"/>
                  <a:ea typeface="微软雅黑" panose="020B0503020204020204" pitchFamily="34" charset="-122"/>
                </a:rPr>
                <a:t>CNN</a:t>
              </a:r>
              <a:r>
                <a:rPr lang="zh-CN" altLang="en-US" sz="1600" dirty="0">
                  <a:latin typeface="微软雅黑" panose="020B0503020204020204" pitchFamily="34" charset="-122"/>
                  <a:ea typeface="微软雅黑" panose="020B0503020204020204" pitchFamily="34" charset="-122"/>
                </a:rPr>
                <a:t>无明显差别，且该模型对于参数较为敏感，训练过程较为复杂</a:t>
              </a:r>
              <a:endParaRPr lang="zh-CN" altLang="en-US" sz="1600" dirty="0">
                <a:latin typeface="微软雅黑" panose="020B0503020204020204" pitchFamily="34" charset="-122"/>
                <a:ea typeface="微软雅黑" panose="020B0503020204020204" pitchFamily="34" charset="-122"/>
              </a:endParaRPr>
            </a:p>
          </p:txBody>
        </p:sp>
      </p:grpSp>
      <p:grpSp>
        <p:nvGrpSpPr>
          <p:cNvPr id="20484" name="组合 61"/>
          <p:cNvGrpSpPr/>
          <p:nvPr/>
        </p:nvGrpSpPr>
        <p:grpSpPr>
          <a:xfrm>
            <a:off x="1703705" y="3958590"/>
            <a:ext cx="7122160" cy="2445471"/>
            <a:chOff x="899181" y="1712532"/>
            <a:chExt cx="6311984" cy="2181535"/>
          </a:xfrm>
        </p:grpSpPr>
        <p:sp>
          <p:nvSpPr>
            <p:cNvPr id="20485" name="文本框 62"/>
            <p:cNvSpPr txBox="1"/>
            <p:nvPr/>
          </p:nvSpPr>
          <p:spPr>
            <a:xfrm>
              <a:off x="1028075" y="1712532"/>
              <a:ext cx="1800068" cy="328550"/>
            </a:xfrm>
            <a:prstGeom prst="rect">
              <a:avLst/>
            </a:prstGeom>
            <a:noFill/>
            <a:ln w="9525">
              <a:noFill/>
            </a:ln>
          </p:spPr>
          <p:txBody>
            <a:bodyPr wrap="square" anchor="t" anchorCtr="0">
              <a:spAutoFit/>
            </a:bodyPr>
            <a:p>
              <a:pPr algn="r"/>
              <a:r>
                <a:rPr lang="en-US" altLang="zh-CN" b="1" dirty="0">
                  <a:latin typeface="微软雅黑" panose="020B0503020204020204" pitchFamily="34" charset="-122"/>
                  <a:ea typeface="微软雅黑" panose="020B0503020204020204" pitchFamily="34" charset="-122"/>
                </a:rPr>
                <a:t>CNN</a:t>
              </a:r>
              <a:r>
                <a:rPr lang="zh-CN" altLang="en-US" b="1" dirty="0">
                  <a:latin typeface="微软雅黑" panose="020B0503020204020204" pitchFamily="34" charset="-122"/>
                  <a:ea typeface="微软雅黑" panose="020B0503020204020204" pitchFamily="34" charset="-122"/>
                </a:rPr>
                <a:t>训练原理</a:t>
              </a:r>
              <a:endParaRPr lang="zh-CN" altLang="en-US" b="1" dirty="0">
                <a:latin typeface="微软雅黑" panose="020B0503020204020204" pitchFamily="34" charset="-122"/>
                <a:ea typeface="微软雅黑" panose="020B0503020204020204" pitchFamily="34" charset="-122"/>
              </a:endParaRPr>
            </a:p>
          </p:txBody>
        </p:sp>
        <p:sp>
          <p:nvSpPr>
            <p:cNvPr id="20486" name="文本框 63"/>
            <p:cNvSpPr txBox="1"/>
            <p:nvPr/>
          </p:nvSpPr>
          <p:spPr>
            <a:xfrm>
              <a:off x="899181" y="1970917"/>
              <a:ext cx="6311984" cy="1923150"/>
            </a:xfrm>
            <a:prstGeom prst="rect">
              <a:avLst/>
            </a:prstGeom>
            <a:noFill/>
            <a:ln w="9525">
              <a:noFill/>
            </a:ln>
          </p:spPr>
          <p:txBody>
            <a:bodyPr wrap="square" anchor="t" anchorCtr="0">
              <a:spAutoFit/>
            </a:bodyPr>
            <a:p>
              <a:pPr indent="457200" algn="l">
                <a:lnSpc>
                  <a:spcPct val="120000"/>
                </a:lnSpc>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卷积运算：当把图像矩阵化后，规定一个权值矩阵，这个权值与图像结合保证每个像素点都被结合一起，并经过卷积运算得到一个矩阵。</a:t>
              </a:r>
              <a:endParaRPr lang="zh-CN" altLang="en-US" sz="1600" dirty="0">
                <a:latin typeface="微软雅黑" panose="020B0503020204020204" pitchFamily="34" charset="-122"/>
                <a:ea typeface="微软雅黑" panose="020B0503020204020204" pitchFamily="34" charset="-122"/>
              </a:endParaRPr>
            </a:p>
            <a:p>
              <a:pPr indent="457200" algn="l">
                <a:lnSpc>
                  <a:spcPct val="120000"/>
                </a:lnSpc>
              </a:pP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经过多次卷积运算后的图像进入池化层，对于卷积后的图像只按照规则取部分像素点，该操作用于减少训练量，</a:t>
              </a:r>
              <a:endParaRPr lang="zh-CN" altLang="en-US" sz="1600" dirty="0">
                <a:latin typeface="微软雅黑" panose="020B0503020204020204" pitchFamily="34" charset="-122"/>
                <a:ea typeface="微软雅黑" panose="020B0503020204020204" pitchFamily="34" charset="-122"/>
              </a:endParaRPr>
            </a:p>
            <a:p>
              <a:pPr indent="457200" algn="l">
                <a:lnSpc>
                  <a:spcPct val="120000"/>
                </a:lnSpc>
              </a:pP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然后全连接层用于生成和输入时相同量的像素图，最后输出层加入损失函数的计算，用于预测误差，一旦前向传播完成，反向传播就会开始更新权重与偏差，以减少误差和损失。</a:t>
              </a:r>
              <a:endParaRPr lang="zh-CN" altLang="en-US" sz="1600" dirty="0">
                <a:latin typeface="微软雅黑" panose="020B0503020204020204" pitchFamily="34" charset="-122"/>
                <a:ea typeface="微软雅黑" panose="020B0503020204020204" pitchFamily="34" charset="-122"/>
              </a:endParaRPr>
            </a:p>
          </p:txBody>
        </p:sp>
      </p:grpSp>
      <p:cxnSp>
        <p:nvCxnSpPr>
          <p:cNvPr id="23" name="直接连接符 22"/>
          <p:cNvCxnSpPr/>
          <p:nvPr/>
        </p:nvCxnSpPr>
        <p:spPr bwMode="auto">
          <a:xfrm flipH="1">
            <a:off x="1216025" y="3509963"/>
            <a:ext cx="6710363" cy="0"/>
          </a:xfrm>
          <a:prstGeom prst="line">
            <a:avLst/>
          </a:prstGeom>
          <a:ln w="38100">
            <a:solidFill>
              <a:srgbClr val="1F3A65"/>
            </a:solidFill>
          </a:ln>
        </p:spPr>
        <p:style>
          <a:lnRef idx="1">
            <a:schemeClr val="accent1"/>
          </a:lnRef>
          <a:fillRef idx="0">
            <a:schemeClr val="accent1"/>
          </a:fillRef>
          <a:effectRef idx="0">
            <a:schemeClr val="accent1"/>
          </a:effectRef>
          <a:fontRef idx="minor">
            <a:schemeClr val="tx1"/>
          </a:fontRef>
        </p:style>
      </p:cxnSp>
      <p:sp>
        <p:nvSpPr>
          <p:cNvPr id="49" name="等腰三角形 48"/>
          <p:cNvSpPr/>
          <p:nvPr/>
        </p:nvSpPr>
        <p:spPr bwMode="auto">
          <a:xfrm rot="2700000">
            <a:off x="1373188" y="3132138"/>
            <a:ext cx="304800" cy="263525"/>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6" name="椭圆 35"/>
          <p:cNvSpPr>
            <a:spLocks noChangeAspect="1"/>
          </p:cNvSpPr>
          <p:nvPr/>
        </p:nvSpPr>
        <p:spPr bwMode="auto">
          <a:xfrm>
            <a:off x="803275" y="3117850"/>
            <a:ext cx="863600" cy="863600"/>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490" name="Freeform 624"/>
          <p:cNvSpPr>
            <a:spLocks noChangeAspect="1" noEditPoints="1"/>
          </p:cNvSpPr>
          <p:nvPr/>
        </p:nvSpPr>
        <p:spPr>
          <a:xfrm>
            <a:off x="950913" y="3290888"/>
            <a:ext cx="539750" cy="45720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64" h="54">
                <a:moveTo>
                  <a:pt x="28" y="21"/>
                </a:moveTo>
                <a:cubicBezTo>
                  <a:pt x="31" y="23"/>
                  <a:pt x="34" y="25"/>
                  <a:pt x="36" y="28"/>
                </a:cubicBezTo>
                <a:cubicBezTo>
                  <a:pt x="36" y="28"/>
                  <a:pt x="37" y="29"/>
                  <a:pt x="37" y="29"/>
                </a:cubicBezTo>
                <a:cubicBezTo>
                  <a:pt x="38" y="27"/>
                  <a:pt x="38" y="27"/>
                  <a:pt x="38" y="27"/>
                </a:cubicBezTo>
                <a:cubicBezTo>
                  <a:pt x="38" y="14"/>
                  <a:pt x="38" y="14"/>
                  <a:pt x="38" y="14"/>
                </a:cubicBezTo>
                <a:cubicBezTo>
                  <a:pt x="38" y="14"/>
                  <a:pt x="38" y="14"/>
                  <a:pt x="38" y="14"/>
                </a:cubicBezTo>
                <a:cubicBezTo>
                  <a:pt x="36" y="14"/>
                  <a:pt x="36" y="14"/>
                  <a:pt x="36" y="14"/>
                </a:cubicBezTo>
                <a:cubicBezTo>
                  <a:pt x="36" y="12"/>
                  <a:pt x="36" y="12"/>
                  <a:pt x="36" y="12"/>
                </a:cubicBezTo>
                <a:cubicBezTo>
                  <a:pt x="36" y="9"/>
                  <a:pt x="36" y="9"/>
                  <a:pt x="36" y="9"/>
                </a:cubicBezTo>
                <a:cubicBezTo>
                  <a:pt x="36" y="8"/>
                  <a:pt x="36" y="8"/>
                  <a:pt x="36" y="8"/>
                </a:cubicBezTo>
                <a:cubicBezTo>
                  <a:pt x="38" y="8"/>
                  <a:pt x="38" y="8"/>
                  <a:pt x="38" y="8"/>
                </a:cubicBezTo>
                <a:cubicBezTo>
                  <a:pt x="52" y="8"/>
                  <a:pt x="52" y="8"/>
                  <a:pt x="52" y="8"/>
                </a:cubicBezTo>
                <a:cubicBezTo>
                  <a:pt x="54" y="8"/>
                  <a:pt x="54" y="8"/>
                  <a:pt x="54" y="8"/>
                </a:cubicBezTo>
                <a:cubicBezTo>
                  <a:pt x="54" y="9"/>
                  <a:pt x="54" y="9"/>
                  <a:pt x="54" y="9"/>
                </a:cubicBezTo>
                <a:cubicBezTo>
                  <a:pt x="54" y="12"/>
                  <a:pt x="54" y="12"/>
                  <a:pt x="54" y="12"/>
                </a:cubicBezTo>
                <a:cubicBezTo>
                  <a:pt x="54" y="14"/>
                  <a:pt x="54" y="14"/>
                  <a:pt x="54" y="14"/>
                </a:cubicBezTo>
                <a:cubicBezTo>
                  <a:pt x="52" y="14"/>
                  <a:pt x="52" y="14"/>
                  <a:pt x="52" y="14"/>
                </a:cubicBezTo>
                <a:cubicBezTo>
                  <a:pt x="52" y="27"/>
                  <a:pt x="52" y="27"/>
                  <a:pt x="52" y="27"/>
                </a:cubicBezTo>
                <a:cubicBezTo>
                  <a:pt x="57" y="34"/>
                  <a:pt x="57" y="34"/>
                  <a:pt x="57" y="34"/>
                </a:cubicBezTo>
                <a:cubicBezTo>
                  <a:pt x="57" y="34"/>
                  <a:pt x="57" y="34"/>
                  <a:pt x="57" y="34"/>
                </a:cubicBezTo>
                <a:cubicBezTo>
                  <a:pt x="63" y="45"/>
                  <a:pt x="63" y="45"/>
                  <a:pt x="63" y="45"/>
                </a:cubicBezTo>
                <a:cubicBezTo>
                  <a:pt x="63" y="45"/>
                  <a:pt x="63" y="45"/>
                  <a:pt x="63" y="45"/>
                </a:cubicBezTo>
                <a:cubicBezTo>
                  <a:pt x="64" y="47"/>
                  <a:pt x="64" y="48"/>
                  <a:pt x="64" y="49"/>
                </a:cubicBezTo>
                <a:cubicBezTo>
                  <a:pt x="64" y="50"/>
                  <a:pt x="64" y="51"/>
                  <a:pt x="63" y="51"/>
                </a:cubicBezTo>
                <a:cubicBezTo>
                  <a:pt x="63" y="52"/>
                  <a:pt x="62" y="53"/>
                  <a:pt x="61" y="53"/>
                </a:cubicBezTo>
                <a:cubicBezTo>
                  <a:pt x="61" y="54"/>
                  <a:pt x="60" y="54"/>
                  <a:pt x="59" y="54"/>
                </a:cubicBezTo>
                <a:cubicBezTo>
                  <a:pt x="59" y="54"/>
                  <a:pt x="59" y="54"/>
                  <a:pt x="59" y="54"/>
                </a:cubicBezTo>
                <a:cubicBezTo>
                  <a:pt x="45" y="54"/>
                  <a:pt x="45" y="54"/>
                  <a:pt x="45" y="54"/>
                </a:cubicBezTo>
                <a:cubicBezTo>
                  <a:pt x="32" y="54"/>
                  <a:pt x="32" y="54"/>
                  <a:pt x="32" y="54"/>
                </a:cubicBezTo>
                <a:cubicBezTo>
                  <a:pt x="32" y="54"/>
                  <a:pt x="32" y="54"/>
                  <a:pt x="32" y="54"/>
                </a:cubicBezTo>
                <a:cubicBezTo>
                  <a:pt x="32" y="54"/>
                  <a:pt x="32" y="54"/>
                  <a:pt x="32" y="54"/>
                </a:cubicBezTo>
                <a:cubicBezTo>
                  <a:pt x="32" y="54"/>
                  <a:pt x="32" y="54"/>
                  <a:pt x="32" y="54"/>
                </a:cubicBezTo>
                <a:cubicBezTo>
                  <a:pt x="31" y="54"/>
                  <a:pt x="31" y="54"/>
                  <a:pt x="31" y="54"/>
                </a:cubicBezTo>
                <a:cubicBezTo>
                  <a:pt x="8" y="54"/>
                  <a:pt x="8" y="54"/>
                  <a:pt x="8" y="54"/>
                </a:cubicBezTo>
                <a:cubicBezTo>
                  <a:pt x="7" y="54"/>
                  <a:pt x="7" y="54"/>
                  <a:pt x="7" y="54"/>
                </a:cubicBezTo>
                <a:cubicBezTo>
                  <a:pt x="7" y="53"/>
                  <a:pt x="7" y="53"/>
                  <a:pt x="7" y="53"/>
                </a:cubicBezTo>
                <a:cubicBezTo>
                  <a:pt x="5" y="51"/>
                  <a:pt x="3" y="49"/>
                  <a:pt x="2" y="47"/>
                </a:cubicBezTo>
                <a:cubicBezTo>
                  <a:pt x="1" y="44"/>
                  <a:pt x="0" y="41"/>
                  <a:pt x="0" y="39"/>
                </a:cubicBezTo>
                <a:cubicBezTo>
                  <a:pt x="0" y="35"/>
                  <a:pt x="1" y="31"/>
                  <a:pt x="3" y="28"/>
                </a:cubicBezTo>
                <a:cubicBezTo>
                  <a:pt x="5" y="25"/>
                  <a:pt x="8" y="23"/>
                  <a:pt x="11" y="21"/>
                </a:cubicBezTo>
                <a:cubicBezTo>
                  <a:pt x="11" y="10"/>
                  <a:pt x="11" y="10"/>
                  <a:pt x="11" y="10"/>
                </a:cubicBezTo>
                <a:cubicBezTo>
                  <a:pt x="9" y="10"/>
                  <a:pt x="9" y="10"/>
                  <a:pt x="9" y="10"/>
                </a:cubicBezTo>
                <a:cubicBezTo>
                  <a:pt x="7" y="10"/>
                  <a:pt x="7" y="10"/>
                  <a:pt x="7" y="10"/>
                </a:cubicBezTo>
                <a:cubicBezTo>
                  <a:pt x="7" y="8"/>
                  <a:pt x="7" y="8"/>
                  <a:pt x="7" y="8"/>
                </a:cubicBezTo>
                <a:cubicBezTo>
                  <a:pt x="7" y="2"/>
                  <a:pt x="7" y="2"/>
                  <a:pt x="7" y="2"/>
                </a:cubicBezTo>
                <a:cubicBezTo>
                  <a:pt x="7" y="0"/>
                  <a:pt x="7" y="0"/>
                  <a:pt x="7" y="0"/>
                </a:cubicBezTo>
                <a:cubicBezTo>
                  <a:pt x="9" y="0"/>
                  <a:pt x="9" y="0"/>
                  <a:pt x="9" y="0"/>
                </a:cubicBezTo>
                <a:cubicBezTo>
                  <a:pt x="30" y="0"/>
                  <a:pt x="30" y="0"/>
                  <a:pt x="30" y="0"/>
                </a:cubicBezTo>
                <a:cubicBezTo>
                  <a:pt x="32" y="0"/>
                  <a:pt x="32" y="0"/>
                  <a:pt x="32" y="0"/>
                </a:cubicBezTo>
                <a:cubicBezTo>
                  <a:pt x="32" y="2"/>
                  <a:pt x="32" y="2"/>
                  <a:pt x="32" y="2"/>
                </a:cubicBezTo>
                <a:cubicBezTo>
                  <a:pt x="32" y="8"/>
                  <a:pt x="32" y="8"/>
                  <a:pt x="32" y="8"/>
                </a:cubicBezTo>
                <a:cubicBezTo>
                  <a:pt x="32" y="10"/>
                  <a:pt x="32" y="10"/>
                  <a:pt x="32" y="10"/>
                </a:cubicBezTo>
                <a:cubicBezTo>
                  <a:pt x="30" y="10"/>
                  <a:pt x="30" y="10"/>
                  <a:pt x="30" y="10"/>
                </a:cubicBezTo>
                <a:cubicBezTo>
                  <a:pt x="28" y="10"/>
                  <a:pt x="28" y="10"/>
                  <a:pt x="28" y="10"/>
                </a:cubicBezTo>
                <a:cubicBezTo>
                  <a:pt x="28" y="21"/>
                  <a:pt x="28" y="21"/>
                  <a:pt x="28" y="21"/>
                </a:cubicBezTo>
                <a:close/>
                <a:moveTo>
                  <a:pt x="49" y="35"/>
                </a:moveTo>
                <a:cubicBezTo>
                  <a:pt x="51" y="38"/>
                  <a:pt x="51" y="38"/>
                  <a:pt x="51" y="38"/>
                </a:cubicBezTo>
                <a:cubicBezTo>
                  <a:pt x="57" y="47"/>
                  <a:pt x="57" y="47"/>
                  <a:pt x="57" y="47"/>
                </a:cubicBezTo>
                <a:cubicBezTo>
                  <a:pt x="45" y="47"/>
                  <a:pt x="45" y="47"/>
                  <a:pt x="45" y="47"/>
                </a:cubicBezTo>
                <a:cubicBezTo>
                  <a:pt x="37" y="47"/>
                  <a:pt x="37" y="47"/>
                  <a:pt x="37" y="47"/>
                </a:cubicBezTo>
                <a:cubicBezTo>
                  <a:pt x="37" y="48"/>
                  <a:pt x="36" y="49"/>
                  <a:pt x="36" y="50"/>
                </a:cubicBezTo>
                <a:cubicBezTo>
                  <a:pt x="45" y="50"/>
                  <a:pt x="45" y="50"/>
                  <a:pt x="45" y="50"/>
                </a:cubicBezTo>
                <a:cubicBezTo>
                  <a:pt x="59" y="50"/>
                  <a:pt x="59" y="50"/>
                  <a:pt x="59" y="50"/>
                </a:cubicBezTo>
                <a:cubicBezTo>
                  <a:pt x="59" y="50"/>
                  <a:pt x="59" y="50"/>
                  <a:pt x="59" y="50"/>
                </a:cubicBezTo>
                <a:cubicBezTo>
                  <a:pt x="59" y="50"/>
                  <a:pt x="59" y="50"/>
                  <a:pt x="60" y="50"/>
                </a:cubicBezTo>
                <a:cubicBezTo>
                  <a:pt x="60" y="50"/>
                  <a:pt x="60" y="50"/>
                  <a:pt x="60" y="49"/>
                </a:cubicBezTo>
                <a:cubicBezTo>
                  <a:pt x="60" y="49"/>
                  <a:pt x="60" y="49"/>
                  <a:pt x="60" y="49"/>
                </a:cubicBezTo>
                <a:cubicBezTo>
                  <a:pt x="60" y="48"/>
                  <a:pt x="60" y="48"/>
                  <a:pt x="60" y="47"/>
                </a:cubicBezTo>
                <a:cubicBezTo>
                  <a:pt x="53" y="36"/>
                  <a:pt x="53" y="36"/>
                  <a:pt x="53" y="36"/>
                </a:cubicBezTo>
                <a:cubicBezTo>
                  <a:pt x="53" y="36"/>
                  <a:pt x="53" y="36"/>
                  <a:pt x="53" y="36"/>
                </a:cubicBezTo>
                <a:cubicBezTo>
                  <a:pt x="49" y="28"/>
                  <a:pt x="49" y="28"/>
                  <a:pt x="49" y="28"/>
                </a:cubicBezTo>
                <a:cubicBezTo>
                  <a:pt x="48" y="28"/>
                  <a:pt x="48" y="28"/>
                  <a:pt x="48" y="28"/>
                </a:cubicBezTo>
                <a:cubicBezTo>
                  <a:pt x="48" y="27"/>
                  <a:pt x="48" y="27"/>
                  <a:pt x="48" y="27"/>
                </a:cubicBezTo>
                <a:cubicBezTo>
                  <a:pt x="48" y="12"/>
                  <a:pt x="48" y="12"/>
                  <a:pt x="48" y="12"/>
                </a:cubicBezTo>
                <a:cubicBezTo>
                  <a:pt x="48" y="11"/>
                  <a:pt x="48" y="11"/>
                  <a:pt x="48" y="11"/>
                </a:cubicBezTo>
                <a:cubicBezTo>
                  <a:pt x="42" y="11"/>
                  <a:pt x="42" y="11"/>
                  <a:pt x="42" y="11"/>
                </a:cubicBezTo>
                <a:cubicBezTo>
                  <a:pt x="42" y="12"/>
                  <a:pt x="42" y="12"/>
                  <a:pt x="42" y="12"/>
                </a:cubicBezTo>
                <a:cubicBezTo>
                  <a:pt x="42" y="28"/>
                  <a:pt x="42" y="28"/>
                  <a:pt x="42" y="28"/>
                </a:cubicBezTo>
                <a:cubicBezTo>
                  <a:pt x="42" y="28"/>
                  <a:pt x="42" y="28"/>
                  <a:pt x="42" y="28"/>
                </a:cubicBezTo>
                <a:cubicBezTo>
                  <a:pt x="42" y="29"/>
                  <a:pt x="42" y="29"/>
                  <a:pt x="42" y="29"/>
                </a:cubicBezTo>
                <a:cubicBezTo>
                  <a:pt x="39" y="34"/>
                  <a:pt x="39" y="34"/>
                  <a:pt x="39" y="34"/>
                </a:cubicBezTo>
                <a:cubicBezTo>
                  <a:pt x="39" y="35"/>
                  <a:pt x="39" y="37"/>
                  <a:pt x="39" y="38"/>
                </a:cubicBezTo>
                <a:cubicBezTo>
                  <a:pt x="40" y="38"/>
                  <a:pt x="40" y="38"/>
                  <a:pt x="40" y="38"/>
                </a:cubicBezTo>
                <a:cubicBezTo>
                  <a:pt x="41" y="35"/>
                  <a:pt x="41" y="35"/>
                  <a:pt x="41" y="35"/>
                </a:cubicBezTo>
                <a:cubicBezTo>
                  <a:pt x="49" y="35"/>
                  <a:pt x="49" y="35"/>
                  <a:pt x="49" y="35"/>
                </a:cubicBezTo>
                <a:close/>
                <a:moveTo>
                  <a:pt x="27" y="46"/>
                </a:moveTo>
                <a:cubicBezTo>
                  <a:pt x="27" y="46"/>
                  <a:pt x="27" y="46"/>
                  <a:pt x="27" y="46"/>
                </a:cubicBezTo>
                <a:cubicBezTo>
                  <a:pt x="31" y="39"/>
                  <a:pt x="31" y="39"/>
                  <a:pt x="31" y="39"/>
                </a:cubicBezTo>
                <a:cubicBezTo>
                  <a:pt x="31" y="38"/>
                  <a:pt x="31" y="37"/>
                  <a:pt x="31" y="36"/>
                </a:cubicBezTo>
                <a:cubicBezTo>
                  <a:pt x="31" y="36"/>
                  <a:pt x="31" y="35"/>
                  <a:pt x="30" y="35"/>
                </a:cubicBezTo>
                <a:cubicBezTo>
                  <a:pt x="10" y="35"/>
                  <a:pt x="10" y="35"/>
                  <a:pt x="10" y="35"/>
                </a:cubicBezTo>
                <a:cubicBezTo>
                  <a:pt x="10" y="35"/>
                  <a:pt x="10" y="36"/>
                  <a:pt x="9" y="36"/>
                </a:cubicBezTo>
                <a:cubicBezTo>
                  <a:pt x="9" y="37"/>
                  <a:pt x="9" y="38"/>
                  <a:pt x="9" y="39"/>
                </a:cubicBezTo>
                <a:cubicBezTo>
                  <a:pt x="9" y="40"/>
                  <a:pt x="9" y="42"/>
                  <a:pt x="10" y="43"/>
                </a:cubicBezTo>
                <a:cubicBezTo>
                  <a:pt x="10" y="44"/>
                  <a:pt x="11" y="45"/>
                  <a:pt x="12" y="46"/>
                </a:cubicBezTo>
                <a:cubicBezTo>
                  <a:pt x="27" y="46"/>
                  <a:pt x="27" y="46"/>
                  <a:pt x="27" y="46"/>
                </a:cubicBezTo>
                <a:close/>
                <a:moveTo>
                  <a:pt x="7" y="29"/>
                </a:moveTo>
                <a:cubicBezTo>
                  <a:pt x="8" y="29"/>
                  <a:pt x="8" y="29"/>
                  <a:pt x="8" y="29"/>
                </a:cubicBezTo>
                <a:cubicBezTo>
                  <a:pt x="32" y="29"/>
                  <a:pt x="32" y="29"/>
                  <a:pt x="32" y="29"/>
                </a:cubicBezTo>
                <a:cubicBezTo>
                  <a:pt x="32" y="29"/>
                  <a:pt x="32" y="29"/>
                  <a:pt x="32" y="29"/>
                </a:cubicBezTo>
                <a:cubicBezTo>
                  <a:pt x="31" y="27"/>
                  <a:pt x="28" y="25"/>
                  <a:pt x="26" y="24"/>
                </a:cubicBezTo>
                <a:cubicBezTo>
                  <a:pt x="24" y="24"/>
                  <a:pt x="24" y="24"/>
                  <a:pt x="24" y="24"/>
                </a:cubicBezTo>
                <a:cubicBezTo>
                  <a:pt x="24" y="22"/>
                  <a:pt x="24" y="22"/>
                  <a:pt x="24" y="22"/>
                </a:cubicBezTo>
                <a:cubicBezTo>
                  <a:pt x="24" y="8"/>
                  <a:pt x="24" y="8"/>
                  <a:pt x="24" y="8"/>
                </a:cubicBezTo>
                <a:cubicBezTo>
                  <a:pt x="24" y="6"/>
                  <a:pt x="24" y="6"/>
                  <a:pt x="24" y="6"/>
                </a:cubicBezTo>
                <a:cubicBezTo>
                  <a:pt x="26" y="6"/>
                  <a:pt x="26" y="6"/>
                  <a:pt x="26" y="6"/>
                </a:cubicBezTo>
                <a:cubicBezTo>
                  <a:pt x="28" y="6"/>
                  <a:pt x="28" y="6"/>
                  <a:pt x="28" y="6"/>
                </a:cubicBezTo>
                <a:cubicBezTo>
                  <a:pt x="28" y="4"/>
                  <a:pt x="28" y="4"/>
                  <a:pt x="28" y="4"/>
                </a:cubicBezTo>
                <a:cubicBezTo>
                  <a:pt x="11" y="4"/>
                  <a:pt x="11" y="4"/>
                  <a:pt x="11" y="4"/>
                </a:cubicBezTo>
                <a:cubicBezTo>
                  <a:pt x="11" y="6"/>
                  <a:pt x="11" y="6"/>
                  <a:pt x="11" y="6"/>
                </a:cubicBezTo>
                <a:cubicBezTo>
                  <a:pt x="13" y="6"/>
                  <a:pt x="13" y="6"/>
                  <a:pt x="13" y="6"/>
                </a:cubicBezTo>
                <a:cubicBezTo>
                  <a:pt x="15" y="6"/>
                  <a:pt x="15" y="6"/>
                  <a:pt x="15" y="6"/>
                </a:cubicBezTo>
                <a:cubicBezTo>
                  <a:pt x="15" y="8"/>
                  <a:pt x="15" y="8"/>
                  <a:pt x="15" y="8"/>
                </a:cubicBezTo>
                <a:cubicBezTo>
                  <a:pt x="15" y="22"/>
                  <a:pt x="15" y="22"/>
                  <a:pt x="15" y="22"/>
                </a:cubicBezTo>
                <a:cubicBezTo>
                  <a:pt x="15" y="24"/>
                  <a:pt x="15" y="24"/>
                  <a:pt x="15" y="24"/>
                </a:cubicBezTo>
                <a:cubicBezTo>
                  <a:pt x="14" y="24"/>
                  <a:pt x="14" y="24"/>
                  <a:pt x="14" y="24"/>
                </a:cubicBezTo>
                <a:cubicBezTo>
                  <a:pt x="11" y="25"/>
                  <a:pt x="9" y="27"/>
                  <a:pt x="7" y="29"/>
                </a:cubicBezTo>
                <a:close/>
              </a:path>
            </a:pathLst>
          </a:custGeom>
          <a:solidFill>
            <a:schemeClr val="bg1"/>
          </a:solidFill>
          <a:ln w="9525">
            <a:noFill/>
          </a:ln>
        </p:spPr>
        <p:txBody>
          <a:bodyPr/>
          <a:p>
            <a:endParaRPr lang="zh-CN" altLang="en-US"/>
          </a:p>
        </p:txBody>
      </p:sp>
      <p:sp>
        <p:nvSpPr>
          <p:cNvPr id="52" name="等腰三角形 51"/>
          <p:cNvSpPr/>
          <p:nvPr/>
        </p:nvSpPr>
        <p:spPr bwMode="auto">
          <a:xfrm rot="2700000" flipH="1" flipV="1">
            <a:off x="7464425" y="3625850"/>
            <a:ext cx="304800" cy="263525"/>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5" name="椭圆 54"/>
          <p:cNvSpPr>
            <a:spLocks noChangeAspect="1"/>
          </p:cNvSpPr>
          <p:nvPr/>
        </p:nvSpPr>
        <p:spPr bwMode="auto">
          <a:xfrm rot="10800000" flipH="1" flipV="1">
            <a:off x="7475538" y="3040063"/>
            <a:ext cx="863600" cy="863600"/>
          </a:xfrm>
          <a:prstGeom prst="ellips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493" name="Freeform 469"/>
          <p:cNvSpPr>
            <a:spLocks noChangeAspect="1" noEditPoints="1"/>
          </p:cNvSpPr>
          <p:nvPr/>
        </p:nvSpPr>
        <p:spPr>
          <a:xfrm>
            <a:off x="7693025" y="3281363"/>
            <a:ext cx="468313" cy="4508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67" h="65">
                <a:moveTo>
                  <a:pt x="30" y="44"/>
                </a:moveTo>
                <a:cubicBezTo>
                  <a:pt x="18" y="56"/>
                  <a:pt x="18" y="56"/>
                  <a:pt x="18" y="56"/>
                </a:cubicBezTo>
                <a:cubicBezTo>
                  <a:pt x="17" y="57"/>
                  <a:pt x="15" y="57"/>
                  <a:pt x="14" y="56"/>
                </a:cubicBezTo>
                <a:cubicBezTo>
                  <a:pt x="14" y="56"/>
                  <a:pt x="14" y="56"/>
                  <a:pt x="14" y="56"/>
                </a:cubicBezTo>
                <a:cubicBezTo>
                  <a:pt x="12" y="54"/>
                  <a:pt x="12" y="52"/>
                  <a:pt x="13" y="51"/>
                </a:cubicBezTo>
                <a:cubicBezTo>
                  <a:pt x="26" y="39"/>
                  <a:pt x="26" y="39"/>
                  <a:pt x="26" y="39"/>
                </a:cubicBezTo>
                <a:cubicBezTo>
                  <a:pt x="22" y="34"/>
                  <a:pt x="22" y="34"/>
                  <a:pt x="22" y="34"/>
                </a:cubicBezTo>
                <a:cubicBezTo>
                  <a:pt x="9" y="47"/>
                  <a:pt x="9" y="47"/>
                  <a:pt x="9" y="47"/>
                </a:cubicBezTo>
                <a:cubicBezTo>
                  <a:pt x="8" y="48"/>
                  <a:pt x="7" y="48"/>
                  <a:pt x="6" y="48"/>
                </a:cubicBezTo>
                <a:cubicBezTo>
                  <a:pt x="3" y="51"/>
                  <a:pt x="4" y="57"/>
                  <a:pt x="8" y="61"/>
                </a:cubicBezTo>
                <a:cubicBezTo>
                  <a:pt x="8" y="61"/>
                  <a:pt x="8" y="61"/>
                  <a:pt x="8" y="61"/>
                </a:cubicBezTo>
                <a:cubicBezTo>
                  <a:pt x="12" y="65"/>
                  <a:pt x="18" y="65"/>
                  <a:pt x="21" y="62"/>
                </a:cubicBezTo>
                <a:cubicBezTo>
                  <a:pt x="21" y="61"/>
                  <a:pt x="21" y="60"/>
                  <a:pt x="22" y="60"/>
                </a:cubicBezTo>
                <a:cubicBezTo>
                  <a:pt x="34" y="48"/>
                  <a:pt x="34" y="48"/>
                  <a:pt x="34" y="48"/>
                </a:cubicBezTo>
                <a:cubicBezTo>
                  <a:pt x="30" y="44"/>
                  <a:pt x="30" y="44"/>
                  <a:pt x="30" y="44"/>
                </a:cubicBezTo>
                <a:close/>
                <a:moveTo>
                  <a:pt x="28" y="22"/>
                </a:moveTo>
                <a:cubicBezTo>
                  <a:pt x="58" y="50"/>
                  <a:pt x="58" y="50"/>
                  <a:pt x="58" y="50"/>
                </a:cubicBezTo>
                <a:cubicBezTo>
                  <a:pt x="61" y="53"/>
                  <a:pt x="61" y="58"/>
                  <a:pt x="58" y="61"/>
                </a:cubicBezTo>
                <a:cubicBezTo>
                  <a:pt x="58" y="61"/>
                  <a:pt x="58" y="61"/>
                  <a:pt x="58" y="61"/>
                </a:cubicBezTo>
                <a:cubicBezTo>
                  <a:pt x="56" y="63"/>
                  <a:pt x="51" y="64"/>
                  <a:pt x="48" y="61"/>
                </a:cubicBezTo>
                <a:cubicBezTo>
                  <a:pt x="21" y="29"/>
                  <a:pt x="21" y="29"/>
                  <a:pt x="21" y="29"/>
                </a:cubicBezTo>
                <a:cubicBezTo>
                  <a:pt x="18" y="31"/>
                  <a:pt x="15" y="32"/>
                  <a:pt x="11" y="31"/>
                </a:cubicBezTo>
                <a:cubicBezTo>
                  <a:pt x="0" y="16"/>
                  <a:pt x="0" y="16"/>
                  <a:pt x="0" y="16"/>
                </a:cubicBezTo>
                <a:cubicBezTo>
                  <a:pt x="3" y="13"/>
                  <a:pt x="3" y="13"/>
                  <a:pt x="3" y="13"/>
                </a:cubicBezTo>
                <a:cubicBezTo>
                  <a:pt x="11" y="21"/>
                  <a:pt x="11" y="21"/>
                  <a:pt x="11" y="21"/>
                </a:cubicBezTo>
                <a:cubicBezTo>
                  <a:pt x="17" y="18"/>
                  <a:pt x="17" y="18"/>
                  <a:pt x="17" y="18"/>
                </a:cubicBezTo>
                <a:cubicBezTo>
                  <a:pt x="20" y="12"/>
                  <a:pt x="20" y="12"/>
                  <a:pt x="20" y="12"/>
                </a:cubicBezTo>
                <a:cubicBezTo>
                  <a:pt x="13" y="3"/>
                  <a:pt x="13" y="3"/>
                  <a:pt x="13" y="3"/>
                </a:cubicBezTo>
                <a:cubicBezTo>
                  <a:pt x="15" y="0"/>
                  <a:pt x="15" y="0"/>
                  <a:pt x="15" y="0"/>
                </a:cubicBezTo>
                <a:cubicBezTo>
                  <a:pt x="30" y="12"/>
                  <a:pt x="30" y="12"/>
                  <a:pt x="30" y="12"/>
                </a:cubicBezTo>
                <a:cubicBezTo>
                  <a:pt x="31" y="16"/>
                  <a:pt x="30" y="19"/>
                  <a:pt x="28" y="22"/>
                </a:cubicBezTo>
                <a:close/>
                <a:moveTo>
                  <a:pt x="60" y="3"/>
                </a:moveTo>
                <a:cubicBezTo>
                  <a:pt x="51" y="8"/>
                  <a:pt x="51" y="8"/>
                  <a:pt x="51" y="8"/>
                </a:cubicBezTo>
                <a:cubicBezTo>
                  <a:pt x="52" y="12"/>
                  <a:pt x="52" y="12"/>
                  <a:pt x="52" y="12"/>
                </a:cubicBezTo>
                <a:cubicBezTo>
                  <a:pt x="38" y="27"/>
                  <a:pt x="38" y="27"/>
                  <a:pt x="38" y="27"/>
                </a:cubicBezTo>
                <a:cubicBezTo>
                  <a:pt x="42" y="31"/>
                  <a:pt x="42" y="31"/>
                  <a:pt x="42" y="31"/>
                </a:cubicBezTo>
                <a:cubicBezTo>
                  <a:pt x="57" y="17"/>
                  <a:pt x="57" y="17"/>
                  <a:pt x="57" y="17"/>
                </a:cubicBezTo>
                <a:cubicBezTo>
                  <a:pt x="61" y="18"/>
                  <a:pt x="61" y="18"/>
                  <a:pt x="61" y="18"/>
                </a:cubicBezTo>
                <a:cubicBezTo>
                  <a:pt x="67" y="9"/>
                  <a:pt x="67" y="9"/>
                  <a:pt x="67" y="9"/>
                </a:cubicBezTo>
                <a:cubicBezTo>
                  <a:pt x="63" y="6"/>
                  <a:pt x="63" y="6"/>
                  <a:pt x="63" y="6"/>
                </a:cubicBezTo>
                <a:lnTo>
                  <a:pt x="60" y="3"/>
                </a:lnTo>
                <a:close/>
              </a:path>
            </a:pathLst>
          </a:custGeom>
          <a:solidFill>
            <a:schemeClr val="bg1"/>
          </a:solidFill>
          <a:ln w="9525">
            <a:noFill/>
          </a:ln>
        </p:spPr>
        <p:txBody>
          <a:bodyPr/>
          <a:p>
            <a:endParaRPr lang="zh-CN" altLang="en-US"/>
          </a:p>
        </p:txBody>
      </p:sp>
      <p:sp>
        <p:nvSpPr>
          <p:cNvPr id="19" name="椭圆 18"/>
          <p:cNvSpPr>
            <a:spLocks noChangeAspect="1"/>
          </p:cNvSpPr>
          <p:nvPr/>
        </p:nvSpPr>
        <p:spPr bwMode="auto">
          <a:xfrm>
            <a:off x="4202113" y="3149600"/>
            <a:ext cx="719138" cy="720725"/>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lt1"/>
                </a:solidFill>
                <a:effectLst/>
                <a:uLnTx/>
                <a:uFillTx/>
                <a:latin typeface="+mn-lt"/>
                <a:ea typeface="+mn-ea"/>
                <a:cs typeface="+mn-cs"/>
              </a:rPr>
              <a:t>VS</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
        <p:nvSpPr>
          <p:cNvPr id="43" name="文本框 42"/>
          <p:cNvSpPr txBox="1"/>
          <p:nvPr/>
        </p:nvSpPr>
        <p:spPr>
          <a:xfrm>
            <a:off x="1073150" y="230188"/>
            <a:ext cx="4976813" cy="398780"/>
          </a:xfrm>
          <a:prstGeom prst="rect">
            <a:avLst/>
          </a:prstGeom>
          <a:noFill/>
        </p:spPr>
        <p:txBody>
          <a:bodyPr>
            <a:spAutoFit/>
          </a:bodyPr>
          <a:lstStyle/>
          <a:p>
            <a:pPr marR="0" defTabSz="914400" fontAlgn="auto">
              <a:spcBef>
                <a:spcPts val="0"/>
              </a:spcBef>
              <a:spcAft>
                <a:spcPts val="0"/>
              </a:spcAft>
              <a:buClrTx/>
              <a:buSzTx/>
              <a:buFontTx/>
              <a:buNone/>
              <a:defRPr/>
            </a:pPr>
            <a:r>
              <a:rPr kumimoji="0" lang="zh-CN" sz="2000" b="1" kern="1200" cap="none" spc="0" normalizeH="0" baseline="0" noProof="0" dirty="0">
                <a:solidFill>
                  <a:srgbClr val="1F3A65"/>
                </a:solidFill>
                <a:latin typeface="+mn-lt"/>
                <a:ea typeface="+mn-ea"/>
                <a:cs typeface="+mn-cs"/>
              </a:rPr>
              <a:t>深度学习模型</a:t>
            </a:r>
            <a:r>
              <a:rPr kumimoji="0" lang="en-US" altLang="zh-CN" sz="2000" b="1" kern="1200" cap="none" spc="0" normalizeH="0" baseline="0" noProof="0" dirty="0">
                <a:solidFill>
                  <a:srgbClr val="1F3A65"/>
                </a:solidFill>
                <a:latin typeface="+mn-lt"/>
                <a:ea typeface="+mn-ea"/>
                <a:cs typeface="+mn-cs"/>
              </a:rPr>
              <a:t>-</a:t>
            </a:r>
            <a:r>
              <a:rPr kumimoji="0" lang="zh-CN" altLang="en-US" sz="2000" b="1" kern="1200" cap="none" spc="0" normalizeH="0" baseline="0" noProof="0" dirty="0">
                <a:solidFill>
                  <a:srgbClr val="1F3A65"/>
                </a:solidFill>
                <a:latin typeface="+mn-lt"/>
                <a:ea typeface="+mn-ea"/>
                <a:cs typeface="+mn-cs"/>
              </a:rPr>
              <a:t>卷积神经网络</a:t>
            </a:r>
            <a:r>
              <a:rPr kumimoji="0" lang="en-US" altLang="zh-CN" sz="2000" b="1" kern="1200" cap="none" spc="0" normalizeH="0" baseline="0" noProof="0" dirty="0">
                <a:solidFill>
                  <a:srgbClr val="1F3A65"/>
                </a:solidFill>
                <a:latin typeface="+mn-lt"/>
                <a:ea typeface="+mn-ea"/>
                <a:cs typeface="+mn-cs"/>
              </a:rPr>
              <a:t>CNN</a:t>
            </a:r>
            <a:endParaRPr kumimoji="0" lang="en-US" altLang="zh-CN" sz="2000" b="1" kern="1200" cap="none" spc="0" normalizeH="0" baseline="0" noProof="0" dirty="0">
              <a:solidFill>
                <a:srgbClr val="1F3A65"/>
              </a:solidFill>
              <a:latin typeface="+mn-lt"/>
              <a:ea typeface="+mn-ea"/>
              <a:cs typeface="+mn-cs"/>
            </a:endParaRPr>
          </a:p>
        </p:txBody>
      </p:sp>
      <p:cxnSp>
        <p:nvCxnSpPr>
          <p:cNvPr id="6" name="直接连接符 5"/>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20497" name="Freeform 638"/>
          <p:cNvSpPr>
            <a:spLocks noChangeAspect="1" noEditPoints="1"/>
          </p:cNvSpPr>
          <p:nvPr/>
        </p:nvSpPr>
        <p:spPr>
          <a:xfrm>
            <a:off x="514350" y="336550"/>
            <a:ext cx="503238" cy="4635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21" h="111">
                <a:moveTo>
                  <a:pt x="16" y="0"/>
                </a:moveTo>
                <a:lnTo>
                  <a:pt x="93" y="0"/>
                </a:lnTo>
                <a:lnTo>
                  <a:pt x="99" y="0"/>
                </a:lnTo>
                <a:lnTo>
                  <a:pt x="99" y="4"/>
                </a:lnTo>
                <a:lnTo>
                  <a:pt x="99" y="22"/>
                </a:lnTo>
                <a:lnTo>
                  <a:pt x="89" y="30"/>
                </a:lnTo>
                <a:lnTo>
                  <a:pt x="89" y="8"/>
                </a:lnTo>
                <a:lnTo>
                  <a:pt x="20" y="8"/>
                </a:lnTo>
                <a:lnTo>
                  <a:pt x="20" y="16"/>
                </a:lnTo>
                <a:lnTo>
                  <a:pt x="27" y="14"/>
                </a:lnTo>
                <a:lnTo>
                  <a:pt x="31" y="12"/>
                </a:lnTo>
                <a:lnTo>
                  <a:pt x="35" y="20"/>
                </a:lnTo>
                <a:lnTo>
                  <a:pt x="29" y="22"/>
                </a:lnTo>
                <a:lnTo>
                  <a:pt x="20" y="26"/>
                </a:lnTo>
                <a:lnTo>
                  <a:pt x="20" y="30"/>
                </a:lnTo>
                <a:lnTo>
                  <a:pt x="27" y="28"/>
                </a:lnTo>
                <a:lnTo>
                  <a:pt x="31" y="26"/>
                </a:lnTo>
                <a:lnTo>
                  <a:pt x="35" y="36"/>
                </a:lnTo>
                <a:lnTo>
                  <a:pt x="29" y="39"/>
                </a:lnTo>
                <a:lnTo>
                  <a:pt x="20" y="41"/>
                </a:lnTo>
                <a:lnTo>
                  <a:pt x="20" y="47"/>
                </a:lnTo>
                <a:lnTo>
                  <a:pt x="27" y="45"/>
                </a:lnTo>
                <a:lnTo>
                  <a:pt x="31" y="43"/>
                </a:lnTo>
                <a:lnTo>
                  <a:pt x="35" y="53"/>
                </a:lnTo>
                <a:lnTo>
                  <a:pt x="29" y="55"/>
                </a:lnTo>
                <a:lnTo>
                  <a:pt x="20" y="57"/>
                </a:lnTo>
                <a:lnTo>
                  <a:pt x="20" y="63"/>
                </a:lnTo>
                <a:lnTo>
                  <a:pt x="27" y="61"/>
                </a:lnTo>
                <a:lnTo>
                  <a:pt x="31" y="59"/>
                </a:lnTo>
                <a:lnTo>
                  <a:pt x="35" y="67"/>
                </a:lnTo>
                <a:lnTo>
                  <a:pt x="29" y="69"/>
                </a:lnTo>
                <a:lnTo>
                  <a:pt x="20" y="73"/>
                </a:lnTo>
                <a:lnTo>
                  <a:pt x="20" y="79"/>
                </a:lnTo>
                <a:lnTo>
                  <a:pt x="27" y="77"/>
                </a:lnTo>
                <a:lnTo>
                  <a:pt x="31" y="75"/>
                </a:lnTo>
                <a:lnTo>
                  <a:pt x="35" y="85"/>
                </a:lnTo>
                <a:lnTo>
                  <a:pt x="29" y="87"/>
                </a:lnTo>
                <a:lnTo>
                  <a:pt x="20" y="89"/>
                </a:lnTo>
                <a:lnTo>
                  <a:pt x="20" y="99"/>
                </a:lnTo>
                <a:lnTo>
                  <a:pt x="20" y="101"/>
                </a:lnTo>
                <a:lnTo>
                  <a:pt x="89" y="101"/>
                </a:lnTo>
                <a:lnTo>
                  <a:pt x="89" y="79"/>
                </a:lnTo>
                <a:lnTo>
                  <a:pt x="99" y="71"/>
                </a:lnTo>
                <a:lnTo>
                  <a:pt x="99" y="105"/>
                </a:lnTo>
                <a:lnTo>
                  <a:pt x="99" y="111"/>
                </a:lnTo>
                <a:lnTo>
                  <a:pt x="93" y="111"/>
                </a:lnTo>
                <a:lnTo>
                  <a:pt x="16" y="111"/>
                </a:lnTo>
                <a:lnTo>
                  <a:pt x="10" y="111"/>
                </a:lnTo>
                <a:lnTo>
                  <a:pt x="10" y="105"/>
                </a:lnTo>
                <a:lnTo>
                  <a:pt x="10" y="99"/>
                </a:lnTo>
                <a:lnTo>
                  <a:pt x="0" y="99"/>
                </a:lnTo>
                <a:lnTo>
                  <a:pt x="0" y="89"/>
                </a:lnTo>
                <a:lnTo>
                  <a:pt x="10" y="83"/>
                </a:lnTo>
                <a:lnTo>
                  <a:pt x="10" y="81"/>
                </a:lnTo>
                <a:lnTo>
                  <a:pt x="0" y="81"/>
                </a:lnTo>
                <a:lnTo>
                  <a:pt x="0" y="73"/>
                </a:lnTo>
                <a:lnTo>
                  <a:pt x="10" y="67"/>
                </a:lnTo>
                <a:lnTo>
                  <a:pt x="10" y="65"/>
                </a:lnTo>
                <a:lnTo>
                  <a:pt x="0" y="65"/>
                </a:lnTo>
                <a:lnTo>
                  <a:pt x="0" y="57"/>
                </a:lnTo>
                <a:lnTo>
                  <a:pt x="10" y="51"/>
                </a:lnTo>
                <a:lnTo>
                  <a:pt x="0" y="51"/>
                </a:lnTo>
                <a:lnTo>
                  <a:pt x="0" y="41"/>
                </a:lnTo>
                <a:lnTo>
                  <a:pt x="10" y="34"/>
                </a:lnTo>
                <a:lnTo>
                  <a:pt x="0" y="34"/>
                </a:lnTo>
                <a:lnTo>
                  <a:pt x="0" y="24"/>
                </a:lnTo>
                <a:lnTo>
                  <a:pt x="10" y="20"/>
                </a:lnTo>
                <a:lnTo>
                  <a:pt x="10" y="4"/>
                </a:lnTo>
                <a:lnTo>
                  <a:pt x="10" y="0"/>
                </a:lnTo>
                <a:lnTo>
                  <a:pt x="16" y="0"/>
                </a:lnTo>
                <a:close/>
                <a:moveTo>
                  <a:pt x="43" y="53"/>
                </a:moveTo>
                <a:lnTo>
                  <a:pt x="43" y="59"/>
                </a:lnTo>
                <a:lnTo>
                  <a:pt x="55" y="59"/>
                </a:lnTo>
                <a:lnTo>
                  <a:pt x="55" y="53"/>
                </a:lnTo>
                <a:lnTo>
                  <a:pt x="43" y="53"/>
                </a:lnTo>
                <a:close/>
                <a:moveTo>
                  <a:pt x="43" y="41"/>
                </a:moveTo>
                <a:lnTo>
                  <a:pt x="43" y="47"/>
                </a:lnTo>
                <a:lnTo>
                  <a:pt x="67" y="47"/>
                </a:lnTo>
                <a:lnTo>
                  <a:pt x="67" y="41"/>
                </a:lnTo>
                <a:lnTo>
                  <a:pt x="43" y="41"/>
                </a:lnTo>
                <a:close/>
                <a:moveTo>
                  <a:pt x="43" y="28"/>
                </a:moveTo>
                <a:lnTo>
                  <a:pt x="43" y="34"/>
                </a:lnTo>
                <a:lnTo>
                  <a:pt x="77" y="34"/>
                </a:lnTo>
                <a:lnTo>
                  <a:pt x="77" y="28"/>
                </a:lnTo>
                <a:lnTo>
                  <a:pt x="43" y="28"/>
                </a:lnTo>
                <a:close/>
                <a:moveTo>
                  <a:pt x="43" y="18"/>
                </a:moveTo>
                <a:lnTo>
                  <a:pt x="43" y="22"/>
                </a:lnTo>
                <a:lnTo>
                  <a:pt x="77" y="22"/>
                </a:lnTo>
                <a:lnTo>
                  <a:pt x="77" y="18"/>
                </a:lnTo>
                <a:lnTo>
                  <a:pt x="43" y="18"/>
                </a:lnTo>
                <a:close/>
                <a:moveTo>
                  <a:pt x="55" y="87"/>
                </a:moveTo>
                <a:lnTo>
                  <a:pt x="63" y="87"/>
                </a:lnTo>
                <a:lnTo>
                  <a:pt x="71" y="87"/>
                </a:lnTo>
                <a:lnTo>
                  <a:pt x="65" y="79"/>
                </a:lnTo>
                <a:lnTo>
                  <a:pt x="57" y="73"/>
                </a:lnTo>
                <a:lnTo>
                  <a:pt x="57" y="81"/>
                </a:lnTo>
                <a:lnTo>
                  <a:pt x="55" y="87"/>
                </a:lnTo>
                <a:close/>
                <a:moveTo>
                  <a:pt x="107" y="24"/>
                </a:moveTo>
                <a:lnTo>
                  <a:pt x="63" y="67"/>
                </a:lnTo>
                <a:lnTo>
                  <a:pt x="77" y="81"/>
                </a:lnTo>
                <a:lnTo>
                  <a:pt x="121" y="39"/>
                </a:lnTo>
                <a:lnTo>
                  <a:pt x="107" y="24"/>
                </a:lnTo>
                <a:close/>
              </a:path>
            </a:pathLst>
          </a:custGeom>
          <a:solidFill>
            <a:srgbClr val="1F3A65"/>
          </a:solidFill>
          <a:ln w="9525">
            <a:noFill/>
          </a:ln>
        </p:spPr>
        <p:txBody>
          <a:bodyPr/>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任意多边形 37"/>
          <p:cNvSpPr/>
          <p:nvPr/>
        </p:nvSpPr>
        <p:spPr>
          <a:xfrm>
            <a:off x="2212975" y="1841500"/>
            <a:ext cx="4718050" cy="4922838"/>
          </a:xfrm>
          <a:custGeom>
            <a:avLst/>
            <a:gdLst>
              <a:gd name="connsiteX0" fmla="*/ 2141059 w 4099611"/>
              <a:gd name="connsiteY0" fmla="*/ 0 h 4278630"/>
              <a:gd name="connsiteX1" fmla="*/ 2143553 w 4099611"/>
              <a:gd name="connsiteY1" fmla="*/ 1033 h 4278630"/>
              <a:gd name="connsiteX2" fmla="*/ 3052232 w 4099611"/>
              <a:gd name="connsiteY2" fmla="*/ 1033 h 4278630"/>
              <a:gd name="connsiteX3" fmla="*/ 3097791 w 4099611"/>
              <a:gd name="connsiteY3" fmla="*/ 46592 h 4278630"/>
              <a:gd name="connsiteX4" fmla="*/ 3052232 w 4099611"/>
              <a:gd name="connsiteY4" fmla="*/ 92151 h 4278630"/>
              <a:gd name="connsiteX5" fmla="*/ 2186618 w 4099611"/>
              <a:gd name="connsiteY5" fmla="*/ 92150 h 4278630"/>
              <a:gd name="connsiteX6" fmla="*/ 2186617 w 4099611"/>
              <a:gd name="connsiteY6" fmla="*/ 2846740 h 4278630"/>
              <a:gd name="connsiteX7" fmla="*/ 2277735 w 4099611"/>
              <a:gd name="connsiteY7" fmla="*/ 2846740 h 4278630"/>
              <a:gd name="connsiteX8" fmla="*/ 2277735 w 4099611"/>
              <a:gd name="connsiteY8" fmla="*/ 1446253 h 4278630"/>
              <a:gd name="connsiteX9" fmla="*/ 2277465 w 4099611"/>
              <a:gd name="connsiteY9" fmla="*/ 1444913 h 4278630"/>
              <a:gd name="connsiteX10" fmla="*/ 2277466 w 4099611"/>
              <a:gd name="connsiteY10" fmla="*/ 1444914 h 4278630"/>
              <a:gd name="connsiteX11" fmla="*/ 2323025 w 4099611"/>
              <a:gd name="connsiteY11" fmla="*/ 1399355 h 4278630"/>
              <a:gd name="connsiteX12" fmla="*/ 4054053 w 4099611"/>
              <a:gd name="connsiteY12" fmla="*/ 1399355 h 4278630"/>
              <a:gd name="connsiteX13" fmla="*/ 4099611 w 4099611"/>
              <a:gd name="connsiteY13" fmla="*/ 1444914 h 4278630"/>
              <a:gd name="connsiteX14" fmla="*/ 4054053 w 4099611"/>
              <a:gd name="connsiteY14" fmla="*/ 1490473 h 4278630"/>
              <a:gd name="connsiteX15" fmla="*/ 2368853 w 4099611"/>
              <a:gd name="connsiteY15" fmla="*/ 1490472 h 4278630"/>
              <a:gd name="connsiteX16" fmla="*/ 2368852 w 4099611"/>
              <a:gd name="connsiteY16" fmla="*/ 2877943 h 4278630"/>
              <a:gd name="connsiteX17" fmla="*/ 2368852 w 4099611"/>
              <a:gd name="connsiteY17" fmla="*/ 4278630 h 4278630"/>
              <a:gd name="connsiteX18" fmla="*/ 1731030 w 4099611"/>
              <a:gd name="connsiteY18" fmla="*/ 4278630 h 4278630"/>
              <a:gd name="connsiteX19" fmla="*/ 1731030 w 4099611"/>
              <a:gd name="connsiteY19" fmla="*/ 3055248 h 4278630"/>
              <a:gd name="connsiteX20" fmla="*/ 1731030 w 4099611"/>
              <a:gd name="connsiteY20" fmla="*/ 2846740 h 4278630"/>
              <a:gd name="connsiteX21" fmla="*/ 1731030 w 4099611"/>
              <a:gd name="connsiteY21" fmla="*/ 2189634 h 4278630"/>
              <a:gd name="connsiteX22" fmla="*/ 45559 w 4099611"/>
              <a:gd name="connsiteY22" fmla="*/ 2189633 h 4278630"/>
              <a:gd name="connsiteX23" fmla="*/ 0 w 4099611"/>
              <a:gd name="connsiteY23" fmla="*/ 2144074 h 4278630"/>
              <a:gd name="connsiteX24" fmla="*/ 1 w 4099611"/>
              <a:gd name="connsiteY24" fmla="*/ 2144075 h 4278630"/>
              <a:gd name="connsiteX25" fmla="*/ 45560 w 4099611"/>
              <a:gd name="connsiteY25" fmla="*/ 2098516 h 4278630"/>
              <a:gd name="connsiteX26" fmla="*/ 1776588 w 4099611"/>
              <a:gd name="connsiteY26" fmla="*/ 2098516 h 4278630"/>
              <a:gd name="connsiteX27" fmla="*/ 1776589 w 4099611"/>
              <a:gd name="connsiteY27" fmla="*/ 2098516 h 4278630"/>
              <a:gd name="connsiteX28" fmla="*/ 1822148 w 4099611"/>
              <a:gd name="connsiteY28" fmla="*/ 2144075 h 4278630"/>
              <a:gd name="connsiteX29" fmla="*/ 1822147 w 4099611"/>
              <a:gd name="connsiteY29" fmla="*/ 2846740 h 4278630"/>
              <a:gd name="connsiteX30" fmla="*/ 1913265 w 4099611"/>
              <a:gd name="connsiteY30" fmla="*/ 2846740 h 4278630"/>
              <a:gd name="connsiteX31" fmla="*/ 1913265 w 4099611"/>
              <a:gd name="connsiteY31" fmla="*/ 791312 h 4278630"/>
              <a:gd name="connsiteX32" fmla="*/ 1048440 w 4099611"/>
              <a:gd name="connsiteY32" fmla="*/ 791311 h 4278630"/>
              <a:gd name="connsiteX33" fmla="*/ 1002881 w 4099611"/>
              <a:gd name="connsiteY33" fmla="*/ 745752 h 4278630"/>
              <a:gd name="connsiteX34" fmla="*/ 1002882 w 4099611"/>
              <a:gd name="connsiteY34" fmla="*/ 745753 h 4278630"/>
              <a:gd name="connsiteX35" fmla="*/ 1048441 w 4099611"/>
              <a:gd name="connsiteY35" fmla="*/ 700194 h 4278630"/>
              <a:gd name="connsiteX36" fmla="*/ 1959614 w 4099611"/>
              <a:gd name="connsiteY36" fmla="*/ 700194 h 4278630"/>
              <a:gd name="connsiteX37" fmla="*/ 2005173 w 4099611"/>
              <a:gd name="connsiteY37" fmla="*/ 745753 h 4278630"/>
              <a:gd name="connsiteX38" fmla="*/ 2004383 w 4099611"/>
              <a:gd name="connsiteY38" fmla="*/ 749666 h 4278630"/>
              <a:gd name="connsiteX39" fmla="*/ 2004382 w 4099611"/>
              <a:gd name="connsiteY39" fmla="*/ 2846740 h 4278630"/>
              <a:gd name="connsiteX40" fmla="*/ 2095500 w 4099611"/>
              <a:gd name="connsiteY40" fmla="*/ 2846740 h 4278630"/>
              <a:gd name="connsiteX41" fmla="*/ 2095500 w 4099611"/>
              <a:gd name="connsiteY41" fmla="*/ 46596 h 4278630"/>
              <a:gd name="connsiteX42" fmla="*/ 2095499 w 4099611"/>
              <a:gd name="connsiteY42" fmla="*/ 46591 h 4278630"/>
              <a:gd name="connsiteX43" fmla="*/ 2095500 w 4099611"/>
              <a:gd name="connsiteY43" fmla="*/ 46592 h 4278630"/>
              <a:gd name="connsiteX44" fmla="*/ 2095500 w 4099611"/>
              <a:gd name="connsiteY44" fmla="*/ 45559 h 4278630"/>
              <a:gd name="connsiteX45" fmla="*/ 2141059 w 4099611"/>
              <a:gd name="connsiteY45" fmla="*/ 0 h 427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099611" h="4278630">
                <a:moveTo>
                  <a:pt x="2141059" y="0"/>
                </a:moveTo>
                <a:lnTo>
                  <a:pt x="2143553" y="1033"/>
                </a:lnTo>
                <a:lnTo>
                  <a:pt x="3052232" y="1033"/>
                </a:lnTo>
                <a:cubicBezTo>
                  <a:pt x="3077394" y="1033"/>
                  <a:pt x="3097791" y="21430"/>
                  <a:pt x="3097791" y="46592"/>
                </a:cubicBezTo>
                <a:cubicBezTo>
                  <a:pt x="3097791" y="71754"/>
                  <a:pt x="3077394" y="92151"/>
                  <a:pt x="3052232" y="92151"/>
                </a:cubicBezTo>
                <a:lnTo>
                  <a:pt x="2186618" y="92150"/>
                </a:lnTo>
                <a:lnTo>
                  <a:pt x="2186617" y="2846740"/>
                </a:lnTo>
                <a:lnTo>
                  <a:pt x="2277735" y="2846740"/>
                </a:lnTo>
                <a:lnTo>
                  <a:pt x="2277735" y="1446253"/>
                </a:lnTo>
                <a:lnTo>
                  <a:pt x="2277465" y="1444913"/>
                </a:lnTo>
                <a:lnTo>
                  <a:pt x="2277466" y="1444914"/>
                </a:lnTo>
                <a:cubicBezTo>
                  <a:pt x="2277466" y="1419752"/>
                  <a:pt x="2297863" y="1399355"/>
                  <a:pt x="2323025" y="1399355"/>
                </a:cubicBezTo>
                <a:lnTo>
                  <a:pt x="4054053" y="1399355"/>
                </a:lnTo>
                <a:cubicBezTo>
                  <a:pt x="4079215" y="1399355"/>
                  <a:pt x="4099611" y="1419752"/>
                  <a:pt x="4099611" y="1444914"/>
                </a:cubicBezTo>
                <a:cubicBezTo>
                  <a:pt x="4099611" y="1470076"/>
                  <a:pt x="4079215" y="1490473"/>
                  <a:pt x="4054053" y="1490473"/>
                </a:cubicBezTo>
                <a:lnTo>
                  <a:pt x="2368853" y="1490472"/>
                </a:lnTo>
                <a:lnTo>
                  <a:pt x="2368852" y="2877943"/>
                </a:lnTo>
                <a:lnTo>
                  <a:pt x="2368852" y="4278630"/>
                </a:lnTo>
                <a:lnTo>
                  <a:pt x="1731030" y="4278630"/>
                </a:lnTo>
                <a:lnTo>
                  <a:pt x="1731030" y="3055248"/>
                </a:lnTo>
                <a:lnTo>
                  <a:pt x="1731030" y="2846740"/>
                </a:lnTo>
                <a:lnTo>
                  <a:pt x="1731030" y="2189634"/>
                </a:lnTo>
                <a:lnTo>
                  <a:pt x="45559" y="2189633"/>
                </a:lnTo>
                <a:cubicBezTo>
                  <a:pt x="20397" y="2189633"/>
                  <a:pt x="0" y="2169236"/>
                  <a:pt x="0" y="2144074"/>
                </a:cubicBezTo>
                <a:lnTo>
                  <a:pt x="1" y="2144075"/>
                </a:lnTo>
                <a:cubicBezTo>
                  <a:pt x="1" y="2118913"/>
                  <a:pt x="20398" y="2098516"/>
                  <a:pt x="45560" y="2098516"/>
                </a:cubicBezTo>
                <a:lnTo>
                  <a:pt x="1776588" y="2098516"/>
                </a:lnTo>
                <a:lnTo>
                  <a:pt x="1776589" y="2098516"/>
                </a:lnTo>
                <a:cubicBezTo>
                  <a:pt x="1801751" y="2098516"/>
                  <a:pt x="1822148" y="2118913"/>
                  <a:pt x="1822148" y="2144075"/>
                </a:cubicBezTo>
                <a:lnTo>
                  <a:pt x="1822147" y="2846740"/>
                </a:lnTo>
                <a:lnTo>
                  <a:pt x="1913265" y="2846740"/>
                </a:lnTo>
                <a:lnTo>
                  <a:pt x="1913265" y="791312"/>
                </a:lnTo>
                <a:lnTo>
                  <a:pt x="1048440" y="791311"/>
                </a:lnTo>
                <a:cubicBezTo>
                  <a:pt x="1023278" y="791311"/>
                  <a:pt x="1002881" y="770914"/>
                  <a:pt x="1002881" y="745752"/>
                </a:cubicBezTo>
                <a:lnTo>
                  <a:pt x="1002882" y="745753"/>
                </a:lnTo>
                <a:cubicBezTo>
                  <a:pt x="1002882" y="720591"/>
                  <a:pt x="1023279" y="700194"/>
                  <a:pt x="1048441" y="700194"/>
                </a:cubicBezTo>
                <a:lnTo>
                  <a:pt x="1959614" y="700194"/>
                </a:lnTo>
                <a:cubicBezTo>
                  <a:pt x="1984776" y="700194"/>
                  <a:pt x="2005173" y="720591"/>
                  <a:pt x="2005173" y="745753"/>
                </a:cubicBezTo>
                <a:lnTo>
                  <a:pt x="2004383" y="749666"/>
                </a:lnTo>
                <a:lnTo>
                  <a:pt x="2004382" y="2846740"/>
                </a:lnTo>
                <a:lnTo>
                  <a:pt x="2095500" y="2846740"/>
                </a:lnTo>
                <a:lnTo>
                  <a:pt x="2095500" y="46596"/>
                </a:lnTo>
                <a:lnTo>
                  <a:pt x="2095499" y="46591"/>
                </a:lnTo>
                <a:lnTo>
                  <a:pt x="2095500" y="46592"/>
                </a:lnTo>
                <a:lnTo>
                  <a:pt x="2095500" y="45559"/>
                </a:lnTo>
                <a:cubicBezTo>
                  <a:pt x="2095500" y="20397"/>
                  <a:pt x="2115897" y="0"/>
                  <a:pt x="2141059" y="0"/>
                </a:cubicBezTo>
                <a:close/>
              </a:path>
            </a:pathLst>
          </a:custGeom>
          <a:solidFill>
            <a:srgbClr val="009DD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椭圆 23"/>
          <p:cNvSpPr>
            <a:spLocks noChangeAspect="1"/>
          </p:cNvSpPr>
          <p:nvPr/>
        </p:nvSpPr>
        <p:spPr>
          <a:xfrm>
            <a:off x="5664200" y="1527175"/>
            <a:ext cx="720725" cy="720725"/>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 name="椭圆 24"/>
          <p:cNvSpPr>
            <a:spLocks noChangeAspect="1"/>
          </p:cNvSpPr>
          <p:nvPr/>
        </p:nvSpPr>
        <p:spPr>
          <a:xfrm>
            <a:off x="2689225" y="2324100"/>
            <a:ext cx="720725" cy="71913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9" name="椭圆 38"/>
          <p:cNvSpPr>
            <a:spLocks noChangeAspect="1"/>
          </p:cNvSpPr>
          <p:nvPr/>
        </p:nvSpPr>
        <p:spPr>
          <a:xfrm>
            <a:off x="6854825" y="3132138"/>
            <a:ext cx="720725" cy="71913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0" name="椭圆 39"/>
          <p:cNvSpPr>
            <a:spLocks noChangeAspect="1"/>
          </p:cNvSpPr>
          <p:nvPr/>
        </p:nvSpPr>
        <p:spPr>
          <a:xfrm>
            <a:off x="1527175" y="3943350"/>
            <a:ext cx="720725" cy="719138"/>
          </a:xfrm>
          <a:prstGeom prst="ellipse">
            <a:avLst/>
          </a:prstGeom>
          <a:solidFill>
            <a:srgbClr val="1F3A6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43"/>
          <p:cNvGrpSpPr>
            <a:grpSpLocks noChangeAspect="1"/>
          </p:cNvGrpSpPr>
          <p:nvPr/>
        </p:nvGrpSpPr>
        <p:grpSpPr>
          <a:xfrm>
            <a:off x="1711654" y="4122510"/>
            <a:ext cx="351554" cy="360000"/>
            <a:chOff x="3598200" y="1732459"/>
            <a:chExt cx="1947600" cy="1994400"/>
          </a:xfrm>
          <a:solidFill>
            <a:schemeClr val="bg1"/>
          </a:solidFill>
        </p:grpSpPr>
        <p:sp>
          <p:nvSpPr>
            <p:cNvPr id="45" name="Freeform 5"/>
            <p:cNvSpPr/>
            <p:nvPr/>
          </p:nvSpPr>
          <p:spPr bwMode="auto">
            <a:xfrm>
              <a:off x="4815450" y="1732459"/>
              <a:ext cx="417924" cy="1423836"/>
            </a:xfrm>
            <a:custGeom>
              <a:avLst/>
              <a:gdLst>
                <a:gd name="T0" fmla="*/ 2 w 43"/>
                <a:gd name="T1" fmla="*/ 115 h 115"/>
                <a:gd name="T2" fmla="*/ 3 w 43"/>
                <a:gd name="T3" fmla="*/ 115 h 115"/>
                <a:gd name="T4" fmla="*/ 3 w 43"/>
                <a:gd name="T5" fmla="*/ 115 h 115"/>
                <a:gd name="T6" fmla="*/ 3 w 43"/>
                <a:gd name="T7" fmla="*/ 115 h 115"/>
                <a:gd name="T8" fmla="*/ 4 w 43"/>
                <a:gd name="T9" fmla="*/ 115 h 115"/>
                <a:gd name="T10" fmla="*/ 4 w 43"/>
                <a:gd name="T11" fmla="*/ 115 h 115"/>
                <a:gd name="T12" fmla="*/ 5 w 43"/>
                <a:gd name="T13" fmla="*/ 114 h 115"/>
                <a:gd name="T14" fmla="*/ 22 w 43"/>
                <a:gd name="T15" fmla="*/ 98 h 115"/>
                <a:gd name="T16" fmla="*/ 38 w 43"/>
                <a:gd name="T17" fmla="*/ 114 h 115"/>
                <a:gd name="T18" fmla="*/ 39 w 43"/>
                <a:gd name="T19" fmla="*/ 115 h 115"/>
                <a:gd name="T20" fmla="*/ 39 w 43"/>
                <a:gd name="T21" fmla="*/ 115 h 115"/>
                <a:gd name="T22" fmla="*/ 40 w 43"/>
                <a:gd name="T23" fmla="*/ 115 h 115"/>
                <a:gd name="T24" fmla="*/ 40 w 43"/>
                <a:gd name="T25" fmla="*/ 115 h 115"/>
                <a:gd name="T26" fmla="*/ 40 w 43"/>
                <a:gd name="T27" fmla="*/ 115 h 115"/>
                <a:gd name="T28" fmla="*/ 41 w 43"/>
                <a:gd name="T29" fmla="*/ 115 h 115"/>
                <a:gd name="T30" fmla="*/ 42 w 43"/>
                <a:gd name="T31" fmla="*/ 114 h 115"/>
                <a:gd name="T32" fmla="*/ 43 w 43"/>
                <a:gd name="T33" fmla="*/ 112 h 115"/>
                <a:gd name="T34" fmla="*/ 43 w 43"/>
                <a:gd name="T35" fmla="*/ 27 h 115"/>
                <a:gd name="T36" fmla="*/ 43 w 43"/>
                <a:gd name="T37" fmla="*/ 13 h 115"/>
                <a:gd name="T38" fmla="*/ 43 w 43"/>
                <a:gd name="T39" fmla="*/ 3 h 115"/>
                <a:gd name="T40" fmla="*/ 42 w 43"/>
                <a:gd name="T41" fmla="*/ 1 h 115"/>
                <a:gd name="T42" fmla="*/ 40 w 43"/>
                <a:gd name="T43" fmla="*/ 0 h 115"/>
                <a:gd name="T44" fmla="*/ 3 w 43"/>
                <a:gd name="T45" fmla="*/ 0 h 115"/>
                <a:gd name="T46" fmla="*/ 3 w 43"/>
                <a:gd name="T47" fmla="*/ 0 h 115"/>
                <a:gd name="T48" fmla="*/ 2 w 43"/>
                <a:gd name="T49" fmla="*/ 1 h 115"/>
                <a:gd name="T50" fmla="*/ 2 w 43"/>
                <a:gd name="T51" fmla="*/ 1 h 115"/>
                <a:gd name="T52" fmla="*/ 0 w 43"/>
                <a:gd name="T53" fmla="*/ 3 h 115"/>
                <a:gd name="T54" fmla="*/ 0 w 43"/>
                <a:gd name="T55" fmla="*/ 13 h 115"/>
                <a:gd name="T56" fmla="*/ 0 w 43"/>
                <a:gd name="T57" fmla="*/ 27 h 115"/>
                <a:gd name="T58" fmla="*/ 0 w 43"/>
                <a:gd name="T59" fmla="*/ 112 h 115"/>
                <a:gd name="T60" fmla="*/ 2 w 43"/>
                <a:gd name="T6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115">
                  <a:moveTo>
                    <a:pt x="2" y="115"/>
                  </a:moveTo>
                  <a:cubicBezTo>
                    <a:pt x="2" y="115"/>
                    <a:pt x="2" y="115"/>
                    <a:pt x="3" y="115"/>
                  </a:cubicBezTo>
                  <a:cubicBezTo>
                    <a:pt x="3" y="115"/>
                    <a:pt x="3" y="115"/>
                    <a:pt x="3" y="115"/>
                  </a:cubicBezTo>
                  <a:cubicBezTo>
                    <a:pt x="3" y="115"/>
                    <a:pt x="3" y="115"/>
                    <a:pt x="3" y="115"/>
                  </a:cubicBezTo>
                  <a:cubicBezTo>
                    <a:pt x="3" y="115"/>
                    <a:pt x="4" y="115"/>
                    <a:pt x="4" y="115"/>
                  </a:cubicBezTo>
                  <a:cubicBezTo>
                    <a:pt x="4" y="115"/>
                    <a:pt x="4" y="115"/>
                    <a:pt x="4" y="115"/>
                  </a:cubicBezTo>
                  <a:cubicBezTo>
                    <a:pt x="4" y="115"/>
                    <a:pt x="5" y="114"/>
                    <a:pt x="5" y="114"/>
                  </a:cubicBezTo>
                  <a:cubicBezTo>
                    <a:pt x="22" y="98"/>
                    <a:pt x="22" y="98"/>
                    <a:pt x="22" y="98"/>
                  </a:cubicBezTo>
                  <a:cubicBezTo>
                    <a:pt x="38" y="114"/>
                    <a:pt x="38" y="114"/>
                    <a:pt x="38" y="114"/>
                  </a:cubicBezTo>
                  <a:cubicBezTo>
                    <a:pt x="38" y="114"/>
                    <a:pt x="39" y="115"/>
                    <a:pt x="39" y="115"/>
                  </a:cubicBezTo>
                  <a:cubicBezTo>
                    <a:pt x="39" y="115"/>
                    <a:pt x="39" y="115"/>
                    <a:pt x="39" y="115"/>
                  </a:cubicBezTo>
                  <a:cubicBezTo>
                    <a:pt x="40" y="115"/>
                    <a:pt x="40" y="115"/>
                    <a:pt x="40" y="115"/>
                  </a:cubicBezTo>
                  <a:cubicBezTo>
                    <a:pt x="40" y="115"/>
                    <a:pt x="40" y="115"/>
                    <a:pt x="40" y="115"/>
                  </a:cubicBezTo>
                  <a:cubicBezTo>
                    <a:pt x="40" y="115"/>
                    <a:pt x="40" y="115"/>
                    <a:pt x="40" y="115"/>
                  </a:cubicBezTo>
                  <a:cubicBezTo>
                    <a:pt x="41" y="115"/>
                    <a:pt x="41" y="115"/>
                    <a:pt x="41" y="115"/>
                  </a:cubicBezTo>
                  <a:cubicBezTo>
                    <a:pt x="42" y="115"/>
                    <a:pt x="42" y="114"/>
                    <a:pt x="42" y="114"/>
                  </a:cubicBezTo>
                  <a:cubicBezTo>
                    <a:pt x="43" y="114"/>
                    <a:pt x="43" y="113"/>
                    <a:pt x="43" y="112"/>
                  </a:cubicBezTo>
                  <a:cubicBezTo>
                    <a:pt x="43" y="27"/>
                    <a:pt x="43" y="27"/>
                    <a:pt x="43" y="27"/>
                  </a:cubicBezTo>
                  <a:cubicBezTo>
                    <a:pt x="43" y="13"/>
                    <a:pt x="43" y="13"/>
                    <a:pt x="43" y="13"/>
                  </a:cubicBezTo>
                  <a:cubicBezTo>
                    <a:pt x="43" y="3"/>
                    <a:pt x="43" y="3"/>
                    <a:pt x="43" y="3"/>
                  </a:cubicBezTo>
                  <a:cubicBezTo>
                    <a:pt x="43" y="3"/>
                    <a:pt x="43" y="2"/>
                    <a:pt x="42" y="1"/>
                  </a:cubicBezTo>
                  <a:cubicBezTo>
                    <a:pt x="42" y="1"/>
                    <a:pt x="41" y="0"/>
                    <a:pt x="40" y="0"/>
                  </a:cubicBezTo>
                  <a:cubicBezTo>
                    <a:pt x="3" y="0"/>
                    <a:pt x="3" y="0"/>
                    <a:pt x="3" y="0"/>
                  </a:cubicBezTo>
                  <a:cubicBezTo>
                    <a:pt x="3" y="0"/>
                    <a:pt x="3" y="0"/>
                    <a:pt x="3" y="0"/>
                  </a:cubicBezTo>
                  <a:cubicBezTo>
                    <a:pt x="3" y="0"/>
                    <a:pt x="2" y="0"/>
                    <a:pt x="2" y="1"/>
                  </a:cubicBezTo>
                  <a:cubicBezTo>
                    <a:pt x="2" y="1"/>
                    <a:pt x="2" y="1"/>
                    <a:pt x="2" y="1"/>
                  </a:cubicBezTo>
                  <a:cubicBezTo>
                    <a:pt x="1" y="1"/>
                    <a:pt x="0" y="2"/>
                    <a:pt x="0" y="3"/>
                  </a:cubicBezTo>
                  <a:cubicBezTo>
                    <a:pt x="0" y="13"/>
                    <a:pt x="0" y="13"/>
                    <a:pt x="0" y="13"/>
                  </a:cubicBezTo>
                  <a:cubicBezTo>
                    <a:pt x="0" y="27"/>
                    <a:pt x="0" y="27"/>
                    <a:pt x="0" y="27"/>
                  </a:cubicBezTo>
                  <a:cubicBezTo>
                    <a:pt x="0" y="112"/>
                    <a:pt x="0" y="112"/>
                    <a:pt x="0" y="112"/>
                  </a:cubicBezTo>
                  <a:cubicBezTo>
                    <a:pt x="0" y="113"/>
                    <a:pt x="1" y="114"/>
                    <a:pt x="2" y="115"/>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6" name="Freeform 6"/>
            <p:cNvSpPr/>
            <p:nvPr/>
          </p:nvSpPr>
          <p:spPr bwMode="auto">
            <a:xfrm>
              <a:off x="3853824" y="2462367"/>
              <a:ext cx="515304" cy="61683"/>
            </a:xfrm>
            <a:custGeom>
              <a:avLst/>
              <a:gdLst>
                <a:gd name="T0" fmla="*/ 0 w 53"/>
                <a:gd name="T1" fmla="*/ 3 h 5"/>
                <a:gd name="T2" fmla="*/ 3 w 53"/>
                <a:gd name="T3" fmla="*/ 5 h 5"/>
                <a:gd name="T4" fmla="*/ 50 w 53"/>
                <a:gd name="T5" fmla="*/ 5 h 5"/>
                <a:gd name="T6" fmla="*/ 53 w 53"/>
                <a:gd name="T7" fmla="*/ 3 h 5"/>
                <a:gd name="T8" fmla="*/ 50 w 53"/>
                <a:gd name="T9" fmla="*/ 0 h 5"/>
                <a:gd name="T10" fmla="*/ 3 w 53"/>
                <a:gd name="T11" fmla="*/ 0 h 5"/>
                <a:gd name="T12" fmla="*/ 0 w 53"/>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3"/>
                  </a:moveTo>
                  <a:cubicBezTo>
                    <a:pt x="0" y="4"/>
                    <a:pt x="2" y="5"/>
                    <a:pt x="3" y="5"/>
                  </a:cubicBezTo>
                  <a:cubicBezTo>
                    <a:pt x="50" y="5"/>
                    <a:pt x="50" y="5"/>
                    <a:pt x="50" y="5"/>
                  </a:cubicBezTo>
                  <a:cubicBezTo>
                    <a:pt x="52" y="5"/>
                    <a:pt x="53" y="4"/>
                    <a:pt x="53" y="3"/>
                  </a:cubicBezTo>
                  <a:cubicBezTo>
                    <a:pt x="53" y="1"/>
                    <a:pt x="52" y="0"/>
                    <a:pt x="50" y="0"/>
                  </a:cubicBezTo>
                  <a:cubicBezTo>
                    <a:pt x="3" y="0"/>
                    <a:pt x="3" y="0"/>
                    <a:pt x="3" y="0"/>
                  </a:cubicBezTo>
                  <a:cubicBezTo>
                    <a:pt x="2" y="0"/>
                    <a:pt x="0" y="1"/>
                    <a:pt x="0" y="3"/>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7" name="Freeform 7"/>
            <p:cNvSpPr/>
            <p:nvPr/>
          </p:nvSpPr>
          <p:spPr bwMode="auto">
            <a:xfrm>
              <a:off x="3853824" y="2750218"/>
              <a:ext cx="515304" cy="61683"/>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8" name="Freeform 8"/>
            <p:cNvSpPr/>
            <p:nvPr/>
          </p:nvSpPr>
          <p:spPr bwMode="auto">
            <a:xfrm>
              <a:off x="3853824" y="3032931"/>
              <a:ext cx="515304" cy="61683"/>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9" name="Freeform 9"/>
            <p:cNvSpPr>
              <a:spLocks noEditPoints="1"/>
            </p:cNvSpPr>
            <p:nvPr/>
          </p:nvSpPr>
          <p:spPr bwMode="auto">
            <a:xfrm>
              <a:off x="3598200" y="1881526"/>
              <a:ext cx="1947600" cy="1845333"/>
            </a:xfrm>
            <a:custGeom>
              <a:avLst/>
              <a:gdLst>
                <a:gd name="T0" fmla="*/ 177 w 200"/>
                <a:gd name="T1" fmla="*/ 3 h 149"/>
                <a:gd name="T2" fmla="*/ 177 w 200"/>
                <a:gd name="T3" fmla="*/ 17 h 149"/>
                <a:gd name="T4" fmla="*/ 186 w 200"/>
                <a:gd name="T5" fmla="*/ 21 h 149"/>
                <a:gd name="T6" fmla="*/ 186 w 200"/>
                <a:gd name="T7" fmla="*/ 134 h 149"/>
                <a:gd name="T8" fmla="*/ 107 w 200"/>
                <a:gd name="T9" fmla="*/ 134 h 149"/>
                <a:gd name="T10" fmla="*/ 107 w 200"/>
                <a:gd name="T11" fmla="*/ 21 h 149"/>
                <a:gd name="T12" fmla="*/ 117 w 200"/>
                <a:gd name="T13" fmla="*/ 17 h 149"/>
                <a:gd name="T14" fmla="*/ 117 w 200"/>
                <a:gd name="T15" fmla="*/ 3 h 149"/>
                <a:gd name="T16" fmla="*/ 100 w 200"/>
                <a:gd name="T17" fmla="*/ 9 h 149"/>
                <a:gd name="T18" fmla="*/ 53 w 200"/>
                <a:gd name="T19" fmla="*/ 0 h 149"/>
                <a:gd name="T20" fmla="*/ 0 w 200"/>
                <a:gd name="T21" fmla="*/ 20 h 149"/>
                <a:gd name="T22" fmla="*/ 0 w 200"/>
                <a:gd name="T23" fmla="*/ 142 h 149"/>
                <a:gd name="T24" fmla="*/ 2 w 200"/>
                <a:gd name="T25" fmla="*/ 147 h 149"/>
                <a:gd name="T26" fmla="*/ 8 w 200"/>
                <a:gd name="T27" fmla="*/ 149 h 149"/>
                <a:gd name="T28" fmla="*/ 53 w 200"/>
                <a:gd name="T29" fmla="*/ 145 h 149"/>
                <a:gd name="T30" fmla="*/ 99 w 200"/>
                <a:gd name="T31" fmla="*/ 149 h 149"/>
                <a:gd name="T32" fmla="*/ 99 w 200"/>
                <a:gd name="T33" fmla="*/ 149 h 149"/>
                <a:gd name="T34" fmla="*/ 100 w 200"/>
                <a:gd name="T35" fmla="*/ 149 h 149"/>
                <a:gd name="T36" fmla="*/ 100 w 200"/>
                <a:gd name="T37" fmla="*/ 149 h 149"/>
                <a:gd name="T38" fmla="*/ 101 w 200"/>
                <a:gd name="T39" fmla="*/ 149 h 149"/>
                <a:gd name="T40" fmla="*/ 101 w 200"/>
                <a:gd name="T41" fmla="*/ 149 h 149"/>
                <a:gd name="T42" fmla="*/ 146 w 200"/>
                <a:gd name="T43" fmla="*/ 145 h 149"/>
                <a:gd name="T44" fmla="*/ 192 w 200"/>
                <a:gd name="T45" fmla="*/ 149 h 149"/>
                <a:gd name="T46" fmla="*/ 193 w 200"/>
                <a:gd name="T47" fmla="*/ 149 h 149"/>
                <a:gd name="T48" fmla="*/ 197 w 200"/>
                <a:gd name="T49" fmla="*/ 147 h 149"/>
                <a:gd name="T50" fmla="*/ 200 w 200"/>
                <a:gd name="T51" fmla="*/ 142 h 149"/>
                <a:gd name="T52" fmla="*/ 200 w 200"/>
                <a:gd name="T53" fmla="*/ 20 h 149"/>
                <a:gd name="T54" fmla="*/ 177 w 200"/>
                <a:gd name="T55" fmla="*/ 3 h 149"/>
                <a:gd name="T56" fmla="*/ 93 w 200"/>
                <a:gd name="T57" fmla="*/ 134 h 149"/>
                <a:gd name="T58" fmla="*/ 53 w 200"/>
                <a:gd name="T59" fmla="*/ 131 h 149"/>
                <a:gd name="T60" fmla="*/ 14 w 200"/>
                <a:gd name="T61" fmla="*/ 134 h 149"/>
                <a:gd name="T62" fmla="*/ 14 w 200"/>
                <a:gd name="T63" fmla="*/ 21 h 149"/>
                <a:gd name="T64" fmla="*/ 53 w 200"/>
                <a:gd name="T65" fmla="*/ 14 h 149"/>
                <a:gd name="T66" fmla="*/ 93 w 200"/>
                <a:gd name="T67" fmla="*/ 21 h 149"/>
                <a:gd name="T68" fmla="*/ 93 w 200"/>
                <a:gd name="T69"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0" h="149">
                  <a:moveTo>
                    <a:pt x="177" y="3"/>
                  </a:moveTo>
                  <a:cubicBezTo>
                    <a:pt x="177" y="17"/>
                    <a:pt x="177" y="17"/>
                    <a:pt x="177" y="17"/>
                  </a:cubicBezTo>
                  <a:cubicBezTo>
                    <a:pt x="181" y="18"/>
                    <a:pt x="185" y="20"/>
                    <a:pt x="186" y="21"/>
                  </a:cubicBezTo>
                  <a:cubicBezTo>
                    <a:pt x="186" y="134"/>
                    <a:pt x="186" y="134"/>
                    <a:pt x="186" y="134"/>
                  </a:cubicBezTo>
                  <a:cubicBezTo>
                    <a:pt x="161" y="130"/>
                    <a:pt x="131" y="130"/>
                    <a:pt x="107" y="134"/>
                  </a:cubicBezTo>
                  <a:cubicBezTo>
                    <a:pt x="107" y="21"/>
                    <a:pt x="107" y="21"/>
                    <a:pt x="107" y="21"/>
                  </a:cubicBezTo>
                  <a:cubicBezTo>
                    <a:pt x="108" y="20"/>
                    <a:pt x="111" y="18"/>
                    <a:pt x="117" y="17"/>
                  </a:cubicBezTo>
                  <a:cubicBezTo>
                    <a:pt x="117" y="3"/>
                    <a:pt x="117" y="3"/>
                    <a:pt x="117" y="3"/>
                  </a:cubicBezTo>
                  <a:cubicBezTo>
                    <a:pt x="110" y="4"/>
                    <a:pt x="104" y="6"/>
                    <a:pt x="100" y="9"/>
                  </a:cubicBezTo>
                  <a:cubicBezTo>
                    <a:pt x="90" y="2"/>
                    <a:pt x="70" y="0"/>
                    <a:pt x="53" y="0"/>
                  </a:cubicBezTo>
                  <a:cubicBezTo>
                    <a:pt x="29" y="0"/>
                    <a:pt x="0" y="5"/>
                    <a:pt x="0" y="20"/>
                  </a:cubicBezTo>
                  <a:cubicBezTo>
                    <a:pt x="0" y="142"/>
                    <a:pt x="0" y="142"/>
                    <a:pt x="0" y="142"/>
                  </a:cubicBezTo>
                  <a:cubicBezTo>
                    <a:pt x="0" y="144"/>
                    <a:pt x="1" y="146"/>
                    <a:pt x="2" y="147"/>
                  </a:cubicBezTo>
                  <a:cubicBezTo>
                    <a:pt x="4" y="148"/>
                    <a:pt x="6" y="149"/>
                    <a:pt x="8" y="149"/>
                  </a:cubicBezTo>
                  <a:cubicBezTo>
                    <a:pt x="22" y="146"/>
                    <a:pt x="37" y="145"/>
                    <a:pt x="53" y="145"/>
                  </a:cubicBezTo>
                  <a:cubicBezTo>
                    <a:pt x="69" y="145"/>
                    <a:pt x="85" y="146"/>
                    <a:pt x="99" y="149"/>
                  </a:cubicBezTo>
                  <a:cubicBezTo>
                    <a:pt x="99" y="149"/>
                    <a:pt x="99" y="149"/>
                    <a:pt x="99" y="149"/>
                  </a:cubicBezTo>
                  <a:cubicBezTo>
                    <a:pt x="99" y="149"/>
                    <a:pt x="99" y="149"/>
                    <a:pt x="100" y="149"/>
                  </a:cubicBezTo>
                  <a:cubicBezTo>
                    <a:pt x="100" y="149"/>
                    <a:pt x="100" y="149"/>
                    <a:pt x="100" y="149"/>
                  </a:cubicBezTo>
                  <a:cubicBezTo>
                    <a:pt x="100" y="149"/>
                    <a:pt x="100" y="149"/>
                    <a:pt x="101" y="149"/>
                  </a:cubicBezTo>
                  <a:cubicBezTo>
                    <a:pt x="101" y="149"/>
                    <a:pt x="101" y="149"/>
                    <a:pt x="101" y="149"/>
                  </a:cubicBezTo>
                  <a:cubicBezTo>
                    <a:pt x="115" y="146"/>
                    <a:pt x="130" y="145"/>
                    <a:pt x="146" y="145"/>
                  </a:cubicBezTo>
                  <a:cubicBezTo>
                    <a:pt x="162" y="145"/>
                    <a:pt x="178" y="146"/>
                    <a:pt x="192" y="149"/>
                  </a:cubicBezTo>
                  <a:cubicBezTo>
                    <a:pt x="192" y="149"/>
                    <a:pt x="192" y="149"/>
                    <a:pt x="193" y="149"/>
                  </a:cubicBezTo>
                  <a:cubicBezTo>
                    <a:pt x="194" y="149"/>
                    <a:pt x="196" y="148"/>
                    <a:pt x="197" y="147"/>
                  </a:cubicBezTo>
                  <a:cubicBezTo>
                    <a:pt x="199" y="146"/>
                    <a:pt x="200" y="144"/>
                    <a:pt x="200" y="142"/>
                  </a:cubicBezTo>
                  <a:cubicBezTo>
                    <a:pt x="200" y="20"/>
                    <a:pt x="200" y="20"/>
                    <a:pt x="200" y="20"/>
                  </a:cubicBezTo>
                  <a:cubicBezTo>
                    <a:pt x="200" y="11"/>
                    <a:pt x="190" y="6"/>
                    <a:pt x="177" y="3"/>
                  </a:cubicBezTo>
                  <a:close/>
                  <a:moveTo>
                    <a:pt x="93" y="134"/>
                  </a:moveTo>
                  <a:cubicBezTo>
                    <a:pt x="80" y="132"/>
                    <a:pt x="67" y="131"/>
                    <a:pt x="53" y="131"/>
                  </a:cubicBezTo>
                  <a:cubicBezTo>
                    <a:pt x="40" y="131"/>
                    <a:pt x="26" y="132"/>
                    <a:pt x="14" y="134"/>
                  </a:cubicBezTo>
                  <a:cubicBezTo>
                    <a:pt x="14" y="21"/>
                    <a:pt x="14" y="21"/>
                    <a:pt x="14" y="21"/>
                  </a:cubicBezTo>
                  <a:cubicBezTo>
                    <a:pt x="16" y="18"/>
                    <a:pt x="30" y="14"/>
                    <a:pt x="53" y="14"/>
                  </a:cubicBezTo>
                  <a:cubicBezTo>
                    <a:pt x="76" y="14"/>
                    <a:pt x="90" y="18"/>
                    <a:pt x="93" y="21"/>
                  </a:cubicBezTo>
                  <a:lnTo>
                    <a:pt x="93" y="134"/>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3" name="Group 4"/>
          <p:cNvGrpSpPr>
            <a:grpSpLocks noChangeAspect="1"/>
          </p:cNvGrpSpPr>
          <p:nvPr/>
        </p:nvGrpSpPr>
        <p:grpSpPr bwMode="auto">
          <a:xfrm>
            <a:off x="7066801" y="3311822"/>
            <a:ext cx="296565" cy="360000"/>
            <a:chOff x="2694" y="1931"/>
            <a:chExt cx="374" cy="454"/>
          </a:xfrm>
          <a:solidFill>
            <a:schemeClr val="bg1"/>
          </a:solidFill>
        </p:grpSpPr>
        <p:sp>
          <p:nvSpPr>
            <p:cNvPr id="51" name="Freeform 5"/>
            <p:cNvSpPr>
              <a:spLocks noEditPoints="1"/>
            </p:cNvSpPr>
            <p:nvPr/>
          </p:nvSpPr>
          <p:spPr bwMode="auto">
            <a:xfrm>
              <a:off x="2694" y="1931"/>
              <a:ext cx="374" cy="454"/>
            </a:xfrm>
            <a:custGeom>
              <a:avLst/>
              <a:gdLst>
                <a:gd name="T0" fmla="*/ 127 w 155"/>
                <a:gd name="T1" fmla="*/ 7 h 189"/>
                <a:gd name="T2" fmla="*/ 124 w 155"/>
                <a:gd name="T3" fmla="*/ 0 h 189"/>
                <a:gd name="T4" fmla="*/ 122 w 155"/>
                <a:gd name="T5" fmla="*/ 7 h 189"/>
                <a:gd name="T6" fmla="*/ 96 w 155"/>
                <a:gd name="T7" fmla="*/ 3 h 189"/>
                <a:gd name="T8" fmla="*/ 90 w 155"/>
                <a:gd name="T9" fmla="*/ 3 h 189"/>
                <a:gd name="T10" fmla="*/ 64 w 155"/>
                <a:gd name="T11" fmla="*/ 7 h 189"/>
                <a:gd name="T12" fmla="*/ 62 w 155"/>
                <a:gd name="T13" fmla="*/ 0 h 189"/>
                <a:gd name="T14" fmla="*/ 59 w 155"/>
                <a:gd name="T15" fmla="*/ 7 h 189"/>
                <a:gd name="T16" fmla="*/ 33 w 155"/>
                <a:gd name="T17" fmla="*/ 3 h 189"/>
                <a:gd name="T18" fmla="*/ 27 w 155"/>
                <a:gd name="T19" fmla="*/ 3 h 189"/>
                <a:gd name="T20" fmla="*/ 7 w 155"/>
                <a:gd name="T21" fmla="*/ 7 h 189"/>
                <a:gd name="T22" fmla="*/ 0 w 155"/>
                <a:gd name="T23" fmla="*/ 182 h 189"/>
                <a:gd name="T24" fmla="*/ 148 w 155"/>
                <a:gd name="T25" fmla="*/ 189 h 189"/>
                <a:gd name="T26" fmla="*/ 155 w 155"/>
                <a:gd name="T27" fmla="*/ 13 h 189"/>
                <a:gd name="T28" fmla="*/ 124 w 155"/>
                <a:gd name="T29" fmla="*/ 40 h 189"/>
                <a:gd name="T30" fmla="*/ 127 w 155"/>
                <a:gd name="T31" fmla="*/ 31 h 189"/>
                <a:gd name="T32" fmla="*/ 124 w 155"/>
                <a:gd name="T33" fmla="*/ 44 h 189"/>
                <a:gd name="T34" fmla="*/ 122 w 155"/>
                <a:gd name="T35" fmla="*/ 31 h 189"/>
                <a:gd name="T36" fmla="*/ 124 w 155"/>
                <a:gd name="T37" fmla="*/ 40 h 189"/>
                <a:gd name="T38" fmla="*/ 96 w 155"/>
                <a:gd name="T39" fmla="*/ 37 h 189"/>
                <a:gd name="T40" fmla="*/ 100 w 155"/>
                <a:gd name="T41" fmla="*/ 37 h 189"/>
                <a:gd name="T42" fmla="*/ 86 w 155"/>
                <a:gd name="T43" fmla="*/ 37 h 189"/>
                <a:gd name="T44" fmla="*/ 90 w 155"/>
                <a:gd name="T45" fmla="*/ 37 h 189"/>
                <a:gd name="T46" fmla="*/ 62 w 155"/>
                <a:gd name="T47" fmla="*/ 40 h 189"/>
                <a:gd name="T48" fmla="*/ 64 w 155"/>
                <a:gd name="T49" fmla="*/ 31 h 189"/>
                <a:gd name="T50" fmla="*/ 62 w 155"/>
                <a:gd name="T51" fmla="*/ 44 h 189"/>
                <a:gd name="T52" fmla="*/ 59 w 155"/>
                <a:gd name="T53" fmla="*/ 31 h 189"/>
                <a:gd name="T54" fmla="*/ 62 w 155"/>
                <a:gd name="T55" fmla="*/ 40 h 189"/>
                <a:gd name="T56" fmla="*/ 33 w 155"/>
                <a:gd name="T57" fmla="*/ 37 h 189"/>
                <a:gd name="T58" fmla="*/ 37 w 155"/>
                <a:gd name="T59" fmla="*/ 37 h 189"/>
                <a:gd name="T60" fmla="*/ 23 w 155"/>
                <a:gd name="T61" fmla="*/ 37 h 189"/>
                <a:gd name="T62" fmla="*/ 27 w 155"/>
                <a:gd name="T63" fmla="*/ 37 h 189"/>
                <a:gd name="T64" fmla="*/ 141 w 155"/>
                <a:gd name="T65" fmla="*/ 175 h 189"/>
                <a:gd name="T66" fmla="*/ 14 w 155"/>
                <a:gd name="T67" fmla="*/ 20 h 189"/>
                <a:gd name="T68" fmla="*/ 27 w 155"/>
                <a:gd name="T69" fmla="*/ 25 h 189"/>
                <a:gd name="T70" fmla="*/ 30 w 155"/>
                <a:gd name="T71" fmla="*/ 50 h 189"/>
                <a:gd name="T72" fmla="*/ 33 w 155"/>
                <a:gd name="T73" fmla="*/ 25 h 189"/>
                <a:gd name="T74" fmla="*/ 59 w 155"/>
                <a:gd name="T75" fmla="*/ 20 h 189"/>
                <a:gd name="T76" fmla="*/ 49 w 155"/>
                <a:gd name="T77" fmla="*/ 37 h 189"/>
                <a:gd name="T78" fmla="*/ 74 w 155"/>
                <a:gd name="T79" fmla="*/ 37 h 189"/>
                <a:gd name="T80" fmla="*/ 64 w 155"/>
                <a:gd name="T81" fmla="*/ 20 h 189"/>
                <a:gd name="T82" fmla="*/ 90 w 155"/>
                <a:gd name="T83" fmla="*/ 25 h 189"/>
                <a:gd name="T84" fmla="*/ 93 w 155"/>
                <a:gd name="T85" fmla="*/ 50 h 189"/>
                <a:gd name="T86" fmla="*/ 96 w 155"/>
                <a:gd name="T87" fmla="*/ 25 h 189"/>
                <a:gd name="T88" fmla="*/ 122 w 155"/>
                <a:gd name="T89" fmla="*/ 20 h 189"/>
                <a:gd name="T90" fmla="*/ 112 w 155"/>
                <a:gd name="T91" fmla="*/ 37 h 189"/>
                <a:gd name="T92" fmla="*/ 137 w 155"/>
                <a:gd name="T93" fmla="*/ 37 h 189"/>
                <a:gd name="T94" fmla="*/ 127 w 155"/>
                <a:gd name="T95" fmla="*/ 20 h 189"/>
                <a:gd name="T96" fmla="*/ 141 w 155"/>
                <a:gd name="T97" fmla="*/ 17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89">
                  <a:moveTo>
                    <a:pt x="148" y="7"/>
                  </a:moveTo>
                  <a:cubicBezTo>
                    <a:pt x="127" y="7"/>
                    <a:pt x="127" y="7"/>
                    <a:pt x="127" y="7"/>
                  </a:cubicBezTo>
                  <a:cubicBezTo>
                    <a:pt x="127" y="3"/>
                    <a:pt x="127" y="3"/>
                    <a:pt x="127" y="3"/>
                  </a:cubicBezTo>
                  <a:cubicBezTo>
                    <a:pt x="127" y="1"/>
                    <a:pt x="126" y="0"/>
                    <a:pt x="124" y="0"/>
                  </a:cubicBezTo>
                  <a:cubicBezTo>
                    <a:pt x="123" y="0"/>
                    <a:pt x="122" y="1"/>
                    <a:pt x="122" y="3"/>
                  </a:cubicBezTo>
                  <a:cubicBezTo>
                    <a:pt x="122" y="7"/>
                    <a:pt x="122" y="7"/>
                    <a:pt x="122" y="7"/>
                  </a:cubicBezTo>
                  <a:cubicBezTo>
                    <a:pt x="96" y="7"/>
                    <a:pt x="96" y="7"/>
                    <a:pt x="96" y="7"/>
                  </a:cubicBezTo>
                  <a:cubicBezTo>
                    <a:pt x="96" y="3"/>
                    <a:pt x="96" y="3"/>
                    <a:pt x="96" y="3"/>
                  </a:cubicBezTo>
                  <a:cubicBezTo>
                    <a:pt x="96" y="1"/>
                    <a:pt x="94" y="0"/>
                    <a:pt x="93" y="0"/>
                  </a:cubicBezTo>
                  <a:cubicBezTo>
                    <a:pt x="91" y="0"/>
                    <a:pt x="90" y="1"/>
                    <a:pt x="90" y="3"/>
                  </a:cubicBezTo>
                  <a:cubicBezTo>
                    <a:pt x="90" y="7"/>
                    <a:pt x="90" y="7"/>
                    <a:pt x="90" y="7"/>
                  </a:cubicBezTo>
                  <a:cubicBezTo>
                    <a:pt x="64" y="7"/>
                    <a:pt x="64" y="7"/>
                    <a:pt x="64" y="7"/>
                  </a:cubicBezTo>
                  <a:cubicBezTo>
                    <a:pt x="64" y="3"/>
                    <a:pt x="64" y="3"/>
                    <a:pt x="64" y="3"/>
                  </a:cubicBezTo>
                  <a:cubicBezTo>
                    <a:pt x="64" y="1"/>
                    <a:pt x="63" y="0"/>
                    <a:pt x="62" y="0"/>
                  </a:cubicBezTo>
                  <a:cubicBezTo>
                    <a:pt x="60" y="0"/>
                    <a:pt x="59" y="1"/>
                    <a:pt x="59" y="3"/>
                  </a:cubicBezTo>
                  <a:cubicBezTo>
                    <a:pt x="59" y="7"/>
                    <a:pt x="59" y="7"/>
                    <a:pt x="59" y="7"/>
                  </a:cubicBezTo>
                  <a:cubicBezTo>
                    <a:pt x="33" y="7"/>
                    <a:pt x="33" y="7"/>
                    <a:pt x="33" y="7"/>
                  </a:cubicBezTo>
                  <a:cubicBezTo>
                    <a:pt x="33" y="3"/>
                    <a:pt x="33" y="3"/>
                    <a:pt x="33" y="3"/>
                  </a:cubicBezTo>
                  <a:cubicBezTo>
                    <a:pt x="33" y="1"/>
                    <a:pt x="32" y="0"/>
                    <a:pt x="30" y="0"/>
                  </a:cubicBezTo>
                  <a:cubicBezTo>
                    <a:pt x="29" y="0"/>
                    <a:pt x="27" y="1"/>
                    <a:pt x="27" y="3"/>
                  </a:cubicBezTo>
                  <a:cubicBezTo>
                    <a:pt x="27" y="7"/>
                    <a:pt x="27" y="7"/>
                    <a:pt x="27" y="7"/>
                  </a:cubicBezTo>
                  <a:cubicBezTo>
                    <a:pt x="7" y="7"/>
                    <a:pt x="7" y="7"/>
                    <a:pt x="7" y="7"/>
                  </a:cubicBezTo>
                  <a:cubicBezTo>
                    <a:pt x="3" y="7"/>
                    <a:pt x="0" y="10"/>
                    <a:pt x="0" y="13"/>
                  </a:cubicBezTo>
                  <a:cubicBezTo>
                    <a:pt x="0" y="182"/>
                    <a:pt x="0" y="182"/>
                    <a:pt x="0" y="182"/>
                  </a:cubicBezTo>
                  <a:cubicBezTo>
                    <a:pt x="0" y="186"/>
                    <a:pt x="3" y="189"/>
                    <a:pt x="7" y="189"/>
                  </a:cubicBezTo>
                  <a:cubicBezTo>
                    <a:pt x="148" y="189"/>
                    <a:pt x="148" y="189"/>
                    <a:pt x="148" y="189"/>
                  </a:cubicBezTo>
                  <a:cubicBezTo>
                    <a:pt x="152" y="189"/>
                    <a:pt x="155" y="186"/>
                    <a:pt x="155" y="182"/>
                  </a:cubicBezTo>
                  <a:cubicBezTo>
                    <a:pt x="155" y="13"/>
                    <a:pt x="155" y="13"/>
                    <a:pt x="155" y="13"/>
                  </a:cubicBezTo>
                  <a:cubicBezTo>
                    <a:pt x="155" y="10"/>
                    <a:pt x="152" y="7"/>
                    <a:pt x="148" y="7"/>
                  </a:cubicBezTo>
                  <a:close/>
                  <a:moveTo>
                    <a:pt x="124" y="40"/>
                  </a:moveTo>
                  <a:cubicBezTo>
                    <a:pt x="126" y="40"/>
                    <a:pt x="127" y="39"/>
                    <a:pt x="127" y="37"/>
                  </a:cubicBezTo>
                  <a:cubicBezTo>
                    <a:pt x="127" y="31"/>
                    <a:pt x="127" y="31"/>
                    <a:pt x="127" y="31"/>
                  </a:cubicBezTo>
                  <a:cubicBezTo>
                    <a:pt x="130" y="32"/>
                    <a:pt x="131" y="35"/>
                    <a:pt x="131" y="37"/>
                  </a:cubicBezTo>
                  <a:cubicBezTo>
                    <a:pt x="131" y="41"/>
                    <a:pt x="128" y="44"/>
                    <a:pt x="124" y="44"/>
                  </a:cubicBezTo>
                  <a:cubicBezTo>
                    <a:pt x="120" y="44"/>
                    <a:pt x="117" y="41"/>
                    <a:pt x="117" y="37"/>
                  </a:cubicBezTo>
                  <a:cubicBezTo>
                    <a:pt x="117" y="34"/>
                    <a:pt x="119" y="32"/>
                    <a:pt x="122" y="31"/>
                  </a:cubicBezTo>
                  <a:cubicBezTo>
                    <a:pt x="122" y="37"/>
                    <a:pt x="122" y="37"/>
                    <a:pt x="122" y="37"/>
                  </a:cubicBezTo>
                  <a:cubicBezTo>
                    <a:pt x="122" y="39"/>
                    <a:pt x="123" y="40"/>
                    <a:pt x="124" y="40"/>
                  </a:cubicBezTo>
                  <a:close/>
                  <a:moveTo>
                    <a:pt x="93" y="40"/>
                  </a:moveTo>
                  <a:cubicBezTo>
                    <a:pt x="94" y="40"/>
                    <a:pt x="96" y="39"/>
                    <a:pt x="96" y="37"/>
                  </a:cubicBezTo>
                  <a:cubicBezTo>
                    <a:pt x="96" y="31"/>
                    <a:pt x="96" y="31"/>
                    <a:pt x="96" y="31"/>
                  </a:cubicBezTo>
                  <a:cubicBezTo>
                    <a:pt x="98" y="32"/>
                    <a:pt x="100" y="35"/>
                    <a:pt x="100" y="37"/>
                  </a:cubicBezTo>
                  <a:cubicBezTo>
                    <a:pt x="100" y="41"/>
                    <a:pt x="97" y="44"/>
                    <a:pt x="93" y="44"/>
                  </a:cubicBezTo>
                  <a:cubicBezTo>
                    <a:pt x="89" y="44"/>
                    <a:pt x="86" y="41"/>
                    <a:pt x="86" y="37"/>
                  </a:cubicBezTo>
                  <a:cubicBezTo>
                    <a:pt x="86" y="34"/>
                    <a:pt x="88" y="32"/>
                    <a:pt x="90" y="31"/>
                  </a:cubicBezTo>
                  <a:cubicBezTo>
                    <a:pt x="90" y="37"/>
                    <a:pt x="90" y="37"/>
                    <a:pt x="90" y="37"/>
                  </a:cubicBezTo>
                  <a:cubicBezTo>
                    <a:pt x="90" y="39"/>
                    <a:pt x="91" y="40"/>
                    <a:pt x="93" y="40"/>
                  </a:cubicBezTo>
                  <a:close/>
                  <a:moveTo>
                    <a:pt x="62" y="40"/>
                  </a:moveTo>
                  <a:cubicBezTo>
                    <a:pt x="63" y="40"/>
                    <a:pt x="64" y="39"/>
                    <a:pt x="64" y="37"/>
                  </a:cubicBezTo>
                  <a:cubicBezTo>
                    <a:pt x="64" y="31"/>
                    <a:pt x="64" y="31"/>
                    <a:pt x="64" y="31"/>
                  </a:cubicBezTo>
                  <a:cubicBezTo>
                    <a:pt x="67" y="32"/>
                    <a:pt x="69" y="35"/>
                    <a:pt x="69" y="37"/>
                  </a:cubicBezTo>
                  <a:cubicBezTo>
                    <a:pt x="69" y="41"/>
                    <a:pt x="65" y="44"/>
                    <a:pt x="62" y="44"/>
                  </a:cubicBezTo>
                  <a:cubicBezTo>
                    <a:pt x="58" y="44"/>
                    <a:pt x="54" y="41"/>
                    <a:pt x="54" y="37"/>
                  </a:cubicBezTo>
                  <a:cubicBezTo>
                    <a:pt x="54" y="34"/>
                    <a:pt x="56" y="32"/>
                    <a:pt x="59" y="31"/>
                  </a:cubicBezTo>
                  <a:cubicBezTo>
                    <a:pt x="59" y="37"/>
                    <a:pt x="59" y="37"/>
                    <a:pt x="59" y="37"/>
                  </a:cubicBezTo>
                  <a:cubicBezTo>
                    <a:pt x="59" y="39"/>
                    <a:pt x="60" y="40"/>
                    <a:pt x="62" y="40"/>
                  </a:cubicBezTo>
                  <a:close/>
                  <a:moveTo>
                    <a:pt x="30" y="40"/>
                  </a:moveTo>
                  <a:cubicBezTo>
                    <a:pt x="32" y="40"/>
                    <a:pt x="33" y="39"/>
                    <a:pt x="33" y="37"/>
                  </a:cubicBezTo>
                  <a:cubicBezTo>
                    <a:pt x="33" y="31"/>
                    <a:pt x="33" y="31"/>
                    <a:pt x="33" y="31"/>
                  </a:cubicBezTo>
                  <a:cubicBezTo>
                    <a:pt x="35" y="32"/>
                    <a:pt x="37" y="35"/>
                    <a:pt x="37" y="37"/>
                  </a:cubicBezTo>
                  <a:cubicBezTo>
                    <a:pt x="37" y="41"/>
                    <a:pt x="34" y="44"/>
                    <a:pt x="30" y="44"/>
                  </a:cubicBezTo>
                  <a:cubicBezTo>
                    <a:pt x="26" y="44"/>
                    <a:pt x="23" y="41"/>
                    <a:pt x="23" y="37"/>
                  </a:cubicBezTo>
                  <a:cubicBezTo>
                    <a:pt x="23" y="34"/>
                    <a:pt x="25" y="32"/>
                    <a:pt x="27" y="31"/>
                  </a:cubicBezTo>
                  <a:cubicBezTo>
                    <a:pt x="27" y="37"/>
                    <a:pt x="27" y="37"/>
                    <a:pt x="27" y="37"/>
                  </a:cubicBezTo>
                  <a:cubicBezTo>
                    <a:pt x="27" y="39"/>
                    <a:pt x="29" y="40"/>
                    <a:pt x="30" y="40"/>
                  </a:cubicBezTo>
                  <a:close/>
                  <a:moveTo>
                    <a:pt x="141" y="175"/>
                  </a:moveTo>
                  <a:cubicBezTo>
                    <a:pt x="14" y="175"/>
                    <a:pt x="14" y="175"/>
                    <a:pt x="14" y="175"/>
                  </a:cubicBezTo>
                  <a:cubicBezTo>
                    <a:pt x="14" y="20"/>
                    <a:pt x="14" y="20"/>
                    <a:pt x="14" y="20"/>
                  </a:cubicBezTo>
                  <a:cubicBezTo>
                    <a:pt x="27" y="20"/>
                    <a:pt x="27" y="20"/>
                    <a:pt x="27" y="20"/>
                  </a:cubicBezTo>
                  <a:cubicBezTo>
                    <a:pt x="27" y="25"/>
                    <a:pt x="27" y="25"/>
                    <a:pt x="27" y="25"/>
                  </a:cubicBezTo>
                  <a:cubicBezTo>
                    <a:pt x="22" y="26"/>
                    <a:pt x="18" y="31"/>
                    <a:pt x="18" y="37"/>
                  </a:cubicBezTo>
                  <a:cubicBezTo>
                    <a:pt x="18" y="44"/>
                    <a:pt x="23" y="50"/>
                    <a:pt x="30" y="50"/>
                  </a:cubicBezTo>
                  <a:cubicBezTo>
                    <a:pt x="37" y="50"/>
                    <a:pt x="43" y="44"/>
                    <a:pt x="43" y="37"/>
                  </a:cubicBezTo>
                  <a:cubicBezTo>
                    <a:pt x="43" y="31"/>
                    <a:pt x="39" y="26"/>
                    <a:pt x="33" y="25"/>
                  </a:cubicBezTo>
                  <a:cubicBezTo>
                    <a:pt x="33" y="20"/>
                    <a:pt x="33" y="20"/>
                    <a:pt x="33" y="20"/>
                  </a:cubicBezTo>
                  <a:cubicBezTo>
                    <a:pt x="59" y="20"/>
                    <a:pt x="59" y="20"/>
                    <a:pt x="59" y="20"/>
                  </a:cubicBezTo>
                  <a:cubicBezTo>
                    <a:pt x="59" y="25"/>
                    <a:pt x="59" y="25"/>
                    <a:pt x="59" y="25"/>
                  </a:cubicBezTo>
                  <a:cubicBezTo>
                    <a:pt x="53" y="26"/>
                    <a:pt x="49" y="31"/>
                    <a:pt x="49" y="37"/>
                  </a:cubicBezTo>
                  <a:cubicBezTo>
                    <a:pt x="49" y="44"/>
                    <a:pt x="55" y="50"/>
                    <a:pt x="62" y="50"/>
                  </a:cubicBezTo>
                  <a:cubicBezTo>
                    <a:pt x="68" y="50"/>
                    <a:pt x="74" y="44"/>
                    <a:pt x="74" y="37"/>
                  </a:cubicBezTo>
                  <a:cubicBezTo>
                    <a:pt x="74" y="31"/>
                    <a:pt x="70" y="26"/>
                    <a:pt x="64" y="25"/>
                  </a:cubicBezTo>
                  <a:cubicBezTo>
                    <a:pt x="64" y="20"/>
                    <a:pt x="64" y="20"/>
                    <a:pt x="64" y="20"/>
                  </a:cubicBezTo>
                  <a:cubicBezTo>
                    <a:pt x="90" y="20"/>
                    <a:pt x="90" y="20"/>
                    <a:pt x="90" y="20"/>
                  </a:cubicBezTo>
                  <a:cubicBezTo>
                    <a:pt x="90" y="25"/>
                    <a:pt x="90" y="25"/>
                    <a:pt x="90" y="25"/>
                  </a:cubicBezTo>
                  <a:cubicBezTo>
                    <a:pt x="85" y="26"/>
                    <a:pt x="80" y="31"/>
                    <a:pt x="80" y="37"/>
                  </a:cubicBezTo>
                  <a:cubicBezTo>
                    <a:pt x="80" y="44"/>
                    <a:pt x="86" y="50"/>
                    <a:pt x="93" y="50"/>
                  </a:cubicBezTo>
                  <a:cubicBezTo>
                    <a:pt x="100" y="50"/>
                    <a:pt x="105" y="44"/>
                    <a:pt x="105" y="37"/>
                  </a:cubicBezTo>
                  <a:cubicBezTo>
                    <a:pt x="105" y="31"/>
                    <a:pt x="101" y="26"/>
                    <a:pt x="96" y="25"/>
                  </a:cubicBezTo>
                  <a:cubicBezTo>
                    <a:pt x="96" y="20"/>
                    <a:pt x="96" y="20"/>
                    <a:pt x="96" y="20"/>
                  </a:cubicBezTo>
                  <a:cubicBezTo>
                    <a:pt x="122" y="20"/>
                    <a:pt x="122" y="20"/>
                    <a:pt x="122" y="20"/>
                  </a:cubicBezTo>
                  <a:cubicBezTo>
                    <a:pt x="122" y="25"/>
                    <a:pt x="122" y="25"/>
                    <a:pt x="122" y="25"/>
                  </a:cubicBezTo>
                  <a:cubicBezTo>
                    <a:pt x="116" y="26"/>
                    <a:pt x="112" y="31"/>
                    <a:pt x="112" y="37"/>
                  </a:cubicBezTo>
                  <a:cubicBezTo>
                    <a:pt x="112" y="44"/>
                    <a:pt x="117" y="50"/>
                    <a:pt x="124" y="50"/>
                  </a:cubicBezTo>
                  <a:cubicBezTo>
                    <a:pt x="131" y="50"/>
                    <a:pt x="137" y="44"/>
                    <a:pt x="137" y="37"/>
                  </a:cubicBezTo>
                  <a:cubicBezTo>
                    <a:pt x="137" y="31"/>
                    <a:pt x="133" y="26"/>
                    <a:pt x="127" y="25"/>
                  </a:cubicBezTo>
                  <a:cubicBezTo>
                    <a:pt x="127" y="20"/>
                    <a:pt x="127" y="20"/>
                    <a:pt x="127" y="20"/>
                  </a:cubicBezTo>
                  <a:cubicBezTo>
                    <a:pt x="141" y="20"/>
                    <a:pt x="141" y="20"/>
                    <a:pt x="141" y="20"/>
                  </a:cubicBezTo>
                  <a:lnTo>
                    <a:pt x="141" y="175"/>
                  </a:ln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2" name="Freeform 6"/>
            <p:cNvSpPr/>
            <p:nvPr/>
          </p:nvSpPr>
          <p:spPr bwMode="auto">
            <a:xfrm>
              <a:off x="2820" y="2272"/>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3" name="Freeform 7"/>
            <p:cNvSpPr/>
            <p:nvPr/>
          </p:nvSpPr>
          <p:spPr bwMode="auto">
            <a:xfrm>
              <a:off x="2820" y="2190"/>
              <a:ext cx="181" cy="14"/>
            </a:xfrm>
            <a:custGeom>
              <a:avLst/>
              <a:gdLst>
                <a:gd name="T0" fmla="*/ 73 w 75"/>
                <a:gd name="T1" fmla="*/ 0 h 6"/>
                <a:gd name="T2" fmla="*/ 2 w 75"/>
                <a:gd name="T3" fmla="*/ 0 h 6"/>
                <a:gd name="T4" fmla="*/ 0 w 75"/>
                <a:gd name="T5" fmla="*/ 3 h 6"/>
                <a:gd name="T6" fmla="*/ 2 w 75"/>
                <a:gd name="T7" fmla="*/ 6 h 6"/>
                <a:gd name="T8" fmla="*/ 73 w 75"/>
                <a:gd name="T9" fmla="*/ 6 h 6"/>
                <a:gd name="T10" fmla="*/ 75 w 75"/>
                <a:gd name="T11" fmla="*/ 3 h 6"/>
                <a:gd name="T12" fmla="*/ 73 w 7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75" h="6">
                  <a:moveTo>
                    <a:pt x="73" y="0"/>
                  </a:moveTo>
                  <a:cubicBezTo>
                    <a:pt x="2" y="0"/>
                    <a:pt x="2" y="0"/>
                    <a:pt x="2" y="0"/>
                  </a:cubicBezTo>
                  <a:cubicBezTo>
                    <a:pt x="1" y="0"/>
                    <a:pt x="0" y="2"/>
                    <a:pt x="0" y="3"/>
                  </a:cubicBezTo>
                  <a:cubicBezTo>
                    <a:pt x="0" y="5"/>
                    <a:pt x="1" y="6"/>
                    <a:pt x="2" y="6"/>
                  </a:cubicBezTo>
                  <a:cubicBezTo>
                    <a:pt x="73" y="6"/>
                    <a:pt x="73" y="6"/>
                    <a:pt x="73" y="6"/>
                  </a:cubicBezTo>
                  <a:cubicBezTo>
                    <a:pt x="74" y="6"/>
                    <a:pt x="75" y="5"/>
                    <a:pt x="75" y="3"/>
                  </a:cubicBezTo>
                  <a:cubicBezTo>
                    <a:pt x="75" y="2"/>
                    <a:pt x="74" y="0"/>
                    <a:pt x="73"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4" name="Freeform 8"/>
            <p:cNvSpPr/>
            <p:nvPr/>
          </p:nvSpPr>
          <p:spPr bwMode="auto">
            <a:xfrm>
              <a:off x="2820" y="2111"/>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5" name="Freeform 9"/>
            <p:cNvSpPr/>
            <p:nvPr/>
          </p:nvSpPr>
          <p:spPr bwMode="auto">
            <a:xfrm>
              <a:off x="2755" y="2096"/>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6" name="Freeform 10"/>
            <p:cNvSpPr/>
            <p:nvPr/>
          </p:nvSpPr>
          <p:spPr bwMode="auto">
            <a:xfrm>
              <a:off x="2755" y="2176"/>
              <a:ext cx="41" cy="43"/>
            </a:xfrm>
            <a:custGeom>
              <a:avLst/>
              <a:gdLst>
                <a:gd name="T0" fmla="*/ 15 w 17"/>
                <a:gd name="T1" fmla="*/ 0 h 18"/>
                <a:gd name="T2" fmla="*/ 3 w 17"/>
                <a:gd name="T3" fmla="*/ 0 h 18"/>
                <a:gd name="T4" fmla="*/ 0 w 17"/>
                <a:gd name="T5" fmla="*/ 3 h 18"/>
                <a:gd name="T6" fmla="*/ 0 w 17"/>
                <a:gd name="T7" fmla="*/ 15 h 18"/>
                <a:gd name="T8" fmla="*/ 3 w 17"/>
                <a:gd name="T9" fmla="*/ 18 h 18"/>
                <a:gd name="T10" fmla="*/ 15 w 17"/>
                <a:gd name="T11" fmla="*/ 18 h 18"/>
                <a:gd name="T12" fmla="*/ 17 w 17"/>
                <a:gd name="T13" fmla="*/ 15 h 18"/>
                <a:gd name="T14" fmla="*/ 17 w 17"/>
                <a:gd name="T15" fmla="*/ 3 h 18"/>
                <a:gd name="T16" fmla="*/ 15 w 17"/>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0"/>
                  </a:moveTo>
                  <a:cubicBezTo>
                    <a:pt x="3" y="0"/>
                    <a:pt x="3" y="0"/>
                    <a:pt x="3" y="0"/>
                  </a:cubicBezTo>
                  <a:cubicBezTo>
                    <a:pt x="1" y="0"/>
                    <a:pt x="0" y="2"/>
                    <a:pt x="0" y="3"/>
                  </a:cubicBezTo>
                  <a:cubicBezTo>
                    <a:pt x="0" y="15"/>
                    <a:pt x="0" y="15"/>
                    <a:pt x="0" y="15"/>
                  </a:cubicBezTo>
                  <a:cubicBezTo>
                    <a:pt x="0" y="17"/>
                    <a:pt x="1" y="18"/>
                    <a:pt x="3" y="18"/>
                  </a:cubicBezTo>
                  <a:cubicBezTo>
                    <a:pt x="15" y="18"/>
                    <a:pt x="15" y="18"/>
                    <a:pt x="15" y="18"/>
                  </a:cubicBezTo>
                  <a:cubicBezTo>
                    <a:pt x="16" y="18"/>
                    <a:pt x="17" y="17"/>
                    <a:pt x="17" y="15"/>
                  </a:cubicBezTo>
                  <a:cubicBezTo>
                    <a:pt x="17" y="3"/>
                    <a:pt x="17" y="3"/>
                    <a:pt x="17" y="3"/>
                  </a:cubicBezTo>
                  <a:cubicBezTo>
                    <a:pt x="17" y="2"/>
                    <a:pt x="16" y="0"/>
                    <a:pt x="15"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7" name="Freeform 11"/>
            <p:cNvSpPr/>
            <p:nvPr/>
          </p:nvSpPr>
          <p:spPr bwMode="auto">
            <a:xfrm>
              <a:off x="2755" y="2257"/>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22536" name="Freeform 612"/>
          <p:cNvSpPr>
            <a:spLocks noChangeAspect="1" noEditPoints="1"/>
          </p:cNvSpPr>
          <p:nvPr/>
        </p:nvSpPr>
        <p:spPr>
          <a:xfrm>
            <a:off x="2909888" y="2503488"/>
            <a:ext cx="279400" cy="360362"/>
          </a:xfrm>
          <a:custGeom>
            <a:avLst/>
            <a:gdLst/>
            <a:ahLst/>
            <a:cxnLst>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00" h="129">
                <a:moveTo>
                  <a:pt x="24" y="10"/>
                </a:moveTo>
                <a:lnTo>
                  <a:pt x="32" y="10"/>
                </a:lnTo>
                <a:lnTo>
                  <a:pt x="32" y="0"/>
                </a:lnTo>
                <a:lnTo>
                  <a:pt x="70" y="0"/>
                </a:lnTo>
                <a:lnTo>
                  <a:pt x="70" y="10"/>
                </a:lnTo>
                <a:lnTo>
                  <a:pt x="80" y="10"/>
                </a:lnTo>
                <a:lnTo>
                  <a:pt x="80" y="18"/>
                </a:lnTo>
                <a:lnTo>
                  <a:pt x="96" y="18"/>
                </a:lnTo>
                <a:lnTo>
                  <a:pt x="100" y="18"/>
                </a:lnTo>
                <a:lnTo>
                  <a:pt x="100" y="24"/>
                </a:lnTo>
                <a:lnTo>
                  <a:pt x="100" y="123"/>
                </a:lnTo>
                <a:lnTo>
                  <a:pt x="100" y="129"/>
                </a:lnTo>
                <a:lnTo>
                  <a:pt x="96" y="129"/>
                </a:lnTo>
                <a:lnTo>
                  <a:pt x="6" y="129"/>
                </a:lnTo>
                <a:lnTo>
                  <a:pt x="0" y="129"/>
                </a:lnTo>
                <a:lnTo>
                  <a:pt x="0" y="123"/>
                </a:lnTo>
                <a:lnTo>
                  <a:pt x="0" y="24"/>
                </a:lnTo>
                <a:lnTo>
                  <a:pt x="0" y="18"/>
                </a:lnTo>
                <a:lnTo>
                  <a:pt x="6" y="18"/>
                </a:lnTo>
                <a:lnTo>
                  <a:pt x="14" y="18"/>
                </a:lnTo>
                <a:lnTo>
                  <a:pt x="14" y="28"/>
                </a:lnTo>
                <a:lnTo>
                  <a:pt x="12" y="28"/>
                </a:lnTo>
                <a:lnTo>
                  <a:pt x="12" y="117"/>
                </a:lnTo>
                <a:lnTo>
                  <a:pt x="90" y="117"/>
                </a:lnTo>
                <a:lnTo>
                  <a:pt x="90" y="28"/>
                </a:lnTo>
                <a:lnTo>
                  <a:pt x="80" y="28"/>
                </a:lnTo>
                <a:lnTo>
                  <a:pt x="80" y="34"/>
                </a:lnTo>
                <a:lnTo>
                  <a:pt x="24" y="34"/>
                </a:lnTo>
                <a:lnTo>
                  <a:pt x="24" y="10"/>
                </a:lnTo>
                <a:close/>
                <a:moveTo>
                  <a:pt x="36" y="74"/>
                </a:moveTo>
                <a:lnTo>
                  <a:pt x="36" y="70"/>
                </a:lnTo>
                <a:lnTo>
                  <a:pt x="22" y="70"/>
                </a:lnTo>
                <a:lnTo>
                  <a:pt x="22" y="74"/>
                </a:lnTo>
                <a:lnTo>
                  <a:pt x="36" y="74"/>
                </a:lnTo>
                <a:close/>
                <a:moveTo>
                  <a:pt x="62" y="74"/>
                </a:moveTo>
                <a:lnTo>
                  <a:pt x="62" y="70"/>
                </a:lnTo>
                <a:lnTo>
                  <a:pt x="48" y="70"/>
                </a:lnTo>
                <a:lnTo>
                  <a:pt x="48" y="74"/>
                </a:lnTo>
                <a:lnTo>
                  <a:pt x="62" y="74"/>
                </a:lnTo>
                <a:close/>
                <a:moveTo>
                  <a:pt x="82" y="74"/>
                </a:moveTo>
                <a:lnTo>
                  <a:pt x="82" y="70"/>
                </a:lnTo>
                <a:lnTo>
                  <a:pt x="68" y="70"/>
                </a:lnTo>
                <a:lnTo>
                  <a:pt x="68" y="74"/>
                </a:lnTo>
                <a:lnTo>
                  <a:pt x="82" y="74"/>
                </a:lnTo>
                <a:close/>
                <a:moveTo>
                  <a:pt x="44" y="87"/>
                </a:moveTo>
                <a:lnTo>
                  <a:pt x="44" y="83"/>
                </a:lnTo>
                <a:lnTo>
                  <a:pt x="22" y="83"/>
                </a:lnTo>
                <a:lnTo>
                  <a:pt x="22" y="87"/>
                </a:lnTo>
                <a:lnTo>
                  <a:pt x="44" y="87"/>
                </a:lnTo>
                <a:close/>
                <a:moveTo>
                  <a:pt x="52" y="87"/>
                </a:moveTo>
                <a:lnTo>
                  <a:pt x="52" y="83"/>
                </a:lnTo>
                <a:lnTo>
                  <a:pt x="48" y="83"/>
                </a:lnTo>
                <a:lnTo>
                  <a:pt x="48" y="87"/>
                </a:lnTo>
                <a:lnTo>
                  <a:pt x="52" y="87"/>
                </a:lnTo>
                <a:close/>
                <a:moveTo>
                  <a:pt x="82" y="87"/>
                </a:moveTo>
                <a:lnTo>
                  <a:pt x="82" y="83"/>
                </a:lnTo>
                <a:lnTo>
                  <a:pt x="56" y="83"/>
                </a:lnTo>
                <a:lnTo>
                  <a:pt x="56" y="87"/>
                </a:lnTo>
                <a:lnTo>
                  <a:pt x="82" y="87"/>
                </a:lnTo>
                <a:close/>
                <a:moveTo>
                  <a:pt x="68" y="58"/>
                </a:moveTo>
                <a:lnTo>
                  <a:pt x="68" y="62"/>
                </a:lnTo>
                <a:lnTo>
                  <a:pt x="82" y="62"/>
                </a:lnTo>
                <a:lnTo>
                  <a:pt x="82" y="58"/>
                </a:lnTo>
                <a:lnTo>
                  <a:pt x="68" y="58"/>
                </a:lnTo>
                <a:close/>
                <a:moveTo>
                  <a:pt x="40" y="58"/>
                </a:moveTo>
                <a:lnTo>
                  <a:pt x="40" y="62"/>
                </a:lnTo>
                <a:lnTo>
                  <a:pt x="56" y="62"/>
                </a:lnTo>
                <a:lnTo>
                  <a:pt x="56" y="58"/>
                </a:lnTo>
                <a:lnTo>
                  <a:pt x="40" y="58"/>
                </a:lnTo>
                <a:close/>
                <a:moveTo>
                  <a:pt x="22" y="58"/>
                </a:moveTo>
                <a:lnTo>
                  <a:pt x="22" y="62"/>
                </a:lnTo>
                <a:lnTo>
                  <a:pt x="34" y="62"/>
                </a:lnTo>
                <a:lnTo>
                  <a:pt x="34" y="58"/>
                </a:lnTo>
                <a:lnTo>
                  <a:pt x="22" y="58"/>
                </a:lnTo>
                <a:close/>
                <a:moveTo>
                  <a:pt x="60" y="46"/>
                </a:moveTo>
                <a:lnTo>
                  <a:pt x="60" y="50"/>
                </a:lnTo>
                <a:lnTo>
                  <a:pt x="82" y="50"/>
                </a:lnTo>
                <a:lnTo>
                  <a:pt x="82" y="46"/>
                </a:lnTo>
                <a:lnTo>
                  <a:pt x="60" y="46"/>
                </a:lnTo>
                <a:close/>
                <a:moveTo>
                  <a:pt x="50" y="46"/>
                </a:moveTo>
                <a:lnTo>
                  <a:pt x="50" y="50"/>
                </a:lnTo>
                <a:lnTo>
                  <a:pt x="56" y="50"/>
                </a:lnTo>
                <a:lnTo>
                  <a:pt x="56" y="46"/>
                </a:lnTo>
                <a:lnTo>
                  <a:pt x="50" y="46"/>
                </a:lnTo>
                <a:close/>
                <a:moveTo>
                  <a:pt x="22" y="46"/>
                </a:moveTo>
                <a:lnTo>
                  <a:pt x="22" y="50"/>
                </a:lnTo>
                <a:lnTo>
                  <a:pt x="48" y="50"/>
                </a:lnTo>
                <a:lnTo>
                  <a:pt x="48" y="46"/>
                </a:lnTo>
                <a:lnTo>
                  <a:pt x="22" y="46"/>
                </a:lnTo>
                <a:close/>
              </a:path>
            </a:pathLst>
          </a:custGeom>
          <a:solidFill>
            <a:schemeClr val="bg1"/>
          </a:solidFill>
          <a:ln w="9525">
            <a:noFill/>
          </a:ln>
        </p:spPr>
        <p:txBody>
          <a:bodyPr/>
          <a:p>
            <a:endParaRPr lang="zh-CN" altLang="en-US"/>
          </a:p>
        </p:txBody>
      </p:sp>
      <p:sp>
        <p:nvSpPr>
          <p:cNvPr id="22537" name="Freeform 628"/>
          <p:cNvSpPr>
            <a:spLocks noChangeAspect="1" noEditPoints="1"/>
          </p:cNvSpPr>
          <p:nvPr/>
        </p:nvSpPr>
        <p:spPr>
          <a:xfrm>
            <a:off x="5880100" y="1708150"/>
            <a:ext cx="288925" cy="360363"/>
          </a:xfrm>
          <a:custGeom>
            <a:avLst/>
            <a:gdLst/>
            <a:ahLst/>
            <a:cxnLst>
              <a:cxn ang="0">
                <a:pos x="2147483647" y="0"/>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0" y="2147483647"/>
              </a:cxn>
              <a:cxn ang="0">
                <a:pos x="0" y="0"/>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05" h="131">
                <a:moveTo>
                  <a:pt x="6" y="0"/>
                </a:moveTo>
                <a:lnTo>
                  <a:pt x="99" y="0"/>
                </a:lnTo>
                <a:lnTo>
                  <a:pt x="105" y="0"/>
                </a:lnTo>
                <a:lnTo>
                  <a:pt x="105" y="4"/>
                </a:lnTo>
                <a:lnTo>
                  <a:pt x="105" y="125"/>
                </a:lnTo>
                <a:lnTo>
                  <a:pt x="105" y="131"/>
                </a:lnTo>
                <a:lnTo>
                  <a:pt x="99" y="131"/>
                </a:lnTo>
                <a:lnTo>
                  <a:pt x="32" y="131"/>
                </a:lnTo>
                <a:lnTo>
                  <a:pt x="30" y="131"/>
                </a:lnTo>
                <a:lnTo>
                  <a:pt x="2" y="109"/>
                </a:lnTo>
                <a:lnTo>
                  <a:pt x="0" y="109"/>
                </a:lnTo>
                <a:lnTo>
                  <a:pt x="0" y="105"/>
                </a:lnTo>
                <a:lnTo>
                  <a:pt x="0" y="4"/>
                </a:lnTo>
                <a:lnTo>
                  <a:pt x="0" y="0"/>
                </a:lnTo>
                <a:lnTo>
                  <a:pt x="6" y="0"/>
                </a:lnTo>
                <a:close/>
                <a:moveTo>
                  <a:pt x="10" y="99"/>
                </a:moveTo>
                <a:lnTo>
                  <a:pt x="28" y="93"/>
                </a:lnTo>
                <a:lnTo>
                  <a:pt x="30" y="93"/>
                </a:lnTo>
                <a:lnTo>
                  <a:pt x="30" y="95"/>
                </a:lnTo>
                <a:lnTo>
                  <a:pt x="38" y="121"/>
                </a:lnTo>
                <a:lnTo>
                  <a:pt x="95" y="121"/>
                </a:lnTo>
                <a:lnTo>
                  <a:pt x="95" y="10"/>
                </a:lnTo>
                <a:lnTo>
                  <a:pt x="10" y="10"/>
                </a:lnTo>
                <a:lnTo>
                  <a:pt x="10" y="99"/>
                </a:lnTo>
                <a:close/>
                <a:moveTo>
                  <a:pt x="32" y="119"/>
                </a:moveTo>
                <a:lnTo>
                  <a:pt x="26" y="99"/>
                </a:lnTo>
                <a:lnTo>
                  <a:pt x="12" y="105"/>
                </a:lnTo>
                <a:lnTo>
                  <a:pt x="32" y="119"/>
                </a:lnTo>
                <a:close/>
                <a:moveTo>
                  <a:pt x="24" y="71"/>
                </a:moveTo>
                <a:lnTo>
                  <a:pt x="24" y="75"/>
                </a:lnTo>
                <a:lnTo>
                  <a:pt x="81" y="75"/>
                </a:lnTo>
                <a:lnTo>
                  <a:pt x="81" y="71"/>
                </a:lnTo>
                <a:lnTo>
                  <a:pt x="24" y="71"/>
                </a:lnTo>
                <a:close/>
                <a:moveTo>
                  <a:pt x="24" y="57"/>
                </a:moveTo>
                <a:lnTo>
                  <a:pt x="24" y="61"/>
                </a:lnTo>
                <a:lnTo>
                  <a:pt x="81" y="61"/>
                </a:lnTo>
                <a:lnTo>
                  <a:pt x="81" y="57"/>
                </a:lnTo>
                <a:lnTo>
                  <a:pt x="24" y="57"/>
                </a:lnTo>
                <a:close/>
                <a:moveTo>
                  <a:pt x="24" y="42"/>
                </a:moveTo>
                <a:lnTo>
                  <a:pt x="24" y="46"/>
                </a:lnTo>
                <a:lnTo>
                  <a:pt x="81" y="46"/>
                </a:lnTo>
                <a:lnTo>
                  <a:pt x="81" y="42"/>
                </a:lnTo>
                <a:lnTo>
                  <a:pt x="24" y="42"/>
                </a:lnTo>
                <a:close/>
                <a:moveTo>
                  <a:pt x="24" y="28"/>
                </a:moveTo>
                <a:lnTo>
                  <a:pt x="24" y="32"/>
                </a:lnTo>
                <a:lnTo>
                  <a:pt x="81" y="32"/>
                </a:lnTo>
                <a:lnTo>
                  <a:pt x="81" y="28"/>
                </a:lnTo>
                <a:lnTo>
                  <a:pt x="24" y="28"/>
                </a:lnTo>
                <a:close/>
              </a:path>
            </a:pathLst>
          </a:custGeom>
          <a:solidFill>
            <a:schemeClr val="bg1"/>
          </a:solidFill>
          <a:ln w="9525">
            <a:noFill/>
          </a:ln>
        </p:spPr>
        <p:txBody>
          <a:bodyPr/>
          <a:p>
            <a:endParaRPr lang="zh-CN" altLang="en-US"/>
          </a:p>
        </p:txBody>
      </p:sp>
      <p:grpSp>
        <p:nvGrpSpPr>
          <p:cNvPr id="22538" name="组合 82"/>
          <p:cNvGrpSpPr/>
          <p:nvPr/>
        </p:nvGrpSpPr>
        <p:grpSpPr>
          <a:xfrm>
            <a:off x="5559425" y="3951288"/>
            <a:ext cx="3322638" cy="1869543"/>
            <a:chOff x="5297714" y="3856234"/>
            <a:chExt cx="3323773" cy="1870170"/>
          </a:xfrm>
        </p:grpSpPr>
        <p:sp>
          <p:nvSpPr>
            <p:cNvPr id="22539" name="文本框 59"/>
            <p:cNvSpPr txBox="1"/>
            <p:nvPr/>
          </p:nvSpPr>
          <p:spPr>
            <a:xfrm>
              <a:off x="6043614" y="3856234"/>
              <a:ext cx="1831972" cy="368423"/>
            </a:xfrm>
            <a:prstGeom prst="rect">
              <a:avLst/>
            </a:prstGeom>
            <a:noFill/>
            <a:ln w="9525">
              <a:noFill/>
            </a:ln>
          </p:spPr>
          <p:txBody>
            <a:bodyPr anchor="t" anchorCtr="0">
              <a:spAutoFit/>
            </a:bodyPr>
            <a:p>
              <a:pPr algn="ctr"/>
              <a:r>
                <a:rPr lang="zh-CN" altLang="en-US" b="1" dirty="0">
                  <a:latin typeface="微软雅黑" panose="020B0503020204020204" pitchFamily="34" charset="-122"/>
                  <a:ea typeface="微软雅黑" panose="020B0503020204020204" pitchFamily="34" charset="-122"/>
                </a:rPr>
                <a:t>最终成型</a:t>
              </a:r>
              <a:endParaRPr lang="zh-CN" altLang="en-US" b="1" dirty="0">
                <a:latin typeface="微软雅黑" panose="020B0503020204020204" pitchFamily="34" charset="-122"/>
                <a:ea typeface="微软雅黑" panose="020B0503020204020204" pitchFamily="34" charset="-122"/>
              </a:endParaRPr>
            </a:p>
          </p:txBody>
        </p:sp>
        <p:sp>
          <p:nvSpPr>
            <p:cNvPr id="22540" name="文本框 60"/>
            <p:cNvSpPr txBox="1"/>
            <p:nvPr/>
          </p:nvSpPr>
          <p:spPr>
            <a:xfrm>
              <a:off x="5297714" y="4157428"/>
              <a:ext cx="3323773" cy="1568976"/>
            </a:xfrm>
            <a:prstGeom prst="rect">
              <a:avLst/>
            </a:prstGeom>
            <a:noFill/>
            <a:ln w="9525">
              <a:noFill/>
            </a:ln>
          </p:spPr>
          <p:txBody>
            <a:bodyPr anchor="t" anchorCtr="0">
              <a:spAutoFit/>
            </a:bodyPr>
            <a:p>
              <a:pPr algn="ctr"/>
              <a:r>
                <a:rPr lang="zh-CN" altLang="en-US" sz="1600" dirty="0">
                  <a:latin typeface="微软雅黑" panose="020B0503020204020204" pitchFamily="34" charset="-122"/>
                  <a:ea typeface="微软雅黑" panose="020B0503020204020204" pitchFamily="34" charset="-122"/>
                </a:rPr>
                <a:t>重新用</a:t>
              </a:r>
              <a:r>
                <a:rPr lang="en-US" altLang="zh-CN" sz="1600" dirty="0">
                  <a:latin typeface="微软雅黑" panose="020B0503020204020204" pitchFamily="34" charset="-122"/>
                  <a:ea typeface="微软雅黑" panose="020B0503020204020204" pitchFamily="34" charset="-122"/>
                </a:rPr>
                <a:t>TensorFlow</a:t>
              </a:r>
              <a:r>
                <a:rPr lang="zh-CN" altLang="en-US" sz="1600" dirty="0">
                  <a:latin typeface="微软雅黑" panose="020B0503020204020204" pitchFamily="34" charset="-122"/>
                  <a:ea typeface="微软雅黑" panose="020B0503020204020204" pitchFamily="34" charset="-122"/>
                </a:rPr>
                <a:t>编写了训练后模型参数文件的转换程序，然后用</a:t>
              </a:r>
              <a:r>
                <a:rPr lang="en-US" altLang="zh-CN" sz="1600" dirty="0">
                  <a:latin typeface="微软雅黑" panose="020B0503020204020204" pitchFamily="34" charset="-122"/>
                  <a:ea typeface="微软雅黑" panose="020B0503020204020204" pitchFamily="34" charset="-122"/>
                </a:rPr>
                <a:t>TensorFlow</a:t>
              </a:r>
              <a:r>
                <a:rPr lang="zh-CN" altLang="en-US" sz="1600" dirty="0">
                  <a:latin typeface="微软雅黑" panose="020B0503020204020204" pitchFamily="34" charset="-122"/>
                  <a:ea typeface="微软雅黑" panose="020B0503020204020204" pitchFamily="34" charset="-122"/>
                </a:rPr>
                <a:t>读取，对于视频中的每一帧图像都通过训练好的模型进行分类，根据分类的结果判断是本人还是同学</a:t>
              </a:r>
              <a:endParaRPr lang="zh-CN" altLang="en-US" sz="1600" dirty="0">
                <a:latin typeface="微软雅黑" panose="020B0503020204020204" pitchFamily="34" charset="-122"/>
                <a:ea typeface="微软雅黑" panose="020B0503020204020204" pitchFamily="34" charset="-122"/>
              </a:endParaRPr>
            </a:p>
          </p:txBody>
        </p:sp>
      </p:grpSp>
      <p:grpSp>
        <p:nvGrpSpPr>
          <p:cNvPr id="22541" name="组合 79"/>
          <p:cNvGrpSpPr/>
          <p:nvPr/>
        </p:nvGrpSpPr>
        <p:grpSpPr>
          <a:xfrm>
            <a:off x="481013" y="4757738"/>
            <a:ext cx="2813050" cy="1377699"/>
            <a:chOff x="481467" y="4669031"/>
            <a:chExt cx="2812733" cy="1376879"/>
          </a:xfrm>
        </p:grpSpPr>
        <p:sp>
          <p:nvSpPr>
            <p:cNvPr id="22542" name="文本框 63"/>
            <p:cNvSpPr txBox="1"/>
            <p:nvPr/>
          </p:nvSpPr>
          <p:spPr>
            <a:xfrm>
              <a:off x="971847" y="4669031"/>
              <a:ext cx="1831972" cy="368081"/>
            </a:xfrm>
            <a:prstGeom prst="rect">
              <a:avLst/>
            </a:prstGeom>
            <a:noFill/>
            <a:ln w="9525">
              <a:noFill/>
            </a:ln>
          </p:spPr>
          <p:txBody>
            <a:bodyPr anchor="t" anchorCtr="0">
              <a:spAutoFit/>
            </a:bodyPr>
            <a:p>
              <a:pPr algn="ctr"/>
              <a:r>
                <a:rPr lang="zh-CN" altLang="en-US" b="1" dirty="0">
                  <a:latin typeface="微软雅黑" panose="020B0503020204020204" pitchFamily="34" charset="-122"/>
                  <a:ea typeface="微软雅黑" panose="020B0503020204020204" pitchFamily="34" charset="-122"/>
                </a:rPr>
                <a:t>模型验证</a:t>
              </a:r>
              <a:endParaRPr lang="zh-CN" altLang="en-US" b="1" dirty="0">
                <a:latin typeface="微软雅黑" panose="020B0503020204020204" pitchFamily="34" charset="-122"/>
                <a:ea typeface="微软雅黑" panose="020B0503020204020204" pitchFamily="34" charset="-122"/>
              </a:endParaRPr>
            </a:p>
          </p:txBody>
        </p:sp>
        <p:sp>
          <p:nvSpPr>
            <p:cNvPr id="22543" name="文本框 64"/>
            <p:cNvSpPr txBox="1"/>
            <p:nvPr/>
          </p:nvSpPr>
          <p:spPr>
            <a:xfrm>
              <a:off x="481467" y="4970225"/>
              <a:ext cx="2812733" cy="1075685"/>
            </a:xfrm>
            <a:prstGeom prst="rect">
              <a:avLst/>
            </a:prstGeom>
            <a:noFill/>
            <a:ln w="9525">
              <a:noFill/>
            </a:ln>
          </p:spPr>
          <p:txBody>
            <a:bodyPr anchor="t" anchorCtr="0">
              <a:spAutoFit/>
            </a:bodyPr>
            <a:p>
              <a:pPr algn="ctr"/>
              <a:r>
                <a:rPr lang="zh-CN" altLang="en-US" sz="1600" dirty="0">
                  <a:latin typeface="微软雅黑" panose="020B0503020204020204" pitchFamily="34" charset="-122"/>
                  <a:ea typeface="微软雅黑" panose="020B0503020204020204" pitchFamily="34" charset="-122"/>
                </a:rPr>
                <a:t>根据交叉验证的思想，采用</a:t>
              </a:r>
              <a:r>
                <a:rPr lang="en-US" altLang="zh-CN" sz="1600" dirty="0">
                  <a:latin typeface="微软雅黑" panose="020B0503020204020204" pitchFamily="34" charset="-122"/>
                  <a:ea typeface="微软雅黑" panose="020B0503020204020204" pitchFamily="34" charset="-122"/>
                </a:rPr>
                <a:t>sklearn</a:t>
              </a:r>
              <a:r>
                <a:rPr lang="zh-CN" altLang="en-US" sz="1600" dirty="0">
                  <a:latin typeface="微软雅黑" panose="020B0503020204020204" pitchFamily="34" charset="-122"/>
                  <a:ea typeface="微软雅黑" panose="020B0503020204020204" pitchFamily="34" charset="-122"/>
                </a:rPr>
                <a:t>包进行划分，将部分数据用于验证集，得到验证集上的准确度有</a:t>
              </a:r>
              <a:r>
                <a:rPr lang="en-US" altLang="zh-CN" sz="1600" dirty="0">
                  <a:latin typeface="微软雅黑" panose="020B0503020204020204" pitchFamily="34" charset="-122"/>
                  <a:ea typeface="微软雅黑" panose="020B0503020204020204" pitchFamily="34" charset="-122"/>
                </a:rPr>
                <a:t>90%</a:t>
              </a:r>
              <a:r>
                <a:rPr lang="zh-CN" altLang="en-US" sz="1600" dirty="0">
                  <a:latin typeface="微软雅黑" panose="020B0503020204020204" pitchFamily="34" charset="-122"/>
                  <a:ea typeface="微软雅黑" panose="020B0503020204020204" pitchFamily="34" charset="-122"/>
                </a:rPr>
                <a:t>以上</a:t>
              </a:r>
              <a:endParaRPr lang="zh-CN" altLang="en-US" sz="1600" dirty="0">
                <a:latin typeface="微软雅黑" panose="020B0503020204020204" pitchFamily="34" charset="-122"/>
                <a:ea typeface="微软雅黑" panose="020B0503020204020204" pitchFamily="34" charset="-122"/>
              </a:endParaRPr>
            </a:p>
          </p:txBody>
        </p:sp>
      </p:grpSp>
      <p:grpSp>
        <p:nvGrpSpPr>
          <p:cNvPr id="22544" name="组合 77"/>
          <p:cNvGrpSpPr/>
          <p:nvPr/>
        </p:nvGrpSpPr>
        <p:grpSpPr>
          <a:xfrm>
            <a:off x="87313" y="1955165"/>
            <a:ext cx="2624137" cy="1873374"/>
            <a:chOff x="87948" y="1860387"/>
            <a:chExt cx="2622894" cy="1873875"/>
          </a:xfrm>
        </p:grpSpPr>
        <p:sp>
          <p:nvSpPr>
            <p:cNvPr id="22545" name="文本框 66"/>
            <p:cNvSpPr txBox="1"/>
            <p:nvPr/>
          </p:nvSpPr>
          <p:spPr>
            <a:xfrm>
              <a:off x="380873" y="1860387"/>
              <a:ext cx="1831972" cy="368399"/>
            </a:xfrm>
            <a:prstGeom prst="rect">
              <a:avLst/>
            </a:prstGeom>
            <a:noFill/>
            <a:ln w="9525">
              <a:noFill/>
            </a:ln>
          </p:spPr>
          <p:txBody>
            <a:bodyPr anchor="t" anchorCtr="0">
              <a:spAutoFit/>
            </a:bodyPr>
            <a:p>
              <a:pPr algn="ctr"/>
              <a:r>
                <a:rPr lang="zh-CN" altLang="en-US" b="1" dirty="0">
                  <a:latin typeface="微软雅黑" panose="020B0503020204020204" pitchFamily="34" charset="-122"/>
                  <a:ea typeface="微软雅黑" panose="020B0503020204020204" pitchFamily="34" charset="-122"/>
                </a:rPr>
                <a:t>样本选取</a:t>
              </a:r>
              <a:endParaRPr lang="zh-CN" altLang="en-US" b="1" dirty="0">
                <a:latin typeface="微软雅黑" panose="020B0503020204020204" pitchFamily="34" charset="-122"/>
                <a:ea typeface="微软雅黑" panose="020B0503020204020204" pitchFamily="34" charset="-122"/>
              </a:endParaRPr>
            </a:p>
          </p:txBody>
        </p:sp>
        <p:sp>
          <p:nvSpPr>
            <p:cNvPr id="22546" name="文本框 67"/>
            <p:cNvSpPr txBox="1"/>
            <p:nvPr/>
          </p:nvSpPr>
          <p:spPr>
            <a:xfrm>
              <a:off x="87948" y="2165392"/>
              <a:ext cx="2622894" cy="1568870"/>
            </a:xfrm>
            <a:prstGeom prst="rect">
              <a:avLst/>
            </a:prstGeom>
            <a:noFill/>
            <a:ln w="9525">
              <a:noFill/>
            </a:ln>
          </p:spPr>
          <p:txBody>
            <a:bodyPr anchor="t" anchorCtr="0">
              <a:spAutoFit/>
            </a:bodyPr>
            <a:p>
              <a:pPr algn="ctr"/>
              <a:r>
                <a:rPr lang="zh-CN" altLang="en-US" sz="1600" dirty="0">
                  <a:latin typeface="微软雅黑" panose="020B0503020204020204" pitchFamily="34" charset="-122"/>
                  <a:ea typeface="微软雅黑" panose="020B0503020204020204" pitchFamily="34" charset="-122"/>
                </a:rPr>
                <a:t>采用拍照程序截取图像，样本为</a:t>
              </a:r>
              <a:r>
                <a:rPr lang="en-US" altLang="zh-CN" sz="1600" dirty="0">
                  <a:latin typeface="微软雅黑" panose="020B0503020204020204" pitchFamily="34" charset="-122"/>
                  <a:ea typeface="微软雅黑" panose="020B0503020204020204" pitchFamily="34" charset="-122"/>
                </a:rPr>
                <a:t>1000</a:t>
              </a:r>
              <a:r>
                <a:rPr lang="zh-CN" altLang="en-US" sz="1600" dirty="0">
                  <a:latin typeface="微软雅黑" panose="020B0503020204020204" pitchFamily="34" charset="-122"/>
                  <a:ea typeface="微软雅黑" panose="020B0503020204020204" pitchFamily="34" charset="-122"/>
                </a:rPr>
                <a:t>张本人照片和</a:t>
              </a:r>
              <a:r>
                <a:rPr lang="en-US" altLang="zh-CN" sz="1600" dirty="0">
                  <a:latin typeface="微软雅黑" panose="020B0503020204020204" pitchFamily="34" charset="-122"/>
                  <a:ea typeface="微软雅黑" panose="020B0503020204020204" pitchFamily="34" charset="-122"/>
                </a:rPr>
                <a:t>1000</a:t>
              </a:r>
              <a:r>
                <a:rPr lang="zh-CN" altLang="en-US" sz="1600" dirty="0">
                  <a:latin typeface="微软雅黑" panose="020B0503020204020204" pitchFamily="34" charset="-122"/>
                  <a:ea typeface="微软雅黑" panose="020B0503020204020204" pitchFamily="34" charset="-122"/>
                </a:rPr>
                <a:t>张同学照片，分别给予标签</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，进行二分类训练，采用</a:t>
              </a:r>
              <a:r>
                <a:rPr lang="en-US" altLang="zh-CN" sz="1600" dirty="0">
                  <a:latin typeface="微软雅黑" panose="020B0503020204020204" pitchFamily="34" charset="-122"/>
                  <a:ea typeface="微软雅黑" panose="020B0503020204020204" pitchFamily="34" charset="-122"/>
                </a:rPr>
                <a:t>CPU</a:t>
              </a:r>
              <a:r>
                <a:rPr lang="zh-CN" altLang="en-US" sz="1600" dirty="0">
                  <a:latin typeface="微软雅黑" panose="020B0503020204020204" pitchFamily="34" charset="-122"/>
                  <a:ea typeface="微软雅黑" panose="020B0503020204020204" pitchFamily="34" charset="-122"/>
                </a:rPr>
                <a:t>训练大约</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小时</a:t>
              </a:r>
              <a:endParaRPr lang="zh-CN" altLang="en-US" sz="1600" dirty="0">
                <a:latin typeface="微软雅黑" panose="020B0503020204020204" pitchFamily="34" charset="-122"/>
                <a:ea typeface="微软雅黑" panose="020B0503020204020204" pitchFamily="34" charset="-122"/>
              </a:endParaRPr>
            </a:p>
          </p:txBody>
        </p:sp>
      </p:grpSp>
      <p:grpSp>
        <p:nvGrpSpPr>
          <p:cNvPr id="22547" name="组合 80"/>
          <p:cNvGrpSpPr/>
          <p:nvPr/>
        </p:nvGrpSpPr>
        <p:grpSpPr>
          <a:xfrm>
            <a:off x="6384925" y="1241425"/>
            <a:ext cx="2622550" cy="1377438"/>
            <a:chOff x="6384821" y="1146055"/>
            <a:chExt cx="2622020" cy="1377807"/>
          </a:xfrm>
        </p:grpSpPr>
        <p:sp>
          <p:nvSpPr>
            <p:cNvPr id="22548" name="文本框 69"/>
            <p:cNvSpPr txBox="1"/>
            <p:nvPr/>
          </p:nvSpPr>
          <p:spPr>
            <a:xfrm>
              <a:off x="6779845" y="1146055"/>
              <a:ext cx="1831972" cy="368399"/>
            </a:xfrm>
            <a:prstGeom prst="rect">
              <a:avLst/>
            </a:prstGeom>
            <a:noFill/>
            <a:ln w="9525">
              <a:noFill/>
            </a:ln>
          </p:spPr>
          <p:txBody>
            <a:bodyPr anchor="t" anchorCtr="0">
              <a:spAutoFit/>
            </a:bodyPr>
            <a:p>
              <a:pPr algn="ctr"/>
              <a:r>
                <a:rPr lang="zh-CN" altLang="en-US" b="1" dirty="0">
                  <a:latin typeface="微软雅黑" panose="020B0503020204020204" pitchFamily="34" charset="-122"/>
                  <a:ea typeface="微软雅黑" panose="020B0503020204020204" pitchFamily="34" charset="-122"/>
                </a:rPr>
                <a:t>采用的框架</a:t>
              </a:r>
              <a:endParaRPr lang="zh-CN" altLang="en-US" b="1" dirty="0">
                <a:latin typeface="微软雅黑" panose="020B0503020204020204" pitchFamily="34" charset="-122"/>
                <a:ea typeface="微软雅黑" panose="020B0503020204020204" pitchFamily="34" charset="-122"/>
              </a:endParaRPr>
            </a:p>
          </p:txBody>
        </p:sp>
        <p:sp>
          <p:nvSpPr>
            <p:cNvPr id="22549" name="文本框 70"/>
            <p:cNvSpPr txBox="1"/>
            <p:nvPr/>
          </p:nvSpPr>
          <p:spPr>
            <a:xfrm>
              <a:off x="6384821" y="1447249"/>
              <a:ext cx="2622020" cy="1076613"/>
            </a:xfrm>
            <a:prstGeom prst="rect">
              <a:avLst/>
            </a:prstGeom>
            <a:noFill/>
            <a:ln w="9525">
              <a:noFill/>
            </a:ln>
          </p:spPr>
          <p:txBody>
            <a:bodyPr anchor="t" anchorCtr="0">
              <a:spAutoFit/>
            </a:bodyPr>
            <a:p>
              <a:pPr algn="ctr"/>
              <a:r>
                <a:rPr lang="zh-CN" altLang="en-US" sz="1600" dirty="0">
                  <a:latin typeface="微软雅黑" panose="020B0503020204020204" pitchFamily="34" charset="-122"/>
                  <a:ea typeface="微软雅黑" panose="020B0503020204020204" pitchFamily="34" charset="-122"/>
                </a:rPr>
                <a:t>训练过程选用</a:t>
              </a:r>
              <a:r>
                <a:rPr lang="en-US" altLang="zh-CN" sz="1600" dirty="0">
                  <a:latin typeface="微软雅黑" panose="020B0503020204020204" pitchFamily="34" charset="-122"/>
                  <a:ea typeface="微软雅黑" panose="020B0503020204020204" pitchFamily="34" charset="-122"/>
                </a:rPr>
                <a:t>keras</a:t>
              </a:r>
              <a:r>
                <a:rPr lang="zh-CN" altLang="en-US" sz="1600" dirty="0">
                  <a:latin typeface="微软雅黑" panose="020B0503020204020204" pitchFamily="34" charset="-122"/>
                  <a:ea typeface="微软雅黑" panose="020B0503020204020204" pitchFamily="34" charset="-122"/>
                </a:rPr>
                <a:t>框架作为前端，</a:t>
              </a:r>
              <a:r>
                <a:rPr lang="en-US" altLang="zh-CN" sz="1600" dirty="0">
                  <a:latin typeface="微软雅黑" panose="020B0503020204020204" pitchFamily="34" charset="-122"/>
                  <a:ea typeface="微软雅黑" panose="020B0503020204020204" pitchFamily="34" charset="-122"/>
                </a:rPr>
                <a:t>TensorFlow</a:t>
              </a:r>
              <a:r>
                <a:rPr lang="zh-CN" altLang="en-US" sz="1600" dirty="0">
                  <a:latin typeface="微软雅黑" panose="020B0503020204020204" pitchFamily="34" charset="-122"/>
                  <a:ea typeface="微软雅黑" panose="020B0503020204020204" pitchFamily="34" charset="-122"/>
                </a:rPr>
                <a:t>作为后端，采用</a:t>
              </a:r>
              <a:r>
                <a:rPr lang="en-US" altLang="zh-CN" sz="1600" dirty="0">
                  <a:latin typeface="微软雅黑" panose="020B0503020204020204" pitchFamily="34" charset="-122"/>
                  <a:ea typeface="微软雅黑" panose="020B0503020204020204" pitchFamily="34" charset="-122"/>
                </a:rPr>
                <a:t>github</a:t>
              </a:r>
              <a:r>
                <a:rPr lang="zh-CN" altLang="en-US" sz="1600" dirty="0">
                  <a:latin typeface="微软雅黑" panose="020B0503020204020204" pitchFamily="34" charset="-122"/>
                  <a:ea typeface="微软雅黑" panose="020B0503020204020204" pitchFamily="34" charset="-122"/>
                </a:rPr>
                <a:t>开源的</a:t>
              </a:r>
              <a:r>
                <a:rPr lang="en-US" altLang="zh-CN" sz="1600" dirty="0">
                  <a:latin typeface="微软雅黑" panose="020B0503020204020204" pitchFamily="34" charset="-122"/>
                  <a:ea typeface="微软雅黑" panose="020B0503020204020204" pitchFamily="34" charset="-122"/>
                </a:rPr>
                <a:t>CNN</a:t>
              </a:r>
              <a:r>
                <a:rPr lang="zh-CN" altLang="en-US" sz="1600" dirty="0">
                  <a:latin typeface="微软雅黑" panose="020B0503020204020204" pitchFamily="34" charset="-122"/>
                  <a:ea typeface="微软雅黑" panose="020B0503020204020204" pitchFamily="34" charset="-122"/>
                </a:rPr>
                <a:t>模型</a:t>
              </a:r>
              <a:endParaRPr lang="zh-CN" altLang="en-US" sz="1600" dirty="0">
                <a:latin typeface="微软雅黑" panose="020B0503020204020204" pitchFamily="34" charset="-122"/>
                <a:ea typeface="微软雅黑" panose="020B0503020204020204" pitchFamily="34" charset="-122"/>
              </a:endParaRPr>
            </a:p>
          </p:txBody>
        </p:sp>
      </p:grpSp>
      <p:sp>
        <p:nvSpPr>
          <p:cNvPr id="41" name="文本框 40"/>
          <p:cNvSpPr txBox="1"/>
          <p:nvPr/>
        </p:nvSpPr>
        <p:spPr>
          <a:xfrm>
            <a:off x="1073150" y="230188"/>
            <a:ext cx="4976813" cy="675640"/>
          </a:xfrm>
          <a:prstGeom prst="rect">
            <a:avLst/>
          </a:prstGeom>
          <a:noFill/>
        </p:spPr>
        <p:txBody>
          <a:bodyPr>
            <a:spAutoFit/>
          </a:bodyPr>
          <a:lstStyle/>
          <a:p>
            <a:pPr marR="0" defTabSz="914400" fontAlgn="auto">
              <a:spcBef>
                <a:spcPts val="0"/>
              </a:spcBef>
              <a:spcAft>
                <a:spcPts val="0"/>
              </a:spcAft>
              <a:buClrTx/>
              <a:buSzTx/>
              <a:buFontTx/>
              <a:buNone/>
              <a:defRPr/>
            </a:pPr>
            <a:r>
              <a:rPr kumimoji="0" lang="zh-CN" altLang="en-US" kern="1200" cap="none" spc="0" normalizeH="0" baseline="0" noProof="0" dirty="0">
                <a:solidFill>
                  <a:schemeClr val="accent3">
                    <a:lumMod val="60000"/>
                    <a:lumOff val="40000"/>
                  </a:schemeClr>
                </a:solidFill>
                <a:latin typeface="+mn-lt"/>
                <a:ea typeface="+mn-ea"/>
                <a:cs typeface="+mn-cs"/>
              </a:rPr>
              <a:t>主要研究内容</a:t>
            </a:r>
            <a:endParaRPr kumimoji="0" lang="en-US" altLang="zh-CN" kern="1200" cap="none" spc="0" normalizeH="0" baseline="0" noProof="0" dirty="0">
              <a:solidFill>
                <a:schemeClr val="accent3">
                  <a:lumMod val="60000"/>
                  <a:lumOff val="40000"/>
                </a:schemeClr>
              </a:solidFill>
              <a:latin typeface="+mn-lt"/>
              <a:ea typeface="+mn-ea"/>
              <a:cs typeface="+mn-cs"/>
            </a:endParaRPr>
          </a:p>
          <a:p>
            <a:pPr marR="0" defTabSz="914400" fontAlgn="auto">
              <a:spcBef>
                <a:spcPts val="0"/>
              </a:spcBef>
              <a:spcAft>
                <a:spcPts val="0"/>
              </a:spcAft>
              <a:buClrTx/>
              <a:buSzTx/>
              <a:buFontTx/>
              <a:buNone/>
              <a:defRPr/>
            </a:pPr>
            <a:r>
              <a:rPr kumimoji="0" lang="zh-CN" altLang="en-US" sz="2000" b="1" kern="1200" cap="none" spc="0" normalizeH="0" baseline="0" noProof="0" dirty="0">
                <a:solidFill>
                  <a:srgbClr val="1F3A65"/>
                </a:solidFill>
                <a:latin typeface="+mn-lt"/>
                <a:ea typeface="+mn-ea"/>
                <a:cs typeface="+mn-cs"/>
              </a:rPr>
              <a:t>训练过程与最终成型</a:t>
            </a:r>
            <a:endParaRPr kumimoji="0" lang="zh-CN" altLang="en-US" sz="2000" b="1" kern="1200" cap="none" spc="0" normalizeH="0" baseline="0" noProof="0" dirty="0">
              <a:solidFill>
                <a:srgbClr val="1F3A65"/>
              </a:solidFill>
              <a:latin typeface="+mn-lt"/>
              <a:ea typeface="+mn-ea"/>
              <a:cs typeface="+mn-cs"/>
            </a:endParaRPr>
          </a:p>
        </p:txBody>
      </p:sp>
      <p:cxnSp>
        <p:nvCxnSpPr>
          <p:cNvPr id="42" name="直接连接符 41"/>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22552" name="Freeform 638"/>
          <p:cNvSpPr>
            <a:spLocks noChangeAspect="1" noEditPoints="1"/>
          </p:cNvSpPr>
          <p:nvPr/>
        </p:nvSpPr>
        <p:spPr>
          <a:xfrm>
            <a:off x="514350" y="336550"/>
            <a:ext cx="503238" cy="4635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21" h="111">
                <a:moveTo>
                  <a:pt x="16" y="0"/>
                </a:moveTo>
                <a:lnTo>
                  <a:pt x="93" y="0"/>
                </a:lnTo>
                <a:lnTo>
                  <a:pt x="99" y="0"/>
                </a:lnTo>
                <a:lnTo>
                  <a:pt x="99" y="4"/>
                </a:lnTo>
                <a:lnTo>
                  <a:pt x="99" y="22"/>
                </a:lnTo>
                <a:lnTo>
                  <a:pt x="89" y="30"/>
                </a:lnTo>
                <a:lnTo>
                  <a:pt x="89" y="8"/>
                </a:lnTo>
                <a:lnTo>
                  <a:pt x="20" y="8"/>
                </a:lnTo>
                <a:lnTo>
                  <a:pt x="20" y="16"/>
                </a:lnTo>
                <a:lnTo>
                  <a:pt x="27" y="14"/>
                </a:lnTo>
                <a:lnTo>
                  <a:pt x="31" y="12"/>
                </a:lnTo>
                <a:lnTo>
                  <a:pt x="35" y="20"/>
                </a:lnTo>
                <a:lnTo>
                  <a:pt x="29" y="22"/>
                </a:lnTo>
                <a:lnTo>
                  <a:pt x="20" y="26"/>
                </a:lnTo>
                <a:lnTo>
                  <a:pt x="20" y="30"/>
                </a:lnTo>
                <a:lnTo>
                  <a:pt x="27" y="28"/>
                </a:lnTo>
                <a:lnTo>
                  <a:pt x="31" y="26"/>
                </a:lnTo>
                <a:lnTo>
                  <a:pt x="35" y="36"/>
                </a:lnTo>
                <a:lnTo>
                  <a:pt x="29" y="39"/>
                </a:lnTo>
                <a:lnTo>
                  <a:pt x="20" y="41"/>
                </a:lnTo>
                <a:lnTo>
                  <a:pt x="20" y="47"/>
                </a:lnTo>
                <a:lnTo>
                  <a:pt x="27" y="45"/>
                </a:lnTo>
                <a:lnTo>
                  <a:pt x="31" y="43"/>
                </a:lnTo>
                <a:lnTo>
                  <a:pt x="35" y="53"/>
                </a:lnTo>
                <a:lnTo>
                  <a:pt x="29" y="55"/>
                </a:lnTo>
                <a:lnTo>
                  <a:pt x="20" y="57"/>
                </a:lnTo>
                <a:lnTo>
                  <a:pt x="20" y="63"/>
                </a:lnTo>
                <a:lnTo>
                  <a:pt x="27" y="61"/>
                </a:lnTo>
                <a:lnTo>
                  <a:pt x="31" y="59"/>
                </a:lnTo>
                <a:lnTo>
                  <a:pt x="35" y="67"/>
                </a:lnTo>
                <a:lnTo>
                  <a:pt x="29" y="69"/>
                </a:lnTo>
                <a:lnTo>
                  <a:pt x="20" y="73"/>
                </a:lnTo>
                <a:lnTo>
                  <a:pt x="20" y="79"/>
                </a:lnTo>
                <a:lnTo>
                  <a:pt x="27" y="77"/>
                </a:lnTo>
                <a:lnTo>
                  <a:pt x="31" y="75"/>
                </a:lnTo>
                <a:lnTo>
                  <a:pt x="35" y="85"/>
                </a:lnTo>
                <a:lnTo>
                  <a:pt x="29" y="87"/>
                </a:lnTo>
                <a:lnTo>
                  <a:pt x="20" y="89"/>
                </a:lnTo>
                <a:lnTo>
                  <a:pt x="20" y="99"/>
                </a:lnTo>
                <a:lnTo>
                  <a:pt x="20" y="101"/>
                </a:lnTo>
                <a:lnTo>
                  <a:pt x="89" y="101"/>
                </a:lnTo>
                <a:lnTo>
                  <a:pt x="89" y="79"/>
                </a:lnTo>
                <a:lnTo>
                  <a:pt x="99" y="71"/>
                </a:lnTo>
                <a:lnTo>
                  <a:pt x="99" y="105"/>
                </a:lnTo>
                <a:lnTo>
                  <a:pt x="99" y="111"/>
                </a:lnTo>
                <a:lnTo>
                  <a:pt x="93" y="111"/>
                </a:lnTo>
                <a:lnTo>
                  <a:pt x="16" y="111"/>
                </a:lnTo>
                <a:lnTo>
                  <a:pt x="10" y="111"/>
                </a:lnTo>
                <a:lnTo>
                  <a:pt x="10" y="105"/>
                </a:lnTo>
                <a:lnTo>
                  <a:pt x="10" y="99"/>
                </a:lnTo>
                <a:lnTo>
                  <a:pt x="0" y="99"/>
                </a:lnTo>
                <a:lnTo>
                  <a:pt x="0" y="89"/>
                </a:lnTo>
                <a:lnTo>
                  <a:pt x="10" y="83"/>
                </a:lnTo>
                <a:lnTo>
                  <a:pt x="10" y="81"/>
                </a:lnTo>
                <a:lnTo>
                  <a:pt x="0" y="81"/>
                </a:lnTo>
                <a:lnTo>
                  <a:pt x="0" y="73"/>
                </a:lnTo>
                <a:lnTo>
                  <a:pt x="10" y="67"/>
                </a:lnTo>
                <a:lnTo>
                  <a:pt x="10" y="65"/>
                </a:lnTo>
                <a:lnTo>
                  <a:pt x="0" y="65"/>
                </a:lnTo>
                <a:lnTo>
                  <a:pt x="0" y="57"/>
                </a:lnTo>
                <a:lnTo>
                  <a:pt x="10" y="51"/>
                </a:lnTo>
                <a:lnTo>
                  <a:pt x="0" y="51"/>
                </a:lnTo>
                <a:lnTo>
                  <a:pt x="0" y="41"/>
                </a:lnTo>
                <a:lnTo>
                  <a:pt x="10" y="34"/>
                </a:lnTo>
                <a:lnTo>
                  <a:pt x="0" y="34"/>
                </a:lnTo>
                <a:lnTo>
                  <a:pt x="0" y="24"/>
                </a:lnTo>
                <a:lnTo>
                  <a:pt x="10" y="20"/>
                </a:lnTo>
                <a:lnTo>
                  <a:pt x="10" y="4"/>
                </a:lnTo>
                <a:lnTo>
                  <a:pt x="10" y="0"/>
                </a:lnTo>
                <a:lnTo>
                  <a:pt x="16" y="0"/>
                </a:lnTo>
                <a:close/>
                <a:moveTo>
                  <a:pt x="43" y="53"/>
                </a:moveTo>
                <a:lnTo>
                  <a:pt x="43" y="59"/>
                </a:lnTo>
                <a:lnTo>
                  <a:pt x="55" y="59"/>
                </a:lnTo>
                <a:lnTo>
                  <a:pt x="55" y="53"/>
                </a:lnTo>
                <a:lnTo>
                  <a:pt x="43" y="53"/>
                </a:lnTo>
                <a:close/>
                <a:moveTo>
                  <a:pt x="43" y="41"/>
                </a:moveTo>
                <a:lnTo>
                  <a:pt x="43" y="47"/>
                </a:lnTo>
                <a:lnTo>
                  <a:pt x="67" y="47"/>
                </a:lnTo>
                <a:lnTo>
                  <a:pt x="67" y="41"/>
                </a:lnTo>
                <a:lnTo>
                  <a:pt x="43" y="41"/>
                </a:lnTo>
                <a:close/>
                <a:moveTo>
                  <a:pt x="43" y="28"/>
                </a:moveTo>
                <a:lnTo>
                  <a:pt x="43" y="34"/>
                </a:lnTo>
                <a:lnTo>
                  <a:pt x="77" y="34"/>
                </a:lnTo>
                <a:lnTo>
                  <a:pt x="77" y="28"/>
                </a:lnTo>
                <a:lnTo>
                  <a:pt x="43" y="28"/>
                </a:lnTo>
                <a:close/>
                <a:moveTo>
                  <a:pt x="43" y="18"/>
                </a:moveTo>
                <a:lnTo>
                  <a:pt x="43" y="22"/>
                </a:lnTo>
                <a:lnTo>
                  <a:pt x="77" y="22"/>
                </a:lnTo>
                <a:lnTo>
                  <a:pt x="77" y="18"/>
                </a:lnTo>
                <a:lnTo>
                  <a:pt x="43" y="18"/>
                </a:lnTo>
                <a:close/>
                <a:moveTo>
                  <a:pt x="55" y="87"/>
                </a:moveTo>
                <a:lnTo>
                  <a:pt x="63" y="87"/>
                </a:lnTo>
                <a:lnTo>
                  <a:pt x="71" y="87"/>
                </a:lnTo>
                <a:lnTo>
                  <a:pt x="65" y="79"/>
                </a:lnTo>
                <a:lnTo>
                  <a:pt x="57" y="73"/>
                </a:lnTo>
                <a:lnTo>
                  <a:pt x="57" y="81"/>
                </a:lnTo>
                <a:lnTo>
                  <a:pt x="55" y="87"/>
                </a:lnTo>
                <a:close/>
                <a:moveTo>
                  <a:pt x="107" y="24"/>
                </a:moveTo>
                <a:lnTo>
                  <a:pt x="63" y="67"/>
                </a:lnTo>
                <a:lnTo>
                  <a:pt x="77" y="81"/>
                </a:lnTo>
                <a:lnTo>
                  <a:pt x="121" y="39"/>
                </a:lnTo>
                <a:lnTo>
                  <a:pt x="107" y="24"/>
                </a:lnTo>
                <a:close/>
              </a:path>
            </a:pathLst>
          </a:custGeom>
          <a:solidFill>
            <a:srgbClr val="1F3A65"/>
          </a:solidFill>
          <a:ln w="9525">
            <a:noFill/>
          </a:ln>
        </p:spPr>
        <p:txBody>
          <a:bodyPr/>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等腰三角形 25"/>
          <p:cNvSpPr/>
          <p:nvPr/>
        </p:nvSpPr>
        <p:spPr>
          <a:xfrm rot="16200000">
            <a:off x="5703888" y="2493963"/>
            <a:ext cx="347663" cy="300038"/>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文本框 21"/>
          <p:cNvSpPr txBox="1"/>
          <p:nvPr/>
        </p:nvSpPr>
        <p:spPr>
          <a:xfrm>
            <a:off x="1073150" y="230188"/>
            <a:ext cx="4976813" cy="398780"/>
          </a:xfrm>
          <a:prstGeom prst="rect">
            <a:avLst/>
          </a:prstGeom>
          <a:noFill/>
        </p:spPr>
        <p:txBody>
          <a:bodyPr>
            <a:spAutoFit/>
          </a:bodyPr>
          <a:lstStyle/>
          <a:p>
            <a:pPr marR="0" defTabSz="914400" fontAlgn="auto">
              <a:spcBef>
                <a:spcPts val="0"/>
              </a:spcBef>
              <a:spcAft>
                <a:spcPts val="0"/>
              </a:spcAft>
              <a:buClrTx/>
              <a:buSzTx/>
              <a:buFontTx/>
              <a:buNone/>
              <a:defRPr/>
            </a:pPr>
            <a:r>
              <a:rPr kumimoji="0" lang="zh-CN" kern="1200" cap="none" spc="0" normalizeH="0" baseline="0" noProof="0" dirty="0">
                <a:solidFill>
                  <a:schemeClr val="accent3">
                    <a:lumMod val="60000"/>
                    <a:lumOff val="40000"/>
                  </a:schemeClr>
                </a:solidFill>
                <a:latin typeface="+mn-lt"/>
                <a:ea typeface="+mn-ea"/>
                <a:cs typeface="+mn-cs"/>
              </a:rPr>
              <a:t>效果展示</a:t>
            </a:r>
            <a:endParaRPr kumimoji="0" lang="zh-CN" sz="2000" b="1" kern="1200" cap="none" spc="0" normalizeH="0" baseline="0" noProof="0" dirty="0">
              <a:solidFill>
                <a:srgbClr val="1F3A65"/>
              </a:solidFill>
              <a:latin typeface="+mn-lt"/>
              <a:ea typeface="+mn-ea"/>
              <a:cs typeface="+mn-cs"/>
            </a:endParaRPr>
          </a:p>
        </p:txBody>
      </p:sp>
      <p:cxnSp>
        <p:nvCxnSpPr>
          <p:cNvPr id="23" name="直接连接符 22"/>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23567" name="Freeform 638"/>
          <p:cNvSpPr>
            <a:spLocks noChangeAspect="1" noEditPoints="1"/>
          </p:cNvSpPr>
          <p:nvPr/>
        </p:nvSpPr>
        <p:spPr>
          <a:xfrm>
            <a:off x="514350" y="336550"/>
            <a:ext cx="503238" cy="4635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21" h="111">
                <a:moveTo>
                  <a:pt x="16" y="0"/>
                </a:moveTo>
                <a:lnTo>
                  <a:pt x="93" y="0"/>
                </a:lnTo>
                <a:lnTo>
                  <a:pt x="99" y="0"/>
                </a:lnTo>
                <a:lnTo>
                  <a:pt x="99" y="4"/>
                </a:lnTo>
                <a:lnTo>
                  <a:pt x="99" y="22"/>
                </a:lnTo>
                <a:lnTo>
                  <a:pt x="89" y="30"/>
                </a:lnTo>
                <a:lnTo>
                  <a:pt x="89" y="8"/>
                </a:lnTo>
                <a:lnTo>
                  <a:pt x="20" y="8"/>
                </a:lnTo>
                <a:lnTo>
                  <a:pt x="20" y="16"/>
                </a:lnTo>
                <a:lnTo>
                  <a:pt x="27" y="14"/>
                </a:lnTo>
                <a:lnTo>
                  <a:pt x="31" y="12"/>
                </a:lnTo>
                <a:lnTo>
                  <a:pt x="35" y="20"/>
                </a:lnTo>
                <a:lnTo>
                  <a:pt x="29" y="22"/>
                </a:lnTo>
                <a:lnTo>
                  <a:pt x="20" y="26"/>
                </a:lnTo>
                <a:lnTo>
                  <a:pt x="20" y="30"/>
                </a:lnTo>
                <a:lnTo>
                  <a:pt x="27" y="28"/>
                </a:lnTo>
                <a:lnTo>
                  <a:pt x="31" y="26"/>
                </a:lnTo>
                <a:lnTo>
                  <a:pt x="35" y="36"/>
                </a:lnTo>
                <a:lnTo>
                  <a:pt x="29" y="39"/>
                </a:lnTo>
                <a:lnTo>
                  <a:pt x="20" y="41"/>
                </a:lnTo>
                <a:lnTo>
                  <a:pt x="20" y="47"/>
                </a:lnTo>
                <a:lnTo>
                  <a:pt x="27" y="45"/>
                </a:lnTo>
                <a:lnTo>
                  <a:pt x="31" y="43"/>
                </a:lnTo>
                <a:lnTo>
                  <a:pt x="35" y="53"/>
                </a:lnTo>
                <a:lnTo>
                  <a:pt x="29" y="55"/>
                </a:lnTo>
                <a:lnTo>
                  <a:pt x="20" y="57"/>
                </a:lnTo>
                <a:lnTo>
                  <a:pt x="20" y="63"/>
                </a:lnTo>
                <a:lnTo>
                  <a:pt x="27" y="61"/>
                </a:lnTo>
                <a:lnTo>
                  <a:pt x="31" y="59"/>
                </a:lnTo>
                <a:lnTo>
                  <a:pt x="35" y="67"/>
                </a:lnTo>
                <a:lnTo>
                  <a:pt x="29" y="69"/>
                </a:lnTo>
                <a:lnTo>
                  <a:pt x="20" y="73"/>
                </a:lnTo>
                <a:lnTo>
                  <a:pt x="20" y="79"/>
                </a:lnTo>
                <a:lnTo>
                  <a:pt x="27" y="77"/>
                </a:lnTo>
                <a:lnTo>
                  <a:pt x="31" y="75"/>
                </a:lnTo>
                <a:lnTo>
                  <a:pt x="35" y="85"/>
                </a:lnTo>
                <a:lnTo>
                  <a:pt x="29" y="87"/>
                </a:lnTo>
                <a:lnTo>
                  <a:pt x="20" y="89"/>
                </a:lnTo>
                <a:lnTo>
                  <a:pt x="20" y="99"/>
                </a:lnTo>
                <a:lnTo>
                  <a:pt x="20" y="101"/>
                </a:lnTo>
                <a:lnTo>
                  <a:pt x="89" y="101"/>
                </a:lnTo>
                <a:lnTo>
                  <a:pt x="89" y="79"/>
                </a:lnTo>
                <a:lnTo>
                  <a:pt x="99" y="71"/>
                </a:lnTo>
                <a:lnTo>
                  <a:pt x="99" y="105"/>
                </a:lnTo>
                <a:lnTo>
                  <a:pt x="99" y="111"/>
                </a:lnTo>
                <a:lnTo>
                  <a:pt x="93" y="111"/>
                </a:lnTo>
                <a:lnTo>
                  <a:pt x="16" y="111"/>
                </a:lnTo>
                <a:lnTo>
                  <a:pt x="10" y="111"/>
                </a:lnTo>
                <a:lnTo>
                  <a:pt x="10" y="105"/>
                </a:lnTo>
                <a:lnTo>
                  <a:pt x="10" y="99"/>
                </a:lnTo>
                <a:lnTo>
                  <a:pt x="0" y="99"/>
                </a:lnTo>
                <a:lnTo>
                  <a:pt x="0" y="89"/>
                </a:lnTo>
                <a:lnTo>
                  <a:pt x="10" y="83"/>
                </a:lnTo>
                <a:lnTo>
                  <a:pt x="10" y="81"/>
                </a:lnTo>
                <a:lnTo>
                  <a:pt x="0" y="81"/>
                </a:lnTo>
                <a:lnTo>
                  <a:pt x="0" y="73"/>
                </a:lnTo>
                <a:lnTo>
                  <a:pt x="10" y="67"/>
                </a:lnTo>
                <a:lnTo>
                  <a:pt x="10" y="65"/>
                </a:lnTo>
                <a:lnTo>
                  <a:pt x="0" y="65"/>
                </a:lnTo>
                <a:lnTo>
                  <a:pt x="0" y="57"/>
                </a:lnTo>
                <a:lnTo>
                  <a:pt x="10" y="51"/>
                </a:lnTo>
                <a:lnTo>
                  <a:pt x="0" y="51"/>
                </a:lnTo>
                <a:lnTo>
                  <a:pt x="0" y="41"/>
                </a:lnTo>
                <a:lnTo>
                  <a:pt x="10" y="34"/>
                </a:lnTo>
                <a:lnTo>
                  <a:pt x="0" y="34"/>
                </a:lnTo>
                <a:lnTo>
                  <a:pt x="0" y="24"/>
                </a:lnTo>
                <a:lnTo>
                  <a:pt x="10" y="20"/>
                </a:lnTo>
                <a:lnTo>
                  <a:pt x="10" y="4"/>
                </a:lnTo>
                <a:lnTo>
                  <a:pt x="10" y="0"/>
                </a:lnTo>
                <a:lnTo>
                  <a:pt x="16" y="0"/>
                </a:lnTo>
                <a:close/>
                <a:moveTo>
                  <a:pt x="43" y="53"/>
                </a:moveTo>
                <a:lnTo>
                  <a:pt x="43" y="59"/>
                </a:lnTo>
                <a:lnTo>
                  <a:pt x="55" y="59"/>
                </a:lnTo>
                <a:lnTo>
                  <a:pt x="55" y="53"/>
                </a:lnTo>
                <a:lnTo>
                  <a:pt x="43" y="53"/>
                </a:lnTo>
                <a:close/>
                <a:moveTo>
                  <a:pt x="43" y="41"/>
                </a:moveTo>
                <a:lnTo>
                  <a:pt x="43" y="47"/>
                </a:lnTo>
                <a:lnTo>
                  <a:pt x="67" y="47"/>
                </a:lnTo>
                <a:lnTo>
                  <a:pt x="67" y="41"/>
                </a:lnTo>
                <a:lnTo>
                  <a:pt x="43" y="41"/>
                </a:lnTo>
                <a:close/>
                <a:moveTo>
                  <a:pt x="43" y="28"/>
                </a:moveTo>
                <a:lnTo>
                  <a:pt x="43" y="34"/>
                </a:lnTo>
                <a:lnTo>
                  <a:pt x="77" y="34"/>
                </a:lnTo>
                <a:lnTo>
                  <a:pt x="77" y="28"/>
                </a:lnTo>
                <a:lnTo>
                  <a:pt x="43" y="28"/>
                </a:lnTo>
                <a:close/>
                <a:moveTo>
                  <a:pt x="43" y="18"/>
                </a:moveTo>
                <a:lnTo>
                  <a:pt x="43" y="22"/>
                </a:lnTo>
                <a:lnTo>
                  <a:pt x="77" y="22"/>
                </a:lnTo>
                <a:lnTo>
                  <a:pt x="77" y="18"/>
                </a:lnTo>
                <a:lnTo>
                  <a:pt x="43" y="18"/>
                </a:lnTo>
                <a:close/>
                <a:moveTo>
                  <a:pt x="55" y="87"/>
                </a:moveTo>
                <a:lnTo>
                  <a:pt x="63" y="87"/>
                </a:lnTo>
                <a:lnTo>
                  <a:pt x="71" y="87"/>
                </a:lnTo>
                <a:lnTo>
                  <a:pt x="65" y="79"/>
                </a:lnTo>
                <a:lnTo>
                  <a:pt x="57" y="73"/>
                </a:lnTo>
                <a:lnTo>
                  <a:pt x="57" y="81"/>
                </a:lnTo>
                <a:lnTo>
                  <a:pt x="55" y="87"/>
                </a:lnTo>
                <a:close/>
                <a:moveTo>
                  <a:pt x="107" y="24"/>
                </a:moveTo>
                <a:lnTo>
                  <a:pt x="63" y="67"/>
                </a:lnTo>
                <a:lnTo>
                  <a:pt x="77" y="81"/>
                </a:lnTo>
                <a:lnTo>
                  <a:pt x="121" y="39"/>
                </a:lnTo>
                <a:lnTo>
                  <a:pt x="107" y="24"/>
                </a:lnTo>
                <a:close/>
              </a:path>
            </a:pathLst>
          </a:custGeom>
          <a:solidFill>
            <a:srgbClr val="1F3A65"/>
          </a:solidFill>
          <a:ln w="9525">
            <a:noFill/>
          </a:ln>
        </p:spPr>
        <p:txBody>
          <a:bodyPr/>
          <a:p>
            <a:endParaRPr lang="zh-CN" altLang="en-US"/>
          </a:p>
        </p:txBody>
      </p:sp>
      <p:pic>
        <p:nvPicPr>
          <p:cNvPr id="5" name="图片 4"/>
          <p:cNvPicPr>
            <a:picLocks noChangeAspect="1"/>
          </p:cNvPicPr>
          <p:nvPr/>
        </p:nvPicPr>
        <p:blipFill>
          <a:blip r:embed="rId1"/>
          <a:stretch>
            <a:fillRect/>
          </a:stretch>
        </p:blipFill>
        <p:spPr>
          <a:xfrm>
            <a:off x="514350" y="1090930"/>
            <a:ext cx="8447405" cy="5397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等腰三角形 25"/>
          <p:cNvSpPr/>
          <p:nvPr/>
        </p:nvSpPr>
        <p:spPr>
          <a:xfrm rot="16200000">
            <a:off x="5703888" y="2493963"/>
            <a:ext cx="347663" cy="300038"/>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文本框 21"/>
          <p:cNvSpPr txBox="1"/>
          <p:nvPr/>
        </p:nvSpPr>
        <p:spPr>
          <a:xfrm>
            <a:off x="1073150" y="230188"/>
            <a:ext cx="4976813" cy="398780"/>
          </a:xfrm>
          <a:prstGeom prst="rect">
            <a:avLst/>
          </a:prstGeom>
          <a:noFill/>
        </p:spPr>
        <p:txBody>
          <a:bodyPr>
            <a:spAutoFit/>
          </a:bodyPr>
          <a:lstStyle/>
          <a:p>
            <a:pPr marR="0" defTabSz="914400" fontAlgn="auto">
              <a:spcBef>
                <a:spcPts val="0"/>
              </a:spcBef>
              <a:spcAft>
                <a:spcPts val="0"/>
              </a:spcAft>
              <a:buClrTx/>
              <a:buSzTx/>
              <a:buFontTx/>
              <a:buNone/>
              <a:defRPr/>
            </a:pPr>
            <a:r>
              <a:rPr kumimoji="0" lang="zh-CN" kern="1200" cap="none" spc="0" normalizeH="0" baseline="0" noProof="0" dirty="0">
                <a:solidFill>
                  <a:schemeClr val="accent3">
                    <a:lumMod val="60000"/>
                    <a:lumOff val="40000"/>
                  </a:schemeClr>
                </a:solidFill>
                <a:latin typeface="+mn-lt"/>
                <a:ea typeface="+mn-ea"/>
                <a:cs typeface="+mn-cs"/>
              </a:rPr>
              <a:t>效果展示</a:t>
            </a:r>
            <a:endParaRPr kumimoji="0" lang="zh-CN" sz="2000" b="1" kern="1200" cap="none" spc="0" normalizeH="0" baseline="0" noProof="0" dirty="0">
              <a:solidFill>
                <a:srgbClr val="1F3A65"/>
              </a:solidFill>
              <a:latin typeface="+mn-lt"/>
              <a:ea typeface="+mn-ea"/>
              <a:cs typeface="+mn-cs"/>
            </a:endParaRPr>
          </a:p>
        </p:txBody>
      </p:sp>
      <p:cxnSp>
        <p:nvCxnSpPr>
          <p:cNvPr id="23" name="直接连接符 22"/>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23567" name="Freeform 638"/>
          <p:cNvSpPr>
            <a:spLocks noChangeAspect="1" noEditPoints="1"/>
          </p:cNvSpPr>
          <p:nvPr/>
        </p:nvSpPr>
        <p:spPr>
          <a:xfrm>
            <a:off x="514350" y="336550"/>
            <a:ext cx="503238" cy="4635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21" h="111">
                <a:moveTo>
                  <a:pt x="16" y="0"/>
                </a:moveTo>
                <a:lnTo>
                  <a:pt x="93" y="0"/>
                </a:lnTo>
                <a:lnTo>
                  <a:pt x="99" y="0"/>
                </a:lnTo>
                <a:lnTo>
                  <a:pt x="99" y="4"/>
                </a:lnTo>
                <a:lnTo>
                  <a:pt x="99" y="22"/>
                </a:lnTo>
                <a:lnTo>
                  <a:pt x="89" y="30"/>
                </a:lnTo>
                <a:lnTo>
                  <a:pt x="89" y="8"/>
                </a:lnTo>
                <a:lnTo>
                  <a:pt x="20" y="8"/>
                </a:lnTo>
                <a:lnTo>
                  <a:pt x="20" y="16"/>
                </a:lnTo>
                <a:lnTo>
                  <a:pt x="27" y="14"/>
                </a:lnTo>
                <a:lnTo>
                  <a:pt x="31" y="12"/>
                </a:lnTo>
                <a:lnTo>
                  <a:pt x="35" y="20"/>
                </a:lnTo>
                <a:lnTo>
                  <a:pt x="29" y="22"/>
                </a:lnTo>
                <a:lnTo>
                  <a:pt x="20" y="26"/>
                </a:lnTo>
                <a:lnTo>
                  <a:pt x="20" y="30"/>
                </a:lnTo>
                <a:lnTo>
                  <a:pt x="27" y="28"/>
                </a:lnTo>
                <a:lnTo>
                  <a:pt x="31" y="26"/>
                </a:lnTo>
                <a:lnTo>
                  <a:pt x="35" y="36"/>
                </a:lnTo>
                <a:lnTo>
                  <a:pt x="29" y="39"/>
                </a:lnTo>
                <a:lnTo>
                  <a:pt x="20" y="41"/>
                </a:lnTo>
                <a:lnTo>
                  <a:pt x="20" y="47"/>
                </a:lnTo>
                <a:lnTo>
                  <a:pt x="27" y="45"/>
                </a:lnTo>
                <a:lnTo>
                  <a:pt x="31" y="43"/>
                </a:lnTo>
                <a:lnTo>
                  <a:pt x="35" y="53"/>
                </a:lnTo>
                <a:lnTo>
                  <a:pt x="29" y="55"/>
                </a:lnTo>
                <a:lnTo>
                  <a:pt x="20" y="57"/>
                </a:lnTo>
                <a:lnTo>
                  <a:pt x="20" y="63"/>
                </a:lnTo>
                <a:lnTo>
                  <a:pt x="27" y="61"/>
                </a:lnTo>
                <a:lnTo>
                  <a:pt x="31" y="59"/>
                </a:lnTo>
                <a:lnTo>
                  <a:pt x="35" y="67"/>
                </a:lnTo>
                <a:lnTo>
                  <a:pt x="29" y="69"/>
                </a:lnTo>
                <a:lnTo>
                  <a:pt x="20" y="73"/>
                </a:lnTo>
                <a:lnTo>
                  <a:pt x="20" y="79"/>
                </a:lnTo>
                <a:lnTo>
                  <a:pt x="27" y="77"/>
                </a:lnTo>
                <a:lnTo>
                  <a:pt x="31" y="75"/>
                </a:lnTo>
                <a:lnTo>
                  <a:pt x="35" y="85"/>
                </a:lnTo>
                <a:lnTo>
                  <a:pt x="29" y="87"/>
                </a:lnTo>
                <a:lnTo>
                  <a:pt x="20" y="89"/>
                </a:lnTo>
                <a:lnTo>
                  <a:pt x="20" y="99"/>
                </a:lnTo>
                <a:lnTo>
                  <a:pt x="20" y="101"/>
                </a:lnTo>
                <a:lnTo>
                  <a:pt x="89" y="101"/>
                </a:lnTo>
                <a:lnTo>
                  <a:pt x="89" y="79"/>
                </a:lnTo>
                <a:lnTo>
                  <a:pt x="99" y="71"/>
                </a:lnTo>
                <a:lnTo>
                  <a:pt x="99" y="105"/>
                </a:lnTo>
                <a:lnTo>
                  <a:pt x="99" y="111"/>
                </a:lnTo>
                <a:lnTo>
                  <a:pt x="93" y="111"/>
                </a:lnTo>
                <a:lnTo>
                  <a:pt x="16" y="111"/>
                </a:lnTo>
                <a:lnTo>
                  <a:pt x="10" y="111"/>
                </a:lnTo>
                <a:lnTo>
                  <a:pt x="10" y="105"/>
                </a:lnTo>
                <a:lnTo>
                  <a:pt x="10" y="99"/>
                </a:lnTo>
                <a:lnTo>
                  <a:pt x="0" y="99"/>
                </a:lnTo>
                <a:lnTo>
                  <a:pt x="0" y="89"/>
                </a:lnTo>
                <a:lnTo>
                  <a:pt x="10" y="83"/>
                </a:lnTo>
                <a:lnTo>
                  <a:pt x="10" y="81"/>
                </a:lnTo>
                <a:lnTo>
                  <a:pt x="0" y="81"/>
                </a:lnTo>
                <a:lnTo>
                  <a:pt x="0" y="73"/>
                </a:lnTo>
                <a:lnTo>
                  <a:pt x="10" y="67"/>
                </a:lnTo>
                <a:lnTo>
                  <a:pt x="10" y="65"/>
                </a:lnTo>
                <a:lnTo>
                  <a:pt x="0" y="65"/>
                </a:lnTo>
                <a:lnTo>
                  <a:pt x="0" y="57"/>
                </a:lnTo>
                <a:lnTo>
                  <a:pt x="10" y="51"/>
                </a:lnTo>
                <a:lnTo>
                  <a:pt x="0" y="51"/>
                </a:lnTo>
                <a:lnTo>
                  <a:pt x="0" y="41"/>
                </a:lnTo>
                <a:lnTo>
                  <a:pt x="10" y="34"/>
                </a:lnTo>
                <a:lnTo>
                  <a:pt x="0" y="34"/>
                </a:lnTo>
                <a:lnTo>
                  <a:pt x="0" y="24"/>
                </a:lnTo>
                <a:lnTo>
                  <a:pt x="10" y="20"/>
                </a:lnTo>
                <a:lnTo>
                  <a:pt x="10" y="4"/>
                </a:lnTo>
                <a:lnTo>
                  <a:pt x="10" y="0"/>
                </a:lnTo>
                <a:lnTo>
                  <a:pt x="16" y="0"/>
                </a:lnTo>
                <a:close/>
                <a:moveTo>
                  <a:pt x="43" y="53"/>
                </a:moveTo>
                <a:lnTo>
                  <a:pt x="43" y="59"/>
                </a:lnTo>
                <a:lnTo>
                  <a:pt x="55" y="59"/>
                </a:lnTo>
                <a:lnTo>
                  <a:pt x="55" y="53"/>
                </a:lnTo>
                <a:lnTo>
                  <a:pt x="43" y="53"/>
                </a:lnTo>
                <a:close/>
                <a:moveTo>
                  <a:pt x="43" y="41"/>
                </a:moveTo>
                <a:lnTo>
                  <a:pt x="43" y="47"/>
                </a:lnTo>
                <a:lnTo>
                  <a:pt x="67" y="47"/>
                </a:lnTo>
                <a:lnTo>
                  <a:pt x="67" y="41"/>
                </a:lnTo>
                <a:lnTo>
                  <a:pt x="43" y="41"/>
                </a:lnTo>
                <a:close/>
                <a:moveTo>
                  <a:pt x="43" y="28"/>
                </a:moveTo>
                <a:lnTo>
                  <a:pt x="43" y="34"/>
                </a:lnTo>
                <a:lnTo>
                  <a:pt x="77" y="34"/>
                </a:lnTo>
                <a:lnTo>
                  <a:pt x="77" y="28"/>
                </a:lnTo>
                <a:lnTo>
                  <a:pt x="43" y="28"/>
                </a:lnTo>
                <a:close/>
                <a:moveTo>
                  <a:pt x="43" y="18"/>
                </a:moveTo>
                <a:lnTo>
                  <a:pt x="43" y="22"/>
                </a:lnTo>
                <a:lnTo>
                  <a:pt x="77" y="22"/>
                </a:lnTo>
                <a:lnTo>
                  <a:pt x="77" y="18"/>
                </a:lnTo>
                <a:lnTo>
                  <a:pt x="43" y="18"/>
                </a:lnTo>
                <a:close/>
                <a:moveTo>
                  <a:pt x="55" y="87"/>
                </a:moveTo>
                <a:lnTo>
                  <a:pt x="63" y="87"/>
                </a:lnTo>
                <a:lnTo>
                  <a:pt x="71" y="87"/>
                </a:lnTo>
                <a:lnTo>
                  <a:pt x="65" y="79"/>
                </a:lnTo>
                <a:lnTo>
                  <a:pt x="57" y="73"/>
                </a:lnTo>
                <a:lnTo>
                  <a:pt x="57" y="81"/>
                </a:lnTo>
                <a:lnTo>
                  <a:pt x="55" y="87"/>
                </a:lnTo>
                <a:close/>
                <a:moveTo>
                  <a:pt x="107" y="24"/>
                </a:moveTo>
                <a:lnTo>
                  <a:pt x="63" y="67"/>
                </a:lnTo>
                <a:lnTo>
                  <a:pt x="77" y="81"/>
                </a:lnTo>
                <a:lnTo>
                  <a:pt x="121" y="39"/>
                </a:lnTo>
                <a:lnTo>
                  <a:pt x="107" y="24"/>
                </a:lnTo>
                <a:close/>
              </a:path>
            </a:pathLst>
          </a:custGeom>
          <a:solidFill>
            <a:srgbClr val="1F3A65"/>
          </a:solidFill>
          <a:ln w="9525">
            <a:noFill/>
          </a:ln>
        </p:spPr>
        <p:txBody>
          <a:bodyPr/>
          <a:p>
            <a:endParaRPr lang="zh-CN" altLang="en-US"/>
          </a:p>
        </p:txBody>
      </p:sp>
      <p:sp>
        <p:nvSpPr>
          <p:cNvPr id="2" name="文本框 1"/>
          <p:cNvSpPr txBox="1"/>
          <p:nvPr/>
        </p:nvSpPr>
        <p:spPr>
          <a:xfrm>
            <a:off x="6429375" y="1944370"/>
            <a:ext cx="1951355" cy="1753235"/>
          </a:xfrm>
          <a:prstGeom prst="rect">
            <a:avLst/>
          </a:prstGeom>
          <a:noFill/>
        </p:spPr>
        <p:txBody>
          <a:bodyPr wrap="square" rtlCol="0">
            <a:spAutoFit/>
          </a:bodyPr>
          <a:p>
            <a:r>
              <a:rPr lang="zh-CN" altLang="en-US"/>
              <a:t>在探测的同时，会输出当前这张图片被判断为该种类型的概率以及误差，如下图所示</a:t>
            </a:r>
            <a:endParaRPr lang="zh-CN" altLang="en-US"/>
          </a:p>
        </p:txBody>
      </p:sp>
      <p:pic>
        <p:nvPicPr>
          <p:cNvPr id="4" name="图片 3"/>
          <p:cNvPicPr>
            <a:picLocks noChangeAspect="1"/>
          </p:cNvPicPr>
          <p:nvPr/>
        </p:nvPicPr>
        <p:blipFill>
          <a:blip r:embed="rId1"/>
          <a:srcRect l="-8889" t="-12092" r="-45452" b="-46529"/>
          <a:stretch>
            <a:fillRect/>
          </a:stretch>
        </p:blipFill>
        <p:spPr>
          <a:xfrm>
            <a:off x="-705485" y="230505"/>
            <a:ext cx="13716000" cy="8763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1"/>
            <a:ext cx="4203699" cy="6858000"/>
          </a:xfrm>
          <a:prstGeom prst="rect">
            <a:avLst/>
          </a:prstGeom>
          <a:blipFill dpi="0" rotWithShape="1">
            <a:blip r:embed="rId1" cstate="print"/>
            <a:srcRect/>
            <a:tile tx="-25400" ty="-5080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椭圆 2"/>
          <p:cNvSpPr/>
          <p:nvPr/>
        </p:nvSpPr>
        <p:spPr>
          <a:xfrm>
            <a:off x="1314450" y="2735263"/>
            <a:ext cx="1574800" cy="1574800"/>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800" b="1" i="0" u="none" strike="noStrike" kern="1200" cap="none" spc="0" normalizeH="0" baseline="0" noProof="0" dirty="0">
                <a:ln>
                  <a:noFill/>
                </a:ln>
                <a:solidFill>
                  <a:schemeClr val="lt1"/>
                </a:solidFill>
                <a:effectLst/>
                <a:uLnTx/>
                <a:uFillTx/>
                <a:latin typeface="+mn-lt"/>
                <a:ea typeface="+mn-ea"/>
                <a:cs typeface="+mn-cs"/>
              </a:rPr>
              <a:t>3</a:t>
            </a:r>
            <a:endParaRPr kumimoji="0" lang="en-US" altLang="zh-CN" sz="8800" b="1" i="0" u="none" strike="noStrike" kern="1200" cap="none" spc="0" normalizeH="0" baseline="0" noProof="0" dirty="0">
              <a:ln>
                <a:noFill/>
              </a:ln>
              <a:solidFill>
                <a:schemeClr val="lt1"/>
              </a:solidFill>
              <a:effectLst/>
              <a:uLnTx/>
              <a:uFillTx/>
              <a:latin typeface="+mn-lt"/>
              <a:ea typeface="+mn-ea"/>
              <a:cs typeface="+mn-cs"/>
            </a:endParaRPr>
          </a:p>
        </p:txBody>
      </p:sp>
      <p:sp>
        <p:nvSpPr>
          <p:cNvPr id="7" name="文本框 6"/>
          <p:cNvSpPr txBox="1"/>
          <p:nvPr/>
        </p:nvSpPr>
        <p:spPr>
          <a:xfrm>
            <a:off x="4564063" y="3068638"/>
            <a:ext cx="4373562" cy="706755"/>
          </a:xfrm>
          <a:prstGeom prst="rect">
            <a:avLst/>
          </a:prstGeom>
          <a:noFill/>
          <a:ln w="9525">
            <a:noFill/>
          </a:ln>
        </p:spPr>
        <p:txBody>
          <a:bodyPr anchor="t" anchorCtr="0">
            <a:spAutoFit/>
          </a:bodyPr>
          <a:p>
            <a:r>
              <a:rPr lang="zh-CN" altLang="en-US" sz="4000" b="1" dirty="0">
                <a:solidFill>
                  <a:srgbClr val="1F3A65"/>
                </a:solidFill>
                <a:latin typeface="微软雅黑" panose="020B0503020204020204" pitchFamily="34" charset="-122"/>
                <a:ea typeface="微软雅黑" panose="020B0503020204020204" pitchFamily="34" charset="-122"/>
              </a:rPr>
              <a:t>后续改进</a:t>
            </a:r>
            <a:endParaRPr lang="zh-CN" altLang="en-US" sz="4000" b="1" dirty="0">
              <a:solidFill>
                <a:srgbClr val="1F3A65"/>
              </a:solidFill>
              <a:latin typeface="微软雅黑" panose="020B0503020204020204" pitchFamily="34" charset="-122"/>
              <a:ea typeface="微软雅黑" panose="020B0503020204020204" pitchFamily="34" charset="-122"/>
            </a:endParaRPr>
          </a:p>
        </p:txBody>
      </p:sp>
      <p:grpSp>
        <p:nvGrpSpPr>
          <p:cNvPr id="4" name="组合 7"/>
          <p:cNvGrpSpPr>
            <a:grpSpLocks noChangeAspect="1"/>
          </p:cNvGrpSpPr>
          <p:nvPr/>
        </p:nvGrpSpPr>
        <p:grpSpPr>
          <a:xfrm>
            <a:off x="3843338" y="3068638"/>
            <a:ext cx="720725" cy="720725"/>
            <a:chOff x="3728680" y="2447558"/>
            <a:chExt cx="540000" cy="540000"/>
          </a:xfrm>
        </p:grpSpPr>
        <p:sp>
          <p:nvSpPr>
            <p:cNvPr id="10" name="椭圆 9"/>
            <p:cNvSpPr>
              <a:spLocks noChangeAspect="1"/>
            </p:cNvSpPr>
            <p:nvPr/>
          </p:nvSpPr>
          <p:spPr>
            <a:xfrm rot="10800000">
              <a:off x="3728680" y="2447558"/>
              <a:ext cx="540000" cy="540000"/>
            </a:xfrm>
            <a:prstGeom prst="ellipse">
              <a:avLst/>
            </a:prstGeom>
            <a:solidFill>
              <a:srgbClr val="1F3A6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0CF9B"/>
                </a:solidFill>
                <a:effectLst/>
                <a:uLnTx/>
                <a:uFillTx/>
                <a:latin typeface="+mn-lt"/>
                <a:ea typeface="+mn-ea"/>
                <a:cs typeface="+mn-cs"/>
              </a:endParaRPr>
            </a:p>
          </p:txBody>
        </p:sp>
        <p:sp>
          <p:nvSpPr>
            <p:cNvPr id="17414" name="Freeform 479"/>
            <p:cNvSpPr>
              <a:spLocks noChangeAspect="1" noEditPoints="1"/>
            </p:cNvSpPr>
            <p:nvPr/>
          </p:nvSpPr>
          <p:spPr>
            <a:xfrm>
              <a:off x="3849176" y="2598324"/>
              <a:ext cx="306000" cy="238469"/>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2" h="56">
                  <a:moveTo>
                    <a:pt x="72" y="35"/>
                  </a:moveTo>
                  <a:cubicBezTo>
                    <a:pt x="31" y="43"/>
                    <a:pt x="31" y="43"/>
                    <a:pt x="31" y="43"/>
                  </a:cubicBezTo>
                  <a:cubicBezTo>
                    <a:pt x="30" y="47"/>
                    <a:pt x="30" y="50"/>
                    <a:pt x="31" y="53"/>
                  </a:cubicBezTo>
                  <a:cubicBezTo>
                    <a:pt x="71" y="44"/>
                    <a:pt x="71" y="44"/>
                    <a:pt x="71" y="44"/>
                  </a:cubicBezTo>
                  <a:cubicBezTo>
                    <a:pt x="72" y="47"/>
                    <a:pt x="72" y="47"/>
                    <a:pt x="72" y="47"/>
                  </a:cubicBezTo>
                  <a:cubicBezTo>
                    <a:pt x="30" y="56"/>
                    <a:pt x="30" y="56"/>
                    <a:pt x="30" y="56"/>
                  </a:cubicBezTo>
                  <a:cubicBezTo>
                    <a:pt x="29" y="56"/>
                    <a:pt x="29" y="56"/>
                    <a:pt x="29" y="56"/>
                  </a:cubicBezTo>
                  <a:cubicBezTo>
                    <a:pt x="2" y="39"/>
                    <a:pt x="2" y="39"/>
                    <a:pt x="2" y="39"/>
                  </a:cubicBezTo>
                  <a:cubicBezTo>
                    <a:pt x="1" y="36"/>
                    <a:pt x="0" y="32"/>
                    <a:pt x="2" y="29"/>
                  </a:cubicBezTo>
                  <a:cubicBezTo>
                    <a:pt x="5" y="28"/>
                    <a:pt x="5" y="28"/>
                    <a:pt x="5" y="28"/>
                  </a:cubicBezTo>
                  <a:cubicBezTo>
                    <a:pt x="5" y="29"/>
                    <a:pt x="5" y="29"/>
                    <a:pt x="5" y="29"/>
                  </a:cubicBezTo>
                  <a:cubicBezTo>
                    <a:pt x="40" y="37"/>
                    <a:pt x="40" y="37"/>
                    <a:pt x="40" y="37"/>
                  </a:cubicBezTo>
                  <a:cubicBezTo>
                    <a:pt x="40" y="36"/>
                    <a:pt x="40" y="34"/>
                    <a:pt x="40" y="33"/>
                  </a:cubicBezTo>
                  <a:cubicBezTo>
                    <a:pt x="40" y="32"/>
                    <a:pt x="40" y="30"/>
                    <a:pt x="40" y="29"/>
                  </a:cubicBezTo>
                  <a:cubicBezTo>
                    <a:pt x="5" y="22"/>
                    <a:pt x="5" y="22"/>
                    <a:pt x="5" y="22"/>
                  </a:cubicBezTo>
                  <a:cubicBezTo>
                    <a:pt x="5" y="19"/>
                    <a:pt x="5" y="19"/>
                    <a:pt x="5" y="19"/>
                  </a:cubicBezTo>
                  <a:cubicBezTo>
                    <a:pt x="5" y="19"/>
                    <a:pt x="5" y="19"/>
                    <a:pt x="5" y="19"/>
                  </a:cubicBezTo>
                  <a:cubicBezTo>
                    <a:pt x="5" y="19"/>
                    <a:pt x="5" y="19"/>
                    <a:pt x="5" y="19"/>
                  </a:cubicBezTo>
                  <a:cubicBezTo>
                    <a:pt x="5" y="19"/>
                    <a:pt x="5" y="19"/>
                    <a:pt x="5" y="19"/>
                  </a:cubicBezTo>
                  <a:cubicBezTo>
                    <a:pt x="7" y="18"/>
                    <a:pt x="7" y="18"/>
                    <a:pt x="7" y="18"/>
                  </a:cubicBezTo>
                  <a:cubicBezTo>
                    <a:pt x="7" y="16"/>
                    <a:pt x="7" y="16"/>
                    <a:pt x="7" y="16"/>
                  </a:cubicBezTo>
                  <a:cubicBezTo>
                    <a:pt x="40" y="24"/>
                    <a:pt x="40" y="24"/>
                    <a:pt x="40" y="24"/>
                  </a:cubicBezTo>
                  <a:cubicBezTo>
                    <a:pt x="40" y="23"/>
                    <a:pt x="40" y="22"/>
                    <a:pt x="40" y="21"/>
                  </a:cubicBezTo>
                  <a:cubicBezTo>
                    <a:pt x="40" y="19"/>
                    <a:pt x="40" y="18"/>
                    <a:pt x="40" y="17"/>
                  </a:cubicBezTo>
                  <a:cubicBezTo>
                    <a:pt x="7" y="9"/>
                    <a:pt x="7" y="9"/>
                    <a:pt x="7" y="9"/>
                  </a:cubicBezTo>
                  <a:cubicBezTo>
                    <a:pt x="7" y="6"/>
                    <a:pt x="7" y="6"/>
                    <a:pt x="7" y="6"/>
                  </a:cubicBezTo>
                  <a:cubicBezTo>
                    <a:pt x="33" y="0"/>
                    <a:pt x="33" y="0"/>
                    <a:pt x="33" y="0"/>
                  </a:cubicBezTo>
                  <a:cubicBezTo>
                    <a:pt x="63" y="6"/>
                    <a:pt x="63" y="6"/>
                    <a:pt x="63" y="6"/>
                  </a:cubicBezTo>
                  <a:cubicBezTo>
                    <a:pt x="64" y="9"/>
                    <a:pt x="64" y="11"/>
                    <a:pt x="63" y="14"/>
                  </a:cubicBezTo>
                  <a:cubicBezTo>
                    <a:pt x="60" y="15"/>
                    <a:pt x="60" y="15"/>
                    <a:pt x="60" y="15"/>
                  </a:cubicBezTo>
                  <a:cubicBezTo>
                    <a:pt x="64" y="16"/>
                    <a:pt x="64" y="16"/>
                    <a:pt x="64" y="16"/>
                  </a:cubicBezTo>
                  <a:cubicBezTo>
                    <a:pt x="66" y="19"/>
                    <a:pt x="66" y="22"/>
                    <a:pt x="64" y="25"/>
                  </a:cubicBezTo>
                  <a:cubicBezTo>
                    <a:pt x="58" y="29"/>
                    <a:pt x="58" y="29"/>
                    <a:pt x="58" y="29"/>
                  </a:cubicBezTo>
                  <a:cubicBezTo>
                    <a:pt x="72" y="33"/>
                    <a:pt x="72" y="33"/>
                    <a:pt x="72" y="33"/>
                  </a:cubicBezTo>
                  <a:cubicBezTo>
                    <a:pt x="72" y="35"/>
                    <a:pt x="72" y="35"/>
                    <a:pt x="72" y="35"/>
                  </a:cubicBezTo>
                  <a:close/>
                  <a:moveTo>
                    <a:pt x="33" y="50"/>
                  </a:moveTo>
                  <a:cubicBezTo>
                    <a:pt x="33" y="50"/>
                    <a:pt x="33" y="50"/>
                    <a:pt x="33" y="50"/>
                  </a:cubicBezTo>
                  <a:cubicBezTo>
                    <a:pt x="70" y="43"/>
                    <a:pt x="70" y="43"/>
                    <a:pt x="70" y="43"/>
                  </a:cubicBezTo>
                  <a:cubicBezTo>
                    <a:pt x="70" y="42"/>
                    <a:pt x="70" y="42"/>
                    <a:pt x="70" y="42"/>
                  </a:cubicBezTo>
                  <a:cubicBezTo>
                    <a:pt x="33" y="50"/>
                    <a:pt x="33" y="50"/>
                    <a:pt x="33" y="50"/>
                  </a:cubicBezTo>
                  <a:close/>
                  <a:moveTo>
                    <a:pt x="33" y="47"/>
                  </a:moveTo>
                  <a:cubicBezTo>
                    <a:pt x="33" y="48"/>
                    <a:pt x="33" y="48"/>
                    <a:pt x="33" y="48"/>
                  </a:cubicBezTo>
                  <a:cubicBezTo>
                    <a:pt x="70" y="40"/>
                    <a:pt x="70" y="40"/>
                    <a:pt x="70" y="40"/>
                  </a:cubicBezTo>
                  <a:cubicBezTo>
                    <a:pt x="70" y="39"/>
                    <a:pt x="70" y="39"/>
                    <a:pt x="70" y="39"/>
                  </a:cubicBezTo>
                  <a:cubicBezTo>
                    <a:pt x="33" y="47"/>
                    <a:pt x="33" y="47"/>
                    <a:pt x="33" y="47"/>
                  </a:cubicBezTo>
                  <a:close/>
                  <a:moveTo>
                    <a:pt x="32" y="45"/>
                  </a:moveTo>
                  <a:cubicBezTo>
                    <a:pt x="33" y="46"/>
                    <a:pt x="33" y="46"/>
                    <a:pt x="33" y="46"/>
                  </a:cubicBezTo>
                  <a:cubicBezTo>
                    <a:pt x="70" y="38"/>
                    <a:pt x="70" y="38"/>
                    <a:pt x="70" y="38"/>
                  </a:cubicBezTo>
                  <a:cubicBezTo>
                    <a:pt x="70" y="37"/>
                    <a:pt x="70" y="37"/>
                    <a:pt x="70" y="37"/>
                  </a:cubicBezTo>
                  <a:lnTo>
                    <a:pt x="32" y="45"/>
                  </a:lnTo>
                  <a:close/>
                </a:path>
              </a:pathLst>
            </a:custGeom>
            <a:solidFill>
              <a:schemeClr val="bg1"/>
            </a:solidFill>
            <a:ln w="9525">
              <a:noFill/>
            </a:ln>
          </p:spPr>
          <p:txBody>
            <a:bodyPr/>
            <a:p>
              <a:endParaRPr lang="zh-CN" altLang="en-US"/>
            </a:p>
          </p:txBody>
        </p:sp>
      </p:grpSp>
      <p:pic>
        <p:nvPicPr>
          <p:cNvPr id="17415" name="图片 7"/>
          <p:cNvPicPr>
            <a:picLocks noChangeAspect="1"/>
          </p:cNvPicPr>
          <p:nvPr/>
        </p:nvPicPr>
        <p:blipFill>
          <a:blip r:embed="rId2"/>
          <a:stretch>
            <a:fillRect/>
          </a:stretch>
        </p:blipFill>
        <p:spPr>
          <a:xfrm>
            <a:off x="835025" y="1308100"/>
            <a:ext cx="2762250" cy="695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 fill="hold"/>
                                        <p:tgtEl>
                                          <p:spTgt spid="3"/>
                                        </p:tgtEl>
                                        <p:attrNameLst>
                                          <p:attrName>ppt_w</p:attrName>
                                        </p:attrNameLst>
                                      </p:cBhvr>
                                      <p:tavLst>
                                        <p:tav tm="0">
                                          <p:val>
                                            <p:fltVal val="0.000000"/>
                                          </p:val>
                                        </p:tav>
                                        <p:tav tm="100000">
                                          <p:val>
                                            <p:strVal val="#ppt_w"/>
                                          </p:val>
                                        </p:tav>
                                      </p:tavLst>
                                    </p:anim>
                                    <p:anim calcmode="lin" valueType="num">
                                      <p:cBhvr>
                                        <p:cTn id="8" dur="250" fill="hold"/>
                                        <p:tgtEl>
                                          <p:spTgt spid="3"/>
                                        </p:tgtEl>
                                        <p:attrNameLst>
                                          <p:attrName>ppt_h</p:attrName>
                                        </p:attrNameLst>
                                      </p:cBhvr>
                                      <p:tavLst>
                                        <p:tav tm="0">
                                          <p:val>
                                            <p:fltVal val="0.000000"/>
                                          </p:val>
                                        </p:tav>
                                        <p:tav tm="100000">
                                          <p:val>
                                            <p:strVal val="#ppt_h"/>
                                          </p:val>
                                        </p:tav>
                                      </p:tavLst>
                                    </p:anim>
                                    <p:animEffect transition="in" filter="fade">
                                      <p:cBhvr>
                                        <p:cTn id="9" dur="250"/>
                                        <p:tgtEl>
                                          <p:spTgt spid="3"/>
                                        </p:tgtEl>
                                      </p:cBhvr>
                                    </p:animEffect>
                                  </p:childTnLst>
                                </p:cTn>
                              </p:par>
                              <p:par>
                                <p:cTn id="10" presetID="6" presetClass="emph" presetSubtype="0" autoRev="1" fill="hold" grpId="1" nodeType="withEffect">
                                  <p:stCondLst>
                                    <p:cond delay="240"/>
                                  </p:stCondLst>
                                  <p:childTnLst>
                                    <p:animScale>
                                      <p:cBhvr>
                                        <p:cTn id="11" dur="150" fill="hold"/>
                                        <p:tgtEl>
                                          <p:spTgt spid="3"/>
                                        </p:tgtEl>
                                      </p:cBhvr>
                                      <p:by x="110000" y="110000"/>
                                    </p:animScale>
                                  </p:childTnLst>
                                </p:cTn>
                              </p:par>
                              <p:par>
                                <p:cTn id="12" presetID="53" presetClass="entr" presetSubtype="16" fill="hold" nodeType="withEffect">
                                  <p:stCondLst>
                                    <p:cond delay="540"/>
                                  </p:stCondLst>
                                  <p:childTnLst>
                                    <p:set>
                                      <p:cBhvr>
                                        <p:cTn id="13" dur="1" fill="hold">
                                          <p:stCondLst>
                                            <p:cond delay="0"/>
                                          </p:stCondLst>
                                        </p:cTn>
                                        <p:tgtEl>
                                          <p:spTgt spid="4"/>
                                        </p:tgtEl>
                                        <p:attrNameLst>
                                          <p:attrName>style.visibility</p:attrName>
                                        </p:attrNameLst>
                                      </p:cBhvr>
                                      <p:to>
                                        <p:strVal val="visible"/>
                                      </p:to>
                                    </p:set>
                                    <p:anim calcmode="lin" valueType="num">
                                      <p:cBhvr>
                                        <p:cTn id="14" dur="250" fill="hold"/>
                                        <p:tgtEl>
                                          <p:spTgt spid="4"/>
                                        </p:tgtEl>
                                        <p:attrNameLst>
                                          <p:attrName>ppt_w</p:attrName>
                                        </p:attrNameLst>
                                      </p:cBhvr>
                                      <p:tavLst>
                                        <p:tav tm="0">
                                          <p:val>
                                            <p:fltVal val="0.000000"/>
                                          </p:val>
                                        </p:tav>
                                        <p:tav tm="100000">
                                          <p:val>
                                            <p:strVal val="#ppt_w"/>
                                          </p:val>
                                        </p:tav>
                                      </p:tavLst>
                                    </p:anim>
                                    <p:anim calcmode="lin" valueType="num">
                                      <p:cBhvr>
                                        <p:cTn id="15" dur="250" fill="hold"/>
                                        <p:tgtEl>
                                          <p:spTgt spid="4"/>
                                        </p:tgtEl>
                                        <p:attrNameLst>
                                          <p:attrName>ppt_h</p:attrName>
                                        </p:attrNameLst>
                                      </p:cBhvr>
                                      <p:tavLst>
                                        <p:tav tm="0">
                                          <p:val>
                                            <p:fltVal val="0.000000"/>
                                          </p:val>
                                        </p:tav>
                                        <p:tav tm="100000">
                                          <p:val>
                                            <p:strVal val="#ppt_h"/>
                                          </p:val>
                                        </p:tav>
                                      </p:tavLst>
                                    </p:anim>
                                    <p:animEffect transition="in" filter="fade">
                                      <p:cBhvr>
                                        <p:cTn id="16" dur="250"/>
                                        <p:tgtEl>
                                          <p:spTgt spid="4"/>
                                        </p:tgtEl>
                                      </p:cBhvr>
                                    </p:animEffect>
                                  </p:childTnLst>
                                </p:cTn>
                              </p:par>
                              <p:par>
                                <p:cTn id="17" presetID="6" presetClass="emph" presetSubtype="0" autoRev="1" fill="hold" nodeType="withEffect">
                                  <p:stCondLst>
                                    <p:cond delay="780"/>
                                  </p:stCondLst>
                                  <p:childTnLst>
                                    <p:animScale>
                                      <p:cBhvr>
                                        <p:cTn id="18" dur="150" fill="hold"/>
                                        <p:tgtEl>
                                          <p:spTgt spid="4"/>
                                        </p:tgtEl>
                                      </p:cBhvr>
                                      <p:by x="120000" y="120000"/>
                                    </p:animScale>
                                  </p:childTnLst>
                                </p:cTn>
                              </p:par>
                              <p:par>
                                <p:cTn id="19" presetID="2" presetClass="entr" presetSubtype="2"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1+#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bldLvl="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等腰三角形 25"/>
          <p:cNvSpPr/>
          <p:nvPr/>
        </p:nvSpPr>
        <p:spPr>
          <a:xfrm rot="16200000">
            <a:off x="5703888" y="2493963"/>
            <a:ext cx="347663" cy="300038"/>
          </a:xfrm>
          <a:prstGeom prst="triangle">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文本框 21"/>
          <p:cNvSpPr txBox="1"/>
          <p:nvPr/>
        </p:nvSpPr>
        <p:spPr>
          <a:xfrm>
            <a:off x="1069975" y="230188"/>
            <a:ext cx="4976813" cy="398780"/>
          </a:xfrm>
          <a:prstGeom prst="rect">
            <a:avLst/>
          </a:prstGeom>
          <a:noFill/>
        </p:spPr>
        <p:txBody>
          <a:bodyPr>
            <a:spAutoFit/>
          </a:bodyPr>
          <a:lstStyle/>
          <a:p>
            <a:pPr marR="0" defTabSz="914400" fontAlgn="auto">
              <a:spcBef>
                <a:spcPts val="0"/>
              </a:spcBef>
              <a:spcAft>
                <a:spcPts val="0"/>
              </a:spcAft>
              <a:buClrTx/>
              <a:buSzTx/>
              <a:buFontTx/>
              <a:buNone/>
              <a:defRPr/>
            </a:pPr>
            <a:r>
              <a:rPr kumimoji="0" lang="zh-CN" kern="1200" cap="none" spc="0" normalizeH="0" baseline="0" noProof="0" dirty="0">
                <a:solidFill>
                  <a:schemeClr val="accent3">
                    <a:lumMod val="60000"/>
                    <a:lumOff val="40000"/>
                  </a:schemeClr>
                </a:solidFill>
                <a:latin typeface="+mn-lt"/>
                <a:ea typeface="+mn-ea"/>
                <a:cs typeface="+mn-cs"/>
              </a:rPr>
              <a:t>改进</a:t>
            </a:r>
            <a:endParaRPr kumimoji="0" lang="zh-CN" sz="2000" b="1" kern="1200" cap="none" spc="0" normalizeH="0" baseline="0" noProof="0" dirty="0">
              <a:solidFill>
                <a:srgbClr val="1F3A65"/>
              </a:solidFill>
              <a:latin typeface="+mn-lt"/>
              <a:ea typeface="+mn-ea"/>
              <a:cs typeface="+mn-cs"/>
            </a:endParaRPr>
          </a:p>
        </p:txBody>
      </p:sp>
      <p:cxnSp>
        <p:nvCxnSpPr>
          <p:cNvPr id="23" name="直接连接符 22"/>
          <p:cNvCxnSpPr/>
          <p:nvPr/>
        </p:nvCxnSpPr>
        <p:spPr>
          <a:xfrm>
            <a:off x="1069975" y="319088"/>
            <a:ext cx="0" cy="517525"/>
          </a:xfrm>
          <a:prstGeom prst="line">
            <a:avLst/>
          </a:prstGeom>
          <a:ln w="25400" cap="rnd">
            <a:solidFill>
              <a:srgbClr val="1F3A65"/>
            </a:solidFill>
            <a:round/>
          </a:ln>
        </p:spPr>
        <p:style>
          <a:lnRef idx="1">
            <a:schemeClr val="accent1"/>
          </a:lnRef>
          <a:fillRef idx="0">
            <a:schemeClr val="accent1"/>
          </a:fillRef>
          <a:effectRef idx="0">
            <a:schemeClr val="accent1"/>
          </a:effectRef>
          <a:fontRef idx="minor">
            <a:schemeClr val="tx1"/>
          </a:fontRef>
        </p:style>
      </p:cxnSp>
      <p:sp>
        <p:nvSpPr>
          <p:cNvPr id="23567" name="Freeform 638"/>
          <p:cNvSpPr>
            <a:spLocks noChangeAspect="1" noEditPoints="1"/>
          </p:cNvSpPr>
          <p:nvPr/>
        </p:nvSpPr>
        <p:spPr>
          <a:xfrm>
            <a:off x="514350" y="336550"/>
            <a:ext cx="503238" cy="4635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0"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21" h="111">
                <a:moveTo>
                  <a:pt x="16" y="0"/>
                </a:moveTo>
                <a:lnTo>
                  <a:pt x="93" y="0"/>
                </a:lnTo>
                <a:lnTo>
                  <a:pt x="99" y="0"/>
                </a:lnTo>
                <a:lnTo>
                  <a:pt x="99" y="4"/>
                </a:lnTo>
                <a:lnTo>
                  <a:pt x="99" y="22"/>
                </a:lnTo>
                <a:lnTo>
                  <a:pt x="89" y="30"/>
                </a:lnTo>
                <a:lnTo>
                  <a:pt x="89" y="8"/>
                </a:lnTo>
                <a:lnTo>
                  <a:pt x="20" y="8"/>
                </a:lnTo>
                <a:lnTo>
                  <a:pt x="20" y="16"/>
                </a:lnTo>
                <a:lnTo>
                  <a:pt x="27" y="14"/>
                </a:lnTo>
                <a:lnTo>
                  <a:pt x="31" y="12"/>
                </a:lnTo>
                <a:lnTo>
                  <a:pt x="35" y="20"/>
                </a:lnTo>
                <a:lnTo>
                  <a:pt x="29" y="22"/>
                </a:lnTo>
                <a:lnTo>
                  <a:pt x="20" y="26"/>
                </a:lnTo>
                <a:lnTo>
                  <a:pt x="20" y="30"/>
                </a:lnTo>
                <a:lnTo>
                  <a:pt x="27" y="28"/>
                </a:lnTo>
                <a:lnTo>
                  <a:pt x="31" y="26"/>
                </a:lnTo>
                <a:lnTo>
                  <a:pt x="35" y="36"/>
                </a:lnTo>
                <a:lnTo>
                  <a:pt x="29" y="39"/>
                </a:lnTo>
                <a:lnTo>
                  <a:pt x="20" y="41"/>
                </a:lnTo>
                <a:lnTo>
                  <a:pt x="20" y="47"/>
                </a:lnTo>
                <a:lnTo>
                  <a:pt x="27" y="45"/>
                </a:lnTo>
                <a:lnTo>
                  <a:pt x="31" y="43"/>
                </a:lnTo>
                <a:lnTo>
                  <a:pt x="35" y="53"/>
                </a:lnTo>
                <a:lnTo>
                  <a:pt x="29" y="55"/>
                </a:lnTo>
                <a:lnTo>
                  <a:pt x="20" y="57"/>
                </a:lnTo>
                <a:lnTo>
                  <a:pt x="20" y="63"/>
                </a:lnTo>
                <a:lnTo>
                  <a:pt x="27" y="61"/>
                </a:lnTo>
                <a:lnTo>
                  <a:pt x="31" y="59"/>
                </a:lnTo>
                <a:lnTo>
                  <a:pt x="35" y="67"/>
                </a:lnTo>
                <a:lnTo>
                  <a:pt x="29" y="69"/>
                </a:lnTo>
                <a:lnTo>
                  <a:pt x="20" y="73"/>
                </a:lnTo>
                <a:lnTo>
                  <a:pt x="20" y="79"/>
                </a:lnTo>
                <a:lnTo>
                  <a:pt x="27" y="77"/>
                </a:lnTo>
                <a:lnTo>
                  <a:pt x="31" y="75"/>
                </a:lnTo>
                <a:lnTo>
                  <a:pt x="35" y="85"/>
                </a:lnTo>
                <a:lnTo>
                  <a:pt x="29" y="87"/>
                </a:lnTo>
                <a:lnTo>
                  <a:pt x="20" y="89"/>
                </a:lnTo>
                <a:lnTo>
                  <a:pt x="20" y="99"/>
                </a:lnTo>
                <a:lnTo>
                  <a:pt x="20" y="101"/>
                </a:lnTo>
                <a:lnTo>
                  <a:pt x="89" y="101"/>
                </a:lnTo>
                <a:lnTo>
                  <a:pt x="89" y="79"/>
                </a:lnTo>
                <a:lnTo>
                  <a:pt x="99" y="71"/>
                </a:lnTo>
                <a:lnTo>
                  <a:pt x="99" y="105"/>
                </a:lnTo>
                <a:lnTo>
                  <a:pt x="99" y="111"/>
                </a:lnTo>
                <a:lnTo>
                  <a:pt x="93" y="111"/>
                </a:lnTo>
                <a:lnTo>
                  <a:pt x="16" y="111"/>
                </a:lnTo>
                <a:lnTo>
                  <a:pt x="10" y="111"/>
                </a:lnTo>
                <a:lnTo>
                  <a:pt x="10" y="105"/>
                </a:lnTo>
                <a:lnTo>
                  <a:pt x="10" y="99"/>
                </a:lnTo>
                <a:lnTo>
                  <a:pt x="0" y="99"/>
                </a:lnTo>
                <a:lnTo>
                  <a:pt x="0" y="89"/>
                </a:lnTo>
                <a:lnTo>
                  <a:pt x="10" y="83"/>
                </a:lnTo>
                <a:lnTo>
                  <a:pt x="10" y="81"/>
                </a:lnTo>
                <a:lnTo>
                  <a:pt x="0" y="81"/>
                </a:lnTo>
                <a:lnTo>
                  <a:pt x="0" y="73"/>
                </a:lnTo>
                <a:lnTo>
                  <a:pt x="10" y="67"/>
                </a:lnTo>
                <a:lnTo>
                  <a:pt x="10" y="65"/>
                </a:lnTo>
                <a:lnTo>
                  <a:pt x="0" y="65"/>
                </a:lnTo>
                <a:lnTo>
                  <a:pt x="0" y="57"/>
                </a:lnTo>
                <a:lnTo>
                  <a:pt x="10" y="51"/>
                </a:lnTo>
                <a:lnTo>
                  <a:pt x="0" y="51"/>
                </a:lnTo>
                <a:lnTo>
                  <a:pt x="0" y="41"/>
                </a:lnTo>
                <a:lnTo>
                  <a:pt x="10" y="34"/>
                </a:lnTo>
                <a:lnTo>
                  <a:pt x="0" y="34"/>
                </a:lnTo>
                <a:lnTo>
                  <a:pt x="0" y="24"/>
                </a:lnTo>
                <a:lnTo>
                  <a:pt x="10" y="20"/>
                </a:lnTo>
                <a:lnTo>
                  <a:pt x="10" y="4"/>
                </a:lnTo>
                <a:lnTo>
                  <a:pt x="10" y="0"/>
                </a:lnTo>
                <a:lnTo>
                  <a:pt x="16" y="0"/>
                </a:lnTo>
                <a:close/>
                <a:moveTo>
                  <a:pt x="43" y="53"/>
                </a:moveTo>
                <a:lnTo>
                  <a:pt x="43" y="59"/>
                </a:lnTo>
                <a:lnTo>
                  <a:pt x="55" y="59"/>
                </a:lnTo>
                <a:lnTo>
                  <a:pt x="55" y="53"/>
                </a:lnTo>
                <a:lnTo>
                  <a:pt x="43" y="53"/>
                </a:lnTo>
                <a:close/>
                <a:moveTo>
                  <a:pt x="43" y="41"/>
                </a:moveTo>
                <a:lnTo>
                  <a:pt x="43" y="47"/>
                </a:lnTo>
                <a:lnTo>
                  <a:pt x="67" y="47"/>
                </a:lnTo>
                <a:lnTo>
                  <a:pt x="67" y="41"/>
                </a:lnTo>
                <a:lnTo>
                  <a:pt x="43" y="41"/>
                </a:lnTo>
                <a:close/>
                <a:moveTo>
                  <a:pt x="43" y="28"/>
                </a:moveTo>
                <a:lnTo>
                  <a:pt x="43" y="34"/>
                </a:lnTo>
                <a:lnTo>
                  <a:pt x="77" y="34"/>
                </a:lnTo>
                <a:lnTo>
                  <a:pt x="77" y="28"/>
                </a:lnTo>
                <a:lnTo>
                  <a:pt x="43" y="28"/>
                </a:lnTo>
                <a:close/>
                <a:moveTo>
                  <a:pt x="43" y="18"/>
                </a:moveTo>
                <a:lnTo>
                  <a:pt x="43" y="22"/>
                </a:lnTo>
                <a:lnTo>
                  <a:pt x="77" y="22"/>
                </a:lnTo>
                <a:lnTo>
                  <a:pt x="77" y="18"/>
                </a:lnTo>
                <a:lnTo>
                  <a:pt x="43" y="18"/>
                </a:lnTo>
                <a:close/>
                <a:moveTo>
                  <a:pt x="55" y="87"/>
                </a:moveTo>
                <a:lnTo>
                  <a:pt x="63" y="87"/>
                </a:lnTo>
                <a:lnTo>
                  <a:pt x="71" y="87"/>
                </a:lnTo>
                <a:lnTo>
                  <a:pt x="65" y="79"/>
                </a:lnTo>
                <a:lnTo>
                  <a:pt x="57" y="73"/>
                </a:lnTo>
                <a:lnTo>
                  <a:pt x="57" y="81"/>
                </a:lnTo>
                <a:lnTo>
                  <a:pt x="55" y="87"/>
                </a:lnTo>
                <a:close/>
                <a:moveTo>
                  <a:pt x="107" y="24"/>
                </a:moveTo>
                <a:lnTo>
                  <a:pt x="63" y="67"/>
                </a:lnTo>
                <a:lnTo>
                  <a:pt x="77" y="81"/>
                </a:lnTo>
                <a:lnTo>
                  <a:pt x="121" y="39"/>
                </a:lnTo>
                <a:lnTo>
                  <a:pt x="107" y="24"/>
                </a:lnTo>
                <a:close/>
              </a:path>
            </a:pathLst>
          </a:custGeom>
          <a:solidFill>
            <a:srgbClr val="1F3A65"/>
          </a:solidFill>
          <a:ln w="9525">
            <a:noFill/>
          </a:ln>
        </p:spPr>
        <p:txBody>
          <a:bodyPr/>
          <a:p>
            <a:endParaRPr lang="zh-CN" altLang="en-US"/>
          </a:p>
        </p:txBody>
      </p:sp>
      <p:sp>
        <p:nvSpPr>
          <p:cNvPr id="3" name="文本框 2"/>
          <p:cNvSpPr txBox="1"/>
          <p:nvPr/>
        </p:nvSpPr>
        <p:spPr>
          <a:xfrm>
            <a:off x="500380" y="1892935"/>
            <a:ext cx="4994910" cy="2584450"/>
          </a:xfrm>
          <a:prstGeom prst="rect">
            <a:avLst/>
          </a:prstGeom>
          <a:noFill/>
        </p:spPr>
        <p:txBody>
          <a:bodyPr wrap="square" rtlCol="0">
            <a:spAutoFit/>
          </a:bodyPr>
          <a:p>
            <a:r>
              <a:rPr lang="en-US" altLang="zh-CN"/>
              <a:t>1.</a:t>
            </a:r>
            <a:r>
              <a:rPr lang="zh-CN" altLang="en-US"/>
              <a:t>由于为了提升识别精度和效果，事先采用了级联分类器框选了区域，再采用训练好的模型的识别功能，导致该模型可以实现多人脸识别的优点没有显现出来，后续可以考虑把区域划分成整个图像区域，但需要采用更多的样本进行训练</a:t>
            </a:r>
            <a:endParaRPr lang="zh-CN" altLang="en-US"/>
          </a:p>
          <a:p>
            <a:r>
              <a:rPr lang="en-US" altLang="zh-CN"/>
              <a:t>2.</a:t>
            </a:r>
            <a:r>
              <a:rPr lang="zh-CN" altLang="en-US"/>
              <a:t>可以将二分类问题推广至多分类问题，实现多分类的操作，只需增加样本，并对不同的样本标签不同即可。另外增加样本可以考虑使用</a:t>
            </a:r>
            <a:r>
              <a:rPr lang="en-US" altLang="zh-CN"/>
              <a:t>transformer</a:t>
            </a:r>
            <a:r>
              <a:rPr lang="zh-CN" altLang="en-US"/>
              <a:t>模型</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3" name="文本框 2"/>
          <p:cNvSpPr txBox="1"/>
          <p:nvPr/>
        </p:nvSpPr>
        <p:spPr>
          <a:xfrm>
            <a:off x="2751138" y="1554163"/>
            <a:ext cx="3325813" cy="1862138"/>
          </a:xfrm>
          <a:prstGeom prst="rect">
            <a:avLst/>
          </a:prstGeom>
          <a:noFill/>
        </p:spPr>
        <p:txBody>
          <a:bodyPr>
            <a:spAutoFit/>
          </a:bodyPr>
          <a:lstStyle/>
          <a:p>
            <a:pPr marR="0" algn="dist" defTabSz="914400" fontAlgn="auto">
              <a:spcBef>
                <a:spcPts val="0"/>
              </a:spcBef>
              <a:spcAft>
                <a:spcPts val="0"/>
              </a:spcAft>
              <a:buClrTx/>
              <a:buSzTx/>
              <a:buFontTx/>
              <a:buNone/>
              <a:defRPr/>
            </a:pPr>
            <a:r>
              <a:rPr kumimoji="0" lang="zh-CN" altLang="en-US" sz="11500" b="1" kern="1200" cap="none" spc="0" normalizeH="0" baseline="0" noProof="0" dirty="0">
                <a:solidFill>
                  <a:schemeClr val="bg1"/>
                </a:solidFill>
                <a:effectLst>
                  <a:outerShdw blurRad="38100" dist="38100" dir="2700000" algn="tl">
                    <a:srgbClr val="000000">
                      <a:alpha val="43137"/>
                    </a:srgbClr>
                  </a:outerShdw>
                </a:effectLst>
                <a:latin typeface="+mn-lt"/>
                <a:ea typeface="+mn-ea"/>
                <a:cs typeface="+mn-cs"/>
              </a:rPr>
              <a:t>感谢</a:t>
            </a:r>
            <a:endParaRPr kumimoji="0" lang="zh-CN" altLang="en-US" sz="11500" b="1" kern="1200" cap="none" spc="0" normalizeH="0" baseline="0" noProof="0" dirty="0">
              <a:solidFill>
                <a:schemeClr val="bg1"/>
              </a:solidFill>
              <a:effectLst>
                <a:outerShdw blurRad="38100" dist="38100" dir="2700000" algn="tl">
                  <a:srgbClr val="000000">
                    <a:alpha val="43137"/>
                  </a:srgbClr>
                </a:outerShdw>
              </a:effectLst>
              <a:latin typeface="+mn-lt"/>
              <a:ea typeface="+mn-ea"/>
              <a:cs typeface="+mn-cs"/>
            </a:endParaRPr>
          </a:p>
        </p:txBody>
      </p:sp>
      <p:cxnSp>
        <p:nvCxnSpPr>
          <p:cNvPr id="21" name="直接连接符 20"/>
          <p:cNvCxnSpPr/>
          <p:nvPr/>
        </p:nvCxnSpPr>
        <p:spPr>
          <a:xfrm>
            <a:off x="2874963" y="3394075"/>
            <a:ext cx="307816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5060" name="组合 21"/>
          <p:cNvGrpSpPr/>
          <p:nvPr/>
        </p:nvGrpSpPr>
        <p:grpSpPr>
          <a:xfrm>
            <a:off x="4808538" y="3789363"/>
            <a:ext cx="3051175" cy="496887"/>
            <a:chOff x="1871663" y="3789363"/>
            <a:chExt cx="3051144" cy="496100"/>
          </a:xfrm>
        </p:grpSpPr>
        <p:grpSp>
          <p:nvGrpSpPr>
            <p:cNvPr id="45061" name="组合 22"/>
            <p:cNvGrpSpPr>
              <a:grpSpLocks noChangeAspect="1"/>
            </p:cNvGrpSpPr>
            <p:nvPr/>
          </p:nvGrpSpPr>
          <p:grpSpPr>
            <a:xfrm>
              <a:off x="1871663" y="3789363"/>
              <a:ext cx="496100" cy="496100"/>
              <a:chOff x="6318690" y="3689938"/>
              <a:chExt cx="720000" cy="720000"/>
            </a:xfrm>
          </p:grpSpPr>
          <p:sp>
            <p:nvSpPr>
              <p:cNvPr id="25" name="椭圆 24"/>
              <p:cNvSpPr>
                <a:spLocks noChangeAspect="1"/>
              </p:cNvSpPr>
              <p:nvPr/>
            </p:nvSpPr>
            <p:spPr>
              <a:xfrm>
                <a:off x="6318690" y="3689938"/>
                <a:ext cx="721135" cy="720000"/>
              </a:xfrm>
              <a:prstGeom prst="ellipse">
                <a:avLst/>
              </a:prstGeom>
              <a:solidFill>
                <a:schemeClr val="bg1"/>
              </a:solidFill>
              <a:ln>
                <a:solidFill>
                  <a:srgbClr val="1F3A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25"/>
              <p:cNvGrpSpPr>
                <a:grpSpLocks noChangeAspect="1"/>
              </p:cNvGrpSpPr>
              <p:nvPr/>
            </p:nvGrpSpPr>
            <p:grpSpPr>
              <a:xfrm>
                <a:off x="6499668" y="3869938"/>
                <a:ext cx="358045" cy="360000"/>
                <a:chOff x="8507413" y="5110163"/>
                <a:chExt cx="290513" cy="292100"/>
              </a:xfrm>
              <a:solidFill>
                <a:schemeClr val="bg1"/>
              </a:solidFill>
            </p:grpSpPr>
            <p:sp>
              <p:nvSpPr>
                <p:cNvPr id="27" name="Freeform 214"/>
                <p:cNvSpPr>
                  <a:spLocks noEditPoints="1"/>
                </p:cNvSpPr>
                <p:nvPr/>
              </p:nvSpPr>
              <p:spPr bwMode="auto">
                <a:xfrm>
                  <a:off x="8507413" y="5280025"/>
                  <a:ext cx="290513" cy="122238"/>
                </a:xfrm>
                <a:custGeom>
                  <a:avLst/>
                  <a:gdLst>
                    <a:gd name="T0" fmla="*/ 72 w 96"/>
                    <a:gd name="T1" fmla="*/ 0 h 40"/>
                    <a:gd name="T2" fmla="*/ 24 w 96"/>
                    <a:gd name="T3" fmla="*/ 0 h 40"/>
                    <a:gd name="T4" fmla="*/ 0 w 96"/>
                    <a:gd name="T5" fmla="*/ 24 h 40"/>
                    <a:gd name="T6" fmla="*/ 0 w 96"/>
                    <a:gd name="T7" fmla="*/ 36 h 40"/>
                    <a:gd name="T8" fmla="*/ 4 w 96"/>
                    <a:gd name="T9" fmla="*/ 40 h 40"/>
                    <a:gd name="T10" fmla="*/ 92 w 96"/>
                    <a:gd name="T11" fmla="*/ 40 h 40"/>
                    <a:gd name="T12" fmla="*/ 96 w 96"/>
                    <a:gd name="T13" fmla="*/ 36 h 40"/>
                    <a:gd name="T14" fmla="*/ 96 w 96"/>
                    <a:gd name="T15" fmla="*/ 24 h 40"/>
                    <a:gd name="T16" fmla="*/ 72 w 96"/>
                    <a:gd name="T17" fmla="*/ 0 h 40"/>
                    <a:gd name="T18" fmla="*/ 62 w 96"/>
                    <a:gd name="T19" fmla="*/ 8 h 40"/>
                    <a:gd name="T20" fmla="*/ 48 w 96"/>
                    <a:gd name="T21" fmla="*/ 22 h 40"/>
                    <a:gd name="T22" fmla="*/ 34 w 96"/>
                    <a:gd name="T23" fmla="*/ 8 h 40"/>
                    <a:gd name="T24" fmla="*/ 62 w 96"/>
                    <a:gd name="T25" fmla="*/ 8 h 40"/>
                    <a:gd name="T26" fmla="*/ 88 w 96"/>
                    <a:gd name="T27" fmla="*/ 32 h 40"/>
                    <a:gd name="T28" fmla="*/ 8 w 96"/>
                    <a:gd name="T29" fmla="*/ 32 h 40"/>
                    <a:gd name="T30" fmla="*/ 8 w 96"/>
                    <a:gd name="T31" fmla="*/ 24 h 40"/>
                    <a:gd name="T32" fmla="*/ 24 w 96"/>
                    <a:gd name="T33" fmla="*/ 8 h 40"/>
                    <a:gd name="T34" fmla="*/ 28 w 96"/>
                    <a:gd name="T35" fmla="*/ 8 h 40"/>
                    <a:gd name="T36" fmla="*/ 48 w 96"/>
                    <a:gd name="T37" fmla="*/ 28 h 40"/>
                    <a:gd name="T38" fmla="*/ 68 w 96"/>
                    <a:gd name="T39" fmla="*/ 8 h 40"/>
                    <a:gd name="T40" fmla="*/ 72 w 96"/>
                    <a:gd name="T41" fmla="*/ 8 h 40"/>
                    <a:gd name="T42" fmla="*/ 88 w 96"/>
                    <a:gd name="T43" fmla="*/ 24 h 40"/>
                    <a:gd name="T44" fmla="*/ 88 w 96"/>
                    <a:gd name="T45" fmla="*/ 3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6" h="40">
                      <a:moveTo>
                        <a:pt x="72" y="0"/>
                      </a:moveTo>
                      <a:cubicBezTo>
                        <a:pt x="24" y="0"/>
                        <a:pt x="24" y="0"/>
                        <a:pt x="24" y="0"/>
                      </a:cubicBezTo>
                      <a:cubicBezTo>
                        <a:pt x="11" y="0"/>
                        <a:pt x="0" y="11"/>
                        <a:pt x="0" y="24"/>
                      </a:cubicBezTo>
                      <a:cubicBezTo>
                        <a:pt x="0" y="36"/>
                        <a:pt x="0" y="36"/>
                        <a:pt x="0" y="36"/>
                      </a:cubicBezTo>
                      <a:cubicBezTo>
                        <a:pt x="0" y="38"/>
                        <a:pt x="2" y="40"/>
                        <a:pt x="4" y="40"/>
                      </a:cubicBezTo>
                      <a:cubicBezTo>
                        <a:pt x="92" y="40"/>
                        <a:pt x="92" y="40"/>
                        <a:pt x="92" y="40"/>
                      </a:cubicBezTo>
                      <a:cubicBezTo>
                        <a:pt x="94" y="40"/>
                        <a:pt x="96" y="38"/>
                        <a:pt x="96" y="36"/>
                      </a:cubicBezTo>
                      <a:cubicBezTo>
                        <a:pt x="96" y="24"/>
                        <a:pt x="96" y="24"/>
                        <a:pt x="96" y="24"/>
                      </a:cubicBezTo>
                      <a:cubicBezTo>
                        <a:pt x="96" y="11"/>
                        <a:pt x="85" y="0"/>
                        <a:pt x="72" y="0"/>
                      </a:cubicBezTo>
                      <a:close/>
                      <a:moveTo>
                        <a:pt x="62" y="8"/>
                      </a:moveTo>
                      <a:cubicBezTo>
                        <a:pt x="48" y="22"/>
                        <a:pt x="48" y="22"/>
                        <a:pt x="48" y="22"/>
                      </a:cubicBezTo>
                      <a:cubicBezTo>
                        <a:pt x="34" y="8"/>
                        <a:pt x="34" y="8"/>
                        <a:pt x="34" y="8"/>
                      </a:cubicBezTo>
                      <a:lnTo>
                        <a:pt x="62" y="8"/>
                      </a:lnTo>
                      <a:close/>
                      <a:moveTo>
                        <a:pt x="88" y="32"/>
                      </a:moveTo>
                      <a:cubicBezTo>
                        <a:pt x="8" y="32"/>
                        <a:pt x="8" y="32"/>
                        <a:pt x="8" y="32"/>
                      </a:cubicBezTo>
                      <a:cubicBezTo>
                        <a:pt x="8" y="24"/>
                        <a:pt x="8" y="24"/>
                        <a:pt x="8" y="24"/>
                      </a:cubicBezTo>
                      <a:cubicBezTo>
                        <a:pt x="8" y="15"/>
                        <a:pt x="15" y="8"/>
                        <a:pt x="24" y="8"/>
                      </a:cubicBezTo>
                      <a:cubicBezTo>
                        <a:pt x="28" y="8"/>
                        <a:pt x="28" y="8"/>
                        <a:pt x="28" y="8"/>
                      </a:cubicBezTo>
                      <a:cubicBezTo>
                        <a:pt x="48" y="28"/>
                        <a:pt x="48" y="28"/>
                        <a:pt x="48" y="28"/>
                      </a:cubicBezTo>
                      <a:cubicBezTo>
                        <a:pt x="68" y="8"/>
                        <a:pt x="68" y="8"/>
                        <a:pt x="68" y="8"/>
                      </a:cubicBezTo>
                      <a:cubicBezTo>
                        <a:pt x="72" y="8"/>
                        <a:pt x="72" y="8"/>
                        <a:pt x="72" y="8"/>
                      </a:cubicBezTo>
                      <a:cubicBezTo>
                        <a:pt x="81" y="8"/>
                        <a:pt x="88" y="15"/>
                        <a:pt x="88" y="24"/>
                      </a:cubicBezTo>
                      <a:lnTo>
                        <a:pt x="88" y="32"/>
                      </a:lnTo>
                      <a:close/>
                    </a:path>
                  </a:pathLst>
                </a:custGeom>
                <a:solidFill>
                  <a:srgbClr val="1F3A6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8" name="Freeform 215"/>
                <p:cNvSpPr/>
                <p:nvPr/>
              </p:nvSpPr>
              <p:spPr bwMode="auto">
                <a:xfrm>
                  <a:off x="8555038" y="5110163"/>
                  <a:ext cx="195263" cy="158750"/>
                </a:xfrm>
                <a:custGeom>
                  <a:avLst/>
                  <a:gdLst>
                    <a:gd name="T0" fmla="*/ 19 w 64"/>
                    <a:gd name="T1" fmla="*/ 52 h 52"/>
                    <a:gd name="T2" fmla="*/ 8 w 64"/>
                    <a:gd name="T3" fmla="*/ 32 h 52"/>
                    <a:gd name="T4" fmla="*/ 32 w 64"/>
                    <a:gd name="T5" fmla="*/ 8 h 52"/>
                    <a:gd name="T6" fmla="*/ 56 w 64"/>
                    <a:gd name="T7" fmla="*/ 32 h 52"/>
                    <a:gd name="T8" fmla="*/ 45 w 64"/>
                    <a:gd name="T9" fmla="*/ 52 h 52"/>
                    <a:gd name="T10" fmla="*/ 57 w 64"/>
                    <a:gd name="T11" fmla="*/ 52 h 52"/>
                    <a:gd name="T12" fmla="*/ 64 w 64"/>
                    <a:gd name="T13" fmla="*/ 32 h 52"/>
                    <a:gd name="T14" fmla="*/ 32 w 64"/>
                    <a:gd name="T15" fmla="*/ 0 h 52"/>
                    <a:gd name="T16" fmla="*/ 0 w 64"/>
                    <a:gd name="T17" fmla="*/ 32 h 52"/>
                    <a:gd name="T18" fmla="*/ 7 w 64"/>
                    <a:gd name="T19" fmla="*/ 52 h 52"/>
                    <a:gd name="T20" fmla="*/ 19 w 64"/>
                    <a:gd name="T21"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52">
                      <a:moveTo>
                        <a:pt x="19" y="52"/>
                      </a:moveTo>
                      <a:cubicBezTo>
                        <a:pt x="12" y="48"/>
                        <a:pt x="8" y="40"/>
                        <a:pt x="8" y="32"/>
                      </a:cubicBezTo>
                      <a:cubicBezTo>
                        <a:pt x="8" y="19"/>
                        <a:pt x="19" y="8"/>
                        <a:pt x="32" y="8"/>
                      </a:cubicBezTo>
                      <a:cubicBezTo>
                        <a:pt x="45" y="8"/>
                        <a:pt x="56" y="19"/>
                        <a:pt x="56" y="32"/>
                      </a:cubicBezTo>
                      <a:cubicBezTo>
                        <a:pt x="56" y="40"/>
                        <a:pt x="52" y="48"/>
                        <a:pt x="45" y="52"/>
                      </a:cubicBezTo>
                      <a:cubicBezTo>
                        <a:pt x="57" y="52"/>
                        <a:pt x="57" y="52"/>
                        <a:pt x="57" y="52"/>
                      </a:cubicBezTo>
                      <a:cubicBezTo>
                        <a:pt x="61" y="47"/>
                        <a:pt x="64" y="40"/>
                        <a:pt x="64" y="32"/>
                      </a:cubicBezTo>
                      <a:cubicBezTo>
                        <a:pt x="64" y="14"/>
                        <a:pt x="50" y="0"/>
                        <a:pt x="32" y="0"/>
                      </a:cubicBezTo>
                      <a:cubicBezTo>
                        <a:pt x="14" y="0"/>
                        <a:pt x="0" y="14"/>
                        <a:pt x="0" y="32"/>
                      </a:cubicBezTo>
                      <a:cubicBezTo>
                        <a:pt x="0" y="40"/>
                        <a:pt x="3" y="47"/>
                        <a:pt x="7" y="52"/>
                      </a:cubicBezTo>
                      <a:lnTo>
                        <a:pt x="19" y="52"/>
                      </a:lnTo>
                      <a:close/>
                    </a:path>
                  </a:pathLst>
                </a:custGeom>
                <a:solidFill>
                  <a:srgbClr val="1F3A6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grpSp>
        <p:sp>
          <p:nvSpPr>
            <p:cNvPr id="45064" name="文本框 23"/>
            <p:cNvSpPr txBox="1"/>
            <p:nvPr/>
          </p:nvSpPr>
          <p:spPr>
            <a:xfrm>
              <a:off x="2408207" y="3837358"/>
              <a:ext cx="2514600" cy="398148"/>
            </a:xfrm>
            <a:prstGeom prst="rect">
              <a:avLst/>
            </a:prstGeom>
            <a:noFill/>
            <a:ln w="9525">
              <a:noFill/>
            </a:ln>
          </p:spPr>
          <p:txBody>
            <a:bodyPr anchor="t" anchorCtr="0">
              <a:spAutoFit/>
            </a:bodyPr>
            <a:p>
              <a:r>
                <a:rPr lang="zh-CN" altLang="en-US" sz="2000" b="1" dirty="0">
                  <a:solidFill>
                    <a:schemeClr val="bg1"/>
                  </a:solidFill>
                  <a:latin typeface="微软雅黑" panose="020B0503020204020204" pitchFamily="34" charset="-122"/>
                  <a:ea typeface="微软雅黑" panose="020B0503020204020204" pitchFamily="34" charset="-122"/>
                </a:rPr>
                <a:t>指导老师</a:t>
              </a:r>
              <a:r>
                <a:rPr lang="zh-CN" altLang="en-US" sz="2000" dirty="0">
                  <a:solidFill>
                    <a:schemeClr val="bg1"/>
                  </a:solidFill>
                  <a:latin typeface="微软雅黑" panose="020B0503020204020204" pitchFamily="34" charset="-122"/>
                  <a:ea typeface="微软雅黑" panose="020B0503020204020204" pitchFamily="34" charset="-122"/>
                </a:rPr>
                <a:t>：宋梅萍</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45065" name="组合 28"/>
          <p:cNvGrpSpPr/>
          <p:nvPr/>
        </p:nvGrpSpPr>
        <p:grpSpPr>
          <a:xfrm>
            <a:off x="1882775" y="3789363"/>
            <a:ext cx="3051175" cy="496887"/>
            <a:chOff x="5486400" y="3841686"/>
            <a:chExt cx="3051764" cy="496800"/>
          </a:xfrm>
        </p:grpSpPr>
        <p:grpSp>
          <p:nvGrpSpPr>
            <p:cNvPr id="45066" name="组合 29"/>
            <p:cNvGrpSpPr>
              <a:grpSpLocks noChangeAspect="1"/>
            </p:cNvGrpSpPr>
            <p:nvPr/>
          </p:nvGrpSpPr>
          <p:grpSpPr>
            <a:xfrm>
              <a:off x="5486400" y="3841686"/>
              <a:ext cx="496800" cy="496800"/>
              <a:chOff x="5766465" y="575871"/>
              <a:chExt cx="720000" cy="720000"/>
            </a:xfrm>
          </p:grpSpPr>
          <p:sp>
            <p:nvSpPr>
              <p:cNvPr id="32" name="椭圆 31"/>
              <p:cNvSpPr>
                <a:spLocks noChangeAspect="1"/>
              </p:cNvSpPr>
              <p:nvPr/>
            </p:nvSpPr>
            <p:spPr>
              <a:xfrm>
                <a:off x="5766465" y="575871"/>
                <a:ext cx="720267" cy="720000"/>
              </a:xfrm>
              <a:prstGeom prst="ellipse">
                <a:avLst/>
              </a:prstGeom>
              <a:solidFill>
                <a:schemeClr val="bg1"/>
              </a:solidFill>
              <a:ln>
                <a:solidFill>
                  <a:srgbClr val="1F3A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8" name="组合 32"/>
              <p:cNvGrpSpPr>
                <a:grpSpLocks noChangeAspect="1"/>
              </p:cNvGrpSpPr>
              <p:nvPr/>
            </p:nvGrpSpPr>
            <p:grpSpPr>
              <a:xfrm>
                <a:off x="5998020" y="701871"/>
                <a:ext cx="256891" cy="468000"/>
                <a:chOff x="5399088" y="1466850"/>
                <a:chExt cx="160338" cy="292101"/>
              </a:xfrm>
              <a:solidFill>
                <a:schemeClr val="bg1"/>
              </a:solidFill>
            </p:grpSpPr>
            <p:sp>
              <p:nvSpPr>
                <p:cNvPr id="34" name="Freeform 175"/>
                <p:cNvSpPr>
                  <a:spLocks noEditPoints="1"/>
                </p:cNvSpPr>
                <p:nvPr/>
              </p:nvSpPr>
              <p:spPr bwMode="auto">
                <a:xfrm>
                  <a:off x="5435600" y="1466850"/>
                  <a:ext cx="85725" cy="206375"/>
                </a:xfrm>
                <a:custGeom>
                  <a:avLst/>
                  <a:gdLst>
                    <a:gd name="T0" fmla="*/ 0 w 39"/>
                    <a:gd name="T1" fmla="*/ 19 h 93"/>
                    <a:gd name="T2" fmla="*/ 0 w 39"/>
                    <a:gd name="T3" fmla="*/ 73 h 93"/>
                    <a:gd name="T4" fmla="*/ 20 w 39"/>
                    <a:gd name="T5" fmla="*/ 93 h 93"/>
                    <a:gd name="T6" fmla="*/ 39 w 39"/>
                    <a:gd name="T7" fmla="*/ 73 h 93"/>
                    <a:gd name="T8" fmla="*/ 39 w 39"/>
                    <a:gd name="T9" fmla="*/ 19 h 93"/>
                    <a:gd name="T10" fmla="*/ 20 w 39"/>
                    <a:gd name="T11" fmla="*/ 0 h 93"/>
                    <a:gd name="T12" fmla="*/ 0 w 39"/>
                    <a:gd name="T13" fmla="*/ 19 h 93"/>
                    <a:gd name="T14" fmla="*/ 29 w 39"/>
                    <a:gd name="T15" fmla="*/ 19 h 93"/>
                    <a:gd name="T16" fmla="*/ 29 w 39"/>
                    <a:gd name="T17" fmla="*/ 55 h 93"/>
                    <a:gd name="T18" fmla="*/ 10 w 39"/>
                    <a:gd name="T19" fmla="*/ 55 h 93"/>
                    <a:gd name="T20" fmla="*/ 10 w 39"/>
                    <a:gd name="T21" fmla="*/ 19 h 93"/>
                    <a:gd name="T22" fmla="*/ 20 w 39"/>
                    <a:gd name="T23" fmla="*/ 10 h 93"/>
                    <a:gd name="T24" fmla="*/ 29 w 39"/>
                    <a:gd name="T25" fmla="*/ 1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93">
                      <a:moveTo>
                        <a:pt x="0" y="19"/>
                      </a:moveTo>
                      <a:cubicBezTo>
                        <a:pt x="0" y="73"/>
                        <a:pt x="0" y="73"/>
                        <a:pt x="0" y="73"/>
                      </a:cubicBezTo>
                      <a:cubicBezTo>
                        <a:pt x="0" y="84"/>
                        <a:pt x="9" y="93"/>
                        <a:pt x="20" y="93"/>
                      </a:cubicBezTo>
                      <a:cubicBezTo>
                        <a:pt x="30" y="93"/>
                        <a:pt x="39" y="84"/>
                        <a:pt x="39" y="73"/>
                      </a:cubicBezTo>
                      <a:cubicBezTo>
                        <a:pt x="39" y="19"/>
                        <a:pt x="39" y="19"/>
                        <a:pt x="39" y="19"/>
                      </a:cubicBezTo>
                      <a:cubicBezTo>
                        <a:pt x="39" y="9"/>
                        <a:pt x="30" y="0"/>
                        <a:pt x="20" y="0"/>
                      </a:cubicBezTo>
                      <a:cubicBezTo>
                        <a:pt x="9" y="0"/>
                        <a:pt x="0" y="9"/>
                        <a:pt x="0" y="19"/>
                      </a:cubicBezTo>
                      <a:close/>
                      <a:moveTo>
                        <a:pt x="29" y="19"/>
                      </a:moveTo>
                      <a:cubicBezTo>
                        <a:pt x="29" y="55"/>
                        <a:pt x="29" y="55"/>
                        <a:pt x="29" y="55"/>
                      </a:cubicBezTo>
                      <a:cubicBezTo>
                        <a:pt x="10" y="55"/>
                        <a:pt x="10" y="55"/>
                        <a:pt x="10" y="55"/>
                      </a:cubicBezTo>
                      <a:cubicBezTo>
                        <a:pt x="10" y="19"/>
                        <a:pt x="10" y="19"/>
                        <a:pt x="10" y="19"/>
                      </a:cubicBezTo>
                      <a:cubicBezTo>
                        <a:pt x="10" y="14"/>
                        <a:pt x="15" y="10"/>
                        <a:pt x="20" y="10"/>
                      </a:cubicBezTo>
                      <a:cubicBezTo>
                        <a:pt x="25" y="10"/>
                        <a:pt x="29" y="14"/>
                        <a:pt x="29" y="19"/>
                      </a:cubicBezTo>
                      <a:close/>
                    </a:path>
                  </a:pathLst>
                </a:custGeom>
                <a:solidFill>
                  <a:srgbClr val="1F3A6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35" name="Freeform 176"/>
                <p:cNvSpPr/>
                <p:nvPr/>
              </p:nvSpPr>
              <p:spPr bwMode="auto">
                <a:xfrm>
                  <a:off x="5399088" y="1589088"/>
                  <a:ext cx="160338" cy="169863"/>
                </a:xfrm>
                <a:custGeom>
                  <a:avLst/>
                  <a:gdLst>
                    <a:gd name="T0" fmla="*/ 31 w 72"/>
                    <a:gd name="T1" fmla="*/ 54 h 77"/>
                    <a:gd name="T2" fmla="*/ 32 w 72"/>
                    <a:gd name="T3" fmla="*/ 56 h 77"/>
                    <a:gd name="T4" fmla="*/ 32 w 72"/>
                    <a:gd name="T5" fmla="*/ 68 h 77"/>
                    <a:gd name="T6" fmla="*/ 30 w 72"/>
                    <a:gd name="T7" fmla="*/ 70 h 77"/>
                    <a:gd name="T8" fmla="*/ 8 w 72"/>
                    <a:gd name="T9" fmla="*/ 70 h 77"/>
                    <a:gd name="T10" fmla="*/ 5 w 72"/>
                    <a:gd name="T11" fmla="*/ 72 h 77"/>
                    <a:gd name="T12" fmla="*/ 5 w 72"/>
                    <a:gd name="T13" fmla="*/ 74 h 77"/>
                    <a:gd name="T14" fmla="*/ 8 w 72"/>
                    <a:gd name="T15" fmla="*/ 77 h 77"/>
                    <a:gd name="T16" fmla="*/ 63 w 72"/>
                    <a:gd name="T17" fmla="*/ 77 h 77"/>
                    <a:gd name="T18" fmla="*/ 66 w 72"/>
                    <a:gd name="T19" fmla="*/ 74 h 77"/>
                    <a:gd name="T20" fmla="*/ 66 w 72"/>
                    <a:gd name="T21" fmla="*/ 72 h 77"/>
                    <a:gd name="T22" fmla="*/ 63 w 72"/>
                    <a:gd name="T23" fmla="*/ 70 h 77"/>
                    <a:gd name="T24" fmla="*/ 41 w 72"/>
                    <a:gd name="T25" fmla="*/ 70 h 77"/>
                    <a:gd name="T26" fmla="*/ 39 w 72"/>
                    <a:gd name="T27" fmla="*/ 68 h 77"/>
                    <a:gd name="T28" fmla="*/ 39 w 72"/>
                    <a:gd name="T29" fmla="*/ 56 h 77"/>
                    <a:gd name="T30" fmla="*/ 41 w 72"/>
                    <a:gd name="T31" fmla="*/ 54 h 77"/>
                    <a:gd name="T32" fmla="*/ 72 w 72"/>
                    <a:gd name="T33" fmla="*/ 18 h 77"/>
                    <a:gd name="T34" fmla="*/ 72 w 72"/>
                    <a:gd name="T35" fmla="*/ 3 h 77"/>
                    <a:gd name="T36" fmla="*/ 69 w 72"/>
                    <a:gd name="T37" fmla="*/ 0 h 77"/>
                    <a:gd name="T38" fmla="*/ 67 w 72"/>
                    <a:gd name="T39" fmla="*/ 0 h 77"/>
                    <a:gd name="T40" fmla="*/ 64 w 72"/>
                    <a:gd name="T41" fmla="*/ 3 h 77"/>
                    <a:gd name="T42" fmla="*/ 64 w 72"/>
                    <a:gd name="T43" fmla="*/ 18 h 77"/>
                    <a:gd name="T44" fmla="*/ 36 w 72"/>
                    <a:gd name="T45" fmla="*/ 47 h 77"/>
                    <a:gd name="T46" fmla="*/ 7 w 72"/>
                    <a:gd name="T47" fmla="*/ 18 h 77"/>
                    <a:gd name="T48" fmla="*/ 7 w 72"/>
                    <a:gd name="T49" fmla="*/ 3 h 77"/>
                    <a:gd name="T50" fmla="*/ 4 w 72"/>
                    <a:gd name="T51" fmla="*/ 0 h 77"/>
                    <a:gd name="T52" fmla="*/ 2 w 72"/>
                    <a:gd name="T53" fmla="*/ 0 h 77"/>
                    <a:gd name="T54" fmla="*/ 0 w 72"/>
                    <a:gd name="T55" fmla="*/ 3 h 77"/>
                    <a:gd name="T56" fmla="*/ 0 w 72"/>
                    <a:gd name="T57" fmla="*/ 18 h 77"/>
                    <a:gd name="T58" fmla="*/ 31 w 72"/>
                    <a:gd name="T59" fmla="*/ 54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2" h="77">
                      <a:moveTo>
                        <a:pt x="31" y="54"/>
                      </a:moveTo>
                      <a:cubicBezTo>
                        <a:pt x="31" y="54"/>
                        <a:pt x="32" y="55"/>
                        <a:pt x="32" y="56"/>
                      </a:cubicBezTo>
                      <a:cubicBezTo>
                        <a:pt x="32" y="68"/>
                        <a:pt x="32" y="68"/>
                        <a:pt x="32" y="68"/>
                      </a:cubicBezTo>
                      <a:cubicBezTo>
                        <a:pt x="32" y="69"/>
                        <a:pt x="31" y="70"/>
                        <a:pt x="30" y="70"/>
                      </a:cubicBezTo>
                      <a:cubicBezTo>
                        <a:pt x="8" y="70"/>
                        <a:pt x="8" y="70"/>
                        <a:pt x="8" y="70"/>
                      </a:cubicBezTo>
                      <a:cubicBezTo>
                        <a:pt x="7" y="70"/>
                        <a:pt x="5" y="71"/>
                        <a:pt x="5" y="72"/>
                      </a:cubicBezTo>
                      <a:cubicBezTo>
                        <a:pt x="5" y="74"/>
                        <a:pt x="5" y="74"/>
                        <a:pt x="5" y="74"/>
                      </a:cubicBezTo>
                      <a:cubicBezTo>
                        <a:pt x="5" y="75"/>
                        <a:pt x="7" y="77"/>
                        <a:pt x="8" y="77"/>
                      </a:cubicBezTo>
                      <a:cubicBezTo>
                        <a:pt x="63" y="77"/>
                        <a:pt x="63" y="77"/>
                        <a:pt x="63" y="77"/>
                      </a:cubicBezTo>
                      <a:cubicBezTo>
                        <a:pt x="65" y="77"/>
                        <a:pt x="66" y="75"/>
                        <a:pt x="66" y="74"/>
                      </a:cubicBezTo>
                      <a:cubicBezTo>
                        <a:pt x="66" y="72"/>
                        <a:pt x="66" y="72"/>
                        <a:pt x="66" y="72"/>
                      </a:cubicBezTo>
                      <a:cubicBezTo>
                        <a:pt x="66" y="71"/>
                        <a:pt x="65" y="70"/>
                        <a:pt x="63" y="70"/>
                      </a:cubicBezTo>
                      <a:cubicBezTo>
                        <a:pt x="41" y="70"/>
                        <a:pt x="41" y="70"/>
                        <a:pt x="41" y="70"/>
                      </a:cubicBezTo>
                      <a:cubicBezTo>
                        <a:pt x="40" y="70"/>
                        <a:pt x="39" y="69"/>
                        <a:pt x="39" y="68"/>
                      </a:cubicBezTo>
                      <a:cubicBezTo>
                        <a:pt x="39" y="56"/>
                        <a:pt x="39" y="56"/>
                        <a:pt x="39" y="56"/>
                      </a:cubicBezTo>
                      <a:cubicBezTo>
                        <a:pt x="39" y="55"/>
                        <a:pt x="40" y="54"/>
                        <a:pt x="41" y="54"/>
                      </a:cubicBezTo>
                      <a:cubicBezTo>
                        <a:pt x="58" y="51"/>
                        <a:pt x="72" y="36"/>
                        <a:pt x="72" y="18"/>
                      </a:cubicBezTo>
                      <a:cubicBezTo>
                        <a:pt x="72" y="3"/>
                        <a:pt x="72" y="3"/>
                        <a:pt x="72" y="3"/>
                      </a:cubicBezTo>
                      <a:cubicBezTo>
                        <a:pt x="72" y="2"/>
                        <a:pt x="70" y="0"/>
                        <a:pt x="69" y="0"/>
                      </a:cubicBezTo>
                      <a:cubicBezTo>
                        <a:pt x="67" y="0"/>
                        <a:pt x="67" y="0"/>
                        <a:pt x="67" y="0"/>
                      </a:cubicBezTo>
                      <a:cubicBezTo>
                        <a:pt x="65" y="0"/>
                        <a:pt x="64" y="2"/>
                        <a:pt x="64" y="3"/>
                      </a:cubicBezTo>
                      <a:cubicBezTo>
                        <a:pt x="64" y="18"/>
                        <a:pt x="64" y="18"/>
                        <a:pt x="64" y="18"/>
                      </a:cubicBezTo>
                      <a:cubicBezTo>
                        <a:pt x="64" y="34"/>
                        <a:pt x="51" y="47"/>
                        <a:pt x="36" y="47"/>
                      </a:cubicBezTo>
                      <a:cubicBezTo>
                        <a:pt x="20" y="47"/>
                        <a:pt x="7" y="34"/>
                        <a:pt x="7" y="18"/>
                      </a:cubicBezTo>
                      <a:cubicBezTo>
                        <a:pt x="7" y="3"/>
                        <a:pt x="7" y="3"/>
                        <a:pt x="7" y="3"/>
                      </a:cubicBezTo>
                      <a:cubicBezTo>
                        <a:pt x="7" y="2"/>
                        <a:pt x="6" y="0"/>
                        <a:pt x="4" y="0"/>
                      </a:cubicBezTo>
                      <a:cubicBezTo>
                        <a:pt x="2" y="0"/>
                        <a:pt x="2" y="0"/>
                        <a:pt x="2" y="0"/>
                      </a:cubicBezTo>
                      <a:cubicBezTo>
                        <a:pt x="1" y="0"/>
                        <a:pt x="0" y="2"/>
                        <a:pt x="0" y="3"/>
                      </a:cubicBezTo>
                      <a:cubicBezTo>
                        <a:pt x="0" y="18"/>
                        <a:pt x="0" y="18"/>
                        <a:pt x="0" y="18"/>
                      </a:cubicBezTo>
                      <a:cubicBezTo>
                        <a:pt x="0" y="36"/>
                        <a:pt x="13" y="52"/>
                        <a:pt x="31" y="54"/>
                      </a:cubicBezTo>
                      <a:close/>
                    </a:path>
                  </a:pathLst>
                </a:custGeom>
                <a:solidFill>
                  <a:srgbClr val="1F3A65"/>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grpSp>
        <p:sp>
          <p:nvSpPr>
            <p:cNvPr id="45069" name="文本框 30"/>
            <p:cNvSpPr txBox="1"/>
            <p:nvPr/>
          </p:nvSpPr>
          <p:spPr>
            <a:xfrm>
              <a:off x="6023564" y="3890031"/>
              <a:ext cx="2514600" cy="398710"/>
            </a:xfrm>
            <a:prstGeom prst="rect">
              <a:avLst/>
            </a:prstGeom>
            <a:noFill/>
            <a:ln w="9525">
              <a:noFill/>
            </a:ln>
          </p:spPr>
          <p:txBody>
            <a:bodyPr anchor="t" anchorCtr="0">
              <a:spAutoFit/>
            </a:bodyPr>
            <a:p>
              <a:r>
                <a:rPr lang="zh-CN" altLang="en-US" sz="2000" b="1" dirty="0">
                  <a:solidFill>
                    <a:schemeClr val="bg1"/>
                  </a:solidFill>
                  <a:latin typeface="微软雅黑" panose="020B0503020204020204" pitchFamily="34" charset="-122"/>
                  <a:ea typeface="微软雅黑" panose="020B0503020204020204" pitchFamily="34" charset="-122"/>
                </a:rPr>
                <a:t>答辩人：李子毅</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3222</Words>
  <Application>WPS 演示</Application>
  <PresentationFormat>全屏显示(4:3)</PresentationFormat>
  <Paragraphs>215</Paragraphs>
  <Slides>23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Arial</vt:lpstr>
      <vt:lpstr>宋体</vt:lpstr>
      <vt:lpstr>Wingdings</vt:lpstr>
      <vt:lpstr>微软雅黑</vt:lpstr>
      <vt:lpstr>Calibri</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Liam</cp:lastModifiedBy>
  <cp:revision>253</cp:revision>
  <dcterms:created xsi:type="dcterms:W3CDTF">2015-02-05T14:15:00Z</dcterms:created>
  <dcterms:modified xsi:type="dcterms:W3CDTF">2021-06-21T08:27:54Z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9C0EAFCDD2C546D586723E1F3A8C65C5</vt:lpwstr>
  </property>
  <property fmtid="{D5CDD505-2E9C-101B-9397-08002B2CF9AE}" pid="3" name="KSOProductBuildVer">
    <vt:lpwstr>2052-11.1.0.10578</vt:lpwstr>
  </property>
</Properties>
</file>