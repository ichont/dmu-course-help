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3" r:id="rId5"/>
    <p:sldId id="291" r:id="rId6"/>
    <p:sldId id="292" r:id="rId7"/>
    <p:sldId id="293" r:id="rId8"/>
    <p:sldId id="294" r:id="rId9"/>
    <p:sldId id="295" r:id="rId10"/>
    <p:sldId id="273" r:id="rId11"/>
    <p:sldId id="265" r:id="rId12"/>
    <p:sldId id="259" r:id="rId13"/>
    <p:sldId id="278" r:id="rId14"/>
    <p:sldId id="279" r:id="rId15"/>
    <p:sldId id="280" r:id="rId16"/>
    <p:sldId id="260" r:id="rId17"/>
    <p:sldId id="281" r:id="rId18"/>
    <p:sldId id="282" r:id="rId19"/>
    <p:sldId id="261" r:id="rId20"/>
    <p:sldId id="284" r:id="rId21"/>
    <p:sldId id="285" r:id="rId22"/>
    <p:sldId id="286" r:id="rId23"/>
    <p:sldId id="262" r:id="rId24"/>
    <p:sldId id="287" r:id="rId25"/>
    <p:sldId id="296" r:id="rId26"/>
    <p:sldId id="297" r:id="rId27"/>
    <p:sldId id="298" r:id="rId28"/>
    <p:sldId id="299" r:id="rId29"/>
    <p:sldId id="300" r:id="rId30"/>
    <p:sldId id="301" r:id="rId31"/>
    <p:sldId id="288" r:id="rId32"/>
    <p:sldId id="302" r:id="rId33"/>
    <p:sldId id="303" r:id="rId34"/>
    <p:sldId id="289"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软件项目实践</a:t>
            </a:r>
            <a:r>
              <a:rPr lang="en-US" altLang="zh-CN" dirty="0" smtClean="0"/>
              <a:t/>
            </a:r>
            <a:br>
              <a:rPr lang="en-US" altLang="zh-CN" dirty="0" smtClean="0"/>
            </a:br>
            <a:r>
              <a:rPr lang="zh-CN" altLang="zh-CN" dirty="0" smtClean="0"/>
              <a:t>第</a:t>
            </a:r>
            <a:r>
              <a:rPr lang="en-US" altLang="zh-CN" dirty="0"/>
              <a:t>6</a:t>
            </a:r>
            <a:r>
              <a:rPr lang="zh-CN" altLang="zh-CN" dirty="0"/>
              <a:t>章 软件项目的编码</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692241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6.1</a:t>
            </a:r>
            <a:r>
              <a:rPr lang="zh-CN" altLang="zh-CN" dirty="0"/>
              <a:t>编码</a:t>
            </a:r>
            <a:r>
              <a:rPr lang="zh-CN" altLang="zh-CN" dirty="0" smtClean="0"/>
              <a:t>概述</a:t>
            </a:r>
            <a:endParaRPr lang="en-US" altLang="zh-CN" dirty="0" smtClean="0"/>
          </a:p>
          <a:p>
            <a:r>
              <a:rPr lang="en-US" altLang="zh-CN" dirty="0"/>
              <a:t>6.2</a:t>
            </a:r>
            <a:r>
              <a:rPr lang="zh-CN" altLang="zh-CN" dirty="0" smtClean="0"/>
              <a:t>编码方法</a:t>
            </a:r>
            <a:endParaRPr lang="en-US" altLang="zh-CN" dirty="0" smtClean="0"/>
          </a:p>
          <a:p>
            <a:r>
              <a:rPr lang="en-US" altLang="zh-CN" dirty="0"/>
              <a:t>6.3</a:t>
            </a:r>
            <a:r>
              <a:rPr lang="zh-CN" altLang="zh-CN" dirty="0" smtClean="0"/>
              <a:t>编码策略</a:t>
            </a:r>
            <a:endParaRPr lang="en-US" altLang="zh-CN" dirty="0" smtClean="0"/>
          </a:p>
          <a:p>
            <a:r>
              <a:rPr lang="en-US" altLang="zh-CN" dirty="0"/>
              <a:t>6.4</a:t>
            </a:r>
            <a:r>
              <a:rPr lang="zh-CN" altLang="zh-CN" dirty="0"/>
              <a:t>程序复杂</a:t>
            </a:r>
            <a:r>
              <a:rPr lang="zh-CN" altLang="zh-CN" dirty="0" smtClean="0"/>
              <a:t>度</a:t>
            </a:r>
            <a:endParaRPr lang="en-US" altLang="zh-CN" dirty="0" smtClean="0"/>
          </a:p>
          <a:p>
            <a:r>
              <a:rPr lang="en-US" altLang="zh-CN" dirty="0"/>
              <a:t>6.5</a:t>
            </a:r>
            <a:r>
              <a:rPr lang="zh-CN" altLang="zh-CN" dirty="0"/>
              <a:t>数据库的</a:t>
            </a:r>
            <a:r>
              <a:rPr lang="zh-CN" altLang="zh-CN" dirty="0" smtClean="0"/>
              <a:t>实施</a:t>
            </a:r>
            <a:endParaRPr lang="en-US" altLang="zh-CN" dirty="0" smtClean="0"/>
          </a:p>
          <a:p>
            <a:r>
              <a:rPr lang="en-US" altLang="zh-CN" dirty="0"/>
              <a:t>6.6</a:t>
            </a:r>
            <a:r>
              <a:rPr lang="zh-CN" altLang="zh-CN" dirty="0"/>
              <a:t>编码语言、编码规范、编码</a:t>
            </a:r>
            <a:r>
              <a:rPr lang="zh-CN" altLang="zh-CN" dirty="0" smtClean="0"/>
              <a:t>文档</a:t>
            </a:r>
            <a:endParaRPr lang="en-US" altLang="zh-CN" dirty="0" smtClean="0"/>
          </a:p>
          <a:p>
            <a:r>
              <a:rPr lang="en-US" altLang="zh-CN" dirty="0"/>
              <a:t>6.7</a:t>
            </a:r>
            <a:r>
              <a:rPr lang="zh-CN" altLang="zh-CN" dirty="0"/>
              <a:t>软件重用</a:t>
            </a:r>
            <a:r>
              <a:rPr lang="zh-CN" altLang="zh-CN" dirty="0" smtClean="0"/>
              <a:t>原则</a:t>
            </a:r>
            <a:endParaRPr lang="en-US" altLang="zh-CN" dirty="0" smtClean="0"/>
          </a:p>
          <a:p>
            <a:pPr marL="0" indent="0">
              <a:buNone/>
            </a:pPr>
            <a:endParaRPr lang="en-US" altLang="zh-CN" dirty="0"/>
          </a:p>
        </p:txBody>
      </p:sp>
    </p:spTree>
    <p:extLst>
      <p:ext uri="{BB962C8B-B14F-4D97-AF65-F5344CB8AC3E}">
        <p14:creationId xmlns:p14="http://schemas.microsoft.com/office/powerpoint/2010/main" val="2362286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a:t>
            </a:r>
            <a:r>
              <a:rPr lang="zh-CN" altLang="zh-CN" dirty="0"/>
              <a:t>编码</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程序编码是设计的继续，将软件设计的结果翻译成用某种程序设计语言描述的源代码。</a:t>
            </a:r>
          </a:p>
          <a:p>
            <a:r>
              <a:rPr lang="zh-CN" altLang="zh-CN" dirty="0"/>
              <a:t>程序编码涉及到方法、工具和过程。</a:t>
            </a:r>
          </a:p>
          <a:p>
            <a:r>
              <a:rPr lang="zh-CN" altLang="zh-CN" dirty="0"/>
              <a:t>程序设计风格和程序设计语言的特性会深刻地影响软件的质量和可维护性。</a:t>
            </a:r>
          </a:p>
          <a:p>
            <a:r>
              <a:rPr lang="zh-CN" altLang="zh-CN" dirty="0"/>
              <a:t>要求源程序具有良好的结构性和设计风格。</a:t>
            </a:r>
            <a:endParaRPr lang="zh-CN" altLang="en-US" dirty="0"/>
          </a:p>
        </p:txBody>
      </p:sp>
    </p:spTree>
    <p:extLst>
      <p:ext uri="{BB962C8B-B14F-4D97-AF65-F5344CB8AC3E}">
        <p14:creationId xmlns:p14="http://schemas.microsoft.com/office/powerpoint/2010/main" val="3753227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zh-CN" altLang="zh-CN" dirty="0"/>
              <a:t>结构化编程方法、面向对象的编程方法。</a:t>
            </a:r>
            <a:endParaRPr lang="zh-CN" altLang="en-US" dirty="0"/>
          </a:p>
        </p:txBody>
      </p:sp>
    </p:spTree>
    <p:extLst>
      <p:ext uri="{BB962C8B-B14F-4D97-AF65-F5344CB8AC3E}">
        <p14:creationId xmlns:p14="http://schemas.microsoft.com/office/powerpoint/2010/main" val="3870762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en-US" altLang="zh-CN" b="1" dirty="0"/>
              <a:t>6.2.1</a:t>
            </a:r>
            <a:r>
              <a:rPr lang="zh-CN" altLang="zh-CN" b="1" dirty="0"/>
              <a:t>结构化编程方法</a:t>
            </a:r>
          </a:p>
          <a:p>
            <a:r>
              <a:rPr lang="zh-CN" altLang="zh-CN" dirty="0"/>
              <a:t>控制结构</a:t>
            </a:r>
          </a:p>
          <a:p>
            <a:r>
              <a:rPr lang="zh-CN" altLang="zh-CN" dirty="0"/>
              <a:t>算法</a:t>
            </a:r>
          </a:p>
          <a:p>
            <a:r>
              <a:rPr lang="zh-CN" altLang="zh-CN" dirty="0"/>
              <a:t>数据结构</a:t>
            </a:r>
          </a:p>
          <a:p>
            <a:endParaRPr lang="zh-CN" altLang="en-US" dirty="0"/>
          </a:p>
        </p:txBody>
      </p:sp>
    </p:spTree>
    <p:extLst>
      <p:ext uri="{BB962C8B-B14F-4D97-AF65-F5344CB8AC3E}">
        <p14:creationId xmlns:p14="http://schemas.microsoft.com/office/powerpoint/2010/main" val="2953322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en-US" altLang="zh-CN" b="1" dirty="0"/>
              <a:t>6.2.2</a:t>
            </a:r>
            <a:r>
              <a:rPr lang="zh-CN" altLang="zh-CN" b="1" dirty="0"/>
              <a:t>面向对象的编程方法</a:t>
            </a:r>
          </a:p>
          <a:p>
            <a:r>
              <a:rPr lang="zh-CN" altLang="zh-CN" dirty="0"/>
              <a:t>面向对象的编程语言最大的特色就是可以编写自己所需的数据类型。</a:t>
            </a:r>
          </a:p>
          <a:p>
            <a:r>
              <a:rPr lang="en-US" altLang="zh-CN" dirty="0"/>
              <a:t> </a:t>
            </a:r>
            <a:endParaRPr lang="zh-CN" altLang="zh-CN" dirty="0"/>
          </a:p>
          <a:p>
            <a:r>
              <a:rPr lang="zh-CN" altLang="zh-CN" dirty="0"/>
              <a:t>类、对象、属性、方法。</a:t>
            </a:r>
          </a:p>
          <a:p>
            <a:r>
              <a:rPr lang="zh-CN" altLang="zh-CN" dirty="0"/>
              <a:t>私有的（</a:t>
            </a:r>
            <a:r>
              <a:rPr lang="en-US" altLang="zh-CN" dirty="0"/>
              <a:t>private</a:t>
            </a:r>
            <a:r>
              <a:rPr lang="zh-CN" altLang="zh-CN" dirty="0"/>
              <a:t>）、公共的</a:t>
            </a:r>
            <a:r>
              <a:rPr lang="en-US" altLang="zh-CN" dirty="0"/>
              <a:t>(public)</a:t>
            </a:r>
            <a:r>
              <a:rPr lang="zh-CN" altLang="zh-CN" dirty="0"/>
              <a:t>、受保护</a:t>
            </a:r>
            <a:r>
              <a:rPr lang="en-US" altLang="zh-CN" dirty="0"/>
              <a:t>(protected)</a:t>
            </a:r>
            <a:r>
              <a:rPr lang="zh-CN" altLang="zh-CN" dirty="0"/>
              <a:t>的。</a:t>
            </a:r>
          </a:p>
        </p:txBody>
      </p:sp>
    </p:spTree>
    <p:extLst>
      <p:ext uri="{BB962C8B-B14F-4D97-AF65-F5344CB8AC3E}">
        <p14:creationId xmlns:p14="http://schemas.microsoft.com/office/powerpoint/2010/main" val="295332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）提高可重用性：</a:t>
            </a:r>
          </a:p>
          <a:p>
            <a:r>
              <a:rPr lang="zh-CN" altLang="zh-CN" dirty="0"/>
              <a:t>（</a:t>
            </a:r>
            <a:r>
              <a:rPr lang="en-US" altLang="zh-CN" dirty="0"/>
              <a:t>1</a:t>
            </a:r>
            <a:r>
              <a:rPr lang="zh-CN" altLang="zh-CN" dirty="0"/>
              <a:t>）提高方法的内聚</a:t>
            </a:r>
          </a:p>
          <a:p>
            <a:r>
              <a:rPr lang="zh-CN" altLang="zh-CN" dirty="0"/>
              <a:t>（</a:t>
            </a:r>
            <a:r>
              <a:rPr lang="en-US" altLang="zh-CN" dirty="0"/>
              <a:t>2</a:t>
            </a:r>
            <a:r>
              <a:rPr lang="zh-CN" altLang="zh-CN" dirty="0"/>
              <a:t>）减少方法的规模</a:t>
            </a:r>
          </a:p>
          <a:p>
            <a:r>
              <a:rPr lang="zh-CN" altLang="zh-CN" dirty="0"/>
              <a:t>（</a:t>
            </a:r>
            <a:r>
              <a:rPr lang="en-US" altLang="zh-CN" dirty="0"/>
              <a:t>3</a:t>
            </a:r>
            <a:r>
              <a:rPr lang="zh-CN" altLang="zh-CN" dirty="0"/>
              <a:t>）保持方法的一致性</a:t>
            </a:r>
          </a:p>
          <a:p>
            <a:r>
              <a:rPr lang="zh-CN" altLang="zh-CN" dirty="0"/>
              <a:t>（</a:t>
            </a:r>
            <a:r>
              <a:rPr lang="en-US" altLang="zh-CN" dirty="0"/>
              <a:t>4</a:t>
            </a:r>
            <a:r>
              <a:rPr lang="zh-CN" altLang="zh-CN" dirty="0"/>
              <a:t>）把策略与实现分开</a:t>
            </a:r>
          </a:p>
          <a:p>
            <a:r>
              <a:rPr lang="zh-CN" altLang="zh-CN" dirty="0"/>
              <a:t>（</a:t>
            </a:r>
            <a:r>
              <a:rPr lang="en-US" altLang="zh-CN" dirty="0"/>
              <a:t>5</a:t>
            </a:r>
            <a:r>
              <a:rPr lang="zh-CN" altLang="zh-CN" dirty="0"/>
              <a:t>）全面覆盖</a:t>
            </a:r>
          </a:p>
          <a:p>
            <a:r>
              <a:rPr lang="zh-CN" altLang="zh-CN" dirty="0"/>
              <a:t>（</a:t>
            </a:r>
            <a:r>
              <a:rPr lang="en-US" altLang="zh-CN" dirty="0"/>
              <a:t>6</a:t>
            </a:r>
            <a:r>
              <a:rPr lang="zh-CN" altLang="zh-CN" dirty="0"/>
              <a:t>）尽量不使用全局信息</a:t>
            </a:r>
          </a:p>
          <a:p>
            <a:r>
              <a:rPr lang="zh-CN" altLang="zh-CN" dirty="0"/>
              <a:t>（</a:t>
            </a:r>
            <a:r>
              <a:rPr lang="en-US" altLang="zh-CN" dirty="0"/>
              <a:t>7</a:t>
            </a:r>
            <a:r>
              <a:rPr lang="zh-CN" altLang="zh-CN" dirty="0"/>
              <a:t>）利用继承机制</a:t>
            </a:r>
          </a:p>
        </p:txBody>
      </p:sp>
    </p:spTree>
    <p:extLst>
      <p:ext uri="{BB962C8B-B14F-4D97-AF65-F5344CB8AC3E}">
        <p14:creationId xmlns:p14="http://schemas.microsoft.com/office/powerpoint/2010/main" val="2953322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en-US" altLang="zh-CN" dirty="0"/>
              <a:t>2</a:t>
            </a:r>
            <a:r>
              <a:rPr lang="zh-CN" altLang="zh-CN" dirty="0"/>
              <a:t>） 提高可扩充性</a:t>
            </a:r>
          </a:p>
          <a:p>
            <a:r>
              <a:rPr lang="zh-CN" altLang="zh-CN" dirty="0"/>
              <a:t>（</a:t>
            </a:r>
            <a:r>
              <a:rPr lang="en-US" altLang="zh-CN" dirty="0"/>
              <a:t>1</a:t>
            </a:r>
            <a:r>
              <a:rPr lang="zh-CN" altLang="zh-CN" dirty="0"/>
              <a:t>）封装实现策略</a:t>
            </a:r>
          </a:p>
          <a:p>
            <a:r>
              <a:rPr lang="zh-CN" altLang="zh-CN" dirty="0"/>
              <a:t>（</a:t>
            </a:r>
            <a:r>
              <a:rPr lang="en-US" altLang="zh-CN" dirty="0"/>
              <a:t>2</a:t>
            </a:r>
            <a:r>
              <a:rPr lang="zh-CN" altLang="zh-CN" dirty="0"/>
              <a:t>）不要用一个方法遍历多条关联链</a:t>
            </a:r>
          </a:p>
          <a:p>
            <a:r>
              <a:rPr lang="zh-CN" altLang="zh-CN" dirty="0"/>
              <a:t>（</a:t>
            </a:r>
            <a:r>
              <a:rPr lang="en-US" altLang="zh-CN" dirty="0"/>
              <a:t>3</a:t>
            </a:r>
            <a:r>
              <a:rPr lang="zh-CN" altLang="zh-CN" dirty="0"/>
              <a:t>）避免使用多分支语句</a:t>
            </a:r>
          </a:p>
          <a:p>
            <a:r>
              <a:rPr lang="zh-CN" altLang="zh-CN" dirty="0"/>
              <a:t>（</a:t>
            </a:r>
            <a:r>
              <a:rPr lang="en-US" altLang="zh-CN" dirty="0"/>
              <a:t>4</a:t>
            </a:r>
            <a:r>
              <a:rPr lang="zh-CN" altLang="zh-CN" dirty="0"/>
              <a:t>）精心确定公有方法</a:t>
            </a:r>
          </a:p>
        </p:txBody>
      </p:sp>
    </p:spTree>
    <p:extLst>
      <p:ext uri="{BB962C8B-B14F-4D97-AF65-F5344CB8AC3E}">
        <p14:creationId xmlns:p14="http://schemas.microsoft.com/office/powerpoint/2010/main" val="811811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a:t>
            </a:r>
            <a:r>
              <a:rPr lang="zh-CN" altLang="zh-CN" dirty="0" smtClean="0"/>
              <a:t>编码方法</a:t>
            </a:r>
            <a:endParaRPr lang="zh-CN" altLang="en-US" dirty="0"/>
          </a:p>
        </p:txBody>
      </p:sp>
      <p:sp>
        <p:nvSpPr>
          <p:cNvPr id="3" name="内容占位符 2"/>
          <p:cNvSpPr>
            <a:spLocks noGrp="1"/>
          </p:cNvSpPr>
          <p:nvPr>
            <p:ph idx="1"/>
          </p:nvPr>
        </p:nvSpPr>
        <p:spPr/>
        <p:txBody>
          <a:bodyPr/>
          <a:lstStyle/>
          <a:p>
            <a:r>
              <a:rPr lang="en-US" altLang="zh-CN" dirty="0"/>
              <a:t>3</a:t>
            </a:r>
            <a:r>
              <a:rPr lang="zh-CN" altLang="zh-CN" dirty="0"/>
              <a:t>） 提高健壮性</a:t>
            </a:r>
          </a:p>
          <a:p>
            <a:r>
              <a:rPr lang="zh-CN" altLang="zh-CN" dirty="0"/>
              <a:t>（</a:t>
            </a:r>
            <a:r>
              <a:rPr lang="en-US" altLang="zh-CN" dirty="0"/>
              <a:t>1</a:t>
            </a:r>
            <a:r>
              <a:rPr lang="zh-CN" altLang="zh-CN" dirty="0"/>
              <a:t>）预防用户的操作错误</a:t>
            </a:r>
          </a:p>
          <a:p>
            <a:r>
              <a:rPr lang="zh-CN" altLang="zh-CN" dirty="0"/>
              <a:t>（</a:t>
            </a:r>
            <a:r>
              <a:rPr lang="en-US" altLang="zh-CN" dirty="0"/>
              <a:t>2</a:t>
            </a:r>
            <a:r>
              <a:rPr lang="zh-CN" altLang="zh-CN" dirty="0"/>
              <a:t>）检查参数的合法性</a:t>
            </a:r>
          </a:p>
          <a:p>
            <a:r>
              <a:rPr lang="zh-CN" altLang="zh-CN" dirty="0"/>
              <a:t>（</a:t>
            </a:r>
            <a:r>
              <a:rPr lang="en-US" altLang="zh-CN" dirty="0"/>
              <a:t>3</a:t>
            </a:r>
            <a:r>
              <a:rPr lang="zh-CN" altLang="zh-CN" dirty="0"/>
              <a:t>）不要预先确定限制条件</a:t>
            </a:r>
          </a:p>
          <a:p>
            <a:r>
              <a:rPr lang="zh-CN" altLang="zh-CN" dirty="0"/>
              <a:t>（</a:t>
            </a:r>
            <a:r>
              <a:rPr lang="en-US" altLang="zh-CN" dirty="0"/>
              <a:t>4</a:t>
            </a:r>
            <a:r>
              <a:rPr lang="zh-CN" altLang="zh-CN" dirty="0"/>
              <a:t>）先测试后优化</a:t>
            </a:r>
          </a:p>
        </p:txBody>
      </p:sp>
    </p:spTree>
    <p:extLst>
      <p:ext uri="{BB962C8B-B14F-4D97-AF65-F5344CB8AC3E}">
        <p14:creationId xmlns:p14="http://schemas.microsoft.com/office/powerpoint/2010/main" val="811811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a:t>
            </a:r>
            <a:r>
              <a:rPr lang="zh-CN" altLang="zh-CN" dirty="0" smtClean="0"/>
              <a:t>编码策略</a:t>
            </a:r>
            <a:endParaRPr lang="zh-CN" altLang="en-US" dirty="0"/>
          </a:p>
        </p:txBody>
      </p:sp>
      <p:sp>
        <p:nvSpPr>
          <p:cNvPr id="3" name="内容占位符 2"/>
          <p:cNvSpPr>
            <a:spLocks noGrp="1"/>
          </p:cNvSpPr>
          <p:nvPr>
            <p:ph idx="1"/>
          </p:nvPr>
        </p:nvSpPr>
        <p:spPr/>
        <p:txBody>
          <a:bodyPr/>
          <a:lstStyle/>
          <a:p>
            <a:r>
              <a:rPr lang="zh-CN" altLang="zh-CN" dirty="0"/>
              <a:t>自顶向下、自底向上、自顶向下和自底向上相结合、线程。</a:t>
            </a:r>
          </a:p>
          <a:p>
            <a:endParaRPr lang="zh-CN" altLang="en-US" dirty="0"/>
          </a:p>
        </p:txBody>
      </p:sp>
    </p:spTree>
    <p:extLst>
      <p:ext uri="{BB962C8B-B14F-4D97-AF65-F5344CB8AC3E}">
        <p14:creationId xmlns:p14="http://schemas.microsoft.com/office/powerpoint/2010/main" val="1270693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a:t>
            </a:r>
            <a:r>
              <a:rPr lang="zh-CN" altLang="zh-CN" dirty="0"/>
              <a:t>程序复杂</a:t>
            </a:r>
            <a:r>
              <a:rPr lang="zh-CN" altLang="zh-CN" dirty="0" smtClean="0"/>
              <a:t>度</a:t>
            </a:r>
            <a:endParaRPr lang="zh-CN" altLang="en-US" dirty="0"/>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1630744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a:p>
        </p:txBody>
      </p:sp>
      <p:pic>
        <p:nvPicPr>
          <p:cNvPr id="102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381" y="1660832"/>
            <a:ext cx="9046548" cy="5067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18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a:p>
        </p:txBody>
      </p:sp>
      <p:pic>
        <p:nvPicPr>
          <p:cNvPr id="205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626" y="1448927"/>
            <a:ext cx="8296627" cy="467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087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a:p>
        </p:txBody>
      </p:sp>
      <p:pic>
        <p:nvPicPr>
          <p:cNvPr id="307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634" y="1599278"/>
            <a:ext cx="7792934" cy="438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08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652" y="1636712"/>
            <a:ext cx="8191141" cy="461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087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51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110" y="1717265"/>
            <a:ext cx="8632037" cy="4860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1467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469" y="1701902"/>
            <a:ext cx="10321317" cy="4551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378515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a:t>
            </a:r>
            <a:r>
              <a:rPr lang="zh-CN" altLang="zh-CN" dirty="0"/>
              <a:t>数据库的</a:t>
            </a:r>
            <a:r>
              <a:rPr lang="zh-CN" altLang="zh-CN" dirty="0" smtClean="0"/>
              <a:t>实施</a:t>
            </a:r>
            <a:endParaRPr lang="zh-CN" altLang="en-US" dirty="0"/>
          </a:p>
        </p:txBody>
      </p:sp>
      <p:sp>
        <p:nvSpPr>
          <p:cNvPr id="3" name="内容占位符 2"/>
          <p:cNvSpPr>
            <a:spLocks noGrp="1"/>
          </p:cNvSpPr>
          <p:nvPr>
            <p:ph idx="1"/>
          </p:nvPr>
        </p:nvSpPr>
        <p:spPr/>
        <p:txBody>
          <a:bodyPr/>
          <a:lstStyle/>
          <a:p>
            <a:r>
              <a:rPr lang="zh-CN" altLang="zh-CN" dirty="0"/>
              <a:t>参考：</a:t>
            </a:r>
          </a:p>
          <a:p>
            <a:r>
              <a:rPr lang="zh-CN" altLang="zh-CN" dirty="0"/>
              <a:t>《</a:t>
            </a:r>
            <a:r>
              <a:rPr lang="en-US" altLang="zh-CN" dirty="0"/>
              <a:t>X1</a:t>
            </a:r>
            <a:r>
              <a:rPr lang="zh-CN" altLang="zh-CN" dirty="0"/>
              <a:t>数据库物理结构设计》</a:t>
            </a:r>
          </a:p>
          <a:p>
            <a:r>
              <a:rPr lang="zh-CN" altLang="zh-CN" dirty="0"/>
              <a:t>《</a:t>
            </a:r>
            <a:r>
              <a:rPr lang="en-US" altLang="zh-CN" dirty="0"/>
              <a:t>X2</a:t>
            </a:r>
            <a:r>
              <a:rPr lang="zh-CN" altLang="zh-CN" dirty="0"/>
              <a:t>数据库建表的脚本</a:t>
            </a:r>
            <a:r>
              <a:rPr lang="en-US" altLang="zh-CN" dirty="0"/>
              <a:t>+</a:t>
            </a:r>
            <a:r>
              <a:rPr lang="zh-CN" altLang="zh-CN" dirty="0"/>
              <a:t>一个用户</a:t>
            </a:r>
            <a:r>
              <a:rPr lang="en-US" altLang="zh-CN" dirty="0"/>
              <a:t>+</a:t>
            </a:r>
            <a:r>
              <a:rPr lang="zh-CN" altLang="zh-CN" dirty="0"/>
              <a:t>存储过程脚本》</a:t>
            </a:r>
          </a:p>
          <a:p>
            <a:endParaRPr lang="zh-CN" altLang="en-US" dirty="0"/>
          </a:p>
        </p:txBody>
      </p:sp>
    </p:spTree>
    <p:extLst>
      <p:ext uri="{BB962C8B-B14F-4D97-AF65-F5344CB8AC3E}">
        <p14:creationId xmlns:p14="http://schemas.microsoft.com/office/powerpoint/2010/main" val="2378515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a:t>
            </a:r>
            <a:r>
              <a:rPr lang="zh-CN" altLang="zh-CN" dirty="0"/>
              <a:t>编码语言、编码规范、编码</a:t>
            </a:r>
            <a:r>
              <a:rPr lang="zh-CN" altLang="zh-CN" dirty="0" smtClean="0"/>
              <a:t>文档</a:t>
            </a:r>
            <a:endParaRPr lang="zh-CN" altLang="en-US" dirty="0"/>
          </a:p>
        </p:txBody>
      </p:sp>
      <p:sp>
        <p:nvSpPr>
          <p:cNvPr id="3" name="内容占位符 2"/>
          <p:cNvSpPr>
            <a:spLocks noGrp="1"/>
          </p:cNvSpPr>
          <p:nvPr>
            <p:ph idx="1"/>
          </p:nvPr>
        </p:nvSpPr>
        <p:spPr/>
        <p:txBody>
          <a:bodyPr/>
          <a:lstStyle/>
          <a:p>
            <a:r>
              <a:rPr lang="zh-CN" altLang="zh-CN" dirty="0"/>
              <a:t>标准是建立起来和必须遵守的规则。</a:t>
            </a:r>
          </a:p>
          <a:p>
            <a:r>
              <a:rPr lang="zh-CN" altLang="zh-CN" dirty="0"/>
              <a:t>规范是建议最佳做法，推荐更好方式。</a:t>
            </a:r>
          </a:p>
          <a:p>
            <a:r>
              <a:rPr lang="zh-CN" altLang="zh-CN" dirty="0"/>
              <a:t>例如：注释、变量、文件、目录、约定。</a:t>
            </a:r>
          </a:p>
          <a:p>
            <a:r>
              <a:rPr lang="en-US" altLang="zh-CN" dirty="0"/>
              <a:t> </a:t>
            </a:r>
            <a:endParaRPr lang="zh-CN" altLang="zh-CN" dirty="0"/>
          </a:p>
          <a:p>
            <a:r>
              <a:rPr lang="zh-CN" altLang="zh-CN" dirty="0"/>
              <a:t>程序头注释</a:t>
            </a:r>
          </a:p>
          <a:p>
            <a:r>
              <a:rPr lang="zh-CN" altLang="zh-CN" dirty="0"/>
              <a:t>函数头注释</a:t>
            </a:r>
          </a:p>
          <a:p>
            <a:r>
              <a:rPr lang="zh-CN" altLang="zh-CN" dirty="0"/>
              <a:t>函数注释</a:t>
            </a:r>
          </a:p>
          <a:p>
            <a:endParaRPr lang="zh-CN" altLang="en-US" dirty="0"/>
          </a:p>
        </p:txBody>
      </p:sp>
    </p:spTree>
    <p:extLst>
      <p:ext uri="{BB962C8B-B14F-4D97-AF65-F5344CB8AC3E}">
        <p14:creationId xmlns:p14="http://schemas.microsoft.com/office/powerpoint/2010/main" val="4193099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a:t>
            </a:r>
            <a:r>
              <a:rPr lang="zh-CN" altLang="zh-CN" dirty="0"/>
              <a:t>编码语言、编码规范、编码</a:t>
            </a:r>
            <a:r>
              <a:rPr lang="zh-CN" altLang="zh-CN" dirty="0" smtClean="0"/>
              <a:t>文档</a:t>
            </a:r>
            <a:endParaRPr lang="zh-CN" altLang="en-US" dirty="0"/>
          </a:p>
        </p:txBody>
      </p:sp>
      <p:sp>
        <p:nvSpPr>
          <p:cNvPr id="3" name="内容占位符 2"/>
          <p:cNvSpPr>
            <a:spLocks noGrp="1"/>
          </p:cNvSpPr>
          <p:nvPr>
            <p:ph idx="1"/>
          </p:nvPr>
        </p:nvSpPr>
        <p:spPr/>
        <p:txBody>
          <a:bodyPr>
            <a:normAutofit/>
          </a:bodyPr>
          <a:lstStyle/>
          <a:p>
            <a:r>
              <a:rPr lang="en-US" altLang="zh-CN" sz="2400" b="1" dirty="0"/>
              <a:t>6.6.1</a:t>
            </a:r>
            <a:r>
              <a:rPr lang="zh-CN" altLang="zh-CN" sz="2400" b="1" dirty="0"/>
              <a:t>编码规范</a:t>
            </a:r>
          </a:p>
          <a:p>
            <a:r>
              <a:rPr lang="en-US" altLang="zh-CN" sz="2400" dirty="0"/>
              <a:t> </a:t>
            </a:r>
            <a:endParaRPr lang="zh-CN" altLang="zh-CN" sz="2400" dirty="0"/>
          </a:p>
          <a:p>
            <a:r>
              <a:rPr lang="en-US" altLang="zh-CN" sz="2400" dirty="0"/>
              <a:t>1</a:t>
            </a:r>
            <a:r>
              <a:rPr lang="zh-CN" altLang="zh-CN" sz="2400" dirty="0"/>
              <a:t>）源程序文档化</a:t>
            </a:r>
          </a:p>
          <a:p>
            <a:r>
              <a:rPr lang="zh-CN" altLang="zh-CN" sz="2400" dirty="0"/>
              <a:t>程序内部的文档包括恰当的标识符、适当的注释和程序的视觉组织等。</a:t>
            </a:r>
          </a:p>
          <a:p>
            <a:r>
              <a:rPr lang="zh-CN" altLang="zh-CN" sz="2400" dirty="0"/>
              <a:t>标识符应选取含义鲜明的名字，有一定实际意义，名字不是越长越好，必要时采用缩写。</a:t>
            </a:r>
          </a:p>
          <a:p>
            <a:r>
              <a:rPr lang="zh-CN" altLang="zh-CN" sz="2400" dirty="0"/>
              <a:t>注释作为程序员与读者之间通信的重要手段决不是可有可无的，分为序言性注释和功能性注释。</a:t>
            </a:r>
          </a:p>
          <a:p>
            <a:r>
              <a:rPr lang="zh-CN" altLang="zh-CN" sz="2400" dirty="0"/>
              <a:t>利用空格、空行和移行，提高程序的可视化程度。</a:t>
            </a:r>
          </a:p>
          <a:p>
            <a:endParaRPr lang="zh-CN" altLang="en-US" sz="2400" dirty="0"/>
          </a:p>
        </p:txBody>
      </p:sp>
    </p:spTree>
    <p:extLst>
      <p:ext uri="{BB962C8B-B14F-4D97-AF65-F5344CB8AC3E}">
        <p14:creationId xmlns:p14="http://schemas.microsoft.com/office/powerpoint/2010/main" val="4226727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a:t>
            </a:r>
            <a:r>
              <a:rPr lang="zh-CN" altLang="zh-CN" dirty="0"/>
              <a:t>编码语言、编码规范、编码</a:t>
            </a:r>
            <a:r>
              <a:rPr lang="zh-CN" altLang="zh-CN" dirty="0" smtClean="0"/>
              <a:t>文档</a:t>
            </a:r>
            <a:endParaRPr lang="zh-CN" altLang="en-US" dirty="0"/>
          </a:p>
        </p:txBody>
      </p:sp>
      <p:sp>
        <p:nvSpPr>
          <p:cNvPr id="3" name="内容占位符 2"/>
          <p:cNvSpPr>
            <a:spLocks noGrp="1"/>
          </p:cNvSpPr>
          <p:nvPr>
            <p:ph idx="1"/>
          </p:nvPr>
        </p:nvSpPr>
        <p:spPr/>
        <p:txBody>
          <a:bodyPr>
            <a:normAutofit/>
          </a:bodyPr>
          <a:lstStyle/>
          <a:p>
            <a:r>
              <a:rPr lang="en-US" altLang="zh-CN" sz="2400" dirty="0"/>
              <a:t>2</a:t>
            </a:r>
            <a:r>
              <a:rPr lang="zh-CN" altLang="zh-CN" sz="2400" dirty="0"/>
              <a:t>）数据说明</a:t>
            </a:r>
          </a:p>
          <a:p>
            <a:r>
              <a:rPr lang="zh-CN" altLang="zh-CN" sz="2400" dirty="0"/>
              <a:t>设计阶段已经确定了数据结构的组织及其复杂性；在编写程序时，则需要注意数据说明的风格。</a:t>
            </a:r>
          </a:p>
          <a:p>
            <a:r>
              <a:rPr lang="zh-CN" altLang="zh-CN" sz="2400" dirty="0"/>
              <a:t>为了使程序中数据说明更易于理解和维护，必须注意以下几点：</a:t>
            </a:r>
          </a:p>
          <a:p>
            <a:r>
              <a:rPr lang="zh-CN" altLang="zh-CN" sz="2400" dirty="0"/>
              <a:t>数据说明的次序应当规范化；</a:t>
            </a:r>
          </a:p>
          <a:p>
            <a:r>
              <a:rPr lang="zh-CN" altLang="zh-CN" sz="2400" dirty="0"/>
              <a:t>说明语句中变量安排有序化；</a:t>
            </a:r>
          </a:p>
          <a:p>
            <a:r>
              <a:rPr lang="zh-CN" altLang="zh-CN" sz="2400" dirty="0"/>
              <a:t>使用注释说明复杂数据结构。</a:t>
            </a:r>
          </a:p>
          <a:p>
            <a:endParaRPr lang="zh-CN" altLang="en-US" sz="2400" dirty="0"/>
          </a:p>
        </p:txBody>
      </p:sp>
    </p:spTree>
    <p:extLst>
      <p:ext uri="{BB962C8B-B14F-4D97-AF65-F5344CB8AC3E}">
        <p14:creationId xmlns:p14="http://schemas.microsoft.com/office/powerpoint/2010/main" val="4226727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4962" y="-176981"/>
            <a:ext cx="10515600" cy="1325563"/>
          </a:xfrm>
        </p:spPr>
        <p:txBody>
          <a:bodyPr/>
          <a:lstStyle/>
          <a:p>
            <a:r>
              <a:rPr lang="en-US" altLang="zh-CN" dirty="0"/>
              <a:t>6.6</a:t>
            </a:r>
            <a:r>
              <a:rPr lang="zh-CN" altLang="zh-CN" dirty="0"/>
              <a:t>编码语言、编码规范、编码</a:t>
            </a:r>
            <a:r>
              <a:rPr lang="zh-CN" altLang="zh-CN" dirty="0" smtClean="0"/>
              <a:t>文档</a:t>
            </a:r>
            <a:endParaRPr lang="zh-CN" altLang="en-US" dirty="0"/>
          </a:p>
        </p:txBody>
      </p:sp>
      <p:sp>
        <p:nvSpPr>
          <p:cNvPr id="3" name="内容占位符 2"/>
          <p:cNvSpPr>
            <a:spLocks noGrp="1"/>
          </p:cNvSpPr>
          <p:nvPr>
            <p:ph idx="1"/>
          </p:nvPr>
        </p:nvSpPr>
        <p:spPr>
          <a:xfrm>
            <a:off x="720212" y="675254"/>
            <a:ext cx="10515600" cy="4351338"/>
          </a:xfrm>
        </p:spPr>
        <p:txBody>
          <a:bodyPr>
            <a:noAutofit/>
          </a:bodyPr>
          <a:lstStyle/>
          <a:p>
            <a:r>
              <a:rPr lang="en-US" altLang="zh-CN" sz="2000" dirty="0"/>
              <a:t>3</a:t>
            </a:r>
            <a:r>
              <a:rPr lang="zh-CN" altLang="zh-CN" sz="2000" dirty="0"/>
              <a:t>）语句构造</a:t>
            </a:r>
          </a:p>
          <a:p>
            <a:r>
              <a:rPr lang="zh-CN" altLang="zh-CN" sz="2000" dirty="0"/>
              <a:t>设计阶段确定软件的逻辑结构，编码阶段的任务是构造语句。语句构造力求简单、直接，不能为片面追求效率而使语句复杂化。</a:t>
            </a:r>
          </a:p>
          <a:p>
            <a:r>
              <a:rPr lang="zh-CN" altLang="zh-CN" sz="2000" dirty="0"/>
              <a:t>（</a:t>
            </a:r>
            <a:r>
              <a:rPr lang="en-US" altLang="zh-CN" sz="2000" dirty="0"/>
              <a:t>1</a:t>
            </a:r>
            <a:r>
              <a:rPr lang="zh-CN" altLang="zh-CN" sz="2000" dirty="0"/>
              <a:t>）在一行内只写一条语句</a:t>
            </a:r>
          </a:p>
          <a:p>
            <a:r>
              <a:rPr lang="en-US" altLang="zh-CN" sz="2000" dirty="0"/>
              <a:t>  </a:t>
            </a:r>
            <a:r>
              <a:rPr lang="zh-CN" altLang="zh-CN" sz="2000" dirty="0"/>
              <a:t>采取适当的移行格式，使程序的逻辑和功能变得更加明确。</a:t>
            </a:r>
          </a:p>
          <a:p>
            <a:r>
              <a:rPr lang="zh-CN" altLang="zh-CN" sz="2000" dirty="0"/>
              <a:t>（</a:t>
            </a:r>
            <a:r>
              <a:rPr lang="en-US" altLang="zh-CN" sz="2000" dirty="0"/>
              <a:t>2</a:t>
            </a:r>
            <a:r>
              <a:rPr lang="zh-CN" altLang="zh-CN" sz="2000" dirty="0"/>
              <a:t>）程序编写首先应当考虑清晰性</a:t>
            </a:r>
          </a:p>
          <a:p>
            <a:r>
              <a:rPr lang="en-US" altLang="zh-CN" sz="2000" dirty="0"/>
              <a:t>   </a:t>
            </a:r>
            <a:r>
              <a:rPr lang="zh-CN" altLang="zh-CN" sz="2000" dirty="0"/>
              <a:t>不要刻意追求技巧性。</a:t>
            </a:r>
          </a:p>
          <a:p>
            <a:r>
              <a:rPr lang="zh-CN" altLang="zh-CN" sz="2000" dirty="0"/>
              <a:t>（</a:t>
            </a:r>
            <a:r>
              <a:rPr lang="en-US" altLang="zh-CN" sz="2000" dirty="0"/>
              <a:t>3</a:t>
            </a:r>
            <a:r>
              <a:rPr lang="zh-CN" altLang="zh-CN" sz="2000" dirty="0"/>
              <a:t>）程序要直截了当地说明程序员的用意</a:t>
            </a:r>
          </a:p>
          <a:p>
            <a:r>
              <a:rPr lang="en-US" altLang="zh-CN" sz="2000" dirty="0"/>
              <a:t>   </a:t>
            </a:r>
            <a:r>
              <a:rPr lang="zh-CN" altLang="zh-CN" sz="2000" dirty="0"/>
              <a:t>程序要简单清楚，直截了当地说明用意。</a:t>
            </a:r>
          </a:p>
          <a:p>
            <a:r>
              <a:rPr lang="zh-CN" altLang="zh-CN" sz="2000" dirty="0"/>
              <a:t>（</a:t>
            </a:r>
            <a:r>
              <a:rPr lang="en-US" altLang="zh-CN" sz="2000" dirty="0"/>
              <a:t>4</a:t>
            </a:r>
            <a:r>
              <a:rPr lang="zh-CN" altLang="zh-CN" sz="2000" dirty="0"/>
              <a:t>）尽量采用三种基本控制结构来编写程序，避免不必要的转移，尽量少用</a:t>
            </a:r>
            <a:r>
              <a:rPr lang="en-US" altLang="zh-CN" sz="2000" dirty="0"/>
              <a:t>GOTO</a:t>
            </a:r>
            <a:r>
              <a:rPr lang="zh-CN" altLang="zh-CN" sz="2000" dirty="0"/>
              <a:t>语句。</a:t>
            </a:r>
          </a:p>
          <a:p>
            <a:r>
              <a:rPr lang="zh-CN" altLang="zh-CN" sz="2000" dirty="0"/>
              <a:t>（</a:t>
            </a:r>
            <a:r>
              <a:rPr lang="en-US" altLang="zh-CN" sz="2000" dirty="0"/>
              <a:t>5</a:t>
            </a:r>
            <a:r>
              <a:rPr lang="zh-CN" altLang="zh-CN" sz="2000" dirty="0"/>
              <a:t>）利用括号使表达式的运算次序清晰直观。</a:t>
            </a:r>
          </a:p>
          <a:p>
            <a:r>
              <a:rPr lang="zh-CN" altLang="zh-CN" sz="2000" dirty="0"/>
              <a:t>（</a:t>
            </a:r>
            <a:r>
              <a:rPr lang="en-US" altLang="zh-CN" sz="2000" dirty="0"/>
              <a:t>6</a:t>
            </a:r>
            <a:r>
              <a:rPr lang="zh-CN" altLang="zh-CN" sz="2000" dirty="0"/>
              <a:t>）避免大量使用循环嵌套和条件嵌套。</a:t>
            </a:r>
          </a:p>
          <a:p>
            <a:r>
              <a:rPr lang="zh-CN" altLang="zh-CN" sz="2000" dirty="0"/>
              <a:t>（</a:t>
            </a:r>
            <a:r>
              <a:rPr lang="en-US" altLang="zh-CN" sz="2000" dirty="0"/>
              <a:t>7</a:t>
            </a:r>
            <a:r>
              <a:rPr lang="zh-CN" altLang="zh-CN" sz="2000" dirty="0"/>
              <a:t>）避免采用过于复杂的条件测试，尽量少用“否定”条件的条件语句。</a:t>
            </a:r>
          </a:p>
          <a:p>
            <a:r>
              <a:rPr lang="zh-CN" altLang="zh-CN" sz="2000" dirty="0"/>
              <a:t>（</a:t>
            </a:r>
            <a:r>
              <a:rPr lang="en-US" altLang="zh-CN" sz="2000" dirty="0"/>
              <a:t>8</a:t>
            </a:r>
            <a:r>
              <a:rPr lang="zh-CN" altLang="zh-CN" sz="2000" dirty="0"/>
              <a:t>）尽可能使用库函数。</a:t>
            </a:r>
          </a:p>
          <a:p>
            <a:r>
              <a:rPr lang="zh-CN" altLang="zh-CN" sz="2000" dirty="0"/>
              <a:t>（</a:t>
            </a:r>
            <a:r>
              <a:rPr lang="en-US" altLang="zh-CN" sz="2000" dirty="0"/>
              <a:t>9</a:t>
            </a:r>
            <a:r>
              <a:rPr lang="zh-CN" altLang="zh-CN" sz="2000" dirty="0"/>
              <a:t>）尽可能用通俗易懂的伪码描述程序流程，然后再翻译成必须使用的语言。</a:t>
            </a:r>
          </a:p>
          <a:p>
            <a:r>
              <a:rPr lang="zh-CN" altLang="zh-CN" sz="2000" dirty="0"/>
              <a:t>（</a:t>
            </a:r>
            <a:r>
              <a:rPr lang="en-US" altLang="zh-CN" sz="2000" dirty="0"/>
              <a:t>10</a:t>
            </a:r>
            <a:r>
              <a:rPr lang="zh-CN" altLang="zh-CN" sz="2000" dirty="0"/>
              <a:t>）确保模块独立，模块内信息隐蔽，耦合清晰可见。</a:t>
            </a:r>
          </a:p>
          <a:p>
            <a:endParaRPr lang="zh-CN" altLang="en-US" sz="2000" dirty="0"/>
          </a:p>
        </p:txBody>
      </p:sp>
    </p:spTree>
    <p:extLst>
      <p:ext uri="{BB962C8B-B14F-4D97-AF65-F5344CB8AC3E}">
        <p14:creationId xmlns:p14="http://schemas.microsoft.com/office/powerpoint/2010/main" val="4226727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zh-CN" dirty="0"/>
              <a:t>编码语言、编码规范、编码文档</a:t>
            </a:r>
            <a:endParaRPr lang="zh-CN" altLang="en-US" dirty="0"/>
          </a:p>
        </p:txBody>
      </p:sp>
      <p:sp>
        <p:nvSpPr>
          <p:cNvPr id="3" name="内容占位符 2"/>
          <p:cNvSpPr>
            <a:spLocks noGrp="1"/>
          </p:cNvSpPr>
          <p:nvPr>
            <p:ph idx="1"/>
          </p:nvPr>
        </p:nvSpPr>
        <p:spPr/>
        <p:txBody>
          <a:bodyPr>
            <a:normAutofit/>
          </a:bodyPr>
          <a:lstStyle/>
          <a:p>
            <a:r>
              <a:rPr lang="en-US" altLang="zh-CN" sz="2400" dirty="0"/>
              <a:t>4</a:t>
            </a:r>
            <a:r>
              <a:rPr lang="zh-CN" altLang="zh-CN" sz="2400" dirty="0"/>
              <a:t>）输入和输出</a:t>
            </a:r>
          </a:p>
          <a:p>
            <a:r>
              <a:rPr lang="zh-CN" altLang="zh-CN" sz="2400" dirty="0"/>
              <a:t>输入和输出信息是与用户的使用直接相关的。输入和输出的方式和格式应当尽可能方便用户的使用。一定要避免因设计不当给用户带来的麻烦。</a:t>
            </a:r>
          </a:p>
          <a:p>
            <a:r>
              <a:rPr lang="zh-CN" altLang="zh-CN" sz="2400" dirty="0"/>
              <a:t>因此，在软件需求分析阶段和设计阶段，就应基本确定输入和输出的风格。系统能否被用户接受，有时就取决于输入和输出的风格。</a:t>
            </a:r>
          </a:p>
          <a:p>
            <a:endParaRPr lang="zh-CN" altLang="en-US" sz="2400" dirty="0"/>
          </a:p>
        </p:txBody>
      </p:sp>
    </p:spTree>
    <p:extLst>
      <p:ext uri="{BB962C8B-B14F-4D97-AF65-F5344CB8AC3E}">
        <p14:creationId xmlns:p14="http://schemas.microsoft.com/office/powerpoint/2010/main" val="1858033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Autofit/>
          </a:bodyPr>
          <a:lstStyle/>
          <a:p>
            <a:r>
              <a:rPr lang="zh-CN" altLang="zh-CN" sz="2400" dirty="0"/>
              <a:t>不论是批处理的还是交互式的输入／输出方式，设计和实现时都应考虑下列原则：</a:t>
            </a:r>
          </a:p>
          <a:p>
            <a:r>
              <a:rPr lang="zh-CN" altLang="zh-CN" sz="2400" dirty="0"/>
              <a:t>（</a:t>
            </a:r>
            <a:r>
              <a:rPr lang="en-US" altLang="zh-CN" sz="2400" dirty="0"/>
              <a:t>1</a:t>
            </a:r>
            <a:r>
              <a:rPr lang="zh-CN" altLang="zh-CN" sz="2400" dirty="0"/>
              <a:t>）对所有的输入数据都要进行检验，识别错误的输入，以保证每个数据的有效性；</a:t>
            </a:r>
          </a:p>
          <a:p>
            <a:r>
              <a:rPr lang="zh-CN" altLang="zh-CN" sz="2400" dirty="0"/>
              <a:t>（</a:t>
            </a:r>
            <a:r>
              <a:rPr lang="en-US" altLang="zh-CN" sz="2400" dirty="0"/>
              <a:t>2</a:t>
            </a:r>
            <a:r>
              <a:rPr lang="zh-CN" altLang="zh-CN" sz="2400" dirty="0"/>
              <a:t>）检查输入项各种组合的合理性，必要时报告输入状态；</a:t>
            </a:r>
          </a:p>
          <a:p>
            <a:r>
              <a:rPr lang="zh-CN" altLang="zh-CN" sz="2400" dirty="0"/>
              <a:t>（</a:t>
            </a:r>
            <a:r>
              <a:rPr lang="en-US" altLang="zh-CN" sz="2400" dirty="0"/>
              <a:t>3</a:t>
            </a:r>
            <a:r>
              <a:rPr lang="zh-CN" altLang="zh-CN" sz="2400" dirty="0"/>
              <a:t>）输入的步骤和操作尽可能简单，保持简单的输入格式；</a:t>
            </a:r>
          </a:p>
          <a:p>
            <a:r>
              <a:rPr lang="zh-CN" altLang="zh-CN" sz="2400" dirty="0"/>
              <a:t>（</a:t>
            </a:r>
            <a:r>
              <a:rPr lang="en-US" altLang="zh-CN" sz="2400" dirty="0"/>
              <a:t>4</a:t>
            </a:r>
            <a:r>
              <a:rPr lang="zh-CN" altLang="zh-CN" sz="2400" dirty="0"/>
              <a:t>）输入数据时，应允许使用自由格式；</a:t>
            </a:r>
          </a:p>
          <a:p>
            <a:r>
              <a:rPr lang="zh-CN" altLang="zh-CN" sz="2400" dirty="0"/>
              <a:t>（</a:t>
            </a:r>
            <a:r>
              <a:rPr lang="en-US" altLang="zh-CN" sz="2400" dirty="0"/>
              <a:t>5</a:t>
            </a:r>
            <a:r>
              <a:rPr lang="zh-CN" altLang="zh-CN" sz="2400" dirty="0"/>
              <a:t>）应允许缺省值；</a:t>
            </a:r>
          </a:p>
          <a:p>
            <a:r>
              <a:rPr lang="zh-CN" altLang="zh-CN" sz="2400" dirty="0"/>
              <a:t>（</a:t>
            </a:r>
            <a:r>
              <a:rPr lang="en-US" altLang="zh-CN" sz="2400" dirty="0"/>
              <a:t>6</a:t>
            </a:r>
            <a:r>
              <a:rPr lang="zh-CN" altLang="zh-CN" sz="2400" dirty="0"/>
              <a:t>）交互式输入时，使用提示符明确提示交互输入的请求；</a:t>
            </a:r>
          </a:p>
          <a:p>
            <a:r>
              <a:rPr lang="zh-CN" altLang="zh-CN" sz="2400" dirty="0"/>
              <a:t>（</a:t>
            </a:r>
            <a:r>
              <a:rPr lang="en-US" altLang="zh-CN" sz="2400" dirty="0"/>
              <a:t>7</a:t>
            </a:r>
            <a:r>
              <a:rPr lang="zh-CN" altLang="zh-CN" sz="2400" dirty="0"/>
              <a:t>）最好使用输入结束标志，不要由用户指定输入数据数目；</a:t>
            </a:r>
          </a:p>
          <a:p>
            <a:r>
              <a:rPr lang="zh-CN" altLang="zh-CN" sz="2400" dirty="0"/>
              <a:t>（</a:t>
            </a:r>
            <a:r>
              <a:rPr lang="en-US" altLang="zh-CN" sz="2400" dirty="0"/>
              <a:t>8</a:t>
            </a:r>
            <a:r>
              <a:rPr lang="zh-CN" altLang="zh-CN" sz="2400" dirty="0"/>
              <a:t>）给所有的输出加注解，并设计输出报表格式。</a:t>
            </a:r>
          </a:p>
          <a:p>
            <a:endParaRPr lang="zh-CN" altLang="en-US" sz="2400" dirty="0"/>
          </a:p>
        </p:txBody>
      </p:sp>
    </p:spTree>
    <p:extLst>
      <p:ext uri="{BB962C8B-B14F-4D97-AF65-F5344CB8AC3E}">
        <p14:creationId xmlns:p14="http://schemas.microsoft.com/office/powerpoint/2010/main" val="4011520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rmAutofit/>
          </a:bodyPr>
          <a:lstStyle/>
          <a:p>
            <a:r>
              <a:rPr lang="en-US" altLang="zh-CN" sz="2400" dirty="0"/>
              <a:t>5</a:t>
            </a:r>
            <a:r>
              <a:rPr lang="zh-CN" altLang="zh-CN" sz="2400" dirty="0"/>
              <a:t>） 程序效率</a:t>
            </a:r>
          </a:p>
          <a:p>
            <a:r>
              <a:rPr lang="zh-CN" altLang="zh-CN" sz="2400" dirty="0"/>
              <a:t>程序的效率是指程序的执行速度及程序所需占用的内存存储空间。</a:t>
            </a:r>
          </a:p>
          <a:p>
            <a:r>
              <a:rPr lang="zh-CN" altLang="zh-CN" sz="2400" dirty="0"/>
              <a:t>程序编码是最后提高运行速度和节省存储的机会，在此阶段不能不考虑程序的效率。</a:t>
            </a:r>
          </a:p>
          <a:p>
            <a:r>
              <a:rPr lang="zh-CN" altLang="zh-CN" sz="2400" dirty="0"/>
              <a:t>讨论程序效率的三条原则：</a:t>
            </a:r>
          </a:p>
          <a:p>
            <a:r>
              <a:rPr lang="zh-CN" altLang="zh-CN" sz="2400" dirty="0"/>
              <a:t>（</a:t>
            </a:r>
            <a:r>
              <a:rPr lang="en-US" altLang="zh-CN" sz="2400" dirty="0"/>
              <a:t>1</a:t>
            </a:r>
            <a:r>
              <a:rPr lang="zh-CN" altLang="zh-CN" sz="2400" dirty="0"/>
              <a:t>）效率是性能要求，应在需求分析阶段确定这方面要求；</a:t>
            </a:r>
          </a:p>
          <a:p>
            <a:r>
              <a:rPr lang="zh-CN" altLang="zh-CN" sz="2400" dirty="0"/>
              <a:t>（</a:t>
            </a:r>
            <a:r>
              <a:rPr lang="en-US" altLang="zh-CN" sz="2400" dirty="0"/>
              <a:t>2</a:t>
            </a:r>
            <a:r>
              <a:rPr lang="zh-CN" altLang="zh-CN" sz="2400" dirty="0"/>
              <a:t>）效率是靠好的设计来提高的；</a:t>
            </a:r>
          </a:p>
          <a:p>
            <a:r>
              <a:rPr lang="zh-CN" altLang="zh-CN" sz="2400" dirty="0"/>
              <a:t>（</a:t>
            </a:r>
            <a:r>
              <a:rPr lang="en-US" altLang="zh-CN" sz="2400" dirty="0"/>
              <a:t>3</a:t>
            </a:r>
            <a:r>
              <a:rPr lang="zh-CN" altLang="zh-CN" sz="2400" dirty="0"/>
              <a:t>）程序的效率和程序的简单程度是一致的。</a:t>
            </a:r>
          </a:p>
          <a:p>
            <a:endParaRPr lang="zh-CN" altLang="en-US" sz="2400" dirty="0"/>
          </a:p>
        </p:txBody>
      </p:sp>
    </p:spTree>
    <p:extLst>
      <p:ext uri="{BB962C8B-B14F-4D97-AF65-F5344CB8AC3E}">
        <p14:creationId xmlns:p14="http://schemas.microsoft.com/office/powerpoint/2010/main" val="529153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rmAutofit/>
          </a:bodyPr>
          <a:lstStyle/>
          <a:p>
            <a:r>
              <a:rPr lang="en-US" altLang="zh-CN" sz="2400" b="1" dirty="0"/>
              <a:t>6.6.2</a:t>
            </a:r>
            <a:r>
              <a:rPr lang="zh-CN" altLang="zh-CN" sz="2400" b="1" dirty="0"/>
              <a:t>编码语言</a:t>
            </a:r>
          </a:p>
          <a:p>
            <a:r>
              <a:rPr lang="zh-CN" altLang="zh-CN" sz="2400" dirty="0"/>
              <a:t>程序编码阶段的任务是将软件的详细设计转换成用程序设计语言实现的程序代码，即把用</a:t>
            </a:r>
            <a:r>
              <a:rPr lang="en-US" altLang="zh-CN" sz="2400" dirty="0"/>
              <a:t>PDL</a:t>
            </a:r>
            <a:r>
              <a:rPr lang="zh-CN" altLang="zh-CN" sz="2400" dirty="0"/>
              <a:t>等工具描写的算法，翻译成计算机能接受的诸如</a:t>
            </a:r>
            <a:r>
              <a:rPr lang="en-US" altLang="zh-CN" sz="2400" dirty="0"/>
              <a:t>C++</a:t>
            </a:r>
            <a:r>
              <a:rPr lang="zh-CN" altLang="zh-CN" sz="2400" dirty="0"/>
              <a:t>、</a:t>
            </a:r>
            <a:r>
              <a:rPr lang="en-US" altLang="zh-CN" sz="2400" dirty="0"/>
              <a:t>Java</a:t>
            </a:r>
            <a:r>
              <a:rPr lang="zh-CN" altLang="zh-CN" sz="2400" dirty="0"/>
              <a:t>等程序设计语言的程序。</a:t>
            </a:r>
          </a:p>
          <a:p>
            <a:r>
              <a:rPr lang="zh-CN" altLang="zh-CN" sz="2400" dirty="0"/>
              <a:t>因此，程序设计风格和设计语言的性能对于程序设计的效率和质量有着直接的关系。</a:t>
            </a:r>
          </a:p>
          <a:p>
            <a:endParaRPr lang="zh-CN" altLang="en-US" sz="2400" dirty="0"/>
          </a:p>
        </p:txBody>
      </p:sp>
    </p:spTree>
    <p:extLst>
      <p:ext uri="{BB962C8B-B14F-4D97-AF65-F5344CB8AC3E}">
        <p14:creationId xmlns:p14="http://schemas.microsoft.com/office/powerpoint/2010/main" val="529153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rmAutofit/>
          </a:bodyPr>
          <a:lstStyle/>
          <a:p>
            <a:r>
              <a:rPr lang="zh-CN" altLang="zh-CN" sz="2400" dirty="0"/>
              <a:t>程序设计语言的基本成分：</a:t>
            </a:r>
          </a:p>
          <a:p>
            <a:r>
              <a:rPr lang="en-US" altLang="zh-CN" sz="2400" dirty="0"/>
              <a:t>1</a:t>
            </a:r>
            <a:r>
              <a:rPr lang="zh-CN" altLang="zh-CN" sz="2400" dirty="0"/>
              <a:t>）数据部分：程序中构造的数据类型，描述程序中使用的各种类型的数据，如变量、数组、指针等。</a:t>
            </a:r>
          </a:p>
          <a:p>
            <a:r>
              <a:rPr lang="en-US" altLang="zh-CN" sz="2400" dirty="0"/>
              <a:t>2</a:t>
            </a:r>
            <a:r>
              <a:rPr lang="zh-CN" altLang="zh-CN" sz="2400" dirty="0"/>
              <a:t>）运算部分：程序中允许执行的运算，用以描述程序中所需执行的运算。</a:t>
            </a:r>
          </a:p>
          <a:p>
            <a:r>
              <a:rPr lang="en-US" altLang="zh-CN" sz="2400" dirty="0"/>
              <a:t>3</a:t>
            </a:r>
            <a:r>
              <a:rPr lang="zh-CN" altLang="zh-CN" sz="2400" dirty="0"/>
              <a:t>）控制部分：程序中允许使用的控制结构，用它们构造程序的控制逻辑。</a:t>
            </a:r>
          </a:p>
          <a:p>
            <a:r>
              <a:rPr lang="en-US" altLang="zh-CN" sz="2400" dirty="0"/>
              <a:t>4</a:t>
            </a:r>
            <a:r>
              <a:rPr lang="zh-CN" altLang="zh-CN" sz="2400" dirty="0"/>
              <a:t>）传输部分：传输数据的方式，如输入</a:t>
            </a:r>
            <a:r>
              <a:rPr lang="en-US" altLang="zh-CN" sz="2400" dirty="0"/>
              <a:t>/</a:t>
            </a:r>
            <a:r>
              <a:rPr lang="zh-CN" altLang="zh-CN" sz="2400" dirty="0"/>
              <a:t>输出语句。</a:t>
            </a:r>
          </a:p>
          <a:p>
            <a:endParaRPr lang="zh-CN" altLang="en-US" sz="2400" dirty="0"/>
          </a:p>
        </p:txBody>
      </p:sp>
    </p:spTree>
    <p:extLst>
      <p:ext uri="{BB962C8B-B14F-4D97-AF65-F5344CB8AC3E}">
        <p14:creationId xmlns:p14="http://schemas.microsoft.com/office/powerpoint/2010/main" val="529153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Autofit/>
          </a:bodyPr>
          <a:lstStyle/>
          <a:p>
            <a:r>
              <a:rPr lang="zh-CN" altLang="zh-CN" sz="2400" dirty="0"/>
              <a:t>程序设计语言的选择：</a:t>
            </a:r>
          </a:p>
          <a:p>
            <a:r>
              <a:rPr lang="zh-CN" altLang="zh-CN" sz="2400" dirty="0"/>
              <a:t>为特定开发项目选择程序设计语言时，应从技术角度、工程角度、心理学角度评价和比较各种语言的适用程度，考虑现实可能性，作出合理的折衷。</a:t>
            </a:r>
          </a:p>
          <a:p>
            <a:r>
              <a:rPr lang="en-US" altLang="zh-CN" sz="2400" dirty="0"/>
              <a:t>1</a:t>
            </a:r>
            <a:r>
              <a:rPr lang="zh-CN" altLang="zh-CN" sz="2400" dirty="0"/>
              <a:t>）编译程序应具有较高的效率；</a:t>
            </a:r>
          </a:p>
          <a:p>
            <a:r>
              <a:rPr lang="en-US" altLang="zh-CN" sz="2400" dirty="0"/>
              <a:t>2</a:t>
            </a:r>
            <a:r>
              <a:rPr lang="zh-CN" altLang="zh-CN" sz="2400" dirty="0"/>
              <a:t>）尽可能应用代码生成的工具；</a:t>
            </a:r>
          </a:p>
          <a:p>
            <a:r>
              <a:rPr lang="en-US" altLang="zh-CN" sz="2400" dirty="0"/>
              <a:t>3</a:t>
            </a:r>
            <a:r>
              <a:rPr lang="zh-CN" altLang="zh-CN" sz="2400" dirty="0"/>
              <a:t>）源程序应具有可移植性；</a:t>
            </a:r>
          </a:p>
          <a:p>
            <a:r>
              <a:rPr lang="en-US" altLang="zh-CN" sz="2400" dirty="0"/>
              <a:t>4</a:t>
            </a:r>
            <a:r>
              <a:rPr lang="zh-CN" altLang="zh-CN" sz="2400" dirty="0"/>
              <a:t>）工程的规模；</a:t>
            </a:r>
          </a:p>
          <a:p>
            <a:r>
              <a:rPr lang="en-US" altLang="zh-CN" sz="2400" dirty="0"/>
              <a:t>5</a:t>
            </a:r>
            <a:r>
              <a:rPr lang="zh-CN" altLang="zh-CN" sz="2400" dirty="0"/>
              <a:t>）软件的应用领域；</a:t>
            </a:r>
          </a:p>
          <a:p>
            <a:r>
              <a:rPr lang="en-US" altLang="zh-CN" sz="2400" dirty="0"/>
              <a:t>6</a:t>
            </a:r>
            <a:r>
              <a:rPr lang="zh-CN" altLang="zh-CN" sz="2400" dirty="0"/>
              <a:t>）用户的要求；</a:t>
            </a:r>
          </a:p>
          <a:p>
            <a:r>
              <a:rPr lang="en-US" altLang="zh-CN" sz="2400" dirty="0"/>
              <a:t>7</a:t>
            </a:r>
            <a:r>
              <a:rPr lang="zh-CN" altLang="zh-CN" sz="2400" dirty="0"/>
              <a:t>）程序员的知识。</a:t>
            </a:r>
          </a:p>
          <a:p>
            <a:endParaRPr lang="zh-CN" altLang="en-US" sz="2400" dirty="0"/>
          </a:p>
        </p:txBody>
      </p:sp>
    </p:spTree>
    <p:extLst>
      <p:ext uri="{BB962C8B-B14F-4D97-AF65-F5344CB8AC3E}">
        <p14:creationId xmlns:p14="http://schemas.microsoft.com/office/powerpoint/2010/main" val="529153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normAutofit/>
          </a:bodyPr>
          <a:lstStyle/>
          <a:p>
            <a:r>
              <a:rPr lang="en-US" altLang="zh-CN" sz="2400" b="1" dirty="0"/>
              <a:t>6.6.3</a:t>
            </a:r>
            <a:r>
              <a:rPr lang="zh-CN" altLang="zh-CN" sz="2400" b="1" dirty="0"/>
              <a:t>编码文档</a:t>
            </a:r>
          </a:p>
          <a:p>
            <a:r>
              <a:rPr lang="en-US" altLang="zh-CN" sz="2400" dirty="0"/>
              <a:t> </a:t>
            </a:r>
            <a:r>
              <a:rPr lang="en-US" altLang="zh-CN" sz="2400" dirty="0" smtClean="0"/>
              <a:t>1</a:t>
            </a:r>
            <a:r>
              <a:rPr lang="zh-CN" altLang="zh-CN" sz="2400" dirty="0"/>
              <a:t>）源码模块列表及功能说明：</a:t>
            </a:r>
          </a:p>
          <a:p>
            <a:endParaRPr lang="zh-CN" altLang="en-US" sz="2400" dirty="0"/>
          </a:p>
        </p:txBody>
      </p:sp>
      <p:pic>
        <p:nvPicPr>
          <p:cNvPr id="7170"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6975" y="2702539"/>
            <a:ext cx="7065584" cy="3978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9153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zh-CN" dirty="0" smtClean="0"/>
              <a:t>编码</a:t>
            </a:r>
            <a:r>
              <a:rPr lang="zh-CN" altLang="zh-CN" dirty="0"/>
              <a:t>语言、编码规范、编码文档</a:t>
            </a:r>
            <a:endParaRPr lang="zh-CN" altLang="en-US" dirty="0"/>
          </a:p>
        </p:txBody>
      </p:sp>
      <p:sp>
        <p:nvSpPr>
          <p:cNvPr id="3" name="内容占位符 2"/>
          <p:cNvSpPr>
            <a:spLocks noGrp="1"/>
          </p:cNvSpPr>
          <p:nvPr>
            <p:ph idx="1"/>
          </p:nvPr>
        </p:nvSpPr>
        <p:spPr/>
        <p:txBody>
          <a:bodyPr/>
          <a:lstStyle/>
          <a:p>
            <a:r>
              <a:rPr lang="en-US" altLang="zh-CN" dirty="0"/>
              <a:t>2</a:t>
            </a:r>
            <a:r>
              <a:rPr lang="zh-CN" altLang="zh-CN" dirty="0"/>
              <a:t>）注释文档</a:t>
            </a:r>
          </a:p>
          <a:p>
            <a:r>
              <a:rPr lang="zh-CN" altLang="zh-CN" dirty="0"/>
              <a:t>例子</a:t>
            </a:r>
            <a:r>
              <a:rPr lang="en-US" altLang="zh-CN" dirty="0"/>
              <a:t>1</a:t>
            </a:r>
            <a:endParaRPr lang="zh-CN" altLang="en-US" dirty="0"/>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016" t="24229" r="23468" b="6666"/>
          <a:stretch/>
        </p:blipFill>
        <p:spPr bwMode="auto">
          <a:xfrm>
            <a:off x="4513007" y="0"/>
            <a:ext cx="7226709" cy="7108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9153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zh-CN" dirty="0"/>
              <a:t>编码语言、编码规范、编码文档</a:t>
            </a:r>
            <a:endParaRPr lang="zh-CN" altLang="en-US" dirty="0"/>
          </a:p>
        </p:txBody>
      </p:sp>
      <p:sp>
        <p:nvSpPr>
          <p:cNvPr id="3" name="内容占位符 2"/>
          <p:cNvSpPr>
            <a:spLocks noGrp="1"/>
          </p:cNvSpPr>
          <p:nvPr>
            <p:ph idx="1"/>
          </p:nvPr>
        </p:nvSpPr>
        <p:spPr/>
        <p:txBody>
          <a:bodyPr>
            <a:normAutofit lnSpcReduction="10000"/>
          </a:bodyPr>
          <a:lstStyle/>
          <a:p>
            <a:r>
              <a:rPr lang="zh-CN" altLang="zh-CN" dirty="0"/>
              <a:t>例子</a:t>
            </a:r>
            <a:r>
              <a:rPr lang="en-US" altLang="zh-CN" dirty="0"/>
              <a:t>2</a:t>
            </a:r>
            <a:endParaRPr lang="zh-CN" altLang="zh-CN" dirty="0"/>
          </a:p>
          <a:p>
            <a:r>
              <a:rPr lang="en-US" altLang="zh-CN" dirty="0"/>
              <a:t>//</a:t>
            </a:r>
            <a:r>
              <a:rPr lang="zh-CN" altLang="zh-CN" dirty="0"/>
              <a:t>判断值的正负</a:t>
            </a:r>
          </a:p>
          <a:p>
            <a:r>
              <a:rPr lang="en-US" altLang="zh-CN" dirty="0" err="1"/>
              <a:t>int</a:t>
            </a:r>
            <a:r>
              <a:rPr lang="en-US" altLang="zh-CN" dirty="0"/>
              <a:t> </a:t>
            </a:r>
            <a:r>
              <a:rPr lang="en-US" altLang="zh-CN" dirty="0" err="1"/>
              <a:t>CAlgorithmBase</a:t>
            </a:r>
            <a:r>
              <a:rPr lang="en-US" altLang="zh-CN" dirty="0"/>
              <a:t>::</a:t>
            </a:r>
            <a:r>
              <a:rPr lang="en-US" altLang="zh-CN" dirty="0" err="1"/>
              <a:t>sgn</a:t>
            </a:r>
            <a:r>
              <a:rPr lang="en-US" altLang="zh-CN" dirty="0"/>
              <a:t>(double x)</a:t>
            </a:r>
            <a:endParaRPr lang="zh-CN" altLang="zh-CN" dirty="0"/>
          </a:p>
          <a:p>
            <a:r>
              <a:rPr lang="en-US" altLang="zh-CN" dirty="0"/>
              <a:t>{</a:t>
            </a:r>
            <a:endParaRPr lang="zh-CN" altLang="zh-CN" dirty="0"/>
          </a:p>
          <a:p>
            <a:r>
              <a:rPr lang="en-US" altLang="zh-CN" dirty="0"/>
              <a:t>	if (x&gt;=0) return(1);    //</a:t>
            </a:r>
            <a:r>
              <a:rPr lang="zh-CN" altLang="zh-CN" dirty="0"/>
              <a:t>返回出口</a:t>
            </a:r>
            <a:r>
              <a:rPr lang="en-US" altLang="zh-CN" dirty="0"/>
              <a:t>1:</a:t>
            </a:r>
            <a:r>
              <a:rPr lang="zh-CN" altLang="zh-CN" dirty="0"/>
              <a:t>如果键盘输入正数，则返回</a:t>
            </a:r>
            <a:r>
              <a:rPr lang="en-US" altLang="zh-CN" dirty="0"/>
              <a:t>1</a:t>
            </a:r>
            <a:endParaRPr lang="zh-CN" altLang="zh-CN" dirty="0"/>
          </a:p>
          <a:p>
            <a:r>
              <a:rPr lang="en-US" altLang="zh-CN" dirty="0"/>
              <a:t>	if (x&lt;0) return(-1);    //</a:t>
            </a:r>
            <a:r>
              <a:rPr lang="zh-CN" altLang="zh-CN" dirty="0"/>
              <a:t>返回出口</a:t>
            </a:r>
            <a:r>
              <a:rPr lang="en-US" altLang="zh-CN" dirty="0"/>
              <a:t>2:</a:t>
            </a:r>
            <a:r>
              <a:rPr lang="zh-CN" altLang="zh-CN" dirty="0"/>
              <a:t>如果键盘输入负数，则返回</a:t>
            </a:r>
            <a:r>
              <a:rPr lang="en-US" altLang="zh-CN" dirty="0"/>
              <a:t>-1</a:t>
            </a:r>
            <a:endParaRPr lang="zh-CN" altLang="zh-CN" dirty="0"/>
          </a:p>
          <a:p>
            <a:r>
              <a:rPr lang="en-US" altLang="zh-CN" dirty="0"/>
              <a:t>	return(0);          //</a:t>
            </a:r>
            <a:r>
              <a:rPr lang="zh-CN" altLang="zh-CN" dirty="0"/>
              <a:t>返回出口</a:t>
            </a:r>
            <a:r>
              <a:rPr lang="en-US" altLang="zh-CN" dirty="0"/>
              <a:t>3:</a:t>
            </a:r>
            <a:r>
              <a:rPr lang="zh-CN" altLang="zh-CN" dirty="0"/>
              <a:t>如果键盘输入</a:t>
            </a:r>
            <a:r>
              <a:rPr lang="en-US" altLang="zh-CN" dirty="0"/>
              <a:t>0</a:t>
            </a:r>
            <a:r>
              <a:rPr lang="zh-CN" altLang="zh-CN" dirty="0"/>
              <a:t>，</a:t>
            </a:r>
            <a:r>
              <a:rPr lang="en-US" altLang="zh-CN" dirty="0"/>
              <a:t>   </a:t>
            </a:r>
            <a:r>
              <a:rPr lang="zh-CN" altLang="zh-CN" dirty="0"/>
              <a:t>则返回</a:t>
            </a:r>
            <a:r>
              <a:rPr lang="en-US" altLang="zh-CN" dirty="0"/>
              <a:t>0</a:t>
            </a:r>
            <a:endParaRPr lang="zh-CN" altLang="zh-CN" dirty="0"/>
          </a:p>
          <a:p>
            <a:r>
              <a:rPr lang="en-US" altLang="zh-CN" dirty="0"/>
              <a:t>}</a:t>
            </a:r>
            <a:endParaRPr lang="zh-CN" altLang="zh-CN" dirty="0"/>
          </a:p>
          <a:p>
            <a:endParaRPr lang="zh-CN" altLang="en-US" dirty="0"/>
          </a:p>
        </p:txBody>
      </p:sp>
    </p:spTree>
    <p:extLst>
      <p:ext uri="{BB962C8B-B14F-4D97-AF65-F5344CB8AC3E}">
        <p14:creationId xmlns:p14="http://schemas.microsoft.com/office/powerpoint/2010/main" val="4011520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r>
              <a:rPr lang="en-US" altLang="zh-CN" dirty="0"/>
              <a:t>6.6 </a:t>
            </a:r>
            <a:r>
              <a:rPr lang="zh-CN" altLang="zh-CN" dirty="0"/>
              <a:t>编码语言、编码规范、编码文档</a:t>
            </a:r>
            <a:endParaRPr lang="zh-CN" altLang="en-US" dirty="0"/>
          </a:p>
        </p:txBody>
      </p:sp>
      <p:sp>
        <p:nvSpPr>
          <p:cNvPr id="3" name="内容占位符 2"/>
          <p:cNvSpPr>
            <a:spLocks noGrp="1"/>
          </p:cNvSpPr>
          <p:nvPr>
            <p:ph idx="1"/>
          </p:nvPr>
        </p:nvSpPr>
        <p:spPr>
          <a:xfrm>
            <a:off x="897194" y="1206192"/>
            <a:ext cx="10515600" cy="4351338"/>
          </a:xfrm>
        </p:spPr>
        <p:txBody>
          <a:bodyPr>
            <a:noAutofit/>
          </a:bodyPr>
          <a:lstStyle/>
          <a:p>
            <a:r>
              <a:rPr lang="zh-CN" altLang="zh-CN" sz="1400" dirty="0"/>
              <a:t>例子</a:t>
            </a:r>
            <a:r>
              <a:rPr lang="en-US" altLang="zh-CN" sz="1400" dirty="0"/>
              <a:t>3</a:t>
            </a:r>
            <a:endParaRPr lang="zh-CN" altLang="zh-CN" sz="1400" dirty="0"/>
          </a:p>
          <a:p>
            <a:r>
              <a:rPr lang="en-US" altLang="zh-CN" sz="1400" dirty="0"/>
              <a:t>/*</a:t>
            </a:r>
            <a:endParaRPr lang="zh-CN" altLang="zh-CN" sz="1400" dirty="0"/>
          </a:p>
          <a:p>
            <a:r>
              <a:rPr lang="zh-CN" altLang="zh-CN" sz="1400" dirty="0"/>
              <a:t>计算井斜角变化率</a:t>
            </a:r>
          </a:p>
          <a:p>
            <a:r>
              <a:rPr lang="zh-CN" altLang="zh-CN" sz="1400" dirty="0"/>
              <a:t>输入： </a:t>
            </a:r>
            <a:r>
              <a:rPr lang="en-US" altLang="zh-CN" sz="1400" dirty="0"/>
              <a:t>double L0</a:t>
            </a:r>
            <a:r>
              <a:rPr lang="zh-CN" altLang="zh-CN" sz="1400" dirty="0"/>
              <a:t>上一点井深</a:t>
            </a:r>
            <a:r>
              <a:rPr lang="en-US" altLang="zh-CN" sz="1400" dirty="0"/>
              <a:t>,</a:t>
            </a:r>
            <a:endParaRPr lang="zh-CN" altLang="zh-CN" sz="1400" dirty="0"/>
          </a:p>
          <a:p>
            <a:r>
              <a:rPr lang="en-US" altLang="zh-CN" sz="1400" dirty="0"/>
              <a:t>       double a0</a:t>
            </a:r>
            <a:r>
              <a:rPr lang="zh-CN" altLang="zh-CN" sz="1400" dirty="0"/>
              <a:t>上一点井斜角</a:t>
            </a:r>
            <a:r>
              <a:rPr lang="en-US" altLang="zh-CN" sz="1400" dirty="0"/>
              <a:t>,</a:t>
            </a:r>
            <a:endParaRPr lang="zh-CN" altLang="zh-CN" sz="1400" dirty="0"/>
          </a:p>
          <a:p>
            <a:r>
              <a:rPr lang="en-US" altLang="zh-CN" sz="1400" dirty="0"/>
              <a:t>       double L1</a:t>
            </a:r>
            <a:r>
              <a:rPr lang="zh-CN" altLang="zh-CN" sz="1400" dirty="0"/>
              <a:t>下一点井深</a:t>
            </a:r>
            <a:r>
              <a:rPr lang="en-US" altLang="zh-CN" sz="1400" dirty="0"/>
              <a:t>,</a:t>
            </a:r>
            <a:endParaRPr lang="zh-CN" altLang="zh-CN" sz="1400" dirty="0"/>
          </a:p>
          <a:p>
            <a:r>
              <a:rPr lang="en-US" altLang="zh-CN" sz="1400" dirty="0"/>
              <a:t>       double a1</a:t>
            </a:r>
            <a:r>
              <a:rPr lang="zh-CN" altLang="zh-CN" sz="1400" dirty="0"/>
              <a:t>下一点井斜角</a:t>
            </a:r>
          </a:p>
          <a:p>
            <a:r>
              <a:rPr lang="zh-CN" altLang="zh-CN" sz="1400" dirty="0"/>
              <a:t>返回：井斜角变化率</a:t>
            </a:r>
          </a:p>
          <a:p>
            <a:r>
              <a:rPr lang="en-US" altLang="zh-CN" sz="1400" dirty="0"/>
              <a:t>*/</a:t>
            </a:r>
            <a:endParaRPr lang="zh-CN" altLang="zh-CN" sz="1400" dirty="0"/>
          </a:p>
          <a:p>
            <a:r>
              <a:rPr lang="en-US" altLang="zh-CN" sz="1400" dirty="0"/>
              <a:t>double </a:t>
            </a:r>
            <a:r>
              <a:rPr lang="en-US" altLang="zh-CN" sz="1400" dirty="0" err="1"/>
              <a:t>CAlgorithmBase</a:t>
            </a:r>
            <a:r>
              <a:rPr lang="en-US" altLang="zh-CN" sz="1400" dirty="0"/>
              <a:t>::</a:t>
            </a:r>
            <a:r>
              <a:rPr lang="en-US" altLang="zh-CN" sz="1400" dirty="0" err="1"/>
              <a:t>jxbhl</a:t>
            </a:r>
            <a:r>
              <a:rPr lang="en-US" altLang="zh-CN" sz="1400" dirty="0"/>
              <a:t>(double L0,double a0,double L1,double a1)</a:t>
            </a:r>
            <a:endParaRPr lang="zh-CN" altLang="zh-CN" sz="1400" dirty="0"/>
          </a:p>
          <a:p>
            <a:r>
              <a:rPr lang="en-US" altLang="zh-CN" sz="1400" dirty="0"/>
              <a:t>{</a:t>
            </a:r>
            <a:endParaRPr lang="zh-CN" altLang="zh-CN" sz="1400" dirty="0"/>
          </a:p>
          <a:p>
            <a:r>
              <a:rPr lang="en-US" altLang="zh-CN" sz="1400" dirty="0"/>
              <a:t>	double </a:t>
            </a:r>
            <a:r>
              <a:rPr lang="en-US" altLang="zh-CN" sz="1400" dirty="0" err="1"/>
              <a:t>dL,da,ka</a:t>
            </a:r>
            <a:r>
              <a:rPr lang="en-US" altLang="zh-CN" sz="1400" dirty="0"/>
              <a:t>;</a:t>
            </a:r>
            <a:endParaRPr lang="zh-CN" altLang="zh-CN" sz="1400" dirty="0"/>
          </a:p>
          <a:p>
            <a:r>
              <a:rPr lang="en-US" altLang="zh-CN" sz="1400" dirty="0"/>
              <a:t>	</a:t>
            </a:r>
            <a:r>
              <a:rPr lang="en-US" altLang="zh-CN" sz="1400" dirty="0" err="1"/>
              <a:t>dL</a:t>
            </a:r>
            <a:r>
              <a:rPr lang="en-US" altLang="zh-CN" sz="1400" dirty="0"/>
              <a:t> = L1 - L0;</a:t>
            </a:r>
            <a:endParaRPr lang="zh-CN" altLang="zh-CN" sz="1400" dirty="0"/>
          </a:p>
          <a:p>
            <a:r>
              <a:rPr lang="en-US" altLang="zh-CN" sz="1400" dirty="0"/>
              <a:t>	da = a1 - a0;</a:t>
            </a:r>
            <a:endParaRPr lang="zh-CN" altLang="zh-CN" sz="1400" dirty="0"/>
          </a:p>
          <a:p>
            <a:r>
              <a:rPr lang="en-US" altLang="zh-CN" sz="1400" dirty="0"/>
              <a:t>	//</a:t>
            </a:r>
            <a:r>
              <a:rPr lang="zh-CN" altLang="zh-CN" sz="1400" dirty="0"/>
              <a:t>计算井斜变化率和方位变化率</a:t>
            </a:r>
          </a:p>
          <a:p>
            <a:r>
              <a:rPr lang="en-US" altLang="zh-CN" sz="1400" dirty="0"/>
              <a:t>	</a:t>
            </a:r>
            <a:r>
              <a:rPr lang="en-US" altLang="zh-CN" sz="1400" dirty="0" err="1"/>
              <a:t>ka</a:t>
            </a:r>
            <a:r>
              <a:rPr lang="en-US" altLang="zh-CN" sz="1400" dirty="0"/>
              <a:t> = da*</a:t>
            </a:r>
            <a:r>
              <a:rPr lang="en-US" altLang="zh-CN" sz="1400" dirty="0" err="1"/>
              <a:t>m_Ck</a:t>
            </a:r>
            <a:r>
              <a:rPr lang="en-US" altLang="zh-CN" sz="1400" dirty="0"/>
              <a:t>/</a:t>
            </a:r>
            <a:r>
              <a:rPr lang="en-US" altLang="zh-CN" sz="1400" dirty="0" err="1"/>
              <a:t>dL</a:t>
            </a:r>
            <a:r>
              <a:rPr lang="en-US" altLang="zh-CN" sz="1400" dirty="0"/>
              <a:t>;</a:t>
            </a:r>
            <a:endParaRPr lang="zh-CN" altLang="zh-CN" sz="1400" dirty="0"/>
          </a:p>
          <a:p>
            <a:r>
              <a:rPr lang="en-US" altLang="zh-CN" sz="1400" dirty="0"/>
              <a:t>	return </a:t>
            </a:r>
            <a:r>
              <a:rPr lang="en-US" altLang="zh-CN" sz="1400" dirty="0" err="1"/>
              <a:t>ka</a:t>
            </a:r>
            <a:r>
              <a:rPr lang="en-US" altLang="zh-CN" sz="1400" dirty="0"/>
              <a:t>;</a:t>
            </a:r>
            <a:endParaRPr lang="zh-CN" altLang="zh-CN" sz="1400" dirty="0"/>
          </a:p>
          <a:p>
            <a:r>
              <a:rPr lang="en-US" altLang="zh-CN" sz="1400" dirty="0"/>
              <a:t>} </a:t>
            </a:r>
            <a:endParaRPr lang="zh-CN" altLang="en-US" sz="1400" dirty="0"/>
          </a:p>
        </p:txBody>
      </p:sp>
    </p:spTree>
    <p:extLst>
      <p:ext uri="{BB962C8B-B14F-4D97-AF65-F5344CB8AC3E}">
        <p14:creationId xmlns:p14="http://schemas.microsoft.com/office/powerpoint/2010/main" val="2034421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zh-CN" dirty="0"/>
              <a:t>编码语言、编码规范、编码文档</a:t>
            </a:r>
            <a:endParaRPr lang="zh-CN" altLang="en-US" dirty="0"/>
          </a:p>
        </p:txBody>
      </p:sp>
      <p:sp>
        <p:nvSpPr>
          <p:cNvPr id="3" name="内容占位符 2"/>
          <p:cNvSpPr>
            <a:spLocks noGrp="1"/>
          </p:cNvSpPr>
          <p:nvPr>
            <p:ph idx="1"/>
          </p:nvPr>
        </p:nvSpPr>
        <p:spPr/>
        <p:txBody>
          <a:bodyPr/>
          <a:lstStyle/>
          <a:p>
            <a:r>
              <a:rPr lang="en-US" altLang="zh-CN" dirty="0"/>
              <a:t>3</a:t>
            </a:r>
            <a:r>
              <a:rPr lang="zh-CN" altLang="zh-CN" dirty="0"/>
              <a:t>）文件目录结构</a:t>
            </a:r>
          </a:p>
          <a:p>
            <a:r>
              <a:rPr lang="en-US" altLang="zh-CN" dirty="0"/>
              <a:t> </a:t>
            </a:r>
            <a:endParaRPr lang="zh-CN" altLang="zh-CN" dirty="0"/>
          </a:p>
          <a:p>
            <a:endParaRPr lang="zh-CN" altLang="en-US" dirty="0"/>
          </a:p>
        </p:txBody>
      </p:sp>
      <p:pic>
        <p:nvPicPr>
          <p:cNvPr id="9218" name="图片 1"/>
          <p:cNvPicPr>
            <a:picLocks noChangeAspect="1" noChangeArrowheads="1"/>
          </p:cNvPicPr>
          <p:nvPr/>
        </p:nvPicPr>
        <p:blipFill>
          <a:blip r:embed="rId2">
            <a:extLst>
              <a:ext uri="{28A0092B-C50C-407E-A947-70E740481C1C}">
                <a14:useLocalDpi xmlns:a14="http://schemas.microsoft.com/office/drawing/2010/main" val="0"/>
              </a:ext>
            </a:extLst>
          </a:blip>
          <a:srcRect t="7098" r="77484" b="15123"/>
          <a:stretch>
            <a:fillRect/>
          </a:stretch>
        </p:blipFill>
        <p:spPr bwMode="auto">
          <a:xfrm>
            <a:off x="4580963" y="1465467"/>
            <a:ext cx="2601502" cy="501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4421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6.7</a:t>
            </a:r>
            <a:r>
              <a:rPr lang="zh-CN" altLang="zh-CN" dirty="0"/>
              <a:t>软件重用</a:t>
            </a:r>
            <a:r>
              <a:rPr lang="zh-CN" altLang="zh-CN" dirty="0" smtClean="0"/>
              <a:t>原则</a:t>
            </a:r>
            <a:endParaRPr lang="zh-CN" altLang="en-US" dirty="0"/>
          </a:p>
        </p:txBody>
      </p:sp>
      <p:sp>
        <p:nvSpPr>
          <p:cNvPr id="3" name="内容占位符 2"/>
          <p:cNvSpPr>
            <a:spLocks noGrp="1"/>
          </p:cNvSpPr>
          <p:nvPr>
            <p:ph idx="1"/>
          </p:nvPr>
        </p:nvSpPr>
        <p:spPr/>
        <p:txBody>
          <a:bodyPr/>
          <a:lstStyle/>
          <a:p>
            <a:r>
              <a:rPr lang="zh-CN" altLang="zh-CN" dirty="0"/>
              <a:t>提高可重用性：</a:t>
            </a:r>
          </a:p>
          <a:p>
            <a:r>
              <a:rPr lang="en-US" altLang="zh-CN" dirty="0"/>
              <a:t>1</a:t>
            </a:r>
            <a:r>
              <a:rPr lang="zh-CN" altLang="zh-CN" dirty="0"/>
              <a:t>）提高方法的内聚</a:t>
            </a:r>
          </a:p>
          <a:p>
            <a:r>
              <a:rPr lang="en-US" altLang="zh-CN" dirty="0"/>
              <a:t>2</a:t>
            </a:r>
            <a:r>
              <a:rPr lang="zh-CN" altLang="zh-CN" dirty="0"/>
              <a:t>）减少方法的规模</a:t>
            </a:r>
          </a:p>
          <a:p>
            <a:r>
              <a:rPr lang="en-US" altLang="zh-CN" dirty="0"/>
              <a:t>3</a:t>
            </a:r>
            <a:r>
              <a:rPr lang="zh-CN" altLang="zh-CN" dirty="0"/>
              <a:t>）保持方法的一致性</a:t>
            </a:r>
          </a:p>
          <a:p>
            <a:r>
              <a:rPr lang="en-US" altLang="zh-CN" dirty="0"/>
              <a:t>4</a:t>
            </a:r>
            <a:r>
              <a:rPr lang="zh-CN" altLang="zh-CN" dirty="0"/>
              <a:t>）把策略与实现分开</a:t>
            </a:r>
          </a:p>
          <a:p>
            <a:r>
              <a:rPr lang="en-US" altLang="zh-CN" dirty="0"/>
              <a:t>5</a:t>
            </a:r>
            <a:r>
              <a:rPr lang="zh-CN" altLang="zh-CN" dirty="0"/>
              <a:t>）全面覆盖</a:t>
            </a:r>
          </a:p>
          <a:p>
            <a:r>
              <a:rPr lang="en-US" altLang="zh-CN" dirty="0"/>
              <a:t>6</a:t>
            </a:r>
            <a:r>
              <a:rPr lang="zh-CN" altLang="zh-CN" dirty="0"/>
              <a:t>）尽量不使用全局信息</a:t>
            </a:r>
          </a:p>
          <a:p>
            <a:r>
              <a:rPr lang="en-US" altLang="zh-CN" dirty="0"/>
              <a:t>7</a:t>
            </a:r>
            <a:r>
              <a:rPr lang="zh-CN" altLang="zh-CN" dirty="0"/>
              <a:t>）利用继承机制</a:t>
            </a:r>
          </a:p>
          <a:p>
            <a:endParaRPr lang="zh-CN" altLang="en-US" dirty="0"/>
          </a:p>
        </p:txBody>
      </p:sp>
    </p:spTree>
    <p:extLst>
      <p:ext uri="{BB962C8B-B14F-4D97-AF65-F5344CB8AC3E}">
        <p14:creationId xmlns:p14="http://schemas.microsoft.com/office/powerpoint/2010/main" val="4011520752"/>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1480</Words>
  <Application>Microsoft Office PowerPoint</Application>
  <PresentationFormat>自定义</PresentationFormat>
  <Paragraphs>187</Paragraphs>
  <Slides>34</Slides>
  <Notes>0</Notes>
  <HiddenSlides>0</HiddenSlides>
  <MMClips>0</MMClips>
  <ScaleCrop>false</ScaleCrop>
  <HeadingPairs>
    <vt:vector size="4" baseType="variant">
      <vt:variant>
        <vt:lpstr>主题</vt:lpstr>
      </vt:variant>
      <vt:variant>
        <vt:i4>1</vt:i4>
      </vt:variant>
      <vt:variant>
        <vt:lpstr>幻灯片标题</vt:lpstr>
      </vt:variant>
      <vt:variant>
        <vt:i4>34</vt:i4>
      </vt:variant>
    </vt:vector>
  </HeadingPairs>
  <TitlesOfParts>
    <vt:vector size="35" baseType="lpstr">
      <vt:lpstr>WPS</vt:lpstr>
      <vt:lpstr>软件项目实践 第6章 软件项目的编码</vt:lpstr>
      <vt:lpstr>PowerPoint 演示文稿</vt:lpstr>
      <vt:lpstr>6.1编码概述</vt:lpstr>
      <vt:lpstr>6.2编码方法</vt:lpstr>
      <vt:lpstr>6.2编码方法</vt:lpstr>
      <vt:lpstr>6.2编码方法</vt:lpstr>
      <vt:lpstr>6.2编码方法</vt:lpstr>
      <vt:lpstr>6.2编码方法</vt:lpstr>
      <vt:lpstr>6.2编码方法</vt:lpstr>
      <vt:lpstr>6.3编码策略</vt:lpstr>
      <vt:lpstr>6.4程序复杂度</vt:lpstr>
      <vt:lpstr>6.5数据库的实施</vt:lpstr>
      <vt:lpstr>6.5数据库的实施</vt:lpstr>
      <vt:lpstr>6.5数据库的实施</vt:lpstr>
      <vt:lpstr>6.5数据库的实施</vt:lpstr>
      <vt:lpstr>6.5数据库的实施</vt:lpstr>
      <vt:lpstr>6.5数据库的实施</vt:lpstr>
      <vt:lpstr>6.5数据库的实施</vt:lpstr>
      <vt:lpstr>6.6编码语言、编码规范、编码文档</vt:lpstr>
      <vt:lpstr>6.6编码语言、编码规范、编码文档</vt:lpstr>
      <vt:lpstr>6.6编码语言、编码规范、编码文档</vt:lpstr>
      <vt:lpstr>6.6编码语言、编码规范、编码文档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6.6 编码语言、编码规范、编码文档</vt:lpstr>
      <vt:lpstr>6.7软件重用原则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第6章 软件项目的编码</dc:title>
  <dc:creator>xiexiong</dc:creator>
  <cp:lastModifiedBy>xiexiong</cp:lastModifiedBy>
  <cp:revision>4</cp:revision>
  <dcterms:created xsi:type="dcterms:W3CDTF">2023-08-09T12:44:55Z</dcterms:created>
  <dcterms:modified xsi:type="dcterms:W3CDTF">2025-08-26T02:46:47Z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