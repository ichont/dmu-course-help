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3" r:id="rId5"/>
    <p:sldId id="264" r:id="rId6"/>
    <p:sldId id="259" r:id="rId7"/>
    <p:sldId id="271" r:id="rId8"/>
    <p:sldId id="305" r:id="rId9"/>
    <p:sldId id="306" r:id="rId10"/>
    <p:sldId id="307" r:id="rId11"/>
    <p:sldId id="272" r:id="rId12"/>
    <p:sldId id="273" r:id="rId13"/>
    <p:sldId id="274" r:id="rId14"/>
    <p:sldId id="275" r:id="rId15"/>
    <p:sldId id="276" r:id="rId16"/>
    <p:sldId id="277" r:id="rId17"/>
    <p:sldId id="278" r:id="rId18"/>
    <p:sldId id="308" r:id="rId19"/>
    <p:sldId id="309" r:id="rId20"/>
    <p:sldId id="310" r:id="rId21"/>
    <p:sldId id="260" r:id="rId22"/>
    <p:sldId id="279" r:id="rId23"/>
    <p:sldId id="311" r:id="rId24"/>
    <p:sldId id="312" r:id="rId25"/>
    <p:sldId id="313" r:id="rId26"/>
    <p:sldId id="314" r:id="rId27"/>
    <p:sldId id="315" r:id="rId28"/>
    <p:sldId id="280" r:id="rId29"/>
    <p:sldId id="281" r:id="rId30"/>
    <p:sldId id="282" r:id="rId31"/>
    <p:sldId id="283" r:id="rId32"/>
    <p:sldId id="284" r:id="rId33"/>
    <p:sldId id="285" r:id="rId34"/>
    <p:sldId id="286" r:id="rId35"/>
    <p:sldId id="316" r:id="rId36"/>
    <p:sldId id="317" r:id="rId37"/>
    <p:sldId id="318" r:id="rId38"/>
    <p:sldId id="319" r:id="rId39"/>
    <p:sldId id="320" r:id="rId40"/>
    <p:sldId id="321" r:id="rId41"/>
    <p:sldId id="322" r:id="rId42"/>
    <p:sldId id="323" r:id="rId43"/>
    <p:sldId id="324" r:id="rId44"/>
    <p:sldId id="326" r:id="rId45"/>
    <p:sldId id="327" r:id="rId46"/>
    <p:sldId id="328" r:id="rId47"/>
    <p:sldId id="329" r:id="rId48"/>
    <p:sldId id="325" r:id="rId49"/>
    <p:sldId id="330" r:id="rId50"/>
    <p:sldId id="331" r:id="rId51"/>
    <p:sldId id="332" r:id="rId52"/>
    <p:sldId id="333" r:id="rId53"/>
    <p:sldId id="261" r:id="rId54"/>
    <p:sldId id="287" r:id="rId55"/>
    <p:sldId id="334" r:id="rId56"/>
    <p:sldId id="335" r:id="rId57"/>
    <p:sldId id="336" r:id="rId58"/>
    <p:sldId id="337" r:id="rId59"/>
    <p:sldId id="338" r:id="rId60"/>
    <p:sldId id="339" r:id="rId61"/>
    <p:sldId id="288" r:id="rId62"/>
    <p:sldId id="289" r:id="rId63"/>
    <p:sldId id="290" r:id="rId64"/>
    <p:sldId id="291" r:id="rId65"/>
    <p:sldId id="292" r:id="rId66"/>
    <p:sldId id="293" r:id="rId67"/>
    <p:sldId id="294" r:id="rId68"/>
    <p:sldId id="340" r:id="rId69"/>
    <p:sldId id="341" r:id="rId70"/>
    <p:sldId id="342" r:id="rId71"/>
    <p:sldId id="343" r:id="rId72"/>
    <p:sldId id="344" r:id="rId73"/>
    <p:sldId id="345" r:id="rId74"/>
    <p:sldId id="346" r:id="rId75"/>
    <p:sldId id="347" r:id="rId76"/>
    <p:sldId id="348" r:id="rId77"/>
    <p:sldId id="349" r:id="rId78"/>
    <p:sldId id="350" r:id="rId79"/>
    <p:sldId id="351" r:id="rId80"/>
    <p:sldId id="262" r:id="rId81"/>
    <p:sldId id="295" r:id="rId82"/>
    <p:sldId id="352" r:id="rId83"/>
    <p:sldId id="353" r:id="rId84"/>
    <p:sldId id="354" r:id="rId85"/>
    <p:sldId id="355" r:id="rId86"/>
    <p:sldId id="356" r:id="rId87"/>
    <p:sldId id="357" r:id="rId88"/>
    <p:sldId id="358" r:id="rId89"/>
    <p:sldId id="359" r:id="rId90"/>
    <p:sldId id="360" r:id="rId91"/>
    <p:sldId id="361" r:id="rId92"/>
    <p:sldId id="362" r:id="rId93"/>
    <p:sldId id="296" r:id="rId9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5" d="100"/>
          <a:sy n="65" d="100"/>
        </p:scale>
        <p:origin x="-132" y="-77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软件项目实践</a:t>
            </a:r>
            <a:r>
              <a:rPr lang="en-US" altLang="zh-CN" dirty="0" smtClean="0"/>
              <a:t/>
            </a:r>
            <a:br>
              <a:rPr lang="en-US" altLang="zh-CN" dirty="0" smtClean="0"/>
            </a:br>
            <a:r>
              <a:rPr lang="zh-CN" altLang="zh-CN" dirty="0" smtClean="0"/>
              <a:t>第</a:t>
            </a:r>
            <a:r>
              <a:rPr lang="en-US" altLang="zh-CN" dirty="0"/>
              <a:t>3</a:t>
            </a:r>
            <a:r>
              <a:rPr lang="zh-CN" altLang="zh-CN" dirty="0"/>
              <a:t>章 软件项目的需求分析</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1368123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a:t>3.1</a:t>
            </a:r>
            <a:r>
              <a:rPr lang="zh-CN" altLang="zh-CN" dirty="0"/>
              <a:t>软件项目需求</a:t>
            </a:r>
            <a:r>
              <a:rPr lang="zh-CN" altLang="zh-CN" dirty="0" smtClean="0"/>
              <a:t>概述</a:t>
            </a:r>
            <a:endParaRPr lang="en-US" altLang="zh-CN" dirty="0" smtClean="0"/>
          </a:p>
          <a:p>
            <a:r>
              <a:rPr lang="en-US" altLang="zh-CN" dirty="0"/>
              <a:t>3.2</a:t>
            </a:r>
            <a:r>
              <a:rPr lang="zh-CN" altLang="zh-CN" dirty="0"/>
              <a:t>需求</a:t>
            </a:r>
            <a:r>
              <a:rPr lang="zh-CN" altLang="zh-CN" dirty="0" smtClean="0"/>
              <a:t>工程</a:t>
            </a:r>
            <a:endParaRPr lang="en-US" altLang="zh-CN" dirty="0" smtClean="0"/>
          </a:p>
          <a:p>
            <a:r>
              <a:rPr lang="en-US" altLang="zh-CN" dirty="0"/>
              <a:t>3.3</a:t>
            </a:r>
            <a:r>
              <a:rPr lang="zh-CN" altLang="zh-CN" dirty="0"/>
              <a:t>结构化需求分析</a:t>
            </a:r>
            <a:r>
              <a:rPr lang="zh-CN" altLang="zh-CN" dirty="0" smtClean="0"/>
              <a:t>方法</a:t>
            </a:r>
            <a:endParaRPr lang="en-US" altLang="zh-CN" dirty="0" smtClean="0"/>
          </a:p>
          <a:p>
            <a:r>
              <a:rPr lang="en-US" altLang="zh-CN" dirty="0"/>
              <a:t>3.4</a:t>
            </a:r>
            <a:r>
              <a:rPr lang="zh-CN" altLang="zh-CN" dirty="0"/>
              <a:t>面向对象需求分析</a:t>
            </a:r>
            <a:r>
              <a:rPr lang="zh-CN" altLang="zh-CN" dirty="0" smtClean="0"/>
              <a:t>方法</a:t>
            </a:r>
            <a:endParaRPr lang="en-US" altLang="zh-CN" dirty="0" smtClean="0"/>
          </a:p>
          <a:p>
            <a:r>
              <a:rPr lang="en-US" altLang="zh-CN" dirty="0"/>
              <a:t>3.5</a:t>
            </a:r>
            <a:r>
              <a:rPr lang="zh-CN" altLang="zh-CN" dirty="0"/>
              <a:t>需求规格说明文档</a:t>
            </a:r>
            <a:endParaRPr lang="zh-CN" altLang="en-US" dirty="0"/>
          </a:p>
        </p:txBody>
      </p:sp>
    </p:spTree>
    <p:extLst>
      <p:ext uri="{BB962C8B-B14F-4D97-AF65-F5344CB8AC3E}">
        <p14:creationId xmlns:p14="http://schemas.microsoft.com/office/powerpoint/2010/main" val="2298255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a:t>
            </a:r>
            <a:r>
              <a:rPr lang="zh-CN" altLang="zh-CN" dirty="0"/>
              <a:t>软件项目需求</a:t>
            </a:r>
            <a:r>
              <a:rPr lang="zh-CN" altLang="zh-CN" dirty="0" smtClean="0"/>
              <a:t>概述</a:t>
            </a:r>
            <a:endParaRPr lang="zh-CN" altLang="en-US" dirty="0"/>
          </a:p>
        </p:txBody>
      </p:sp>
      <p:sp>
        <p:nvSpPr>
          <p:cNvPr id="3" name="内容占位符 2"/>
          <p:cNvSpPr>
            <a:spLocks noGrp="1"/>
          </p:cNvSpPr>
          <p:nvPr>
            <p:ph idx="1"/>
          </p:nvPr>
        </p:nvSpPr>
        <p:spPr/>
        <p:txBody>
          <a:bodyPr/>
          <a:lstStyle/>
          <a:p>
            <a:r>
              <a:rPr lang="zh-CN" altLang="zh-CN" dirty="0"/>
              <a:t>研究对象：软件项目中的用户要求。</a:t>
            </a:r>
          </a:p>
          <a:p>
            <a:endParaRPr lang="zh-CN" altLang="en-US" dirty="0"/>
          </a:p>
        </p:txBody>
      </p:sp>
    </p:spTree>
    <p:extLst>
      <p:ext uri="{BB962C8B-B14F-4D97-AF65-F5344CB8AC3E}">
        <p14:creationId xmlns:p14="http://schemas.microsoft.com/office/powerpoint/2010/main" val="2239345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a:t>
            </a:r>
            <a:r>
              <a:rPr lang="zh-CN" altLang="zh-CN" dirty="0"/>
              <a:t>软件项目需求</a:t>
            </a:r>
            <a:r>
              <a:rPr lang="zh-CN" altLang="zh-CN" dirty="0" smtClean="0"/>
              <a:t>概述</a:t>
            </a:r>
            <a:endParaRPr lang="zh-CN" altLang="en-US" dirty="0"/>
          </a:p>
        </p:txBody>
      </p:sp>
      <p:sp>
        <p:nvSpPr>
          <p:cNvPr id="3" name="内容占位符 2"/>
          <p:cNvSpPr>
            <a:spLocks noGrp="1"/>
          </p:cNvSpPr>
          <p:nvPr>
            <p:ph idx="1"/>
          </p:nvPr>
        </p:nvSpPr>
        <p:spPr/>
        <p:txBody>
          <a:bodyPr/>
          <a:lstStyle/>
          <a:p>
            <a:r>
              <a:rPr lang="zh-CN" altLang="zh-CN" dirty="0"/>
              <a:t>软件需求具有以下特点：需求不都是很明显的，可能来自于多个源头；内容和形式丰富，详细程度不同；总在不断的发展变化中。</a:t>
            </a:r>
          </a:p>
          <a:p>
            <a:r>
              <a:rPr lang="zh-CN" altLang="zh-CN" dirty="0"/>
              <a:t>需求分析是一个不断认识和逐步深化过程</a:t>
            </a:r>
            <a:r>
              <a:rPr lang="zh-CN" altLang="zh-CN" dirty="0" smtClean="0"/>
              <a:t>。</a:t>
            </a:r>
            <a:endParaRPr lang="en-US" altLang="zh-CN" dirty="0" smtClean="0"/>
          </a:p>
          <a:p>
            <a:r>
              <a:rPr lang="zh-CN" altLang="zh-CN" dirty="0"/>
              <a:t>需求分析的基本任务：准确地定义新系统，回答系统必须</a:t>
            </a:r>
            <a:r>
              <a:rPr lang="en-US" altLang="zh-CN" dirty="0"/>
              <a:t>"</a:t>
            </a:r>
            <a:r>
              <a:rPr lang="zh-CN" altLang="zh-CN" dirty="0"/>
              <a:t>做什么</a:t>
            </a:r>
            <a:r>
              <a:rPr lang="en-US" altLang="zh-CN" dirty="0"/>
              <a:t>"</a:t>
            </a:r>
            <a:r>
              <a:rPr lang="zh-CN" altLang="zh-CN" dirty="0"/>
              <a:t>的问题，对目标系统提出完整、准确、清晰、具体的要求。最终形成需求规格说明。</a:t>
            </a:r>
          </a:p>
          <a:p>
            <a:endParaRPr lang="zh-CN" altLang="zh-CN" dirty="0"/>
          </a:p>
          <a:p>
            <a:endParaRPr lang="zh-CN" altLang="en-US" dirty="0"/>
          </a:p>
        </p:txBody>
      </p:sp>
    </p:spTree>
    <p:extLst>
      <p:ext uri="{BB962C8B-B14F-4D97-AF65-F5344CB8AC3E}">
        <p14:creationId xmlns:p14="http://schemas.microsoft.com/office/powerpoint/2010/main" val="1568131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a:t>
            </a:r>
            <a:r>
              <a:rPr lang="zh-CN" altLang="zh-CN" dirty="0"/>
              <a:t>软件项目需求</a:t>
            </a:r>
            <a:r>
              <a:rPr lang="zh-CN" altLang="zh-CN" dirty="0" smtClean="0"/>
              <a:t>概述</a:t>
            </a:r>
            <a:endParaRPr lang="zh-CN" altLang="en-US" dirty="0"/>
          </a:p>
        </p:txBody>
      </p:sp>
      <p:sp>
        <p:nvSpPr>
          <p:cNvPr id="3" name="内容占位符 2"/>
          <p:cNvSpPr>
            <a:spLocks noGrp="1"/>
          </p:cNvSpPr>
          <p:nvPr>
            <p:ph idx="1"/>
          </p:nvPr>
        </p:nvSpPr>
        <p:spPr/>
        <p:txBody>
          <a:bodyPr>
            <a:normAutofit/>
          </a:bodyPr>
          <a:lstStyle/>
          <a:p>
            <a:r>
              <a:rPr lang="zh-CN" altLang="zh-CN" sz="2400" dirty="0"/>
              <a:t>软件需求是指用户对软件的功能和性能的要求。需求的练习包括：功能需求、数据需求、性能需求、质量属性、对外接口、约束。</a:t>
            </a:r>
          </a:p>
          <a:p>
            <a:r>
              <a:rPr lang="zh-CN" altLang="zh-CN" sz="2400" dirty="0"/>
              <a:t>功能需求：用户希望系统所能执行的功能。</a:t>
            </a:r>
          </a:p>
          <a:p>
            <a:r>
              <a:rPr lang="zh-CN" altLang="zh-CN" sz="2400" dirty="0"/>
              <a:t>性能需求：系统整体或者系统组成部分应该拥有的性能特征，如内存使用等。</a:t>
            </a:r>
          </a:p>
          <a:p>
            <a:r>
              <a:rPr lang="zh-CN" altLang="zh-CN" sz="2400" dirty="0"/>
              <a:t>数据需求：是在数据库、文件、或者其他介质中存储的时间描述，如功能使用的数据信息、使用频率、完整性约束、数据保持要求等。</a:t>
            </a:r>
          </a:p>
          <a:p>
            <a:r>
              <a:rPr lang="zh-CN" altLang="zh-CN" sz="2400" dirty="0"/>
              <a:t>质量属性：系统完成工作的质量，如可靠性、可维护性等。</a:t>
            </a:r>
          </a:p>
          <a:p>
            <a:r>
              <a:rPr lang="zh-CN" altLang="zh-CN" sz="2400" dirty="0"/>
              <a:t>对外接口：系统和外界环境中其他系统之间需要建立的接口，包括硬件接口、软件接口、数据库接口等。</a:t>
            </a:r>
          </a:p>
          <a:p>
            <a:r>
              <a:rPr lang="zh-CN" altLang="zh-CN" sz="2400" dirty="0"/>
              <a:t>约束：进行系统构造时需要遵守的约束，如编程语言、硬件设施等。</a:t>
            </a:r>
          </a:p>
          <a:p>
            <a:endParaRPr lang="zh-CN" altLang="en-US" sz="2400" dirty="0"/>
          </a:p>
        </p:txBody>
      </p:sp>
    </p:spTree>
    <p:extLst>
      <p:ext uri="{BB962C8B-B14F-4D97-AF65-F5344CB8AC3E}">
        <p14:creationId xmlns:p14="http://schemas.microsoft.com/office/powerpoint/2010/main" val="1568131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a:t>
            </a:r>
            <a:r>
              <a:rPr lang="zh-CN" altLang="zh-CN" dirty="0"/>
              <a:t>需求</a:t>
            </a:r>
            <a:r>
              <a:rPr lang="zh-CN" altLang="zh-CN" dirty="0" smtClean="0"/>
              <a:t>工程</a:t>
            </a:r>
            <a:endParaRPr lang="zh-CN" altLang="en-US" dirty="0"/>
          </a:p>
        </p:txBody>
      </p:sp>
      <p:sp>
        <p:nvSpPr>
          <p:cNvPr id="3" name="内容占位符 2"/>
          <p:cNvSpPr>
            <a:spLocks noGrp="1"/>
          </p:cNvSpPr>
          <p:nvPr>
            <p:ph idx="1"/>
          </p:nvPr>
        </p:nvSpPr>
        <p:spPr/>
        <p:txBody>
          <a:bodyPr/>
          <a:lstStyle/>
          <a:p>
            <a:r>
              <a:rPr lang="zh-CN" altLang="zh-CN" dirty="0"/>
              <a:t>软件需求工程的管理分为：需求获取、需求分析、需求规格说明编写、需求验证、需求变更。</a:t>
            </a:r>
            <a:endParaRPr lang="zh-CN" altLang="en-US" dirty="0"/>
          </a:p>
        </p:txBody>
      </p:sp>
      <p:pic>
        <p:nvPicPr>
          <p:cNvPr id="1026" name="图片 1"/>
          <p:cNvPicPr>
            <a:picLocks noChangeAspect="1" noChangeArrowheads="1"/>
          </p:cNvPicPr>
          <p:nvPr/>
        </p:nvPicPr>
        <p:blipFill>
          <a:blip r:embed="rId2">
            <a:extLst>
              <a:ext uri="{28A0092B-C50C-407E-A947-70E740481C1C}">
                <a14:useLocalDpi xmlns:a14="http://schemas.microsoft.com/office/drawing/2010/main" val="0"/>
              </a:ext>
            </a:extLst>
          </a:blip>
          <a:srcRect l="29688" t="35803" r="50174" b="41049"/>
          <a:stretch>
            <a:fillRect/>
          </a:stretch>
        </p:blipFill>
        <p:spPr bwMode="auto">
          <a:xfrm>
            <a:off x="260554" y="2699262"/>
            <a:ext cx="5406414" cy="3509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图片 1"/>
          <p:cNvPicPr>
            <a:picLocks noChangeAspect="1" noChangeArrowheads="1"/>
          </p:cNvPicPr>
          <p:nvPr/>
        </p:nvPicPr>
        <p:blipFill>
          <a:blip r:embed="rId3">
            <a:extLst>
              <a:ext uri="{28A0092B-C50C-407E-A947-70E740481C1C}">
                <a14:useLocalDpi xmlns:a14="http://schemas.microsoft.com/office/drawing/2010/main" val="0"/>
              </a:ext>
            </a:extLst>
          </a:blip>
          <a:srcRect l="28125" t="34187" r="49788" b="41049"/>
          <a:stretch>
            <a:fillRect/>
          </a:stretch>
        </p:blipFill>
        <p:spPr bwMode="auto">
          <a:xfrm>
            <a:off x="5995218" y="2699262"/>
            <a:ext cx="5512049" cy="3509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82601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a:t>
            </a:r>
            <a:r>
              <a:rPr lang="zh-CN" altLang="zh-CN" dirty="0"/>
              <a:t>需求</a:t>
            </a:r>
            <a:r>
              <a:rPr lang="zh-CN" altLang="zh-CN" dirty="0" smtClean="0"/>
              <a:t>工程</a:t>
            </a:r>
            <a:endParaRPr lang="zh-CN" altLang="en-US" dirty="0"/>
          </a:p>
        </p:txBody>
      </p:sp>
      <p:sp>
        <p:nvSpPr>
          <p:cNvPr id="3" name="内容占位符 2"/>
          <p:cNvSpPr>
            <a:spLocks noGrp="1"/>
          </p:cNvSpPr>
          <p:nvPr>
            <p:ph idx="1"/>
          </p:nvPr>
        </p:nvSpPr>
        <p:spPr/>
        <p:txBody>
          <a:bodyPr/>
          <a:lstStyle/>
          <a:p>
            <a:r>
              <a:rPr lang="en-US" altLang="zh-CN" b="1" dirty="0"/>
              <a:t>3.2.1</a:t>
            </a:r>
            <a:r>
              <a:rPr lang="zh-CN" altLang="zh-CN" b="1" dirty="0"/>
              <a:t>需求获取</a:t>
            </a:r>
          </a:p>
          <a:p>
            <a:r>
              <a:rPr lang="zh-CN" altLang="zh-CN" dirty="0"/>
              <a:t>需求获取可能是软件开发中最困难、最关键、最易出错及最需要交流的方面。通过调研确定目标系统的需求；提出需求实现的条件以及应达到的标准。调研就是熟悉用户的需要和业务的运作流程。</a:t>
            </a:r>
          </a:p>
          <a:p>
            <a:endParaRPr lang="zh-CN" altLang="en-US" dirty="0"/>
          </a:p>
        </p:txBody>
      </p:sp>
      <p:pic>
        <p:nvPicPr>
          <p:cNvPr id="2050" name="图片 1"/>
          <p:cNvPicPr>
            <a:picLocks noChangeAspect="1" noChangeArrowheads="1"/>
          </p:cNvPicPr>
          <p:nvPr/>
        </p:nvPicPr>
        <p:blipFill>
          <a:blip r:embed="rId2">
            <a:extLst>
              <a:ext uri="{28A0092B-C50C-407E-A947-70E740481C1C}">
                <a14:useLocalDpi xmlns:a14="http://schemas.microsoft.com/office/drawing/2010/main" val="0"/>
              </a:ext>
            </a:extLst>
          </a:blip>
          <a:srcRect l="28125" t="35185" r="48228" b="44136"/>
          <a:stretch>
            <a:fillRect/>
          </a:stretch>
        </p:blipFill>
        <p:spPr bwMode="auto">
          <a:xfrm>
            <a:off x="3771899" y="4067175"/>
            <a:ext cx="5424289" cy="267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0875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a:t>
            </a:r>
            <a:r>
              <a:rPr lang="zh-CN" altLang="zh-CN" dirty="0"/>
              <a:t>需求</a:t>
            </a:r>
            <a:r>
              <a:rPr lang="zh-CN" altLang="zh-CN" dirty="0" smtClean="0"/>
              <a:t>工程</a:t>
            </a:r>
            <a:endParaRPr lang="zh-CN" altLang="en-US" dirty="0"/>
          </a:p>
        </p:txBody>
      </p:sp>
      <p:sp>
        <p:nvSpPr>
          <p:cNvPr id="3" name="内容占位符 2"/>
          <p:cNvSpPr>
            <a:spLocks noGrp="1"/>
          </p:cNvSpPr>
          <p:nvPr>
            <p:ph idx="1"/>
          </p:nvPr>
        </p:nvSpPr>
        <p:spPr>
          <a:xfrm>
            <a:off x="516194" y="1397922"/>
            <a:ext cx="10837606" cy="4351338"/>
          </a:xfrm>
        </p:spPr>
        <p:txBody>
          <a:bodyPr>
            <a:noAutofit/>
          </a:bodyPr>
          <a:lstStyle/>
          <a:p>
            <a:r>
              <a:rPr lang="zh-CN" altLang="zh-CN" sz="2000" dirty="0"/>
              <a:t>与用户沟通获取需求的方法</a:t>
            </a:r>
          </a:p>
          <a:p>
            <a:pPr lvl="0"/>
            <a:r>
              <a:rPr lang="zh-CN" altLang="zh-CN" sz="2000" dirty="0"/>
              <a:t>用户面谈：最早使用的获取需求技术，包括正式和非正式两种形式常用情景分析技术</a:t>
            </a:r>
            <a:r>
              <a:rPr lang="en-US" altLang="zh-CN" sz="2000" dirty="0"/>
              <a:t>(</a:t>
            </a:r>
            <a:r>
              <a:rPr lang="zh-CN" altLang="zh-CN" sz="2000" dirty="0"/>
              <a:t>用户扮演积极主动角色，演示系统行为</a:t>
            </a:r>
            <a:r>
              <a:rPr lang="en-US" altLang="zh-CN" sz="2000" dirty="0"/>
              <a:t>)</a:t>
            </a:r>
            <a:r>
              <a:rPr lang="zh-CN" altLang="zh-CN" sz="2000" dirty="0"/>
              <a:t>。</a:t>
            </a:r>
          </a:p>
          <a:p>
            <a:r>
              <a:rPr lang="en-US" altLang="zh-CN" sz="2000" dirty="0"/>
              <a:t>2</a:t>
            </a:r>
            <a:r>
              <a:rPr lang="zh-CN" altLang="zh-CN" sz="2000" dirty="0"/>
              <a:t>）需求专题讨论会</a:t>
            </a:r>
          </a:p>
          <a:p>
            <a:r>
              <a:rPr lang="zh-CN" altLang="zh-CN" sz="2000" dirty="0"/>
              <a:t>需求专题讨论会也许是需求获取的一种最有力的技术。项目主要风险承担人在短暂而紧凑的时间段内集中在一起，一般为一或两天，与会者可以在应用需求上达成共识、对操作过程尽快取得统一意见。</a:t>
            </a:r>
          </a:p>
          <a:p>
            <a:r>
              <a:rPr lang="en-US" altLang="zh-CN" sz="2000" dirty="0"/>
              <a:t>3</a:t>
            </a:r>
            <a:r>
              <a:rPr lang="zh-CN" altLang="zh-CN" sz="2000" dirty="0"/>
              <a:t>）问卷调查</a:t>
            </a:r>
          </a:p>
          <a:p>
            <a:r>
              <a:rPr lang="zh-CN" altLang="zh-CN" sz="2000" dirty="0"/>
              <a:t>可用于确认假设和收集统计倾向数据，问卷需要快速叫答，允许匿名方式。</a:t>
            </a:r>
          </a:p>
          <a:p>
            <a:r>
              <a:rPr lang="en-US" altLang="zh-CN" sz="2000" dirty="0"/>
              <a:t>4</a:t>
            </a:r>
            <a:r>
              <a:rPr lang="zh-CN" altLang="zh-CN" sz="2000" dirty="0"/>
              <a:t>）现场观察</a:t>
            </a:r>
          </a:p>
          <a:p>
            <a:r>
              <a:rPr lang="zh-CN" altLang="zh-CN" sz="2000" dirty="0"/>
              <a:t>掌握用户如何实际使用一个系统以及到底用户需要哪些信息，最好的办法是亲自观察用户是如何完成实际工作的。</a:t>
            </a:r>
            <a:r>
              <a:rPr lang="en-US" altLang="zh-CN" sz="2000" dirty="0"/>
              <a:t> </a:t>
            </a:r>
            <a:endParaRPr lang="zh-CN" altLang="zh-CN" sz="2000" dirty="0"/>
          </a:p>
          <a:p>
            <a:r>
              <a:rPr lang="en-US" altLang="zh-CN" sz="2000" dirty="0"/>
              <a:t>5</a:t>
            </a:r>
            <a:r>
              <a:rPr lang="zh-CN" altLang="zh-CN" sz="2000" dirty="0"/>
              <a:t>）快速建立软件原型</a:t>
            </a:r>
          </a:p>
          <a:p>
            <a:r>
              <a:rPr lang="zh-CN" altLang="zh-CN" sz="2000" dirty="0"/>
              <a:t>最准确、最有效、最强大的需求分析技术。一个软件原型是所提出的新产品的部分实现，帮助开发人员、用户以及客户更好地理解系统的需求，它比开发人员常用的技术术语更易于理解。</a:t>
            </a:r>
          </a:p>
          <a:p>
            <a:endParaRPr lang="zh-CN" altLang="en-US" sz="2000" dirty="0"/>
          </a:p>
        </p:txBody>
      </p:sp>
    </p:spTree>
    <p:extLst>
      <p:ext uri="{BB962C8B-B14F-4D97-AF65-F5344CB8AC3E}">
        <p14:creationId xmlns:p14="http://schemas.microsoft.com/office/powerpoint/2010/main" val="136343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a:t>
            </a:r>
            <a:r>
              <a:rPr lang="zh-CN" altLang="zh-CN" dirty="0"/>
              <a:t>需求</a:t>
            </a:r>
            <a:r>
              <a:rPr lang="zh-CN" altLang="zh-CN" dirty="0" smtClean="0"/>
              <a:t>工程</a:t>
            </a:r>
            <a:endParaRPr lang="zh-CN" altLang="en-US" dirty="0"/>
          </a:p>
        </p:txBody>
      </p:sp>
      <p:sp>
        <p:nvSpPr>
          <p:cNvPr id="3" name="内容占位符 2"/>
          <p:cNvSpPr>
            <a:spLocks noGrp="1"/>
          </p:cNvSpPr>
          <p:nvPr>
            <p:ph idx="1"/>
          </p:nvPr>
        </p:nvSpPr>
        <p:spPr/>
        <p:txBody>
          <a:bodyPr/>
          <a:lstStyle/>
          <a:p>
            <a:r>
              <a:rPr lang="en-US" altLang="zh-CN" b="1" dirty="0"/>
              <a:t>3.2.2 </a:t>
            </a:r>
            <a:r>
              <a:rPr lang="zh-CN" altLang="zh-CN" b="1" dirty="0"/>
              <a:t>需求分析</a:t>
            </a:r>
          </a:p>
          <a:p>
            <a:endParaRPr lang="zh-CN" altLang="en-US" dirty="0"/>
          </a:p>
        </p:txBody>
      </p:sp>
      <p:pic>
        <p:nvPicPr>
          <p:cNvPr id="3074" name="图片 1"/>
          <p:cNvPicPr>
            <a:picLocks noChangeAspect="1" noChangeArrowheads="1"/>
          </p:cNvPicPr>
          <p:nvPr/>
        </p:nvPicPr>
        <p:blipFill>
          <a:blip r:embed="rId2">
            <a:extLst>
              <a:ext uri="{28A0092B-C50C-407E-A947-70E740481C1C}">
                <a14:useLocalDpi xmlns:a14="http://schemas.microsoft.com/office/drawing/2010/main" val="0"/>
              </a:ext>
            </a:extLst>
          </a:blip>
          <a:srcRect l="30902" t="32408" r="17406" b="19444"/>
          <a:stretch>
            <a:fillRect/>
          </a:stretch>
        </p:blipFill>
        <p:spPr bwMode="auto">
          <a:xfrm>
            <a:off x="2411360" y="2569905"/>
            <a:ext cx="7937801" cy="4155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343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a:t>
            </a:r>
            <a:r>
              <a:rPr lang="zh-CN" altLang="zh-CN" dirty="0"/>
              <a:t>需求</a:t>
            </a:r>
            <a:r>
              <a:rPr lang="zh-CN" altLang="zh-CN" dirty="0" smtClean="0"/>
              <a:t>工程</a:t>
            </a:r>
            <a:endParaRPr lang="zh-CN" altLang="en-US" dirty="0"/>
          </a:p>
        </p:txBody>
      </p:sp>
      <p:sp>
        <p:nvSpPr>
          <p:cNvPr id="3" name="内容占位符 2"/>
          <p:cNvSpPr>
            <a:spLocks noGrp="1"/>
          </p:cNvSpPr>
          <p:nvPr>
            <p:ph idx="1"/>
          </p:nvPr>
        </p:nvSpPr>
        <p:spPr/>
        <p:txBody>
          <a:bodyPr/>
          <a:lstStyle/>
          <a:p>
            <a:r>
              <a:rPr lang="zh-CN" altLang="zh-CN" dirty="0"/>
              <a:t>需求分析对项目质量的影响度最大</a:t>
            </a:r>
            <a:endParaRPr lang="zh-CN" altLang="en-US" dirty="0"/>
          </a:p>
        </p:txBody>
      </p:sp>
      <p:pic>
        <p:nvPicPr>
          <p:cNvPr id="4098" name="図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7445" y="2507226"/>
            <a:ext cx="4772025"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63436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a:t>
            </a:r>
            <a:r>
              <a:rPr lang="zh-CN" altLang="zh-CN" dirty="0"/>
              <a:t>需求</a:t>
            </a:r>
            <a:r>
              <a:rPr lang="zh-CN" altLang="zh-CN" dirty="0" smtClean="0"/>
              <a:t>工程</a:t>
            </a:r>
            <a:endParaRPr lang="zh-CN" altLang="en-US" dirty="0"/>
          </a:p>
        </p:txBody>
      </p:sp>
      <p:sp>
        <p:nvSpPr>
          <p:cNvPr id="3" name="内容占位符 2"/>
          <p:cNvSpPr>
            <a:spLocks noGrp="1"/>
          </p:cNvSpPr>
          <p:nvPr>
            <p:ph idx="1"/>
          </p:nvPr>
        </p:nvSpPr>
        <p:spPr/>
        <p:txBody>
          <a:bodyPr/>
          <a:lstStyle/>
          <a:p>
            <a:r>
              <a:rPr lang="zh-CN" altLang="zh-CN" dirty="0"/>
              <a:t>需求分析是为最终用户所看到的系统建立一个概念模型，是对需求的抽象描述。</a:t>
            </a:r>
          </a:p>
          <a:p>
            <a:endParaRPr lang="zh-CN" alt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553" y="2669151"/>
            <a:ext cx="10518619" cy="3539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0875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a:t>
            </a:r>
            <a:r>
              <a:rPr lang="zh-CN" altLang="zh-CN" dirty="0"/>
              <a:t>需求</a:t>
            </a:r>
            <a:r>
              <a:rPr lang="zh-CN" altLang="zh-CN" dirty="0" smtClean="0"/>
              <a:t>工程</a:t>
            </a:r>
            <a:endParaRPr lang="zh-CN" altLang="en-US" dirty="0"/>
          </a:p>
        </p:txBody>
      </p:sp>
      <p:sp>
        <p:nvSpPr>
          <p:cNvPr id="3" name="内容占位符 2"/>
          <p:cNvSpPr>
            <a:spLocks noGrp="1"/>
          </p:cNvSpPr>
          <p:nvPr>
            <p:ph idx="1"/>
          </p:nvPr>
        </p:nvSpPr>
        <p:spPr/>
        <p:txBody>
          <a:bodyPr>
            <a:normAutofit/>
          </a:bodyPr>
          <a:lstStyle/>
          <a:p>
            <a:r>
              <a:rPr lang="zh-CN" altLang="zh-CN" sz="2400" dirty="0"/>
              <a:t>需求分析实践流程</a:t>
            </a:r>
          </a:p>
          <a:p>
            <a:r>
              <a:rPr lang="zh-CN" altLang="zh-CN" sz="2400" dirty="0"/>
              <a:t>①　信息获取</a:t>
            </a:r>
          </a:p>
          <a:p>
            <a:r>
              <a:rPr lang="zh-CN" altLang="zh-CN" sz="2400" dirty="0"/>
              <a:t>②　整理・分析</a:t>
            </a:r>
          </a:p>
          <a:p>
            <a:r>
              <a:rPr lang="zh-CN" altLang="zh-CN" sz="2400" dirty="0"/>
              <a:t>③　表现</a:t>
            </a:r>
            <a:r>
              <a:rPr lang="en-US" altLang="zh-CN" sz="2400" dirty="0"/>
              <a:t>/</a:t>
            </a:r>
            <a:r>
              <a:rPr lang="zh-CN" altLang="zh-CN" sz="2400" dirty="0"/>
              <a:t>描述</a:t>
            </a:r>
          </a:p>
          <a:p>
            <a:r>
              <a:rPr lang="zh-CN" altLang="zh-CN" sz="2400" dirty="0"/>
              <a:t>需求分析流程原则上按照上述过程进行，但根据项目实际情况也可以反复进行并完善，目的是确定系统需求。</a:t>
            </a:r>
          </a:p>
          <a:p>
            <a:endParaRPr lang="zh-CN" altLang="en-US" sz="2400" dirty="0"/>
          </a:p>
        </p:txBody>
      </p:sp>
      <p:pic>
        <p:nvPicPr>
          <p:cNvPr id="6146" name="图片 1"/>
          <p:cNvPicPr>
            <a:picLocks noChangeAspect="1" noChangeArrowheads="1"/>
          </p:cNvPicPr>
          <p:nvPr/>
        </p:nvPicPr>
        <p:blipFill>
          <a:blip r:embed="rId2">
            <a:extLst>
              <a:ext uri="{28A0092B-C50C-407E-A947-70E740481C1C}">
                <a14:useLocalDpi xmlns:a14="http://schemas.microsoft.com/office/drawing/2010/main" val="0"/>
              </a:ext>
            </a:extLst>
          </a:blip>
          <a:srcRect l="41145" t="33951" r="16098" b="26852"/>
          <a:stretch>
            <a:fillRect/>
          </a:stretch>
        </p:blipFill>
        <p:spPr bwMode="auto">
          <a:xfrm>
            <a:off x="5597012" y="4372897"/>
            <a:ext cx="4651199" cy="2381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0875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a:t>
            </a:r>
            <a:r>
              <a:rPr lang="zh-CN" altLang="zh-CN" dirty="0"/>
              <a:t>需求</a:t>
            </a:r>
            <a:r>
              <a:rPr lang="zh-CN" altLang="zh-CN" dirty="0" smtClean="0"/>
              <a:t>工程</a:t>
            </a:r>
            <a:endParaRPr lang="zh-CN" altLang="en-US" dirty="0"/>
          </a:p>
        </p:txBody>
      </p:sp>
      <p:sp>
        <p:nvSpPr>
          <p:cNvPr id="3" name="内容占位符 2"/>
          <p:cNvSpPr>
            <a:spLocks noGrp="1"/>
          </p:cNvSpPr>
          <p:nvPr>
            <p:ph idx="1"/>
          </p:nvPr>
        </p:nvSpPr>
        <p:spPr/>
        <p:txBody>
          <a:bodyPr>
            <a:noAutofit/>
          </a:bodyPr>
          <a:lstStyle/>
          <a:p>
            <a:r>
              <a:rPr lang="zh-CN" altLang="zh-CN" sz="2400" dirty="0"/>
              <a:t>信息获取</a:t>
            </a:r>
          </a:p>
          <a:p>
            <a:r>
              <a:rPr lang="zh-CN" altLang="zh-CN" sz="2400" dirty="0"/>
              <a:t>常用的获取需求的方法如下：</a:t>
            </a:r>
          </a:p>
          <a:p>
            <a:r>
              <a:rPr lang="zh-CN" altLang="zh-CN" sz="2400" dirty="0"/>
              <a:t>① 现场当面沟通</a:t>
            </a:r>
            <a:r>
              <a:rPr lang="en-US" altLang="zh-CN" sz="2400" dirty="0"/>
              <a:t>/</a:t>
            </a:r>
            <a:r>
              <a:rPr lang="zh-CN" altLang="zh-CN" sz="2400" dirty="0"/>
              <a:t>交谈</a:t>
            </a:r>
          </a:p>
          <a:p>
            <a:r>
              <a:rPr lang="zh-CN" altLang="zh-CN" sz="2400" dirty="0"/>
              <a:t>② 头脑风暴（集思广益）</a:t>
            </a:r>
          </a:p>
          <a:p>
            <a:r>
              <a:rPr lang="zh-CN" altLang="zh-CN" sz="2400" dirty="0"/>
              <a:t>③ 问卷调查</a:t>
            </a:r>
          </a:p>
          <a:p>
            <a:r>
              <a:rPr lang="zh-CN" altLang="zh-CN" sz="2400" dirty="0"/>
              <a:t>④ 原型</a:t>
            </a:r>
          </a:p>
          <a:p>
            <a:r>
              <a:rPr lang="zh-CN" altLang="zh-CN" sz="2400" dirty="0"/>
              <a:t>注意事项</a:t>
            </a:r>
          </a:p>
          <a:p>
            <a:r>
              <a:rPr lang="zh-CN" altLang="zh-CN" sz="2400" dirty="0"/>
              <a:t>①　提问前要通过相关文档了解现状</a:t>
            </a:r>
          </a:p>
          <a:p>
            <a:r>
              <a:rPr lang="zh-CN" altLang="zh-CN" sz="2400" dirty="0"/>
              <a:t>②　提问方法采用“开放提问”方法　</a:t>
            </a:r>
          </a:p>
          <a:p>
            <a:r>
              <a:rPr lang="zh-CN" altLang="zh-CN" sz="2400" dirty="0"/>
              <a:t>③　数值、业务的关联关系、别忘了确定例外处理</a:t>
            </a:r>
          </a:p>
          <a:p>
            <a:r>
              <a:rPr lang="zh-CN" altLang="zh-CN" sz="2400" dirty="0"/>
              <a:t>④　不容易确认的需求采用原型方法</a:t>
            </a:r>
          </a:p>
          <a:p>
            <a:endParaRPr lang="zh-CN" altLang="en-US" sz="2400" dirty="0"/>
          </a:p>
        </p:txBody>
      </p:sp>
    </p:spTree>
    <p:extLst>
      <p:ext uri="{BB962C8B-B14F-4D97-AF65-F5344CB8AC3E}">
        <p14:creationId xmlns:p14="http://schemas.microsoft.com/office/powerpoint/2010/main" val="1100875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a:t>
            </a:r>
            <a:r>
              <a:rPr lang="zh-CN" altLang="zh-CN" dirty="0"/>
              <a:t>需求</a:t>
            </a:r>
            <a:r>
              <a:rPr lang="zh-CN" altLang="zh-CN" dirty="0" smtClean="0"/>
              <a:t>工程</a:t>
            </a:r>
            <a:endParaRPr lang="zh-CN" altLang="en-US" dirty="0"/>
          </a:p>
        </p:txBody>
      </p:sp>
      <p:sp>
        <p:nvSpPr>
          <p:cNvPr id="3" name="内容占位符 2"/>
          <p:cNvSpPr>
            <a:spLocks noGrp="1"/>
          </p:cNvSpPr>
          <p:nvPr>
            <p:ph idx="1"/>
          </p:nvPr>
        </p:nvSpPr>
        <p:spPr/>
        <p:txBody>
          <a:bodyPr>
            <a:noAutofit/>
          </a:bodyPr>
          <a:lstStyle/>
          <a:p>
            <a:r>
              <a:rPr lang="zh-CN" altLang="zh-CN" sz="2400" dirty="0"/>
              <a:t>整理・分析</a:t>
            </a:r>
          </a:p>
          <a:p>
            <a:r>
              <a:rPr lang="zh-CN" altLang="zh-CN" sz="2400" dirty="0"/>
              <a:t>现场获取到的需求比较混杂而且往往容易需求扩大化（蔓延），有必要结合业务范围整理</a:t>
            </a:r>
            <a:r>
              <a:rPr lang="en-US" altLang="zh-CN" sz="2400" dirty="0"/>
              <a:t>/</a:t>
            </a:r>
            <a:r>
              <a:rPr lang="zh-CN" altLang="zh-CN" sz="2400" dirty="0"/>
              <a:t>分析必要的系统实现的范围。</a:t>
            </a:r>
          </a:p>
          <a:p>
            <a:r>
              <a:rPr lang="zh-CN" altLang="zh-CN" sz="2400" dirty="0"/>
              <a:t>①内容整合性的确认</a:t>
            </a:r>
          </a:p>
          <a:p>
            <a:r>
              <a:rPr lang="zh-CN" altLang="zh-CN" sz="2400" dirty="0"/>
              <a:t>②优先顺序确定</a:t>
            </a:r>
          </a:p>
          <a:p>
            <a:r>
              <a:rPr lang="zh-CN" altLang="zh-CN" sz="2400" dirty="0"/>
              <a:t>③取舍选择</a:t>
            </a:r>
          </a:p>
          <a:p>
            <a:r>
              <a:rPr lang="zh-CN" altLang="zh-CN" sz="2400" dirty="0"/>
              <a:t>注意事项</a:t>
            </a:r>
          </a:p>
          <a:p>
            <a:r>
              <a:rPr lang="zh-CN" altLang="zh-CN" sz="2400" dirty="0"/>
              <a:t>①　「Ｗｈａｔ」　（不是Ｈｏｗ）　</a:t>
            </a:r>
          </a:p>
          <a:p>
            <a:r>
              <a:rPr lang="zh-CN" altLang="zh-CN" sz="2400" dirty="0"/>
              <a:t>②　「前提・制約」　</a:t>
            </a:r>
          </a:p>
          <a:p>
            <a:r>
              <a:rPr lang="zh-CN" altLang="zh-CN" sz="2400" dirty="0"/>
              <a:t>③</a:t>
            </a:r>
            <a:r>
              <a:rPr lang="en-US" altLang="zh-CN" sz="2400" dirty="0"/>
              <a:t>  </a:t>
            </a:r>
            <a:r>
              <a:rPr lang="zh-CN" altLang="zh-CN" sz="2400" dirty="0"/>
              <a:t>「使用者的能力」</a:t>
            </a:r>
          </a:p>
          <a:p>
            <a:r>
              <a:rPr lang="zh-CN" altLang="zh-CN" sz="2400" dirty="0"/>
              <a:t>④　需求要“可验证”</a:t>
            </a:r>
          </a:p>
          <a:p>
            <a:endParaRPr lang="zh-CN" altLang="en-US" sz="2400" dirty="0"/>
          </a:p>
        </p:txBody>
      </p:sp>
    </p:spTree>
    <p:extLst>
      <p:ext uri="{BB962C8B-B14F-4D97-AF65-F5344CB8AC3E}">
        <p14:creationId xmlns:p14="http://schemas.microsoft.com/office/powerpoint/2010/main" val="1100875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a:t>
            </a:r>
            <a:r>
              <a:rPr lang="zh-CN" altLang="zh-CN" dirty="0"/>
              <a:t>需求</a:t>
            </a:r>
            <a:r>
              <a:rPr lang="zh-CN" altLang="zh-CN" dirty="0" smtClean="0"/>
              <a:t>工程</a:t>
            </a:r>
            <a:endParaRPr lang="zh-CN" altLang="en-US" dirty="0"/>
          </a:p>
        </p:txBody>
      </p:sp>
      <p:sp>
        <p:nvSpPr>
          <p:cNvPr id="3" name="内容占位符 2"/>
          <p:cNvSpPr>
            <a:spLocks noGrp="1"/>
          </p:cNvSpPr>
          <p:nvPr>
            <p:ph idx="1"/>
          </p:nvPr>
        </p:nvSpPr>
        <p:spPr/>
        <p:txBody>
          <a:bodyPr>
            <a:normAutofit/>
          </a:bodyPr>
          <a:lstStyle/>
          <a:p>
            <a:r>
              <a:rPr lang="zh-CN" altLang="zh-CN" sz="2400" dirty="0"/>
              <a:t>表现</a:t>
            </a:r>
            <a:r>
              <a:rPr lang="en-US" altLang="zh-CN" sz="2400" dirty="0"/>
              <a:t>/</a:t>
            </a:r>
            <a:r>
              <a:rPr lang="zh-CN" altLang="zh-CN" sz="2400" dirty="0"/>
              <a:t>描述</a:t>
            </a:r>
          </a:p>
          <a:p>
            <a:r>
              <a:rPr lang="zh-CN" altLang="zh-CN" sz="2400" dirty="0"/>
              <a:t>获取到的需求通过整理分析后，要用文件的形式把需求的要点表现（描述）出来。</a:t>
            </a:r>
          </a:p>
          <a:p>
            <a:r>
              <a:rPr lang="zh-CN" altLang="zh-CN" sz="2400" dirty="0"/>
              <a:t>主观的描述形式由于基准不一致，仅仅只是文字单一的描述是不够的，客观的表现形式是很有必要的。</a:t>
            </a:r>
          </a:p>
          <a:p>
            <a:r>
              <a:rPr lang="en-US" altLang="zh-CN" sz="2400" dirty="0"/>
              <a:t>IPF</a:t>
            </a:r>
            <a:r>
              <a:rPr lang="zh-CN" altLang="zh-CN" sz="2400" dirty="0"/>
              <a:t>、</a:t>
            </a:r>
            <a:r>
              <a:rPr lang="en-US" altLang="zh-CN" sz="2400" dirty="0"/>
              <a:t>DFD</a:t>
            </a:r>
            <a:r>
              <a:rPr lang="zh-CN" altLang="zh-CN" sz="2400" dirty="0"/>
              <a:t>、</a:t>
            </a:r>
            <a:r>
              <a:rPr lang="en-US" altLang="zh-CN" sz="2400" dirty="0"/>
              <a:t>E-R</a:t>
            </a:r>
            <a:r>
              <a:rPr lang="zh-CN" altLang="zh-CN" sz="2400" dirty="0"/>
              <a:t>图等在需求描述方面是比不可少的。</a:t>
            </a:r>
          </a:p>
          <a:p>
            <a:endParaRPr lang="zh-CN" altLang="en-US" sz="2400" dirty="0"/>
          </a:p>
        </p:txBody>
      </p:sp>
    </p:spTree>
    <p:extLst>
      <p:ext uri="{BB962C8B-B14F-4D97-AF65-F5344CB8AC3E}">
        <p14:creationId xmlns:p14="http://schemas.microsoft.com/office/powerpoint/2010/main" val="1100875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a:t>
            </a:r>
            <a:r>
              <a:rPr lang="zh-CN" altLang="zh-CN" dirty="0"/>
              <a:t>需求</a:t>
            </a:r>
            <a:r>
              <a:rPr lang="zh-CN" altLang="zh-CN" dirty="0" smtClean="0"/>
              <a:t>工程</a:t>
            </a:r>
            <a:endParaRPr lang="zh-CN" altLang="en-US" dirty="0"/>
          </a:p>
        </p:txBody>
      </p:sp>
      <p:sp>
        <p:nvSpPr>
          <p:cNvPr id="3" name="内容占位符 2"/>
          <p:cNvSpPr>
            <a:spLocks noGrp="1"/>
          </p:cNvSpPr>
          <p:nvPr>
            <p:ph idx="1"/>
          </p:nvPr>
        </p:nvSpPr>
        <p:spPr/>
        <p:txBody>
          <a:bodyPr/>
          <a:lstStyle/>
          <a:p>
            <a:r>
              <a:rPr lang="zh-CN" altLang="zh-CN" dirty="0"/>
              <a:t>分析模型在系统描述和设计模型之间建立桥梁</a:t>
            </a:r>
            <a:endParaRPr lang="zh-CN" altLang="en-US" dirty="0"/>
          </a:p>
        </p:txBody>
      </p:sp>
      <p:pic>
        <p:nvPicPr>
          <p:cNvPr id="7170" name="图片 1"/>
          <p:cNvPicPr>
            <a:picLocks noChangeAspect="1" noChangeArrowheads="1"/>
          </p:cNvPicPr>
          <p:nvPr/>
        </p:nvPicPr>
        <p:blipFill>
          <a:blip r:embed="rId2">
            <a:extLst>
              <a:ext uri="{28A0092B-C50C-407E-A947-70E740481C1C}">
                <a14:useLocalDpi xmlns:a14="http://schemas.microsoft.com/office/drawing/2010/main" val="0"/>
              </a:ext>
            </a:extLst>
          </a:blip>
          <a:srcRect l="44098" t="42284" r="26306" b="32098"/>
          <a:stretch>
            <a:fillRect/>
          </a:stretch>
        </p:blipFill>
        <p:spPr bwMode="auto">
          <a:xfrm>
            <a:off x="2485103" y="3052916"/>
            <a:ext cx="4623620" cy="224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0875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a:t>
            </a:r>
            <a:r>
              <a:rPr lang="zh-CN" altLang="zh-CN" dirty="0"/>
              <a:t>需求</a:t>
            </a:r>
            <a:r>
              <a:rPr lang="zh-CN" altLang="zh-CN" dirty="0" smtClean="0"/>
              <a:t>工程</a:t>
            </a:r>
            <a:endParaRPr lang="zh-CN" altLang="en-US" dirty="0"/>
          </a:p>
        </p:txBody>
      </p:sp>
      <p:sp>
        <p:nvSpPr>
          <p:cNvPr id="3" name="内容占位符 2"/>
          <p:cNvSpPr>
            <a:spLocks noGrp="1"/>
          </p:cNvSpPr>
          <p:nvPr>
            <p:ph idx="1"/>
          </p:nvPr>
        </p:nvSpPr>
        <p:spPr/>
        <p:txBody>
          <a:bodyPr>
            <a:normAutofit/>
          </a:bodyPr>
          <a:lstStyle/>
          <a:p>
            <a:r>
              <a:rPr lang="en-US" altLang="zh-CN" sz="2400" b="1" dirty="0"/>
              <a:t>3.2.3 </a:t>
            </a:r>
            <a:r>
              <a:rPr lang="zh-CN" altLang="zh-CN" sz="2400" b="1" dirty="0"/>
              <a:t>需求规格说明编写</a:t>
            </a:r>
          </a:p>
          <a:p>
            <a:r>
              <a:rPr lang="en-US" altLang="zh-CN" sz="2400" dirty="0"/>
              <a:t> </a:t>
            </a:r>
            <a:r>
              <a:rPr lang="zh-CN" altLang="zh-CN" sz="2400" dirty="0" smtClean="0"/>
              <a:t>需求规格</a:t>
            </a:r>
            <a:r>
              <a:rPr lang="zh-CN" altLang="zh-CN" sz="2400" dirty="0"/>
              <a:t>说明书不仅仅只是开发者阅读、用户也需要阅读。如果需求分析的描述文字太专业客户就有可能看不懂，因此会经常使用一些容易理解的图表描述方法。</a:t>
            </a:r>
          </a:p>
          <a:p>
            <a:r>
              <a:rPr lang="en-US" altLang="zh-CN" sz="2400" dirty="0"/>
              <a:t>1) </a:t>
            </a:r>
            <a:r>
              <a:rPr lang="zh-CN" altLang="zh-CN" sz="2400" dirty="0"/>
              <a:t>注重业务流程的</a:t>
            </a:r>
            <a:r>
              <a:rPr lang="en-US" altLang="zh-CN" sz="2400" dirty="0"/>
              <a:t>IPF</a:t>
            </a:r>
            <a:r>
              <a:rPr lang="zh-CN" altLang="zh-CN" sz="2400" dirty="0"/>
              <a:t>（</a:t>
            </a:r>
            <a:r>
              <a:rPr lang="en-US" altLang="zh-CN" sz="2400" dirty="0"/>
              <a:t>Information Process</a:t>
            </a:r>
            <a:r>
              <a:rPr lang="zh-CN" altLang="zh-CN" sz="2400" dirty="0"/>
              <a:t>　</a:t>
            </a:r>
            <a:r>
              <a:rPr lang="en-US" altLang="zh-CN" sz="2400" dirty="0"/>
              <a:t>Flow </a:t>
            </a:r>
            <a:r>
              <a:rPr lang="zh-CN" altLang="zh-CN" sz="2400" dirty="0"/>
              <a:t>）</a:t>
            </a:r>
          </a:p>
          <a:p>
            <a:r>
              <a:rPr lang="en-US" altLang="zh-CN" sz="2400" dirty="0"/>
              <a:t>2)</a:t>
            </a:r>
            <a:r>
              <a:rPr lang="zh-CN" altLang="zh-CN" sz="2400" dirty="0"/>
              <a:t>注重数据的流向的</a:t>
            </a:r>
            <a:r>
              <a:rPr lang="en-US" altLang="zh-CN" sz="2400" dirty="0"/>
              <a:t>DFD</a:t>
            </a:r>
            <a:r>
              <a:rPr lang="zh-CN" altLang="zh-CN" sz="2400" dirty="0"/>
              <a:t>（</a:t>
            </a:r>
            <a:r>
              <a:rPr lang="en-US" altLang="zh-CN" sz="2400" dirty="0"/>
              <a:t>Data Flow Diagram</a:t>
            </a:r>
            <a:r>
              <a:rPr lang="zh-CN" altLang="zh-CN" sz="2400" dirty="0"/>
              <a:t>）</a:t>
            </a:r>
          </a:p>
          <a:p>
            <a:r>
              <a:rPr lang="en-US" altLang="zh-CN" sz="2400" dirty="0"/>
              <a:t>3)</a:t>
            </a:r>
            <a:r>
              <a:rPr lang="zh-CN" altLang="zh-CN" sz="2400" dirty="0"/>
              <a:t>注重数据结构及相互关联关系</a:t>
            </a:r>
            <a:r>
              <a:rPr lang="zh-CN" altLang="zh-CN" sz="2400" dirty="0" smtClean="0"/>
              <a:t>的</a:t>
            </a:r>
            <a:r>
              <a:rPr lang="en-US" altLang="zh-CN" sz="2400" dirty="0" smtClean="0"/>
              <a:t>ER</a:t>
            </a:r>
            <a:r>
              <a:rPr lang="zh-CN" altLang="zh-CN" sz="2400" dirty="0" smtClean="0"/>
              <a:t>图</a:t>
            </a:r>
            <a:r>
              <a:rPr lang="zh-CN" altLang="zh-CN" sz="2400" dirty="0"/>
              <a:t>（</a:t>
            </a:r>
            <a:r>
              <a:rPr lang="en-US" altLang="zh-CN" sz="2400" dirty="0"/>
              <a:t>Entity-Relationship</a:t>
            </a:r>
            <a:r>
              <a:rPr lang="zh-CN" altLang="zh-CN" sz="2400" dirty="0"/>
              <a:t>）</a:t>
            </a:r>
          </a:p>
          <a:p>
            <a:r>
              <a:rPr lang="en-US" altLang="zh-CN" sz="2400" dirty="0"/>
              <a:t>4)</a:t>
            </a:r>
            <a:r>
              <a:rPr lang="zh-CN" altLang="zh-CN" sz="2400" dirty="0"/>
              <a:t>注重用户及系统功能交互关系的</a:t>
            </a:r>
            <a:r>
              <a:rPr lang="en-US" altLang="zh-CN" sz="2400" dirty="0"/>
              <a:t>UML</a:t>
            </a:r>
            <a:r>
              <a:rPr lang="zh-CN" altLang="zh-CN" sz="2400" dirty="0"/>
              <a:t>（</a:t>
            </a:r>
            <a:r>
              <a:rPr lang="en-US" altLang="zh-CN" sz="2400" dirty="0"/>
              <a:t>Unified Modeling                             Language</a:t>
            </a:r>
            <a:r>
              <a:rPr lang="zh-CN" altLang="zh-CN" sz="2400" dirty="0"/>
              <a:t>），例如用例图。</a:t>
            </a:r>
            <a:endParaRPr lang="zh-CN" altLang="en-US" sz="2400" dirty="0"/>
          </a:p>
        </p:txBody>
      </p:sp>
    </p:spTree>
    <p:extLst>
      <p:ext uri="{BB962C8B-B14F-4D97-AF65-F5344CB8AC3E}">
        <p14:creationId xmlns:p14="http://schemas.microsoft.com/office/powerpoint/2010/main" val="1100875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a:t>
            </a:r>
            <a:r>
              <a:rPr lang="zh-CN" altLang="zh-CN" dirty="0"/>
              <a:t>需求</a:t>
            </a:r>
            <a:r>
              <a:rPr lang="zh-CN" altLang="zh-CN" dirty="0" smtClean="0"/>
              <a:t>工程</a:t>
            </a:r>
            <a:endParaRPr lang="zh-CN" altLang="en-US" dirty="0"/>
          </a:p>
        </p:txBody>
      </p:sp>
      <p:sp>
        <p:nvSpPr>
          <p:cNvPr id="3" name="内容占位符 2"/>
          <p:cNvSpPr>
            <a:spLocks noGrp="1"/>
          </p:cNvSpPr>
          <p:nvPr>
            <p:ph idx="1"/>
          </p:nvPr>
        </p:nvSpPr>
        <p:spPr/>
        <p:txBody>
          <a:bodyPr>
            <a:normAutofit/>
          </a:bodyPr>
          <a:lstStyle/>
          <a:p>
            <a:r>
              <a:rPr lang="zh-CN" altLang="zh-CN" sz="2400" dirty="0"/>
              <a:t>需求分析工作完成的一个基本标志是形成了一份完整的、规范的需求规格说明书。需求规格说明书的编制是为了使用户和软件开发者双方对该软件的初始规定有一个共同的理解，使之成为整个开发工作的基础</a:t>
            </a:r>
            <a:r>
              <a:rPr lang="zh-CN" altLang="zh-CN" sz="2400" dirty="0" smtClean="0"/>
              <a:t>。</a:t>
            </a:r>
            <a:endParaRPr lang="en-US" altLang="zh-CN" sz="2400" dirty="0" smtClean="0"/>
          </a:p>
          <a:p>
            <a:endParaRPr lang="en-US" altLang="zh-CN" sz="2400" dirty="0"/>
          </a:p>
          <a:p>
            <a:r>
              <a:rPr lang="zh-CN" altLang="zh-CN" sz="2400" dirty="0"/>
              <a:t>软件需求规格说明的原则</a:t>
            </a:r>
          </a:p>
          <a:p>
            <a:r>
              <a:rPr lang="en-US" altLang="zh-CN" sz="2400" dirty="0"/>
              <a:t>1</a:t>
            </a:r>
            <a:r>
              <a:rPr lang="zh-CN" altLang="zh-CN" sz="2400" dirty="0"/>
              <a:t>）从现实中分离功能，即描述要“做什么”而不是“怎样实现”。</a:t>
            </a:r>
          </a:p>
          <a:p>
            <a:r>
              <a:rPr lang="en-US" altLang="zh-CN" sz="2400" dirty="0"/>
              <a:t>2</a:t>
            </a:r>
            <a:r>
              <a:rPr lang="zh-CN" altLang="zh-CN" sz="2400" dirty="0"/>
              <a:t>）采用一定的规格说明语言。</a:t>
            </a:r>
          </a:p>
          <a:p>
            <a:r>
              <a:rPr lang="en-US" altLang="zh-CN" sz="2400" dirty="0"/>
              <a:t>3</a:t>
            </a:r>
            <a:r>
              <a:rPr lang="zh-CN" altLang="zh-CN" sz="2400" dirty="0"/>
              <a:t>）如果被开发软件只是一个大系统中的一个元素，那么整个大系统也包括在规格说明的描述之中。</a:t>
            </a:r>
          </a:p>
          <a:p>
            <a:endParaRPr lang="zh-CN" altLang="en-US" sz="2400" dirty="0"/>
          </a:p>
        </p:txBody>
      </p:sp>
    </p:spTree>
    <p:extLst>
      <p:ext uri="{BB962C8B-B14F-4D97-AF65-F5344CB8AC3E}">
        <p14:creationId xmlns:p14="http://schemas.microsoft.com/office/powerpoint/2010/main" val="18019880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a:t>
            </a:r>
            <a:r>
              <a:rPr lang="zh-CN" altLang="zh-CN" dirty="0"/>
              <a:t>需求</a:t>
            </a:r>
            <a:r>
              <a:rPr lang="zh-CN" altLang="zh-CN" dirty="0" smtClean="0"/>
              <a:t>工程</a:t>
            </a:r>
            <a:endParaRPr lang="zh-CN" altLang="en-US" dirty="0"/>
          </a:p>
        </p:txBody>
      </p:sp>
      <p:sp>
        <p:nvSpPr>
          <p:cNvPr id="3" name="内容占位符 2"/>
          <p:cNvSpPr>
            <a:spLocks noGrp="1"/>
          </p:cNvSpPr>
          <p:nvPr>
            <p:ph idx="1"/>
          </p:nvPr>
        </p:nvSpPr>
        <p:spPr/>
        <p:txBody>
          <a:bodyPr>
            <a:noAutofit/>
          </a:bodyPr>
          <a:lstStyle/>
          <a:p>
            <a:r>
              <a:rPr lang="en-US" altLang="zh-CN" sz="2400" b="1" dirty="0"/>
              <a:t>3.2.4 </a:t>
            </a:r>
            <a:r>
              <a:rPr lang="zh-CN" altLang="zh-CN" sz="2400" b="1" dirty="0"/>
              <a:t>需求验证</a:t>
            </a:r>
          </a:p>
          <a:p>
            <a:r>
              <a:rPr lang="zh-CN" altLang="zh-CN" sz="2400" dirty="0"/>
              <a:t>需求分析工作是开发软件系统的重要基础，一旦对目标系统提出一组要求后，必须严格验证这些需求的正确性。从以下几个方面进行：</a:t>
            </a:r>
          </a:p>
          <a:p>
            <a:r>
              <a:rPr lang="en-US" altLang="zh-CN" sz="2400" dirty="0"/>
              <a:t>1</a:t>
            </a:r>
            <a:r>
              <a:rPr lang="zh-CN" altLang="zh-CN" sz="2400" dirty="0"/>
              <a:t>）需求是正确的吗？</a:t>
            </a:r>
          </a:p>
          <a:p>
            <a:r>
              <a:rPr lang="en-US" altLang="zh-CN" sz="2400" dirty="0"/>
              <a:t>2</a:t>
            </a:r>
            <a:r>
              <a:rPr lang="zh-CN" altLang="zh-CN" sz="2400" dirty="0"/>
              <a:t>）需求是一致的吗？</a:t>
            </a:r>
          </a:p>
          <a:p>
            <a:r>
              <a:rPr lang="en-US" altLang="zh-CN" sz="2400" dirty="0"/>
              <a:t>3</a:t>
            </a:r>
            <a:r>
              <a:rPr lang="zh-CN" altLang="zh-CN" sz="2400" dirty="0"/>
              <a:t>）需求是完全的吗？</a:t>
            </a:r>
          </a:p>
          <a:p>
            <a:r>
              <a:rPr lang="en-US" altLang="zh-CN" sz="2400" dirty="0"/>
              <a:t>4</a:t>
            </a:r>
            <a:r>
              <a:rPr lang="zh-CN" altLang="zh-CN" sz="2400" dirty="0"/>
              <a:t>）需求是实际可行的吗？</a:t>
            </a:r>
          </a:p>
          <a:p>
            <a:r>
              <a:rPr lang="en-US" altLang="zh-CN" sz="2400" dirty="0"/>
              <a:t>5</a:t>
            </a:r>
            <a:r>
              <a:rPr lang="zh-CN" altLang="zh-CN" sz="2400" dirty="0"/>
              <a:t>）需求是必要的吗？</a:t>
            </a:r>
          </a:p>
          <a:p>
            <a:r>
              <a:rPr lang="en-US" altLang="zh-CN" sz="2400" dirty="0"/>
              <a:t>6</a:t>
            </a:r>
            <a:r>
              <a:rPr lang="zh-CN" altLang="zh-CN" sz="2400" dirty="0"/>
              <a:t>）需求是可检验的吗？</a:t>
            </a:r>
          </a:p>
          <a:p>
            <a:r>
              <a:rPr lang="en-US" altLang="zh-CN" sz="2400" dirty="0"/>
              <a:t>7</a:t>
            </a:r>
            <a:r>
              <a:rPr lang="zh-CN" altLang="zh-CN" sz="2400" dirty="0"/>
              <a:t>）需求是可跟踪的吗？</a:t>
            </a:r>
          </a:p>
          <a:p>
            <a:r>
              <a:rPr lang="en-US" altLang="zh-CN" sz="2400" dirty="0"/>
              <a:t>8</a:t>
            </a:r>
            <a:r>
              <a:rPr lang="zh-CN" altLang="zh-CN" sz="2400" dirty="0"/>
              <a:t>）最后的签字。</a:t>
            </a:r>
            <a:endParaRPr lang="zh-CN" altLang="en-US" sz="2400" dirty="0"/>
          </a:p>
        </p:txBody>
      </p:sp>
    </p:spTree>
    <p:extLst>
      <p:ext uri="{BB962C8B-B14F-4D97-AF65-F5344CB8AC3E}">
        <p14:creationId xmlns:p14="http://schemas.microsoft.com/office/powerpoint/2010/main" val="18019880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a:t>
            </a:r>
            <a:r>
              <a:rPr lang="zh-CN" altLang="zh-CN" dirty="0"/>
              <a:t>需求</a:t>
            </a:r>
            <a:r>
              <a:rPr lang="zh-CN" altLang="zh-CN" dirty="0" smtClean="0"/>
              <a:t>工程</a:t>
            </a:r>
            <a:endParaRPr lang="zh-CN" altLang="en-US" dirty="0"/>
          </a:p>
        </p:txBody>
      </p:sp>
      <p:sp>
        <p:nvSpPr>
          <p:cNvPr id="3" name="内容占位符 2"/>
          <p:cNvSpPr>
            <a:spLocks noGrp="1"/>
          </p:cNvSpPr>
          <p:nvPr>
            <p:ph idx="1"/>
          </p:nvPr>
        </p:nvSpPr>
        <p:spPr/>
        <p:txBody>
          <a:bodyPr>
            <a:noAutofit/>
          </a:bodyPr>
          <a:lstStyle/>
          <a:p>
            <a:r>
              <a:rPr lang="en-US" altLang="zh-CN" sz="2400" b="1" dirty="0"/>
              <a:t>3.2.5 </a:t>
            </a:r>
            <a:r>
              <a:rPr lang="zh-CN" altLang="zh-CN" sz="2400" b="1" dirty="0"/>
              <a:t>需求变更</a:t>
            </a:r>
          </a:p>
          <a:p>
            <a:r>
              <a:rPr lang="en-US" altLang="zh-CN" sz="2400" dirty="0"/>
              <a:t> </a:t>
            </a:r>
            <a:r>
              <a:rPr lang="zh-CN" altLang="zh-CN" sz="2400" dirty="0" smtClean="0"/>
              <a:t>需求</a:t>
            </a:r>
            <a:r>
              <a:rPr lang="zh-CN" altLang="zh-CN" sz="2400" dirty="0"/>
              <a:t>变更管理需要完成以下几方面任务：</a:t>
            </a:r>
          </a:p>
          <a:p>
            <a:r>
              <a:rPr lang="en-US" altLang="zh-CN" sz="2400" dirty="0"/>
              <a:t>1</a:t>
            </a:r>
            <a:r>
              <a:rPr lang="zh-CN" altLang="zh-CN" sz="2400" dirty="0"/>
              <a:t>）确定需求变更控制过程</a:t>
            </a:r>
          </a:p>
          <a:p>
            <a:r>
              <a:rPr lang="en-US" altLang="zh-CN" sz="2400" dirty="0"/>
              <a:t>2</a:t>
            </a:r>
            <a:r>
              <a:rPr lang="zh-CN" altLang="zh-CN" sz="2400" dirty="0"/>
              <a:t>）建立变更控制委员会</a:t>
            </a:r>
            <a:r>
              <a:rPr lang="en-US" altLang="zh-CN" sz="2400" dirty="0"/>
              <a:t>(SCCB)</a:t>
            </a:r>
            <a:endParaRPr lang="zh-CN" altLang="zh-CN" sz="2400" dirty="0"/>
          </a:p>
          <a:p>
            <a:r>
              <a:rPr lang="en-US" altLang="zh-CN" sz="2400" dirty="0"/>
              <a:t>3</a:t>
            </a:r>
            <a:r>
              <a:rPr lang="zh-CN" altLang="zh-CN" sz="2400" dirty="0"/>
              <a:t>）进行需求变更影响分析</a:t>
            </a:r>
          </a:p>
          <a:p>
            <a:r>
              <a:rPr lang="en-US" altLang="zh-CN" sz="2400" dirty="0"/>
              <a:t>4</a:t>
            </a:r>
            <a:r>
              <a:rPr lang="zh-CN" altLang="zh-CN" sz="2400" dirty="0"/>
              <a:t>）跟踪所有受需求变更影响的工作产品</a:t>
            </a:r>
          </a:p>
          <a:p>
            <a:r>
              <a:rPr lang="en-US" altLang="zh-CN" sz="2400" dirty="0"/>
              <a:t>5</a:t>
            </a:r>
            <a:r>
              <a:rPr lang="zh-CN" altLang="zh-CN" sz="2400" dirty="0"/>
              <a:t>）建立需求基准版本和需求控制版本文档</a:t>
            </a:r>
          </a:p>
          <a:p>
            <a:r>
              <a:rPr lang="en-US" altLang="zh-CN" sz="2400" dirty="0"/>
              <a:t>6</a:t>
            </a:r>
            <a:r>
              <a:rPr lang="zh-CN" altLang="zh-CN" sz="2400" dirty="0"/>
              <a:t>）维护需求变更的历史记录</a:t>
            </a:r>
          </a:p>
          <a:p>
            <a:r>
              <a:rPr lang="en-US" altLang="zh-CN" sz="2400" dirty="0"/>
              <a:t>7</a:t>
            </a:r>
            <a:r>
              <a:rPr lang="zh-CN" altLang="zh-CN" sz="2400" dirty="0"/>
              <a:t>）跟踪每项需求的状态</a:t>
            </a:r>
          </a:p>
          <a:p>
            <a:r>
              <a:rPr lang="en-US" altLang="zh-CN" sz="2400" dirty="0"/>
              <a:t>8</a:t>
            </a:r>
            <a:r>
              <a:rPr lang="zh-CN" altLang="zh-CN" sz="2400" dirty="0"/>
              <a:t>）衡量需求稳定性</a:t>
            </a:r>
            <a:endParaRPr lang="zh-CN" altLang="en-US" sz="2400" dirty="0"/>
          </a:p>
        </p:txBody>
      </p:sp>
    </p:spTree>
    <p:extLst>
      <p:ext uri="{BB962C8B-B14F-4D97-AF65-F5344CB8AC3E}">
        <p14:creationId xmlns:p14="http://schemas.microsoft.com/office/powerpoint/2010/main" val="18019880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lstStyle/>
          <a:p>
            <a:r>
              <a:rPr lang="zh-CN" altLang="zh-CN" dirty="0"/>
              <a:t>结构化需求分析采用的分析技术有：业务流程图、数据流图、数据字典、实体联系图。</a:t>
            </a:r>
            <a:endParaRPr lang="zh-CN" altLang="en-US" dirty="0"/>
          </a:p>
        </p:txBody>
      </p:sp>
    </p:spTree>
    <p:extLst>
      <p:ext uri="{BB962C8B-B14F-4D97-AF65-F5344CB8AC3E}">
        <p14:creationId xmlns:p14="http://schemas.microsoft.com/office/powerpoint/2010/main" val="15656613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en-US" altLang="zh-CN" sz="2400" b="1" dirty="0"/>
              <a:t>3.3.1  </a:t>
            </a:r>
            <a:r>
              <a:rPr lang="zh-CN" altLang="zh-CN" sz="2400" b="1" dirty="0"/>
              <a:t>业务流程图</a:t>
            </a:r>
          </a:p>
          <a:p>
            <a:r>
              <a:rPr lang="zh-CN" altLang="zh-CN" sz="2400" dirty="0"/>
              <a:t>业务流程图也被称为系统流程图。</a:t>
            </a:r>
          </a:p>
          <a:p>
            <a:r>
              <a:rPr lang="zh-CN" altLang="zh-CN" sz="2400" dirty="0"/>
              <a:t>系统流程图是概括地描绘物理系统的传统工具，它用图形符号以黑盒方式描述系统的每个部件。</a:t>
            </a:r>
          </a:p>
          <a:p>
            <a:r>
              <a:rPr lang="zh-CN" altLang="zh-CN" sz="2400" dirty="0"/>
              <a:t>系统流程图表达的是信息在系统各部件间的流动情况，不是对信息进行加工处理的控制过程。</a:t>
            </a:r>
          </a:p>
          <a:p>
            <a:r>
              <a:rPr lang="zh-CN" altLang="zh-CN" sz="2400" dirty="0"/>
              <a:t>系统流程图由一系列符号组成，尽管一些符号与程序流程图的符号一致，但它却是物理数据的数据流程图而不是程序流程图。</a:t>
            </a:r>
          </a:p>
          <a:p>
            <a:endParaRPr lang="zh-CN" altLang="en-US" sz="2400" dirty="0"/>
          </a:p>
        </p:txBody>
      </p:sp>
    </p:spTree>
    <p:extLst>
      <p:ext uri="{BB962C8B-B14F-4D97-AF65-F5344CB8AC3E}">
        <p14:creationId xmlns:p14="http://schemas.microsoft.com/office/powerpoint/2010/main" val="2817925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lstStyle/>
          <a:p>
            <a:endParaRPr lang="zh-CN" altLang="en-US"/>
          </a:p>
        </p:txBody>
      </p:sp>
      <p:pic>
        <p:nvPicPr>
          <p:cNvPr id="8194" name="Picture 5" descr="说明: rj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9760" y="1939721"/>
            <a:ext cx="8540433" cy="4107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504946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lstStyle/>
          <a:p>
            <a:endParaRPr lang="zh-CN" altLang="en-US"/>
          </a:p>
        </p:txBody>
      </p:sp>
      <p:pic>
        <p:nvPicPr>
          <p:cNvPr id="9218" name="Picture 4" descr="说明: rj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0" y="1386041"/>
            <a:ext cx="6245942" cy="554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504946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a:xfrm>
            <a:off x="838200" y="1825625"/>
            <a:ext cx="5429865" cy="4351338"/>
          </a:xfrm>
        </p:spPr>
        <p:txBody>
          <a:bodyPr>
            <a:normAutofit/>
          </a:bodyPr>
          <a:lstStyle/>
          <a:p>
            <a:r>
              <a:rPr lang="zh-CN" altLang="zh-CN" sz="2400" dirty="0"/>
              <a:t>例如：某企业有一仓库，存放该厂生产需要的零件，仓库中的各种零件的数量以及各种零件的库存量临界值等数据记录在库存清单主文件中</a:t>
            </a:r>
            <a:r>
              <a:rPr lang="zh-CN" altLang="zh-CN" sz="2400" dirty="0" smtClean="0"/>
              <a:t>。</a:t>
            </a:r>
            <a:r>
              <a:rPr lang="en-US" altLang="zh-CN" sz="2400" dirty="0"/>
              <a:t> </a:t>
            </a:r>
            <a:endParaRPr lang="zh-CN" altLang="zh-CN" sz="2400" dirty="0"/>
          </a:p>
          <a:p>
            <a:r>
              <a:rPr lang="zh-CN" altLang="zh-CN" sz="2400" dirty="0"/>
              <a:t>当仓库中零件数量发生变化时，应及时更新库存清单主文件；如果某种零件的库存量少于其临界值，则应报告采购部门以便定货。规定每天向采购部门送一次定货报告。</a:t>
            </a:r>
          </a:p>
          <a:p>
            <a:r>
              <a:rPr lang="zh-CN" altLang="zh-CN" sz="2400" dirty="0"/>
              <a:t>库存清单系统的系统流程图如下：</a:t>
            </a:r>
          </a:p>
          <a:p>
            <a:endParaRPr lang="zh-CN" altLang="en-US" sz="2400" dirty="0"/>
          </a:p>
        </p:txBody>
      </p:sp>
      <p:pic>
        <p:nvPicPr>
          <p:cNvPr id="10242" name="Picture 5" descr="说明: rj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49729" y="1533832"/>
            <a:ext cx="4100052" cy="5262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504946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lstStyle/>
          <a:p>
            <a:r>
              <a:rPr lang="en-US" altLang="zh-CN" b="1" dirty="0"/>
              <a:t>3.3.2 </a:t>
            </a:r>
            <a:r>
              <a:rPr lang="zh-CN" altLang="zh-CN" b="1" dirty="0"/>
              <a:t>数据流图</a:t>
            </a:r>
          </a:p>
          <a:p>
            <a:r>
              <a:rPr lang="en-US" altLang="zh-CN" dirty="0"/>
              <a:t> </a:t>
            </a:r>
            <a:r>
              <a:rPr lang="zh-CN" altLang="en-US" dirty="0" smtClean="0"/>
              <a:t>例如，</a:t>
            </a:r>
            <a:r>
              <a:rPr lang="zh-CN" altLang="zh-CN" dirty="0" smtClean="0"/>
              <a:t>库存</a:t>
            </a:r>
            <a:r>
              <a:rPr lang="zh-CN" altLang="zh-CN" dirty="0"/>
              <a:t>定货系统的系统顶层数据流图如下：</a:t>
            </a:r>
            <a:endParaRPr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126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2891" y="2861186"/>
            <a:ext cx="10246218" cy="1799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04946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lstStyle/>
          <a:p>
            <a:r>
              <a:rPr lang="zh-CN" altLang="zh-CN" dirty="0"/>
              <a:t>库存定货系统的系统功能级数据流图如下：</a:t>
            </a:r>
          </a:p>
          <a:p>
            <a:endParaRPr lang="zh-CN" altLang="en-US" dirty="0"/>
          </a:p>
        </p:txBody>
      </p:sp>
      <p:sp>
        <p:nvSpPr>
          <p:cNvPr id="4"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2289"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7857" y="2757947"/>
            <a:ext cx="8879519" cy="3598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04946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zh-CN" altLang="zh-CN" sz="2400" dirty="0"/>
              <a:t>功能模型使用数据流图来表达系统内数据的运动情况，数据流的变换则用结构化英语、判定表与判定树来描述</a:t>
            </a:r>
            <a:r>
              <a:rPr lang="zh-CN" altLang="zh-CN" sz="2400" dirty="0" smtClean="0"/>
              <a:t>。</a:t>
            </a:r>
            <a:endParaRPr lang="en-US" altLang="zh-CN" sz="2400" dirty="0" smtClean="0"/>
          </a:p>
          <a:p>
            <a:r>
              <a:rPr lang="en-US" altLang="zh-CN" sz="2400" dirty="0"/>
              <a:t>DFD</a:t>
            </a:r>
            <a:r>
              <a:rPr lang="zh-CN" altLang="zh-CN" sz="2400" dirty="0"/>
              <a:t>（</a:t>
            </a:r>
            <a:r>
              <a:rPr lang="en-US" altLang="zh-CN" sz="2400" dirty="0"/>
              <a:t>Data Flow Diagram</a:t>
            </a:r>
            <a:r>
              <a:rPr lang="zh-CN" altLang="zh-CN" sz="2400" dirty="0"/>
              <a:t>）描述数据处理过程的图形工具，刻画出数据在系统内的变化。数据流图的主要图形元素如下：</a:t>
            </a:r>
            <a:endParaRPr lang="zh-CN" altLang="en-US" sz="2400" dirty="0"/>
          </a:p>
        </p:txBody>
      </p:sp>
      <p:pic>
        <p:nvPicPr>
          <p:cNvPr id="13314" name="图片 1"/>
          <p:cNvPicPr>
            <a:picLocks noChangeAspect="1" noChangeArrowheads="1"/>
          </p:cNvPicPr>
          <p:nvPr/>
        </p:nvPicPr>
        <p:blipFill>
          <a:blip r:embed="rId2">
            <a:extLst>
              <a:ext uri="{28A0092B-C50C-407E-A947-70E740481C1C}">
                <a14:useLocalDpi xmlns:a14="http://schemas.microsoft.com/office/drawing/2010/main" val="0"/>
              </a:ext>
            </a:extLst>
          </a:blip>
          <a:srcRect l="36806" t="42902" r="22853" b="17902"/>
          <a:stretch>
            <a:fillRect/>
          </a:stretch>
        </p:blipFill>
        <p:spPr bwMode="auto">
          <a:xfrm>
            <a:off x="1143000" y="3581400"/>
            <a:ext cx="4961806" cy="2716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6336890" y="3429000"/>
            <a:ext cx="5535562" cy="2246769"/>
          </a:xfrm>
          <a:prstGeom prst="rect">
            <a:avLst/>
          </a:prstGeom>
        </p:spPr>
        <p:txBody>
          <a:bodyPr wrap="square">
            <a:spAutoFit/>
          </a:bodyPr>
          <a:lstStyle/>
          <a:p>
            <a:r>
              <a:rPr lang="zh-CN" altLang="zh-CN" sz="2000" dirty="0"/>
              <a:t>数据流：沿箭头方向传送数据的通道。</a:t>
            </a:r>
          </a:p>
          <a:p>
            <a:r>
              <a:rPr lang="zh-CN" altLang="zh-CN" sz="2000" dirty="0"/>
              <a:t>数据源点（汇点）：又称外部实体，表示数据的输入来源或处理结果要送往何处。它不需要以软件的形式进行设计和实现。</a:t>
            </a:r>
          </a:p>
          <a:p>
            <a:r>
              <a:rPr lang="zh-CN" altLang="zh-CN" sz="2000" dirty="0"/>
              <a:t>加工：以数据结构或数据内容作为加工对象，通常以动词短语命名，表明完成的是什么工作。</a:t>
            </a:r>
          </a:p>
          <a:p>
            <a:r>
              <a:rPr lang="zh-CN" altLang="zh-CN" sz="2000" dirty="0"/>
              <a:t>文件：保存数据的作用，称为数据存储。</a:t>
            </a:r>
          </a:p>
        </p:txBody>
      </p:sp>
    </p:spTree>
    <p:extLst>
      <p:ext uri="{BB962C8B-B14F-4D97-AF65-F5344CB8AC3E}">
        <p14:creationId xmlns:p14="http://schemas.microsoft.com/office/powerpoint/2010/main" val="2817925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zh-CN" altLang="zh-CN" sz="2400" dirty="0"/>
              <a:t>为了表达数据处理过程中的数据加工情况，需要采用层次结构的数据流图。按系统的层次结构进行逐步分解，并以分层的数据流图反映这种结构关系。层次化的数据流图能十分清楚地表达和理解整个系统。</a:t>
            </a:r>
          </a:p>
          <a:p>
            <a:r>
              <a:rPr lang="en-US" altLang="zh-CN" sz="2400" dirty="0"/>
              <a:t> </a:t>
            </a:r>
            <a:endParaRPr lang="zh-CN" altLang="zh-CN" sz="2400" dirty="0"/>
          </a:p>
          <a:p>
            <a:r>
              <a:rPr lang="zh-CN" altLang="zh-CN" sz="2400" dirty="0"/>
              <a:t>功能建模的步骤：</a:t>
            </a:r>
          </a:p>
          <a:p>
            <a:r>
              <a:rPr lang="en-US" altLang="zh-CN" sz="2400" dirty="0"/>
              <a:t>1</a:t>
            </a:r>
            <a:r>
              <a:rPr lang="zh-CN" altLang="zh-CN" sz="2400" dirty="0"/>
              <a:t>）先找系统的源点与汇点，画出外部实体，确定系统与外界的接口；</a:t>
            </a:r>
          </a:p>
          <a:p>
            <a:r>
              <a:rPr lang="en-US" altLang="zh-CN" sz="2400" dirty="0"/>
              <a:t>2</a:t>
            </a:r>
            <a:r>
              <a:rPr lang="zh-CN" altLang="zh-CN" sz="2400" dirty="0"/>
              <a:t>）找出外部实体的输出数据流与输入数据流；</a:t>
            </a:r>
          </a:p>
          <a:p>
            <a:r>
              <a:rPr lang="en-US" altLang="zh-CN" sz="2400" dirty="0"/>
              <a:t>3</a:t>
            </a:r>
            <a:r>
              <a:rPr lang="zh-CN" altLang="zh-CN" sz="2400" dirty="0"/>
              <a:t>）从外部实体的输出数据流（源点）出发，按系统的需要，逐步画出一系列逻辑加工，直至找到外部实体所需的输入数据流（汇点）；</a:t>
            </a:r>
          </a:p>
          <a:p>
            <a:r>
              <a:rPr lang="en-US" altLang="zh-CN" sz="2400" dirty="0"/>
              <a:t>4</a:t>
            </a:r>
            <a:r>
              <a:rPr lang="zh-CN" altLang="zh-CN" sz="2400" dirty="0"/>
              <a:t>）按上述步骤，从各加工出发，画出所需的子图。</a:t>
            </a:r>
          </a:p>
          <a:p>
            <a:endParaRPr lang="zh-CN" altLang="en-US" sz="2400" dirty="0"/>
          </a:p>
        </p:txBody>
      </p:sp>
    </p:spTree>
    <p:extLst>
      <p:ext uri="{BB962C8B-B14F-4D97-AF65-F5344CB8AC3E}">
        <p14:creationId xmlns:p14="http://schemas.microsoft.com/office/powerpoint/2010/main" val="2817925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noAutofit/>
          </a:bodyPr>
          <a:lstStyle/>
          <a:p>
            <a:r>
              <a:rPr lang="zh-CN" altLang="zh-CN" sz="2000" dirty="0"/>
              <a:t>实例</a:t>
            </a:r>
            <a:r>
              <a:rPr lang="en-US" altLang="zh-CN" sz="2000" dirty="0"/>
              <a:t>1  </a:t>
            </a:r>
            <a:r>
              <a:rPr lang="zh-CN" altLang="zh-CN" sz="2000" dirty="0"/>
              <a:t>考务处理系统的功能</a:t>
            </a:r>
          </a:p>
          <a:p>
            <a:r>
              <a:rPr lang="en-US" altLang="zh-CN" sz="2000" dirty="0"/>
              <a:t>1</a:t>
            </a:r>
            <a:r>
              <a:rPr lang="zh-CN" altLang="zh-CN" sz="2000" dirty="0"/>
              <a:t>）对考生送来的报名表进行检查</a:t>
            </a:r>
            <a:r>
              <a:rPr lang="en-US" altLang="zh-CN" sz="2000" dirty="0"/>
              <a:t>;</a:t>
            </a:r>
            <a:endParaRPr lang="zh-CN" altLang="zh-CN" sz="2000" dirty="0"/>
          </a:p>
          <a:p>
            <a:r>
              <a:rPr lang="en-US" altLang="zh-CN" sz="2000" dirty="0"/>
              <a:t>2</a:t>
            </a:r>
            <a:r>
              <a:rPr lang="zh-CN" altLang="zh-CN" sz="2000" dirty="0"/>
              <a:t>）合格的报名表编好准考证号后将准考证送给考生，并将汇总后的考生名单送给阅卷站</a:t>
            </a:r>
            <a:r>
              <a:rPr lang="en-US" altLang="zh-CN" sz="2000" dirty="0"/>
              <a:t>;</a:t>
            </a:r>
            <a:endParaRPr lang="zh-CN" altLang="zh-CN" sz="2000" dirty="0"/>
          </a:p>
          <a:p>
            <a:r>
              <a:rPr lang="en-US" altLang="zh-CN" sz="2000" dirty="0"/>
              <a:t>3</a:t>
            </a:r>
            <a:r>
              <a:rPr lang="zh-CN" altLang="zh-CN" sz="2000" dirty="0"/>
              <a:t>）对阅卷站送来的成绩单进行检查，并根据考试中心制定的合格标准审定合格者</a:t>
            </a:r>
            <a:r>
              <a:rPr lang="en-US" altLang="zh-CN" sz="2000" dirty="0"/>
              <a:t>;</a:t>
            </a:r>
            <a:endParaRPr lang="zh-CN" altLang="zh-CN" sz="2000" dirty="0"/>
          </a:p>
          <a:p>
            <a:r>
              <a:rPr lang="en-US" altLang="zh-CN" sz="2000" dirty="0"/>
              <a:t>4</a:t>
            </a:r>
            <a:r>
              <a:rPr lang="zh-CN" altLang="zh-CN" sz="2000" dirty="0"/>
              <a:t>）制作考生通知单（成绩合格</a:t>
            </a:r>
            <a:r>
              <a:rPr lang="en-US" altLang="zh-CN" sz="2000" dirty="0"/>
              <a:t>/</a:t>
            </a:r>
            <a:r>
              <a:rPr lang="zh-CN" altLang="zh-CN" sz="2000" dirty="0"/>
              <a:t>不合格）送考生</a:t>
            </a:r>
            <a:r>
              <a:rPr lang="en-US" altLang="zh-CN" sz="2000" dirty="0"/>
              <a:t>;</a:t>
            </a:r>
            <a:endParaRPr lang="zh-CN" altLang="zh-CN" sz="2000" dirty="0"/>
          </a:p>
          <a:p>
            <a:r>
              <a:rPr lang="en-US" altLang="zh-CN" sz="2000" dirty="0"/>
              <a:t>5</a:t>
            </a:r>
            <a:r>
              <a:rPr lang="zh-CN" altLang="zh-CN" sz="2000" dirty="0"/>
              <a:t>）按地区进行成绩分类统计和试题难度分析，产生统计分析表送考试中心。</a:t>
            </a:r>
          </a:p>
          <a:p>
            <a:r>
              <a:rPr lang="en-US" altLang="zh-CN" sz="2000" dirty="0"/>
              <a:t> </a:t>
            </a:r>
            <a:endParaRPr lang="zh-CN" altLang="zh-CN" sz="2000" dirty="0"/>
          </a:p>
          <a:p>
            <a:r>
              <a:rPr lang="zh-CN" altLang="zh-CN" sz="2000" dirty="0"/>
              <a:t>数据流图绘制步骤：</a:t>
            </a:r>
          </a:p>
          <a:p>
            <a:r>
              <a:rPr lang="en-US" altLang="zh-CN" sz="2000" dirty="0"/>
              <a:t>1</a:t>
            </a:r>
            <a:r>
              <a:rPr lang="zh-CN" altLang="zh-CN" sz="2000" dirty="0"/>
              <a:t>）分析数据流图的源点和汇点是考生、考试中心和阅卷站。考务业务处理的主要功能是登记报名和统计成绩。</a:t>
            </a:r>
          </a:p>
          <a:p>
            <a:r>
              <a:rPr lang="en-US" altLang="zh-CN" sz="2000" dirty="0"/>
              <a:t>2</a:t>
            </a:r>
            <a:r>
              <a:rPr lang="zh-CN" altLang="zh-CN" sz="2000" dirty="0"/>
              <a:t>）确定系统的输入数据流和输出数据流。</a:t>
            </a:r>
          </a:p>
          <a:p>
            <a:r>
              <a:rPr lang="en-US" altLang="zh-CN" sz="2000" dirty="0"/>
              <a:t>3</a:t>
            </a:r>
            <a:r>
              <a:rPr lang="zh-CN" altLang="zh-CN" sz="2000" dirty="0"/>
              <a:t>）根据考务处理业务，画出顶层数据流图，反映最主要的业务处理流程。</a:t>
            </a:r>
          </a:p>
          <a:p>
            <a:endParaRPr lang="zh-CN" altLang="en-US" sz="2000" dirty="0"/>
          </a:p>
        </p:txBody>
      </p:sp>
    </p:spTree>
    <p:extLst>
      <p:ext uri="{BB962C8B-B14F-4D97-AF65-F5344CB8AC3E}">
        <p14:creationId xmlns:p14="http://schemas.microsoft.com/office/powerpoint/2010/main" val="2817925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zh-CN" altLang="zh-CN" sz="2400" dirty="0"/>
              <a:t>顶层图是一个高层的系统逻辑模型，封闭在外部实体之间。反映了目标系统要实现的功能以及系统与外界的交互关系。</a:t>
            </a:r>
          </a:p>
          <a:p>
            <a:r>
              <a:rPr lang="zh-CN" altLang="zh-CN" sz="2400" dirty="0"/>
              <a:t>顶层数据流图如下：</a:t>
            </a:r>
          </a:p>
          <a:p>
            <a:endParaRPr lang="zh-CN" altLang="en-US" sz="2400" dirty="0"/>
          </a:p>
        </p:txBody>
      </p:sp>
      <p:pic>
        <p:nvPicPr>
          <p:cNvPr id="14338" name="图片 1"/>
          <p:cNvPicPr>
            <a:picLocks noChangeAspect="1" noChangeArrowheads="1"/>
          </p:cNvPicPr>
          <p:nvPr/>
        </p:nvPicPr>
        <p:blipFill>
          <a:blip r:embed="rId2">
            <a:extLst>
              <a:ext uri="{28A0092B-C50C-407E-A947-70E740481C1C}">
                <a14:useLocalDpi xmlns:a14="http://schemas.microsoft.com/office/drawing/2010/main" val="0"/>
              </a:ext>
            </a:extLst>
          </a:blip>
          <a:srcRect l="40451" t="37038" r="28735" b="32407"/>
          <a:stretch>
            <a:fillRect/>
          </a:stretch>
        </p:blipFill>
        <p:spPr bwMode="auto">
          <a:xfrm>
            <a:off x="3871452" y="2807877"/>
            <a:ext cx="5509644" cy="3047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7925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lstStyle/>
          <a:p>
            <a:r>
              <a:rPr lang="zh-CN" altLang="zh-CN" dirty="0"/>
              <a:t>第</a:t>
            </a:r>
            <a:r>
              <a:rPr lang="en-US" altLang="zh-CN" dirty="0"/>
              <a:t>1</a:t>
            </a:r>
            <a:r>
              <a:rPr lang="zh-CN" altLang="zh-CN" dirty="0"/>
              <a:t>层数据流图</a:t>
            </a:r>
          </a:p>
          <a:p>
            <a:endParaRPr lang="zh-CN" altLang="en-US" dirty="0"/>
          </a:p>
        </p:txBody>
      </p:sp>
      <p:pic>
        <p:nvPicPr>
          <p:cNvPr id="15362" name="图片 1"/>
          <p:cNvPicPr>
            <a:picLocks noChangeAspect="1" noChangeArrowheads="1"/>
          </p:cNvPicPr>
          <p:nvPr/>
        </p:nvPicPr>
        <p:blipFill>
          <a:blip r:embed="rId2">
            <a:extLst>
              <a:ext uri="{28A0092B-C50C-407E-A947-70E740481C1C}">
                <a14:useLocalDpi xmlns:a14="http://schemas.microsoft.com/office/drawing/2010/main" val="0"/>
              </a:ext>
            </a:extLst>
          </a:blip>
          <a:srcRect l="35764" t="33025" r="21469" b="28703"/>
          <a:stretch>
            <a:fillRect/>
          </a:stretch>
        </p:blipFill>
        <p:spPr bwMode="auto">
          <a:xfrm>
            <a:off x="1968909" y="2914650"/>
            <a:ext cx="6009967" cy="300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4552335" y="1846456"/>
            <a:ext cx="6464709" cy="1200329"/>
          </a:xfrm>
          <a:prstGeom prst="rect">
            <a:avLst/>
          </a:prstGeom>
        </p:spPr>
        <p:txBody>
          <a:bodyPr wrap="square">
            <a:spAutoFit/>
          </a:bodyPr>
          <a:lstStyle/>
          <a:p>
            <a:r>
              <a:rPr lang="zh-CN" altLang="zh-CN" sz="2400" dirty="0"/>
              <a:t>数据流图绘制步骤：画加工的内部：画每个加工内部的</a:t>
            </a:r>
            <a:r>
              <a:rPr lang="en-US" altLang="zh-CN" sz="2400" dirty="0"/>
              <a:t>DFD</a:t>
            </a:r>
            <a:r>
              <a:rPr lang="zh-CN" altLang="zh-CN" sz="2400" dirty="0"/>
              <a:t>子图，直至图中尚未分解的加工都足够简单，得到分层的数据流图。</a:t>
            </a:r>
          </a:p>
        </p:txBody>
      </p:sp>
    </p:spTree>
    <p:extLst>
      <p:ext uri="{BB962C8B-B14F-4D97-AF65-F5344CB8AC3E}">
        <p14:creationId xmlns:p14="http://schemas.microsoft.com/office/powerpoint/2010/main" val="2817925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lstStyle/>
          <a:p>
            <a:r>
              <a:rPr lang="zh-CN" altLang="zh-CN" dirty="0"/>
              <a:t>第</a:t>
            </a:r>
            <a:r>
              <a:rPr lang="en-US" altLang="zh-CN" dirty="0"/>
              <a:t>2</a:t>
            </a:r>
            <a:r>
              <a:rPr lang="zh-CN" altLang="zh-CN" dirty="0"/>
              <a:t>层数据流图：</a:t>
            </a:r>
          </a:p>
          <a:p>
            <a:endParaRPr lang="zh-CN" altLang="en-US" dirty="0"/>
          </a:p>
        </p:txBody>
      </p:sp>
      <p:pic>
        <p:nvPicPr>
          <p:cNvPr id="16386" name="图片 1"/>
          <p:cNvPicPr>
            <a:picLocks noChangeAspect="1" noChangeArrowheads="1"/>
          </p:cNvPicPr>
          <p:nvPr/>
        </p:nvPicPr>
        <p:blipFill>
          <a:blip r:embed="rId2">
            <a:extLst>
              <a:ext uri="{28A0092B-C50C-407E-A947-70E740481C1C}">
                <a14:useLocalDpi xmlns:a14="http://schemas.microsoft.com/office/drawing/2010/main" val="0"/>
              </a:ext>
            </a:extLst>
          </a:blip>
          <a:srcRect l="36806" t="33643" r="24239" b="33025"/>
          <a:stretch>
            <a:fillRect/>
          </a:stretch>
        </p:blipFill>
        <p:spPr bwMode="auto">
          <a:xfrm>
            <a:off x="744794" y="2702641"/>
            <a:ext cx="4754819" cy="228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图片 1"/>
          <p:cNvPicPr>
            <a:picLocks noChangeAspect="1" noChangeArrowheads="1"/>
          </p:cNvPicPr>
          <p:nvPr/>
        </p:nvPicPr>
        <p:blipFill>
          <a:blip r:embed="rId3">
            <a:extLst>
              <a:ext uri="{28A0092B-C50C-407E-A947-70E740481C1C}">
                <a14:useLocalDpi xmlns:a14="http://schemas.microsoft.com/office/drawing/2010/main" val="0"/>
              </a:ext>
            </a:extLst>
          </a:blip>
          <a:srcRect l="36806" t="32408" r="23373" b="23766"/>
          <a:stretch>
            <a:fillRect/>
          </a:stretch>
        </p:blipFill>
        <p:spPr bwMode="auto">
          <a:xfrm>
            <a:off x="6098459" y="2070914"/>
            <a:ext cx="5582880" cy="3422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1111127" y="5537708"/>
            <a:ext cx="3185487" cy="369332"/>
          </a:xfrm>
          <a:prstGeom prst="rect">
            <a:avLst/>
          </a:prstGeom>
        </p:spPr>
        <p:txBody>
          <a:bodyPr wrap="none">
            <a:spAutoFit/>
          </a:bodyPr>
          <a:lstStyle/>
          <a:p>
            <a:r>
              <a:rPr lang="zh-CN" altLang="zh-CN" dirty="0"/>
              <a:t>加工的编号唯一且具层次性。</a:t>
            </a:r>
          </a:p>
        </p:txBody>
      </p:sp>
      <p:sp>
        <p:nvSpPr>
          <p:cNvPr id="5" name="矩形 4"/>
          <p:cNvSpPr/>
          <p:nvPr/>
        </p:nvSpPr>
        <p:spPr>
          <a:xfrm>
            <a:off x="4921045" y="5555312"/>
            <a:ext cx="6096000" cy="1200329"/>
          </a:xfrm>
          <a:prstGeom prst="rect">
            <a:avLst/>
          </a:prstGeom>
        </p:spPr>
        <p:txBody>
          <a:bodyPr>
            <a:spAutoFit/>
          </a:bodyPr>
          <a:lstStyle/>
          <a:p>
            <a:r>
              <a:rPr lang="zh-CN" altLang="zh-CN" dirty="0"/>
              <a:t>父图与子图的平衡原则</a:t>
            </a:r>
          </a:p>
          <a:p>
            <a:r>
              <a:rPr lang="en-US" altLang="zh-CN" dirty="0"/>
              <a:t>1</a:t>
            </a:r>
            <a:r>
              <a:rPr lang="zh-CN" altLang="zh-CN" dirty="0"/>
              <a:t>）数据一致性：输入、输出数据流一致</a:t>
            </a:r>
          </a:p>
          <a:p>
            <a:r>
              <a:rPr lang="en-US" altLang="zh-CN" dirty="0"/>
              <a:t>2</a:t>
            </a:r>
            <a:r>
              <a:rPr lang="zh-CN" altLang="zh-CN" dirty="0"/>
              <a:t>）加工一致性：子图不能超出父图的处理范围</a:t>
            </a:r>
          </a:p>
          <a:p>
            <a:r>
              <a:rPr lang="en-US" altLang="zh-CN" dirty="0"/>
              <a:t> </a:t>
            </a:r>
            <a:endParaRPr lang="zh-CN" altLang="zh-CN" dirty="0"/>
          </a:p>
        </p:txBody>
      </p:sp>
    </p:spTree>
    <p:extLst>
      <p:ext uri="{BB962C8B-B14F-4D97-AF65-F5344CB8AC3E}">
        <p14:creationId xmlns:p14="http://schemas.microsoft.com/office/powerpoint/2010/main" val="2817925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noAutofit/>
          </a:bodyPr>
          <a:lstStyle/>
          <a:p>
            <a:r>
              <a:rPr lang="zh-CN" altLang="zh-CN" sz="2000" dirty="0"/>
              <a:t>绘制数据流图的原则：</a:t>
            </a:r>
          </a:p>
          <a:p>
            <a:r>
              <a:rPr lang="en-US" altLang="zh-CN" sz="2000" dirty="0"/>
              <a:t>1</a:t>
            </a:r>
            <a:r>
              <a:rPr lang="zh-CN" altLang="zh-CN" sz="2000" dirty="0"/>
              <a:t>）数据流图上的图形符号只限于四种基本图形；</a:t>
            </a:r>
          </a:p>
          <a:p>
            <a:r>
              <a:rPr lang="en-US" altLang="zh-CN" sz="2000" dirty="0"/>
              <a:t>2</a:t>
            </a:r>
            <a:r>
              <a:rPr lang="zh-CN" altLang="zh-CN" sz="2000" dirty="0"/>
              <a:t>）数据流图的主图必须包括四种基本元素；</a:t>
            </a:r>
          </a:p>
          <a:p>
            <a:r>
              <a:rPr lang="en-US" altLang="zh-CN" sz="2000" dirty="0"/>
              <a:t>3</a:t>
            </a:r>
            <a:r>
              <a:rPr lang="zh-CN" altLang="zh-CN" sz="2000" dirty="0"/>
              <a:t>）每个元素必须有名字，命名应反映实际含义；</a:t>
            </a:r>
          </a:p>
          <a:p>
            <a:r>
              <a:rPr lang="en-US" altLang="zh-CN" sz="2000" dirty="0"/>
              <a:t>4</a:t>
            </a:r>
            <a:r>
              <a:rPr lang="zh-CN" altLang="zh-CN" sz="2000" dirty="0"/>
              <a:t>）顶层数据流图的数据流必须封闭在外部实体之间；</a:t>
            </a:r>
          </a:p>
          <a:p>
            <a:r>
              <a:rPr lang="en-US" altLang="zh-CN" sz="2000" dirty="0"/>
              <a:t>5</a:t>
            </a:r>
            <a:r>
              <a:rPr lang="zh-CN" altLang="zh-CN" sz="2000" dirty="0"/>
              <a:t>）每个加工至少有一个数据输入流和一个输出流；</a:t>
            </a:r>
          </a:p>
          <a:p>
            <a:r>
              <a:rPr lang="en-US" altLang="zh-CN" sz="2000" dirty="0"/>
              <a:t>6</a:t>
            </a:r>
            <a:r>
              <a:rPr lang="zh-CN" altLang="zh-CN" sz="2000" dirty="0"/>
              <a:t>）需按层为加工框编号，表明该加工所处层次和上下层的亲子关系（不反映处理顺序）；</a:t>
            </a:r>
          </a:p>
          <a:p>
            <a:r>
              <a:rPr lang="en-US" altLang="zh-CN" sz="2000" dirty="0"/>
              <a:t>7</a:t>
            </a:r>
            <a:r>
              <a:rPr lang="zh-CN" altLang="zh-CN" sz="2000" dirty="0"/>
              <a:t>）父图与子图的平衡：任何一个数据流子图必须与它上一层的一个加工对应，两者的输入数据流和输出数据流必须一致；</a:t>
            </a:r>
          </a:p>
          <a:p>
            <a:r>
              <a:rPr lang="en-US" altLang="zh-CN" sz="2000" dirty="0"/>
              <a:t>8</a:t>
            </a:r>
            <a:r>
              <a:rPr lang="zh-CN" altLang="zh-CN" sz="2000" dirty="0"/>
              <a:t>）初画时忽略琐碎细节，集中精力于主要数据流；</a:t>
            </a:r>
          </a:p>
          <a:p>
            <a:r>
              <a:rPr lang="en-US" altLang="zh-CN" sz="2000" dirty="0"/>
              <a:t>9</a:t>
            </a:r>
            <a:r>
              <a:rPr lang="zh-CN" altLang="zh-CN" sz="2000" dirty="0"/>
              <a:t>）数据流图说明系统“做什么”而非“如何做”，其中不可夹带控制流，但针对实时系统可以加入控制流，成为数据流图的扩展形式。</a:t>
            </a:r>
          </a:p>
          <a:p>
            <a:endParaRPr lang="zh-CN" altLang="en-US" sz="2000" dirty="0"/>
          </a:p>
        </p:txBody>
      </p:sp>
    </p:spTree>
    <p:extLst>
      <p:ext uri="{BB962C8B-B14F-4D97-AF65-F5344CB8AC3E}">
        <p14:creationId xmlns:p14="http://schemas.microsoft.com/office/powerpoint/2010/main" val="2817925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noAutofit/>
          </a:bodyPr>
          <a:lstStyle/>
          <a:p>
            <a:r>
              <a:rPr lang="en-US" altLang="zh-CN" sz="2000" b="1" dirty="0"/>
              <a:t>3.3.3 </a:t>
            </a:r>
            <a:r>
              <a:rPr lang="zh-CN" altLang="zh-CN" sz="2000" b="1" dirty="0"/>
              <a:t>数据字典</a:t>
            </a:r>
          </a:p>
          <a:p>
            <a:r>
              <a:rPr lang="zh-CN" altLang="zh-CN" sz="2000" dirty="0"/>
              <a:t>数据字典（</a:t>
            </a:r>
            <a:r>
              <a:rPr lang="en-US" altLang="zh-CN" sz="2000" dirty="0"/>
              <a:t>DD</a:t>
            </a:r>
            <a:r>
              <a:rPr lang="zh-CN" altLang="zh-CN" sz="2000" dirty="0"/>
              <a:t>）是与系统相关的所有数据元素的一个有组织的列表，以及精确、严格的定义，使用户和分析人员对输入、输出、存储成分和中间计算有共同的理解。</a:t>
            </a:r>
          </a:p>
          <a:p>
            <a:r>
              <a:rPr lang="zh-CN" altLang="zh-CN" sz="2000" dirty="0"/>
              <a:t>数据字典中所有的定义应是严密、精确的，不可有半点含糊，不可有二义性。数据字典将数据流图中的所有图形元素作为一个“词条”定义，使每一个图形元素都有一个确切的解释，包括：图形元素的名称、编号、别名、分类、描述、定义、位置等。</a:t>
            </a:r>
          </a:p>
          <a:p>
            <a:r>
              <a:rPr lang="zh-CN" altLang="zh-CN" sz="2000" dirty="0"/>
              <a:t>（</a:t>
            </a:r>
            <a:r>
              <a:rPr lang="en-US" altLang="zh-CN" sz="2000" dirty="0"/>
              <a:t>1</a:t>
            </a:r>
            <a:r>
              <a:rPr lang="zh-CN" altLang="zh-CN" sz="2000" dirty="0"/>
              <a:t>）数据流词条（来源、去向、组成等）</a:t>
            </a:r>
          </a:p>
          <a:p>
            <a:r>
              <a:rPr lang="zh-CN" altLang="zh-CN" sz="2000" dirty="0"/>
              <a:t>（</a:t>
            </a:r>
            <a:r>
              <a:rPr lang="en-US" altLang="zh-CN" sz="2000" dirty="0"/>
              <a:t>2</a:t>
            </a:r>
            <a:r>
              <a:rPr lang="zh-CN" altLang="zh-CN" sz="2000" dirty="0"/>
              <a:t>）数据存储词条（组成、存储方式等）</a:t>
            </a:r>
          </a:p>
          <a:p>
            <a:r>
              <a:rPr lang="zh-CN" altLang="zh-CN" sz="2000" dirty="0"/>
              <a:t>（</a:t>
            </a:r>
            <a:r>
              <a:rPr lang="en-US" altLang="zh-CN" sz="2000" dirty="0"/>
              <a:t>3</a:t>
            </a:r>
            <a:r>
              <a:rPr lang="zh-CN" altLang="zh-CN" sz="2000" dirty="0"/>
              <a:t>）数据元素词条（类型、长度、取值范围等）</a:t>
            </a:r>
          </a:p>
          <a:p>
            <a:r>
              <a:rPr lang="zh-CN" altLang="zh-CN" sz="2000" dirty="0"/>
              <a:t>（</a:t>
            </a:r>
            <a:r>
              <a:rPr lang="en-US" altLang="zh-CN" sz="2000" dirty="0"/>
              <a:t>4</a:t>
            </a:r>
            <a:r>
              <a:rPr lang="zh-CN" altLang="zh-CN" sz="2000" dirty="0"/>
              <a:t>）数据结构描述</a:t>
            </a:r>
          </a:p>
          <a:p>
            <a:r>
              <a:rPr lang="zh-CN" altLang="zh-CN" sz="2000" dirty="0"/>
              <a:t>（</a:t>
            </a:r>
            <a:r>
              <a:rPr lang="en-US" altLang="zh-CN" sz="2000" dirty="0"/>
              <a:t>5</a:t>
            </a:r>
            <a:r>
              <a:rPr lang="zh-CN" altLang="zh-CN" sz="2000" dirty="0"/>
              <a:t>）加工逻辑词条（编号、输入、输出、加工逻辑等）</a:t>
            </a:r>
          </a:p>
          <a:p>
            <a:endParaRPr lang="zh-CN" altLang="en-US" sz="2000" dirty="0"/>
          </a:p>
        </p:txBody>
      </p:sp>
    </p:spTree>
    <p:extLst>
      <p:ext uri="{BB962C8B-B14F-4D97-AF65-F5344CB8AC3E}">
        <p14:creationId xmlns:p14="http://schemas.microsoft.com/office/powerpoint/2010/main" val="40533392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noAutofit/>
          </a:bodyPr>
          <a:lstStyle/>
          <a:p>
            <a:r>
              <a:rPr lang="en-US" altLang="zh-CN" sz="2000" dirty="0"/>
              <a:t>1</a:t>
            </a:r>
            <a:r>
              <a:rPr lang="zh-CN" altLang="zh-CN" sz="2000" dirty="0"/>
              <a:t>）数据流是数据结构在系统内传播的路径，一个数据流词条应有以下几项内容：</a:t>
            </a:r>
          </a:p>
          <a:p>
            <a:r>
              <a:rPr lang="zh-CN" altLang="zh-CN" sz="2000" dirty="0"/>
              <a:t>数据流名：</a:t>
            </a:r>
          </a:p>
          <a:p>
            <a:r>
              <a:rPr lang="zh-CN" altLang="zh-CN" sz="2000" dirty="0"/>
              <a:t>别名 ：</a:t>
            </a:r>
          </a:p>
          <a:p>
            <a:r>
              <a:rPr lang="zh-CN" altLang="zh-CN" sz="2000" dirty="0"/>
              <a:t>简述：简要介绍它产生的原因和结果</a:t>
            </a:r>
          </a:p>
          <a:p>
            <a:r>
              <a:rPr lang="zh-CN" altLang="zh-CN" sz="2000" dirty="0"/>
              <a:t>数据流来源：来自何方</a:t>
            </a:r>
          </a:p>
          <a:p>
            <a:r>
              <a:rPr lang="zh-CN" altLang="zh-CN" sz="2000" dirty="0"/>
              <a:t>数据流去向：去向何处</a:t>
            </a:r>
          </a:p>
          <a:p>
            <a:r>
              <a:rPr lang="zh-CN" altLang="zh-CN" sz="2000" dirty="0"/>
              <a:t>数据流的组成：数据结构</a:t>
            </a:r>
          </a:p>
          <a:p>
            <a:r>
              <a:rPr lang="zh-CN" altLang="zh-CN" sz="2000" dirty="0"/>
              <a:t>数据量流通量：数据量，流通量</a:t>
            </a:r>
          </a:p>
          <a:p>
            <a:r>
              <a:rPr lang="en-US" altLang="zh-CN" sz="2000" dirty="0"/>
              <a:t> </a:t>
            </a:r>
            <a:endParaRPr lang="zh-CN" altLang="zh-CN" sz="2000" dirty="0"/>
          </a:p>
          <a:p>
            <a:endParaRPr lang="zh-CN" altLang="en-US" sz="2000" dirty="0"/>
          </a:p>
        </p:txBody>
      </p:sp>
      <p:pic>
        <p:nvPicPr>
          <p:cNvPr id="17410" name="图片 1"/>
          <p:cNvPicPr>
            <a:picLocks noChangeAspect="1" noChangeArrowheads="1"/>
          </p:cNvPicPr>
          <p:nvPr/>
        </p:nvPicPr>
        <p:blipFill>
          <a:blip r:embed="rId2">
            <a:extLst>
              <a:ext uri="{28A0092B-C50C-407E-A947-70E740481C1C}">
                <a14:useLocalDpi xmlns:a14="http://schemas.microsoft.com/office/drawing/2010/main" val="0"/>
              </a:ext>
            </a:extLst>
          </a:blip>
          <a:srcRect l="38542" t="37346" r="24548" b="30556"/>
          <a:stretch>
            <a:fillRect/>
          </a:stretch>
        </p:blipFill>
        <p:spPr bwMode="auto">
          <a:xfrm>
            <a:off x="5759245" y="2062316"/>
            <a:ext cx="3783124" cy="1860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1" name="Picture 4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3123" y="3548831"/>
            <a:ext cx="3860697" cy="3309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669997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noAutofit/>
          </a:bodyPr>
          <a:lstStyle/>
          <a:p>
            <a:r>
              <a:rPr lang="en-US" altLang="zh-CN" sz="2000" dirty="0"/>
              <a:t>2</a:t>
            </a:r>
            <a:r>
              <a:rPr lang="zh-CN" altLang="zh-CN" sz="2000" dirty="0"/>
              <a:t>）数据存储是数据结构保存的地方，包括以下内容：</a:t>
            </a:r>
          </a:p>
          <a:p>
            <a:r>
              <a:rPr lang="zh-CN" altLang="zh-CN" sz="2000" dirty="0"/>
              <a:t>数据存储（文件）名：</a:t>
            </a:r>
          </a:p>
          <a:p>
            <a:r>
              <a:rPr lang="zh-CN" altLang="zh-CN" sz="2000" dirty="0"/>
              <a:t>别名：</a:t>
            </a:r>
          </a:p>
          <a:p>
            <a:r>
              <a:rPr lang="zh-CN" altLang="zh-CN" sz="2000" dirty="0"/>
              <a:t>简述：存放的是什么数据</a:t>
            </a:r>
          </a:p>
          <a:p>
            <a:r>
              <a:rPr lang="zh-CN" altLang="zh-CN" sz="2000" dirty="0"/>
              <a:t>数据存储的组成：数据结构</a:t>
            </a:r>
          </a:p>
          <a:p>
            <a:r>
              <a:rPr lang="zh-CN" altLang="zh-CN" sz="2000" dirty="0"/>
              <a:t>存储方式：顺序，直接，关键码</a:t>
            </a:r>
          </a:p>
          <a:p>
            <a:r>
              <a:rPr lang="zh-CN" altLang="zh-CN" sz="2000" dirty="0"/>
              <a:t>存取频率：</a:t>
            </a:r>
          </a:p>
          <a:p>
            <a:endParaRPr lang="zh-CN" altLang="en-US" sz="2000" dirty="0"/>
          </a:p>
        </p:txBody>
      </p:sp>
    </p:spTree>
    <p:extLst>
      <p:ext uri="{BB962C8B-B14F-4D97-AF65-F5344CB8AC3E}">
        <p14:creationId xmlns:p14="http://schemas.microsoft.com/office/powerpoint/2010/main" val="21669997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noAutofit/>
          </a:bodyPr>
          <a:lstStyle/>
          <a:p>
            <a:r>
              <a:rPr lang="en-US" altLang="zh-CN" sz="2000" dirty="0"/>
              <a:t>3</a:t>
            </a:r>
            <a:r>
              <a:rPr lang="zh-CN" altLang="zh-CN" sz="2000" dirty="0"/>
              <a:t>）数据元素是数据处理中最小的、不可再分的单位，它直接反映事物的某一特征，包括以下内容：</a:t>
            </a:r>
          </a:p>
          <a:p>
            <a:r>
              <a:rPr lang="zh-CN" altLang="zh-CN" sz="2000" dirty="0"/>
              <a:t>数据元素名：</a:t>
            </a:r>
          </a:p>
          <a:p>
            <a:r>
              <a:rPr lang="zh-CN" altLang="zh-CN" sz="2000" dirty="0"/>
              <a:t>别名：</a:t>
            </a:r>
          </a:p>
          <a:p>
            <a:r>
              <a:rPr lang="zh-CN" altLang="zh-CN" sz="2000" dirty="0"/>
              <a:t>简述 ：</a:t>
            </a:r>
          </a:p>
          <a:p>
            <a:r>
              <a:rPr lang="zh-CN" altLang="zh-CN" sz="2000" dirty="0"/>
              <a:t>类型：数字型</a:t>
            </a:r>
            <a:r>
              <a:rPr lang="en-US" altLang="zh-CN" sz="2000" dirty="0"/>
              <a:t>(</a:t>
            </a:r>
            <a:r>
              <a:rPr lang="zh-CN" altLang="zh-CN" sz="2000" dirty="0"/>
              <a:t>离散值</a:t>
            </a:r>
            <a:r>
              <a:rPr lang="en-US" altLang="zh-CN" sz="2000" dirty="0"/>
              <a:t>/</a:t>
            </a:r>
            <a:r>
              <a:rPr lang="zh-CN" altLang="zh-CN" sz="2000" dirty="0"/>
              <a:t>连续值</a:t>
            </a:r>
            <a:r>
              <a:rPr lang="en-US" altLang="zh-CN" sz="2000" dirty="0"/>
              <a:t>)</a:t>
            </a:r>
            <a:r>
              <a:rPr lang="zh-CN" altLang="zh-CN" sz="2000" dirty="0"/>
              <a:t>，字符型</a:t>
            </a:r>
          </a:p>
          <a:p>
            <a:r>
              <a:rPr lang="zh-CN" altLang="zh-CN" sz="2000" dirty="0"/>
              <a:t>长度：</a:t>
            </a:r>
          </a:p>
          <a:p>
            <a:r>
              <a:rPr lang="zh-CN" altLang="zh-CN" sz="2000" dirty="0"/>
              <a:t>取值范围：</a:t>
            </a:r>
          </a:p>
          <a:p>
            <a:r>
              <a:rPr lang="zh-CN" altLang="zh-CN" sz="2000" dirty="0"/>
              <a:t>相关的数据元素及数据结构：</a:t>
            </a:r>
          </a:p>
          <a:p>
            <a:endParaRPr lang="zh-CN" altLang="en-US" sz="2000" dirty="0"/>
          </a:p>
        </p:txBody>
      </p:sp>
      <p:sp>
        <p:nvSpPr>
          <p:cNvPr id="4" name="矩形 3"/>
          <p:cNvSpPr/>
          <p:nvPr/>
        </p:nvSpPr>
        <p:spPr>
          <a:xfrm>
            <a:off x="5673213" y="2425542"/>
            <a:ext cx="6096000" cy="3477875"/>
          </a:xfrm>
          <a:prstGeom prst="rect">
            <a:avLst/>
          </a:prstGeom>
        </p:spPr>
        <p:txBody>
          <a:bodyPr>
            <a:spAutoFit/>
          </a:bodyPr>
          <a:lstStyle/>
          <a:p>
            <a:r>
              <a:rPr lang="zh-CN" altLang="en-US" sz="2000" dirty="0" smtClean="0"/>
              <a:t>例如，</a:t>
            </a:r>
            <a:endParaRPr lang="en-US" altLang="zh-CN" sz="2000" dirty="0" smtClean="0"/>
          </a:p>
          <a:p>
            <a:r>
              <a:rPr lang="zh-CN" altLang="zh-CN" sz="2000" dirty="0" smtClean="0"/>
              <a:t>数据项</a:t>
            </a:r>
            <a:r>
              <a:rPr lang="zh-CN" altLang="zh-CN" sz="2000" dirty="0"/>
              <a:t>名</a:t>
            </a:r>
            <a:r>
              <a:rPr lang="en-US" altLang="zh-CN" sz="2000" dirty="0"/>
              <a:t>: </a:t>
            </a:r>
            <a:r>
              <a:rPr lang="zh-CN" altLang="zh-CN" sz="2000" dirty="0"/>
              <a:t>货物编号</a:t>
            </a:r>
          </a:p>
          <a:p>
            <a:r>
              <a:rPr lang="zh-CN" altLang="zh-CN" sz="2000" dirty="0"/>
              <a:t>别名</a:t>
            </a:r>
            <a:r>
              <a:rPr lang="en-US" altLang="zh-CN" sz="2000" dirty="0"/>
              <a:t>:   G-No, G-</a:t>
            </a:r>
            <a:r>
              <a:rPr lang="en-US" altLang="zh-CN" sz="2000" dirty="0" err="1"/>
              <a:t>num</a:t>
            </a:r>
            <a:endParaRPr lang="zh-CN" altLang="zh-CN" sz="2000" dirty="0"/>
          </a:p>
          <a:p>
            <a:r>
              <a:rPr lang="zh-CN" altLang="zh-CN" sz="2000" dirty="0"/>
              <a:t>简述</a:t>
            </a:r>
            <a:r>
              <a:rPr lang="en-US" altLang="zh-CN" sz="2000" dirty="0"/>
              <a:t>:  </a:t>
            </a:r>
            <a:r>
              <a:rPr lang="zh-CN" altLang="zh-CN" sz="2000" dirty="0"/>
              <a:t>本公司的所有货物的编号</a:t>
            </a:r>
          </a:p>
          <a:p>
            <a:r>
              <a:rPr lang="zh-CN" altLang="zh-CN" sz="2000" dirty="0"/>
              <a:t>类型</a:t>
            </a:r>
            <a:r>
              <a:rPr lang="en-US" altLang="zh-CN" sz="2000" dirty="0"/>
              <a:t>:  </a:t>
            </a:r>
            <a:r>
              <a:rPr lang="zh-CN" altLang="zh-CN" sz="2000" dirty="0"/>
              <a:t>字符串</a:t>
            </a:r>
          </a:p>
          <a:p>
            <a:r>
              <a:rPr lang="zh-CN" altLang="zh-CN" sz="2000" dirty="0"/>
              <a:t>长度</a:t>
            </a:r>
            <a:r>
              <a:rPr lang="en-US" altLang="zh-CN" sz="2000" dirty="0"/>
              <a:t>:  10</a:t>
            </a:r>
            <a:endParaRPr lang="zh-CN" altLang="zh-CN" sz="2000" dirty="0"/>
          </a:p>
          <a:p>
            <a:r>
              <a:rPr lang="zh-CN" altLang="zh-CN" sz="2000" dirty="0"/>
              <a:t>取值范围及含义</a:t>
            </a:r>
            <a:r>
              <a:rPr lang="en-US" altLang="zh-CN" sz="2000" dirty="0"/>
              <a:t>:</a:t>
            </a:r>
            <a:endParaRPr lang="zh-CN" altLang="zh-CN" sz="2000" dirty="0"/>
          </a:p>
          <a:p>
            <a:r>
              <a:rPr lang="en-US" altLang="zh-CN" sz="2000" dirty="0"/>
              <a:t>  </a:t>
            </a:r>
            <a:r>
              <a:rPr lang="zh-CN" altLang="zh-CN" sz="2000" dirty="0"/>
              <a:t>第</a:t>
            </a:r>
            <a:r>
              <a:rPr lang="en-US" altLang="zh-CN" sz="2000" dirty="0"/>
              <a:t>1</a:t>
            </a:r>
            <a:r>
              <a:rPr lang="zh-CN" altLang="zh-CN" sz="2000" dirty="0"/>
              <a:t>位：</a:t>
            </a:r>
            <a:r>
              <a:rPr lang="en-US" altLang="zh-CN" sz="2000" dirty="0"/>
              <a:t>[J</a:t>
            </a:r>
            <a:r>
              <a:rPr lang="zh-CN" altLang="zh-CN" sz="2000" dirty="0"/>
              <a:t>｜</a:t>
            </a:r>
            <a:r>
              <a:rPr lang="en-US" altLang="zh-CN" sz="2000" dirty="0"/>
              <a:t>G]      (</a:t>
            </a:r>
            <a:r>
              <a:rPr lang="zh-CN" altLang="zh-CN" sz="2000" dirty="0"/>
              <a:t>进口</a:t>
            </a:r>
            <a:r>
              <a:rPr lang="en-US" altLang="zh-CN" sz="2000" dirty="0"/>
              <a:t>/</a:t>
            </a:r>
            <a:r>
              <a:rPr lang="zh-CN" altLang="zh-CN" sz="2000" dirty="0"/>
              <a:t>国产</a:t>
            </a:r>
            <a:r>
              <a:rPr lang="en-US" altLang="zh-CN" sz="2000" dirty="0"/>
              <a:t>) </a:t>
            </a:r>
            <a:endParaRPr lang="zh-CN" altLang="zh-CN" sz="2000" dirty="0"/>
          </a:p>
          <a:p>
            <a:r>
              <a:rPr lang="en-US" altLang="zh-CN" sz="2000" dirty="0"/>
              <a:t>  </a:t>
            </a:r>
            <a:r>
              <a:rPr lang="zh-CN" altLang="zh-CN" sz="2000" dirty="0"/>
              <a:t>第</a:t>
            </a:r>
            <a:r>
              <a:rPr lang="en-US" altLang="zh-CN" sz="2000" dirty="0"/>
              <a:t>2~4</a:t>
            </a:r>
            <a:r>
              <a:rPr lang="zh-CN" altLang="zh-CN" sz="2000" dirty="0"/>
              <a:t>位：</a:t>
            </a:r>
            <a:r>
              <a:rPr lang="en-US" altLang="zh-CN" sz="2000" dirty="0"/>
              <a:t>  </a:t>
            </a:r>
            <a:r>
              <a:rPr lang="zh-CN" altLang="zh-CN" sz="2000" dirty="0"/>
              <a:t>“</a:t>
            </a:r>
            <a:r>
              <a:rPr lang="en-US" altLang="zh-CN" sz="2000" dirty="0"/>
              <a:t>001</a:t>
            </a:r>
            <a:r>
              <a:rPr lang="zh-CN" altLang="zh-CN" sz="2000" dirty="0"/>
              <a:t>”</a:t>
            </a:r>
            <a:r>
              <a:rPr lang="en-US" altLang="zh-CN" sz="2000" dirty="0"/>
              <a:t>.. </a:t>
            </a:r>
            <a:r>
              <a:rPr lang="zh-CN" altLang="zh-CN" sz="2000" dirty="0"/>
              <a:t>“</a:t>
            </a:r>
            <a:r>
              <a:rPr lang="en-US" altLang="zh-CN" sz="2000" dirty="0"/>
              <a:t>029</a:t>
            </a:r>
            <a:r>
              <a:rPr lang="zh-CN" altLang="zh-CN" sz="2000" dirty="0"/>
              <a:t>”</a:t>
            </a:r>
            <a:r>
              <a:rPr lang="en-US" altLang="zh-CN" sz="2000" dirty="0"/>
              <a:t>       (</a:t>
            </a:r>
            <a:r>
              <a:rPr lang="zh-CN" altLang="zh-CN" sz="2000" dirty="0"/>
              <a:t>类别</a:t>
            </a:r>
            <a:r>
              <a:rPr lang="en-US" altLang="zh-CN" sz="2000" dirty="0"/>
              <a:t>)</a:t>
            </a:r>
            <a:endParaRPr lang="zh-CN" altLang="zh-CN" sz="2000" dirty="0"/>
          </a:p>
          <a:p>
            <a:r>
              <a:rPr lang="en-US" altLang="zh-CN" sz="2000" dirty="0"/>
              <a:t>  </a:t>
            </a:r>
            <a:r>
              <a:rPr lang="zh-CN" altLang="zh-CN" sz="2000" dirty="0"/>
              <a:t>第</a:t>
            </a:r>
            <a:r>
              <a:rPr lang="en-US" altLang="zh-CN" sz="2000" dirty="0"/>
              <a:t>5~7</a:t>
            </a:r>
            <a:r>
              <a:rPr lang="zh-CN" altLang="zh-CN" sz="2000" dirty="0"/>
              <a:t>位：</a:t>
            </a:r>
            <a:r>
              <a:rPr lang="en-US" altLang="zh-CN" sz="2000" dirty="0"/>
              <a:t>  </a:t>
            </a:r>
            <a:r>
              <a:rPr lang="zh-CN" altLang="zh-CN" sz="2000" dirty="0"/>
              <a:t>“</a:t>
            </a:r>
            <a:r>
              <a:rPr lang="en-US" altLang="zh-CN" sz="2000" dirty="0"/>
              <a:t>A00</a:t>
            </a:r>
            <a:r>
              <a:rPr lang="zh-CN" altLang="zh-CN" sz="2000" dirty="0"/>
              <a:t>”</a:t>
            </a:r>
            <a:r>
              <a:rPr lang="en-US" altLang="zh-CN" sz="2000" dirty="0"/>
              <a:t>..</a:t>
            </a:r>
            <a:r>
              <a:rPr lang="zh-CN" altLang="zh-CN" sz="2000" dirty="0"/>
              <a:t>“</a:t>
            </a:r>
            <a:r>
              <a:rPr lang="en-US" altLang="zh-CN" sz="2000" dirty="0"/>
              <a:t>A99</a:t>
            </a:r>
            <a:r>
              <a:rPr lang="zh-CN" altLang="zh-CN" sz="2000" dirty="0"/>
              <a:t>”</a:t>
            </a:r>
            <a:r>
              <a:rPr lang="en-US" altLang="zh-CN" sz="2000" dirty="0"/>
              <a:t>  (</a:t>
            </a:r>
            <a:r>
              <a:rPr lang="zh-CN" altLang="zh-CN" sz="2000" dirty="0"/>
              <a:t>规格</a:t>
            </a:r>
            <a:r>
              <a:rPr lang="en-US" altLang="zh-CN" sz="2000" dirty="0"/>
              <a:t>)</a:t>
            </a:r>
            <a:endParaRPr lang="zh-CN" altLang="zh-CN" sz="2000" dirty="0"/>
          </a:p>
          <a:p>
            <a:r>
              <a:rPr lang="en-US" altLang="zh-CN" sz="2000" dirty="0"/>
              <a:t>  </a:t>
            </a:r>
            <a:r>
              <a:rPr lang="zh-CN" altLang="zh-CN" sz="2000" dirty="0"/>
              <a:t>第</a:t>
            </a:r>
            <a:r>
              <a:rPr lang="en-US" altLang="zh-CN" sz="2000" dirty="0"/>
              <a:t>8~10</a:t>
            </a:r>
            <a:r>
              <a:rPr lang="zh-CN" altLang="zh-CN" sz="2000" dirty="0"/>
              <a:t>位：“</a:t>
            </a:r>
            <a:r>
              <a:rPr lang="en-US" altLang="zh-CN" sz="2000" dirty="0"/>
              <a:t>001</a:t>
            </a:r>
            <a:r>
              <a:rPr lang="zh-CN" altLang="zh-CN" sz="2000" dirty="0"/>
              <a:t>”</a:t>
            </a:r>
            <a:r>
              <a:rPr lang="en-US" altLang="zh-CN" sz="2000" dirty="0"/>
              <a:t>..</a:t>
            </a:r>
            <a:r>
              <a:rPr lang="zh-CN" altLang="zh-CN" sz="2000" dirty="0"/>
              <a:t>“</a:t>
            </a:r>
            <a:r>
              <a:rPr lang="en-US" altLang="zh-CN" sz="2000" dirty="0"/>
              <a:t>999</a:t>
            </a:r>
            <a:r>
              <a:rPr lang="zh-CN" altLang="zh-CN" sz="2000" dirty="0"/>
              <a:t>”</a:t>
            </a:r>
            <a:r>
              <a:rPr lang="en-US" altLang="zh-CN" sz="2000" dirty="0"/>
              <a:t>    (</a:t>
            </a:r>
            <a:r>
              <a:rPr lang="zh-CN" altLang="zh-CN" sz="2000" dirty="0"/>
              <a:t>品名编号</a:t>
            </a:r>
            <a:r>
              <a:rPr lang="en-US" altLang="zh-CN" sz="2000" dirty="0"/>
              <a:t>)</a:t>
            </a:r>
            <a:endParaRPr lang="zh-CN" altLang="zh-CN" sz="2000" dirty="0"/>
          </a:p>
        </p:txBody>
      </p:sp>
    </p:spTree>
    <p:extLst>
      <p:ext uri="{BB962C8B-B14F-4D97-AF65-F5344CB8AC3E}">
        <p14:creationId xmlns:p14="http://schemas.microsoft.com/office/powerpoint/2010/main" val="21669997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noAutofit/>
          </a:bodyPr>
          <a:lstStyle/>
          <a:p>
            <a:r>
              <a:rPr lang="en-US" altLang="zh-CN" sz="2000" dirty="0"/>
              <a:t>4</a:t>
            </a:r>
            <a:r>
              <a:rPr lang="zh-CN" altLang="zh-CN" sz="2000" dirty="0"/>
              <a:t>）数据结构：</a:t>
            </a:r>
          </a:p>
          <a:p>
            <a:r>
              <a:rPr lang="zh-CN" altLang="zh-CN" sz="2000" dirty="0"/>
              <a:t>数据流图中的数据流和数据存储都有一定的数据结构，必须以清晰、准确、无二义性的方式来描述数据结构。</a:t>
            </a:r>
          </a:p>
          <a:p>
            <a:r>
              <a:rPr lang="zh-CN" altLang="zh-CN" sz="2000" dirty="0"/>
              <a:t>复杂的数据由许多基本的数据元素组成，数据结构表示数据元素之间的逻辑关系，利用数据字典可以全面准确地定义数据结构。</a:t>
            </a:r>
          </a:p>
          <a:p>
            <a:r>
              <a:rPr lang="zh-CN" altLang="zh-CN" sz="2000" dirty="0"/>
              <a:t>数据字典的定义就是对数据自顶向下的分解，直至分解到不需要进一步定义。</a:t>
            </a:r>
          </a:p>
          <a:p>
            <a:r>
              <a:rPr lang="zh-CN" altLang="zh-CN" sz="2000" dirty="0"/>
              <a:t>数据元素组成数据的方式：</a:t>
            </a:r>
          </a:p>
          <a:p>
            <a:r>
              <a:rPr lang="en-US" altLang="zh-CN" sz="2000" dirty="0"/>
              <a:t>1</a:t>
            </a:r>
            <a:r>
              <a:rPr lang="zh-CN" altLang="zh-CN" sz="2000" dirty="0"/>
              <a:t>）顺序：即以确定次序连接两个或多个分量；</a:t>
            </a:r>
          </a:p>
          <a:p>
            <a:r>
              <a:rPr lang="en-US" altLang="zh-CN" sz="2000" dirty="0"/>
              <a:t>2</a:t>
            </a:r>
            <a:r>
              <a:rPr lang="zh-CN" altLang="zh-CN" sz="2000" dirty="0"/>
              <a:t>）选择：即从两个或多个可能的元素中选取一个；</a:t>
            </a:r>
          </a:p>
          <a:p>
            <a:r>
              <a:rPr lang="en-US" altLang="zh-CN" sz="2000" dirty="0"/>
              <a:t>3</a:t>
            </a:r>
            <a:r>
              <a:rPr lang="zh-CN" altLang="zh-CN" sz="2000" dirty="0"/>
              <a:t>）重复：即把指定的分量重复零次或多次。</a:t>
            </a:r>
          </a:p>
          <a:p>
            <a:r>
              <a:rPr lang="en-US" altLang="zh-CN" sz="2000" dirty="0"/>
              <a:t>4</a:t>
            </a:r>
            <a:r>
              <a:rPr lang="zh-CN" altLang="zh-CN" sz="2000" dirty="0"/>
              <a:t>）可选：一个分量是可有可无的（重复</a:t>
            </a:r>
            <a:r>
              <a:rPr lang="en-US" altLang="zh-CN" sz="2000" dirty="0"/>
              <a:t>0</a:t>
            </a:r>
            <a:r>
              <a:rPr lang="zh-CN" altLang="zh-CN" sz="2000" dirty="0"/>
              <a:t>次或</a:t>
            </a:r>
            <a:r>
              <a:rPr lang="en-US" altLang="zh-CN" sz="2000" dirty="0"/>
              <a:t>1</a:t>
            </a:r>
            <a:r>
              <a:rPr lang="zh-CN" altLang="zh-CN" sz="2000" dirty="0"/>
              <a:t>次）。</a:t>
            </a:r>
          </a:p>
          <a:p>
            <a:endParaRPr lang="zh-CN" altLang="en-US" sz="2000" dirty="0"/>
          </a:p>
        </p:txBody>
      </p:sp>
    </p:spTree>
    <p:extLst>
      <p:ext uri="{BB962C8B-B14F-4D97-AF65-F5344CB8AC3E}">
        <p14:creationId xmlns:p14="http://schemas.microsoft.com/office/powerpoint/2010/main" val="21669997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noAutofit/>
          </a:bodyPr>
          <a:lstStyle/>
          <a:p>
            <a:endParaRPr lang="zh-CN" altLang="en-US" sz="2000" dirty="0"/>
          </a:p>
        </p:txBody>
      </p:sp>
      <p:pic>
        <p:nvPicPr>
          <p:cNvPr id="18434" name="图片 1"/>
          <p:cNvPicPr>
            <a:picLocks noChangeAspect="1" noChangeArrowheads="1"/>
          </p:cNvPicPr>
          <p:nvPr/>
        </p:nvPicPr>
        <p:blipFill>
          <a:blip r:embed="rId2">
            <a:extLst>
              <a:ext uri="{28A0092B-C50C-407E-A947-70E740481C1C}">
                <a14:useLocalDpi xmlns:a14="http://schemas.microsoft.com/office/drawing/2010/main" val="0"/>
              </a:ext>
            </a:extLst>
          </a:blip>
          <a:srcRect l="37535" t="28395" r="24847" b="27161"/>
          <a:stretch>
            <a:fillRect/>
          </a:stretch>
        </p:blipFill>
        <p:spPr bwMode="auto">
          <a:xfrm>
            <a:off x="1143000" y="1814051"/>
            <a:ext cx="5715000" cy="3792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669997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noAutofit/>
          </a:bodyPr>
          <a:lstStyle/>
          <a:p>
            <a:endParaRPr lang="zh-CN" altLang="en-US" sz="2000"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580" y="1465006"/>
            <a:ext cx="5153157" cy="2885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59" name="图片 1"/>
          <p:cNvPicPr>
            <a:picLocks noChangeAspect="1" noChangeArrowheads="1"/>
          </p:cNvPicPr>
          <p:nvPr/>
        </p:nvPicPr>
        <p:blipFill>
          <a:blip r:embed="rId3">
            <a:extLst>
              <a:ext uri="{28A0092B-C50C-407E-A947-70E740481C1C}">
                <a14:useLocalDpi xmlns:a14="http://schemas.microsoft.com/office/drawing/2010/main" val="0"/>
              </a:ext>
            </a:extLst>
          </a:blip>
          <a:srcRect l="37535" t="29013" r="27144" b="27161"/>
          <a:stretch>
            <a:fillRect/>
          </a:stretch>
        </p:blipFill>
        <p:spPr bwMode="auto">
          <a:xfrm>
            <a:off x="6818618" y="382536"/>
            <a:ext cx="4631700" cy="3201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0" name="图片 1"/>
          <p:cNvPicPr>
            <a:picLocks noChangeAspect="1" noChangeArrowheads="1"/>
          </p:cNvPicPr>
          <p:nvPr/>
        </p:nvPicPr>
        <p:blipFill>
          <a:blip r:embed="rId4">
            <a:extLst>
              <a:ext uri="{28A0092B-C50C-407E-A947-70E740481C1C}">
                <a14:useLocalDpi xmlns:a14="http://schemas.microsoft.com/office/drawing/2010/main" val="0"/>
              </a:ext>
            </a:extLst>
          </a:blip>
          <a:srcRect l="39063" t="28703" r="24132" b="27469"/>
          <a:stretch>
            <a:fillRect/>
          </a:stretch>
        </p:blipFill>
        <p:spPr bwMode="auto">
          <a:xfrm>
            <a:off x="6818618" y="3775587"/>
            <a:ext cx="4631699" cy="3095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669997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a:xfrm>
            <a:off x="838200" y="1530658"/>
            <a:ext cx="10515600" cy="4351338"/>
          </a:xfrm>
        </p:spPr>
        <p:txBody>
          <a:bodyPr>
            <a:noAutofit/>
          </a:bodyPr>
          <a:lstStyle/>
          <a:p>
            <a:r>
              <a:rPr lang="en-US" altLang="zh-CN" sz="2000" dirty="0"/>
              <a:t>5</a:t>
            </a:r>
            <a:r>
              <a:rPr lang="zh-CN" altLang="zh-CN" sz="2000" dirty="0"/>
              <a:t>）加工过程描述</a:t>
            </a:r>
          </a:p>
          <a:p>
            <a:r>
              <a:rPr lang="zh-CN" altLang="zh-CN" sz="2000" dirty="0"/>
              <a:t>对数据流图的每一个基本加工，必须有一个基本加工逻辑说明，满足以下要求：</a:t>
            </a:r>
          </a:p>
          <a:p>
            <a:r>
              <a:rPr lang="zh-CN" altLang="zh-CN" sz="2000" dirty="0"/>
              <a:t>描述将输入数据流变换为输出数据流的加工规则；</a:t>
            </a:r>
          </a:p>
          <a:p>
            <a:r>
              <a:rPr lang="zh-CN" altLang="zh-CN" sz="2000" dirty="0"/>
              <a:t>描述实现加工的策略而不是加工的细节；</a:t>
            </a:r>
          </a:p>
          <a:p>
            <a:r>
              <a:rPr lang="zh-CN" altLang="zh-CN" sz="2000" dirty="0"/>
              <a:t>包含的信息应该是完备、有用、无冗余的。</a:t>
            </a:r>
          </a:p>
          <a:p>
            <a:r>
              <a:rPr lang="en-US" altLang="zh-CN" sz="2000" dirty="0"/>
              <a:t> </a:t>
            </a:r>
            <a:endParaRPr lang="zh-CN" altLang="zh-CN" sz="2000" dirty="0"/>
          </a:p>
          <a:p>
            <a:r>
              <a:rPr lang="zh-CN" altLang="zh-CN" sz="2000" dirty="0"/>
              <a:t>加工比较复杂，加工的表达方式有结构化英语、判定表、判定树等，主要描述有：</a:t>
            </a:r>
          </a:p>
          <a:p>
            <a:r>
              <a:rPr lang="zh-CN" altLang="zh-CN" sz="2000" dirty="0"/>
              <a:t>加工名：</a:t>
            </a:r>
          </a:p>
          <a:p>
            <a:r>
              <a:rPr lang="zh-CN" altLang="zh-CN" sz="2000" dirty="0"/>
              <a:t>加工编号：反映该加工的层次</a:t>
            </a:r>
          </a:p>
          <a:p>
            <a:r>
              <a:rPr lang="zh-CN" altLang="zh-CN" sz="2000" dirty="0"/>
              <a:t>简要描述：加工逻辑及功能简述</a:t>
            </a:r>
          </a:p>
          <a:p>
            <a:r>
              <a:rPr lang="zh-CN" altLang="zh-CN" sz="2000" dirty="0"/>
              <a:t>输入数据流：</a:t>
            </a:r>
          </a:p>
          <a:p>
            <a:r>
              <a:rPr lang="zh-CN" altLang="zh-CN" sz="2000" dirty="0"/>
              <a:t>输出数据流：</a:t>
            </a:r>
          </a:p>
          <a:p>
            <a:r>
              <a:rPr lang="zh-CN" altLang="zh-CN" sz="2000" dirty="0"/>
              <a:t>加工逻辑：简述加工程序，加工规则</a:t>
            </a:r>
          </a:p>
          <a:p>
            <a:endParaRPr lang="zh-CN" altLang="en-US" sz="2000" dirty="0"/>
          </a:p>
        </p:txBody>
      </p:sp>
    </p:spTree>
    <p:extLst>
      <p:ext uri="{BB962C8B-B14F-4D97-AF65-F5344CB8AC3E}">
        <p14:creationId xmlns:p14="http://schemas.microsoft.com/office/powerpoint/2010/main" val="21669997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noAutofit/>
          </a:bodyPr>
          <a:lstStyle/>
          <a:p>
            <a:r>
              <a:rPr lang="zh-CN" altLang="zh-CN" sz="2000" dirty="0"/>
              <a:t>商店业务处理系统中“检查发货单”</a:t>
            </a:r>
          </a:p>
          <a:p>
            <a:endParaRPr lang="zh-CN" altLang="en-US" sz="2000" dirty="0"/>
          </a:p>
        </p:txBody>
      </p:sp>
      <p:pic>
        <p:nvPicPr>
          <p:cNvPr id="20482" name="图片 1"/>
          <p:cNvPicPr>
            <a:picLocks noChangeAspect="1" noChangeArrowheads="1"/>
          </p:cNvPicPr>
          <p:nvPr/>
        </p:nvPicPr>
        <p:blipFill>
          <a:blip r:embed="rId2">
            <a:extLst>
              <a:ext uri="{28A0092B-C50C-407E-A947-70E740481C1C}">
                <a14:useLocalDpi xmlns:a14="http://schemas.microsoft.com/office/drawing/2010/main" val="0"/>
              </a:ext>
            </a:extLst>
          </a:blip>
          <a:srcRect l="42882" t="35803" r="28908" b="26543"/>
          <a:stretch>
            <a:fillRect/>
          </a:stretch>
        </p:blipFill>
        <p:spPr bwMode="auto">
          <a:xfrm>
            <a:off x="3517490" y="2466053"/>
            <a:ext cx="4122109" cy="3123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669997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noAutofit/>
          </a:bodyPr>
          <a:lstStyle/>
          <a:p>
            <a:r>
              <a:rPr lang="zh-CN" altLang="zh-CN" sz="2000" dirty="0"/>
              <a:t>“检查发货单”加工的判定表</a:t>
            </a:r>
          </a:p>
          <a:p>
            <a:endParaRPr lang="zh-CN" altLang="en-US" sz="2000" dirty="0"/>
          </a:p>
        </p:txBody>
      </p:sp>
      <p:pic>
        <p:nvPicPr>
          <p:cNvPr id="22530" name="图片 1"/>
          <p:cNvPicPr>
            <a:picLocks noChangeAspect="1" noChangeArrowheads="1"/>
          </p:cNvPicPr>
          <p:nvPr/>
        </p:nvPicPr>
        <p:blipFill>
          <a:blip r:embed="rId2">
            <a:extLst>
              <a:ext uri="{28A0092B-C50C-407E-A947-70E740481C1C}">
                <a14:useLocalDpi xmlns:a14="http://schemas.microsoft.com/office/drawing/2010/main" val="0"/>
              </a:ext>
            </a:extLst>
          </a:blip>
          <a:srcRect l="19792" t="35803" r="43481" b="26543"/>
          <a:stretch>
            <a:fillRect/>
          </a:stretch>
        </p:blipFill>
        <p:spPr bwMode="auto">
          <a:xfrm>
            <a:off x="2367116" y="2486025"/>
            <a:ext cx="4520381" cy="2613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12562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noAutofit/>
          </a:bodyPr>
          <a:lstStyle/>
          <a:p>
            <a:r>
              <a:rPr lang="zh-CN" altLang="zh-CN" sz="2000" dirty="0"/>
              <a:t>判定树也是用来表达加工逻辑的一种工具，有时它比判定表更直观。</a:t>
            </a:r>
            <a:endParaRPr lang="zh-CN" altLang="en-US" sz="2000" dirty="0"/>
          </a:p>
        </p:txBody>
      </p:sp>
      <p:pic>
        <p:nvPicPr>
          <p:cNvPr id="23554" name="图片 1"/>
          <p:cNvPicPr>
            <a:picLocks noChangeAspect="1" noChangeArrowheads="1"/>
          </p:cNvPicPr>
          <p:nvPr/>
        </p:nvPicPr>
        <p:blipFill>
          <a:blip r:embed="rId2">
            <a:extLst>
              <a:ext uri="{28A0092B-C50C-407E-A947-70E740481C1C}">
                <a14:useLocalDpi xmlns:a14="http://schemas.microsoft.com/office/drawing/2010/main" val="0"/>
              </a:ext>
            </a:extLst>
          </a:blip>
          <a:srcRect l="39931" t="45370" r="26215" b="28395"/>
          <a:stretch>
            <a:fillRect/>
          </a:stretch>
        </p:blipFill>
        <p:spPr bwMode="auto">
          <a:xfrm>
            <a:off x="1143000" y="2990850"/>
            <a:ext cx="5641258" cy="2446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12562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noAutofit/>
          </a:bodyPr>
          <a:lstStyle/>
          <a:p>
            <a:r>
              <a:rPr lang="zh-CN" altLang="zh-CN" sz="2000" dirty="0"/>
              <a:t>数据字典的作用：</a:t>
            </a:r>
          </a:p>
          <a:p>
            <a:r>
              <a:rPr lang="en-US" altLang="zh-CN" sz="2000" dirty="0"/>
              <a:t>1</a:t>
            </a:r>
            <a:r>
              <a:rPr lang="zh-CN" altLang="zh-CN" sz="2000" dirty="0"/>
              <a:t>）在分析阶段，帮助分析员组织有关数据信息，是与用户交流的有力工具，还能起备忘录的作用；</a:t>
            </a:r>
          </a:p>
          <a:p>
            <a:r>
              <a:rPr lang="en-US" altLang="zh-CN" sz="2000" dirty="0"/>
              <a:t>2</a:t>
            </a:r>
            <a:r>
              <a:rPr lang="zh-CN" altLang="zh-CN" sz="2000" dirty="0"/>
              <a:t>）在设计阶段，可以根据它确定记录、文件或数据库的格式；</a:t>
            </a:r>
          </a:p>
          <a:p>
            <a:r>
              <a:rPr lang="en-US" altLang="zh-CN" sz="2000" dirty="0"/>
              <a:t>3</a:t>
            </a:r>
            <a:r>
              <a:rPr lang="zh-CN" altLang="zh-CN" sz="2000" dirty="0"/>
              <a:t>）在实现阶段，可以根据数据字典确定数据描述；</a:t>
            </a:r>
          </a:p>
          <a:p>
            <a:r>
              <a:rPr lang="en-US" altLang="zh-CN" sz="2000" dirty="0"/>
              <a:t>4</a:t>
            </a:r>
            <a:r>
              <a:rPr lang="zh-CN" altLang="zh-CN" sz="2000" dirty="0"/>
              <a:t>）投入运行后，可以清楚地告诉维护人员，具体的数据元素在系统中是怎样使用的。</a:t>
            </a:r>
          </a:p>
          <a:p>
            <a:endParaRPr lang="zh-CN" altLang="en-US" sz="2000" dirty="0"/>
          </a:p>
        </p:txBody>
      </p:sp>
    </p:spTree>
    <p:extLst>
      <p:ext uri="{BB962C8B-B14F-4D97-AF65-F5344CB8AC3E}">
        <p14:creationId xmlns:p14="http://schemas.microsoft.com/office/powerpoint/2010/main" val="13812562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noAutofit/>
          </a:bodyPr>
          <a:lstStyle/>
          <a:p>
            <a:endParaRPr lang="zh-CN" altLang="zh-CN" sz="2000" dirty="0"/>
          </a:p>
          <a:p>
            <a:endParaRPr lang="zh-CN" altLang="en-US" sz="2000" dirty="0"/>
          </a:p>
        </p:txBody>
      </p:sp>
      <p:sp>
        <p:nvSpPr>
          <p:cNvPr id="4" name="矩形 3"/>
          <p:cNvSpPr/>
          <p:nvPr/>
        </p:nvSpPr>
        <p:spPr>
          <a:xfrm>
            <a:off x="1086464" y="1434180"/>
            <a:ext cx="6096000" cy="3046988"/>
          </a:xfrm>
          <a:prstGeom prst="rect">
            <a:avLst/>
          </a:prstGeom>
        </p:spPr>
        <p:txBody>
          <a:bodyPr>
            <a:spAutoFit/>
          </a:bodyPr>
          <a:lstStyle/>
          <a:p>
            <a:r>
              <a:rPr lang="en-US" altLang="zh-CN" sz="2400" b="1" dirty="0"/>
              <a:t>3.3.4 </a:t>
            </a:r>
            <a:r>
              <a:rPr lang="zh-CN" altLang="zh-CN" sz="2400" b="1" dirty="0"/>
              <a:t>实体联系图</a:t>
            </a:r>
          </a:p>
          <a:p>
            <a:r>
              <a:rPr lang="zh-CN" altLang="zh-CN" sz="2400" dirty="0"/>
              <a:t>数据库设计分</a:t>
            </a:r>
            <a:r>
              <a:rPr lang="en-US" altLang="zh-CN" sz="2400" dirty="0"/>
              <a:t>6</a:t>
            </a:r>
            <a:r>
              <a:rPr lang="zh-CN" altLang="zh-CN" sz="2400" dirty="0"/>
              <a:t>个阶段：</a:t>
            </a:r>
          </a:p>
          <a:p>
            <a:r>
              <a:rPr lang="zh-CN" altLang="zh-CN" sz="2400" dirty="0"/>
              <a:t>（</a:t>
            </a:r>
            <a:r>
              <a:rPr lang="en-US" altLang="zh-CN" sz="2400" dirty="0"/>
              <a:t>1</a:t>
            </a:r>
            <a:r>
              <a:rPr lang="zh-CN" altLang="zh-CN" sz="2400" dirty="0"/>
              <a:t>）需求分析</a:t>
            </a:r>
          </a:p>
          <a:p>
            <a:r>
              <a:rPr lang="zh-CN" altLang="zh-CN" sz="2400" dirty="0"/>
              <a:t>（</a:t>
            </a:r>
            <a:r>
              <a:rPr lang="en-US" altLang="zh-CN" sz="2400" dirty="0"/>
              <a:t>2</a:t>
            </a:r>
            <a:r>
              <a:rPr lang="zh-CN" altLang="zh-CN" sz="2400" dirty="0"/>
              <a:t>）概念结构设计</a:t>
            </a:r>
          </a:p>
          <a:p>
            <a:r>
              <a:rPr lang="zh-CN" altLang="zh-CN" sz="2400" dirty="0"/>
              <a:t>（</a:t>
            </a:r>
            <a:r>
              <a:rPr lang="en-US" altLang="zh-CN" sz="2400" dirty="0"/>
              <a:t>3</a:t>
            </a:r>
            <a:r>
              <a:rPr lang="zh-CN" altLang="zh-CN" sz="2400" dirty="0"/>
              <a:t>）逻辑结构设计</a:t>
            </a:r>
          </a:p>
          <a:p>
            <a:r>
              <a:rPr lang="zh-CN" altLang="zh-CN" sz="2400" dirty="0"/>
              <a:t>（</a:t>
            </a:r>
            <a:r>
              <a:rPr lang="en-US" altLang="zh-CN" sz="2400" dirty="0"/>
              <a:t>4</a:t>
            </a:r>
            <a:r>
              <a:rPr lang="zh-CN" altLang="zh-CN" sz="2400" dirty="0"/>
              <a:t>）物理结构设计</a:t>
            </a:r>
          </a:p>
          <a:p>
            <a:r>
              <a:rPr lang="zh-CN" altLang="zh-CN" sz="2400" dirty="0"/>
              <a:t>（</a:t>
            </a:r>
            <a:r>
              <a:rPr lang="en-US" altLang="zh-CN" sz="2400" dirty="0"/>
              <a:t>5</a:t>
            </a:r>
            <a:r>
              <a:rPr lang="zh-CN" altLang="zh-CN" sz="2400" dirty="0"/>
              <a:t>）</a:t>
            </a:r>
            <a:r>
              <a:rPr lang="en-US" altLang="zh-CN" sz="2400" dirty="0"/>
              <a:t> </a:t>
            </a:r>
            <a:r>
              <a:rPr lang="zh-CN" altLang="zh-CN" sz="2400" dirty="0"/>
              <a:t>数据库实施</a:t>
            </a:r>
          </a:p>
          <a:p>
            <a:r>
              <a:rPr lang="zh-CN" altLang="zh-CN" sz="2400" dirty="0"/>
              <a:t>（</a:t>
            </a:r>
            <a:r>
              <a:rPr lang="en-US" altLang="zh-CN" sz="2400" dirty="0"/>
              <a:t>6</a:t>
            </a:r>
            <a:r>
              <a:rPr lang="zh-CN" altLang="zh-CN" sz="2400" dirty="0"/>
              <a:t>）数据库运行和维护</a:t>
            </a:r>
          </a:p>
        </p:txBody>
      </p:sp>
    </p:spTree>
    <p:extLst>
      <p:ext uri="{BB962C8B-B14F-4D97-AF65-F5344CB8AC3E}">
        <p14:creationId xmlns:p14="http://schemas.microsoft.com/office/powerpoint/2010/main" val="13812562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a:xfrm>
            <a:off x="383458" y="1604399"/>
            <a:ext cx="11636476" cy="4351338"/>
          </a:xfrm>
        </p:spPr>
        <p:txBody>
          <a:bodyPr>
            <a:noAutofit/>
          </a:bodyPr>
          <a:lstStyle/>
          <a:p>
            <a:r>
              <a:rPr lang="zh-CN" altLang="zh-CN" sz="2000" dirty="0"/>
              <a:t>设计一个完善的数据库应用系统往往是上述六个阶段的不断反复。</a:t>
            </a:r>
          </a:p>
          <a:p>
            <a:pPr lvl="0"/>
            <a:r>
              <a:rPr lang="en-US" altLang="zh-CN" sz="2000" dirty="0" smtClean="0"/>
              <a:t>1.</a:t>
            </a:r>
            <a:r>
              <a:rPr lang="zh-CN" altLang="zh-CN" sz="2000" dirty="0" smtClean="0"/>
              <a:t>需求分析阶段</a:t>
            </a:r>
            <a:r>
              <a:rPr lang="zh-CN" altLang="en-US" sz="2000" dirty="0" smtClean="0"/>
              <a:t>：</a:t>
            </a:r>
            <a:r>
              <a:rPr lang="zh-CN" altLang="zh-CN" sz="2000" dirty="0" smtClean="0"/>
              <a:t>准确</a:t>
            </a:r>
            <a:r>
              <a:rPr lang="zh-CN" altLang="zh-CN" sz="2000" dirty="0"/>
              <a:t>了解与分析用户需求（包括数据与处理），是整个设计过程的基础，是最困难、最耗费时间的一步。</a:t>
            </a:r>
          </a:p>
          <a:p>
            <a:pPr lvl="0"/>
            <a:r>
              <a:rPr lang="en-US" altLang="zh-CN" sz="2000" dirty="0" smtClean="0"/>
              <a:t>2.</a:t>
            </a:r>
            <a:r>
              <a:rPr lang="zh-CN" altLang="zh-CN" sz="2000" dirty="0" smtClean="0"/>
              <a:t>概念结构设计阶段</a:t>
            </a:r>
            <a:r>
              <a:rPr lang="zh-CN" altLang="en-US" sz="2000" dirty="0" smtClean="0"/>
              <a:t>：</a:t>
            </a:r>
            <a:r>
              <a:rPr lang="zh-CN" altLang="zh-CN" sz="2000" dirty="0" smtClean="0"/>
              <a:t>是</a:t>
            </a:r>
            <a:r>
              <a:rPr lang="zh-CN" altLang="zh-CN" sz="2000" dirty="0"/>
              <a:t>整个数据库设计的关键，通过对用户需求进行综合、归纳与抽象，形成一个独立于具体</a:t>
            </a:r>
            <a:r>
              <a:rPr lang="en-US" altLang="zh-CN" sz="2000" dirty="0"/>
              <a:t>DBMS</a:t>
            </a:r>
            <a:r>
              <a:rPr lang="zh-CN" altLang="zh-CN" sz="2000" dirty="0"/>
              <a:t>的概念模型。</a:t>
            </a:r>
          </a:p>
          <a:p>
            <a:pPr lvl="0"/>
            <a:r>
              <a:rPr lang="en-US" altLang="zh-CN" sz="2000" dirty="0" smtClean="0"/>
              <a:t>3.</a:t>
            </a:r>
            <a:r>
              <a:rPr lang="zh-CN" altLang="zh-CN" sz="2000" dirty="0" smtClean="0"/>
              <a:t>逻辑</a:t>
            </a:r>
            <a:r>
              <a:rPr lang="zh-CN" altLang="zh-CN" sz="2000" dirty="0"/>
              <a:t>结构设计</a:t>
            </a:r>
            <a:r>
              <a:rPr lang="zh-CN" altLang="zh-CN" sz="2000" dirty="0" smtClean="0"/>
              <a:t>阶段</a:t>
            </a:r>
            <a:r>
              <a:rPr lang="zh-CN" altLang="en-US" sz="2000" dirty="0" smtClean="0"/>
              <a:t>：</a:t>
            </a:r>
            <a:r>
              <a:rPr lang="zh-CN" altLang="zh-CN" sz="2000" dirty="0" smtClean="0"/>
              <a:t>将</a:t>
            </a:r>
            <a:r>
              <a:rPr lang="zh-CN" altLang="zh-CN" sz="2000" dirty="0"/>
              <a:t>概念结构转换为某个</a:t>
            </a:r>
            <a:r>
              <a:rPr lang="en-US" altLang="zh-CN" sz="2000" dirty="0"/>
              <a:t>DBMS</a:t>
            </a:r>
            <a:r>
              <a:rPr lang="zh-CN" altLang="zh-CN" sz="2000" dirty="0"/>
              <a:t>所支持的数据模型，对其进行优化。</a:t>
            </a:r>
          </a:p>
          <a:p>
            <a:pPr lvl="0"/>
            <a:r>
              <a:rPr lang="en-US" altLang="zh-CN" sz="2000" dirty="0"/>
              <a:t> </a:t>
            </a:r>
            <a:r>
              <a:rPr lang="en-US" altLang="zh-CN" sz="2000" dirty="0" smtClean="0"/>
              <a:t>4.</a:t>
            </a:r>
            <a:r>
              <a:rPr lang="zh-CN" altLang="zh-CN" sz="2000" dirty="0" smtClean="0"/>
              <a:t>数据库</a:t>
            </a:r>
            <a:r>
              <a:rPr lang="zh-CN" altLang="zh-CN" sz="2000" dirty="0"/>
              <a:t>物理</a:t>
            </a:r>
            <a:r>
              <a:rPr lang="zh-CN" altLang="zh-CN" sz="2000" dirty="0" smtClean="0"/>
              <a:t>设计阶段</a:t>
            </a:r>
            <a:r>
              <a:rPr lang="zh-CN" altLang="en-US" sz="2000" dirty="0" smtClean="0"/>
              <a:t>：</a:t>
            </a:r>
            <a:r>
              <a:rPr lang="zh-CN" altLang="zh-CN" sz="2000" dirty="0" smtClean="0"/>
              <a:t>为</a:t>
            </a:r>
            <a:r>
              <a:rPr lang="zh-CN" altLang="zh-CN" sz="2000" dirty="0"/>
              <a:t>逻辑数据模型选取一个最适合应用环境的物理结构（包括存储结构和存取方法）。</a:t>
            </a:r>
          </a:p>
          <a:p>
            <a:pPr lvl="0"/>
            <a:r>
              <a:rPr lang="en-US" altLang="zh-CN" sz="2000" dirty="0"/>
              <a:t> </a:t>
            </a:r>
            <a:r>
              <a:rPr lang="en-US" altLang="zh-CN" sz="2000" dirty="0" smtClean="0"/>
              <a:t>5.</a:t>
            </a:r>
            <a:r>
              <a:rPr lang="zh-CN" altLang="zh-CN" sz="2000" dirty="0" smtClean="0"/>
              <a:t>数据库</a:t>
            </a:r>
            <a:r>
              <a:rPr lang="zh-CN" altLang="zh-CN" sz="2000" dirty="0"/>
              <a:t>实施</a:t>
            </a:r>
            <a:r>
              <a:rPr lang="zh-CN" altLang="zh-CN" sz="2000" dirty="0" smtClean="0"/>
              <a:t>阶段</a:t>
            </a:r>
            <a:r>
              <a:rPr lang="zh-CN" altLang="en-US" sz="2000" dirty="0" smtClean="0"/>
              <a:t>：</a:t>
            </a:r>
            <a:r>
              <a:rPr lang="zh-CN" altLang="zh-CN" sz="2000" dirty="0" smtClean="0"/>
              <a:t>运用</a:t>
            </a:r>
            <a:r>
              <a:rPr lang="en-US" altLang="zh-CN" sz="2000" dirty="0"/>
              <a:t>DBMS</a:t>
            </a:r>
            <a:r>
              <a:rPr lang="zh-CN" altLang="zh-CN" sz="2000" dirty="0"/>
              <a:t>提供的数据语言、工具及宿主语言，根据逻辑设计和物理设计的结果，建立数据库，编制与调试应用程序，组织数据入库，并进行试运行。</a:t>
            </a:r>
          </a:p>
          <a:p>
            <a:r>
              <a:rPr lang="zh-CN" altLang="zh-CN" sz="2000" dirty="0"/>
              <a:t>⒍ 数据库运行和</a:t>
            </a:r>
            <a:r>
              <a:rPr lang="zh-CN" altLang="zh-CN" sz="2000" dirty="0" smtClean="0"/>
              <a:t>维护阶段</a:t>
            </a:r>
            <a:r>
              <a:rPr lang="zh-CN" altLang="en-US" sz="2000" dirty="0" smtClean="0"/>
              <a:t>：</a:t>
            </a:r>
            <a:r>
              <a:rPr lang="zh-CN" altLang="zh-CN" sz="2000" dirty="0" smtClean="0"/>
              <a:t>数据库</a:t>
            </a:r>
            <a:r>
              <a:rPr lang="zh-CN" altLang="zh-CN" sz="2000" dirty="0"/>
              <a:t>应用系统经过试运行后即可投入正式运行。在数据库系统运行过程中必须不断地对其进行评价、调整与修改。</a:t>
            </a:r>
          </a:p>
          <a:p>
            <a:endParaRPr lang="zh-CN" altLang="zh-CN" sz="2000" dirty="0"/>
          </a:p>
          <a:p>
            <a:endParaRPr lang="zh-CN" altLang="en-US" sz="2000" dirty="0"/>
          </a:p>
        </p:txBody>
      </p:sp>
    </p:spTree>
    <p:extLst>
      <p:ext uri="{BB962C8B-B14F-4D97-AF65-F5344CB8AC3E}">
        <p14:creationId xmlns:p14="http://schemas.microsoft.com/office/powerpoint/2010/main" val="21669997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noAutofit/>
          </a:bodyPr>
          <a:lstStyle/>
          <a:p>
            <a:r>
              <a:rPr lang="zh-CN" altLang="zh-CN" sz="2000" dirty="0"/>
              <a:t>描述概念模型的有力工具是</a:t>
            </a:r>
            <a:r>
              <a:rPr lang="en-US" altLang="zh-CN" sz="2000" dirty="0"/>
              <a:t>E-R</a:t>
            </a:r>
            <a:r>
              <a:rPr lang="zh-CN" altLang="zh-CN" sz="2000" dirty="0"/>
              <a:t>模型。</a:t>
            </a:r>
          </a:p>
          <a:p>
            <a:r>
              <a:rPr lang="zh-CN" altLang="zh-CN" sz="2000" dirty="0"/>
              <a:t>例如</a:t>
            </a:r>
            <a:r>
              <a:rPr lang="en-US" altLang="zh-CN" sz="2000" dirty="0"/>
              <a:t>1</a:t>
            </a:r>
            <a:r>
              <a:rPr lang="zh-CN" altLang="zh-CN" sz="2000" dirty="0"/>
              <a:t>，局部</a:t>
            </a:r>
            <a:r>
              <a:rPr lang="en-US" altLang="zh-CN" sz="2000" dirty="0" err="1"/>
              <a:t>er</a:t>
            </a:r>
            <a:r>
              <a:rPr lang="zh-CN" altLang="zh-CN" sz="2000" dirty="0"/>
              <a:t>图。</a:t>
            </a:r>
          </a:p>
          <a:p>
            <a:endParaRPr lang="zh-CN" altLang="en-US" sz="2000" dirty="0"/>
          </a:p>
        </p:txBody>
      </p:sp>
      <p:pic>
        <p:nvPicPr>
          <p:cNvPr id="24578" name="Picture 4" descr="说明: 114"/>
          <p:cNvPicPr>
            <a:picLocks noChangeAspect="1" noChangeArrowheads="1"/>
          </p:cNvPicPr>
          <p:nvPr/>
        </p:nvPicPr>
        <p:blipFill>
          <a:blip r:embed="rId2" cstate="print">
            <a:extLst>
              <a:ext uri="{28A0092B-C50C-407E-A947-70E740481C1C}">
                <a14:useLocalDpi xmlns:a14="http://schemas.microsoft.com/office/drawing/2010/main" val="0"/>
              </a:ext>
            </a:extLst>
          </a:blip>
          <a:srcRect t="57788" b="2827"/>
          <a:stretch>
            <a:fillRect/>
          </a:stretch>
        </p:blipFill>
        <p:spPr bwMode="auto">
          <a:xfrm>
            <a:off x="3886200" y="2380942"/>
            <a:ext cx="8513382" cy="3857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55307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noAutofit/>
          </a:bodyPr>
          <a:lstStyle/>
          <a:p>
            <a:r>
              <a:rPr lang="zh-CN" altLang="zh-CN" sz="2000" dirty="0"/>
              <a:t>例如</a:t>
            </a:r>
            <a:r>
              <a:rPr lang="en-US" altLang="zh-CN" sz="2000" dirty="0"/>
              <a:t>2</a:t>
            </a:r>
            <a:r>
              <a:rPr lang="zh-CN" altLang="zh-CN" sz="2000" dirty="0"/>
              <a:t>，局部</a:t>
            </a:r>
            <a:r>
              <a:rPr lang="en-US" altLang="zh-CN" sz="2000" dirty="0" err="1"/>
              <a:t>er</a:t>
            </a:r>
            <a:r>
              <a:rPr lang="zh-CN" altLang="zh-CN" sz="2000" dirty="0"/>
              <a:t>图。</a:t>
            </a:r>
          </a:p>
          <a:p>
            <a:endParaRPr lang="zh-CN" altLang="en-US" sz="2000" dirty="0"/>
          </a:p>
        </p:txBody>
      </p:sp>
      <p:pic>
        <p:nvPicPr>
          <p:cNvPr id="25602" name="Picture 5" descr="说明: 72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80618" y="1976284"/>
            <a:ext cx="4657957" cy="3244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55307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noAutofit/>
          </a:bodyPr>
          <a:lstStyle/>
          <a:p>
            <a:r>
              <a:rPr lang="zh-CN" altLang="zh-CN" sz="2000" dirty="0"/>
              <a:t>例如</a:t>
            </a:r>
            <a:r>
              <a:rPr lang="en-US" altLang="zh-CN" sz="2000" dirty="0"/>
              <a:t>3</a:t>
            </a:r>
            <a:r>
              <a:rPr lang="zh-CN" altLang="zh-CN" sz="2000" dirty="0"/>
              <a:t>，局部</a:t>
            </a:r>
            <a:r>
              <a:rPr lang="en-US" altLang="zh-CN" sz="2000" dirty="0" err="1"/>
              <a:t>er</a:t>
            </a:r>
            <a:r>
              <a:rPr lang="zh-CN" altLang="zh-CN" sz="2000" dirty="0"/>
              <a:t>图。</a:t>
            </a:r>
          </a:p>
          <a:p>
            <a:endParaRPr lang="zh-CN" altLang="en-US" sz="2000" dirty="0"/>
          </a:p>
        </p:txBody>
      </p:sp>
      <p:pic>
        <p:nvPicPr>
          <p:cNvPr id="26626" name="Picture 4" descr="说明: 72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81168" y="1121799"/>
            <a:ext cx="7198311" cy="3361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491613" y="4272677"/>
            <a:ext cx="7782232" cy="2585323"/>
          </a:xfrm>
          <a:prstGeom prst="rect">
            <a:avLst/>
          </a:prstGeom>
        </p:spPr>
        <p:txBody>
          <a:bodyPr wrap="square">
            <a:spAutoFit/>
          </a:bodyPr>
          <a:lstStyle/>
          <a:p>
            <a:r>
              <a:rPr lang="zh-CN" altLang="zh-CN" dirty="0"/>
              <a:t>对每个实体定义的属性如下：</a:t>
            </a:r>
          </a:p>
          <a:p>
            <a:r>
              <a:rPr lang="zh-CN" altLang="zh-CN" dirty="0"/>
              <a:t>顾客：</a:t>
            </a:r>
            <a:r>
              <a:rPr lang="en-US" altLang="zh-CN" dirty="0"/>
              <a:t>{</a:t>
            </a:r>
            <a:r>
              <a:rPr lang="zh-CN" altLang="zh-CN" dirty="0"/>
              <a:t>顾客号，顾客名，地址，电话，信贷状况，账目余额</a:t>
            </a:r>
            <a:r>
              <a:rPr lang="en-US" altLang="zh-CN" dirty="0"/>
              <a:t>}</a:t>
            </a:r>
            <a:endParaRPr lang="zh-CN" altLang="zh-CN" dirty="0"/>
          </a:p>
          <a:p>
            <a:r>
              <a:rPr lang="zh-CN" altLang="zh-CN" dirty="0"/>
              <a:t>订单：</a:t>
            </a:r>
            <a:r>
              <a:rPr lang="en-US" altLang="zh-CN" dirty="0"/>
              <a:t>{</a:t>
            </a:r>
            <a:r>
              <a:rPr lang="zh-CN" altLang="zh-CN" dirty="0"/>
              <a:t>订单号，顾客号，订货项数，订货日期，交货日期，工种号，生产地点</a:t>
            </a:r>
            <a:r>
              <a:rPr lang="en-US" altLang="zh-CN" dirty="0"/>
              <a:t>}</a:t>
            </a:r>
            <a:endParaRPr lang="zh-CN" altLang="zh-CN" dirty="0"/>
          </a:p>
          <a:p>
            <a:r>
              <a:rPr lang="zh-CN" altLang="zh-CN" dirty="0"/>
              <a:t>订单细则：</a:t>
            </a:r>
            <a:r>
              <a:rPr lang="en-US" altLang="zh-CN" dirty="0"/>
              <a:t>{</a:t>
            </a:r>
            <a:r>
              <a:rPr lang="zh-CN" altLang="zh-CN" dirty="0"/>
              <a:t>订单号，细则号，零件号，订货数，金额</a:t>
            </a:r>
            <a:r>
              <a:rPr lang="en-US" altLang="zh-CN" dirty="0"/>
              <a:t>}</a:t>
            </a:r>
            <a:endParaRPr lang="zh-CN" altLang="zh-CN" dirty="0"/>
          </a:p>
          <a:p>
            <a:r>
              <a:rPr lang="zh-CN" altLang="zh-CN" dirty="0"/>
              <a:t>应收账款：</a:t>
            </a:r>
            <a:r>
              <a:rPr lang="en-US" altLang="zh-CN" dirty="0"/>
              <a:t>{</a:t>
            </a:r>
            <a:r>
              <a:rPr lang="zh-CN" altLang="zh-CN" dirty="0"/>
              <a:t>顾客号，订单号，发票号，应收金额，支付日期，支付金额，当前余额，货款限额</a:t>
            </a:r>
            <a:r>
              <a:rPr lang="en-US" altLang="zh-CN" dirty="0"/>
              <a:t>}</a:t>
            </a:r>
            <a:endParaRPr lang="zh-CN" altLang="zh-CN" dirty="0"/>
          </a:p>
          <a:p>
            <a:r>
              <a:rPr lang="zh-CN" altLang="zh-CN" dirty="0"/>
              <a:t>产品描述：</a:t>
            </a:r>
            <a:r>
              <a:rPr lang="en-US" altLang="zh-CN" dirty="0"/>
              <a:t>{</a:t>
            </a:r>
            <a:r>
              <a:rPr lang="zh-CN" altLang="zh-CN" dirty="0"/>
              <a:t>产品号，产品名，单价，重量</a:t>
            </a:r>
            <a:r>
              <a:rPr lang="en-US" altLang="zh-CN" dirty="0"/>
              <a:t>}</a:t>
            </a:r>
            <a:endParaRPr lang="zh-CN" altLang="zh-CN" dirty="0"/>
          </a:p>
          <a:p>
            <a:r>
              <a:rPr lang="zh-CN" altLang="zh-CN" dirty="0"/>
              <a:t>折扣规则：</a:t>
            </a:r>
            <a:r>
              <a:rPr lang="en-US" altLang="zh-CN" dirty="0"/>
              <a:t>{</a:t>
            </a:r>
            <a:r>
              <a:rPr lang="zh-CN" altLang="zh-CN" dirty="0"/>
              <a:t>产品号，订货量，折扣</a:t>
            </a:r>
            <a:r>
              <a:rPr lang="en-US" altLang="zh-CN" dirty="0"/>
              <a:t>}</a:t>
            </a:r>
            <a:endParaRPr lang="zh-CN" altLang="zh-CN" dirty="0"/>
          </a:p>
        </p:txBody>
      </p:sp>
    </p:spTree>
    <p:extLst>
      <p:ext uri="{BB962C8B-B14F-4D97-AF65-F5344CB8AC3E}">
        <p14:creationId xmlns:p14="http://schemas.microsoft.com/office/powerpoint/2010/main" val="29755307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a:t>
            </a:r>
            <a:r>
              <a:rPr lang="zh-CN" altLang="zh-CN" dirty="0"/>
              <a:t>结构化需求分析</a:t>
            </a:r>
            <a:r>
              <a:rPr lang="zh-CN" altLang="zh-CN" dirty="0" smtClean="0"/>
              <a:t>方法</a:t>
            </a:r>
            <a:endParaRPr lang="zh-CN" altLang="en-US" dirty="0"/>
          </a:p>
        </p:txBody>
      </p:sp>
      <p:sp>
        <p:nvSpPr>
          <p:cNvPr id="3" name="内容占位符 2"/>
          <p:cNvSpPr>
            <a:spLocks noGrp="1"/>
          </p:cNvSpPr>
          <p:nvPr>
            <p:ph idx="1"/>
          </p:nvPr>
        </p:nvSpPr>
        <p:spPr/>
        <p:txBody>
          <a:bodyPr>
            <a:noAutofit/>
          </a:bodyPr>
          <a:lstStyle/>
          <a:p>
            <a:r>
              <a:rPr lang="zh-CN" altLang="zh-CN" sz="2000" dirty="0"/>
              <a:t>例如</a:t>
            </a:r>
            <a:r>
              <a:rPr lang="en-US" altLang="zh-CN" sz="2000" dirty="0"/>
              <a:t>4</a:t>
            </a:r>
            <a:r>
              <a:rPr lang="zh-CN" altLang="zh-CN" sz="2000" dirty="0"/>
              <a:t>，系统的合并后的基本</a:t>
            </a:r>
            <a:r>
              <a:rPr lang="en-US" altLang="zh-CN" sz="2000" dirty="0"/>
              <a:t>E-R</a:t>
            </a:r>
            <a:r>
              <a:rPr lang="zh-CN" altLang="zh-CN" sz="2000" dirty="0"/>
              <a:t>图。</a:t>
            </a:r>
            <a:endParaRPr lang="zh-CN" altLang="en-US" sz="2000" dirty="0"/>
          </a:p>
        </p:txBody>
      </p:sp>
      <p:pic>
        <p:nvPicPr>
          <p:cNvPr id="27650" name="Picture 6" descr="说明: 7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0095" y="1837403"/>
            <a:ext cx="7190521" cy="484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55307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zh-CN" altLang="zh-CN" sz="2400" dirty="0"/>
              <a:t>面向对象方法开发软件，通常需要建立三种形式的模型：对象模型、动态模型、功能模型。面向对象建模技术</a:t>
            </a:r>
            <a:r>
              <a:rPr lang="en-US" altLang="zh-CN" sz="2400" dirty="0"/>
              <a:t>OMT</a:t>
            </a:r>
            <a:r>
              <a:rPr lang="zh-CN" altLang="zh-CN" sz="2400" dirty="0"/>
              <a:t>用这三种模型来描述系统。</a:t>
            </a:r>
            <a:r>
              <a:rPr lang="en-US" altLang="zh-CN" sz="2400" dirty="0"/>
              <a:t>OMT</a:t>
            </a:r>
            <a:r>
              <a:rPr lang="zh-CN" altLang="zh-CN" sz="2400" dirty="0"/>
              <a:t>方法的每一步都使用这三种模型，通过每一步对三种模型不断地精化和扩充。</a:t>
            </a:r>
          </a:p>
          <a:p>
            <a:endParaRPr lang="zh-CN" altLang="en-US" sz="2400" dirty="0"/>
          </a:p>
        </p:txBody>
      </p:sp>
    </p:spTree>
    <p:extLst>
      <p:ext uri="{BB962C8B-B14F-4D97-AF65-F5344CB8AC3E}">
        <p14:creationId xmlns:p14="http://schemas.microsoft.com/office/powerpoint/2010/main" val="6993671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zh-CN" altLang="zh-CN" sz="2400" dirty="0"/>
              <a:t>对象模型也叫静态模型，是</a:t>
            </a:r>
            <a:r>
              <a:rPr lang="en-US" altLang="zh-CN" sz="2400" dirty="0"/>
              <a:t>OMT</a:t>
            </a:r>
            <a:r>
              <a:rPr lang="zh-CN" altLang="zh-CN" sz="2400" dirty="0"/>
              <a:t>方法中最重要的部分，动态模型和功能模型依此而建立。对象模型描述系统的静态结构，包括构成系统的对象类，它们的属性、操作及它们之间的关系。对象模型表示静态的、结构上的、系统的“数据”特征。对象模型为动态模型和功能模型提供了基本的框架。通常，使用类图建立对象模型。</a:t>
            </a:r>
          </a:p>
          <a:p>
            <a:endParaRPr lang="zh-CN" altLang="en-US" sz="2400" dirty="0"/>
          </a:p>
        </p:txBody>
      </p:sp>
    </p:spTree>
    <p:extLst>
      <p:ext uri="{BB962C8B-B14F-4D97-AF65-F5344CB8AC3E}">
        <p14:creationId xmlns:p14="http://schemas.microsoft.com/office/powerpoint/2010/main" val="32070039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zh-CN" altLang="zh-CN" sz="2400" dirty="0"/>
              <a:t>动态模型着重描述系统与时间相关的动态行为，即系统的控制逻辑。涉及时序和改变的状况用动态模型来描述。动态模型描述与时间和操作顺序有关的系统特征——激发事件、事件序列、确定事件先后关系的状态以及事件和状态的组织</a:t>
            </a:r>
            <a:r>
              <a:rPr lang="zh-CN" altLang="zh-CN" sz="2400" dirty="0" smtClean="0"/>
              <a:t>。</a:t>
            </a:r>
            <a:endParaRPr lang="en-US" altLang="zh-CN" sz="2400" dirty="0" smtClean="0"/>
          </a:p>
          <a:p>
            <a:r>
              <a:rPr lang="zh-CN" altLang="zh-CN" sz="2400" dirty="0" smtClean="0"/>
              <a:t>动态模型</a:t>
            </a:r>
            <a:r>
              <a:rPr lang="zh-CN" altLang="zh-CN" sz="2400" dirty="0"/>
              <a:t>表示瞬时的、行为上的、系统的“控制”特征。动态模型用状态图来表示</a:t>
            </a:r>
            <a:r>
              <a:rPr lang="zh-CN" altLang="zh-CN" sz="2400" dirty="0" smtClean="0"/>
              <a:t>。</a:t>
            </a:r>
            <a:endParaRPr lang="en-US" altLang="zh-CN" sz="2400" dirty="0" smtClean="0"/>
          </a:p>
          <a:p>
            <a:r>
              <a:rPr lang="zh-CN" altLang="zh-CN" sz="2400" dirty="0" smtClean="0"/>
              <a:t>每</a:t>
            </a:r>
            <a:r>
              <a:rPr lang="zh-CN" altLang="zh-CN" sz="2400" dirty="0"/>
              <a:t>张状态图显示了系统中一个类的所有对象所允许的状态和事件的顺序。动态模型也可以用时序图来表示。</a:t>
            </a:r>
          </a:p>
          <a:p>
            <a:endParaRPr lang="zh-CN" altLang="en-US" sz="2400" dirty="0"/>
          </a:p>
        </p:txBody>
      </p:sp>
    </p:spTree>
    <p:extLst>
      <p:ext uri="{BB962C8B-B14F-4D97-AF65-F5344CB8AC3E}">
        <p14:creationId xmlns:p14="http://schemas.microsoft.com/office/powerpoint/2010/main" val="41139386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zh-CN" altLang="zh-CN" sz="2400" dirty="0"/>
              <a:t>功能模型表示系统的功能性质，指明系统应该“做什么”，因此更直接地反映用户对目标系统的需求</a:t>
            </a:r>
            <a:r>
              <a:rPr lang="zh-CN" altLang="zh-CN" sz="2400" dirty="0" smtClean="0"/>
              <a:t>。</a:t>
            </a:r>
            <a:endParaRPr lang="en-US" altLang="zh-CN" sz="2400" dirty="0" smtClean="0"/>
          </a:p>
          <a:p>
            <a:r>
              <a:rPr lang="zh-CN" altLang="zh-CN" sz="2400" dirty="0" smtClean="0"/>
              <a:t>功能模型</a:t>
            </a:r>
            <a:r>
              <a:rPr lang="zh-CN" altLang="zh-CN" sz="2400" dirty="0"/>
              <a:t>描述了系统的所有计算，功能模型指出发生了什么，动态模型确定什么时候发生，而对象模型确定发生的客体</a:t>
            </a:r>
            <a:r>
              <a:rPr lang="zh-CN" altLang="zh-CN" sz="2400" dirty="0" smtClean="0"/>
              <a:t>。</a:t>
            </a:r>
            <a:endParaRPr lang="en-US" altLang="zh-CN" sz="2400" dirty="0" smtClean="0"/>
          </a:p>
          <a:p>
            <a:r>
              <a:rPr lang="zh-CN" altLang="zh-CN" sz="2400" dirty="0" smtClean="0"/>
              <a:t>功能模型</a:t>
            </a:r>
            <a:r>
              <a:rPr lang="zh-CN" altLang="zh-CN" sz="2400" dirty="0"/>
              <a:t>表明一个计算如何从输入值得到输出值。由多个数据流图组成，说明从外部输入，通过内部操作和存储，直到外部输出，整个的数据流情况</a:t>
            </a:r>
            <a:r>
              <a:rPr lang="zh-CN" altLang="zh-CN" sz="2400" dirty="0" smtClean="0"/>
              <a:t>。</a:t>
            </a:r>
            <a:endParaRPr lang="en-US" altLang="zh-CN" sz="2400" dirty="0" smtClean="0"/>
          </a:p>
          <a:p>
            <a:r>
              <a:rPr lang="zh-CN" altLang="zh-CN" sz="2400" dirty="0" smtClean="0"/>
              <a:t>功能模型</a:t>
            </a:r>
            <a:r>
              <a:rPr lang="zh-CN" altLang="zh-CN" sz="2400" dirty="0"/>
              <a:t>描述与值的变换有关的系统特征——功能、映射、约束和函数依赖。功能模型说明对象模型中操作的含义、动态模型中动作的意义以及对象模型中约束的意义</a:t>
            </a:r>
            <a:r>
              <a:rPr lang="zh-CN" altLang="zh-CN" sz="2400" dirty="0" smtClean="0"/>
              <a:t>。</a:t>
            </a:r>
            <a:endParaRPr lang="en-US" altLang="zh-CN" sz="2400" dirty="0" smtClean="0"/>
          </a:p>
          <a:p>
            <a:r>
              <a:rPr lang="zh-CN" altLang="zh-CN" sz="2400" dirty="0" smtClean="0"/>
              <a:t>功能模型</a:t>
            </a:r>
            <a:r>
              <a:rPr lang="zh-CN" altLang="zh-CN" sz="2400" dirty="0"/>
              <a:t>用数据流图来表示，也可以用</a:t>
            </a:r>
            <a:r>
              <a:rPr lang="en-US" altLang="zh-CN" sz="2400" dirty="0"/>
              <a:t>UML</a:t>
            </a:r>
            <a:r>
              <a:rPr lang="zh-CN" altLang="zh-CN" sz="2400" dirty="0"/>
              <a:t>中的用例图描述功能模型。</a:t>
            </a:r>
          </a:p>
          <a:p>
            <a:endParaRPr lang="zh-CN" altLang="en-US" sz="2400" dirty="0"/>
          </a:p>
        </p:txBody>
      </p:sp>
    </p:spTree>
    <p:extLst>
      <p:ext uri="{BB962C8B-B14F-4D97-AF65-F5344CB8AC3E}">
        <p14:creationId xmlns:p14="http://schemas.microsoft.com/office/powerpoint/2010/main" val="41139386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en-US" altLang="zh-CN" sz="2400" dirty="0"/>
              <a:t>3.4.1 </a:t>
            </a:r>
            <a:r>
              <a:rPr lang="en-US" altLang="zh-CN" sz="2400" dirty="0" smtClean="0"/>
              <a:t>UML</a:t>
            </a:r>
          </a:p>
          <a:p>
            <a:r>
              <a:rPr lang="en-US" altLang="zh-CN" sz="2400" b="1" dirty="0"/>
              <a:t>1</a:t>
            </a:r>
            <a:r>
              <a:rPr lang="zh-CN" altLang="zh-CN" sz="2400" b="1" dirty="0"/>
              <a:t>）类图</a:t>
            </a:r>
          </a:p>
          <a:p>
            <a:r>
              <a:rPr lang="zh-CN" altLang="zh-CN" sz="2400" dirty="0"/>
              <a:t>类的命名尽量应用领域中的术语，应明确、无岐义，以利于相互交流和理解。类的属性、操作中的可见性使用</a:t>
            </a:r>
            <a:r>
              <a:rPr lang="en-US" altLang="zh-CN" sz="2400" dirty="0"/>
              <a:t>+</a:t>
            </a:r>
            <a:r>
              <a:rPr lang="zh-CN" altLang="zh-CN" sz="2400" dirty="0"/>
              <a:t>、</a:t>
            </a:r>
            <a:r>
              <a:rPr lang="en-US" altLang="zh-CN" sz="2400" dirty="0"/>
              <a:t>#</a:t>
            </a:r>
            <a:r>
              <a:rPr lang="zh-CN" altLang="zh-CN" sz="2400" dirty="0"/>
              <a:t>、－分别表示</a:t>
            </a:r>
            <a:r>
              <a:rPr lang="en-US" altLang="zh-CN" sz="2400" dirty="0"/>
              <a:t>public</a:t>
            </a:r>
            <a:r>
              <a:rPr lang="zh-CN" altLang="zh-CN" sz="2400" dirty="0"/>
              <a:t>、</a:t>
            </a:r>
            <a:r>
              <a:rPr lang="en-US" altLang="zh-CN" sz="2400" dirty="0"/>
              <a:t>protected</a:t>
            </a:r>
            <a:r>
              <a:rPr lang="zh-CN" altLang="zh-CN" sz="2400" dirty="0"/>
              <a:t>、</a:t>
            </a:r>
            <a:r>
              <a:rPr lang="en-US" altLang="zh-CN" sz="2400" dirty="0"/>
              <a:t>private</a:t>
            </a:r>
            <a:r>
              <a:rPr lang="zh-CN" altLang="zh-CN" sz="2400" dirty="0"/>
              <a:t>。</a:t>
            </a:r>
          </a:p>
          <a:p>
            <a:endParaRPr lang="zh-CN" altLang="en-US" sz="2400" dirty="0"/>
          </a:p>
        </p:txBody>
      </p:sp>
      <p:pic>
        <p:nvPicPr>
          <p:cNvPr id="28674" name="图片 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2458" y="3829049"/>
            <a:ext cx="3797919" cy="2851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39386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en-US" altLang="zh-CN" sz="2400" b="1" dirty="0"/>
              <a:t>2</a:t>
            </a:r>
            <a:r>
              <a:rPr lang="zh-CN" altLang="zh-CN" sz="2400" b="1" dirty="0"/>
              <a:t>）类的关联</a:t>
            </a:r>
          </a:p>
          <a:p>
            <a:r>
              <a:rPr lang="zh-CN" altLang="zh-CN" sz="2400" dirty="0"/>
              <a:t>在</a:t>
            </a:r>
            <a:r>
              <a:rPr lang="en-US" altLang="zh-CN" sz="2400" dirty="0"/>
              <a:t>UML</a:t>
            </a:r>
            <a:r>
              <a:rPr lang="zh-CN" altLang="zh-CN" sz="2400" dirty="0"/>
              <a:t>类图中，常见的有以下几种关系</a:t>
            </a:r>
            <a:r>
              <a:rPr lang="en-US" altLang="zh-CN" sz="2400" dirty="0"/>
              <a:t>:</a:t>
            </a:r>
            <a:r>
              <a:rPr lang="zh-CN" altLang="zh-CN" sz="2400" dirty="0"/>
              <a:t>泛化（</a:t>
            </a:r>
            <a:r>
              <a:rPr lang="en-US" altLang="zh-CN" sz="2400" dirty="0"/>
              <a:t>Generalization</a:t>
            </a:r>
            <a:r>
              <a:rPr lang="zh-CN" altLang="zh-CN" sz="2400" dirty="0"/>
              <a:t>）</a:t>
            </a:r>
            <a:r>
              <a:rPr lang="en-US" altLang="zh-CN" sz="2400" dirty="0"/>
              <a:t>,</a:t>
            </a:r>
            <a:r>
              <a:rPr lang="zh-CN" altLang="zh-CN" sz="2400" dirty="0"/>
              <a:t>实现（</a:t>
            </a:r>
            <a:r>
              <a:rPr lang="en-US" altLang="zh-CN" sz="2400" dirty="0"/>
              <a:t>Realization</a:t>
            </a:r>
            <a:r>
              <a:rPr lang="zh-CN" altLang="zh-CN" sz="2400" dirty="0"/>
              <a:t>），关联（</a:t>
            </a:r>
            <a:r>
              <a:rPr lang="en-US" altLang="zh-CN" sz="2400" dirty="0"/>
              <a:t>Association)</a:t>
            </a:r>
            <a:r>
              <a:rPr lang="zh-CN" altLang="zh-CN" sz="2400" dirty="0"/>
              <a:t>，聚合（</a:t>
            </a:r>
            <a:r>
              <a:rPr lang="en-US" altLang="zh-CN" sz="2400" dirty="0"/>
              <a:t>Aggregation</a:t>
            </a:r>
            <a:r>
              <a:rPr lang="zh-CN" altLang="zh-CN" sz="2400" dirty="0"/>
              <a:t>），组合</a:t>
            </a:r>
            <a:r>
              <a:rPr lang="en-US" altLang="zh-CN" sz="2400" dirty="0"/>
              <a:t>(Composition)</a:t>
            </a:r>
            <a:r>
              <a:rPr lang="zh-CN" altLang="zh-CN" sz="2400" dirty="0"/>
              <a:t>，依赖</a:t>
            </a:r>
            <a:r>
              <a:rPr lang="en-US" altLang="zh-CN" sz="2400" dirty="0"/>
              <a:t>(Dependency)</a:t>
            </a:r>
            <a:r>
              <a:rPr lang="zh-CN" altLang="zh-CN" sz="2400" dirty="0"/>
              <a:t>。</a:t>
            </a:r>
          </a:p>
          <a:p>
            <a:endParaRPr lang="zh-CN" altLang="en-US" sz="2400" dirty="0"/>
          </a:p>
        </p:txBody>
      </p:sp>
    </p:spTree>
    <p:extLst>
      <p:ext uri="{BB962C8B-B14F-4D97-AF65-F5344CB8AC3E}">
        <p14:creationId xmlns:p14="http://schemas.microsoft.com/office/powerpoint/2010/main" val="41139386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a:t>
            </a:r>
            <a:r>
              <a:rPr lang="zh-CN" altLang="zh-CN" dirty="0" smtClean="0"/>
              <a:t>方法</a:t>
            </a:r>
            <a:endParaRPr lang="zh-CN" altLang="en-US" dirty="0"/>
          </a:p>
        </p:txBody>
      </p:sp>
      <p:sp>
        <p:nvSpPr>
          <p:cNvPr id="3" name="内容占位符 2"/>
          <p:cNvSpPr>
            <a:spLocks noGrp="1"/>
          </p:cNvSpPr>
          <p:nvPr>
            <p:ph idx="1"/>
          </p:nvPr>
        </p:nvSpPr>
        <p:spPr>
          <a:xfrm>
            <a:off x="838200" y="1501169"/>
            <a:ext cx="4589206" cy="4351338"/>
          </a:xfrm>
        </p:spPr>
        <p:txBody>
          <a:bodyPr>
            <a:normAutofit/>
          </a:bodyPr>
          <a:lstStyle/>
          <a:p>
            <a:r>
              <a:rPr lang="zh-CN" altLang="zh-CN" sz="2400" dirty="0"/>
              <a:t>（</a:t>
            </a:r>
            <a:r>
              <a:rPr lang="en-US" altLang="zh-CN" sz="2400" dirty="0"/>
              <a:t>1</a:t>
            </a:r>
            <a:r>
              <a:rPr lang="zh-CN" altLang="zh-CN" sz="2400" dirty="0"/>
              <a:t>）泛化（</a:t>
            </a:r>
            <a:r>
              <a:rPr lang="en-US" altLang="zh-CN" sz="2400" dirty="0"/>
              <a:t>Generalization</a:t>
            </a:r>
            <a:r>
              <a:rPr lang="zh-CN" altLang="zh-CN" sz="2400" dirty="0"/>
              <a:t>）</a:t>
            </a:r>
          </a:p>
          <a:p>
            <a:r>
              <a:rPr lang="zh-CN" altLang="zh-CN" sz="2400" dirty="0"/>
              <a:t>【泛化关系】：是一种继承关系，表示一般与特殊的关系，它指定了子类如何特化父类的所有特征和行为。例如：老虎是动物的一种，即有老虎的特性也有动物的共性。</a:t>
            </a:r>
          </a:p>
          <a:p>
            <a:r>
              <a:rPr lang="zh-CN" altLang="zh-CN" sz="2400" dirty="0"/>
              <a:t>【箭头指向】：带三角箭头的实线，箭头指向父类。</a:t>
            </a:r>
          </a:p>
          <a:p>
            <a:r>
              <a:rPr lang="zh-CN" altLang="zh-CN" sz="2400" dirty="0"/>
              <a:t>继承的</a:t>
            </a:r>
            <a:r>
              <a:rPr lang="en-US" altLang="zh-CN" sz="2400" dirty="0"/>
              <a:t>UML</a:t>
            </a:r>
            <a:r>
              <a:rPr lang="zh-CN" altLang="zh-CN" sz="2400" dirty="0"/>
              <a:t>符号和典型的</a:t>
            </a:r>
            <a:r>
              <a:rPr lang="en-US" altLang="zh-CN" sz="2400" dirty="0"/>
              <a:t>Java</a:t>
            </a:r>
            <a:r>
              <a:rPr lang="zh-CN" altLang="zh-CN" sz="2400" dirty="0"/>
              <a:t>实现如下图。</a:t>
            </a:r>
          </a:p>
          <a:p>
            <a:endParaRPr lang="zh-CN" altLang="en-US" sz="2400" dirty="0"/>
          </a:p>
        </p:txBody>
      </p:sp>
      <p:pic>
        <p:nvPicPr>
          <p:cNvPr id="29698" name="图片 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8898" y="1135625"/>
            <a:ext cx="3706762" cy="2772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699" name="Picture 7" descr="说明: 图 5: 一个使用树形记号的继承实例"/>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1916" y="4055806"/>
            <a:ext cx="4334386" cy="2583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39386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a:t>
            </a:r>
            <a:r>
              <a:rPr lang="zh-CN" altLang="zh-CN" dirty="0" smtClean="0"/>
              <a:t>方法</a:t>
            </a:r>
            <a:endParaRPr lang="zh-CN" altLang="en-US" dirty="0"/>
          </a:p>
        </p:txBody>
      </p:sp>
      <p:sp>
        <p:nvSpPr>
          <p:cNvPr id="3" name="内容占位符 2"/>
          <p:cNvSpPr>
            <a:spLocks noGrp="1"/>
          </p:cNvSpPr>
          <p:nvPr>
            <p:ph idx="1"/>
          </p:nvPr>
        </p:nvSpPr>
        <p:spPr>
          <a:xfrm>
            <a:off x="838200" y="1825625"/>
            <a:ext cx="5061155" cy="4351338"/>
          </a:xfrm>
        </p:spPr>
        <p:txBody>
          <a:bodyPr>
            <a:normAutofit/>
          </a:bodyPr>
          <a:lstStyle/>
          <a:p>
            <a:r>
              <a:rPr lang="zh-CN" altLang="zh-CN" sz="2400" dirty="0"/>
              <a:t>（</a:t>
            </a:r>
            <a:r>
              <a:rPr lang="en-US" altLang="zh-CN" sz="2400" dirty="0"/>
              <a:t>2</a:t>
            </a:r>
            <a:r>
              <a:rPr lang="zh-CN" altLang="zh-CN" sz="2400" dirty="0"/>
              <a:t>）实现（</a:t>
            </a:r>
            <a:r>
              <a:rPr lang="en-US" altLang="zh-CN" sz="2400" dirty="0"/>
              <a:t>Realization</a:t>
            </a:r>
            <a:r>
              <a:rPr lang="zh-CN" altLang="zh-CN" sz="2400" dirty="0"/>
              <a:t>）</a:t>
            </a:r>
          </a:p>
          <a:p>
            <a:r>
              <a:rPr lang="zh-CN" altLang="zh-CN" sz="2400" dirty="0"/>
              <a:t>【实现关系】：是一种类与接口的关系，表示类是接口所有特征和行为的实现</a:t>
            </a:r>
            <a:r>
              <a:rPr lang="en-US" altLang="zh-CN" sz="2400" dirty="0"/>
              <a:t>.</a:t>
            </a:r>
            <a:endParaRPr lang="zh-CN" altLang="zh-CN" sz="2400" dirty="0"/>
          </a:p>
          <a:p>
            <a:r>
              <a:rPr lang="zh-CN" altLang="zh-CN" sz="2400" dirty="0"/>
              <a:t>【箭头指向】：带三角箭头的虚线，箭头指向接口</a:t>
            </a:r>
          </a:p>
          <a:p>
            <a:r>
              <a:rPr lang="zh-CN" altLang="zh-CN" sz="2400" dirty="0"/>
              <a:t>接口的</a:t>
            </a:r>
            <a:r>
              <a:rPr lang="en-US" altLang="zh-CN" sz="2400" dirty="0"/>
              <a:t>UML</a:t>
            </a:r>
            <a:r>
              <a:rPr lang="zh-CN" altLang="zh-CN" sz="2400" dirty="0"/>
              <a:t>符号和典型的</a:t>
            </a:r>
            <a:r>
              <a:rPr lang="en-US" altLang="zh-CN" sz="2400" dirty="0"/>
              <a:t>Java</a:t>
            </a:r>
            <a:r>
              <a:rPr lang="zh-CN" altLang="zh-CN" sz="2400" dirty="0"/>
              <a:t>实现如下图。</a:t>
            </a:r>
          </a:p>
          <a:p>
            <a:endParaRPr lang="zh-CN" altLang="en-US" sz="2400" dirty="0"/>
          </a:p>
        </p:txBody>
      </p:sp>
      <p:pic>
        <p:nvPicPr>
          <p:cNvPr id="30722" name="图片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1521" y="1896397"/>
            <a:ext cx="5612323" cy="3560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39386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a:t>
            </a:r>
            <a:r>
              <a:rPr lang="zh-CN" altLang="zh-CN" dirty="0" smtClean="0"/>
              <a:t>方法</a:t>
            </a:r>
            <a:endParaRPr lang="zh-CN" altLang="en-US" dirty="0"/>
          </a:p>
        </p:txBody>
      </p:sp>
      <p:sp>
        <p:nvSpPr>
          <p:cNvPr id="3" name="内容占位符 2"/>
          <p:cNvSpPr>
            <a:spLocks noGrp="1"/>
          </p:cNvSpPr>
          <p:nvPr>
            <p:ph idx="1"/>
          </p:nvPr>
        </p:nvSpPr>
        <p:spPr>
          <a:xfrm>
            <a:off x="439993" y="1353676"/>
            <a:ext cx="5577349" cy="4351338"/>
          </a:xfrm>
        </p:spPr>
        <p:txBody>
          <a:bodyPr>
            <a:normAutofit/>
          </a:bodyPr>
          <a:lstStyle/>
          <a:p>
            <a:r>
              <a:rPr lang="zh-CN" altLang="zh-CN" sz="2400" dirty="0"/>
              <a:t>（</a:t>
            </a:r>
            <a:r>
              <a:rPr lang="en-US" altLang="zh-CN" sz="2400" dirty="0"/>
              <a:t>3</a:t>
            </a:r>
            <a:r>
              <a:rPr lang="zh-CN" altLang="zh-CN" sz="2400" dirty="0"/>
              <a:t>）关联（</a:t>
            </a:r>
            <a:r>
              <a:rPr lang="en-US" altLang="zh-CN" sz="2400" dirty="0"/>
              <a:t>Association</a:t>
            </a:r>
            <a:r>
              <a:rPr lang="zh-CN" altLang="zh-CN" sz="2400" dirty="0"/>
              <a:t>）</a:t>
            </a:r>
          </a:p>
          <a:p>
            <a:r>
              <a:rPr lang="zh-CN" altLang="zh-CN" sz="2400" dirty="0"/>
              <a:t>【关联关系】：是一种拥有的关系，它使一个类知道另一个类的属性和方法；如：老师与学生，丈夫与妻子关联可以是双向的，也可以是单向的。双向的关联可以有两个箭头或者没有箭头，单向的关联有一个箭头。</a:t>
            </a:r>
          </a:p>
          <a:p>
            <a:r>
              <a:rPr lang="zh-CN" altLang="zh-CN" sz="2400" dirty="0"/>
              <a:t>【代码体现】：成员变量</a:t>
            </a:r>
          </a:p>
          <a:p>
            <a:r>
              <a:rPr lang="zh-CN" altLang="zh-CN" sz="2400" dirty="0"/>
              <a:t>【箭头及指向】：带普通箭头的实心线，指向被拥有者</a:t>
            </a:r>
          </a:p>
          <a:p>
            <a:r>
              <a:rPr lang="zh-CN" altLang="zh-CN" sz="2400" dirty="0"/>
              <a:t>关联的</a:t>
            </a:r>
            <a:r>
              <a:rPr lang="en-US" altLang="zh-CN" sz="2400" dirty="0"/>
              <a:t>UML</a:t>
            </a:r>
            <a:r>
              <a:rPr lang="zh-CN" altLang="zh-CN" sz="2400" dirty="0"/>
              <a:t>符号和典型实现如下图。</a:t>
            </a:r>
          </a:p>
          <a:p>
            <a:endParaRPr lang="zh-CN" altLang="en-US" sz="2400" dirty="0"/>
          </a:p>
        </p:txBody>
      </p:sp>
      <p:pic>
        <p:nvPicPr>
          <p:cNvPr id="31746" name="图片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4606" y="1710812"/>
            <a:ext cx="6213785" cy="4489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70039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a:t>
            </a:r>
            <a:r>
              <a:rPr lang="zh-CN" altLang="zh-CN" dirty="0" smtClean="0"/>
              <a:t>方法</a:t>
            </a:r>
            <a:endParaRPr lang="zh-CN" altLang="en-US" dirty="0"/>
          </a:p>
        </p:txBody>
      </p:sp>
      <p:sp>
        <p:nvSpPr>
          <p:cNvPr id="3" name="内容占位符 2"/>
          <p:cNvSpPr>
            <a:spLocks noGrp="1"/>
          </p:cNvSpPr>
          <p:nvPr>
            <p:ph idx="1"/>
          </p:nvPr>
        </p:nvSpPr>
        <p:spPr>
          <a:xfrm>
            <a:off x="838201" y="1825625"/>
            <a:ext cx="5267632" cy="4351338"/>
          </a:xfrm>
        </p:spPr>
        <p:txBody>
          <a:bodyPr>
            <a:normAutofit fontScale="92500"/>
          </a:bodyPr>
          <a:lstStyle/>
          <a:p>
            <a:r>
              <a:rPr lang="zh-CN" altLang="zh-CN" sz="2400" dirty="0"/>
              <a:t>（</a:t>
            </a:r>
            <a:r>
              <a:rPr lang="en-US" altLang="zh-CN" sz="2400" dirty="0"/>
              <a:t>4</a:t>
            </a:r>
            <a:r>
              <a:rPr lang="zh-CN" altLang="zh-CN" sz="2400" dirty="0"/>
              <a:t>）聚合（</a:t>
            </a:r>
            <a:r>
              <a:rPr lang="en-US" altLang="zh-CN" sz="2400" dirty="0"/>
              <a:t>Aggregation</a:t>
            </a:r>
            <a:r>
              <a:rPr lang="zh-CN" altLang="zh-CN" sz="2400" dirty="0"/>
              <a:t>）</a:t>
            </a:r>
          </a:p>
          <a:p>
            <a:r>
              <a:rPr lang="zh-CN" altLang="zh-CN" sz="2400" dirty="0"/>
              <a:t>【聚合关系】：是整体与部分的关系，且部分可以离开整体而单独存在。如车和轮胎是整体和部分的关系，轮胎离开车仍然可以存在。</a:t>
            </a:r>
          </a:p>
          <a:p>
            <a:r>
              <a:rPr lang="zh-CN" altLang="zh-CN" sz="2400" dirty="0"/>
              <a:t>聚合关系是关联关系的一种，是强的关联关系；关联和聚合在语法上无法区分，必须考察具体的逻辑关系。</a:t>
            </a:r>
          </a:p>
          <a:p>
            <a:r>
              <a:rPr lang="zh-CN" altLang="zh-CN" sz="2400" dirty="0"/>
              <a:t>【代码体现】：成员变量</a:t>
            </a:r>
          </a:p>
          <a:p>
            <a:r>
              <a:rPr lang="zh-CN" altLang="zh-CN" sz="2400" dirty="0"/>
              <a:t>【箭头及指向】：带空心菱形的实心线，菱形指向整体</a:t>
            </a:r>
            <a:r>
              <a:rPr lang="en-US" altLang="zh-CN" sz="2400" dirty="0"/>
              <a:t>.</a:t>
            </a:r>
            <a:endParaRPr lang="zh-CN" altLang="zh-CN" sz="2400" dirty="0"/>
          </a:p>
          <a:p>
            <a:r>
              <a:rPr lang="zh-CN" altLang="zh-CN" sz="2400" dirty="0"/>
              <a:t>聚合的</a:t>
            </a:r>
            <a:r>
              <a:rPr lang="en-US" altLang="zh-CN" sz="2400" dirty="0"/>
              <a:t>UML</a:t>
            </a:r>
            <a:r>
              <a:rPr lang="zh-CN" altLang="zh-CN" sz="2400" dirty="0"/>
              <a:t>符号和典型实现如下图。</a:t>
            </a:r>
          </a:p>
          <a:p>
            <a:endParaRPr lang="zh-CN" altLang="en-US" sz="2400" dirty="0"/>
          </a:p>
        </p:txBody>
      </p:sp>
      <p:pic>
        <p:nvPicPr>
          <p:cNvPr id="32770" name="图片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8929" y="2197509"/>
            <a:ext cx="6189624" cy="3111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70039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a:t>
            </a:r>
            <a:r>
              <a:rPr lang="zh-CN" altLang="zh-CN" dirty="0" smtClean="0"/>
              <a:t>方法</a:t>
            </a:r>
            <a:endParaRPr lang="zh-CN" altLang="en-US" dirty="0"/>
          </a:p>
        </p:txBody>
      </p:sp>
      <p:sp>
        <p:nvSpPr>
          <p:cNvPr id="3" name="内容占位符 2"/>
          <p:cNvSpPr>
            <a:spLocks noGrp="1"/>
          </p:cNvSpPr>
          <p:nvPr>
            <p:ph idx="1"/>
          </p:nvPr>
        </p:nvSpPr>
        <p:spPr>
          <a:xfrm>
            <a:off x="838200" y="1825625"/>
            <a:ext cx="6432755" cy="4351338"/>
          </a:xfrm>
        </p:spPr>
        <p:txBody>
          <a:bodyPr>
            <a:normAutofit lnSpcReduction="10000"/>
          </a:bodyPr>
          <a:lstStyle/>
          <a:p>
            <a:r>
              <a:rPr lang="zh-CN" altLang="zh-CN" sz="2400" dirty="0"/>
              <a:t>（</a:t>
            </a:r>
            <a:r>
              <a:rPr lang="en-US" altLang="zh-CN" sz="2400" dirty="0"/>
              <a:t>5</a:t>
            </a:r>
            <a:r>
              <a:rPr lang="zh-CN" altLang="zh-CN" sz="2400" dirty="0"/>
              <a:t>）组合</a:t>
            </a:r>
            <a:r>
              <a:rPr lang="en-US" altLang="zh-CN" sz="2400" dirty="0"/>
              <a:t>(Composition)</a:t>
            </a:r>
            <a:endParaRPr lang="zh-CN" altLang="zh-CN" sz="2400" dirty="0"/>
          </a:p>
          <a:p>
            <a:r>
              <a:rPr lang="zh-CN" altLang="zh-CN" sz="2400" dirty="0"/>
              <a:t>【组合关系】：是整体与部分的关系，但部分不能离开整体而单独存在。如公司和部门是整体和部分的关系，没有公司就不存在部门。</a:t>
            </a:r>
          </a:p>
          <a:p>
            <a:r>
              <a:rPr lang="zh-CN" altLang="zh-CN" sz="2400" dirty="0"/>
              <a:t>组合关系是关联关系的一种，是比聚合关系还要强的关系，它要求普通的聚合关系中代表整体的对象负责代表部分的对象的生命周期。</a:t>
            </a:r>
          </a:p>
          <a:p>
            <a:r>
              <a:rPr lang="zh-CN" altLang="zh-CN" sz="2400" dirty="0"/>
              <a:t>【代码体现】：成员变量</a:t>
            </a:r>
          </a:p>
          <a:p>
            <a:r>
              <a:rPr lang="zh-CN" altLang="zh-CN" sz="2400" dirty="0"/>
              <a:t>【箭头及指向】：带实心菱形的实线，菱形指向整体</a:t>
            </a:r>
          </a:p>
          <a:p>
            <a:endParaRPr lang="zh-CN" altLang="en-US" sz="2400" dirty="0"/>
          </a:p>
        </p:txBody>
      </p:sp>
      <p:pic>
        <p:nvPicPr>
          <p:cNvPr id="33794" name="图片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8267" y="2951213"/>
            <a:ext cx="314325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5" name="图片 6" descr="说明: UML类图几种关系的总结"/>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6865" y="3642852"/>
            <a:ext cx="2352982" cy="3212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70039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a:t>
            </a:r>
            <a:r>
              <a:rPr lang="zh-CN" altLang="zh-CN" dirty="0" smtClean="0"/>
              <a:t>方法</a:t>
            </a:r>
            <a:endParaRPr lang="zh-CN" altLang="en-US" dirty="0"/>
          </a:p>
        </p:txBody>
      </p:sp>
      <p:sp>
        <p:nvSpPr>
          <p:cNvPr id="3" name="内容占位符 2"/>
          <p:cNvSpPr>
            <a:spLocks noGrp="1"/>
          </p:cNvSpPr>
          <p:nvPr>
            <p:ph idx="1"/>
          </p:nvPr>
        </p:nvSpPr>
        <p:spPr>
          <a:xfrm>
            <a:off x="838200" y="1825625"/>
            <a:ext cx="5370871" cy="4351338"/>
          </a:xfrm>
        </p:spPr>
        <p:txBody>
          <a:bodyPr>
            <a:normAutofit/>
          </a:bodyPr>
          <a:lstStyle/>
          <a:p>
            <a:r>
              <a:rPr lang="zh-CN" altLang="zh-CN" sz="2400" dirty="0"/>
              <a:t>（</a:t>
            </a:r>
            <a:r>
              <a:rPr lang="en-US" altLang="zh-CN" sz="2400" dirty="0"/>
              <a:t>6</a:t>
            </a:r>
            <a:r>
              <a:rPr lang="zh-CN" altLang="zh-CN" sz="2400" dirty="0"/>
              <a:t>）依赖</a:t>
            </a:r>
            <a:r>
              <a:rPr lang="en-US" altLang="zh-CN" sz="2400" dirty="0"/>
              <a:t>(Dependency)</a:t>
            </a:r>
            <a:endParaRPr lang="zh-CN" altLang="zh-CN" sz="2400" dirty="0"/>
          </a:p>
          <a:p>
            <a:r>
              <a:rPr lang="zh-CN" altLang="zh-CN" sz="2400" dirty="0"/>
              <a:t>【依赖关系】：是一种使用的关系，即一个类的实现需要另一个类的协助，所以要尽量不使用双向的互相依赖</a:t>
            </a:r>
            <a:r>
              <a:rPr lang="en-US" altLang="zh-CN" sz="2400" dirty="0"/>
              <a:t>.</a:t>
            </a:r>
            <a:endParaRPr lang="zh-CN" altLang="zh-CN" sz="2400" dirty="0"/>
          </a:p>
          <a:p>
            <a:r>
              <a:rPr lang="zh-CN" altLang="zh-CN" sz="2400" dirty="0"/>
              <a:t>【代码表现】：局部变量、方法的参数或者对静态方法的调用</a:t>
            </a:r>
          </a:p>
          <a:p>
            <a:r>
              <a:rPr lang="zh-CN" altLang="zh-CN" sz="2400" dirty="0"/>
              <a:t>【箭头及指向】：带箭头的虚线，指向被使用者</a:t>
            </a:r>
          </a:p>
          <a:p>
            <a:r>
              <a:rPr lang="zh-CN" altLang="zh-CN" sz="2400" dirty="0"/>
              <a:t>依赖性的</a:t>
            </a:r>
            <a:r>
              <a:rPr lang="en-US" altLang="zh-CN" sz="2400" dirty="0"/>
              <a:t>UML</a:t>
            </a:r>
            <a:r>
              <a:rPr lang="zh-CN" altLang="zh-CN" sz="2400" dirty="0"/>
              <a:t>符号和典型实现如下图。</a:t>
            </a:r>
          </a:p>
          <a:p>
            <a:endParaRPr lang="zh-CN" altLang="en-US" sz="2400" dirty="0"/>
          </a:p>
        </p:txBody>
      </p:sp>
      <p:pic>
        <p:nvPicPr>
          <p:cNvPr id="34818" name="图片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2813" y="1740309"/>
            <a:ext cx="5896394" cy="4055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70039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a:t>
            </a:r>
            <a:r>
              <a:rPr lang="zh-CN" altLang="zh-CN" dirty="0" smtClean="0"/>
              <a:t>方法</a:t>
            </a:r>
            <a:endParaRPr lang="zh-CN" altLang="en-US" dirty="0"/>
          </a:p>
        </p:txBody>
      </p:sp>
      <p:sp>
        <p:nvSpPr>
          <p:cNvPr id="3" name="内容占位符 2"/>
          <p:cNvSpPr>
            <a:spLocks noGrp="1"/>
          </p:cNvSpPr>
          <p:nvPr>
            <p:ph idx="1"/>
          </p:nvPr>
        </p:nvSpPr>
        <p:spPr>
          <a:xfrm>
            <a:off x="838200" y="1825625"/>
            <a:ext cx="3748548" cy="4351338"/>
          </a:xfrm>
        </p:spPr>
        <p:txBody>
          <a:bodyPr>
            <a:normAutofit/>
          </a:bodyPr>
          <a:lstStyle/>
          <a:p>
            <a:r>
              <a:rPr lang="zh-CN" altLang="zh-CN" sz="2400" dirty="0"/>
              <a:t>（</a:t>
            </a:r>
            <a:r>
              <a:rPr lang="en-US" altLang="zh-CN" sz="2400" dirty="0"/>
              <a:t>7</a:t>
            </a:r>
            <a:r>
              <a:rPr lang="zh-CN" altLang="zh-CN" sz="2400" dirty="0"/>
              <a:t>）关联类</a:t>
            </a:r>
          </a:p>
          <a:p>
            <a:r>
              <a:rPr lang="zh-CN" altLang="zh-CN" sz="2400" dirty="0"/>
              <a:t>在关联建模中，存在一些情况下，你需要包括其它类，因为它包含了关于关联的有价值的信息。对于这种情况，你会使用关联类来绑定你的基本关联。关联类和一般类一样表示。不同的是，主类和关联类之间用一条相交的点线连接。</a:t>
            </a:r>
          </a:p>
          <a:p>
            <a:endParaRPr lang="zh-CN" altLang="en-US" sz="2400" dirty="0"/>
          </a:p>
        </p:txBody>
      </p:sp>
      <p:pic>
        <p:nvPicPr>
          <p:cNvPr id="35842" name="Picture 6" descr="说明: 图 11：增加关联类 MileageCredi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1213" y="2256504"/>
            <a:ext cx="7162995" cy="2300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70039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a:t>
            </a:r>
            <a:r>
              <a:rPr lang="zh-CN" altLang="zh-CN" dirty="0" smtClean="0"/>
              <a:t>方法</a:t>
            </a:r>
            <a:endParaRPr lang="zh-CN" altLang="en-US" dirty="0"/>
          </a:p>
        </p:txBody>
      </p:sp>
      <p:sp>
        <p:nvSpPr>
          <p:cNvPr id="3" name="内容占位符 2"/>
          <p:cNvSpPr>
            <a:spLocks noGrp="1"/>
          </p:cNvSpPr>
          <p:nvPr>
            <p:ph idx="1"/>
          </p:nvPr>
        </p:nvSpPr>
        <p:spPr>
          <a:xfrm>
            <a:off x="838200" y="1825625"/>
            <a:ext cx="2303206" cy="4351338"/>
          </a:xfrm>
        </p:spPr>
        <p:txBody>
          <a:bodyPr>
            <a:normAutofit/>
          </a:bodyPr>
          <a:lstStyle/>
          <a:p>
            <a:r>
              <a:rPr lang="zh-CN" altLang="zh-CN" sz="2400" dirty="0"/>
              <a:t>下面这张</a:t>
            </a:r>
            <a:r>
              <a:rPr lang="en-US" altLang="zh-CN" sz="2400" dirty="0"/>
              <a:t>UML</a:t>
            </a:r>
            <a:r>
              <a:rPr lang="zh-CN" altLang="zh-CN" sz="2400" dirty="0"/>
              <a:t>图，比较形象地展示了各种类图关系：</a:t>
            </a:r>
            <a:endParaRPr lang="zh-CN" altLang="en-US" sz="2400" dirty="0"/>
          </a:p>
        </p:txBody>
      </p:sp>
      <p:pic>
        <p:nvPicPr>
          <p:cNvPr id="36866" name="图片 4" descr="说明: UML类图几种关系的总结"/>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3354" y="1120877"/>
            <a:ext cx="7223637" cy="585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70039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a:t>
            </a:r>
            <a:r>
              <a:rPr lang="zh-CN" altLang="zh-CN" dirty="0" smtClean="0"/>
              <a:t>方法</a:t>
            </a:r>
            <a:endParaRPr lang="zh-CN" altLang="en-US" dirty="0"/>
          </a:p>
        </p:txBody>
      </p:sp>
      <p:sp>
        <p:nvSpPr>
          <p:cNvPr id="3" name="内容占位符 2"/>
          <p:cNvSpPr>
            <a:spLocks noGrp="1"/>
          </p:cNvSpPr>
          <p:nvPr>
            <p:ph idx="1"/>
          </p:nvPr>
        </p:nvSpPr>
        <p:spPr>
          <a:xfrm>
            <a:off x="838200" y="1825625"/>
            <a:ext cx="2966884" cy="4351338"/>
          </a:xfrm>
        </p:spPr>
        <p:txBody>
          <a:bodyPr>
            <a:normAutofit/>
          </a:bodyPr>
          <a:lstStyle/>
          <a:p>
            <a:r>
              <a:rPr lang="en-US" altLang="zh-CN" sz="2400" b="1" dirty="0"/>
              <a:t>3</a:t>
            </a:r>
            <a:r>
              <a:rPr lang="zh-CN" altLang="zh-CN" sz="2400" b="1" dirty="0"/>
              <a:t>）用例图</a:t>
            </a:r>
          </a:p>
          <a:p>
            <a:r>
              <a:rPr lang="zh-CN" altLang="zh-CN" sz="2400" dirty="0"/>
              <a:t>用例图描述了从外部来看系统在做什么，强调的是系统在做什么而不是怎么做。</a:t>
            </a:r>
          </a:p>
          <a:p>
            <a:endParaRPr lang="zh-CN" altLang="en-US" sz="2400" dirty="0"/>
          </a:p>
        </p:txBody>
      </p:sp>
      <p:pic>
        <p:nvPicPr>
          <p:cNvPr id="37890" name="图片 35"/>
          <p:cNvPicPr>
            <a:picLocks noChangeAspect="1" noChangeArrowheads="1"/>
          </p:cNvPicPr>
          <p:nvPr/>
        </p:nvPicPr>
        <p:blipFill>
          <a:blip r:embed="rId2">
            <a:extLst>
              <a:ext uri="{28A0092B-C50C-407E-A947-70E740481C1C}">
                <a14:useLocalDpi xmlns:a14="http://schemas.microsoft.com/office/drawing/2010/main" val="0"/>
              </a:ext>
            </a:extLst>
          </a:blip>
          <a:srcRect l="60828" t="54819" r="8920" b="16898"/>
          <a:stretch>
            <a:fillRect/>
          </a:stretch>
        </p:blipFill>
        <p:spPr bwMode="auto">
          <a:xfrm>
            <a:off x="3886200" y="1783326"/>
            <a:ext cx="6152064" cy="3245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70039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面向对象需求分析方法</a:t>
            </a:r>
            <a:endParaRPr lang="zh-CN" altLang="en-US" dirty="0"/>
          </a:p>
        </p:txBody>
      </p:sp>
      <p:sp>
        <p:nvSpPr>
          <p:cNvPr id="3" name="内容占位符 2"/>
          <p:cNvSpPr>
            <a:spLocks noGrp="1"/>
          </p:cNvSpPr>
          <p:nvPr>
            <p:ph idx="1"/>
          </p:nvPr>
        </p:nvSpPr>
        <p:spPr/>
        <p:txBody>
          <a:bodyPr/>
          <a:lstStyle/>
          <a:p>
            <a:r>
              <a:rPr lang="zh-CN" altLang="zh-CN" dirty="0"/>
              <a:t>用例图包括四个内容：活动者、系统、用例、通信。</a:t>
            </a:r>
            <a:endParaRPr lang="zh-CN" altLang="en-US" dirty="0"/>
          </a:p>
        </p:txBody>
      </p:sp>
      <p:pic>
        <p:nvPicPr>
          <p:cNvPr id="38914" name="图片 42"/>
          <p:cNvPicPr>
            <a:picLocks noChangeAspect="1" noChangeArrowheads="1"/>
          </p:cNvPicPr>
          <p:nvPr/>
        </p:nvPicPr>
        <p:blipFill>
          <a:blip r:embed="rId2">
            <a:extLst>
              <a:ext uri="{28A0092B-C50C-407E-A947-70E740481C1C}">
                <a14:useLocalDpi xmlns:a14="http://schemas.microsoft.com/office/drawing/2010/main" val="0"/>
              </a:ext>
            </a:extLst>
          </a:blip>
          <a:srcRect l="63718" t="57173" r="16151" b="23540"/>
          <a:stretch>
            <a:fillRect/>
          </a:stretch>
        </p:blipFill>
        <p:spPr bwMode="auto">
          <a:xfrm>
            <a:off x="2276474" y="2592951"/>
            <a:ext cx="5147829" cy="2790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8504564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面向对象需求分析方法</a:t>
            </a:r>
            <a:endParaRPr lang="zh-CN" altLang="en-US" dirty="0"/>
          </a:p>
        </p:txBody>
      </p:sp>
      <p:sp>
        <p:nvSpPr>
          <p:cNvPr id="3" name="内容占位符 2"/>
          <p:cNvSpPr>
            <a:spLocks noGrp="1"/>
          </p:cNvSpPr>
          <p:nvPr>
            <p:ph idx="1"/>
          </p:nvPr>
        </p:nvSpPr>
        <p:spPr/>
        <p:txBody>
          <a:bodyPr>
            <a:normAutofit/>
          </a:bodyPr>
          <a:lstStyle/>
          <a:p>
            <a:r>
              <a:rPr lang="zh-CN" altLang="zh-CN" sz="2400" dirty="0"/>
              <a:t>例如：主要包括如下功能：管理员通过系统管理界面进入，建立本学期要开的各种课程，将课程信息保存在数据库中并可以对课程进行改动和删除。学生通过客户机浏览器根据学号和密码进入选课界面，在这里学生可以进行三种操作：查询已选课程、选课以及付费。同样，通过业务层，这些操作结果存入数据库中。</a:t>
            </a:r>
            <a:endParaRPr lang="zh-CN" altLang="en-US" sz="2400" dirty="0"/>
          </a:p>
        </p:txBody>
      </p:sp>
    </p:spTree>
    <p:extLst>
      <p:ext uri="{BB962C8B-B14F-4D97-AF65-F5344CB8AC3E}">
        <p14:creationId xmlns:p14="http://schemas.microsoft.com/office/powerpoint/2010/main" val="13726256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面向对象需求分析方法</a:t>
            </a:r>
            <a:endParaRPr lang="zh-CN" altLang="en-US" dirty="0"/>
          </a:p>
        </p:txBody>
      </p:sp>
      <p:sp>
        <p:nvSpPr>
          <p:cNvPr id="3" name="内容占位符 2"/>
          <p:cNvSpPr>
            <a:spLocks noGrp="1"/>
          </p:cNvSpPr>
          <p:nvPr>
            <p:ph idx="1"/>
          </p:nvPr>
        </p:nvSpPr>
        <p:spPr/>
        <p:txBody>
          <a:bodyPr>
            <a:noAutofit/>
          </a:bodyPr>
          <a:lstStyle/>
          <a:p>
            <a:r>
              <a:rPr lang="zh-CN" altLang="zh-CN" sz="2000" dirty="0"/>
              <a:t>（</a:t>
            </a:r>
            <a:r>
              <a:rPr lang="en-US" altLang="zh-CN" sz="2000" dirty="0"/>
              <a:t>1</a:t>
            </a:r>
            <a:r>
              <a:rPr lang="zh-CN" altLang="zh-CN" sz="2000" dirty="0"/>
              <a:t>）活动者</a:t>
            </a:r>
          </a:p>
          <a:p>
            <a:r>
              <a:rPr lang="zh-CN" altLang="zh-CN" sz="2000" dirty="0"/>
              <a:t>活动者是人或与系统交互的外部系统，如何判断活动者？</a:t>
            </a:r>
          </a:p>
          <a:p>
            <a:r>
              <a:rPr lang="zh-CN" altLang="zh-CN" sz="2000" dirty="0"/>
              <a:t>（</a:t>
            </a:r>
            <a:r>
              <a:rPr lang="en-US" altLang="zh-CN" sz="2000" dirty="0"/>
              <a:t>1</a:t>
            </a:r>
            <a:r>
              <a:rPr lang="zh-CN" altLang="zh-CN" sz="2000" dirty="0"/>
              <a:t>）谁对系统的某一功能感兴趣？</a:t>
            </a:r>
          </a:p>
          <a:p>
            <a:r>
              <a:rPr lang="zh-CN" altLang="zh-CN" sz="2000" dirty="0"/>
              <a:t>（</a:t>
            </a:r>
            <a:r>
              <a:rPr lang="en-US" altLang="zh-CN" sz="2000" dirty="0"/>
              <a:t>2</a:t>
            </a:r>
            <a:r>
              <a:rPr lang="zh-CN" altLang="zh-CN" sz="2000" dirty="0"/>
              <a:t>）组织中那一部分使用系统？</a:t>
            </a:r>
          </a:p>
          <a:p>
            <a:r>
              <a:rPr lang="zh-CN" altLang="zh-CN" sz="2000" dirty="0"/>
              <a:t>（</a:t>
            </a:r>
            <a:r>
              <a:rPr lang="en-US" altLang="zh-CN" sz="2000" dirty="0"/>
              <a:t>3</a:t>
            </a:r>
            <a:r>
              <a:rPr lang="zh-CN" altLang="zh-CN" sz="2000" dirty="0"/>
              <a:t>）谁从系统中受益？</a:t>
            </a:r>
          </a:p>
          <a:p>
            <a:r>
              <a:rPr lang="zh-CN" altLang="zh-CN" sz="2000" dirty="0"/>
              <a:t>（</a:t>
            </a:r>
            <a:r>
              <a:rPr lang="en-US" altLang="zh-CN" sz="2000" dirty="0"/>
              <a:t>4</a:t>
            </a:r>
            <a:r>
              <a:rPr lang="zh-CN" altLang="zh-CN" sz="2000" dirty="0"/>
              <a:t>）谁向系统提供信息？</a:t>
            </a:r>
          </a:p>
          <a:p>
            <a:r>
              <a:rPr lang="zh-CN" altLang="zh-CN" sz="2000" dirty="0"/>
              <a:t>（</a:t>
            </a:r>
            <a:r>
              <a:rPr lang="en-US" altLang="zh-CN" sz="2000" dirty="0"/>
              <a:t>5</a:t>
            </a:r>
            <a:r>
              <a:rPr lang="zh-CN" altLang="zh-CN" sz="2000" dirty="0"/>
              <a:t>）系统使用外部资源？</a:t>
            </a:r>
          </a:p>
          <a:p>
            <a:r>
              <a:rPr lang="zh-CN" altLang="zh-CN" sz="2000" dirty="0"/>
              <a:t>（</a:t>
            </a:r>
            <a:r>
              <a:rPr lang="en-US" altLang="zh-CN" sz="2000" dirty="0"/>
              <a:t>6</a:t>
            </a:r>
            <a:r>
              <a:rPr lang="zh-CN" altLang="zh-CN" sz="2000" dirty="0"/>
              <a:t>）谁将维护系统？</a:t>
            </a:r>
          </a:p>
          <a:p>
            <a:r>
              <a:rPr lang="zh-CN" altLang="zh-CN" sz="2000" dirty="0"/>
              <a:t>（</a:t>
            </a:r>
            <a:r>
              <a:rPr lang="en-US" altLang="zh-CN" sz="2000" dirty="0"/>
              <a:t>7</a:t>
            </a:r>
            <a:r>
              <a:rPr lang="zh-CN" altLang="zh-CN" sz="2000" dirty="0"/>
              <a:t>）系统和已存在的系统交互么？</a:t>
            </a:r>
          </a:p>
          <a:p>
            <a:r>
              <a:rPr lang="en-US" altLang="zh-CN" sz="2000" dirty="0"/>
              <a:t> </a:t>
            </a:r>
            <a:endParaRPr lang="zh-CN" altLang="zh-CN" sz="2000" dirty="0"/>
          </a:p>
          <a:p>
            <a:r>
              <a:rPr lang="zh-CN" altLang="zh-CN" sz="2000" dirty="0"/>
              <a:t>答案：管理员、学生、数据库。</a:t>
            </a:r>
          </a:p>
          <a:p>
            <a:endParaRPr lang="zh-CN" altLang="en-US" sz="2000" dirty="0"/>
          </a:p>
        </p:txBody>
      </p:sp>
    </p:spTree>
    <p:extLst>
      <p:ext uri="{BB962C8B-B14F-4D97-AF65-F5344CB8AC3E}">
        <p14:creationId xmlns:p14="http://schemas.microsoft.com/office/powerpoint/2010/main" val="35309337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面向对象需求分析方法</a:t>
            </a:r>
            <a:endParaRPr lang="zh-CN" altLang="en-US" dirty="0"/>
          </a:p>
        </p:txBody>
      </p:sp>
      <p:sp>
        <p:nvSpPr>
          <p:cNvPr id="3" name="内容占位符 2"/>
          <p:cNvSpPr>
            <a:spLocks noGrp="1"/>
          </p:cNvSpPr>
          <p:nvPr>
            <p:ph idx="1"/>
          </p:nvPr>
        </p:nvSpPr>
        <p:spPr/>
        <p:txBody>
          <a:bodyPr>
            <a:normAutofit/>
          </a:bodyPr>
          <a:lstStyle/>
          <a:p>
            <a:r>
              <a:rPr lang="zh-CN" altLang="zh-CN" sz="2400" dirty="0"/>
              <a:t>（</a:t>
            </a:r>
            <a:r>
              <a:rPr lang="en-US" altLang="zh-CN" sz="2400" dirty="0"/>
              <a:t>2</a:t>
            </a:r>
            <a:r>
              <a:rPr lang="zh-CN" altLang="zh-CN" sz="2400" dirty="0"/>
              <a:t>）用例</a:t>
            </a:r>
          </a:p>
          <a:p>
            <a:r>
              <a:rPr lang="zh-CN" altLang="zh-CN" sz="2400" dirty="0"/>
              <a:t>用例描述了功能的需求，如何标记一个用例？</a:t>
            </a:r>
          </a:p>
          <a:p>
            <a:r>
              <a:rPr lang="zh-CN" altLang="zh-CN" sz="2400" dirty="0"/>
              <a:t>（</a:t>
            </a:r>
            <a:r>
              <a:rPr lang="en-US" altLang="zh-CN" sz="2400" dirty="0"/>
              <a:t>1</a:t>
            </a:r>
            <a:r>
              <a:rPr lang="zh-CN" altLang="zh-CN" sz="2400" dirty="0"/>
              <a:t>）活动者希望系统执行什么任务？</a:t>
            </a:r>
          </a:p>
          <a:p>
            <a:r>
              <a:rPr lang="zh-CN" altLang="zh-CN" sz="2400" dirty="0"/>
              <a:t>（</a:t>
            </a:r>
            <a:r>
              <a:rPr lang="en-US" altLang="zh-CN" sz="2400" dirty="0"/>
              <a:t>2</a:t>
            </a:r>
            <a:r>
              <a:rPr lang="zh-CN" altLang="zh-CN" sz="2400" dirty="0"/>
              <a:t>）活动者在系统中会如何访问信息（创建、存储、修改、删除等）？</a:t>
            </a:r>
          </a:p>
          <a:p>
            <a:r>
              <a:rPr lang="zh-CN" altLang="zh-CN" sz="2400" dirty="0"/>
              <a:t>（</a:t>
            </a:r>
            <a:r>
              <a:rPr lang="en-US" altLang="zh-CN" sz="2400" dirty="0"/>
              <a:t>3</a:t>
            </a:r>
            <a:r>
              <a:rPr lang="zh-CN" altLang="zh-CN" sz="2400" dirty="0"/>
              <a:t>）需要将外部的那个变化告知系统？</a:t>
            </a:r>
          </a:p>
          <a:p>
            <a:r>
              <a:rPr lang="zh-CN" altLang="zh-CN" sz="2400" dirty="0"/>
              <a:t>（</a:t>
            </a:r>
            <a:r>
              <a:rPr lang="en-US" altLang="zh-CN" sz="2400" dirty="0"/>
              <a:t>4</a:t>
            </a:r>
            <a:r>
              <a:rPr lang="zh-CN" altLang="zh-CN" sz="2400" dirty="0"/>
              <a:t>）需要将系统的那个事件告知活动者？</a:t>
            </a:r>
          </a:p>
          <a:p>
            <a:r>
              <a:rPr lang="zh-CN" altLang="zh-CN" sz="2400" dirty="0"/>
              <a:t>（</a:t>
            </a:r>
            <a:r>
              <a:rPr lang="en-US" altLang="zh-CN" sz="2400" dirty="0"/>
              <a:t>5</a:t>
            </a:r>
            <a:r>
              <a:rPr lang="zh-CN" altLang="zh-CN" sz="2400" dirty="0"/>
              <a:t>）如何维护系统？</a:t>
            </a:r>
          </a:p>
          <a:p>
            <a:r>
              <a:rPr lang="zh-CN" altLang="zh-CN" sz="2400" dirty="0"/>
              <a:t>答案：建立、改动、删除；查询、选课、付费。</a:t>
            </a:r>
          </a:p>
          <a:p>
            <a:endParaRPr lang="zh-CN" altLang="en-US" sz="2400" dirty="0"/>
          </a:p>
        </p:txBody>
      </p:sp>
    </p:spTree>
    <p:extLst>
      <p:ext uri="{BB962C8B-B14F-4D97-AF65-F5344CB8AC3E}">
        <p14:creationId xmlns:p14="http://schemas.microsoft.com/office/powerpoint/2010/main" val="35309337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面向对象需求分析方法</a:t>
            </a:r>
            <a:endParaRPr lang="zh-CN" altLang="en-US" dirty="0"/>
          </a:p>
        </p:txBody>
      </p:sp>
      <p:sp>
        <p:nvSpPr>
          <p:cNvPr id="3" name="内容占位符 2"/>
          <p:cNvSpPr>
            <a:spLocks noGrp="1"/>
          </p:cNvSpPr>
          <p:nvPr>
            <p:ph idx="1"/>
          </p:nvPr>
        </p:nvSpPr>
        <p:spPr/>
        <p:txBody>
          <a:bodyPr/>
          <a:lstStyle/>
          <a:p>
            <a:r>
              <a:rPr lang="zh-CN" altLang="zh-CN" dirty="0"/>
              <a:t>用例图如下：</a:t>
            </a:r>
          </a:p>
          <a:p>
            <a:endParaRPr lang="zh-CN" altLang="en-US" dirty="0"/>
          </a:p>
        </p:txBody>
      </p:sp>
      <p:pic>
        <p:nvPicPr>
          <p:cNvPr id="39938" name="图片 43"/>
          <p:cNvPicPr>
            <a:picLocks noChangeAspect="1" noChangeArrowheads="1"/>
          </p:cNvPicPr>
          <p:nvPr/>
        </p:nvPicPr>
        <p:blipFill>
          <a:blip r:embed="rId2">
            <a:extLst>
              <a:ext uri="{28A0092B-C50C-407E-A947-70E740481C1C}">
                <a14:useLocalDpi xmlns:a14="http://schemas.microsoft.com/office/drawing/2010/main" val="0"/>
              </a:ext>
            </a:extLst>
          </a:blip>
          <a:srcRect l="70630" t="45265" r="7355" b="17311"/>
          <a:stretch>
            <a:fillRect/>
          </a:stretch>
        </p:blipFill>
        <p:spPr bwMode="auto">
          <a:xfrm>
            <a:off x="4048431" y="1610954"/>
            <a:ext cx="4903839" cy="4689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093371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面向对象需求分析方法</a:t>
            </a:r>
            <a:endParaRPr lang="zh-CN" altLang="en-US" dirty="0"/>
          </a:p>
        </p:txBody>
      </p:sp>
      <p:sp>
        <p:nvSpPr>
          <p:cNvPr id="3" name="内容占位符 2"/>
          <p:cNvSpPr>
            <a:spLocks noGrp="1"/>
          </p:cNvSpPr>
          <p:nvPr>
            <p:ph idx="1"/>
          </p:nvPr>
        </p:nvSpPr>
        <p:spPr/>
        <p:txBody>
          <a:bodyPr>
            <a:noAutofit/>
          </a:bodyPr>
          <a:lstStyle/>
          <a:p>
            <a:r>
              <a:rPr lang="zh-CN" altLang="zh-CN" sz="2400" dirty="0"/>
              <a:t>（</a:t>
            </a:r>
            <a:r>
              <a:rPr lang="en-US" altLang="zh-CN" sz="2400" dirty="0"/>
              <a:t>3</a:t>
            </a:r>
            <a:r>
              <a:rPr lang="zh-CN" altLang="zh-CN" sz="2400" dirty="0"/>
              <a:t>）事件流</a:t>
            </a:r>
          </a:p>
          <a:p>
            <a:r>
              <a:rPr lang="zh-CN" altLang="zh-CN" sz="2400" dirty="0"/>
              <a:t>事件流的目的是在建档时，说明用例的逻辑流成。包括：</a:t>
            </a:r>
          </a:p>
          <a:p>
            <a:r>
              <a:rPr lang="zh-CN" altLang="zh-CN" sz="2400" dirty="0"/>
              <a:t>（</a:t>
            </a:r>
            <a:r>
              <a:rPr lang="en-US" altLang="zh-CN" sz="2400" dirty="0"/>
              <a:t>1</a:t>
            </a:r>
            <a:r>
              <a:rPr lang="zh-CN" altLang="zh-CN" sz="2400" dirty="0"/>
              <a:t>）简要说明：每个用例有一个相关说明，描述该用例的作用。</a:t>
            </a:r>
          </a:p>
          <a:p>
            <a:r>
              <a:rPr lang="zh-CN" altLang="zh-CN" sz="2400" dirty="0"/>
              <a:t>（</a:t>
            </a:r>
            <a:r>
              <a:rPr lang="en-US" altLang="zh-CN" sz="2400" dirty="0"/>
              <a:t>2</a:t>
            </a:r>
            <a:r>
              <a:rPr lang="zh-CN" altLang="zh-CN" sz="2400" dirty="0"/>
              <a:t>）前提条件：列出开始用例之前必须满足的条件。</a:t>
            </a:r>
          </a:p>
          <a:p>
            <a:r>
              <a:rPr lang="zh-CN" altLang="zh-CN" sz="2400" dirty="0"/>
              <a:t>（</a:t>
            </a:r>
            <a:r>
              <a:rPr lang="en-US" altLang="zh-CN" sz="2400" dirty="0"/>
              <a:t>3</a:t>
            </a:r>
            <a:r>
              <a:rPr lang="zh-CN" altLang="zh-CN" sz="2400" dirty="0"/>
              <a:t>）主事件流和其他事件流：描述用例的具体细节，包括：</a:t>
            </a:r>
          </a:p>
          <a:p>
            <a:r>
              <a:rPr lang="zh-CN" altLang="zh-CN" sz="2400" dirty="0"/>
              <a:t>用例如何开始；</a:t>
            </a:r>
          </a:p>
          <a:p>
            <a:r>
              <a:rPr lang="zh-CN" altLang="zh-CN" sz="2400" dirty="0"/>
              <a:t>用例的各种路径；</a:t>
            </a:r>
          </a:p>
          <a:p>
            <a:r>
              <a:rPr lang="zh-CN" altLang="zh-CN" sz="2400" dirty="0"/>
              <a:t>用例的正常流程；</a:t>
            </a:r>
          </a:p>
          <a:p>
            <a:r>
              <a:rPr lang="zh-CN" altLang="zh-CN" sz="2400" dirty="0"/>
              <a:t>用例主事件流</a:t>
            </a:r>
            <a:r>
              <a:rPr lang="en-US" altLang="zh-CN" sz="2400" dirty="0"/>
              <a:t>(</a:t>
            </a:r>
            <a:r>
              <a:rPr lang="zh-CN" altLang="zh-CN" sz="2400" dirty="0"/>
              <a:t>其它事件流</a:t>
            </a:r>
            <a:r>
              <a:rPr lang="en-US" altLang="zh-CN" sz="2400" dirty="0"/>
              <a:t>)</a:t>
            </a:r>
            <a:r>
              <a:rPr lang="zh-CN" altLang="zh-CN" sz="2400" dirty="0"/>
              <a:t>的变形；</a:t>
            </a:r>
          </a:p>
          <a:p>
            <a:r>
              <a:rPr lang="zh-CN" altLang="zh-CN" sz="2400" dirty="0"/>
              <a:t>错误流。</a:t>
            </a:r>
          </a:p>
          <a:p>
            <a:r>
              <a:rPr lang="zh-CN" altLang="zh-CN" sz="2400" dirty="0"/>
              <a:t>（</a:t>
            </a:r>
            <a:r>
              <a:rPr lang="en-US" altLang="zh-CN" sz="2400" dirty="0"/>
              <a:t>4</a:t>
            </a:r>
            <a:r>
              <a:rPr lang="zh-CN" altLang="zh-CN" sz="2400" dirty="0"/>
              <a:t>）事后条件：用例结束后必须执行的动作。</a:t>
            </a:r>
          </a:p>
          <a:p>
            <a:endParaRPr lang="zh-CN" altLang="en-US" sz="2400" dirty="0"/>
          </a:p>
        </p:txBody>
      </p:sp>
    </p:spTree>
    <p:extLst>
      <p:ext uri="{BB962C8B-B14F-4D97-AF65-F5344CB8AC3E}">
        <p14:creationId xmlns:p14="http://schemas.microsoft.com/office/powerpoint/2010/main" val="35309337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面向对象需求分析方法</a:t>
            </a:r>
            <a:endParaRPr lang="zh-CN" altLang="en-US" dirty="0"/>
          </a:p>
        </p:txBody>
      </p:sp>
      <p:sp>
        <p:nvSpPr>
          <p:cNvPr id="3" name="内容占位符 2"/>
          <p:cNvSpPr>
            <a:spLocks noGrp="1"/>
          </p:cNvSpPr>
          <p:nvPr>
            <p:ph idx="1"/>
          </p:nvPr>
        </p:nvSpPr>
        <p:spPr>
          <a:xfrm>
            <a:off x="218768" y="1722386"/>
            <a:ext cx="10515600" cy="4351338"/>
          </a:xfrm>
        </p:spPr>
        <p:txBody>
          <a:bodyPr/>
          <a:lstStyle/>
          <a:p>
            <a:r>
              <a:rPr lang="zh-CN" altLang="zh-CN" dirty="0"/>
              <a:t>例如：</a:t>
            </a:r>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4196350072"/>
              </p:ext>
            </p:extLst>
          </p:nvPr>
        </p:nvGraphicFramePr>
        <p:xfrm>
          <a:off x="1710812" y="1534995"/>
          <a:ext cx="10161640" cy="5181600"/>
        </p:xfrm>
        <a:graphic>
          <a:graphicData uri="http://schemas.openxmlformats.org/drawingml/2006/table">
            <a:tbl>
              <a:tblPr firstRow="1" firstCol="1" bandRow="1">
                <a:tableStyleId>{5C22544A-7EE6-4342-B048-85BDC9FD1C3A}</a:tableStyleId>
              </a:tblPr>
              <a:tblGrid>
                <a:gridCol w="5080820"/>
                <a:gridCol w="5080820"/>
              </a:tblGrid>
              <a:tr h="0">
                <a:tc>
                  <a:txBody>
                    <a:bodyPr/>
                    <a:lstStyle/>
                    <a:p>
                      <a:pPr algn="just">
                        <a:spcAft>
                          <a:spcPts val="0"/>
                        </a:spcAft>
                      </a:pPr>
                      <a:r>
                        <a:rPr lang="zh-CN" sz="2000" kern="100">
                          <a:effectLst/>
                        </a:rPr>
                        <a:t>“建立课程”用例的事件流：</a:t>
                      </a:r>
                    </a:p>
                    <a:p>
                      <a:pPr algn="just">
                        <a:spcAft>
                          <a:spcPts val="0"/>
                        </a:spcAft>
                      </a:pPr>
                      <a:r>
                        <a:rPr lang="zh-CN" sz="2000" kern="100">
                          <a:effectLst/>
                        </a:rPr>
                        <a:t>（</a:t>
                      </a:r>
                      <a:r>
                        <a:rPr lang="en-US" sz="2000" kern="100">
                          <a:effectLst/>
                        </a:rPr>
                        <a:t>1</a:t>
                      </a:r>
                      <a:r>
                        <a:rPr lang="zh-CN" sz="2000" kern="100">
                          <a:effectLst/>
                        </a:rPr>
                        <a:t>）管理员选择进入管理界面，用例开始</a:t>
                      </a:r>
                    </a:p>
                    <a:p>
                      <a:pPr algn="just">
                        <a:spcAft>
                          <a:spcPts val="0"/>
                        </a:spcAft>
                      </a:pPr>
                      <a:r>
                        <a:rPr lang="zh-CN" sz="2000" kern="100">
                          <a:effectLst/>
                        </a:rPr>
                        <a:t>（</a:t>
                      </a:r>
                      <a:r>
                        <a:rPr lang="en-US" sz="2000" kern="100">
                          <a:effectLst/>
                        </a:rPr>
                        <a:t>2</a:t>
                      </a:r>
                      <a:r>
                        <a:rPr lang="zh-CN" sz="2000" kern="100">
                          <a:effectLst/>
                        </a:rPr>
                        <a:t>）系统提示输入管理员密码</a:t>
                      </a:r>
                    </a:p>
                    <a:p>
                      <a:pPr algn="just">
                        <a:spcAft>
                          <a:spcPts val="0"/>
                        </a:spcAft>
                      </a:pPr>
                      <a:r>
                        <a:rPr lang="zh-CN" sz="2000" kern="100">
                          <a:effectLst/>
                        </a:rPr>
                        <a:t>（</a:t>
                      </a:r>
                      <a:r>
                        <a:rPr lang="en-US" sz="2000" kern="100">
                          <a:effectLst/>
                        </a:rPr>
                        <a:t>3</a:t>
                      </a:r>
                      <a:r>
                        <a:rPr lang="zh-CN" sz="2000" kern="100">
                          <a:effectLst/>
                        </a:rPr>
                        <a:t>）管理员输入密码</a:t>
                      </a:r>
                    </a:p>
                    <a:p>
                      <a:pPr algn="just">
                        <a:spcAft>
                          <a:spcPts val="0"/>
                        </a:spcAft>
                      </a:pPr>
                      <a:r>
                        <a:rPr lang="zh-CN" sz="2000" kern="100">
                          <a:effectLst/>
                        </a:rPr>
                        <a:t>（</a:t>
                      </a:r>
                      <a:r>
                        <a:rPr lang="en-US" sz="2000" kern="100">
                          <a:effectLst/>
                        </a:rPr>
                        <a:t>4</a:t>
                      </a:r>
                      <a:r>
                        <a:rPr lang="zh-CN" sz="2000" kern="100">
                          <a:effectLst/>
                        </a:rPr>
                        <a:t>）系统验证密码</a:t>
                      </a:r>
                    </a:p>
                    <a:p>
                      <a:pPr algn="just">
                        <a:spcAft>
                          <a:spcPts val="0"/>
                        </a:spcAft>
                      </a:pPr>
                      <a:r>
                        <a:rPr lang="en-US" sz="2000" kern="100">
                          <a:effectLst/>
                        </a:rPr>
                        <a:t>		A1:</a:t>
                      </a:r>
                      <a:r>
                        <a:rPr lang="zh-CN" sz="2000" kern="100">
                          <a:effectLst/>
                        </a:rPr>
                        <a:t>密码错误</a:t>
                      </a:r>
                    </a:p>
                    <a:p>
                      <a:pPr algn="just">
                        <a:spcAft>
                          <a:spcPts val="0"/>
                        </a:spcAft>
                      </a:pPr>
                      <a:r>
                        <a:rPr lang="zh-CN" sz="2000" kern="100">
                          <a:effectLst/>
                        </a:rPr>
                        <a:t>（</a:t>
                      </a:r>
                      <a:r>
                        <a:rPr lang="en-US" sz="2000" kern="100">
                          <a:effectLst/>
                        </a:rPr>
                        <a:t>5</a:t>
                      </a:r>
                      <a:r>
                        <a:rPr lang="zh-CN" sz="2000" kern="100">
                          <a:effectLst/>
                        </a:rPr>
                        <a:t>）进入管理界面，系统显示目前所建立的全部课程信息</a:t>
                      </a:r>
                    </a:p>
                    <a:p>
                      <a:pPr algn="just">
                        <a:spcAft>
                          <a:spcPts val="0"/>
                        </a:spcAft>
                      </a:pPr>
                      <a:r>
                        <a:rPr lang="zh-CN" sz="2000" kern="100">
                          <a:effectLst/>
                        </a:rPr>
                        <a:t>（</a:t>
                      </a:r>
                      <a:r>
                        <a:rPr lang="en-US" sz="2000" kern="100">
                          <a:effectLst/>
                        </a:rPr>
                        <a:t>6</a:t>
                      </a:r>
                      <a:r>
                        <a:rPr lang="zh-CN" sz="2000" kern="100">
                          <a:effectLst/>
                        </a:rPr>
                        <a:t>）管理员选择添加课程</a:t>
                      </a:r>
                    </a:p>
                    <a:p>
                      <a:pPr algn="just">
                        <a:spcAft>
                          <a:spcPts val="0"/>
                        </a:spcAft>
                      </a:pPr>
                      <a:r>
                        <a:rPr lang="zh-CN" sz="2000" kern="100">
                          <a:effectLst/>
                        </a:rPr>
                        <a:t>（</a:t>
                      </a:r>
                      <a:r>
                        <a:rPr lang="en-US" sz="2000" kern="100">
                          <a:effectLst/>
                        </a:rPr>
                        <a:t>7</a:t>
                      </a:r>
                      <a:r>
                        <a:rPr lang="zh-CN" sz="2000" kern="100">
                          <a:effectLst/>
                        </a:rPr>
                        <a:t>）系统提示输入新课程信息</a:t>
                      </a:r>
                    </a:p>
                    <a:p>
                      <a:pPr algn="just">
                        <a:spcAft>
                          <a:spcPts val="0"/>
                        </a:spcAft>
                      </a:pPr>
                      <a:r>
                        <a:rPr lang="zh-CN" sz="2000" kern="100">
                          <a:effectLst/>
                        </a:rPr>
                        <a:t>（</a:t>
                      </a:r>
                      <a:r>
                        <a:rPr lang="en-US" sz="2000" kern="100">
                          <a:effectLst/>
                        </a:rPr>
                        <a:t>8</a:t>
                      </a:r>
                      <a:r>
                        <a:rPr lang="zh-CN" sz="2000" kern="100">
                          <a:effectLst/>
                        </a:rPr>
                        <a:t>）管理员输入信息</a:t>
                      </a:r>
                    </a:p>
                    <a:p>
                      <a:pPr algn="just">
                        <a:spcAft>
                          <a:spcPts val="0"/>
                        </a:spcAft>
                      </a:pPr>
                      <a:r>
                        <a:rPr lang="zh-CN" sz="2000" kern="100">
                          <a:effectLst/>
                        </a:rPr>
                        <a:t>（</a:t>
                      </a:r>
                      <a:r>
                        <a:rPr lang="en-US" sz="2000" kern="100">
                          <a:effectLst/>
                        </a:rPr>
                        <a:t>9</a:t>
                      </a:r>
                      <a:r>
                        <a:rPr lang="zh-CN" sz="2000" kern="100">
                          <a:effectLst/>
                        </a:rPr>
                        <a:t>）系统验证是否和已有课程冲突</a:t>
                      </a:r>
                    </a:p>
                    <a:p>
                      <a:pPr algn="just">
                        <a:spcAft>
                          <a:spcPts val="0"/>
                        </a:spcAft>
                      </a:pPr>
                      <a:r>
                        <a:rPr lang="en-US" sz="2000" kern="100">
                          <a:effectLst/>
                        </a:rPr>
                        <a:t>		A2:</a:t>
                      </a:r>
                      <a:r>
                        <a:rPr lang="zh-CN" sz="2000" kern="100">
                          <a:effectLst/>
                        </a:rPr>
                        <a:t>有冲突</a:t>
                      </a:r>
                    </a:p>
                    <a:p>
                      <a:pPr algn="just">
                        <a:spcAft>
                          <a:spcPts val="0"/>
                        </a:spcAft>
                      </a:pPr>
                      <a:r>
                        <a:rPr lang="zh-CN" sz="2000" kern="100">
                          <a:effectLst/>
                        </a:rPr>
                        <a:t>（</a:t>
                      </a:r>
                      <a:r>
                        <a:rPr lang="en-US" sz="2000" kern="100">
                          <a:effectLst/>
                        </a:rPr>
                        <a:t>10</a:t>
                      </a:r>
                      <a:r>
                        <a:rPr lang="zh-CN" sz="2000" kern="100">
                          <a:effectLst/>
                        </a:rPr>
                        <a:t>）系统添加新课程，提示课程添加成功</a:t>
                      </a:r>
                    </a:p>
                    <a:p>
                      <a:pPr algn="just">
                        <a:spcAft>
                          <a:spcPts val="0"/>
                        </a:spcAft>
                      </a:pPr>
                      <a:r>
                        <a:rPr lang="zh-CN" sz="2000" kern="100">
                          <a:effectLst/>
                        </a:rPr>
                        <a:t>（</a:t>
                      </a:r>
                      <a:r>
                        <a:rPr lang="en-US" sz="2000" kern="100">
                          <a:effectLst/>
                        </a:rPr>
                        <a:t>11</a:t>
                      </a:r>
                      <a:r>
                        <a:rPr lang="zh-CN" sz="2000" kern="100">
                          <a:effectLst/>
                        </a:rPr>
                        <a:t>）系统重新进入管理主界面，显示所有课程</a:t>
                      </a:r>
                    </a:p>
                    <a:p>
                      <a:pPr algn="just">
                        <a:spcAft>
                          <a:spcPts val="0"/>
                        </a:spcAft>
                      </a:pPr>
                      <a:r>
                        <a:rPr lang="zh-CN" sz="2000" kern="100">
                          <a:effectLst/>
                        </a:rPr>
                        <a:t>（</a:t>
                      </a:r>
                      <a:r>
                        <a:rPr lang="en-US" sz="2000" kern="100">
                          <a:effectLst/>
                        </a:rPr>
                        <a:t>12</a:t>
                      </a:r>
                      <a:r>
                        <a:rPr lang="zh-CN" sz="2000" kern="100">
                          <a:effectLst/>
                        </a:rPr>
                        <a:t>）用例结束</a:t>
                      </a:r>
                      <a:endParaRPr lang="zh-CN" sz="2000" kern="100">
                        <a:effectLst/>
                        <a:latin typeface="Calibri"/>
                        <a:ea typeface="宋体"/>
                        <a:cs typeface="Times New Roman"/>
                      </a:endParaRPr>
                    </a:p>
                  </a:txBody>
                  <a:tcPr marL="68580" marR="68580" marT="0" marB="0"/>
                </a:tc>
                <a:tc>
                  <a:txBody>
                    <a:bodyPr/>
                    <a:lstStyle/>
                    <a:p>
                      <a:pPr algn="just">
                        <a:spcAft>
                          <a:spcPts val="0"/>
                        </a:spcAft>
                      </a:pPr>
                      <a:r>
                        <a:rPr lang="zh-CN" sz="2000" kern="100" dirty="0">
                          <a:effectLst/>
                        </a:rPr>
                        <a:t>其他事件流：</a:t>
                      </a:r>
                    </a:p>
                    <a:p>
                      <a:pPr algn="just">
                        <a:spcAft>
                          <a:spcPts val="0"/>
                        </a:spcAft>
                      </a:pPr>
                      <a:r>
                        <a:rPr lang="en-US" sz="2000" kern="100" dirty="0">
                          <a:effectLst/>
                        </a:rPr>
                        <a:t>A1:</a:t>
                      </a:r>
                      <a:r>
                        <a:rPr lang="zh-CN" sz="2000" kern="100" dirty="0">
                          <a:effectLst/>
                        </a:rPr>
                        <a:t>密码错误</a:t>
                      </a:r>
                    </a:p>
                    <a:p>
                      <a:pPr algn="just">
                        <a:spcAft>
                          <a:spcPts val="0"/>
                        </a:spcAft>
                      </a:pPr>
                      <a:r>
                        <a:rPr lang="zh-CN" sz="2000" kern="100" dirty="0">
                          <a:effectLst/>
                        </a:rPr>
                        <a:t>（</a:t>
                      </a:r>
                      <a:r>
                        <a:rPr lang="en-US" sz="2000" kern="100" dirty="0">
                          <a:effectLst/>
                        </a:rPr>
                        <a:t>1</a:t>
                      </a:r>
                      <a:r>
                        <a:rPr lang="zh-CN" sz="2000" kern="100" dirty="0">
                          <a:effectLst/>
                        </a:rPr>
                        <a:t>）系统提示再次输入</a:t>
                      </a:r>
                    </a:p>
                    <a:p>
                      <a:pPr algn="just">
                        <a:spcAft>
                          <a:spcPts val="0"/>
                        </a:spcAft>
                      </a:pPr>
                      <a:r>
                        <a:rPr lang="zh-CN" sz="2000" kern="100" dirty="0">
                          <a:effectLst/>
                        </a:rPr>
                        <a:t>（</a:t>
                      </a:r>
                      <a:r>
                        <a:rPr lang="en-US" sz="2000" kern="100" dirty="0">
                          <a:effectLst/>
                        </a:rPr>
                        <a:t>2</a:t>
                      </a:r>
                      <a:r>
                        <a:rPr lang="zh-CN" sz="2000" kern="100" dirty="0">
                          <a:effectLst/>
                        </a:rPr>
                        <a:t>）用户确认</a:t>
                      </a:r>
                    </a:p>
                    <a:p>
                      <a:pPr algn="just">
                        <a:spcAft>
                          <a:spcPts val="0"/>
                        </a:spcAft>
                      </a:pPr>
                      <a:r>
                        <a:rPr lang="zh-CN" sz="2000" kern="100" dirty="0">
                          <a:effectLst/>
                        </a:rPr>
                        <a:t>（</a:t>
                      </a:r>
                      <a:r>
                        <a:rPr lang="en-US" sz="2000" kern="100" dirty="0">
                          <a:effectLst/>
                        </a:rPr>
                        <a:t>3</a:t>
                      </a:r>
                      <a:r>
                        <a:rPr lang="zh-CN" sz="2000" kern="100" dirty="0">
                          <a:effectLst/>
                        </a:rPr>
                        <a:t>）三次错误，拒绝访问</a:t>
                      </a:r>
                    </a:p>
                    <a:p>
                      <a:pPr algn="just">
                        <a:spcAft>
                          <a:spcPts val="0"/>
                        </a:spcAft>
                      </a:pPr>
                      <a:r>
                        <a:rPr lang="zh-CN" sz="2000" kern="100" dirty="0">
                          <a:effectLst/>
                        </a:rPr>
                        <a:t>（</a:t>
                      </a:r>
                      <a:r>
                        <a:rPr lang="en-US" sz="2000" kern="100" dirty="0">
                          <a:effectLst/>
                        </a:rPr>
                        <a:t>4</a:t>
                      </a:r>
                      <a:r>
                        <a:rPr lang="zh-CN" sz="2000" kern="100" dirty="0">
                          <a:effectLst/>
                        </a:rPr>
                        <a:t>）否则进入建立课程时流第</a:t>
                      </a:r>
                      <a:r>
                        <a:rPr lang="en-US" sz="2000" kern="100" dirty="0">
                          <a:effectLst/>
                        </a:rPr>
                        <a:t>5</a:t>
                      </a:r>
                      <a:r>
                        <a:rPr lang="zh-CN" sz="2000" kern="100" dirty="0">
                          <a:effectLst/>
                        </a:rPr>
                        <a:t>步</a:t>
                      </a:r>
                    </a:p>
                    <a:p>
                      <a:pPr algn="just">
                        <a:spcAft>
                          <a:spcPts val="0"/>
                        </a:spcAft>
                      </a:pPr>
                      <a:r>
                        <a:rPr lang="en-US" sz="2000" kern="100" dirty="0">
                          <a:effectLst/>
                        </a:rPr>
                        <a:t>A2:</a:t>
                      </a:r>
                      <a:r>
                        <a:rPr lang="zh-CN" sz="2000" kern="100" dirty="0">
                          <a:effectLst/>
                        </a:rPr>
                        <a:t>有冲突</a:t>
                      </a:r>
                    </a:p>
                    <a:p>
                      <a:pPr algn="just">
                        <a:spcAft>
                          <a:spcPts val="0"/>
                        </a:spcAft>
                      </a:pPr>
                      <a:r>
                        <a:rPr lang="zh-CN" sz="2000" kern="100" dirty="0">
                          <a:effectLst/>
                        </a:rPr>
                        <a:t>（</a:t>
                      </a:r>
                      <a:r>
                        <a:rPr lang="en-US" sz="2000" kern="100" dirty="0">
                          <a:effectLst/>
                        </a:rPr>
                        <a:t>1</a:t>
                      </a:r>
                      <a:r>
                        <a:rPr lang="zh-CN" sz="2000" kern="100" dirty="0">
                          <a:effectLst/>
                        </a:rPr>
                        <a:t>）系统提示冲突，显示冲突课程信息</a:t>
                      </a:r>
                    </a:p>
                    <a:p>
                      <a:pPr algn="just">
                        <a:spcAft>
                          <a:spcPts val="0"/>
                        </a:spcAft>
                      </a:pPr>
                      <a:r>
                        <a:rPr lang="zh-CN" sz="2000" kern="100" dirty="0">
                          <a:effectLst/>
                        </a:rPr>
                        <a:t>（</a:t>
                      </a:r>
                      <a:r>
                        <a:rPr lang="en-US" sz="2000" kern="100" dirty="0">
                          <a:effectLst/>
                        </a:rPr>
                        <a:t>2</a:t>
                      </a:r>
                      <a:r>
                        <a:rPr lang="zh-CN" sz="2000" kern="100" dirty="0">
                          <a:effectLst/>
                        </a:rPr>
                        <a:t>）用户重新输入</a:t>
                      </a:r>
                    </a:p>
                    <a:p>
                      <a:pPr algn="just">
                        <a:spcAft>
                          <a:spcPts val="0"/>
                        </a:spcAft>
                      </a:pPr>
                      <a:r>
                        <a:rPr lang="zh-CN" sz="2000" kern="100" dirty="0">
                          <a:effectLst/>
                        </a:rPr>
                        <a:t>（</a:t>
                      </a:r>
                      <a:r>
                        <a:rPr lang="en-US" sz="2000" kern="100" dirty="0">
                          <a:effectLst/>
                        </a:rPr>
                        <a:t>3</a:t>
                      </a:r>
                      <a:r>
                        <a:rPr lang="zh-CN" sz="2000" kern="100" dirty="0">
                          <a:effectLst/>
                        </a:rPr>
                        <a:t>）继续验证直到无冲突</a:t>
                      </a:r>
                    </a:p>
                    <a:p>
                      <a:pPr algn="just">
                        <a:spcAft>
                          <a:spcPts val="0"/>
                        </a:spcAft>
                      </a:pPr>
                      <a:r>
                        <a:rPr lang="zh-CN" sz="2000" kern="100" dirty="0">
                          <a:effectLst/>
                        </a:rPr>
                        <a:t>（</a:t>
                      </a:r>
                      <a:r>
                        <a:rPr lang="en-US" sz="2000" kern="100" dirty="0">
                          <a:effectLst/>
                        </a:rPr>
                        <a:t>4</a:t>
                      </a:r>
                      <a:r>
                        <a:rPr lang="zh-CN" sz="2000" kern="100" dirty="0">
                          <a:effectLst/>
                        </a:rPr>
                        <a:t>）进入建立课程事件流第</a:t>
                      </a:r>
                      <a:r>
                        <a:rPr lang="en-US" sz="2000" kern="100" dirty="0">
                          <a:effectLst/>
                        </a:rPr>
                        <a:t>10</a:t>
                      </a:r>
                      <a:r>
                        <a:rPr lang="zh-CN" sz="2000" kern="100" dirty="0">
                          <a:effectLst/>
                        </a:rPr>
                        <a:t>步</a:t>
                      </a:r>
                      <a:endParaRPr lang="zh-CN" sz="2000" kern="100" dirty="0">
                        <a:effectLst/>
                        <a:latin typeface="Calibri"/>
                        <a:ea typeface="宋体"/>
                        <a:cs typeface="Times New Roman"/>
                      </a:endParaRPr>
                    </a:p>
                  </a:txBody>
                  <a:tcPr marL="68580" marR="68580" marT="0" marB="0"/>
                </a:tc>
              </a:tr>
            </a:tbl>
          </a:graphicData>
        </a:graphic>
      </p:graphicFrame>
    </p:spTree>
    <p:extLst>
      <p:ext uri="{BB962C8B-B14F-4D97-AF65-F5344CB8AC3E}">
        <p14:creationId xmlns:p14="http://schemas.microsoft.com/office/powerpoint/2010/main" val="35309337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面向对象需求分析方法</a:t>
            </a:r>
            <a:endParaRPr lang="zh-CN" altLang="en-US" dirty="0"/>
          </a:p>
        </p:txBody>
      </p:sp>
      <p:sp>
        <p:nvSpPr>
          <p:cNvPr id="3" name="内容占位符 2"/>
          <p:cNvSpPr>
            <a:spLocks noGrp="1"/>
          </p:cNvSpPr>
          <p:nvPr>
            <p:ph idx="1"/>
          </p:nvPr>
        </p:nvSpPr>
        <p:spPr>
          <a:xfrm>
            <a:off x="838200" y="1825625"/>
            <a:ext cx="5444613" cy="4351338"/>
          </a:xfrm>
        </p:spPr>
        <p:txBody>
          <a:bodyPr>
            <a:normAutofit/>
          </a:bodyPr>
          <a:lstStyle/>
          <a:p>
            <a:r>
              <a:rPr lang="en-US" altLang="zh-CN" sz="2400" b="1" dirty="0"/>
              <a:t>4</a:t>
            </a:r>
            <a:r>
              <a:rPr lang="zh-CN" altLang="zh-CN" sz="2400" b="1" dirty="0"/>
              <a:t>）时序图</a:t>
            </a:r>
          </a:p>
          <a:p>
            <a:r>
              <a:rPr lang="zh-CN" altLang="zh-CN" sz="2400" dirty="0"/>
              <a:t>序列图和协作图都属于交互图，描述了系统对象之间互相协作的过程。</a:t>
            </a:r>
          </a:p>
          <a:p>
            <a:r>
              <a:rPr lang="zh-CN" altLang="zh-CN" sz="2400" dirty="0"/>
              <a:t>序列图描述了对象之间的相互作用，什么时候对象之间发送怎样的消息进行交互。它按照事件序列进行组织，操作中的对象按照消息发生的次序列表。</a:t>
            </a:r>
          </a:p>
          <a:p>
            <a:r>
              <a:rPr lang="zh-CN" altLang="zh-CN" sz="2400" dirty="0"/>
              <a:t>由：活动者、对象、消息、生命线、控制焦点组成。</a:t>
            </a:r>
          </a:p>
          <a:p>
            <a:endParaRPr lang="zh-CN" altLang="en-US" sz="2400" dirty="0"/>
          </a:p>
        </p:txBody>
      </p:sp>
      <p:pic>
        <p:nvPicPr>
          <p:cNvPr id="45057" name="图片 48"/>
          <p:cNvPicPr>
            <a:picLocks noChangeAspect="1" noChangeArrowheads="1"/>
          </p:cNvPicPr>
          <p:nvPr/>
        </p:nvPicPr>
        <p:blipFill>
          <a:blip r:embed="rId2">
            <a:extLst>
              <a:ext uri="{28A0092B-C50C-407E-A947-70E740481C1C}">
                <a14:useLocalDpi xmlns:a14="http://schemas.microsoft.com/office/drawing/2010/main" val="0"/>
              </a:ext>
            </a:extLst>
          </a:blip>
          <a:srcRect l="61189" t="53319" r="9039" b="17323"/>
          <a:stretch>
            <a:fillRect/>
          </a:stretch>
        </p:blipFill>
        <p:spPr bwMode="auto">
          <a:xfrm>
            <a:off x="6304936" y="1979049"/>
            <a:ext cx="5915025"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09337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面向对象需求分析方法</a:t>
            </a:r>
            <a:endParaRPr lang="zh-CN" altLang="en-US" dirty="0"/>
          </a:p>
        </p:txBody>
      </p:sp>
      <p:sp>
        <p:nvSpPr>
          <p:cNvPr id="3" name="内容占位符 2"/>
          <p:cNvSpPr>
            <a:spLocks noGrp="1"/>
          </p:cNvSpPr>
          <p:nvPr>
            <p:ph idx="1"/>
          </p:nvPr>
        </p:nvSpPr>
        <p:spPr>
          <a:xfrm>
            <a:off x="838200" y="1825625"/>
            <a:ext cx="6668729" cy="4351338"/>
          </a:xfrm>
        </p:spPr>
        <p:txBody>
          <a:bodyPr>
            <a:normAutofit/>
          </a:bodyPr>
          <a:lstStyle/>
          <a:p>
            <a:r>
              <a:rPr lang="zh-CN" altLang="zh-CN" sz="2400" dirty="0"/>
              <a:t>创建序列图或协作图的步骤：</a:t>
            </a:r>
          </a:p>
          <a:p>
            <a:r>
              <a:rPr lang="zh-CN" altLang="zh-CN" sz="2400" dirty="0"/>
              <a:t>（</a:t>
            </a:r>
            <a:r>
              <a:rPr lang="en-US" altLang="zh-CN" sz="2400" dirty="0"/>
              <a:t>1</a:t>
            </a:r>
            <a:r>
              <a:rPr lang="zh-CN" altLang="zh-CN" sz="2400" dirty="0"/>
              <a:t>）寻找对象</a:t>
            </a:r>
          </a:p>
          <a:p>
            <a:r>
              <a:rPr lang="zh-CN" altLang="zh-CN" sz="2400" dirty="0"/>
              <a:t>（</a:t>
            </a:r>
            <a:r>
              <a:rPr lang="en-US" altLang="zh-CN" sz="2400" dirty="0"/>
              <a:t>2</a:t>
            </a:r>
            <a:r>
              <a:rPr lang="zh-CN" altLang="zh-CN" sz="2400" dirty="0"/>
              <a:t>）寻找角色</a:t>
            </a:r>
          </a:p>
          <a:p>
            <a:r>
              <a:rPr lang="zh-CN" altLang="zh-CN" sz="2400" dirty="0"/>
              <a:t>（</a:t>
            </a:r>
            <a:r>
              <a:rPr lang="en-US" altLang="zh-CN" sz="2400" dirty="0"/>
              <a:t>3</a:t>
            </a:r>
            <a:r>
              <a:rPr lang="zh-CN" altLang="zh-CN" sz="2400" dirty="0"/>
              <a:t>）将消息加进图中</a:t>
            </a:r>
          </a:p>
          <a:p>
            <a:r>
              <a:rPr lang="zh-CN" altLang="zh-CN" sz="2400" dirty="0"/>
              <a:t>寻找对象的方法：</a:t>
            </a:r>
          </a:p>
          <a:p>
            <a:r>
              <a:rPr lang="zh-CN" altLang="zh-CN" sz="2400" dirty="0"/>
              <a:t>（</a:t>
            </a:r>
            <a:r>
              <a:rPr lang="en-US" altLang="zh-CN" sz="2400" dirty="0"/>
              <a:t>1</a:t>
            </a:r>
            <a:r>
              <a:rPr lang="zh-CN" altLang="zh-CN" sz="2400" dirty="0"/>
              <a:t>）研究事件流中的名词</a:t>
            </a:r>
          </a:p>
          <a:p>
            <a:r>
              <a:rPr lang="zh-CN" altLang="zh-CN" sz="2400" dirty="0"/>
              <a:t>（</a:t>
            </a:r>
            <a:r>
              <a:rPr lang="en-US" altLang="zh-CN" sz="2400" dirty="0"/>
              <a:t>2</a:t>
            </a:r>
            <a:r>
              <a:rPr lang="zh-CN" altLang="zh-CN" sz="2400" dirty="0"/>
              <a:t>）查阅事件流的特定实例</a:t>
            </a:r>
          </a:p>
          <a:p>
            <a:r>
              <a:rPr lang="zh-CN" altLang="zh-CN" sz="2400" dirty="0"/>
              <a:t>需要注意的是，并非所有的对象都在事件流中。</a:t>
            </a:r>
          </a:p>
          <a:p>
            <a:endParaRPr lang="zh-CN" altLang="en-US" sz="2400" dirty="0"/>
          </a:p>
        </p:txBody>
      </p:sp>
    </p:spTree>
    <p:extLst>
      <p:ext uri="{BB962C8B-B14F-4D97-AF65-F5344CB8AC3E}">
        <p14:creationId xmlns:p14="http://schemas.microsoft.com/office/powerpoint/2010/main" val="35309337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面向对象需求分析方法</a:t>
            </a:r>
            <a:endParaRPr lang="zh-CN" altLang="en-US" dirty="0"/>
          </a:p>
        </p:txBody>
      </p:sp>
      <p:sp>
        <p:nvSpPr>
          <p:cNvPr id="3" name="内容占位符 2"/>
          <p:cNvSpPr>
            <a:spLocks noGrp="1"/>
          </p:cNvSpPr>
          <p:nvPr>
            <p:ph idx="1"/>
          </p:nvPr>
        </p:nvSpPr>
        <p:spPr>
          <a:xfrm>
            <a:off x="730044" y="1408811"/>
            <a:ext cx="10515600" cy="4351338"/>
          </a:xfrm>
        </p:spPr>
        <p:txBody>
          <a:bodyPr>
            <a:normAutofit/>
          </a:bodyPr>
          <a:lstStyle/>
          <a:p>
            <a:r>
              <a:rPr lang="zh-CN" altLang="zh-CN" sz="2000" dirty="0"/>
              <a:t>例如：“建立课程”用例的事件流进行分析。</a:t>
            </a:r>
          </a:p>
          <a:p>
            <a:r>
              <a:rPr lang="zh-CN" altLang="zh-CN" sz="2000" dirty="0"/>
              <a:t>（</a:t>
            </a:r>
            <a:r>
              <a:rPr lang="en-US" altLang="zh-CN" sz="2000" dirty="0"/>
              <a:t>1</a:t>
            </a:r>
            <a:r>
              <a:rPr lang="zh-CN" altLang="zh-CN" sz="2000" dirty="0"/>
              <a:t>）首先，查找用例中的对象：界面、课程。对于业务层的操作，需要对象进行处理。事件流中设计的角色：管理员、数据库。</a:t>
            </a:r>
          </a:p>
          <a:p>
            <a:r>
              <a:rPr lang="zh-CN" altLang="zh-CN" sz="2000" dirty="0"/>
              <a:t>（</a:t>
            </a:r>
            <a:r>
              <a:rPr lang="en-US" altLang="zh-CN" sz="2000" dirty="0"/>
              <a:t>2</a:t>
            </a:r>
            <a:r>
              <a:rPr lang="zh-CN" altLang="zh-CN" sz="2000" dirty="0"/>
              <a:t>）然后，分析对象、角色之间交互的消息：</a:t>
            </a:r>
          </a:p>
          <a:p>
            <a:endParaRPr lang="zh-CN" altLang="en-US" sz="2000" dirty="0"/>
          </a:p>
        </p:txBody>
      </p:sp>
      <p:pic>
        <p:nvPicPr>
          <p:cNvPr id="43009" name="图片 49"/>
          <p:cNvPicPr>
            <a:picLocks noChangeAspect="1" noChangeArrowheads="1"/>
          </p:cNvPicPr>
          <p:nvPr/>
        </p:nvPicPr>
        <p:blipFill>
          <a:blip r:embed="rId2">
            <a:extLst>
              <a:ext uri="{28A0092B-C50C-407E-A947-70E740481C1C}">
                <a14:useLocalDpi xmlns:a14="http://schemas.microsoft.com/office/drawing/2010/main" val="0"/>
              </a:ext>
            </a:extLst>
          </a:blip>
          <a:srcRect l="76125" t="60172" r="7718" b="18391"/>
          <a:stretch>
            <a:fillRect/>
          </a:stretch>
        </p:blipFill>
        <p:spPr bwMode="auto">
          <a:xfrm>
            <a:off x="538315" y="2959816"/>
            <a:ext cx="4715155" cy="3523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6096000" y="2775150"/>
            <a:ext cx="4687502" cy="369332"/>
          </a:xfrm>
          <a:prstGeom prst="rect">
            <a:avLst/>
          </a:prstGeom>
        </p:spPr>
        <p:txBody>
          <a:bodyPr wrap="none">
            <a:spAutoFit/>
          </a:bodyPr>
          <a:lstStyle/>
          <a:p>
            <a:r>
              <a:rPr lang="zh-CN" altLang="zh-CN" dirty="0"/>
              <a:t>（</a:t>
            </a:r>
            <a:r>
              <a:rPr lang="en-US" altLang="zh-CN" dirty="0"/>
              <a:t>3</a:t>
            </a:r>
            <a:r>
              <a:rPr lang="zh-CN" altLang="zh-CN" dirty="0"/>
              <a:t>）根据上述的事件流描述，得到时序图。</a:t>
            </a:r>
          </a:p>
        </p:txBody>
      </p:sp>
      <p:pic>
        <p:nvPicPr>
          <p:cNvPr id="43010" name="图片 36"/>
          <p:cNvPicPr>
            <a:picLocks noChangeAspect="1" noChangeArrowheads="1"/>
          </p:cNvPicPr>
          <p:nvPr/>
        </p:nvPicPr>
        <p:blipFill>
          <a:blip r:embed="rId3">
            <a:extLst>
              <a:ext uri="{28A0092B-C50C-407E-A947-70E740481C1C}">
                <a14:useLocalDpi xmlns:a14="http://schemas.microsoft.com/office/drawing/2010/main" val="0"/>
              </a:ext>
            </a:extLst>
          </a:blip>
          <a:srcRect l="62875" t="37473" r="9885" b="18813"/>
          <a:stretch>
            <a:fillRect/>
          </a:stretch>
        </p:blipFill>
        <p:spPr bwMode="auto">
          <a:xfrm>
            <a:off x="6813755" y="3287233"/>
            <a:ext cx="3969747" cy="3594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093371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面向对象需求分析方法</a:t>
            </a:r>
            <a:endParaRPr lang="zh-CN" altLang="en-US" dirty="0"/>
          </a:p>
        </p:txBody>
      </p:sp>
      <p:sp>
        <p:nvSpPr>
          <p:cNvPr id="3" name="内容占位符 2"/>
          <p:cNvSpPr>
            <a:spLocks noGrp="1"/>
          </p:cNvSpPr>
          <p:nvPr>
            <p:ph idx="1"/>
          </p:nvPr>
        </p:nvSpPr>
        <p:spPr/>
        <p:txBody>
          <a:bodyPr>
            <a:normAutofit/>
          </a:bodyPr>
          <a:lstStyle/>
          <a:p>
            <a:r>
              <a:rPr lang="en-US" altLang="zh-CN" sz="2400" b="1" dirty="0"/>
              <a:t>5</a:t>
            </a:r>
            <a:r>
              <a:rPr lang="zh-CN" altLang="zh-CN" sz="2400" b="1" dirty="0"/>
              <a:t>）协作图</a:t>
            </a:r>
          </a:p>
          <a:p>
            <a:r>
              <a:rPr lang="zh-CN" altLang="zh-CN" sz="2400" dirty="0"/>
              <a:t>协作图反映的消息和序列图相同，但是它侧重于对象的角色而不是消息发送的时序关系。由：活动者、对象、连接、消息组成。</a:t>
            </a:r>
          </a:p>
          <a:p>
            <a:endParaRPr lang="zh-CN" altLang="en-US" sz="2400" dirty="0"/>
          </a:p>
        </p:txBody>
      </p:sp>
      <p:pic>
        <p:nvPicPr>
          <p:cNvPr id="1026" name="图片 52"/>
          <p:cNvPicPr>
            <a:picLocks noChangeAspect="1" noChangeArrowheads="1"/>
          </p:cNvPicPr>
          <p:nvPr/>
        </p:nvPicPr>
        <p:blipFill>
          <a:blip r:embed="rId2">
            <a:extLst>
              <a:ext uri="{28A0092B-C50C-407E-A947-70E740481C1C}">
                <a14:useLocalDpi xmlns:a14="http://schemas.microsoft.com/office/drawing/2010/main" val="0"/>
              </a:ext>
            </a:extLst>
          </a:blip>
          <a:srcRect l="60104" t="54819" r="8076" b="20111"/>
          <a:stretch>
            <a:fillRect/>
          </a:stretch>
        </p:blipFill>
        <p:spPr bwMode="auto">
          <a:xfrm>
            <a:off x="2833687" y="3214533"/>
            <a:ext cx="6893918" cy="3068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093371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3.4</a:t>
            </a:r>
            <a:r>
              <a:rPr lang="zh-CN" altLang="zh-CN" dirty="0"/>
              <a:t>面向对象需求分析</a:t>
            </a:r>
            <a:r>
              <a:rPr lang="zh-CN" altLang="zh-CN" dirty="0" smtClean="0"/>
              <a:t>方法</a:t>
            </a:r>
            <a:endParaRPr lang="zh-CN" altLang="en-US" dirty="0"/>
          </a:p>
        </p:txBody>
      </p:sp>
      <p:sp>
        <p:nvSpPr>
          <p:cNvPr id="3" name="内容占位符 2"/>
          <p:cNvSpPr>
            <a:spLocks noGrp="1"/>
          </p:cNvSpPr>
          <p:nvPr>
            <p:ph idx="1"/>
          </p:nvPr>
        </p:nvSpPr>
        <p:spPr/>
        <p:txBody>
          <a:bodyPr/>
          <a:lstStyle/>
          <a:p>
            <a:r>
              <a:rPr lang="zh-CN" altLang="zh-CN" dirty="0"/>
              <a:t>例如：</a:t>
            </a:r>
            <a:endParaRPr lang="zh-CN" altLang="en-US" dirty="0"/>
          </a:p>
        </p:txBody>
      </p:sp>
      <p:pic>
        <p:nvPicPr>
          <p:cNvPr id="2050" name="图片 53"/>
          <p:cNvPicPr>
            <a:picLocks noChangeAspect="1" noChangeArrowheads="1"/>
          </p:cNvPicPr>
          <p:nvPr/>
        </p:nvPicPr>
        <p:blipFill>
          <a:blip r:embed="rId2">
            <a:extLst>
              <a:ext uri="{28A0092B-C50C-407E-A947-70E740481C1C}">
                <a14:useLocalDpi xmlns:a14="http://schemas.microsoft.com/office/drawing/2010/main" val="0"/>
              </a:ext>
            </a:extLst>
          </a:blip>
          <a:srcRect l="76125" t="60172" r="7718" b="18391"/>
          <a:stretch>
            <a:fillRect/>
          </a:stretch>
        </p:blipFill>
        <p:spPr bwMode="auto">
          <a:xfrm>
            <a:off x="1061884" y="2654709"/>
            <a:ext cx="5171620" cy="3864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6233504" y="1902231"/>
            <a:ext cx="4108817" cy="369332"/>
          </a:xfrm>
          <a:prstGeom prst="rect">
            <a:avLst/>
          </a:prstGeom>
        </p:spPr>
        <p:txBody>
          <a:bodyPr wrap="none">
            <a:spAutoFit/>
          </a:bodyPr>
          <a:lstStyle/>
          <a:p>
            <a:r>
              <a:rPr lang="zh-CN" altLang="zh-CN" dirty="0"/>
              <a:t>根据上述的事件流描述，得到协作图。</a:t>
            </a:r>
            <a:endParaRPr lang="zh-CN" altLang="en-US" dirty="0"/>
          </a:p>
        </p:txBody>
      </p:sp>
      <p:pic>
        <p:nvPicPr>
          <p:cNvPr id="2051" name="图片 38"/>
          <p:cNvPicPr>
            <a:picLocks noChangeAspect="1" noChangeArrowheads="1"/>
          </p:cNvPicPr>
          <p:nvPr/>
        </p:nvPicPr>
        <p:blipFill>
          <a:blip r:embed="rId3">
            <a:extLst>
              <a:ext uri="{28A0092B-C50C-407E-A947-70E740481C1C}">
                <a14:useLocalDpi xmlns:a14="http://schemas.microsoft.com/office/drawing/2010/main" val="0"/>
              </a:ext>
            </a:extLst>
          </a:blip>
          <a:srcRect l="59863" t="37901" r="13258" b="19885"/>
          <a:stretch>
            <a:fillRect/>
          </a:stretch>
        </p:blipFill>
        <p:spPr bwMode="auto">
          <a:xfrm>
            <a:off x="6191682" y="2462981"/>
            <a:ext cx="4648384" cy="411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093371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3.4</a:t>
            </a:r>
            <a:r>
              <a:rPr lang="zh-CN" altLang="zh-CN" dirty="0"/>
              <a:t>面向对象需求分析方法</a:t>
            </a:r>
            <a:endParaRPr lang="zh-CN" altLang="en-US" dirty="0"/>
          </a:p>
        </p:txBody>
      </p:sp>
      <p:sp>
        <p:nvSpPr>
          <p:cNvPr id="3" name="内容占位符 2"/>
          <p:cNvSpPr>
            <a:spLocks noGrp="1"/>
          </p:cNvSpPr>
          <p:nvPr>
            <p:ph idx="1"/>
          </p:nvPr>
        </p:nvSpPr>
        <p:spPr>
          <a:xfrm>
            <a:off x="838200" y="1825625"/>
            <a:ext cx="4530213" cy="4351338"/>
          </a:xfrm>
        </p:spPr>
        <p:txBody>
          <a:bodyPr>
            <a:normAutofit/>
          </a:bodyPr>
          <a:lstStyle/>
          <a:p>
            <a:r>
              <a:rPr lang="en-US" altLang="zh-CN" sz="2000" b="1" dirty="0"/>
              <a:t>6</a:t>
            </a:r>
            <a:r>
              <a:rPr lang="zh-CN" altLang="zh-CN" sz="2000" b="1" dirty="0"/>
              <a:t>）活动图</a:t>
            </a:r>
          </a:p>
          <a:p>
            <a:r>
              <a:rPr lang="zh-CN" altLang="zh-CN" sz="2000" dirty="0"/>
              <a:t>活动图是一种特殊的流程图，着重于描述单个过程中活动的流程，显示了这些活动之间如何互相依赖。</a:t>
            </a:r>
          </a:p>
          <a:p>
            <a:r>
              <a:rPr lang="zh-CN" altLang="zh-CN" sz="2000" dirty="0"/>
              <a:t>活动图显示的信息与文本事件流相同。</a:t>
            </a:r>
          </a:p>
          <a:p>
            <a:r>
              <a:rPr lang="zh-CN" altLang="zh-CN" sz="2000" dirty="0"/>
              <a:t>在用例图中，活动图用来捕捉用例的活动，描述采取何种动作、做什么（对象状态改变）、何时发生（动作序列）以及在何处发生（泳道）。</a:t>
            </a:r>
            <a:endParaRPr lang="zh-CN" altLang="en-US" sz="2000" dirty="0"/>
          </a:p>
        </p:txBody>
      </p:sp>
      <p:pic>
        <p:nvPicPr>
          <p:cNvPr id="3074" name="图片 47"/>
          <p:cNvPicPr>
            <a:picLocks noChangeAspect="1" noChangeArrowheads="1"/>
          </p:cNvPicPr>
          <p:nvPr/>
        </p:nvPicPr>
        <p:blipFill>
          <a:blip r:embed="rId2">
            <a:extLst>
              <a:ext uri="{28A0092B-C50C-407E-A947-70E740481C1C}">
                <a14:useLocalDpi xmlns:a14="http://schemas.microsoft.com/office/drawing/2010/main" val="0"/>
              </a:ext>
            </a:extLst>
          </a:blip>
          <a:srcRect l="61189" t="37688" r="7954" b="18814"/>
          <a:stretch>
            <a:fillRect/>
          </a:stretch>
        </p:blipFill>
        <p:spPr bwMode="auto">
          <a:xfrm>
            <a:off x="5715000" y="1862599"/>
            <a:ext cx="6113206" cy="4857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300148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3.4</a:t>
            </a:r>
            <a:r>
              <a:rPr lang="zh-CN" altLang="zh-CN" dirty="0"/>
              <a:t>面向对象需求分析方法</a:t>
            </a:r>
            <a:endParaRPr lang="zh-CN" altLang="en-US" dirty="0"/>
          </a:p>
        </p:txBody>
      </p:sp>
      <p:sp>
        <p:nvSpPr>
          <p:cNvPr id="3" name="内容占位符 2"/>
          <p:cNvSpPr>
            <a:spLocks noGrp="1"/>
          </p:cNvSpPr>
          <p:nvPr>
            <p:ph idx="1"/>
          </p:nvPr>
        </p:nvSpPr>
        <p:spPr>
          <a:xfrm>
            <a:off x="838200" y="1722389"/>
            <a:ext cx="10515600" cy="4351338"/>
          </a:xfrm>
        </p:spPr>
        <p:txBody>
          <a:bodyPr>
            <a:normAutofit/>
          </a:bodyPr>
          <a:lstStyle/>
          <a:p>
            <a:r>
              <a:rPr lang="zh-CN" altLang="zh-CN" sz="2000" dirty="0"/>
              <a:t>例如：</a:t>
            </a:r>
            <a:endParaRPr lang="zh-CN" altLang="en-US" sz="2000" dirty="0"/>
          </a:p>
        </p:txBody>
      </p:sp>
      <p:graphicFrame>
        <p:nvGraphicFramePr>
          <p:cNvPr id="4" name="表格 3"/>
          <p:cNvGraphicFramePr>
            <a:graphicFrameLocks noGrp="1"/>
          </p:cNvGraphicFramePr>
          <p:nvPr>
            <p:extLst>
              <p:ext uri="{D42A27DB-BD31-4B8C-83A1-F6EECF244321}">
                <p14:modId xmlns:p14="http://schemas.microsoft.com/office/powerpoint/2010/main" val="4273620765"/>
              </p:ext>
            </p:extLst>
          </p:nvPr>
        </p:nvGraphicFramePr>
        <p:xfrm>
          <a:off x="322614" y="2389239"/>
          <a:ext cx="6948354" cy="4262283"/>
        </p:xfrm>
        <a:graphic>
          <a:graphicData uri="http://schemas.openxmlformats.org/drawingml/2006/table">
            <a:tbl>
              <a:tblPr firstRow="1" firstCol="1" bandRow="1">
                <a:tableStyleId>{5C22544A-7EE6-4342-B048-85BDC9FD1C3A}</a:tableStyleId>
              </a:tblPr>
              <a:tblGrid>
                <a:gridCol w="3688960"/>
                <a:gridCol w="3259394"/>
              </a:tblGrid>
              <a:tr h="4262283">
                <a:tc>
                  <a:txBody>
                    <a:bodyPr/>
                    <a:lstStyle/>
                    <a:p>
                      <a:pPr algn="just">
                        <a:spcAft>
                          <a:spcPts val="0"/>
                        </a:spcAft>
                      </a:pPr>
                      <a:r>
                        <a:rPr lang="en-US" sz="1400" kern="100" dirty="0">
                          <a:effectLst/>
                        </a:rPr>
                        <a:t>“</a:t>
                      </a:r>
                      <a:r>
                        <a:rPr lang="zh-CN" sz="1400" kern="100" dirty="0">
                          <a:effectLst/>
                        </a:rPr>
                        <a:t>建立课程</a:t>
                      </a:r>
                      <a:r>
                        <a:rPr lang="en-US" sz="1400" kern="100" dirty="0">
                          <a:effectLst/>
                        </a:rPr>
                        <a:t>”</a:t>
                      </a:r>
                      <a:r>
                        <a:rPr lang="zh-CN" sz="1400" kern="100" dirty="0">
                          <a:effectLst/>
                        </a:rPr>
                        <a:t>事件流：</a:t>
                      </a:r>
                    </a:p>
                    <a:p>
                      <a:pPr algn="just">
                        <a:spcAft>
                          <a:spcPts val="0"/>
                        </a:spcAft>
                      </a:pPr>
                      <a:r>
                        <a:rPr lang="zh-CN" sz="1400" kern="100" dirty="0">
                          <a:effectLst/>
                        </a:rPr>
                        <a:t>（</a:t>
                      </a:r>
                      <a:r>
                        <a:rPr lang="en-US" sz="1400" kern="100" dirty="0">
                          <a:effectLst/>
                        </a:rPr>
                        <a:t>1</a:t>
                      </a:r>
                      <a:r>
                        <a:rPr lang="zh-CN" sz="1400" kern="100" dirty="0">
                          <a:effectLst/>
                        </a:rPr>
                        <a:t>）管理员选择进入管理界面，用例开始</a:t>
                      </a:r>
                    </a:p>
                    <a:p>
                      <a:pPr algn="just">
                        <a:spcAft>
                          <a:spcPts val="0"/>
                        </a:spcAft>
                      </a:pPr>
                      <a:r>
                        <a:rPr lang="zh-CN" sz="1400" kern="100" dirty="0">
                          <a:effectLst/>
                        </a:rPr>
                        <a:t>（</a:t>
                      </a:r>
                      <a:r>
                        <a:rPr lang="en-US" sz="1400" kern="100" dirty="0">
                          <a:effectLst/>
                        </a:rPr>
                        <a:t>2</a:t>
                      </a:r>
                      <a:r>
                        <a:rPr lang="zh-CN" sz="1400" kern="100" dirty="0">
                          <a:effectLst/>
                        </a:rPr>
                        <a:t>）系统提示输入管理员密码</a:t>
                      </a:r>
                    </a:p>
                    <a:p>
                      <a:pPr algn="just">
                        <a:spcAft>
                          <a:spcPts val="0"/>
                        </a:spcAft>
                      </a:pPr>
                      <a:r>
                        <a:rPr lang="zh-CN" sz="1400" kern="100" dirty="0">
                          <a:effectLst/>
                        </a:rPr>
                        <a:t>（</a:t>
                      </a:r>
                      <a:r>
                        <a:rPr lang="en-US" sz="1400" kern="100" dirty="0">
                          <a:effectLst/>
                        </a:rPr>
                        <a:t>3</a:t>
                      </a:r>
                      <a:r>
                        <a:rPr lang="zh-CN" sz="1400" kern="100" dirty="0">
                          <a:effectLst/>
                        </a:rPr>
                        <a:t>）管理员输入密码</a:t>
                      </a:r>
                    </a:p>
                    <a:p>
                      <a:pPr algn="just">
                        <a:spcAft>
                          <a:spcPts val="0"/>
                        </a:spcAft>
                      </a:pPr>
                      <a:r>
                        <a:rPr lang="zh-CN" sz="1400" kern="100" dirty="0">
                          <a:effectLst/>
                        </a:rPr>
                        <a:t>（</a:t>
                      </a:r>
                      <a:r>
                        <a:rPr lang="en-US" sz="1400" kern="100" dirty="0">
                          <a:effectLst/>
                        </a:rPr>
                        <a:t>4</a:t>
                      </a:r>
                      <a:r>
                        <a:rPr lang="zh-CN" sz="1400" kern="100" dirty="0">
                          <a:effectLst/>
                        </a:rPr>
                        <a:t>）系统验证密码</a:t>
                      </a:r>
                    </a:p>
                    <a:p>
                      <a:pPr algn="just">
                        <a:spcAft>
                          <a:spcPts val="0"/>
                        </a:spcAft>
                      </a:pPr>
                      <a:r>
                        <a:rPr lang="en-US" sz="1400" kern="100" baseline="0" dirty="0" smtClean="0">
                          <a:effectLst/>
                        </a:rPr>
                        <a:t>         </a:t>
                      </a:r>
                      <a:r>
                        <a:rPr lang="en-US" sz="1400" kern="100" dirty="0" smtClean="0">
                          <a:effectLst/>
                        </a:rPr>
                        <a:t>A1</a:t>
                      </a:r>
                      <a:r>
                        <a:rPr lang="en-US" sz="1400" kern="100" dirty="0">
                          <a:effectLst/>
                        </a:rPr>
                        <a:t>:</a:t>
                      </a:r>
                      <a:r>
                        <a:rPr lang="zh-CN" sz="1400" kern="100" dirty="0">
                          <a:effectLst/>
                        </a:rPr>
                        <a:t>密码错误</a:t>
                      </a:r>
                    </a:p>
                    <a:p>
                      <a:pPr algn="just">
                        <a:spcAft>
                          <a:spcPts val="0"/>
                        </a:spcAft>
                      </a:pPr>
                      <a:r>
                        <a:rPr lang="zh-CN" sz="1400" kern="100" dirty="0">
                          <a:effectLst/>
                        </a:rPr>
                        <a:t>（</a:t>
                      </a:r>
                      <a:r>
                        <a:rPr lang="en-US" sz="1400" kern="100" dirty="0">
                          <a:effectLst/>
                        </a:rPr>
                        <a:t>5</a:t>
                      </a:r>
                      <a:r>
                        <a:rPr lang="zh-CN" sz="1400" kern="100" dirty="0">
                          <a:effectLst/>
                        </a:rPr>
                        <a:t>）进入管理界面，系统显示目前所建立的全部课程信息</a:t>
                      </a:r>
                    </a:p>
                    <a:p>
                      <a:pPr algn="just">
                        <a:spcAft>
                          <a:spcPts val="0"/>
                        </a:spcAft>
                      </a:pPr>
                      <a:r>
                        <a:rPr lang="zh-CN" sz="1400" kern="100" dirty="0">
                          <a:effectLst/>
                        </a:rPr>
                        <a:t>（</a:t>
                      </a:r>
                      <a:r>
                        <a:rPr lang="en-US" sz="1400" kern="100" dirty="0">
                          <a:effectLst/>
                        </a:rPr>
                        <a:t>6</a:t>
                      </a:r>
                      <a:r>
                        <a:rPr lang="zh-CN" sz="1400" kern="100" dirty="0">
                          <a:effectLst/>
                        </a:rPr>
                        <a:t>）管理员选择添加课程</a:t>
                      </a:r>
                    </a:p>
                    <a:p>
                      <a:pPr algn="just">
                        <a:spcAft>
                          <a:spcPts val="0"/>
                        </a:spcAft>
                      </a:pPr>
                      <a:r>
                        <a:rPr lang="zh-CN" sz="1400" kern="100" dirty="0">
                          <a:effectLst/>
                        </a:rPr>
                        <a:t>（</a:t>
                      </a:r>
                      <a:r>
                        <a:rPr lang="en-US" sz="1400" kern="100" dirty="0">
                          <a:effectLst/>
                        </a:rPr>
                        <a:t>7</a:t>
                      </a:r>
                      <a:r>
                        <a:rPr lang="zh-CN" sz="1400" kern="100" dirty="0">
                          <a:effectLst/>
                        </a:rPr>
                        <a:t>）系统提示输入新课程信息</a:t>
                      </a:r>
                    </a:p>
                    <a:p>
                      <a:pPr algn="just">
                        <a:spcAft>
                          <a:spcPts val="0"/>
                        </a:spcAft>
                      </a:pPr>
                      <a:r>
                        <a:rPr lang="zh-CN" sz="1400" kern="100" dirty="0">
                          <a:solidFill>
                            <a:schemeClr val="accent6">
                              <a:lumMod val="60000"/>
                              <a:lumOff val="40000"/>
                            </a:schemeClr>
                          </a:solidFill>
                          <a:effectLst/>
                        </a:rPr>
                        <a:t>（</a:t>
                      </a:r>
                      <a:r>
                        <a:rPr lang="en-US" sz="1400" kern="100" dirty="0">
                          <a:solidFill>
                            <a:schemeClr val="accent6">
                              <a:lumMod val="60000"/>
                              <a:lumOff val="40000"/>
                            </a:schemeClr>
                          </a:solidFill>
                          <a:effectLst/>
                        </a:rPr>
                        <a:t>8</a:t>
                      </a:r>
                      <a:r>
                        <a:rPr lang="zh-CN" sz="1400" kern="100" dirty="0">
                          <a:solidFill>
                            <a:schemeClr val="accent6">
                              <a:lumMod val="60000"/>
                              <a:lumOff val="40000"/>
                            </a:schemeClr>
                          </a:solidFill>
                          <a:effectLst/>
                        </a:rPr>
                        <a:t>）管理员输入信息</a:t>
                      </a:r>
                    </a:p>
                    <a:p>
                      <a:pPr algn="just">
                        <a:spcAft>
                          <a:spcPts val="0"/>
                        </a:spcAft>
                      </a:pPr>
                      <a:r>
                        <a:rPr lang="zh-CN" sz="1400" kern="100" dirty="0">
                          <a:solidFill>
                            <a:schemeClr val="accent6">
                              <a:lumMod val="60000"/>
                              <a:lumOff val="40000"/>
                            </a:schemeClr>
                          </a:solidFill>
                          <a:effectLst/>
                        </a:rPr>
                        <a:t>（</a:t>
                      </a:r>
                      <a:r>
                        <a:rPr lang="en-US" sz="1400" kern="100" dirty="0">
                          <a:solidFill>
                            <a:schemeClr val="accent6">
                              <a:lumMod val="60000"/>
                              <a:lumOff val="40000"/>
                            </a:schemeClr>
                          </a:solidFill>
                          <a:effectLst/>
                        </a:rPr>
                        <a:t>9</a:t>
                      </a:r>
                      <a:r>
                        <a:rPr lang="zh-CN" sz="1400" kern="100" dirty="0">
                          <a:solidFill>
                            <a:schemeClr val="accent6">
                              <a:lumMod val="60000"/>
                              <a:lumOff val="40000"/>
                            </a:schemeClr>
                          </a:solidFill>
                          <a:effectLst/>
                        </a:rPr>
                        <a:t>）系统验证是否和已有课程冲突</a:t>
                      </a:r>
                    </a:p>
                    <a:p>
                      <a:pPr algn="just">
                        <a:spcAft>
                          <a:spcPts val="0"/>
                        </a:spcAft>
                      </a:pPr>
                      <a:r>
                        <a:rPr lang="en-US" sz="1400" kern="100" baseline="0" dirty="0" smtClean="0">
                          <a:solidFill>
                            <a:schemeClr val="accent6">
                              <a:lumMod val="60000"/>
                              <a:lumOff val="40000"/>
                            </a:schemeClr>
                          </a:solidFill>
                          <a:effectLst/>
                        </a:rPr>
                        <a:t>        </a:t>
                      </a:r>
                      <a:r>
                        <a:rPr lang="en-US" sz="1400" kern="100" dirty="0" smtClean="0">
                          <a:solidFill>
                            <a:schemeClr val="accent6">
                              <a:lumMod val="60000"/>
                              <a:lumOff val="40000"/>
                            </a:schemeClr>
                          </a:solidFill>
                          <a:effectLst/>
                        </a:rPr>
                        <a:t>A2</a:t>
                      </a:r>
                      <a:r>
                        <a:rPr lang="en-US" sz="1400" kern="100" dirty="0">
                          <a:solidFill>
                            <a:schemeClr val="accent6">
                              <a:lumMod val="60000"/>
                              <a:lumOff val="40000"/>
                            </a:schemeClr>
                          </a:solidFill>
                          <a:effectLst/>
                        </a:rPr>
                        <a:t>:</a:t>
                      </a:r>
                      <a:r>
                        <a:rPr lang="zh-CN" sz="1400" kern="100" dirty="0">
                          <a:solidFill>
                            <a:schemeClr val="accent6">
                              <a:lumMod val="60000"/>
                              <a:lumOff val="40000"/>
                            </a:schemeClr>
                          </a:solidFill>
                          <a:effectLst/>
                        </a:rPr>
                        <a:t>有冲突</a:t>
                      </a:r>
                    </a:p>
                    <a:p>
                      <a:pPr algn="just">
                        <a:spcAft>
                          <a:spcPts val="0"/>
                        </a:spcAft>
                      </a:pPr>
                      <a:r>
                        <a:rPr lang="zh-CN" sz="1400" kern="100" dirty="0">
                          <a:solidFill>
                            <a:schemeClr val="accent6">
                              <a:lumMod val="60000"/>
                              <a:lumOff val="40000"/>
                            </a:schemeClr>
                          </a:solidFill>
                          <a:effectLst/>
                        </a:rPr>
                        <a:t>（</a:t>
                      </a:r>
                      <a:r>
                        <a:rPr lang="en-US" sz="1400" kern="100" dirty="0">
                          <a:solidFill>
                            <a:schemeClr val="accent6">
                              <a:lumMod val="60000"/>
                              <a:lumOff val="40000"/>
                            </a:schemeClr>
                          </a:solidFill>
                          <a:effectLst/>
                        </a:rPr>
                        <a:t>10</a:t>
                      </a:r>
                      <a:r>
                        <a:rPr lang="zh-CN" sz="1400" kern="100" dirty="0">
                          <a:solidFill>
                            <a:schemeClr val="accent6">
                              <a:lumMod val="60000"/>
                              <a:lumOff val="40000"/>
                            </a:schemeClr>
                          </a:solidFill>
                          <a:effectLst/>
                        </a:rPr>
                        <a:t>）系统添加新课程，提示课程添加成功</a:t>
                      </a:r>
                    </a:p>
                    <a:p>
                      <a:pPr algn="just">
                        <a:spcAft>
                          <a:spcPts val="0"/>
                        </a:spcAft>
                      </a:pPr>
                      <a:r>
                        <a:rPr lang="zh-CN" sz="1400" kern="100" dirty="0">
                          <a:solidFill>
                            <a:schemeClr val="accent6">
                              <a:lumMod val="60000"/>
                              <a:lumOff val="40000"/>
                            </a:schemeClr>
                          </a:solidFill>
                          <a:effectLst/>
                        </a:rPr>
                        <a:t>（</a:t>
                      </a:r>
                      <a:r>
                        <a:rPr lang="en-US" sz="1400" kern="100" dirty="0">
                          <a:solidFill>
                            <a:schemeClr val="accent6">
                              <a:lumMod val="60000"/>
                              <a:lumOff val="40000"/>
                            </a:schemeClr>
                          </a:solidFill>
                          <a:effectLst/>
                        </a:rPr>
                        <a:t>11</a:t>
                      </a:r>
                      <a:r>
                        <a:rPr lang="zh-CN" sz="1400" kern="100" dirty="0">
                          <a:solidFill>
                            <a:schemeClr val="accent6">
                              <a:lumMod val="60000"/>
                              <a:lumOff val="40000"/>
                            </a:schemeClr>
                          </a:solidFill>
                          <a:effectLst/>
                        </a:rPr>
                        <a:t>）系统重新进入管理主界面，显示所有课程</a:t>
                      </a:r>
                    </a:p>
                    <a:p>
                      <a:pPr algn="just">
                        <a:spcAft>
                          <a:spcPts val="0"/>
                        </a:spcAft>
                      </a:pPr>
                      <a:r>
                        <a:rPr lang="zh-CN" sz="1400" kern="100" dirty="0">
                          <a:solidFill>
                            <a:schemeClr val="accent6">
                              <a:lumMod val="60000"/>
                              <a:lumOff val="40000"/>
                            </a:schemeClr>
                          </a:solidFill>
                          <a:effectLst/>
                        </a:rPr>
                        <a:t>（</a:t>
                      </a:r>
                      <a:r>
                        <a:rPr lang="en-US" sz="1400" kern="100" dirty="0">
                          <a:solidFill>
                            <a:schemeClr val="accent6">
                              <a:lumMod val="60000"/>
                              <a:lumOff val="40000"/>
                            </a:schemeClr>
                          </a:solidFill>
                          <a:effectLst/>
                        </a:rPr>
                        <a:t>12</a:t>
                      </a:r>
                      <a:r>
                        <a:rPr lang="zh-CN" sz="1400" kern="100" dirty="0">
                          <a:solidFill>
                            <a:schemeClr val="accent6">
                              <a:lumMod val="60000"/>
                              <a:lumOff val="40000"/>
                            </a:schemeClr>
                          </a:solidFill>
                          <a:effectLst/>
                        </a:rPr>
                        <a:t>）用例结束</a:t>
                      </a:r>
                      <a:endParaRPr lang="zh-CN" sz="1400" kern="100" dirty="0">
                        <a:solidFill>
                          <a:schemeClr val="accent6">
                            <a:lumMod val="60000"/>
                            <a:lumOff val="40000"/>
                          </a:schemeClr>
                        </a:solidFill>
                        <a:effectLst/>
                        <a:latin typeface="Calibri"/>
                        <a:ea typeface="宋体"/>
                        <a:cs typeface="Times New Roman"/>
                      </a:endParaRPr>
                    </a:p>
                  </a:txBody>
                  <a:tcPr marL="68580" marR="68580" marT="0" marB="0"/>
                </a:tc>
                <a:tc>
                  <a:txBody>
                    <a:bodyPr/>
                    <a:lstStyle/>
                    <a:p>
                      <a:pPr algn="just">
                        <a:spcAft>
                          <a:spcPts val="0"/>
                        </a:spcAft>
                      </a:pPr>
                      <a:r>
                        <a:rPr lang="zh-CN" sz="1400" kern="100" dirty="0">
                          <a:effectLst/>
                        </a:rPr>
                        <a:t>其他事件流：</a:t>
                      </a:r>
                    </a:p>
                    <a:p>
                      <a:pPr algn="just">
                        <a:spcAft>
                          <a:spcPts val="0"/>
                        </a:spcAft>
                      </a:pPr>
                      <a:r>
                        <a:rPr lang="en-US" sz="1400" kern="100" dirty="0">
                          <a:effectLst/>
                        </a:rPr>
                        <a:t>A1:</a:t>
                      </a:r>
                      <a:r>
                        <a:rPr lang="zh-CN" sz="1400" kern="100" dirty="0">
                          <a:effectLst/>
                        </a:rPr>
                        <a:t>密码错误</a:t>
                      </a:r>
                    </a:p>
                    <a:p>
                      <a:pPr algn="just">
                        <a:spcAft>
                          <a:spcPts val="0"/>
                        </a:spcAft>
                      </a:pPr>
                      <a:r>
                        <a:rPr lang="zh-CN" sz="1400" kern="100" dirty="0">
                          <a:effectLst/>
                        </a:rPr>
                        <a:t>（</a:t>
                      </a:r>
                      <a:r>
                        <a:rPr lang="en-US" sz="1400" kern="100" dirty="0">
                          <a:effectLst/>
                        </a:rPr>
                        <a:t>1</a:t>
                      </a:r>
                      <a:r>
                        <a:rPr lang="zh-CN" sz="1400" kern="100" dirty="0">
                          <a:effectLst/>
                        </a:rPr>
                        <a:t>）系统提示再次输入</a:t>
                      </a:r>
                    </a:p>
                    <a:p>
                      <a:pPr algn="just">
                        <a:spcAft>
                          <a:spcPts val="0"/>
                        </a:spcAft>
                      </a:pPr>
                      <a:r>
                        <a:rPr lang="zh-CN" sz="1400" kern="100" dirty="0">
                          <a:effectLst/>
                        </a:rPr>
                        <a:t>（</a:t>
                      </a:r>
                      <a:r>
                        <a:rPr lang="en-US" sz="1400" kern="100" dirty="0">
                          <a:effectLst/>
                        </a:rPr>
                        <a:t>2</a:t>
                      </a:r>
                      <a:r>
                        <a:rPr lang="zh-CN" sz="1400" kern="100" dirty="0">
                          <a:effectLst/>
                        </a:rPr>
                        <a:t>）用户确认</a:t>
                      </a:r>
                    </a:p>
                    <a:p>
                      <a:pPr algn="just">
                        <a:spcAft>
                          <a:spcPts val="0"/>
                        </a:spcAft>
                      </a:pPr>
                      <a:r>
                        <a:rPr lang="zh-CN" sz="1400" kern="100" dirty="0">
                          <a:effectLst/>
                        </a:rPr>
                        <a:t>（</a:t>
                      </a:r>
                      <a:r>
                        <a:rPr lang="en-US" sz="1400" kern="100" dirty="0">
                          <a:effectLst/>
                        </a:rPr>
                        <a:t>3</a:t>
                      </a:r>
                      <a:r>
                        <a:rPr lang="zh-CN" sz="1400" kern="100" dirty="0">
                          <a:effectLst/>
                        </a:rPr>
                        <a:t>）三次错误，拒绝访问</a:t>
                      </a:r>
                    </a:p>
                    <a:p>
                      <a:pPr algn="just">
                        <a:spcAft>
                          <a:spcPts val="0"/>
                        </a:spcAft>
                      </a:pPr>
                      <a:r>
                        <a:rPr lang="zh-CN" sz="1400" kern="100" dirty="0">
                          <a:effectLst/>
                        </a:rPr>
                        <a:t>（</a:t>
                      </a:r>
                      <a:r>
                        <a:rPr lang="en-US" sz="1400" kern="100" dirty="0">
                          <a:effectLst/>
                        </a:rPr>
                        <a:t>4</a:t>
                      </a:r>
                      <a:r>
                        <a:rPr lang="zh-CN" sz="1400" kern="100" dirty="0">
                          <a:effectLst/>
                        </a:rPr>
                        <a:t>）否则进入建立课程时流第</a:t>
                      </a:r>
                      <a:r>
                        <a:rPr lang="en-US" sz="1400" kern="100" dirty="0">
                          <a:effectLst/>
                        </a:rPr>
                        <a:t>5</a:t>
                      </a:r>
                      <a:r>
                        <a:rPr lang="zh-CN" sz="1400" kern="100" dirty="0">
                          <a:effectLst/>
                        </a:rPr>
                        <a:t>步</a:t>
                      </a:r>
                    </a:p>
                    <a:p>
                      <a:pPr algn="just">
                        <a:spcAft>
                          <a:spcPts val="0"/>
                        </a:spcAft>
                      </a:pPr>
                      <a:r>
                        <a:rPr lang="en-US" sz="1400" kern="100" dirty="0" smtClean="0">
                          <a:effectLst/>
                        </a:rPr>
                        <a:t> </a:t>
                      </a:r>
                    </a:p>
                    <a:p>
                      <a:pPr algn="just">
                        <a:spcAft>
                          <a:spcPts val="0"/>
                        </a:spcAft>
                      </a:pPr>
                      <a:r>
                        <a:rPr lang="en-US" sz="1400" kern="100" dirty="0" smtClean="0">
                          <a:solidFill>
                            <a:schemeClr val="accent6">
                              <a:lumMod val="60000"/>
                              <a:lumOff val="40000"/>
                            </a:schemeClr>
                          </a:solidFill>
                          <a:effectLst/>
                        </a:rPr>
                        <a:t>A2</a:t>
                      </a:r>
                      <a:r>
                        <a:rPr lang="en-US" sz="1400" kern="100" dirty="0">
                          <a:solidFill>
                            <a:schemeClr val="accent6">
                              <a:lumMod val="60000"/>
                              <a:lumOff val="40000"/>
                            </a:schemeClr>
                          </a:solidFill>
                          <a:effectLst/>
                        </a:rPr>
                        <a:t>:</a:t>
                      </a:r>
                      <a:r>
                        <a:rPr lang="zh-CN" sz="1400" kern="100" dirty="0">
                          <a:solidFill>
                            <a:schemeClr val="accent6">
                              <a:lumMod val="60000"/>
                              <a:lumOff val="40000"/>
                            </a:schemeClr>
                          </a:solidFill>
                          <a:effectLst/>
                        </a:rPr>
                        <a:t>有冲突</a:t>
                      </a:r>
                    </a:p>
                    <a:p>
                      <a:pPr algn="just">
                        <a:spcAft>
                          <a:spcPts val="0"/>
                        </a:spcAft>
                      </a:pPr>
                      <a:r>
                        <a:rPr lang="zh-CN" sz="1400" kern="100" dirty="0">
                          <a:solidFill>
                            <a:schemeClr val="accent6">
                              <a:lumMod val="60000"/>
                              <a:lumOff val="40000"/>
                            </a:schemeClr>
                          </a:solidFill>
                          <a:effectLst/>
                        </a:rPr>
                        <a:t>（</a:t>
                      </a:r>
                      <a:r>
                        <a:rPr lang="en-US" sz="1400" kern="100" dirty="0">
                          <a:solidFill>
                            <a:schemeClr val="accent6">
                              <a:lumMod val="60000"/>
                              <a:lumOff val="40000"/>
                            </a:schemeClr>
                          </a:solidFill>
                          <a:effectLst/>
                        </a:rPr>
                        <a:t>1</a:t>
                      </a:r>
                      <a:r>
                        <a:rPr lang="zh-CN" sz="1400" kern="100" dirty="0">
                          <a:solidFill>
                            <a:schemeClr val="accent6">
                              <a:lumMod val="60000"/>
                              <a:lumOff val="40000"/>
                            </a:schemeClr>
                          </a:solidFill>
                          <a:effectLst/>
                        </a:rPr>
                        <a:t>）系统提示冲突，显示冲突课程信息</a:t>
                      </a:r>
                    </a:p>
                    <a:p>
                      <a:pPr algn="just">
                        <a:spcAft>
                          <a:spcPts val="0"/>
                        </a:spcAft>
                      </a:pPr>
                      <a:r>
                        <a:rPr lang="zh-CN" sz="1400" kern="100" dirty="0">
                          <a:solidFill>
                            <a:schemeClr val="accent6">
                              <a:lumMod val="60000"/>
                              <a:lumOff val="40000"/>
                            </a:schemeClr>
                          </a:solidFill>
                          <a:effectLst/>
                        </a:rPr>
                        <a:t>（</a:t>
                      </a:r>
                      <a:r>
                        <a:rPr lang="en-US" sz="1400" kern="100" dirty="0">
                          <a:solidFill>
                            <a:schemeClr val="accent6">
                              <a:lumMod val="60000"/>
                              <a:lumOff val="40000"/>
                            </a:schemeClr>
                          </a:solidFill>
                          <a:effectLst/>
                        </a:rPr>
                        <a:t>2</a:t>
                      </a:r>
                      <a:r>
                        <a:rPr lang="zh-CN" sz="1400" kern="100" dirty="0">
                          <a:solidFill>
                            <a:schemeClr val="accent6">
                              <a:lumMod val="60000"/>
                              <a:lumOff val="40000"/>
                            </a:schemeClr>
                          </a:solidFill>
                          <a:effectLst/>
                        </a:rPr>
                        <a:t>）用户重新输入</a:t>
                      </a:r>
                    </a:p>
                    <a:p>
                      <a:pPr algn="just">
                        <a:spcAft>
                          <a:spcPts val="0"/>
                        </a:spcAft>
                      </a:pPr>
                      <a:r>
                        <a:rPr lang="zh-CN" sz="1400" kern="100" dirty="0">
                          <a:solidFill>
                            <a:schemeClr val="accent6">
                              <a:lumMod val="60000"/>
                              <a:lumOff val="40000"/>
                            </a:schemeClr>
                          </a:solidFill>
                          <a:effectLst/>
                        </a:rPr>
                        <a:t>（</a:t>
                      </a:r>
                      <a:r>
                        <a:rPr lang="en-US" sz="1400" kern="100" dirty="0">
                          <a:solidFill>
                            <a:schemeClr val="accent6">
                              <a:lumMod val="60000"/>
                              <a:lumOff val="40000"/>
                            </a:schemeClr>
                          </a:solidFill>
                          <a:effectLst/>
                        </a:rPr>
                        <a:t>3</a:t>
                      </a:r>
                      <a:r>
                        <a:rPr lang="zh-CN" sz="1400" kern="100" dirty="0">
                          <a:solidFill>
                            <a:schemeClr val="accent6">
                              <a:lumMod val="60000"/>
                              <a:lumOff val="40000"/>
                            </a:schemeClr>
                          </a:solidFill>
                          <a:effectLst/>
                        </a:rPr>
                        <a:t>）继续验证直到无冲突</a:t>
                      </a:r>
                    </a:p>
                    <a:p>
                      <a:pPr algn="just">
                        <a:spcAft>
                          <a:spcPts val="0"/>
                        </a:spcAft>
                      </a:pPr>
                      <a:r>
                        <a:rPr lang="zh-CN" sz="1400" kern="100" dirty="0">
                          <a:solidFill>
                            <a:schemeClr val="accent6">
                              <a:lumMod val="60000"/>
                              <a:lumOff val="40000"/>
                            </a:schemeClr>
                          </a:solidFill>
                          <a:effectLst/>
                        </a:rPr>
                        <a:t>（</a:t>
                      </a:r>
                      <a:r>
                        <a:rPr lang="en-US" sz="1400" kern="100" dirty="0">
                          <a:solidFill>
                            <a:schemeClr val="accent6">
                              <a:lumMod val="60000"/>
                              <a:lumOff val="40000"/>
                            </a:schemeClr>
                          </a:solidFill>
                          <a:effectLst/>
                        </a:rPr>
                        <a:t>4</a:t>
                      </a:r>
                      <a:r>
                        <a:rPr lang="zh-CN" sz="1400" kern="100" dirty="0">
                          <a:solidFill>
                            <a:schemeClr val="accent6">
                              <a:lumMod val="60000"/>
                              <a:lumOff val="40000"/>
                            </a:schemeClr>
                          </a:solidFill>
                          <a:effectLst/>
                        </a:rPr>
                        <a:t>）进入建立课程事件流第</a:t>
                      </a:r>
                      <a:r>
                        <a:rPr lang="en-US" sz="1400" kern="100" dirty="0">
                          <a:solidFill>
                            <a:schemeClr val="accent6">
                              <a:lumMod val="60000"/>
                              <a:lumOff val="40000"/>
                            </a:schemeClr>
                          </a:solidFill>
                          <a:effectLst/>
                        </a:rPr>
                        <a:t>10</a:t>
                      </a:r>
                      <a:r>
                        <a:rPr lang="zh-CN" sz="1400" kern="100" dirty="0">
                          <a:solidFill>
                            <a:schemeClr val="accent6">
                              <a:lumMod val="60000"/>
                              <a:lumOff val="40000"/>
                            </a:schemeClr>
                          </a:solidFill>
                          <a:effectLst/>
                        </a:rPr>
                        <a:t>步</a:t>
                      </a:r>
                    </a:p>
                    <a:p>
                      <a:pPr algn="just">
                        <a:spcAft>
                          <a:spcPts val="0"/>
                        </a:spcAft>
                      </a:pPr>
                      <a:r>
                        <a:rPr lang="en-US" sz="1400" kern="100" dirty="0">
                          <a:effectLst/>
                        </a:rPr>
                        <a:t> </a:t>
                      </a:r>
                      <a:endParaRPr lang="zh-CN" sz="1400" kern="100" dirty="0">
                        <a:effectLst/>
                        <a:latin typeface="Calibri"/>
                        <a:ea typeface="宋体"/>
                        <a:cs typeface="Times New Roman"/>
                      </a:endParaRPr>
                    </a:p>
                  </a:txBody>
                  <a:tcPr marL="68580" marR="68580" marT="0" marB="0"/>
                </a:tc>
              </a:tr>
            </a:tbl>
          </a:graphicData>
        </a:graphic>
      </p:graphicFrame>
      <p:sp>
        <p:nvSpPr>
          <p:cNvPr id="5" name="矩形 4"/>
          <p:cNvSpPr/>
          <p:nvPr/>
        </p:nvSpPr>
        <p:spPr>
          <a:xfrm>
            <a:off x="5850194" y="1389258"/>
            <a:ext cx="6096000" cy="923330"/>
          </a:xfrm>
          <a:prstGeom prst="rect">
            <a:avLst/>
          </a:prstGeom>
        </p:spPr>
        <p:txBody>
          <a:bodyPr>
            <a:spAutoFit/>
          </a:bodyPr>
          <a:lstStyle/>
          <a:p>
            <a:r>
              <a:rPr lang="zh-CN" altLang="zh-CN" dirty="0"/>
              <a:t>因为管理员密码验证过程是个通用的过程，在建立课程、修改课程和删除课程的用例中都用到，所以可以抽取出来。剩下的事件描述如下：</a:t>
            </a:r>
            <a:endParaRPr lang="zh-CN" altLang="en-US" dirty="0"/>
          </a:p>
        </p:txBody>
      </p:sp>
      <p:graphicFrame>
        <p:nvGraphicFramePr>
          <p:cNvPr id="6" name="表格 5"/>
          <p:cNvGraphicFramePr>
            <a:graphicFrameLocks noGrp="1"/>
          </p:cNvGraphicFramePr>
          <p:nvPr>
            <p:extLst>
              <p:ext uri="{D42A27DB-BD31-4B8C-83A1-F6EECF244321}">
                <p14:modId xmlns:p14="http://schemas.microsoft.com/office/powerpoint/2010/main" val="1192710148"/>
              </p:ext>
            </p:extLst>
          </p:nvPr>
        </p:nvGraphicFramePr>
        <p:xfrm>
          <a:off x="7521675" y="2566219"/>
          <a:ext cx="4424518" cy="3864078"/>
        </p:xfrm>
        <a:graphic>
          <a:graphicData uri="http://schemas.openxmlformats.org/drawingml/2006/table">
            <a:tbl>
              <a:tblPr firstRow="1" firstCol="1" bandRow="1">
                <a:tableStyleId>{5C22544A-7EE6-4342-B048-85BDC9FD1C3A}</a:tableStyleId>
              </a:tblPr>
              <a:tblGrid>
                <a:gridCol w="2212259"/>
                <a:gridCol w="2212259"/>
              </a:tblGrid>
              <a:tr h="3864078">
                <a:tc>
                  <a:txBody>
                    <a:bodyPr/>
                    <a:lstStyle/>
                    <a:p>
                      <a:pPr algn="just">
                        <a:spcAft>
                          <a:spcPts val="0"/>
                        </a:spcAft>
                      </a:pPr>
                      <a:r>
                        <a:rPr lang="zh-CN" sz="1600" kern="100" dirty="0">
                          <a:effectLst/>
                        </a:rPr>
                        <a:t>建立课程事件流：</a:t>
                      </a:r>
                    </a:p>
                    <a:p>
                      <a:pPr algn="just">
                        <a:spcAft>
                          <a:spcPts val="0"/>
                        </a:spcAft>
                      </a:pPr>
                      <a:r>
                        <a:rPr lang="zh-CN" sz="1600" kern="100" dirty="0">
                          <a:effectLst/>
                        </a:rPr>
                        <a:t>（</a:t>
                      </a:r>
                      <a:r>
                        <a:rPr lang="en-US" sz="1600" kern="100" dirty="0">
                          <a:effectLst/>
                        </a:rPr>
                        <a:t>8</a:t>
                      </a:r>
                      <a:r>
                        <a:rPr lang="zh-CN" sz="1600" kern="100" dirty="0">
                          <a:effectLst/>
                        </a:rPr>
                        <a:t>）管理员输入信息</a:t>
                      </a:r>
                    </a:p>
                    <a:p>
                      <a:pPr algn="just">
                        <a:spcAft>
                          <a:spcPts val="0"/>
                        </a:spcAft>
                      </a:pPr>
                      <a:r>
                        <a:rPr lang="zh-CN" sz="1600" kern="100" dirty="0">
                          <a:effectLst/>
                        </a:rPr>
                        <a:t>（</a:t>
                      </a:r>
                      <a:r>
                        <a:rPr lang="en-US" sz="1600" kern="100" dirty="0">
                          <a:effectLst/>
                        </a:rPr>
                        <a:t>9</a:t>
                      </a:r>
                      <a:r>
                        <a:rPr lang="zh-CN" sz="1600" kern="100" dirty="0">
                          <a:effectLst/>
                        </a:rPr>
                        <a:t>）系统验证是否和已有课程冲突</a:t>
                      </a:r>
                    </a:p>
                    <a:p>
                      <a:pPr algn="just">
                        <a:spcAft>
                          <a:spcPts val="0"/>
                        </a:spcAft>
                      </a:pPr>
                      <a:r>
                        <a:rPr lang="en-US" sz="1600" kern="100" baseline="0" dirty="0" smtClean="0">
                          <a:effectLst/>
                        </a:rPr>
                        <a:t>         </a:t>
                      </a:r>
                      <a:r>
                        <a:rPr lang="en-US" sz="1600" kern="100" dirty="0" smtClean="0">
                          <a:effectLst/>
                        </a:rPr>
                        <a:t>A2</a:t>
                      </a:r>
                      <a:r>
                        <a:rPr lang="en-US" sz="1600" kern="100" dirty="0">
                          <a:effectLst/>
                        </a:rPr>
                        <a:t>:</a:t>
                      </a:r>
                      <a:r>
                        <a:rPr lang="zh-CN" sz="1600" kern="100" dirty="0">
                          <a:effectLst/>
                        </a:rPr>
                        <a:t>有冲突</a:t>
                      </a:r>
                    </a:p>
                    <a:p>
                      <a:pPr algn="just">
                        <a:spcAft>
                          <a:spcPts val="0"/>
                        </a:spcAft>
                      </a:pPr>
                      <a:r>
                        <a:rPr lang="zh-CN" sz="1600" kern="100" dirty="0">
                          <a:effectLst/>
                        </a:rPr>
                        <a:t>（</a:t>
                      </a:r>
                      <a:r>
                        <a:rPr lang="en-US" sz="1600" kern="100" dirty="0">
                          <a:effectLst/>
                        </a:rPr>
                        <a:t>10</a:t>
                      </a:r>
                      <a:r>
                        <a:rPr lang="zh-CN" sz="1600" kern="100" dirty="0">
                          <a:effectLst/>
                        </a:rPr>
                        <a:t>）系统添加新课程，提示课程添加成功</a:t>
                      </a:r>
                    </a:p>
                    <a:p>
                      <a:pPr algn="just">
                        <a:spcAft>
                          <a:spcPts val="0"/>
                        </a:spcAft>
                      </a:pPr>
                      <a:r>
                        <a:rPr lang="zh-CN" sz="1600" kern="100" dirty="0">
                          <a:effectLst/>
                        </a:rPr>
                        <a:t>（</a:t>
                      </a:r>
                      <a:r>
                        <a:rPr lang="en-US" sz="1600" kern="100" dirty="0">
                          <a:effectLst/>
                        </a:rPr>
                        <a:t>11</a:t>
                      </a:r>
                      <a:r>
                        <a:rPr lang="zh-CN" sz="1600" kern="100" dirty="0">
                          <a:effectLst/>
                        </a:rPr>
                        <a:t>）系统重新进入管理主界面，显示所有课程</a:t>
                      </a:r>
                    </a:p>
                    <a:p>
                      <a:pPr algn="just">
                        <a:spcAft>
                          <a:spcPts val="0"/>
                        </a:spcAft>
                      </a:pPr>
                      <a:r>
                        <a:rPr lang="zh-CN" sz="1600" kern="100" dirty="0">
                          <a:effectLst/>
                        </a:rPr>
                        <a:t>（</a:t>
                      </a:r>
                      <a:r>
                        <a:rPr lang="en-US" sz="1600" kern="100" dirty="0">
                          <a:effectLst/>
                        </a:rPr>
                        <a:t>12</a:t>
                      </a:r>
                      <a:r>
                        <a:rPr lang="zh-CN" sz="1600" kern="100" dirty="0">
                          <a:effectLst/>
                        </a:rPr>
                        <a:t>）用例结束</a:t>
                      </a:r>
                      <a:endParaRPr lang="zh-CN" sz="1600" kern="100" dirty="0">
                        <a:effectLst/>
                        <a:latin typeface="Calibri"/>
                        <a:ea typeface="宋体"/>
                        <a:cs typeface="Times New Roman"/>
                      </a:endParaRPr>
                    </a:p>
                  </a:txBody>
                  <a:tcPr marL="68580" marR="68580" marT="0" marB="0"/>
                </a:tc>
                <a:tc>
                  <a:txBody>
                    <a:bodyPr/>
                    <a:lstStyle/>
                    <a:p>
                      <a:pPr algn="just">
                        <a:spcAft>
                          <a:spcPts val="0"/>
                        </a:spcAft>
                      </a:pPr>
                      <a:r>
                        <a:rPr lang="zh-CN" sz="1600" kern="100" dirty="0">
                          <a:effectLst/>
                        </a:rPr>
                        <a:t>其他事件流：</a:t>
                      </a:r>
                    </a:p>
                    <a:p>
                      <a:pPr algn="just">
                        <a:spcAft>
                          <a:spcPts val="0"/>
                        </a:spcAft>
                      </a:pPr>
                      <a:r>
                        <a:rPr lang="en-US" sz="1600" kern="100" dirty="0">
                          <a:effectLst/>
                        </a:rPr>
                        <a:t>A2:</a:t>
                      </a:r>
                      <a:r>
                        <a:rPr lang="zh-CN" sz="1600" kern="100" dirty="0">
                          <a:effectLst/>
                        </a:rPr>
                        <a:t>有冲突</a:t>
                      </a:r>
                    </a:p>
                    <a:p>
                      <a:pPr algn="just">
                        <a:spcAft>
                          <a:spcPts val="0"/>
                        </a:spcAft>
                      </a:pPr>
                      <a:r>
                        <a:rPr lang="zh-CN" sz="1600" kern="100" dirty="0">
                          <a:effectLst/>
                        </a:rPr>
                        <a:t>（</a:t>
                      </a:r>
                      <a:r>
                        <a:rPr lang="en-US" sz="1600" kern="100" dirty="0">
                          <a:effectLst/>
                        </a:rPr>
                        <a:t>1</a:t>
                      </a:r>
                      <a:r>
                        <a:rPr lang="zh-CN" sz="1600" kern="100" dirty="0">
                          <a:effectLst/>
                        </a:rPr>
                        <a:t>）系统提示冲突，显示冲突课程信息</a:t>
                      </a:r>
                    </a:p>
                    <a:p>
                      <a:pPr algn="just">
                        <a:spcAft>
                          <a:spcPts val="0"/>
                        </a:spcAft>
                      </a:pPr>
                      <a:r>
                        <a:rPr lang="zh-CN" sz="1600" kern="100" dirty="0">
                          <a:effectLst/>
                        </a:rPr>
                        <a:t>（</a:t>
                      </a:r>
                      <a:r>
                        <a:rPr lang="en-US" sz="1600" kern="100" dirty="0">
                          <a:effectLst/>
                        </a:rPr>
                        <a:t>2</a:t>
                      </a:r>
                      <a:r>
                        <a:rPr lang="zh-CN" sz="1600" kern="100" dirty="0">
                          <a:effectLst/>
                        </a:rPr>
                        <a:t>）用户重新输入</a:t>
                      </a:r>
                    </a:p>
                    <a:p>
                      <a:pPr algn="just">
                        <a:spcAft>
                          <a:spcPts val="0"/>
                        </a:spcAft>
                      </a:pPr>
                      <a:r>
                        <a:rPr lang="zh-CN" sz="1600" kern="100" dirty="0">
                          <a:effectLst/>
                        </a:rPr>
                        <a:t>（</a:t>
                      </a:r>
                      <a:r>
                        <a:rPr lang="en-US" sz="1600" kern="100" dirty="0">
                          <a:effectLst/>
                        </a:rPr>
                        <a:t>3</a:t>
                      </a:r>
                      <a:r>
                        <a:rPr lang="zh-CN" sz="1600" kern="100" dirty="0">
                          <a:effectLst/>
                        </a:rPr>
                        <a:t>）继续验证直到无冲突</a:t>
                      </a:r>
                    </a:p>
                    <a:p>
                      <a:pPr algn="just">
                        <a:spcAft>
                          <a:spcPts val="0"/>
                        </a:spcAft>
                      </a:pPr>
                      <a:r>
                        <a:rPr lang="zh-CN" sz="1600" kern="100" dirty="0">
                          <a:effectLst/>
                        </a:rPr>
                        <a:t>（</a:t>
                      </a:r>
                      <a:r>
                        <a:rPr lang="en-US" sz="1600" kern="100" dirty="0">
                          <a:effectLst/>
                        </a:rPr>
                        <a:t>4</a:t>
                      </a:r>
                      <a:r>
                        <a:rPr lang="zh-CN" sz="1600" kern="100" dirty="0">
                          <a:effectLst/>
                        </a:rPr>
                        <a:t>）进入建立课程事件流第</a:t>
                      </a:r>
                      <a:r>
                        <a:rPr lang="en-US" sz="1600" kern="100" dirty="0">
                          <a:effectLst/>
                        </a:rPr>
                        <a:t>10</a:t>
                      </a:r>
                      <a:r>
                        <a:rPr lang="zh-CN" sz="1600" kern="100" dirty="0">
                          <a:effectLst/>
                        </a:rPr>
                        <a:t>步</a:t>
                      </a:r>
                    </a:p>
                    <a:p>
                      <a:pPr algn="just">
                        <a:spcAft>
                          <a:spcPts val="0"/>
                        </a:spcAft>
                      </a:pPr>
                      <a:r>
                        <a:rPr lang="en-US" sz="1600" kern="100" dirty="0">
                          <a:effectLst/>
                        </a:rPr>
                        <a:t> </a:t>
                      </a:r>
                      <a:endParaRPr lang="zh-CN" sz="1600" kern="100" dirty="0">
                        <a:effectLst/>
                        <a:latin typeface="Calibri"/>
                        <a:ea typeface="宋体"/>
                        <a:cs typeface="Times New Roman"/>
                      </a:endParaRPr>
                    </a:p>
                  </a:txBody>
                  <a:tcPr marL="68580" marR="68580" marT="0" marB="0"/>
                </a:tc>
              </a:tr>
            </a:tbl>
          </a:graphicData>
        </a:graphic>
      </p:graphicFrame>
    </p:spTree>
    <p:extLst>
      <p:ext uri="{BB962C8B-B14F-4D97-AF65-F5344CB8AC3E}">
        <p14:creationId xmlns:p14="http://schemas.microsoft.com/office/powerpoint/2010/main" val="69215663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3.4</a:t>
            </a:r>
            <a:r>
              <a:rPr lang="zh-CN" altLang="zh-CN" dirty="0"/>
              <a:t>面向对象需求分析方法</a:t>
            </a:r>
            <a:endParaRPr lang="zh-CN" altLang="en-US" dirty="0"/>
          </a:p>
        </p:txBody>
      </p:sp>
      <p:sp>
        <p:nvSpPr>
          <p:cNvPr id="3" name="内容占位符 2"/>
          <p:cNvSpPr>
            <a:spLocks noGrp="1"/>
          </p:cNvSpPr>
          <p:nvPr>
            <p:ph idx="1"/>
          </p:nvPr>
        </p:nvSpPr>
        <p:spPr/>
        <p:txBody>
          <a:bodyPr>
            <a:normAutofit/>
          </a:bodyPr>
          <a:lstStyle/>
          <a:p>
            <a:r>
              <a:rPr lang="zh-CN" altLang="zh-CN" sz="2000" dirty="0"/>
              <a:t>建立课程的活动图如下：</a:t>
            </a:r>
            <a:endParaRPr lang="zh-CN" altLang="en-US" sz="2000" dirty="0"/>
          </a:p>
        </p:txBody>
      </p:sp>
      <p:pic>
        <p:nvPicPr>
          <p:cNvPr id="5122" name="图片 39"/>
          <p:cNvPicPr>
            <a:picLocks noChangeAspect="1" noChangeArrowheads="1"/>
          </p:cNvPicPr>
          <p:nvPr/>
        </p:nvPicPr>
        <p:blipFill>
          <a:blip r:embed="rId2">
            <a:extLst>
              <a:ext uri="{28A0092B-C50C-407E-A947-70E740481C1C}">
                <a14:useLocalDpi xmlns:a14="http://schemas.microsoft.com/office/drawing/2010/main" val="0"/>
              </a:ext>
            </a:extLst>
          </a:blip>
          <a:srcRect l="63235" t="38116" r="13741" b="17313"/>
          <a:stretch>
            <a:fillRect/>
          </a:stretch>
        </p:blipFill>
        <p:spPr bwMode="auto">
          <a:xfrm>
            <a:off x="4077928" y="1768577"/>
            <a:ext cx="4697361" cy="5109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031410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3.4</a:t>
            </a:r>
            <a:r>
              <a:rPr lang="zh-CN" altLang="zh-CN" dirty="0"/>
              <a:t>面向对象需求分析方法</a:t>
            </a:r>
            <a:endParaRPr lang="zh-CN" altLang="en-US" dirty="0"/>
          </a:p>
        </p:txBody>
      </p:sp>
      <p:sp>
        <p:nvSpPr>
          <p:cNvPr id="3" name="内容占位符 2"/>
          <p:cNvSpPr>
            <a:spLocks noGrp="1"/>
          </p:cNvSpPr>
          <p:nvPr>
            <p:ph idx="1"/>
          </p:nvPr>
        </p:nvSpPr>
        <p:spPr>
          <a:xfrm>
            <a:off x="838200" y="1825625"/>
            <a:ext cx="4515465" cy="4351338"/>
          </a:xfrm>
        </p:spPr>
        <p:txBody>
          <a:bodyPr>
            <a:normAutofit/>
          </a:bodyPr>
          <a:lstStyle/>
          <a:p>
            <a:r>
              <a:rPr lang="en-US" altLang="zh-CN" sz="2000" b="1" dirty="0"/>
              <a:t>7</a:t>
            </a:r>
            <a:r>
              <a:rPr lang="zh-CN" altLang="zh-CN" sz="2000" b="1" dirty="0"/>
              <a:t>）状态图</a:t>
            </a:r>
          </a:p>
          <a:p>
            <a:r>
              <a:rPr lang="zh-CN" altLang="zh-CN" sz="2000" dirty="0"/>
              <a:t>状态图显示对象的可能状态以及状态之间的迁移，它回答的问题是对象在某时刻处于什么状态。</a:t>
            </a:r>
          </a:p>
          <a:p>
            <a:r>
              <a:rPr lang="zh-CN" altLang="zh-CN" sz="2000" dirty="0"/>
              <a:t>例如：课程对象被创建，添加到数据库中，管理员可以删除、修改课程信息，在某个学期，开设该课程，如果选修人数超过指定人数，就不再允许学生选这门课。学期结束，课程的状态终止。</a:t>
            </a:r>
          </a:p>
          <a:p>
            <a:endParaRPr lang="zh-CN" altLang="en-US" sz="2000" dirty="0"/>
          </a:p>
        </p:txBody>
      </p:sp>
      <p:pic>
        <p:nvPicPr>
          <p:cNvPr id="6146" name="图片 40"/>
          <p:cNvPicPr>
            <a:picLocks noChangeAspect="1" noChangeArrowheads="1"/>
          </p:cNvPicPr>
          <p:nvPr/>
        </p:nvPicPr>
        <p:blipFill>
          <a:blip r:embed="rId2">
            <a:extLst>
              <a:ext uri="{28A0092B-C50C-407E-A947-70E740481C1C}">
                <a14:useLocalDpi xmlns:a14="http://schemas.microsoft.com/office/drawing/2010/main" val="0"/>
              </a:ext>
            </a:extLst>
          </a:blip>
          <a:srcRect l="44566" t="49466" r="25909" b="20256"/>
          <a:stretch>
            <a:fillRect/>
          </a:stretch>
        </p:blipFill>
        <p:spPr bwMode="auto">
          <a:xfrm>
            <a:off x="5906729" y="2028518"/>
            <a:ext cx="6356479" cy="3679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031410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3.4</a:t>
            </a:r>
            <a:r>
              <a:rPr lang="zh-CN" altLang="zh-CN" dirty="0"/>
              <a:t>面向对象需求分析方法</a:t>
            </a:r>
            <a:endParaRPr lang="zh-CN" altLang="en-US" dirty="0"/>
          </a:p>
        </p:txBody>
      </p:sp>
      <p:sp>
        <p:nvSpPr>
          <p:cNvPr id="3" name="内容占位符 2"/>
          <p:cNvSpPr>
            <a:spLocks noGrp="1"/>
          </p:cNvSpPr>
          <p:nvPr>
            <p:ph idx="1"/>
          </p:nvPr>
        </p:nvSpPr>
        <p:spPr/>
        <p:txBody>
          <a:bodyPr>
            <a:normAutofit/>
          </a:bodyPr>
          <a:lstStyle/>
          <a:p>
            <a:r>
              <a:rPr lang="en-US" altLang="zh-CN" sz="2400" b="1" dirty="0"/>
              <a:t>3.4.2</a:t>
            </a:r>
            <a:r>
              <a:rPr lang="zh-CN" altLang="zh-CN" sz="2400" b="1" dirty="0"/>
              <a:t>面向对象需求分析的基本过程</a:t>
            </a:r>
          </a:p>
          <a:p>
            <a:r>
              <a:rPr lang="zh-CN" altLang="zh-CN" sz="2400" dirty="0"/>
              <a:t>系统分析过程是一个不断获取需求及不断与用户磋商的过程。</a:t>
            </a:r>
            <a:r>
              <a:rPr lang="en-US" altLang="zh-CN" sz="2400" dirty="0"/>
              <a:t>OOA</a:t>
            </a:r>
            <a:r>
              <a:rPr lang="zh-CN" altLang="zh-CN" sz="2400" dirty="0"/>
              <a:t>是抽取和整理用户需求并建立问题域精确模型的过程，基本过程如下：</a:t>
            </a:r>
          </a:p>
          <a:p>
            <a:r>
              <a:rPr lang="en-US" altLang="zh-CN" sz="2400" dirty="0"/>
              <a:t>1</a:t>
            </a:r>
            <a:r>
              <a:rPr lang="zh-CN" altLang="zh-CN" sz="2400" dirty="0"/>
              <a:t>）问题域分析；</a:t>
            </a:r>
          </a:p>
          <a:p>
            <a:r>
              <a:rPr lang="en-US" altLang="zh-CN" sz="2400" dirty="0"/>
              <a:t>2</a:t>
            </a:r>
            <a:r>
              <a:rPr lang="zh-CN" altLang="zh-CN" sz="2400" dirty="0"/>
              <a:t>）发现和定义对象与类；</a:t>
            </a:r>
          </a:p>
          <a:p>
            <a:r>
              <a:rPr lang="en-US" altLang="zh-CN" sz="2400" dirty="0"/>
              <a:t>3</a:t>
            </a:r>
            <a:r>
              <a:rPr lang="zh-CN" altLang="zh-CN" sz="2400" dirty="0"/>
              <a:t>）识别对象的外部联系；</a:t>
            </a:r>
          </a:p>
          <a:p>
            <a:r>
              <a:rPr lang="en-US" altLang="zh-CN" sz="2400" dirty="0"/>
              <a:t>4</a:t>
            </a:r>
            <a:r>
              <a:rPr lang="zh-CN" altLang="zh-CN" sz="2400" dirty="0"/>
              <a:t>）建立系统的静态结构模型；</a:t>
            </a:r>
          </a:p>
          <a:p>
            <a:r>
              <a:rPr lang="en-US" altLang="zh-CN" sz="2400" dirty="0"/>
              <a:t>5</a:t>
            </a:r>
            <a:r>
              <a:rPr lang="zh-CN" altLang="zh-CN" sz="2400" dirty="0"/>
              <a:t>）建立系统的动态结构模型。</a:t>
            </a:r>
          </a:p>
          <a:p>
            <a:endParaRPr lang="zh-CN" altLang="en-US" sz="2400" dirty="0"/>
          </a:p>
        </p:txBody>
      </p:sp>
    </p:spTree>
    <p:extLst>
      <p:ext uri="{BB962C8B-B14F-4D97-AF65-F5344CB8AC3E}">
        <p14:creationId xmlns:p14="http://schemas.microsoft.com/office/powerpoint/2010/main" val="42503141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3.4</a:t>
            </a:r>
            <a:r>
              <a:rPr lang="zh-CN" altLang="zh-CN" dirty="0"/>
              <a:t>面向对象需求分析方法</a:t>
            </a:r>
            <a:endParaRPr lang="zh-CN" altLang="en-US" dirty="0"/>
          </a:p>
        </p:txBody>
      </p:sp>
      <p:sp>
        <p:nvSpPr>
          <p:cNvPr id="3" name="内容占位符 2"/>
          <p:cNvSpPr>
            <a:spLocks noGrp="1"/>
          </p:cNvSpPr>
          <p:nvPr>
            <p:ph idx="1"/>
          </p:nvPr>
        </p:nvSpPr>
        <p:spPr>
          <a:xfrm>
            <a:off x="263012" y="1651538"/>
            <a:ext cx="4648200" cy="4351338"/>
          </a:xfrm>
        </p:spPr>
        <p:txBody>
          <a:bodyPr>
            <a:normAutofit fontScale="62500" lnSpcReduction="20000"/>
          </a:bodyPr>
          <a:lstStyle/>
          <a:p>
            <a:r>
              <a:rPr lang="zh-CN" altLang="zh-CN" dirty="0"/>
              <a:t>详细描述</a:t>
            </a:r>
            <a:r>
              <a:rPr lang="en-US" altLang="zh-CN" dirty="0"/>
              <a:t>OOA</a:t>
            </a:r>
            <a:r>
              <a:rPr lang="zh-CN" altLang="zh-CN" dirty="0"/>
              <a:t>的过程如下：</a:t>
            </a:r>
          </a:p>
          <a:p>
            <a:r>
              <a:rPr lang="en-US" altLang="zh-CN" dirty="0"/>
              <a:t>1</a:t>
            </a:r>
            <a:r>
              <a:rPr lang="zh-CN" altLang="zh-CN" dirty="0"/>
              <a:t>） 问题陈述</a:t>
            </a:r>
          </a:p>
          <a:p>
            <a:r>
              <a:rPr lang="zh-CN" altLang="zh-CN" dirty="0"/>
              <a:t>问题陈述为记下或获取对问题的初步描述。</a:t>
            </a:r>
          </a:p>
          <a:p>
            <a:r>
              <a:rPr lang="en-US" altLang="zh-CN" dirty="0"/>
              <a:t>2</a:t>
            </a:r>
            <a:r>
              <a:rPr lang="zh-CN" altLang="zh-CN" dirty="0"/>
              <a:t>）构造对象模型</a:t>
            </a:r>
          </a:p>
          <a:p>
            <a:r>
              <a:rPr lang="zh-CN" altLang="zh-CN" dirty="0"/>
              <a:t>构造对象模型的步骤如下：</a:t>
            </a:r>
          </a:p>
          <a:p>
            <a:r>
              <a:rPr lang="en-US" altLang="zh-CN" dirty="0"/>
              <a:t>(1) </a:t>
            </a:r>
            <a:r>
              <a:rPr lang="zh-CN" altLang="zh-CN" dirty="0"/>
              <a:t>确定对象类。</a:t>
            </a:r>
          </a:p>
          <a:p>
            <a:r>
              <a:rPr lang="en-US" altLang="zh-CN" dirty="0"/>
              <a:t>(2) </a:t>
            </a:r>
            <a:r>
              <a:rPr lang="zh-CN" altLang="zh-CN" dirty="0"/>
              <a:t>编制描述类、属性及关联的数据词典。</a:t>
            </a:r>
          </a:p>
          <a:p>
            <a:r>
              <a:rPr lang="en-US" altLang="zh-CN" dirty="0"/>
              <a:t>(3) </a:t>
            </a:r>
            <a:r>
              <a:rPr lang="zh-CN" altLang="zh-CN" dirty="0"/>
              <a:t>在类之间加入关联。</a:t>
            </a:r>
          </a:p>
          <a:p>
            <a:r>
              <a:rPr lang="en-US" altLang="zh-CN" dirty="0"/>
              <a:t>(4) </a:t>
            </a:r>
            <a:r>
              <a:rPr lang="zh-CN" altLang="zh-CN" dirty="0"/>
              <a:t>给对象加入属性。</a:t>
            </a:r>
          </a:p>
          <a:p>
            <a:r>
              <a:rPr lang="en-US" altLang="zh-CN" dirty="0"/>
              <a:t>(5) </a:t>
            </a:r>
            <a:r>
              <a:rPr lang="zh-CN" altLang="zh-CN" dirty="0"/>
              <a:t>使用继承来构造和简化对象类。</a:t>
            </a:r>
          </a:p>
          <a:p>
            <a:r>
              <a:rPr lang="en-US" altLang="zh-CN" dirty="0"/>
              <a:t>(6) </a:t>
            </a:r>
            <a:r>
              <a:rPr lang="zh-CN" altLang="zh-CN" dirty="0"/>
              <a:t>将类组合成模块，这种组合在紧耦合和相关功能上进行。</a:t>
            </a:r>
          </a:p>
          <a:p>
            <a:r>
              <a:rPr lang="zh-CN" altLang="zh-CN" dirty="0"/>
              <a:t>最后得到：对象模型＝对象模型图＋数据词典。</a:t>
            </a:r>
          </a:p>
          <a:p>
            <a:endParaRPr lang="zh-CN" altLang="en-US" dirty="0"/>
          </a:p>
        </p:txBody>
      </p:sp>
      <p:sp>
        <p:nvSpPr>
          <p:cNvPr id="4" name="矩形 3"/>
          <p:cNvSpPr/>
          <p:nvPr/>
        </p:nvSpPr>
        <p:spPr>
          <a:xfrm>
            <a:off x="5466735" y="1311783"/>
            <a:ext cx="6096000" cy="5355312"/>
          </a:xfrm>
          <a:prstGeom prst="rect">
            <a:avLst/>
          </a:prstGeom>
        </p:spPr>
        <p:txBody>
          <a:bodyPr>
            <a:spAutoFit/>
          </a:bodyPr>
          <a:lstStyle/>
          <a:p>
            <a:r>
              <a:rPr lang="en-US" altLang="zh-CN" dirty="0"/>
              <a:t>3</a:t>
            </a:r>
            <a:r>
              <a:rPr lang="zh-CN" altLang="zh-CN" dirty="0"/>
              <a:t>） 构造动态模型</a:t>
            </a:r>
          </a:p>
          <a:p>
            <a:r>
              <a:rPr lang="zh-CN" altLang="zh-CN" dirty="0"/>
              <a:t>构造动态模型的步骤如下：</a:t>
            </a:r>
          </a:p>
          <a:p>
            <a:r>
              <a:rPr lang="en-US" altLang="zh-CN" dirty="0"/>
              <a:t>(1) </a:t>
            </a:r>
            <a:r>
              <a:rPr lang="zh-CN" altLang="zh-CN" dirty="0"/>
              <a:t>准备典型交互序列的脚本。</a:t>
            </a:r>
          </a:p>
          <a:p>
            <a:r>
              <a:rPr lang="en-US" altLang="zh-CN" dirty="0"/>
              <a:t>(2) </a:t>
            </a:r>
            <a:r>
              <a:rPr lang="zh-CN" altLang="zh-CN" dirty="0"/>
              <a:t>确定对象间的事件并为各脚本安排事件跟踪。</a:t>
            </a:r>
          </a:p>
          <a:p>
            <a:r>
              <a:rPr lang="en-US" altLang="zh-CN" dirty="0"/>
              <a:t>(3) </a:t>
            </a:r>
            <a:r>
              <a:rPr lang="zh-CN" altLang="zh-CN" dirty="0"/>
              <a:t>准备系统的事件流图。</a:t>
            </a:r>
          </a:p>
          <a:p>
            <a:r>
              <a:rPr lang="en-US" altLang="zh-CN" dirty="0"/>
              <a:t>(4) </a:t>
            </a:r>
            <a:r>
              <a:rPr lang="zh-CN" altLang="zh-CN" dirty="0"/>
              <a:t>开发具有重要动态行为的各个类的状态图。</a:t>
            </a:r>
          </a:p>
          <a:p>
            <a:r>
              <a:rPr lang="en-US" altLang="zh-CN" dirty="0"/>
              <a:t>(5) </a:t>
            </a:r>
            <a:r>
              <a:rPr lang="zh-CN" altLang="zh-CN" dirty="0"/>
              <a:t>检查状态图中共享事件的一致性和完整性。</a:t>
            </a:r>
          </a:p>
          <a:p>
            <a:r>
              <a:rPr lang="zh-CN" altLang="zh-CN" dirty="0"/>
              <a:t>最后得到：动态模型＝状态图＋全局事件流图。</a:t>
            </a:r>
          </a:p>
          <a:p>
            <a:r>
              <a:rPr lang="en-US" altLang="zh-CN" dirty="0"/>
              <a:t>4</a:t>
            </a:r>
            <a:r>
              <a:rPr lang="zh-CN" altLang="zh-CN" dirty="0"/>
              <a:t>）构造功能模型</a:t>
            </a:r>
          </a:p>
          <a:p>
            <a:r>
              <a:rPr lang="zh-CN" altLang="zh-CN" dirty="0"/>
              <a:t>构造功能模型的步骤如下：</a:t>
            </a:r>
          </a:p>
          <a:p>
            <a:r>
              <a:rPr lang="en-US" altLang="zh-CN" dirty="0"/>
              <a:t>(1) </a:t>
            </a:r>
            <a:r>
              <a:rPr lang="zh-CN" altLang="zh-CN" dirty="0"/>
              <a:t>确定输入、输出值。</a:t>
            </a:r>
          </a:p>
          <a:p>
            <a:r>
              <a:rPr lang="en-US" altLang="zh-CN" dirty="0"/>
              <a:t>(2) </a:t>
            </a:r>
            <a:r>
              <a:rPr lang="zh-CN" altLang="zh-CN" dirty="0"/>
              <a:t>需要时使用数据流图来表示功能依赖关系。</a:t>
            </a:r>
          </a:p>
          <a:p>
            <a:r>
              <a:rPr lang="en-US" altLang="zh-CN" dirty="0"/>
              <a:t>(3) </a:t>
            </a:r>
            <a:r>
              <a:rPr lang="zh-CN" altLang="zh-CN" dirty="0"/>
              <a:t>描述各功能“干什么”。</a:t>
            </a:r>
          </a:p>
          <a:p>
            <a:r>
              <a:rPr lang="en-US" altLang="zh-CN" dirty="0"/>
              <a:t>(4) </a:t>
            </a:r>
            <a:r>
              <a:rPr lang="zh-CN" altLang="zh-CN" dirty="0"/>
              <a:t>确定约束。</a:t>
            </a:r>
          </a:p>
          <a:p>
            <a:r>
              <a:rPr lang="en-US" altLang="zh-CN" dirty="0"/>
              <a:t>(5) </a:t>
            </a:r>
            <a:r>
              <a:rPr lang="zh-CN" altLang="zh-CN" dirty="0"/>
              <a:t>详细说明优化标准。</a:t>
            </a:r>
          </a:p>
          <a:p>
            <a:r>
              <a:rPr lang="zh-CN" altLang="zh-CN" dirty="0"/>
              <a:t>最后得到：功能模型＝数据流图＋约束。</a:t>
            </a:r>
          </a:p>
          <a:p>
            <a:r>
              <a:rPr lang="en-US" altLang="zh-CN" dirty="0"/>
              <a:t>5</a:t>
            </a:r>
            <a:r>
              <a:rPr lang="zh-CN" altLang="zh-CN" dirty="0"/>
              <a:t>）验证、重复并完善细化</a:t>
            </a:r>
            <a:r>
              <a:rPr lang="en-US" altLang="zh-CN" dirty="0"/>
              <a:t>3</a:t>
            </a:r>
            <a:r>
              <a:rPr lang="zh-CN" altLang="zh-CN" dirty="0"/>
              <a:t>种模型</a:t>
            </a:r>
          </a:p>
          <a:p>
            <a:r>
              <a:rPr lang="zh-CN" altLang="zh-CN" dirty="0"/>
              <a:t>最后得到：分析文档＝问题陈述＋对象模型＋动态模型＋功能模型。</a:t>
            </a:r>
            <a:endParaRPr lang="zh-CN" altLang="zh-CN" dirty="0"/>
          </a:p>
        </p:txBody>
      </p:sp>
    </p:spTree>
    <p:extLst>
      <p:ext uri="{BB962C8B-B14F-4D97-AF65-F5344CB8AC3E}">
        <p14:creationId xmlns:p14="http://schemas.microsoft.com/office/powerpoint/2010/main" val="425031410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3.4</a:t>
            </a:r>
            <a:r>
              <a:rPr lang="zh-CN" altLang="zh-CN" dirty="0"/>
              <a:t>面向对象需求分析方法</a:t>
            </a:r>
            <a:endParaRPr lang="zh-CN" altLang="en-US" dirty="0"/>
          </a:p>
        </p:txBody>
      </p:sp>
      <p:sp>
        <p:nvSpPr>
          <p:cNvPr id="3" name="内容占位符 2"/>
          <p:cNvSpPr>
            <a:spLocks noGrp="1"/>
          </p:cNvSpPr>
          <p:nvPr>
            <p:ph idx="1"/>
          </p:nvPr>
        </p:nvSpPr>
        <p:spPr>
          <a:xfrm>
            <a:off x="440004" y="1825625"/>
            <a:ext cx="5149645" cy="4351338"/>
          </a:xfrm>
        </p:spPr>
        <p:txBody>
          <a:bodyPr>
            <a:normAutofit/>
          </a:bodyPr>
          <a:lstStyle/>
          <a:p>
            <a:r>
              <a:rPr lang="zh-CN" altLang="zh-CN" sz="2000" dirty="0"/>
              <a:t>用例分析由几部分组成：</a:t>
            </a:r>
          </a:p>
          <a:p>
            <a:r>
              <a:rPr lang="zh-CN" altLang="zh-CN" sz="2000" dirty="0"/>
              <a:t>（</a:t>
            </a:r>
            <a:r>
              <a:rPr lang="en-US" altLang="zh-CN" sz="2000" dirty="0"/>
              <a:t>1</a:t>
            </a:r>
            <a:r>
              <a:rPr lang="zh-CN" altLang="zh-CN" sz="2000" dirty="0"/>
              <a:t>）每个用例包括： </a:t>
            </a:r>
          </a:p>
          <a:p>
            <a:r>
              <a:rPr lang="zh-CN" altLang="zh-CN" sz="2000" dirty="0"/>
              <a:t>（</a:t>
            </a:r>
            <a:r>
              <a:rPr lang="en-US" altLang="zh-CN" sz="2000" dirty="0"/>
              <a:t>a</a:t>
            </a:r>
            <a:r>
              <a:rPr lang="zh-CN" altLang="zh-CN" sz="2000" dirty="0"/>
              <a:t>）建立一个用例实现</a:t>
            </a:r>
          </a:p>
          <a:p>
            <a:r>
              <a:rPr lang="zh-CN" altLang="zh-CN" sz="2000" dirty="0"/>
              <a:t>（</a:t>
            </a:r>
            <a:r>
              <a:rPr lang="en-US" altLang="zh-CN" sz="2000" dirty="0"/>
              <a:t>b</a:t>
            </a:r>
            <a:r>
              <a:rPr lang="zh-CN" altLang="zh-CN" sz="2000" dirty="0"/>
              <a:t>）用例的补充描述（如果需要）</a:t>
            </a:r>
          </a:p>
          <a:p>
            <a:r>
              <a:rPr lang="zh-CN" altLang="zh-CN" sz="2000" dirty="0"/>
              <a:t>（</a:t>
            </a:r>
            <a:r>
              <a:rPr lang="en-US" altLang="zh-CN" sz="2000" dirty="0"/>
              <a:t>c</a:t>
            </a:r>
            <a:r>
              <a:rPr lang="zh-CN" altLang="zh-CN" sz="2000" dirty="0"/>
              <a:t>）从用例的行为中，找出分析类</a:t>
            </a:r>
            <a:r>
              <a:rPr lang="en-US" altLang="zh-CN" sz="2000" dirty="0"/>
              <a:t>(Analysis </a:t>
            </a:r>
            <a:r>
              <a:rPr lang="en-US" altLang="zh-CN" sz="2000" dirty="0" err="1"/>
              <a:t>Classe</a:t>
            </a:r>
            <a:r>
              <a:rPr lang="en-US" altLang="zh-CN" sz="2000" dirty="0"/>
              <a:t>)</a:t>
            </a:r>
            <a:endParaRPr lang="zh-CN" altLang="zh-CN" sz="2000" dirty="0"/>
          </a:p>
          <a:p>
            <a:r>
              <a:rPr lang="zh-CN" altLang="zh-CN" sz="2000" dirty="0"/>
              <a:t>（</a:t>
            </a:r>
            <a:r>
              <a:rPr lang="en-US" altLang="zh-CN" sz="2000" dirty="0"/>
              <a:t>d</a:t>
            </a:r>
            <a:r>
              <a:rPr lang="zh-CN" altLang="zh-CN" sz="2000" dirty="0"/>
              <a:t>）把行为指定到具体的分析类</a:t>
            </a:r>
          </a:p>
          <a:p>
            <a:endParaRPr lang="zh-CN" altLang="en-US" sz="2000" dirty="0"/>
          </a:p>
        </p:txBody>
      </p:sp>
      <p:sp>
        <p:nvSpPr>
          <p:cNvPr id="4" name="矩形 3"/>
          <p:cNvSpPr/>
          <p:nvPr/>
        </p:nvSpPr>
        <p:spPr>
          <a:xfrm>
            <a:off x="6135329" y="1767630"/>
            <a:ext cx="4689988" cy="3170099"/>
          </a:xfrm>
          <a:prstGeom prst="rect">
            <a:avLst/>
          </a:prstGeom>
        </p:spPr>
        <p:txBody>
          <a:bodyPr wrap="square">
            <a:spAutoFit/>
          </a:bodyPr>
          <a:lstStyle/>
          <a:p>
            <a:r>
              <a:rPr lang="zh-CN" altLang="zh-CN" sz="2000" dirty="0"/>
              <a:t>（</a:t>
            </a:r>
            <a:r>
              <a:rPr lang="en-US" altLang="zh-CN" sz="2000" dirty="0"/>
              <a:t>2</a:t>
            </a:r>
            <a:r>
              <a:rPr lang="zh-CN" altLang="zh-CN" sz="2000" dirty="0"/>
              <a:t>）对每个分析结果的类： </a:t>
            </a:r>
          </a:p>
          <a:p>
            <a:r>
              <a:rPr lang="zh-CN" altLang="zh-CN" sz="2000" dirty="0"/>
              <a:t>（</a:t>
            </a:r>
            <a:r>
              <a:rPr lang="en-US" altLang="zh-CN" sz="2000" dirty="0"/>
              <a:t>a</a:t>
            </a:r>
            <a:r>
              <a:rPr lang="zh-CN" altLang="zh-CN" sz="2000" dirty="0"/>
              <a:t>）类的职责；</a:t>
            </a:r>
          </a:p>
          <a:p>
            <a:r>
              <a:rPr lang="zh-CN" altLang="zh-CN" sz="2000" dirty="0"/>
              <a:t>（</a:t>
            </a:r>
            <a:r>
              <a:rPr lang="en-US" altLang="zh-CN" sz="2000" dirty="0"/>
              <a:t>b</a:t>
            </a:r>
            <a:r>
              <a:rPr lang="zh-CN" altLang="zh-CN" sz="2000" dirty="0"/>
              <a:t>）类的属性和关系：定义类的属性；分析类之间的关系；分析类间事件与事件之间的相关性。</a:t>
            </a:r>
          </a:p>
          <a:p>
            <a:r>
              <a:rPr lang="zh-CN" altLang="zh-CN" sz="2000" dirty="0"/>
              <a:t>（</a:t>
            </a:r>
            <a:r>
              <a:rPr lang="en-US" altLang="zh-CN" sz="2000" dirty="0"/>
              <a:t>3</a:t>
            </a:r>
            <a:r>
              <a:rPr lang="zh-CN" altLang="zh-CN" sz="2000" dirty="0"/>
              <a:t>）整合所有的用例实现</a:t>
            </a:r>
          </a:p>
          <a:p>
            <a:r>
              <a:rPr lang="zh-CN" altLang="zh-CN" sz="2000" dirty="0"/>
              <a:t>（</a:t>
            </a:r>
            <a:r>
              <a:rPr lang="en-US" altLang="zh-CN" sz="2000" dirty="0"/>
              <a:t>4</a:t>
            </a:r>
            <a:r>
              <a:rPr lang="zh-CN" altLang="zh-CN" sz="2000" dirty="0"/>
              <a:t>）建立跟踪机制 </a:t>
            </a:r>
          </a:p>
          <a:p>
            <a:r>
              <a:rPr lang="zh-CN" altLang="zh-CN" sz="2000" dirty="0"/>
              <a:t>（</a:t>
            </a:r>
            <a:r>
              <a:rPr lang="en-US" altLang="zh-CN" sz="2000" dirty="0"/>
              <a:t>5</a:t>
            </a:r>
            <a:r>
              <a:rPr lang="zh-CN" altLang="zh-CN" sz="2000" dirty="0"/>
              <a:t>）建立分析机制 </a:t>
            </a:r>
          </a:p>
          <a:p>
            <a:r>
              <a:rPr lang="zh-CN" altLang="zh-CN" sz="2000" dirty="0"/>
              <a:t>（</a:t>
            </a:r>
            <a:r>
              <a:rPr lang="en-US" altLang="zh-CN" sz="2000" dirty="0"/>
              <a:t>6</a:t>
            </a:r>
            <a:r>
              <a:rPr lang="zh-CN" altLang="zh-CN" sz="2000" dirty="0"/>
              <a:t>）对用例分析的结果进行评估</a:t>
            </a:r>
          </a:p>
          <a:p>
            <a:r>
              <a:rPr lang="en-US" altLang="zh-CN" sz="2000" dirty="0"/>
              <a:t> </a:t>
            </a:r>
            <a:endParaRPr lang="zh-CN" altLang="zh-CN" sz="2000" dirty="0"/>
          </a:p>
        </p:txBody>
      </p:sp>
    </p:spTree>
    <p:extLst>
      <p:ext uri="{BB962C8B-B14F-4D97-AF65-F5344CB8AC3E}">
        <p14:creationId xmlns:p14="http://schemas.microsoft.com/office/powerpoint/2010/main" val="425031410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3.4</a:t>
            </a:r>
            <a:r>
              <a:rPr lang="zh-CN" altLang="zh-CN" dirty="0"/>
              <a:t>面向对象需求分析方法</a:t>
            </a:r>
            <a:endParaRPr lang="zh-CN" altLang="en-US" dirty="0"/>
          </a:p>
        </p:txBody>
      </p:sp>
      <p:sp>
        <p:nvSpPr>
          <p:cNvPr id="3" name="内容占位符 2"/>
          <p:cNvSpPr>
            <a:spLocks noGrp="1"/>
          </p:cNvSpPr>
          <p:nvPr>
            <p:ph idx="1"/>
          </p:nvPr>
        </p:nvSpPr>
        <p:spPr/>
        <p:txBody>
          <a:bodyPr>
            <a:normAutofit/>
          </a:bodyPr>
          <a:lstStyle/>
          <a:p>
            <a:r>
              <a:rPr lang="zh-CN" altLang="zh-CN" sz="2400" dirty="0"/>
              <a:t>从用例图中分析类，是从用例的事件流开始，查看事件流中的名词以获得类。在事件流中，名词可以分为</a:t>
            </a:r>
            <a:r>
              <a:rPr lang="en-US" altLang="zh-CN" sz="2400" dirty="0"/>
              <a:t>4</a:t>
            </a:r>
            <a:r>
              <a:rPr lang="zh-CN" altLang="zh-CN" sz="2400" dirty="0"/>
              <a:t>种类型：角色、类、类属性、表达式。</a:t>
            </a:r>
          </a:p>
          <a:p>
            <a:r>
              <a:rPr lang="zh-CN" altLang="zh-CN" sz="2400" dirty="0"/>
              <a:t>类可以分为</a:t>
            </a:r>
            <a:r>
              <a:rPr lang="en-US" altLang="zh-CN" sz="2400" dirty="0"/>
              <a:t>3</a:t>
            </a:r>
            <a:r>
              <a:rPr lang="zh-CN" altLang="zh-CN" sz="2400" dirty="0"/>
              <a:t>种类型：实体类、边界类、控制类。</a:t>
            </a:r>
          </a:p>
          <a:p>
            <a:r>
              <a:rPr lang="zh-CN" altLang="zh-CN" sz="2400" dirty="0"/>
              <a:t>实体类：要存储的信息。在选课系统中，可以抽出“学生类”。</a:t>
            </a:r>
          </a:p>
          <a:p>
            <a:r>
              <a:rPr lang="zh-CN" altLang="zh-CN" sz="2400" dirty="0"/>
              <a:t>边界类：位于系统与外界的交接处，包括所有窗体、报表、打印机、扫描仪等硬件接口以及与其它系统的接口。每个角色和用例交互至少要有一个边界类。</a:t>
            </a:r>
          </a:p>
          <a:p>
            <a:r>
              <a:rPr lang="zh-CN" altLang="zh-CN" sz="2400" dirty="0"/>
              <a:t>控制类：负责协调其它类的工作，每个用例中通常都有一个控制类，控制用例中的事件的顺序。</a:t>
            </a:r>
          </a:p>
          <a:p>
            <a:endParaRPr lang="zh-CN" altLang="en-US" sz="2400" dirty="0"/>
          </a:p>
        </p:txBody>
      </p:sp>
    </p:spTree>
    <p:extLst>
      <p:ext uri="{BB962C8B-B14F-4D97-AF65-F5344CB8AC3E}">
        <p14:creationId xmlns:p14="http://schemas.microsoft.com/office/powerpoint/2010/main" val="425031410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3.4</a:t>
            </a:r>
            <a:r>
              <a:rPr lang="zh-CN" altLang="zh-CN" dirty="0"/>
              <a:t>面向对象需求分析方法</a:t>
            </a:r>
            <a:endParaRPr lang="zh-CN" altLang="en-US" dirty="0"/>
          </a:p>
        </p:txBody>
      </p:sp>
      <p:sp>
        <p:nvSpPr>
          <p:cNvPr id="3" name="内容占位符 2"/>
          <p:cNvSpPr>
            <a:spLocks noGrp="1"/>
          </p:cNvSpPr>
          <p:nvPr>
            <p:ph idx="1"/>
          </p:nvPr>
        </p:nvSpPr>
        <p:spPr/>
        <p:txBody>
          <a:bodyPr>
            <a:normAutofit/>
          </a:bodyPr>
          <a:lstStyle/>
          <a:p>
            <a:r>
              <a:rPr lang="zh-CN" altLang="zh-CN" sz="2400" dirty="0"/>
              <a:t>可以通过下列方法寻找类：</a:t>
            </a:r>
          </a:p>
          <a:p>
            <a:r>
              <a:rPr lang="zh-CN" altLang="zh-CN" sz="2400" dirty="0"/>
              <a:t>（</a:t>
            </a:r>
            <a:r>
              <a:rPr lang="en-US" altLang="zh-CN" sz="2400" dirty="0"/>
              <a:t>1</a:t>
            </a:r>
            <a:r>
              <a:rPr lang="zh-CN" altLang="zh-CN" sz="2400" dirty="0"/>
              <a:t>）从事件流中寻找名词或名词词组，将性质相同的归为一类，或性质内容值正负相反的归为一类。</a:t>
            </a:r>
          </a:p>
          <a:p>
            <a:r>
              <a:rPr lang="zh-CN" altLang="zh-CN" sz="2400" dirty="0"/>
              <a:t>（</a:t>
            </a:r>
            <a:r>
              <a:rPr lang="en-US" altLang="zh-CN" sz="2400" dirty="0"/>
              <a:t>2</a:t>
            </a:r>
            <a:r>
              <a:rPr lang="zh-CN" altLang="zh-CN" sz="2400" dirty="0"/>
              <a:t>）去除不恰当的与含糊的类别，去除应是归类为属性的项目。</a:t>
            </a:r>
          </a:p>
          <a:p>
            <a:r>
              <a:rPr lang="zh-CN" altLang="zh-CN" sz="2400" dirty="0"/>
              <a:t>（</a:t>
            </a:r>
            <a:r>
              <a:rPr lang="en-US" altLang="zh-CN" sz="2400" dirty="0"/>
              <a:t>3</a:t>
            </a:r>
            <a:r>
              <a:rPr lang="zh-CN" altLang="zh-CN" sz="2400" dirty="0"/>
              <a:t>）给这些类取个合适的名字。</a:t>
            </a:r>
          </a:p>
          <a:p>
            <a:r>
              <a:rPr lang="zh-CN" altLang="zh-CN" sz="2400" dirty="0"/>
              <a:t>（</a:t>
            </a:r>
            <a:r>
              <a:rPr lang="en-US" altLang="zh-CN" sz="2400" dirty="0"/>
              <a:t>4</a:t>
            </a:r>
            <a:r>
              <a:rPr lang="zh-CN" altLang="zh-CN" sz="2400" dirty="0"/>
              <a:t>）确定了类后，需要确定类的属性。确定类的属性的途径：注意需求中的名词，或者是存在许多特定可列举数；可以查阅用例文档或需求文档获得属性。</a:t>
            </a:r>
          </a:p>
          <a:p>
            <a:endParaRPr lang="zh-CN" altLang="en-US" sz="2400" dirty="0"/>
          </a:p>
        </p:txBody>
      </p:sp>
    </p:spTree>
    <p:extLst>
      <p:ext uri="{BB962C8B-B14F-4D97-AF65-F5344CB8AC3E}">
        <p14:creationId xmlns:p14="http://schemas.microsoft.com/office/powerpoint/2010/main" val="425031410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3.4</a:t>
            </a:r>
            <a:r>
              <a:rPr lang="zh-CN" altLang="zh-CN" dirty="0"/>
              <a:t>面向对象需求分析方法</a:t>
            </a:r>
            <a:endParaRPr lang="zh-CN" altLang="en-US" dirty="0"/>
          </a:p>
        </p:txBody>
      </p:sp>
      <p:sp>
        <p:nvSpPr>
          <p:cNvPr id="3" name="内容占位符 2"/>
          <p:cNvSpPr>
            <a:spLocks noGrp="1"/>
          </p:cNvSpPr>
          <p:nvPr>
            <p:ph idx="1"/>
          </p:nvPr>
        </p:nvSpPr>
        <p:spPr/>
        <p:txBody>
          <a:bodyPr>
            <a:normAutofit/>
          </a:bodyPr>
          <a:lstStyle/>
          <a:p>
            <a:r>
              <a:rPr lang="zh-CN" altLang="zh-CN" sz="2400" dirty="0"/>
              <a:t>例如：选课系统中，还可以抽象出</a:t>
            </a:r>
            <a:r>
              <a:rPr lang="en-US" altLang="zh-CN" sz="2400" dirty="0"/>
              <a:t>3</a:t>
            </a:r>
            <a:r>
              <a:rPr lang="zh-CN" altLang="zh-CN" sz="2400" dirty="0"/>
              <a:t>个类：课程类</a:t>
            </a:r>
            <a:r>
              <a:rPr lang="en-US" altLang="zh-CN" sz="2400" dirty="0"/>
              <a:t>Course</a:t>
            </a:r>
            <a:r>
              <a:rPr lang="zh-CN" altLang="zh-CN" sz="2400" dirty="0"/>
              <a:t>、界面类</a:t>
            </a:r>
            <a:r>
              <a:rPr lang="en-US" altLang="zh-CN" sz="2400" dirty="0" err="1"/>
              <a:t>FormObject</a:t>
            </a:r>
            <a:r>
              <a:rPr lang="zh-CN" altLang="zh-CN" sz="2400" dirty="0"/>
              <a:t>、控制对象类</a:t>
            </a:r>
            <a:r>
              <a:rPr lang="en-US" altLang="zh-CN" sz="2400" dirty="0" err="1"/>
              <a:t>ControlObject</a:t>
            </a:r>
            <a:r>
              <a:rPr lang="zh-CN" altLang="zh-CN" sz="2400" dirty="0"/>
              <a:t>。</a:t>
            </a:r>
          </a:p>
          <a:p>
            <a:r>
              <a:rPr lang="zh-CN" altLang="zh-CN" sz="2400" dirty="0"/>
              <a:t>课程类应该具有以下属性：课程名称、课程号、选课的学生、允许选课的学生人数等。</a:t>
            </a:r>
          </a:p>
          <a:p>
            <a:r>
              <a:rPr lang="en-US" altLang="zh-CN" sz="2400" dirty="0"/>
              <a:t> </a:t>
            </a:r>
            <a:endParaRPr lang="zh-CN" altLang="zh-CN" sz="2400" dirty="0"/>
          </a:p>
          <a:p>
            <a:r>
              <a:rPr lang="zh-CN" altLang="zh-CN" sz="2400" dirty="0"/>
              <a:t>从用例图利用活动者设计了以下的角色：学生</a:t>
            </a:r>
            <a:r>
              <a:rPr lang="en-US" altLang="zh-CN" sz="2400" dirty="0"/>
              <a:t>Student</a:t>
            </a:r>
            <a:r>
              <a:rPr lang="zh-CN" altLang="zh-CN" sz="2400" dirty="0"/>
              <a:t>、管理员</a:t>
            </a:r>
            <a:r>
              <a:rPr lang="en-US" altLang="zh-CN" sz="2400" dirty="0"/>
              <a:t>Registrar</a:t>
            </a:r>
            <a:r>
              <a:rPr lang="zh-CN" altLang="zh-CN" sz="2400" dirty="0"/>
              <a:t>、学生和管理员的父类</a:t>
            </a:r>
            <a:r>
              <a:rPr lang="en-US" altLang="zh-CN" sz="2400" dirty="0"/>
              <a:t>People</a:t>
            </a:r>
            <a:r>
              <a:rPr lang="zh-CN" altLang="zh-CN" sz="2400" dirty="0"/>
              <a:t>、数据库</a:t>
            </a:r>
            <a:r>
              <a:rPr lang="en-US" altLang="zh-CN" sz="2400" dirty="0"/>
              <a:t>Database</a:t>
            </a:r>
            <a:r>
              <a:rPr lang="zh-CN" altLang="zh-CN" sz="2400" dirty="0"/>
              <a:t>。</a:t>
            </a:r>
          </a:p>
          <a:p>
            <a:endParaRPr lang="zh-CN" altLang="en-US" sz="2400" dirty="0"/>
          </a:p>
        </p:txBody>
      </p:sp>
    </p:spTree>
    <p:extLst>
      <p:ext uri="{BB962C8B-B14F-4D97-AF65-F5344CB8AC3E}">
        <p14:creationId xmlns:p14="http://schemas.microsoft.com/office/powerpoint/2010/main" val="425031410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3.4</a:t>
            </a:r>
            <a:r>
              <a:rPr lang="zh-CN" altLang="zh-CN" dirty="0"/>
              <a:t>面向对象需求分析方法</a:t>
            </a:r>
            <a:endParaRPr lang="zh-CN" altLang="en-US" dirty="0"/>
          </a:p>
        </p:txBody>
      </p:sp>
      <p:sp>
        <p:nvSpPr>
          <p:cNvPr id="3" name="内容占位符 2"/>
          <p:cNvSpPr>
            <a:spLocks noGrp="1"/>
          </p:cNvSpPr>
          <p:nvPr>
            <p:ph idx="1"/>
          </p:nvPr>
        </p:nvSpPr>
        <p:spPr/>
        <p:txBody>
          <a:bodyPr/>
          <a:lstStyle/>
          <a:p>
            <a:r>
              <a:rPr lang="zh-CN" altLang="zh-CN" dirty="0"/>
              <a:t>这些类与角色的关系如下：</a:t>
            </a:r>
          </a:p>
          <a:p>
            <a:endParaRPr lang="zh-CN" altLang="en-US" dirty="0"/>
          </a:p>
        </p:txBody>
      </p:sp>
      <p:pic>
        <p:nvPicPr>
          <p:cNvPr id="7170" name="图片 44"/>
          <p:cNvPicPr>
            <a:picLocks noChangeAspect="1" noChangeArrowheads="1"/>
          </p:cNvPicPr>
          <p:nvPr/>
        </p:nvPicPr>
        <p:blipFill>
          <a:blip r:embed="rId2">
            <a:extLst>
              <a:ext uri="{28A0092B-C50C-407E-A947-70E740481C1C}">
                <a14:useLocalDpi xmlns:a14="http://schemas.microsoft.com/office/drawing/2010/main" val="0"/>
              </a:ext>
            </a:extLst>
          </a:blip>
          <a:srcRect l="63358" t="50107" r="7835" b="17107"/>
          <a:stretch>
            <a:fillRect/>
          </a:stretch>
        </p:blipFill>
        <p:spPr bwMode="auto">
          <a:xfrm>
            <a:off x="1511709" y="2693731"/>
            <a:ext cx="5963960" cy="3810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031410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3.4</a:t>
            </a:r>
            <a:r>
              <a:rPr lang="zh-CN" altLang="zh-CN" dirty="0"/>
              <a:t>面向对象需求分析方法</a:t>
            </a:r>
            <a:endParaRPr lang="zh-CN" altLang="en-US" dirty="0"/>
          </a:p>
        </p:txBody>
      </p:sp>
      <p:sp>
        <p:nvSpPr>
          <p:cNvPr id="3" name="内容占位符 2"/>
          <p:cNvSpPr>
            <a:spLocks noGrp="1"/>
          </p:cNvSpPr>
          <p:nvPr>
            <p:ph idx="1"/>
          </p:nvPr>
        </p:nvSpPr>
        <p:spPr/>
        <p:txBody>
          <a:bodyPr/>
          <a:lstStyle/>
          <a:p>
            <a:r>
              <a:rPr lang="zh-CN" altLang="zh-CN" dirty="0"/>
              <a:t>类</a:t>
            </a:r>
            <a:r>
              <a:rPr lang="en-US" altLang="zh-CN" dirty="0"/>
              <a:t>People</a:t>
            </a:r>
            <a:r>
              <a:rPr lang="zh-CN" altLang="zh-CN" dirty="0"/>
              <a:t>的属性和操作如下：</a:t>
            </a:r>
            <a:endParaRPr lang="zh-CN" altLang="en-US" dirty="0"/>
          </a:p>
        </p:txBody>
      </p:sp>
      <p:pic>
        <p:nvPicPr>
          <p:cNvPr id="8194" name="图片 45"/>
          <p:cNvPicPr>
            <a:picLocks noChangeAspect="1" noChangeArrowheads="1"/>
          </p:cNvPicPr>
          <p:nvPr/>
        </p:nvPicPr>
        <p:blipFill>
          <a:blip r:embed="rId2">
            <a:extLst>
              <a:ext uri="{28A0092B-C50C-407E-A947-70E740481C1C}">
                <a14:useLocalDpi xmlns:a14="http://schemas.microsoft.com/office/drawing/2010/main" val="0"/>
              </a:ext>
            </a:extLst>
          </a:blip>
          <a:srcRect l="60828" t="55461" r="28928" b="18613"/>
          <a:stretch>
            <a:fillRect/>
          </a:stretch>
        </p:blipFill>
        <p:spPr bwMode="auto">
          <a:xfrm>
            <a:off x="0" y="2883002"/>
            <a:ext cx="2057707" cy="2916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5" name="图片 46"/>
          <p:cNvPicPr>
            <a:picLocks noChangeAspect="1" noChangeArrowheads="1"/>
          </p:cNvPicPr>
          <p:nvPr/>
        </p:nvPicPr>
        <p:blipFill>
          <a:blip r:embed="rId2">
            <a:extLst>
              <a:ext uri="{28A0092B-C50C-407E-A947-70E740481C1C}">
                <a14:useLocalDpi xmlns:a14="http://schemas.microsoft.com/office/drawing/2010/main" val="0"/>
              </a:ext>
            </a:extLst>
          </a:blip>
          <a:srcRect l="76004" t="47752" r="7475" b="20950"/>
          <a:stretch>
            <a:fillRect/>
          </a:stretch>
        </p:blipFill>
        <p:spPr bwMode="auto">
          <a:xfrm>
            <a:off x="2219631" y="2721078"/>
            <a:ext cx="3023643" cy="3237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6" name="图片 59"/>
          <p:cNvPicPr>
            <a:picLocks noChangeAspect="1" noChangeArrowheads="1"/>
          </p:cNvPicPr>
          <p:nvPr/>
        </p:nvPicPr>
        <p:blipFill>
          <a:blip r:embed="rId3">
            <a:extLst>
              <a:ext uri="{28A0092B-C50C-407E-A947-70E740481C1C}">
                <a14:useLocalDpi xmlns:a14="http://schemas.microsoft.com/office/drawing/2010/main" val="0"/>
              </a:ext>
            </a:extLst>
          </a:blip>
          <a:srcRect l="61790" t="40471" r="32303" b="46030"/>
          <a:stretch>
            <a:fillRect/>
          </a:stretch>
        </p:blipFill>
        <p:spPr bwMode="auto">
          <a:xfrm>
            <a:off x="5707625" y="2721078"/>
            <a:ext cx="1637072" cy="2121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7" name="图片 60"/>
          <p:cNvPicPr>
            <a:picLocks noChangeAspect="1" noChangeArrowheads="1"/>
          </p:cNvPicPr>
          <p:nvPr/>
        </p:nvPicPr>
        <p:blipFill>
          <a:blip r:embed="rId3">
            <a:extLst>
              <a:ext uri="{28A0092B-C50C-407E-A947-70E740481C1C}">
                <a14:useLocalDpi xmlns:a14="http://schemas.microsoft.com/office/drawing/2010/main" val="0"/>
              </a:ext>
            </a:extLst>
          </a:blip>
          <a:srcRect l="68777" t="35760" r="24472" b="43024"/>
          <a:stretch>
            <a:fillRect/>
          </a:stretch>
        </p:blipFill>
        <p:spPr bwMode="auto">
          <a:xfrm>
            <a:off x="7543800" y="2721078"/>
            <a:ext cx="1732935" cy="3026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8" name="图片 62"/>
          <p:cNvPicPr>
            <a:picLocks noChangeAspect="1" noChangeArrowheads="1"/>
          </p:cNvPicPr>
          <p:nvPr/>
        </p:nvPicPr>
        <p:blipFill>
          <a:blip r:embed="rId3">
            <a:extLst>
              <a:ext uri="{28A0092B-C50C-407E-A947-70E740481C1C}">
                <a14:useLocalDpi xmlns:a14="http://schemas.microsoft.com/office/drawing/2010/main" val="0"/>
              </a:ext>
            </a:extLst>
          </a:blip>
          <a:srcRect l="86243" t="68307" r="7001" b="17317"/>
          <a:stretch>
            <a:fillRect/>
          </a:stretch>
        </p:blipFill>
        <p:spPr bwMode="auto">
          <a:xfrm>
            <a:off x="9748684" y="2721078"/>
            <a:ext cx="2133758" cy="254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2974108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3.4</a:t>
            </a:r>
            <a:r>
              <a:rPr lang="zh-CN" altLang="zh-CN" dirty="0"/>
              <a:t>面向对象需求分析方法</a:t>
            </a:r>
            <a:endParaRPr lang="zh-CN" altLang="en-US" dirty="0"/>
          </a:p>
        </p:txBody>
      </p:sp>
      <p:sp>
        <p:nvSpPr>
          <p:cNvPr id="3" name="内容占位符 2"/>
          <p:cNvSpPr>
            <a:spLocks noGrp="1"/>
          </p:cNvSpPr>
          <p:nvPr>
            <p:ph idx="1"/>
          </p:nvPr>
        </p:nvSpPr>
        <p:spPr/>
        <p:txBody>
          <a:bodyPr/>
          <a:lstStyle/>
          <a:p>
            <a:r>
              <a:rPr lang="zh-CN" altLang="zh-CN" dirty="0"/>
              <a:t>类</a:t>
            </a:r>
            <a:r>
              <a:rPr lang="en-US" altLang="zh-CN" dirty="0"/>
              <a:t>People</a:t>
            </a:r>
            <a:r>
              <a:rPr lang="zh-CN" altLang="zh-CN" dirty="0"/>
              <a:t>的属性和操作如下</a:t>
            </a:r>
            <a:endParaRPr lang="zh-CN" altLang="en-US" dirty="0"/>
          </a:p>
        </p:txBody>
      </p:sp>
      <p:pic>
        <p:nvPicPr>
          <p:cNvPr id="9218" name="图片 63"/>
          <p:cNvPicPr>
            <a:picLocks noChangeAspect="1" noChangeArrowheads="1"/>
          </p:cNvPicPr>
          <p:nvPr/>
        </p:nvPicPr>
        <p:blipFill>
          <a:blip r:embed="rId2">
            <a:extLst>
              <a:ext uri="{28A0092B-C50C-407E-A947-70E740481C1C}">
                <a14:useLocalDpi xmlns:a14="http://schemas.microsoft.com/office/drawing/2010/main" val="0"/>
              </a:ext>
            </a:extLst>
          </a:blip>
          <a:srcRect l="60948" t="40041" r="7713" b="17319"/>
          <a:stretch>
            <a:fillRect/>
          </a:stretch>
        </p:blipFill>
        <p:spPr bwMode="auto">
          <a:xfrm>
            <a:off x="5700251" y="1627547"/>
            <a:ext cx="6083709" cy="4647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6"/>
          <p:cNvPicPr>
            <a:picLocks noChangeAspect="1" noChangeArrowheads="1"/>
          </p:cNvPicPr>
          <p:nvPr/>
        </p:nvPicPr>
        <p:blipFill>
          <a:blip r:embed="rId3">
            <a:extLst>
              <a:ext uri="{28A0092B-C50C-407E-A947-70E740481C1C}">
                <a14:useLocalDpi xmlns:a14="http://schemas.microsoft.com/office/drawing/2010/main" val="0"/>
              </a:ext>
            </a:extLst>
          </a:blip>
          <a:srcRect l="76004" t="47752" r="7475" b="20950"/>
          <a:stretch>
            <a:fillRect/>
          </a:stretch>
        </p:blipFill>
        <p:spPr bwMode="auto">
          <a:xfrm>
            <a:off x="2197620" y="2463044"/>
            <a:ext cx="3023643" cy="3237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2974108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3.5</a:t>
            </a:r>
            <a:r>
              <a:rPr lang="zh-CN" altLang="zh-CN" dirty="0"/>
              <a:t>需求规格说明</a:t>
            </a:r>
            <a:r>
              <a:rPr lang="zh-CN" altLang="zh-CN" dirty="0" smtClean="0"/>
              <a:t>文档</a:t>
            </a:r>
            <a:endParaRPr lang="zh-CN" altLang="en-US" dirty="0"/>
          </a:p>
        </p:txBody>
      </p:sp>
      <p:sp>
        <p:nvSpPr>
          <p:cNvPr id="3" name="内容占位符 2"/>
          <p:cNvSpPr>
            <a:spLocks noGrp="1"/>
          </p:cNvSpPr>
          <p:nvPr>
            <p:ph idx="1"/>
          </p:nvPr>
        </p:nvSpPr>
        <p:spPr/>
        <p:txBody>
          <a:bodyPr/>
          <a:lstStyle/>
          <a:p>
            <a:endParaRPr lang="zh-CN" altLang="en-US"/>
          </a:p>
        </p:txBody>
      </p:sp>
      <p:pic>
        <p:nvPicPr>
          <p:cNvPr id="10242"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096" y="1345483"/>
            <a:ext cx="8541500" cy="4804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3"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0897" y="1581457"/>
            <a:ext cx="9380521" cy="5276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4" name="图片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5374" y="661680"/>
            <a:ext cx="8472402" cy="476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92156632"/>
      </p:ext>
    </p:extLst>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TotalTime>
  <Words>6516</Words>
  <Application>Microsoft Office PowerPoint</Application>
  <PresentationFormat>自定义</PresentationFormat>
  <Paragraphs>592</Paragraphs>
  <Slides>93</Slides>
  <Notes>0</Notes>
  <HiddenSlides>0</HiddenSlides>
  <MMClips>0</MMClips>
  <ScaleCrop>false</ScaleCrop>
  <HeadingPairs>
    <vt:vector size="4" baseType="variant">
      <vt:variant>
        <vt:lpstr>主题</vt:lpstr>
      </vt:variant>
      <vt:variant>
        <vt:i4>1</vt:i4>
      </vt:variant>
      <vt:variant>
        <vt:lpstr>幻灯片标题</vt:lpstr>
      </vt:variant>
      <vt:variant>
        <vt:i4>93</vt:i4>
      </vt:variant>
    </vt:vector>
  </HeadingPairs>
  <TitlesOfParts>
    <vt:vector size="94" baseType="lpstr">
      <vt:lpstr>WPS</vt:lpstr>
      <vt:lpstr>软件项目实践 第3章 软件项目的需求分析</vt:lpstr>
      <vt:lpstr>PowerPoint 演示文稿</vt:lpstr>
      <vt:lpstr>3.1软件项目需求概述</vt:lpstr>
      <vt:lpstr>3.1软件项目需求概述</vt:lpstr>
      <vt:lpstr>3.1软件项目需求概述</vt:lpstr>
      <vt:lpstr>3.2需求工程</vt:lpstr>
      <vt:lpstr>3.2需求工程</vt:lpstr>
      <vt:lpstr>3.2需求工程</vt:lpstr>
      <vt:lpstr>3.2需求工程</vt:lpstr>
      <vt:lpstr>3.2需求工程</vt:lpstr>
      <vt:lpstr>3.2需求工程</vt:lpstr>
      <vt:lpstr>3.2需求工程</vt:lpstr>
      <vt:lpstr>3.2需求工程</vt:lpstr>
      <vt:lpstr>3.2需求工程</vt:lpstr>
      <vt:lpstr>3.2需求工程</vt:lpstr>
      <vt:lpstr>3.2需求工程</vt:lpstr>
      <vt:lpstr>3.2需求工程</vt:lpstr>
      <vt:lpstr>3.2需求工程</vt:lpstr>
      <vt:lpstr>3.2需求工程</vt:lpstr>
      <vt:lpstr>3.2需求工程</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3.3结构化需求分析方法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3.4面向对象需求分析方法</vt:lpstr>
      <vt:lpstr>3.5需求规格说明文档</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软件项目实践 第3章 软件项目的需求分析</dc:title>
  <dc:creator>xiexiong</dc:creator>
  <cp:lastModifiedBy>xiexiong</cp:lastModifiedBy>
  <cp:revision>13</cp:revision>
  <dcterms:created xsi:type="dcterms:W3CDTF">2023-08-09T12:44:55Z</dcterms:created>
  <dcterms:modified xsi:type="dcterms:W3CDTF">2025-08-26T01:52:33Z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2052-12.1.0.15259</vt:lpwstr>
  </property>
</Properties>
</file>