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1" r:id="rId5"/>
    <p:sldId id="262" r:id="rId6"/>
    <p:sldId id="263" r:id="rId7"/>
    <p:sldId id="259" r:id="rId8"/>
    <p:sldId id="268" r:id="rId9"/>
    <p:sldId id="269" r:id="rId10"/>
    <p:sldId id="270" r:id="rId11"/>
    <p:sldId id="271" r:id="rId12"/>
    <p:sldId id="272" r:id="rId13"/>
    <p:sldId id="273" r:id="rId14"/>
    <p:sldId id="260" r:id="rId15"/>
    <p:sldId id="278" r:id="rId16"/>
    <p:sldId id="279" r:id="rId17"/>
    <p:sldId id="280" r:id="rId18"/>
    <p:sldId id="281" r:id="rId19"/>
    <p:sldId id="282" r:id="rId20"/>
    <p:sldId id="283" r:id="rId21"/>
    <p:sldId id="284" r:id="rId22"/>
    <p:sldId id="285" r:id="rId23"/>
    <p:sldId id="286" r:id="rId24"/>
    <p:sldId id="287" r:id="rId25"/>
    <p:sldId id="290" r:id="rId26"/>
    <p:sldId id="291" r:id="rId27"/>
    <p:sldId id="292" r:id="rId28"/>
    <p:sldId id="293" r:id="rId29"/>
    <p:sldId id="294"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5" d="100"/>
          <a:sy n="65" d="100"/>
        </p:scale>
        <p:origin x="-132" y="-82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软件项目实践</a:t>
            </a:r>
            <a:r>
              <a:rPr lang="en-US" altLang="zh-CN" dirty="0" smtClean="0"/>
              <a:t/>
            </a:r>
            <a:br>
              <a:rPr lang="en-US" altLang="zh-CN" dirty="0" smtClean="0"/>
            </a:br>
            <a:r>
              <a:rPr lang="zh-CN" altLang="zh-CN" dirty="0" smtClean="0"/>
              <a:t>第</a:t>
            </a:r>
            <a:r>
              <a:rPr lang="en-US" altLang="zh-CN" dirty="0"/>
              <a:t>2</a:t>
            </a:r>
            <a:r>
              <a:rPr lang="zh-CN" altLang="zh-CN" dirty="0"/>
              <a:t>章 软件工程方法学</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024869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2.1 </a:t>
            </a:r>
            <a:r>
              <a:rPr lang="zh-CN" altLang="zh-CN" dirty="0"/>
              <a:t>软件工程方法学</a:t>
            </a:r>
            <a:r>
              <a:rPr lang="zh-CN" altLang="zh-CN" dirty="0" smtClean="0"/>
              <a:t>比较</a:t>
            </a:r>
            <a:endParaRPr lang="en-US" altLang="zh-CN" dirty="0" smtClean="0"/>
          </a:p>
          <a:p>
            <a:r>
              <a:rPr lang="en-US" altLang="zh-CN" dirty="0"/>
              <a:t>2.2</a:t>
            </a:r>
            <a:r>
              <a:rPr lang="zh-CN" altLang="zh-CN" dirty="0"/>
              <a:t>结构化软件工程</a:t>
            </a:r>
            <a:r>
              <a:rPr lang="zh-CN" altLang="zh-CN" dirty="0" smtClean="0"/>
              <a:t>方法</a:t>
            </a:r>
            <a:endParaRPr lang="en-US" altLang="zh-CN" dirty="0" smtClean="0"/>
          </a:p>
          <a:p>
            <a:r>
              <a:rPr lang="en-US" altLang="zh-CN" dirty="0"/>
              <a:t>2.3</a:t>
            </a:r>
            <a:r>
              <a:rPr lang="zh-CN" altLang="zh-CN" dirty="0"/>
              <a:t>面向对象软件工程方法</a:t>
            </a:r>
            <a:endParaRPr lang="zh-CN" altLang="en-US" dirty="0"/>
          </a:p>
        </p:txBody>
      </p:sp>
    </p:spTree>
    <p:extLst>
      <p:ext uri="{BB962C8B-B14F-4D97-AF65-F5344CB8AC3E}">
        <p14:creationId xmlns:p14="http://schemas.microsoft.com/office/powerpoint/2010/main" val="1258318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zh-CN" dirty="0"/>
              <a:t>软件工程方法学比较</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zh-CN" altLang="zh-CN" sz="2400" dirty="0"/>
              <a:t>当软件被用来解决某些问题时，这些问题的问题域集合就是该软件系统的问题域。软件系统通过影响问题域来帮助人们解决问题，称为解系统。问题域与解系统之间存在可以互相影响的接口，用以实现交互活动，它们之间的关系如图所示。</a:t>
            </a:r>
            <a:endParaRPr lang="zh-CN" altLang="en-US" sz="2400" dirty="0"/>
          </a:p>
        </p:txBody>
      </p:sp>
      <p:pic>
        <p:nvPicPr>
          <p:cNvPr id="1026" name="Picture 4"/>
          <p:cNvPicPr>
            <a:picLocks noChangeAspect="1" noChangeArrowheads="1"/>
          </p:cNvPicPr>
          <p:nvPr/>
        </p:nvPicPr>
        <p:blipFill>
          <a:blip r:embed="rId2">
            <a:extLst>
              <a:ext uri="{28A0092B-C50C-407E-A947-70E740481C1C}">
                <a14:useLocalDpi xmlns:a14="http://schemas.microsoft.com/office/drawing/2010/main" val="0"/>
              </a:ext>
            </a:extLst>
          </a:blip>
          <a:srcRect l="36018" b="12912"/>
          <a:stretch>
            <a:fillRect/>
          </a:stretch>
        </p:blipFill>
        <p:spPr bwMode="auto">
          <a:xfrm>
            <a:off x="2440858" y="3239729"/>
            <a:ext cx="650748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1812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zh-CN" dirty="0"/>
              <a:t>软件工程方法学比较</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zh-CN" altLang="zh-CN" sz="2400" dirty="0"/>
              <a:t>软件开发就是对问题域的认识和描述，即软件开发人员对问题域产生正确的认识，并用一种编程语言将这些认识描述出来，提供软件产品。</a:t>
            </a:r>
          </a:p>
          <a:p>
            <a:r>
              <a:rPr lang="zh-CN" altLang="zh-CN" sz="2400" dirty="0"/>
              <a:t>软件工程方法为构造软件提供技术上的解决方法，这些方法依赖于一组基本原则，这些原则涵盖了软件工程的所有技术领域，目前使用最广泛的方法是结构化方法和面向对象方法。</a:t>
            </a:r>
            <a:endParaRPr lang="zh-CN" altLang="en-US" sz="2400" dirty="0"/>
          </a:p>
        </p:txBody>
      </p:sp>
    </p:spTree>
    <p:extLst>
      <p:ext uri="{BB962C8B-B14F-4D97-AF65-F5344CB8AC3E}">
        <p14:creationId xmlns:p14="http://schemas.microsoft.com/office/powerpoint/2010/main" val="3110338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zh-CN" dirty="0"/>
              <a:t>软件工程方法学比较</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zh-CN" altLang="zh-CN" sz="2400" dirty="0"/>
              <a:t>传统的结构化软件工程方法如图所示。</a:t>
            </a:r>
            <a:endParaRPr lang="zh-CN" altLang="en-US" sz="2400" dirty="0"/>
          </a:p>
        </p:txBody>
      </p:sp>
      <p:pic>
        <p:nvPicPr>
          <p:cNvPr id="2050" name="Picture 4"/>
          <p:cNvPicPr>
            <a:picLocks noChangeAspect="1" noChangeArrowheads="1"/>
          </p:cNvPicPr>
          <p:nvPr/>
        </p:nvPicPr>
        <p:blipFill>
          <a:blip r:embed="rId2">
            <a:extLst>
              <a:ext uri="{28A0092B-C50C-407E-A947-70E740481C1C}">
                <a14:useLocalDpi xmlns:a14="http://schemas.microsoft.com/office/drawing/2010/main" val="0"/>
              </a:ext>
            </a:extLst>
          </a:blip>
          <a:srcRect b="10065"/>
          <a:stretch>
            <a:fillRect/>
          </a:stretch>
        </p:blipFill>
        <p:spPr bwMode="auto">
          <a:xfrm>
            <a:off x="6467167" y="1728940"/>
            <a:ext cx="4844845" cy="4844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0338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zh-CN" dirty="0"/>
              <a:t>软件工程方法学比较</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zh-CN" altLang="zh-CN" sz="2400" dirty="0"/>
              <a:t>面向对象的软件工程方法如图所示。</a:t>
            </a:r>
          </a:p>
          <a:p>
            <a:endParaRPr lang="zh-CN" altLang="en-US" sz="2400" dirty="0"/>
          </a:p>
        </p:txBody>
      </p:sp>
      <p:pic>
        <p:nvPicPr>
          <p:cNvPr id="307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483" y="1247468"/>
            <a:ext cx="5749860" cy="4504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0338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a:t>
            </a:r>
            <a:r>
              <a:rPr lang="zh-CN" altLang="zh-CN" dirty="0"/>
              <a:t>结构化软件工程方法</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zh-CN" altLang="zh-CN" sz="2400" dirty="0"/>
              <a:t>结构化软件工程方法是最早、最传统的软件开发方法，也称为“面向过程的软件工程方法学”</a:t>
            </a:r>
            <a:r>
              <a:rPr lang="zh-CN" altLang="zh-CN" sz="2400" dirty="0" smtClean="0"/>
              <a:t>。</a:t>
            </a:r>
            <a:endParaRPr lang="en-US" altLang="zh-CN" sz="2400" dirty="0" smtClean="0"/>
          </a:p>
          <a:p>
            <a:r>
              <a:rPr lang="zh-CN" altLang="zh-CN" sz="2400" dirty="0" smtClean="0"/>
              <a:t>直到</a:t>
            </a:r>
            <a:r>
              <a:rPr lang="zh-CN" altLang="zh-CN" sz="2400" dirty="0"/>
              <a:t>现在，结构化方法仍然是软件开发的基础工具和方法</a:t>
            </a:r>
            <a:r>
              <a:rPr lang="zh-CN" altLang="zh-CN" sz="2400" dirty="0" smtClean="0"/>
              <a:t>。</a:t>
            </a:r>
            <a:endParaRPr lang="en-US" altLang="zh-CN" sz="2400" dirty="0" smtClean="0"/>
          </a:p>
          <a:p>
            <a:r>
              <a:rPr lang="zh-CN" altLang="zh-CN" sz="2400" dirty="0" smtClean="0"/>
              <a:t>结构化</a:t>
            </a:r>
            <a:r>
              <a:rPr lang="zh-CN" altLang="zh-CN" sz="2400" dirty="0"/>
              <a:t>方法是根据某种原理、使用一定的工具、按照特定步骤进行工作的一种软件开发方法，强调开发方法的结构合理性以及所开发软件的结构合理性。结构是指系统内各个组成要素之间的相互联系、相互作用的框架</a:t>
            </a:r>
            <a:r>
              <a:rPr lang="zh-CN" altLang="zh-CN" sz="2400" dirty="0" smtClean="0"/>
              <a:t>。</a:t>
            </a:r>
            <a:endParaRPr lang="en-US" altLang="zh-CN" sz="2400" dirty="0" smtClean="0"/>
          </a:p>
          <a:p>
            <a:r>
              <a:rPr lang="zh-CN" altLang="zh-CN" sz="2400" dirty="0" smtClean="0"/>
              <a:t>结构化</a:t>
            </a:r>
            <a:r>
              <a:rPr lang="zh-CN" altLang="zh-CN" sz="2400" dirty="0"/>
              <a:t>开发方法提出了一组提高软件结构合理性的准则，例如：分解、抽象、模块独立性、信息隐蔽等</a:t>
            </a:r>
            <a:r>
              <a:rPr lang="zh-CN" altLang="zh-CN" sz="2400" dirty="0" smtClean="0"/>
              <a:t>。</a:t>
            </a:r>
            <a:endParaRPr lang="en-US" altLang="zh-CN" sz="2400" dirty="0" smtClean="0"/>
          </a:p>
          <a:p>
            <a:r>
              <a:rPr lang="zh-CN" altLang="zh-CN" sz="2400" dirty="0" smtClean="0"/>
              <a:t>针对</a:t>
            </a:r>
            <a:r>
              <a:rPr lang="zh-CN" altLang="zh-CN" sz="2400" dirty="0"/>
              <a:t>软件生命周期各个不同阶段提出不同的方法，例如：结构化分析、结构化设计、结构化编码等。</a:t>
            </a:r>
          </a:p>
          <a:p>
            <a:endParaRPr lang="zh-CN" altLang="en-US" sz="2400" dirty="0"/>
          </a:p>
        </p:txBody>
      </p:sp>
    </p:spTree>
    <p:extLst>
      <p:ext uri="{BB962C8B-B14F-4D97-AF65-F5344CB8AC3E}">
        <p14:creationId xmlns:p14="http://schemas.microsoft.com/office/powerpoint/2010/main" val="361297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a:t>
            </a:r>
            <a:r>
              <a:rPr lang="zh-CN" altLang="zh-CN" dirty="0"/>
              <a:t>结构化软件工程方法</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en-US" altLang="zh-CN" sz="2400" dirty="0"/>
              <a:t>2.2.1</a:t>
            </a:r>
            <a:r>
              <a:rPr lang="zh-CN" altLang="zh-CN" sz="2400" dirty="0"/>
              <a:t>结构化需求分析</a:t>
            </a:r>
          </a:p>
          <a:p>
            <a:r>
              <a:rPr lang="zh-CN" altLang="zh-CN" sz="2400" dirty="0"/>
              <a:t>结构化分析方法也被称为面向数据流的分析方法。在结构化需求分析中主要解决的是“需要系统做什么”的问题</a:t>
            </a:r>
            <a:r>
              <a:rPr lang="zh-CN" altLang="zh-CN" sz="2400" dirty="0" smtClean="0"/>
              <a:t>。</a:t>
            </a:r>
            <a:endParaRPr lang="en-US" altLang="zh-CN" sz="2400" dirty="0" smtClean="0"/>
          </a:p>
          <a:p>
            <a:r>
              <a:rPr lang="zh-CN" altLang="zh-CN" sz="2400" dirty="0" smtClean="0"/>
              <a:t>常用</a:t>
            </a:r>
            <a:r>
              <a:rPr lang="zh-CN" altLang="zh-CN" sz="2400" dirty="0"/>
              <a:t>的描述软件功能需求的工具是数据流图和数据字典</a:t>
            </a:r>
            <a:r>
              <a:rPr lang="zh-CN" altLang="zh-CN" sz="2400" dirty="0" smtClean="0"/>
              <a:t>。</a:t>
            </a:r>
            <a:endParaRPr lang="en-US" altLang="zh-CN" sz="2400" dirty="0" smtClean="0"/>
          </a:p>
          <a:p>
            <a:r>
              <a:rPr lang="zh-CN" altLang="zh-CN" sz="2400" dirty="0" smtClean="0"/>
              <a:t>需求规格</a:t>
            </a:r>
            <a:r>
              <a:rPr lang="zh-CN" altLang="zh-CN" sz="2400" dirty="0"/>
              <a:t>说明将功能分解为很多子功能，然后用数据流的方法分析这些子功能，并采用数据流图等形式表示出来</a:t>
            </a:r>
            <a:r>
              <a:rPr lang="zh-CN" altLang="zh-CN" sz="2400" dirty="0" smtClean="0"/>
              <a:t>。</a:t>
            </a:r>
            <a:endParaRPr lang="en-US" altLang="zh-CN" sz="2400" dirty="0" smtClean="0"/>
          </a:p>
          <a:p>
            <a:r>
              <a:rPr lang="zh-CN" altLang="zh-CN" sz="2400" dirty="0" smtClean="0"/>
              <a:t>采用</a:t>
            </a:r>
            <a:r>
              <a:rPr lang="zh-CN" altLang="zh-CN" sz="2400" dirty="0"/>
              <a:t>结构化分析方法，开发人员定义系统需要做什么，需要存储和使用哪些数据，需要什么样的输入和输出，以及如何将这些功能结合起来。</a:t>
            </a:r>
          </a:p>
          <a:p>
            <a:r>
              <a:rPr lang="zh-CN" altLang="zh-CN" sz="2400" dirty="0"/>
              <a:t>这种分析方法在全局范围内以功能、数据或者数据流为中心来进行分析，经过了不同尺度的映射和重新组合。因此，传统的结构化分析方法容易隐藏一些对问题域的理解偏差，给后续开发阶段的衔接带来困难。</a:t>
            </a:r>
          </a:p>
          <a:p>
            <a:endParaRPr lang="zh-CN" altLang="en-US" sz="2400" dirty="0"/>
          </a:p>
        </p:txBody>
      </p:sp>
    </p:spTree>
    <p:extLst>
      <p:ext uri="{BB962C8B-B14F-4D97-AF65-F5344CB8AC3E}">
        <p14:creationId xmlns:p14="http://schemas.microsoft.com/office/powerpoint/2010/main" val="3806272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a:t>
            </a:r>
            <a:r>
              <a:rPr lang="zh-CN" altLang="zh-CN" dirty="0"/>
              <a:t>结构化软件工程方法</a:t>
            </a:r>
            <a:r>
              <a:rPr lang="en-US" altLang="zh-CN" dirty="0"/>
              <a:t/>
            </a:r>
            <a:br>
              <a:rPr lang="en-US" altLang="zh-CN" dirty="0"/>
            </a:br>
            <a:endParaRPr lang="zh-CN" altLang="en-US" dirty="0"/>
          </a:p>
        </p:txBody>
      </p:sp>
      <p:sp>
        <p:nvSpPr>
          <p:cNvPr id="3" name="内容占位符 2"/>
          <p:cNvSpPr>
            <a:spLocks noGrp="1"/>
          </p:cNvSpPr>
          <p:nvPr>
            <p:ph idx="1"/>
          </p:nvPr>
        </p:nvSpPr>
        <p:spPr/>
        <p:txBody>
          <a:bodyPr>
            <a:noAutofit/>
          </a:bodyPr>
          <a:lstStyle/>
          <a:p>
            <a:r>
              <a:rPr lang="en-US" altLang="zh-CN" sz="2400" dirty="0"/>
              <a:t>2.2.2</a:t>
            </a:r>
            <a:r>
              <a:rPr lang="zh-CN" altLang="zh-CN" sz="2400" dirty="0"/>
              <a:t>结构化设计</a:t>
            </a:r>
          </a:p>
          <a:p>
            <a:r>
              <a:rPr lang="zh-CN" altLang="zh-CN" sz="2400" dirty="0"/>
              <a:t>问题域经过结构化分析之后，可以进行结构化设计，即概要设计（总体设计）和详细设计</a:t>
            </a:r>
            <a:r>
              <a:rPr lang="zh-CN" altLang="zh-CN" sz="2400" dirty="0" smtClean="0"/>
              <a:t>。</a:t>
            </a:r>
            <a:endParaRPr lang="en-US" altLang="zh-CN" sz="2400" dirty="0" smtClean="0"/>
          </a:p>
          <a:p>
            <a:r>
              <a:rPr lang="zh-CN" altLang="zh-CN" sz="2400" dirty="0" smtClean="0"/>
              <a:t>概要设计</a:t>
            </a:r>
            <a:r>
              <a:rPr lang="zh-CN" altLang="zh-CN" sz="2400" dirty="0"/>
              <a:t>主要是将系统分解为面向，并表示模块之间的接口和调用关系。详细设计则进一步描述模块内部，如数据结构或者算法。</a:t>
            </a:r>
          </a:p>
          <a:p>
            <a:r>
              <a:rPr lang="zh-CN" altLang="zh-CN" sz="2400" dirty="0"/>
              <a:t>结构化的概要设计在需求分析结果的基础上建立软件的总体结构，设计具体的数据结构，决定系统的模块结构，包括模块的划分、模块间的数据传递以及调用关系。在进行结构化软件设计时应该遵循的最主要的原理是模块独立。构成系统逻辑模型的是数据流图和数据字典</a:t>
            </a:r>
            <a:r>
              <a:rPr lang="zh-CN" altLang="zh-CN" sz="2400" dirty="0" smtClean="0"/>
              <a:t>。</a:t>
            </a:r>
            <a:endParaRPr lang="en-US" altLang="zh-CN" sz="2400" dirty="0" smtClean="0"/>
          </a:p>
          <a:p>
            <a:r>
              <a:rPr lang="zh-CN" altLang="zh-CN" sz="2400" dirty="0" smtClean="0"/>
              <a:t>结构化设计</a:t>
            </a:r>
            <a:r>
              <a:rPr lang="zh-CN" altLang="zh-CN" sz="2400" dirty="0"/>
              <a:t>的基本方法是从数据流图出发推导出软件的模块结构图，从数据字典推导出模块基本要求、数据存储要求、数据结构以及数据文件等。结构化分析与结构化设计是不同的表示体系，结构化需求分析的结果主要是数据流图。结构化设计主要是模块划分，其结果主要是模块的层次图或者结构图。</a:t>
            </a:r>
          </a:p>
          <a:p>
            <a:endParaRPr lang="zh-CN" altLang="en-US" sz="2400" dirty="0"/>
          </a:p>
        </p:txBody>
      </p:sp>
    </p:spTree>
    <p:extLst>
      <p:ext uri="{BB962C8B-B14F-4D97-AF65-F5344CB8AC3E}">
        <p14:creationId xmlns:p14="http://schemas.microsoft.com/office/powerpoint/2010/main" val="3806272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a:t>
            </a:r>
            <a:r>
              <a:rPr lang="zh-CN" altLang="zh-CN" dirty="0"/>
              <a:t>结构化软件工程方法</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zh-CN" altLang="zh-CN" sz="2400" dirty="0"/>
              <a:t>结构化详细设计是对概要设计进一步的细化，在概要设计基础上描述每一个模块的内部结构及其算法，最终将产生每一个模块的程序流程图。其目标是为软件结构图中的每一个模块提供程序员编程实现的具体算法。</a:t>
            </a:r>
          </a:p>
          <a:p>
            <a:r>
              <a:rPr lang="zh-CN" altLang="zh-CN" sz="2400" dirty="0" smtClean="0"/>
              <a:t>数据流图中</a:t>
            </a:r>
            <a:r>
              <a:rPr lang="zh-CN" altLang="zh-CN" sz="2400" dirty="0"/>
              <a:t>的一个数据流不能对应模块结构图中的模块数据，也不能对应模块之间的调用关系。数据流图中加工也不一定对应模块结构图中的一个模块，这种需求分析和设计之间表示体系的不一致是需求分析与设计之间的鸿沟。</a:t>
            </a:r>
          </a:p>
          <a:p>
            <a:endParaRPr lang="zh-CN" altLang="en-US" sz="2400" dirty="0"/>
          </a:p>
        </p:txBody>
      </p:sp>
    </p:spTree>
    <p:extLst>
      <p:ext uri="{BB962C8B-B14F-4D97-AF65-F5344CB8AC3E}">
        <p14:creationId xmlns:p14="http://schemas.microsoft.com/office/powerpoint/2010/main" val="3806272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a:t>
            </a:r>
            <a:r>
              <a:rPr lang="zh-CN" altLang="zh-CN" dirty="0"/>
              <a:t>结构化软件工程方法</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en-US" altLang="zh-CN" sz="2400" dirty="0"/>
              <a:t>2.2.3</a:t>
            </a:r>
            <a:r>
              <a:rPr lang="zh-CN" altLang="zh-CN" sz="2400" dirty="0"/>
              <a:t>结构化编码</a:t>
            </a:r>
          </a:p>
          <a:p>
            <a:r>
              <a:rPr lang="zh-CN" altLang="zh-CN" sz="2400" dirty="0"/>
              <a:t>经过概要设计和详细设计，开发人员对问题域的认识和描述越来越接近于系统的具体实现，即编码。编码阶级是利用一种编程语言产生一个能够被机器理解和执行的系统，是将软件设计的结果翻译成用某种程序设计语言书写的程序。作为软件工程的一个阶段，编码是软件设计的自然结果。</a:t>
            </a:r>
            <a:endParaRPr lang="zh-CN" altLang="en-US" sz="2400" dirty="0"/>
          </a:p>
        </p:txBody>
      </p:sp>
    </p:spTree>
    <p:extLst>
      <p:ext uri="{BB962C8B-B14F-4D97-AF65-F5344CB8AC3E}">
        <p14:creationId xmlns:p14="http://schemas.microsoft.com/office/powerpoint/2010/main" val="3806272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a:t>
            </a:r>
            <a:r>
              <a:rPr lang="zh-CN" altLang="zh-CN" dirty="0"/>
              <a:t>结构化软件工程方法</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en-US" altLang="zh-CN" sz="2400" dirty="0"/>
              <a:t>2.2.4</a:t>
            </a:r>
            <a:r>
              <a:rPr lang="zh-CN" altLang="zh-CN" sz="2400" dirty="0"/>
              <a:t>结构化测试</a:t>
            </a:r>
          </a:p>
          <a:p>
            <a:r>
              <a:rPr lang="zh-CN" altLang="zh-CN" sz="2400" dirty="0"/>
              <a:t>测试过程的目的是识别存在于软件产品中的缺陷。一般情况下，执行完测试之后也不能保证系统中没有任何缺陷。测试程序时需要一组测试输入，然后看看程序是否按照预期结果运行。如果程序没有按照预期运行，需要记录缺陷结果，然后修复，重新测试。</a:t>
            </a:r>
            <a:endParaRPr lang="zh-CN" altLang="en-US" sz="2400" dirty="0"/>
          </a:p>
        </p:txBody>
      </p:sp>
    </p:spTree>
    <p:extLst>
      <p:ext uri="{BB962C8B-B14F-4D97-AF65-F5344CB8AC3E}">
        <p14:creationId xmlns:p14="http://schemas.microsoft.com/office/powerpoint/2010/main" val="3806272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a:t>
            </a:r>
            <a:r>
              <a:rPr lang="zh-CN" altLang="zh-CN" dirty="0"/>
              <a:t>结构化软件工程方法</a:t>
            </a:r>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r>
              <a:rPr lang="en-US" altLang="zh-CN" sz="2400" dirty="0"/>
              <a:t>2.2.5</a:t>
            </a:r>
            <a:r>
              <a:rPr lang="zh-CN" altLang="zh-CN" sz="2400" dirty="0"/>
              <a:t>结构化维护</a:t>
            </a:r>
          </a:p>
          <a:p>
            <a:r>
              <a:rPr lang="zh-CN" altLang="zh-CN" sz="2400" dirty="0"/>
              <a:t>软件产品被开发出来并交付给用户使用后，就进入软件的运行与维护阶段，这个阶段是软件生命周期的最后一个阶段。</a:t>
            </a:r>
          </a:p>
          <a:p>
            <a:r>
              <a:rPr lang="zh-CN" altLang="zh-CN" sz="2400" dirty="0"/>
              <a:t>软件维护的最大难点是人们对软件的理解过程中所遇到的问题。结构化软件工程方法中，各个阶段软件文档的表示不一致，程序不能很好地反映问题域，从而使得维护工作比较困难。</a:t>
            </a:r>
          </a:p>
          <a:p>
            <a:endParaRPr lang="zh-CN" altLang="en-US" sz="2400" dirty="0"/>
          </a:p>
        </p:txBody>
      </p:sp>
    </p:spTree>
    <p:extLst>
      <p:ext uri="{BB962C8B-B14F-4D97-AF65-F5344CB8AC3E}">
        <p14:creationId xmlns:p14="http://schemas.microsoft.com/office/powerpoint/2010/main" val="3806272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面向对象需求分析、面向对象设计、面向对象编程、面向对象测试是构造面向对象系统的活动，也是构成面向对象软件工程的主要活动。</a:t>
            </a:r>
          </a:p>
          <a:p>
            <a:r>
              <a:rPr lang="zh-CN" altLang="zh-CN" sz="2400" dirty="0"/>
              <a:t>采用面向对象方法时，在需求分析阶段建立对象模型、动态模型、功能模型。在设计阶段使用对象模型，不断完善这三个模型。</a:t>
            </a:r>
            <a:endParaRPr lang="zh-CN" altLang="en-US" sz="2400" dirty="0"/>
          </a:p>
        </p:txBody>
      </p:sp>
    </p:spTree>
    <p:extLst>
      <p:ext uri="{BB962C8B-B14F-4D97-AF65-F5344CB8AC3E}">
        <p14:creationId xmlns:p14="http://schemas.microsoft.com/office/powerpoint/2010/main" val="2602315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a:xfrm>
            <a:off x="838200" y="1383185"/>
            <a:ext cx="10515600" cy="4351338"/>
          </a:xfrm>
        </p:spPr>
        <p:txBody>
          <a:bodyPr>
            <a:noAutofit/>
          </a:bodyPr>
          <a:lstStyle/>
          <a:p>
            <a:r>
              <a:rPr lang="en-US" altLang="zh-CN" sz="2400" dirty="0"/>
              <a:t>Coad </a:t>
            </a:r>
            <a:r>
              <a:rPr lang="zh-CN" altLang="zh-CN" sz="2400" dirty="0"/>
              <a:t>和</a:t>
            </a:r>
            <a:r>
              <a:rPr lang="en-US" altLang="zh-CN" sz="2400" dirty="0"/>
              <a:t>Yourdon </a:t>
            </a:r>
            <a:r>
              <a:rPr lang="zh-CN" altLang="zh-CN" sz="2400" dirty="0"/>
              <a:t>提出面向对象的概念： 面向对象</a:t>
            </a:r>
            <a:r>
              <a:rPr lang="en-US" altLang="zh-CN" sz="2400" dirty="0"/>
              <a:t> = </a:t>
            </a:r>
            <a:r>
              <a:rPr lang="zh-CN" altLang="zh-CN" sz="2400" dirty="0"/>
              <a:t>对象</a:t>
            </a:r>
            <a:r>
              <a:rPr lang="en-US" altLang="zh-CN" sz="2400" dirty="0"/>
              <a:t> + </a:t>
            </a:r>
            <a:r>
              <a:rPr lang="zh-CN" altLang="zh-CN" sz="2400" dirty="0"/>
              <a:t>类</a:t>
            </a:r>
            <a:r>
              <a:rPr lang="en-US" altLang="zh-CN" sz="2400" dirty="0"/>
              <a:t>+ </a:t>
            </a:r>
            <a:r>
              <a:rPr lang="zh-CN" altLang="zh-CN" sz="2400" dirty="0"/>
              <a:t>继承</a:t>
            </a:r>
            <a:r>
              <a:rPr lang="en-US" altLang="zh-CN" sz="2400" dirty="0"/>
              <a:t>+ </a:t>
            </a:r>
            <a:r>
              <a:rPr lang="zh-CN" altLang="zh-CN" sz="2400" dirty="0"/>
              <a:t>消息通信。</a:t>
            </a:r>
          </a:p>
          <a:p>
            <a:r>
              <a:rPr lang="zh-CN" altLang="zh-CN" sz="2400" dirty="0"/>
              <a:t>面向对象方法是一种运用对象、类、继承、消息传递、多态性等概念构造系统的软件开发方法。</a:t>
            </a:r>
          </a:p>
          <a:p>
            <a:r>
              <a:rPr lang="en-US" altLang="zh-CN" sz="2400" dirty="0"/>
              <a:t>1</a:t>
            </a:r>
            <a:r>
              <a:rPr lang="zh-CN" altLang="zh-CN" sz="2400" dirty="0"/>
              <a:t>）对象</a:t>
            </a:r>
          </a:p>
          <a:p>
            <a:r>
              <a:rPr lang="zh-CN" altLang="zh-CN" sz="2400" dirty="0"/>
              <a:t>面向对象开发模式的基本成份，是系统中描述客观事物的一个实体。是构成系统的一个基本单位，由一组属性和一组对属性进行操作的服务组成。</a:t>
            </a:r>
          </a:p>
          <a:p>
            <a:r>
              <a:rPr lang="zh-CN" altLang="zh-CN" sz="2400" dirty="0"/>
              <a:t>对象的特点：</a:t>
            </a:r>
          </a:p>
          <a:p>
            <a:r>
              <a:rPr lang="en-US" altLang="zh-CN" sz="2400" dirty="0"/>
              <a:t>a)</a:t>
            </a:r>
            <a:r>
              <a:rPr lang="zh-CN" altLang="zh-CN" sz="2400" dirty="0"/>
              <a:t>以数据为中心：操作围绕对数据所需的处理来设置</a:t>
            </a:r>
          </a:p>
          <a:p>
            <a:r>
              <a:rPr lang="en-US" altLang="zh-CN" sz="2400" dirty="0"/>
              <a:t>b)</a:t>
            </a:r>
            <a:r>
              <a:rPr lang="zh-CN" altLang="zh-CN" sz="2400" dirty="0"/>
              <a:t>对象是主动的：对象是进行处理的主体</a:t>
            </a:r>
          </a:p>
          <a:p>
            <a:r>
              <a:rPr lang="en-US" altLang="zh-CN" sz="2400" dirty="0"/>
              <a:t>c)</a:t>
            </a:r>
            <a:r>
              <a:rPr lang="zh-CN" altLang="zh-CN" sz="2400" dirty="0"/>
              <a:t>实现了数据封装：私有数据对外隐藏、不可见</a:t>
            </a:r>
          </a:p>
          <a:p>
            <a:r>
              <a:rPr lang="en-US" altLang="zh-CN" sz="2400" dirty="0"/>
              <a:t>d)</a:t>
            </a:r>
            <a:r>
              <a:rPr lang="zh-CN" altLang="zh-CN" sz="2400" dirty="0"/>
              <a:t>本质上具有并行性：不同对象独立地处理自身的数据</a:t>
            </a:r>
          </a:p>
          <a:p>
            <a:r>
              <a:rPr lang="en-US" altLang="zh-CN" sz="2400" dirty="0"/>
              <a:t>e)</a:t>
            </a:r>
            <a:r>
              <a:rPr lang="zh-CN" altLang="zh-CN" sz="2400" dirty="0"/>
              <a:t>模块独立性好：对象内部各元素彼此结合紧密，内聚性强</a:t>
            </a:r>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a:xfrm>
            <a:off x="838200" y="1530665"/>
            <a:ext cx="10515600" cy="4351338"/>
          </a:xfrm>
        </p:spPr>
        <p:txBody>
          <a:bodyPr>
            <a:noAutofit/>
          </a:bodyPr>
          <a:lstStyle/>
          <a:p>
            <a:r>
              <a:rPr lang="en-US" altLang="zh-CN" sz="2400" dirty="0"/>
              <a:t>2</a:t>
            </a:r>
            <a:r>
              <a:rPr lang="zh-CN" altLang="zh-CN" sz="2400" dirty="0"/>
              <a:t>）类</a:t>
            </a:r>
          </a:p>
          <a:p>
            <a:r>
              <a:rPr lang="zh-CN" altLang="zh-CN" sz="2400" dirty="0"/>
              <a:t>具有相同特征（属性）和行为（操作）的对象的集合构成了类。类的定义包括一组数据属性和一组合法操作。类的定义可以视为一个具有类似特性与共同行为的对象的模板，可以用来产生对象。在一个类中，每个对象都是类的实例，对象的状态包含在实例的属性中。</a:t>
            </a:r>
          </a:p>
          <a:p>
            <a:r>
              <a:rPr lang="en-US" altLang="zh-CN" sz="2400" dirty="0"/>
              <a:t>3</a:t>
            </a:r>
            <a:r>
              <a:rPr lang="zh-CN" altLang="zh-CN" sz="2400" dirty="0"/>
              <a:t>）消息</a:t>
            </a:r>
          </a:p>
          <a:p>
            <a:r>
              <a:rPr lang="zh-CN" altLang="zh-CN" sz="2400" dirty="0"/>
              <a:t>消息是一个对象与另一个对象之间传递的信息，要求某个对象执行类中定义的某个操作。消息的使用类似于函数调用，消息中指定了某一个对象名、一个操作名和一个参数表。接收消息的对象执行消息中指定的操作，并将传递过来的实参与参数表中对应的形参结合起来。</a:t>
            </a:r>
          </a:p>
          <a:p>
            <a:r>
              <a:rPr lang="en-US" altLang="zh-CN" sz="2400" dirty="0"/>
              <a:t>4</a:t>
            </a:r>
            <a:r>
              <a:rPr lang="zh-CN" altLang="zh-CN" sz="2400" dirty="0"/>
              <a:t>）继承</a:t>
            </a:r>
          </a:p>
          <a:p>
            <a:r>
              <a:rPr lang="zh-CN" altLang="zh-CN" sz="2400" dirty="0"/>
              <a:t>类与类之间可能具有一般化和特殊化关系，这种关系下形成的一种层次关联，即继承。继承是父类和子类之间共享数据和方法的机制，子类自动地共享父类中定义的数据和方法。</a:t>
            </a:r>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5</a:t>
            </a:r>
            <a:r>
              <a:rPr lang="zh-CN" altLang="zh-CN" sz="2400" dirty="0"/>
              <a:t>）多态性</a:t>
            </a:r>
          </a:p>
          <a:p>
            <a:r>
              <a:rPr lang="zh-CN" altLang="zh-CN" sz="2400" dirty="0"/>
              <a:t>对象互相通信从而执行系统的功能，不同的对象对同一消息有不同的实现。</a:t>
            </a:r>
          </a:p>
          <a:p>
            <a:r>
              <a:rPr lang="zh-CN" altLang="zh-CN" sz="2400" dirty="0"/>
              <a:t>多态的实现受继承的支持：</a:t>
            </a:r>
          </a:p>
          <a:p>
            <a:r>
              <a:rPr lang="zh-CN" altLang="zh-CN" sz="2400" dirty="0"/>
              <a:t>利用类继承的层次关系，把具有通用功能的消息存放在高层；</a:t>
            </a:r>
          </a:p>
          <a:p>
            <a:r>
              <a:rPr lang="zh-CN" altLang="zh-CN" sz="2400" dirty="0"/>
              <a:t>实现该功能的不同的行为放在低层，在低层上生成的对象能够给通用消息以不同的响应。</a:t>
            </a:r>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6</a:t>
            </a:r>
            <a:r>
              <a:rPr lang="zh-CN" altLang="zh-CN" sz="2400" dirty="0"/>
              <a:t>）封装性</a:t>
            </a:r>
          </a:p>
          <a:p>
            <a:r>
              <a:rPr lang="zh-CN" altLang="zh-CN" sz="2400" dirty="0"/>
              <a:t>面向对象软件开发的重要原则，有两个含义：一是指对象的全部属性和全部操作结合在一起，形成一个不可分割的整体；二是指对象只保留有限的对外接口使之对外发生联系，外界不可以直接访问和存取对象的属性，只能通过允许的接口操作，这样就隐藏了对象的内部细节。</a:t>
            </a:r>
          </a:p>
          <a:p>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面向对象方法学的出发点和基本原则，尽可能模拟人类习惯的思维方式，使开发软件的方法与过程尽可能地接近人类认识世界解决问题的方法与过程；使描述问题的问题空间</a:t>
            </a:r>
            <a:r>
              <a:rPr lang="en-US" altLang="zh-CN" sz="2400" dirty="0"/>
              <a:t>/</a:t>
            </a:r>
            <a:r>
              <a:rPr lang="zh-CN" altLang="zh-CN" sz="2400" dirty="0"/>
              <a:t>问题域与实现解法的解空间</a:t>
            </a:r>
            <a:r>
              <a:rPr lang="en-US" altLang="zh-CN" sz="2400" dirty="0"/>
              <a:t>/</a:t>
            </a:r>
            <a:r>
              <a:rPr lang="zh-CN" altLang="zh-CN" sz="2400" dirty="0"/>
              <a:t>求解域在结构上尽可能一致</a:t>
            </a:r>
            <a:r>
              <a:rPr lang="zh-CN" altLang="zh-CN" sz="2400" dirty="0" smtClean="0"/>
              <a:t>。</a:t>
            </a:r>
            <a:endParaRPr lang="en-US" altLang="zh-CN" sz="2400" dirty="0" smtClean="0"/>
          </a:p>
          <a:p>
            <a:r>
              <a:rPr lang="en-US" altLang="zh-CN" sz="2400" dirty="0"/>
              <a:t>2.3.1</a:t>
            </a:r>
            <a:r>
              <a:rPr lang="zh-CN" altLang="zh-CN" sz="2400" dirty="0"/>
              <a:t>面向对象分析</a:t>
            </a:r>
          </a:p>
          <a:p>
            <a:r>
              <a:rPr lang="en-US" altLang="zh-CN" sz="2400" dirty="0"/>
              <a:t>2.3.2</a:t>
            </a:r>
            <a:r>
              <a:rPr lang="zh-CN" altLang="zh-CN" sz="2400" dirty="0"/>
              <a:t>面向对象设计</a:t>
            </a:r>
          </a:p>
          <a:p>
            <a:r>
              <a:rPr lang="en-US" altLang="zh-CN" sz="2400" dirty="0"/>
              <a:t>2.3.3</a:t>
            </a:r>
            <a:r>
              <a:rPr lang="zh-CN" altLang="zh-CN" sz="2400" dirty="0"/>
              <a:t>面向对象编码</a:t>
            </a:r>
          </a:p>
          <a:p>
            <a:r>
              <a:rPr lang="en-US" altLang="zh-CN" sz="2400" dirty="0"/>
              <a:t>2.3.4</a:t>
            </a:r>
            <a:r>
              <a:rPr lang="zh-CN" altLang="zh-CN" sz="2400" dirty="0"/>
              <a:t>面向对象测试</a:t>
            </a:r>
          </a:p>
          <a:p>
            <a:r>
              <a:rPr lang="en-US" altLang="zh-CN" sz="2400" dirty="0"/>
              <a:t>2.3.5</a:t>
            </a:r>
            <a:r>
              <a:rPr lang="zh-CN" altLang="zh-CN" sz="2400" dirty="0"/>
              <a:t>面向对象维护</a:t>
            </a:r>
          </a:p>
          <a:p>
            <a:r>
              <a:rPr lang="en-US" altLang="zh-CN" sz="2400" dirty="0"/>
              <a:t>2.3.6</a:t>
            </a:r>
            <a:r>
              <a:rPr lang="zh-CN" altLang="zh-CN" sz="2400" dirty="0"/>
              <a:t>面向对象建模工具</a:t>
            </a:r>
            <a:r>
              <a:rPr lang="en-US" altLang="zh-CN" sz="2400" dirty="0"/>
              <a:t>UML</a:t>
            </a:r>
            <a:endParaRPr lang="zh-CN" altLang="zh-CN" sz="2400" dirty="0"/>
          </a:p>
          <a:p>
            <a:endParaRPr lang="zh-CN" altLang="zh-CN" sz="2400" dirty="0"/>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2.3.1</a:t>
            </a:r>
            <a:r>
              <a:rPr lang="zh-CN" altLang="zh-CN" sz="2400" dirty="0"/>
              <a:t>面向对象分析</a:t>
            </a:r>
          </a:p>
          <a:p>
            <a:r>
              <a:rPr lang="en-US" altLang="zh-CN" sz="2400" dirty="0"/>
              <a:t>OOA</a:t>
            </a:r>
            <a:r>
              <a:rPr lang="zh-CN" altLang="zh-CN" sz="2400" dirty="0"/>
              <a:t>（</a:t>
            </a:r>
            <a:r>
              <a:rPr lang="en-US" altLang="zh-CN" sz="2400" dirty="0"/>
              <a:t>Object-Oriented Analysis</a:t>
            </a:r>
            <a:r>
              <a:rPr lang="zh-CN" altLang="zh-CN" sz="2400" dirty="0"/>
              <a:t>）的目的是理解应用问题和用户需求，准确定义问题域，建立问题域的精确模型。</a:t>
            </a:r>
            <a:r>
              <a:rPr lang="en-US" altLang="zh-CN" sz="2400" dirty="0"/>
              <a:t>OOA</a:t>
            </a:r>
            <a:r>
              <a:rPr lang="zh-CN" altLang="zh-CN" sz="2400" dirty="0"/>
              <a:t>从分析陈述用户需求的文件开始，是抽取和整理用户需求，并建立问题域精确模型的过程，使用户需求逐步精确化、一致化、完全化。分析工作主要包含理解、表达和验证。</a:t>
            </a:r>
          </a:p>
          <a:p>
            <a:r>
              <a:rPr lang="en-US" altLang="zh-CN" sz="2400" dirty="0"/>
              <a:t>OOA</a:t>
            </a:r>
            <a:r>
              <a:rPr lang="zh-CN" altLang="zh-CN" sz="2400" dirty="0"/>
              <a:t>是一个分类活动，即分析问题，力图确定在开发解决方案时可应用的对象类及其关系和行为。</a:t>
            </a:r>
          </a:p>
          <a:p>
            <a:r>
              <a:rPr lang="zh-CN" altLang="zh-CN" sz="2400" dirty="0"/>
              <a:t>对象模型描述系统的静态结构，包括构成系统的对象类，它们的属性、操作及它们之间的关系。通常，使用类图建立对象模型。</a:t>
            </a:r>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2.3.2</a:t>
            </a:r>
            <a:r>
              <a:rPr lang="zh-CN" altLang="zh-CN" sz="2400" dirty="0"/>
              <a:t>面向对象设计</a:t>
            </a:r>
          </a:p>
          <a:p>
            <a:r>
              <a:rPr lang="en-US" altLang="zh-CN" sz="2400" dirty="0"/>
              <a:t> </a:t>
            </a:r>
            <a:r>
              <a:rPr lang="en-US" altLang="zh-CN" sz="2400" dirty="0" smtClean="0"/>
              <a:t>OOD</a:t>
            </a:r>
            <a:r>
              <a:rPr lang="zh-CN" altLang="zh-CN" sz="2400" dirty="0"/>
              <a:t>是用面向对象观点建立求解域模型的过程，使软件工程师能够从实现的角度，确定从类中导出的对象，以及对象的相互关联，描述了：对象间的关系如何达到；行为如何实现；对象间通信如何实现。</a:t>
            </a:r>
          </a:p>
          <a:p>
            <a:r>
              <a:rPr lang="zh-CN" altLang="zh-CN" sz="2400" dirty="0"/>
              <a:t>面向对象设计的过程将已建立的</a:t>
            </a:r>
            <a:r>
              <a:rPr lang="en-US" altLang="zh-CN" sz="2400" dirty="0"/>
              <a:t>OOA</a:t>
            </a:r>
            <a:r>
              <a:rPr lang="zh-CN" altLang="zh-CN" sz="2400" dirty="0"/>
              <a:t>模型变成</a:t>
            </a:r>
            <a:r>
              <a:rPr lang="en-US" altLang="zh-CN" sz="2400" dirty="0"/>
              <a:t>OOD</a:t>
            </a:r>
            <a:r>
              <a:rPr lang="zh-CN" altLang="zh-CN" sz="2400" dirty="0"/>
              <a:t>模型，运用面向对象技术进行软件设计，建立求解域模型，并补充一些与实现有关的部分。</a:t>
            </a:r>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2.3.3</a:t>
            </a:r>
            <a:r>
              <a:rPr lang="zh-CN" altLang="zh-CN" sz="2400" dirty="0"/>
              <a:t>面向对象编码</a:t>
            </a:r>
          </a:p>
          <a:p>
            <a:r>
              <a:rPr lang="zh-CN" altLang="zh-CN" sz="2400" dirty="0"/>
              <a:t>面向对象实现包括两项工作：把面向对象设计结果，翻译成用某种程序设计语言书写的面向对象程序；测试并调试面向对象程序。</a:t>
            </a:r>
          </a:p>
          <a:p>
            <a:r>
              <a:rPr lang="zh-CN" altLang="zh-CN" sz="2400" dirty="0"/>
              <a:t>程序的质量基本上由面向对象设计的质量决定。</a:t>
            </a:r>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2.3.4</a:t>
            </a:r>
            <a:r>
              <a:rPr lang="zh-CN" altLang="zh-CN" sz="2400" dirty="0"/>
              <a:t>面向对象测试</a:t>
            </a:r>
          </a:p>
          <a:p>
            <a:r>
              <a:rPr lang="zh-CN" altLang="zh-CN" sz="2400" dirty="0"/>
              <a:t>面向对象测试策略从小规模测试开始，逐步过渡到大规模测试，就是从单元测试开始，逐步进入集成测试，最后进行确认测试和系统测试。</a:t>
            </a:r>
          </a:p>
          <a:p>
            <a:r>
              <a:rPr lang="zh-CN" altLang="zh-CN" sz="2400" dirty="0"/>
              <a:t>面向对象的单元测试：类和类的实例包装了属性和处理这些数据的操作。最小的可测试单元是封装起来的类和对象。</a:t>
            </a:r>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2.3.5</a:t>
            </a:r>
            <a:r>
              <a:rPr lang="zh-CN" altLang="zh-CN" sz="2400" dirty="0"/>
              <a:t>面向对象维护</a:t>
            </a:r>
          </a:p>
          <a:p>
            <a:r>
              <a:rPr lang="zh-CN" altLang="zh-CN" sz="2400" dirty="0"/>
              <a:t>面向对象软件工程方法从面向对象分析、面向对象设计、面向对象编程等，各个阶段表示都一致，大大降低了理解的难度。对象的封装性使得一个对象的修改对其他对象的影响较小，避免了波动效应。面向对象的维护过程比结构化维护过程简单些。</a:t>
            </a:r>
          </a:p>
          <a:p>
            <a:endParaRPr lang="zh-CN" altLang="en-US" sz="2400" dirty="0"/>
          </a:p>
        </p:txBody>
      </p:sp>
    </p:spTree>
    <p:extLst>
      <p:ext uri="{BB962C8B-B14F-4D97-AF65-F5344CB8AC3E}">
        <p14:creationId xmlns:p14="http://schemas.microsoft.com/office/powerpoint/2010/main" val="3476194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a:xfrm>
            <a:off x="838200" y="1648649"/>
            <a:ext cx="10515600" cy="4351338"/>
          </a:xfrm>
        </p:spPr>
        <p:txBody>
          <a:bodyPr>
            <a:noAutofit/>
          </a:bodyPr>
          <a:lstStyle/>
          <a:p>
            <a:r>
              <a:rPr lang="en-US" altLang="zh-CN" sz="2400" dirty="0"/>
              <a:t>2.3.6</a:t>
            </a:r>
            <a:r>
              <a:rPr lang="zh-CN" altLang="zh-CN" sz="2400" dirty="0"/>
              <a:t>面向对象建模工具</a:t>
            </a:r>
            <a:r>
              <a:rPr lang="en-US" altLang="zh-CN" sz="2400" dirty="0"/>
              <a:t>UML</a:t>
            </a:r>
            <a:endParaRPr lang="zh-CN" altLang="zh-CN" sz="2400" dirty="0"/>
          </a:p>
          <a:p>
            <a:r>
              <a:rPr lang="zh-CN" altLang="zh-CN" sz="2400" dirty="0"/>
              <a:t>统一建模语言</a:t>
            </a:r>
            <a:r>
              <a:rPr lang="en-US" altLang="zh-CN" sz="2400" dirty="0"/>
              <a:t>UML</a:t>
            </a:r>
            <a:r>
              <a:rPr lang="zh-CN" altLang="zh-CN" sz="2400" dirty="0"/>
              <a:t>是一个建模语言，常用于建立软件系统的模型，适用于系统开发的不同阶段。</a:t>
            </a:r>
          </a:p>
          <a:p>
            <a:r>
              <a:rPr lang="en-US" altLang="zh-CN" sz="2400" dirty="0"/>
              <a:t>1</a:t>
            </a:r>
            <a:r>
              <a:rPr lang="zh-CN" altLang="zh-CN" sz="2400" dirty="0"/>
              <a:t>）用户需求</a:t>
            </a:r>
          </a:p>
          <a:p>
            <a:r>
              <a:rPr lang="zh-CN" altLang="zh-CN" sz="2400" dirty="0"/>
              <a:t>该阶段可使用例图来捕获用户的需求，用例图从用户的角度来描述系统的功能，表示了操作者与系统的一个交互过程。通过用例建模，描述对系统感兴趣的外部角色和他们对系统的功能要求。</a:t>
            </a:r>
          </a:p>
          <a:p>
            <a:r>
              <a:rPr lang="en-US" altLang="zh-CN" sz="2400" dirty="0"/>
              <a:t>2</a:t>
            </a:r>
            <a:r>
              <a:rPr lang="zh-CN" altLang="zh-CN" sz="2400" dirty="0"/>
              <a:t>）系统分析</a:t>
            </a:r>
          </a:p>
          <a:p>
            <a:r>
              <a:rPr lang="zh-CN" altLang="zh-CN" sz="2400" dirty="0"/>
              <a:t>分析阶段主要关心问题域中的主要概念，如对象、类以及它们之间的关系等，需要建立系统的静态模型，可用类图来描述。</a:t>
            </a:r>
          </a:p>
          <a:p>
            <a:r>
              <a:rPr lang="zh-CN" altLang="zh-CN" sz="2400" dirty="0"/>
              <a:t>为了实现用例，类之间需要协作，可以用动态模型的状态图、顺序图和合作图来描述。在分析阶段，只考虑问题域中的对象建模，通过静态模型和动态模型来描述系统结构和系统行为</a:t>
            </a:r>
            <a:r>
              <a:rPr lang="zh-CN" altLang="zh-CN" sz="2400" dirty="0" smtClean="0"/>
              <a:t>。</a:t>
            </a:r>
            <a:endParaRPr lang="zh-CN" altLang="zh-CN" sz="2400" dirty="0"/>
          </a:p>
        </p:txBody>
      </p:sp>
    </p:spTree>
    <p:extLst>
      <p:ext uri="{BB962C8B-B14F-4D97-AF65-F5344CB8AC3E}">
        <p14:creationId xmlns:p14="http://schemas.microsoft.com/office/powerpoint/2010/main" val="8322649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en-US" altLang="zh-CN" sz="2400" dirty="0"/>
              <a:t>3</a:t>
            </a:r>
            <a:r>
              <a:rPr lang="zh-CN" altLang="zh-CN" sz="2400" dirty="0"/>
              <a:t>）系统设计</a:t>
            </a:r>
          </a:p>
          <a:p>
            <a:r>
              <a:rPr lang="zh-CN" altLang="zh-CN" sz="2400" dirty="0"/>
              <a:t>在分析阶段建立的分析模型基础上，考虑定义软件系统中的技术细节用到的类，如引入处理用户交互的接口类、处理数据的类、处理通信和并行性的类。因此，设计阶段为实现阶段提供了更详细的设计说明。</a:t>
            </a:r>
          </a:p>
          <a:p>
            <a:r>
              <a:rPr lang="en-US" altLang="zh-CN" sz="2400" dirty="0"/>
              <a:t>4</a:t>
            </a:r>
            <a:r>
              <a:rPr lang="zh-CN" altLang="zh-CN" sz="2400" dirty="0"/>
              <a:t>）系统实现</a:t>
            </a:r>
          </a:p>
          <a:p>
            <a:r>
              <a:rPr lang="zh-CN" altLang="zh-CN" sz="2400" dirty="0"/>
              <a:t>实现阶段的任务是使用面向对象程序设计语言，将来自设计阶段的类转换成源程序代码，用构件图来描述代码构件的物理结构以及构件之间的关系。用配置图来描述和定义系统中软硬件的物理体系结构。</a:t>
            </a:r>
          </a:p>
          <a:p>
            <a:r>
              <a:rPr lang="en-US" altLang="zh-CN" sz="2400" dirty="0"/>
              <a:t>5</a:t>
            </a:r>
            <a:r>
              <a:rPr lang="zh-CN" altLang="zh-CN" sz="2400" dirty="0"/>
              <a:t>）测试</a:t>
            </a:r>
          </a:p>
          <a:p>
            <a:r>
              <a:rPr lang="en-US" altLang="zh-CN" sz="2400" dirty="0"/>
              <a:t>UML</a:t>
            </a:r>
            <a:r>
              <a:rPr lang="zh-CN" altLang="zh-CN" sz="2400" dirty="0"/>
              <a:t>建立的模型也是测试阶段的依据。可使用类图进行单元测试，可使用构件图、合作图进行集成测试，可使用用例图进行确认测试，以验证测试结果是否满足用户的需求。</a:t>
            </a:r>
          </a:p>
          <a:p>
            <a:endParaRPr lang="zh-CN" altLang="en-US" sz="2400" dirty="0"/>
          </a:p>
          <a:p>
            <a:endParaRPr lang="zh-CN" altLang="en-US" sz="2400" dirty="0"/>
          </a:p>
        </p:txBody>
      </p:sp>
    </p:spTree>
    <p:extLst>
      <p:ext uri="{BB962C8B-B14F-4D97-AF65-F5344CB8AC3E}">
        <p14:creationId xmlns:p14="http://schemas.microsoft.com/office/powerpoint/2010/main" val="832264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UML</a:t>
            </a:r>
            <a:r>
              <a:rPr lang="zh-CN" altLang="zh-CN" sz="2400" dirty="0"/>
              <a:t>表示法分为通用表示和图形表示两种。</a:t>
            </a:r>
          </a:p>
          <a:p>
            <a:r>
              <a:rPr lang="en-US" altLang="zh-CN" sz="2400" dirty="0"/>
              <a:t>1</a:t>
            </a:r>
            <a:r>
              <a:rPr lang="zh-CN" altLang="zh-CN" sz="2400" dirty="0"/>
              <a:t>）通用表示</a:t>
            </a:r>
          </a:p>
          <a:p>
            <a:r>
              <a:rPr lang="zh-CN" altLang="zh-CN" sz="2400" dirty="0"/>
              <a:t>通用表示如下所示：</a:t>
            </a:r>
          </a:p>
          <a:p>
            <a:r>
              <a:rPr lang="zh-CN" altLang="zh-CN" sz="2400" dirty="0"/>
              <a:t>（</a:t>
            </a:r>
            <a:r>
              <a:rPr lang="en-US" altLang="zh-CN" sz="2400" dirty="0"/>
              <a:t>1</a:t>
            </a:r>
            <a:r>
              <a:rPr lang="zh-CN" altLang="zh-CN" sz="2400" dirty="0"/>
              <a:t>）字符串：用于表示有关模型的信息。</a:t>
            </a:r>
          </a:p>
          <a:p>
            <a:r>
              <a:rPr lang="zh-CN" altLang="zh-CN" sz="2400" dirty="0"/>
              <a:t>（</a:t>
            </a:r>
            <a:r>
              <a:rPr lang="en-US" altLang="zh-CN" sz="2400" dirty="0"/>
              <a:t>2</a:t>
            </a:r>
            <a:r>
              <a:rPr lang="zh-CN" altLang="zh-CN" sz="2400" dirty="0"/>
              <a:t>）名字：用于表示模型元素。</a:t>
            </a:r>
          </a:p>
          <a:p>
            <a:r>
              <a:rPr lang="zh-CN" altLang="zh-CN" sz="2400" dirty="0"/>
              <a:t>（</a:t>
            </a:r>
            <a:r>
              <a:rPr lang="en-US" altLang="zh-CN" sz="2400" dirty="0"/>
              <a:t>3</a:t>
            </a:r>
            <a:r>
              <a:rPr lang="zh-CN" altLang="zh-CN" sz="2400" dirty="0"/>
              <a:t>）标号：用于表示缚于图形符号的字符号。</a:t>
            </a:r>
          </a:p>
          <a:p>
            <a:r>
              <a:rPr lang="zh-CN" altLang="zh-CN" sz="2400" dirty="0"/>
              <a:t>（</a:t>
            </a:r>
            <a:r>
              <a:rPr lang="en-US" altLang="zh-CN" sz="2400" dirty="0"/>
              <a:t>4</a:t>
            </a:r>
            <a:r>
              <a:rPr lang="zh-CN" altLang="zh-CN" sz="2400" dirty="0"/>
              <a:t>）特定字符串：用于表示缚于模型元素的特性。</a:t>
            </a:r>
          </a:p>
          <a:p>
            <a:r>
              <a:rPr lang="zh-CN" altLang="zh-CN" sz="2400" dirty="0"/>
              <a:t>（</a:t>
            </a:r>
            <a:r>
              <a:rPr lang="en-US" altLang="zh-CN" sz="2400" dirty="0"/>
              <a:t>5</a:t>
            </a:r>
            <a:r>
              <a:rPr lang="zh-CN" altLang="zh-CN" sz="2400" dirty="0"/>
              <a:t>）类型表达式：用于声明属性变量和参数。</a:t>
            </a:r>
          </a:p>
          <a:p>
            <a:r>
              <a:rPr lang="zh-CN" altLang="zh-CN" sz="2400" dirty="0"/>
              <a:t>（</a:t>
            </a:r>
            <a:r>
              <a:rPr lang="en-US" altLang="zh-CN" sz="2400" dirty="0"/>
              <a:t>6</a:t>
            </a:r>
            <a:r>
              <a:rPr lang="zh-CN" altLang="zh-CN" sz="2400" dirty="0"/>
              <a:t>）定制：是一种机制，用已有的模型元素来定义新的模型元素。</a:t>
            </a:r>
          </a:p>
          <a:p>
            <a:endParaRPr lang="zh-CN" altLang="en-US" sz="2400" dirty="0"/>
          </a:p>
        </p:txBody>
      </p:sp>
    </p:spTree>
    <p:extLst>
      <p:ext uri="{BB962C8B-B14F-4D97-AF65-F5344CB8AC3E}">
        <p14:creationId xmlns:p14="http://schemas.microsoft.com/office/powerpoint/2010/main" val="832264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2</a:t>
            </a:r>
            <a:r>
              <a:rPr lang="zh-CN" altLang="zh-CN" sz="2400" dirty="0"/>
              <a:t>）图形表示</a:t>
            </a:r>
          </a:p>
          <a:p>
            <a:r>
              <a:rPr lang="en-US" altLang="zh-CN" sz="2400" dirty="0"/>
              <a:t>UML</a:t>
            </a:r>
            <a:r>
              <a:rPr lang="zh-CN" altLang="zh-CN" sz="2400" dirty="0"/>
              <a:t>的模型是用图来表示的，共有</a:t>
            </a:r>
            <a:r>
              <a:rPr lang="en-US" altLang="zh-CN" sz="2400" dirty="0"/>
              <a:t>5</a:t>
            </a:r>
            <a:r>
              <a:rPr lang="zh-CN" altLang="zh-CN" sz="2400" dirty="0"/>
              <a:t>类</a:t>
            </a:r>
            <a:r>
              <a:rPr lang="en-US" altLang="zh-CN" sz="2400" dirty="0"/>
              <a:t>10</a:t>
            </a:r>
            <a:r>
              <a:rPr lang="zh-CN" altLang="zh-CN" sz="2400" dirty="0"/>
              <a:t>种图如下所示：</a:t>
            </a:r>
          </a:p>
          <a:p>
            <a:r>
              <a:rPr lang="zh-CN" altLang="zh-CN" sz="2400" dirty="0"/>
              <a:t>（</a:t>
            </a:r>
            <a:r>
              <a:rPr lang="en-US" altLang="zh-CN" sz="2400" dirty="0"/>
              <a:t>1</a:t>
            </a:r>
            <a:r>
              <a:rPr lang="zh-CN" altLang="zh-CN" sz="2400" dirty="0"/>
              <a:t>）用例图：用于表示系统的功能，并指出各功能的操作者。</a:t>
            </a:r>
          </a:p>
          <a:p>
            <a:r>
              <a:rPr lang="zh-CN" altLang="zh-CN" sz="2400" dirty="0"/>
              <a:t>（</a:t>
            </a:r>
            <a:r>
              <a:rPr lang="en-US" altLang="zh-CN" sz="2400" dirty="0"/>
              <a:t>2</a:t>
            </a:r>
            <a:r>
              <a:rPr lang="zh-CN" altLang="zh-CN" sz="2400" dirty="0"/>
              <a:t>）静态图：包括类图、对象图及包图，表示系统的静态结构。</a:t>
            </a:r>
          </a:p>
          <a:p>
            <a:r>
              <a:rPr lang="zh-CN" altLang="zh-CN" sz="2400" dirty="0"/>
              <a:t>（</a:t>
            </a:r>
            <a:r>
              <a:rPr lang="en-US" altLang="zh-CN" sz="2400" dirty="0"/>
              <a:t>3</a:t>
            </a:r>
            <a:r>
              <a:rPr lang="zh-CN" altLang="zh-CN" sz="2400" dirty="0"/>
              <a:t>）行为图：包括状态图和活动图，用于描述系统的动态行为和对象之间的交互关系。</a:t>
            </a:r>
          </a:p>
          <a:p>
            <a:r>
              <a:rPr lang="zh-CN" altLang="zh-CN" sz="2400" dirty="0"/>
              <a:t>（</a:t>
            </a:r>
            <a:r>
              <a:rPr lang="en-US" altLang="zh-CN" sz="2400" dirty="0"/>
              <a:t>4</a:t>
            </a:r>
            <a:r>
              <a:rPr lang="zh-CN" altLang="zh-CN" sz="2400" dirty="0"/>
              <a:t>）交互图：包括顺序图（或者时序图）和合作图（或者协作图），用于描述系统的对象之间的动态合作关系。</a:t>
            </a:r>
          </a:p>
          <a:p>
            <a:r>
              <a:rPr lang="zh-CN" altLang="zh-CN" sz="2400" dirty="0"/>
              <a:t>（</a:t>
            </a:r>
            <a:r>
              <a:rPr lang="en-US" altLang="zh-CN" sz="2400" dirty="0"/>
              <a:t>5</a:t>
            </a:r>
            <a:r>
              <a:rPr lang="zh-CN" altLang="zh-CN" sz="2400" dirty="0"/>
              <a:t>）实现图：包括构件图（或者组件图）和配置图（或者分布图），用于描述系统的物理实现。</a:t>
            </a:r>
          </a:p>
          <a:p>
            <a:endParaRPr lang="zh-CN" altLang="en-US" sz="2400" dirty="0"/>
          </a:p>
        </p:txBody>
      </p:sp>
    </p:spTree>
    <p:extLst>
      <p:ext uri="{BB962C8B-B14F-4D97-AF65-F5344CB8AC3E}">
        <p14:creationId xmlns:p14="http://schemas.microsoft.com/office/powerpoint/2010/main" val="832264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a:t>
            </a:r>
            <a:r>
              <a:rPr lang="zh-CN" altLang="zh-CN" dirty="0"/>
              <a:t>面向对象软件工程</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通常，利用下面的图来观察系统的静态部分：</a:t>
            </a:r>
          </a:p>
          <a:p>
            <a:r>
              <a:rPr lang="en-US" altLang="zh-CN" sz="2000" dirty="0"/>
              <a:t>1</a:t>
            </a:r>
            <a:r>
              <a:rPr lang="zh-CN" altLang="zh-CN" sz="2000" dirty="0"/>
              <a:t>）类图</a:t>
            </a:r>
            <a:r>
              <a:rPr lang="en-US" altLang="zh-CN" sz="2000" dirty="0"/>
              <a:t>(Class Diagram):</a:t>
            </a:r>
            <a:r>
              <a:rPr lang="zh-CN" altLang="zh-CN" sz="2000" dirty="0"/>
              <a:t>类、接口和协作</a:t>
            </a:r>
          </a:p>
          <a:p>
            <a:r>
              <a:rPr lang="en-US" altLang="zh-CN" sz="2000" dirty="0"/>
              <a:t>2</a:t>
            </a:r>
            <a:r>
              <a:rPr lang="zh-CN" altLang="zh-CN" sz="2000" dirty="0"/>
              <a:t>）对象图</a:t>
            </a:r>
            <a:r>
              <a:rPr lang="en-US" altLang="zh-CN" sz="2000" dirty="0"/>
              <a:t>(Object Diagram):</a:t>
            </a:r>
            <a:r>
              <a:rPr lang="zh-CN" altLang="zh-CN" sz="2000" dirty="0"/>
              <a:t>对象</a:t>
            </a:r>
          </a:p>
          <a:p>
            <a:r>
              <a:rPr lang="en-US" altLang="zh-CN" sz="2000" dirty="0"/>
              <a:t>3</a:t>
            </a:r>
            <a:r>
              <a:rPr lang="zh-CN" altLang="zh-CN" sz="2000" dirty="0"/>
              <a:t>）组件图</a:t>
            </a:r>
            <a:r>
              <a:rPr lang="en-US" altLang="zh-CN" sz="2000" dirty="0"/>
              <a:t>(Component Diagram) </a:t>
            </a:r>
            <a:endParaRPr lang="zh-CN" altLang="zh-CN" sz="2000" dirty="0"/>
          </a:p>
          <a:p>
            <a:r>
              <a:rPr lang="en-US" altLang="zh-CN" sz="2000" dirty="0"/>
              <a:t>4</a:t>
            </a:r>
            <a:r>
              <a:rPr lang="zh-CN" altLang="zh-CN" sz="2000" dirty="0"/>
              <a:t>）分布图</a:t>
            </a:r>
            <a:r>
              <a:rPr lang="en-US" altLang="zh-CN" sz="2000" dirty="0"/>
              <a:t>(Deployment Diagram)</a:t>
            </a:r>
            <a:endParaRPr lang="zh-CN" altLang="zh-CN" sz="2000" dirty="0"/>
          </a:p>
          <a:p>
            <a:r>
              <a:rPr lang="en-US" altLang="zh-CN" sz="2000" dirty="0"/>
              <a:t> </a:t>
            </a:r>
            <a:endParaRPr lang="zh-CN" altLang="zh-CN" sz="2000" dirty="0"/>
          </a:p>
          <a:p>
            <a:r>
              <a:rPr lang="zh-CN" altLang="zh-CN" sz="2000" dirty="0"/>
              <a:t>使用下面的五种图来观察系统动态的方面：</a:t>
            </a:r>
          </a:p>
          <a:p>
            <a:r>
              <a:rPr lang="en-US" altLang="zh-CN" sz="2000" dirty="0"/>
              <a:t>1</a:t>
            </a:r>
            <a:r>
              <a:rPr lang="zh-CN" altLang="zh-CN" sz="2000" dirty="0"/>
              <a:t>）用例图</a:t>
            </a:r>
            <a:r>
              <a:rPr lang="en-US" altLang="zh-CN" sz="2000" dirty="0"/>
              <a:t>(Use case)</a:t>
            </a:r>
            <a:endParaRPr lang="zh-CN" altLang="zh-CN" sz="2000" dirty="0"/>
          </a:p>
          <a:p>
            <a:r>
              <a:rPr lang="en-US" altLang="zh-CN" sz="2000" dirty="0"/>
              <a:t>2</a:t>
            </a:r>
            <a:r>
              <a:rPr lang="zh-CN" altLang="zh-CN" sz="2000" dirty="0"/>
              <a:t>）序列图</a:t>
            </a:r>
            <a:r>
              <a:rPr lang="en-US" altLang="zh-CN" sz="2000" dirty="0"/>
              <a:t>(Sequence Diagram)</a:t>
            </a:r>
            <a:endParaRPr lang="zh-CN" altLang="zh-CN" sz="2000" dirty="0"/>
          </a:p>
          <a:p>
            <a:r>
              <a:rPr lang="en-US" altLang="zh-CN" sz="2000" dirty="0"/>
              <a:t>3</a:t>
            </a:r>
            <a:r>
              <a:rPr lang="zh-CN" altLang="zh-CN" sz="2000" dirty="0"/>
              <a:t>）协作图</a:t>
            </a:r>
            <a:r>
              <a:rPr lang="en-US" altLang="zh-CN" sz="2000" dirty="0"/>
              <a:t>(Collaboration Diagram)</a:t>
            </a:r>
            <a:endParaRPr lang="zh-CN" altLang="zh-CN" sz="2000" dirty="0"/>
          </a:p>
          <a:p>
            <a:r>
              <a:rPr lang="en-US" altLang="zh-CN" sz="2000" dirty="0"/>
              <a:t>4</a:t>
            </a:r>
            <a:r>
              <a:rPr lang="zh-CN" altLang="zh-CN" sz="2000" dirty="0"/>
              <a:t>）状态图</a:t>
            </a:r>
            <a:r>
              <a:rPr lang="en-US" altLang="zh-CN" sz="2000" dirty="0"/>
              <a:t>(State chart Diagram)</a:t>
            </a:r>
            <a:endParaRPr lang="zh-CN" altLang="zh-CN" sz="2000" dirty="0"/>
          </a:p>
          <a:p>
            <a:r>
              <a:rPr lang="en-US" altLang="zh-CN" sz="2000" dirty="0"/>
              <a:t>5</a:t>
            </a:r>
            <a:r>
              <a:rPr lang="zh-CN" altLang="zh-CN" sz="2000" dirty="0"/>
              <a:t>）活动图</a:t>
            </a:r>
            <a:r>
              <a:rPr lang="en-US" altLang="zh-CN" sz="2000" dirty="0"/>
              <a:t>(Activity Diagram)</a:t>
            </a:r>
            <a:endParaRPr lang="zh-CN" altLang="zh-CN" sz="2000" dirty="0"/>
          </a:p>
          <a:p>
            <a:endParaRPr lang="zh-CN" altLang="en-US" sz="2000" dirty="0"/>
          </a:p>
        </p:txBody>
      </p:sp>
    </p:spTree>
    <p:extLst>
      <p:ext uri="{BB962C8B-B14F-4D97-AF65-F5344CB8AC3E}">
        <p14:creationId xmlns:p14="http://schemas.microsoft.com/office/powerpoint/2010/main" val="832264974"/>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2685</Words>
  <Application>Microsoft Office PowerPoint</Application>
  <PresentationFormat>自定义</PresentationFormat>
  <Paragraphs>150</Paragraphs>
  <Slides>29</Slides>
  <Notes>0</Notes>
  <HiddenSlides>0</HiddenSlides>
  <MMClips>0</MMClips>
  <ScaleCrop>false</ScaleCrop>
  <HeadingPairs>
    <vt:vector size="4" baseType="variant">
      <vt:variant>
        <vt:lpstr>主题</vt:lpstr>
      </vt:variant>
      <vt:variant>
        <vt:i4>1</vt:i4>
      </vt:variant>
      <vt:variant>
        <vt:lpstr>幻灯片标题</vt:lpstr>
      </vt:variant>
      <vt:variant>
        <vt:i4>29</vt:i4>
      </vt:variant>
    </vt:vector>
  </HeadingPairs>
  <TitlesOfParts>
    <vt:vector size="30" baseType="lpstr">
      <vt:lpstr>WPS</vt:lpstr>
      <vt:lpstr>软件项目实践 第2章 软件工程方法学</vt:lpstr>
      <vt:lpstr>PowerPoint 演示文稿</vt:lpstr>
      <vt:lpstr>2.1 软件工程方法学比较 </vt:lpstr>
      <vt:lpstr>2.1 软件工程方法学比较 </vt:lpstr>
      <vt:lpstr>2.1 软件工程方法学比较 </vt:lpstr>
      <vt:lpstr>2.1 软件工程方法学比较 </vt:lpstr>
      <vt:lpstr>2.2结构化软件工程方法 </vt:lpstr>
      <vt:lpstr>2.2结构化软件工程方法 </vt:lpstr>
      <vt:lpstr>2.2结构化软件工程方法 </vt:lpstr>
      <vt:lpstr>2.2结构化软件工程方法 </vt:lpstr>
      <vt:lpstr>2.2结构化软件工程方法 </vt:lpstr>
      <vt:lpstr>2.2结构化软件工程方法 </vt:lpstr>
      <vt:lpstr>2.2结构化软件工程方法 </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lpstr>2.3面向对象软件工程方法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软件项目实践 第2章 软件工程方法学</dc:title>
  <dc:creator>xiexiong</dc:creator>
  <cp:lastModifiedBy>xiexiong</cp:lastModifiedBy>
  <cp:revision>4</cp:revision>
  <dcterms:created xsi:type="dcterms:W3CDTF">2023-08-09T12:44:55Z</dcterms:created>
  <dcterms:modified xsi:type="dcterms:W3CDTF">2025-08-25T07:15:57Z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