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296" r:id="rId25"/>
    <p:sldId id="297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-132" y="-8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软件项目实践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zh-CN" dirty="0" smtClean="0"/>
              <a:t>第</a:t>
            </a:r>
            <a:r>
              <a:rPr lang="en-US" altLang="zh-CN" dirty="0"/>
              <a:t>5</a:t>
            </a:r>
            <a:r>
              <a:rPr lang="zh-CN" altLang="zh-CN" dirty="0"/>
              <a:t>章 软件项目的详细设计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61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5.1</a:t>
            </a:r>
            <a:r>
              <a:rPr lang="zh-CN" altLang="zh-CN" dirty="0" smtClean="0"/>
              <a:t>详细设计的概述</a:t>
            </a:r>
            <a:endParaRPr lang="en-US" altLang="zh-CN" dirty="0" smtClean="0"/>
          </a:p>
          <a:p>
            <a:r>
              <a:rPr lang="en-US" altLang="zh-CN" b="1" dirty="0"/>
              <a:t>5.2</a:t>
            </a:r>
            <a:r>
              <a:rPr lang="zh-CN" altLang="zh-CN" b="1" dirty="0"/>
              <a:t>详细设计的</a:t>
            </a:r>
            <a:r>
              <a:rPr lang="zh-CN" altLang="zh-CN" b="1" dirty="0" smtClean="0"/>
              <a:t>内容</a:t>
            </a:r>
            <a:endParaRPr lang="en-US" altLang="zh-CN" b="1" dirty="0" smtClean="0"/>
          </a:p>
          <a:p>
            <a:r>
              <a:rPr lang="en-US" altLang="zh-CN" b="1" dirty="0"/>
              <a:t>5.3</a:t>
            </a:r>
            <a:r>
              <a:rPr lang="zh-CN" altLang="zh-CN" b="1" dirty="0"/>
              <a:t>结构化详细设计方法</a:t>
            </a:r>
          </a:p>
          <a:p>
            <a:r>
              <a:rPr lang="en-US" altLang="zh-CN" b="1" dirty="0"/>
              <a:t>5.4</a:t>
            </a:r>
            <a:r>
              <a:rPr lang="zh-CN" altLang="zh-CN" b="1" dirty="0"/>
              <a:t>面向对象详细设计方法</a:t>
            </a:r>
          </a:p>
          <a:p>
            <a:endParaRPr lang="zh-CN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7974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</a:t>
            </a:r>
            <a:r>
              <a:rPr lang="zh-CN" altLang="zh-CN" dirty="0"/>
              <a:t>详细设计的</a:t>
            </a:r>
            <a:r>
              <a:rPr lang="zh-CN" altLang="zh-CN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详细设计是将概要设计的框架内容具体化、明细化，将概要设计转化为可以操作的软件模型。</a:t>
            </a:r>
          </a:p>
          <a:p>
            <a:r>
              <a:rPr lang="zh-CN" altLang="zh-CN" sz="2400" dirty="0"/>
              <a:t>即详细设计、模块设计，是编码的先导。详细设计阶段，要决定各个模块的实现算法，并精确地表达这些算法。</a:t>
            </a:r>
          </a:p>
          <a:p>
            <a:r>
              <a:rPr lang="zh-CN" altLang="zh-CN" sz="2400" dirty="0"/>
              <a:t>主要任务：</a:t>
            </a:r>
          </a:p>
          <a:p>
            <a:r>
              <a:rPr lang="en-US" altLang="zh-CN" sz="2400" dirty="0"/>
              <a:t>1</a:t>
            </a:r>
            <a:r>
              <a:rPr lang="zh-CN" altLang="zh-CN" sz="2400" dirty="0"/>
              <a:t>）表达算法的过程，写出模块的详细过程性描述；</a:t>
            </a:r>
          </a:p>
          <a:p>
            <a:r>
              <a:rPr lang="en-US" altLang="zh-CN" sz="2400" dirty="0"/>
              <a:t>2</a:t>
            </a:r>
            <a:r>
              <a:rPr lang="zh-CN" altLang="zh-CN" sz="2400" dirty="0"/>
              <a:t>）确定每一模块的数据结构</a:t>
            </a:r>
            <a:r>
              <a:rPr lang="en-US" altLang="zh-CN" sz="2400" dirty="0"/>
              <a:t>(</a:t>
            </a:r>
            <a:r>
              <a:rPr lang="zh-CN" altLang="zh-CN" sz="2400" dirty="0"/>
              <a:t>视图</a:t>
            </a:r>
            <a:r>
              <a:rPr lang="en-US" altLang="zh-CN" sz="2400" dirty="0"/>
              <a:t>)</a:t>
            </a:r>
            <a:r>
              <a:rPr lang="zh-CN" altLang="zh-CN" sz="2400" dirty="0"/>
              <a:t>；</a:t>
            </a:r>
          </a:p>
          <a:p>
            <a:r>
              <a:rPr lang="en-US" altLang="zh-CN" sz="2400" dirty="0"/>
              <a:t>3</a:t>
            </a:r>
            <a:r>
              <a:rPr lang="zh-CN" altLang="zh-CN" sz="2400" dirty="0"/>
              <a:t>）确定模块接口细节；</a:t>
            </a:r>
          </a:p>
          <a:p>
            <a:r>
              <a:rPr lang="en-US" altLang="zh-CN" sz="2400" dirty="0"/>
              <a:t>4</a:t>
            </a:r>
            <a:r>
              <a:rPr lang="zh-CN" altLang="zh-CN" sz="2400" dirty="0"/>
              <a:t>）编写详细设计说明书；</a:t>
            </a:r>
          </a:p>
          <a:p>
            <a:r>
              <a:rPr lang="en-US" altLang="zh-CN" sz="2400" dirty="0"/>
              <a:t>5</a:t>
            </a:r>
            <a:r>
              <a:rPr lang="zh-CN" altLang="zh-CN" sz="2400" dirty="0"/>
              <a:t>）编写测试计划，设计模块测试用例。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4575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5.2</a:t>
            </a:r>
            <a:r>
              <a:rPr lang="zh-CN" altLang="zh-CN" b="1" dirty="0"/>
              <a:t>详细设计的</a:t>
            </a:r>
            <a:r>
              <a:rPr lang="zh-CN" altLang="zh-CN" b="1" dirty="0" smtClean="0"/>
              <a:t>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详细设计</a:t>
            </a:r>
            <a:r>
              <a:rPr lang="en-US" altLang="zh-CN" dirty="0"/>
              <a:t>/</a:t>
            </a:r>
            <a:r>
              <a:rPr lang="zh-CN" altLang="zh-CN" dirty="0"/>
              <a:t>过程设计：表示每个模块的算法和局部数据结构。</a:t>
            </a:r>
          </a:p>
          <a:p>
            <a:r>
              <a:rPr lang="zh-CN" altLang="zh-CN" dirty="0"/>
              <a:t>详细设计主要包括：构件（模块）描述、算法描述、数据描述。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zh-CN" altLang="zh-CN" dirty="0"/>
              <a:t>方法：结构化的详细设计方法、面向对象的详细设计方法。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108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过程设计不仅要正确地描述每个模块的具体实现，更重要的是设计出的处理过程应尽可能简明易懂。</a:t>
            </a:r>
          </a:p>
          <a:p>
            <a:r>
              <a:rPr lang="zh-CN" altLang="zh-CN" dirty="0"/>
              <a:t>结构程序设计采用自顶向下、逐步求精的设计方法和单入口、单出口的控制结构。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SD</a:t>
            </a:r>
            <a:r>
              <a:rPr lang="zh-CN" altLang="zh-CN" dirty="0"/>
              <a:t>方法是面向数据流的设计方法。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865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5.3.1 </a:t>
            </a:r>
            <a:r>
              <a:rPr lang="zh-CN" altLang="zh-CN" b="1" dirty="0"/>
              <a:t>设计工具</a:t>
            </a:r>
          </a:p>
          <a:p>
            <a:r>
              <a:rPr lang="zh-CN" altLang="zh-CN" dirty="0"/>
              <a:t>图形符号的设计方式、表格的设计方式、伪代码。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zh-CN" altLang="zh-CN" dirty="0" smtClean="0"/>
              <a:t>程序</a:t>
            </a:r>
            <a:r>
              <a:rPr lang="zh-CN" altLang="zh-CN" dirty="0"/>
              <a:t>流程图</a:t>
            </a:r>
          </a:p>
          <a:p>
            <a:r>
              <a:rPr lang="zh-CN" altLang="zh-CN" dirty="0"/>
              <a:t>用箭头代表程序的控制流，程序员可以不受任何约束，随意转移控制。</a:t>
            </a:r>
          </a:p>
          <a:p>
            <a:endParaRPr lang="zh-CN" altLang="en-US" dirty="0"/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57" t="16975" r="26486" b="35802"/>
          <a:stretch>
            <a:fillRect/>
          </a:stretch>
        </p:blipFill>
        <p:spPr bwMode="auto">
          <a:xfrm>
            <a:off x="2578356" y="2818120"/>
            <a:ext cx="4890701" cy="381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2</a:t>
            </a:r>
            <a:r>
              <a:rPr lang="zh-CN" altLang="en-US" sz="2400" dirty="0" smtClean="0"/>
              <a:t>）</a:t>
            </a:r>
            <a:r>
              <a:rPr lang="zh-CN" altLang="zh-CN" sz="2400" dirty="0" smtClean="0"/>
              <a:t>判定</a:t>
            </a:r>
            <a:r>
              <a:rPr lang="zh-CN" altLang="zh-CN" sz="2400" dirty="0"/>
              <a:t>表</a:t>
            </a:r>
          </a:p>
          <a:p>
            <a:r>
              <a:rPr lang="zh-CN" altLang="zh-CN" sz="2400" dirty="0"/>
              <a:t>用于表示程序的静态逻辑，能够清晰地表达复杂的条件组合与应做动作之间的关系。</a:t>
            </a:r>
          </a:p>
          <a:p>
            <a:r>
              <a:rPr lang="zh-CN" altLang="zh-CN" sz="2400" dirty="0"/>
              <a:t>用判定表计算行李费的算法例子：</a:t>
            </a:r>
          </a:p>
          <a:p>
            <a:endParaRPr lang="zh-CN" altLang="en-US" sz="2400" dirty="0"/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57" t="19444" r="26486" b="40123"/>
          <a:stretch>
            <a:fillRect/>
          </a:stretch>
        </p:blipFill>
        <p:spPr bwMode="auto">
          <a:xfrm>
            <a:off x="5648631" y="2846438"/>
            <a:ext cx="5501149" cy="3667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3</a:t>
            </a:r>
            <a:r>
              <a:rPr lang="zh-CN" altLang="en-US" sz="2400" dirty="0" smtClean="0"/>
              <a:t>）</a:t>
            </a:r>
            <a:r>
              <a:rPr lang="zh-CN" altLang="zh-CN" sz="2400" dirty="0" smtClean="0"/>
              <a:t>判定</a:t>
            </a:r>
            <a:r>
              <a:rPr lang="zh-CN" altLang="zh-CN" sz="2400" dirty="0"/>
              <a:t>树</a:t>
            </a:r>
          </a:p>
          <a:p>
            <a:r>
              <a:rPr lang="zh-CN" altLang="zh-CN" sz="2400" dirty="0"/>
              <a:t>判定树是判定表的变种，形式简单，易于掌握和使用，但简洁性不如判定表。</a:t>
            </a:r>
          </a:p>
          <a:p>
            <a:endParaRPr lang="zh-CN" altLang="en-US" sz="2400" dirty="0"/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14" t="34259" r="27431" b="41357"/>
          <a:stretch>
            <a:fillRect/>
          </a:stretch>
        </p:blipFill>
        <p:spPr bwMode="auto">
          <a:xfrm>
            <a:off x="1147763" y="3113087"/>
            <a:ext cx="7657024" cy="3409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N-S</a:t>
            </a:r>
            <a:r>
              <a:rPr lang="zh-CN" altLang="zh-CN" sz="2400" dirty="0"/>
              <a:t>盒图</a:t>
            </a:r>
          </a:p>
          <a:p>
            <a:r>
              <a:rPr lang="zh-CN" altLang="zh-CN" sz="2400" dirty="0"/>
              <a:t>用方框图代替传统程序流程图。</a:t>
            </a:r>
          </a:p>
          <a:p>
            <a:endParaRPr lang="zh-CN" altLang="en-US" sz="2400" dirty="0"/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42" t="20370" r="27872" b="43826"/>
          <a:stretch>
            <a:fillRect/>
          </a:stretch>
        </p:blipFill>
        <p:spPr bwMode="auto">
          <a:xfrm>
            <a:off x="5146265" y="2513626"/>
            <a:ext cx="6422389" cy="4344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5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PAD</a:t>
            </a:r>
            <a:endParaRPr lang="zh-CN" altLang="zh-CN" sz="2400" dirty="0"/>
          </a:p>
          <a:p>
            <a:r>
              <a:rPr lang="zh-CN" altLang="zh-CN" sz="2400" dirty="0"/>
              <a:t>用二维树型结构表示程序的控制流。</a:t>
            </a:r>
          </a:p>
          <a:p>
            <a:endParaRPr lang="zh-CN" altLang="en-US" sz="2400" dirty="0"/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57" t="19753" r="26486" b="40741"/>
          <a:stretch>
            <a:fillRect/>
          </a:stretch>
        </p:blipFill>
        <p:spPr bwMode="auto">
          <a:xfrm>
            <a:off x="1548580" y="2993925"/>
            <a:ext cx="5766620" cy="378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）</a:t>
            </a:r>
            <a:r>
              <a:rPr lang="zh-CN" altLang="zh-CN" dirty="0" smtClean="0"/>
              <a:t>伪码</a:t>
            </a:r>
            <a:endParaRPr lang="zh-CN" altLang="zh-CN" dirty="0"/>
          </a:p>
          <a:p>
            <a:r>
              <a:rPr lang="zh-CN" altLang="zh-CN" dirty="0"/>
              <a:t>过程设计语言</a:t>
            </a:r>
            <a:r>
              <a:rPr lang="en-US" altLang="zh-CN" dirty="0"/>
              <a:t>Program Design Language</a:t>
            </a:r>
            <a:r>
              <a:rPr lang="zh-CN" altLang="zh-CN" dirty="0"/>
              <a:t>。用于描述功能模块的算法设计和加工细节，是一种伪码。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400" b="1" dirty="0"/>
              <a:t>5.3.2JSD</a:t>
            </a:r>
            <a:r>
              <a:rPr lang="zh-CN" altLang="zh-CN" sz="2400" b="1" dirty="0"/>
              <a:t>方法</a:t>
            </a:r>
          </a:p>
          <a:p>
            <a:r>
              <a:rPr lang="en-US" altLang="zh-CN" sz="2400" dirty="0"/>
              <a:t>Jackson</a:t>
            </a:r>
            <a:r>
              <a:rPr lang="zh-CN" altLang="zh-CN" sz="2400" dirty="0"/>
              <a:t>方法和</a:t>
            </a:r>
            <a:r>
              <a:rPr lang="en-US" altLang="zh-CN" sz="2400" dirty="0" err="1"/>
              <a:t>Warnier</a:t>
            </a:r>
            <a:r>
              <a:rPr lang="zh-CN" altLang="zh-CN" sz="2400" dirty="0"/>
              <a:t>方法是最著名的两个面向数据结构的设计方法。</a:t>
            </a:r>
          </a:p>
          <a:p>
            <a:r>
              <a:rPr lang="zh-CN" altLang="zh-CN" sz="2400" dirty="0"/>
              <a:t>数据结构影响软件结构和过程，可以利用输入数据结构和输出数据结构来推导程序结构。</a:t>
            </a:r>
          </a:p>
          <a:p>
            <a:r>
              <a:rPr lang="en-US" altLang="zh-CN" sz="2400" dirty="0"/>
              <a:t>JSP</a:t>
            </a:r>
            <a:r>
              <a:rPr lang="zh-CN" altLang="zh-CN" sz="2400" dirty="0"/>
              <a:t>方法</a:t>
            </a:r>
            <a:r>
              <a:rPr lang="en-US" altLang="zh-CN" sz="2400" dirty="0"/>
              <a:t>(Jackson Structured Programming)</a:t>
            </a:r>
            <a:r>
              <a:rPr lang="zh-CN" altLang="zh-CN" sz="2400" dirty="0"/>
              <a:t>是一种面向数据结构、数据驱动的程序设计方法。按输入、输出和内部信息的数据结构进行设计，将数据结构的描述映射成程序结构。适用于详细设计阶段，设计每个模块的处理过程。</a:t>
            </a:r>
          </a:p>
          <a:p>
            <a:r>
              <a:rPr lang="en-US" altLang="zh-CN" sz="2400" dirty="0"/>
              <a:t>JSP</a:t>
            </a:r>
            <a:r>
              <a:rPr lang="zh-CN" altLang="zh-CN" sz="2400" dirty="0"/>
              <a:t>方法和</a:t>
            </a:r>
            <a:r>
              <a:rPr lang="en-US" altLang="zh-CN" sz="2400" dirty="0"/>
              <a:t>SD</a:t>
            </a:r>
            <a:r>
              <a:rPr lang="zh-CN" altLang="zh-CN" sz="2400" dirty="0"/>
              <a:t>方法的比较：</a:t>
            </a:r>
          </a:p>
          <a:p>
            <a:r>
              <a:rPr lang="zh-CN" altLang="zh-CN" sz="2400" dirty="0"/>
              <a:t>共同点：都是数据信息驱动的，将数据表示转换成软件表示。</a:t>
            </a:r>
          </a:p>
          <a:p>
            <a:r>
              <a:rPr lang="zh-CN" altLang="zh-CN" sz="2400" dirty="0"/>
              <a:t>不同点：</a:t>
            </a:r>
            <a:r>
              <a:rPr lang="en-US" altLang="zh-CN" sz="2400" dirty="0"/>
              <a:t>SD</a:t>
            </a:r>
            <a:r>
              <a:rPr lang="zh-CN" altLang="zh-CN" sz="2400" dirty="0"/>
              <a:t>方法利用数据流图，生成软件结构的描述；</a:t>
            </a:r>
          </a:p>
          <a:p>
            <a:r>
              <a:rPr lang="en-US" altLang="zh-CN" sz="2400" dirty="0"/>
              <a:t>        JSP</a:t>
            </a:r>
            <a:r>
              <a:rPr lang="zh-CN" altLang="zh-CN" sz="2400" dirty="0"/>
              <a:t>方法根据数据结构，生成程序处理过程的描述。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760" y="1825625"/>
            <a:ext cx="510540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Jackson</a:t>
            </a:r>
            <a:r>
              <a:rPr lang="zh-CN" altLang="zh-CN" dirty="0"/>
              <a:t>图应用的示例</a:t>
            </a:r>
            <a:r>
              <a:rPr lang="en-US" altLang="zh-CN" dirty="0"/>
              <a:t>1</a:t>
            </a:r>
            <a:r>
              <a:rPr lang="zh-CN" altLang="zh-CN" dirty="0"/>
              <a:t>：某仓库管理系统每天要处理大批由单据所组成的事务文件。 单据分为订货单和发货单两种，每张单据由多行组成，订货单每行包括零件号、零件名、单价及数量等</a:t>
            </a:r>
            <a:r>
              <a:rPr lang="en-US" altLang="zh-CN" dirty="0"/>
              <a:t> 4 </a:t>
            </a:r>
            <a:r>
              <a:rPr lang="zh-CN" altLang="zh-CN" dirty="0"/>
              <a:t>个数据项，发货单每行包括零件号、零件名及数量等</a:t>
            </a:r>
            <a:r>
              <a:rPr lang="en-US" altLang="zh-CN" dirty="0"/>
              <a:t> 3 </a:t>
            </a:r>
            <a:r>
              <a:rPr lang="zh-CN" altLang="zh-CN" dirty="0"/>
              <a:t>个数据项。</a:t>
            </a:r>
          </a:p>
          <a:p>
            <a:r>
              <a:rPr lang="zh-CN" altLang="zh-CN" dirty="0"/>
              <a:t>用</a:t>
            </a:r>
            <a:r>
              <a:rPr lang="en-US" altLang="zh-CN" dirty="0"/>
              <a:t>Jackson</a:t>
            </a:r>
            <a:r>
              <a:rPr lang="zh-CN" altLang="zh-CN" dirty="0"/>
              <a:t>结构图表示该事务文件的数据结构：</a:t>
            </a:r>
          </a:p>
          <a:p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527269"/>
              </p:ext>
            </p:extLst>
          </p:nvPr>
        </p:nvGraphicFramePr>
        <p:xfrm>
          <a:off x="5353691" y="1592826"/>
          <a:ext cx="6951776" cy="3465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Visio" r:id="rId3" imgW="3305296" imgH="1649288" progId="Visio.Drawing.11">
                  <p:embed/>
                </p:oleObj>
              </mc:Choice>
              <mc:Fallback>
                <p:oleObj name="Visio" r:id="rId3" imgW="3305296" imgH="164928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3691" y="1592826"/>
                        <a:ext cx="6951776" cy="346587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现举例说明</a:t>
            </a:r>
            <a:r>
              <a:rPr lang="en-US" altLang="zh-CN" sz="2400" dirty="0"/>
              <a:t>JSP</a:t>
            </a:r>
            <a:r>
              <a:rPr lang="zh-CN" altLang="zh-CN" sz="2400" dirty="0"/>
              <a:t>方法设计过程。</a:t>
            </a:r>
          </a:p>
          <a:p>
            <a:r>
              <a:rPr lang="en-US" altLang="zh-CN" sz="2400" dirty="0"/>
              <a:t>1) </a:t>
            </a:r>
            <a:r>
              <a:rPr lang="zh-CN" altLang="zh-CN" sz="2400" dirty="0"/>
              <a:t>问题陈述</a:t>
            </a:r>
          </a:p>
          <a:p>
            <a:r>
              <a:rPr lang="en-US" altLang="zh-CN" sz="2400" dirty="0"/>
              <a:t>  </a:t>
            </a:r>
            <a:r>
              <a:rPr lang="zh-CN" altLang="zh-CN" sz="2400" dirty="0"/>
              <a:t>某仓库存放多种零件（如</a:t>
            </a:r>
            <a:r>
              <a:rPr lang="en-US" altLang="zh-CN" sz="2400" dirty="0"/>
              <a:t>P1</a:t>
            </a:r>
            <a:r>
              <a:rPr lang="zh-CN" altLang="zh-CN" sz="2400" dirty="0"/>
              <a:t>，</a:t>
            </a:r>
            <a:r>
              <a:rPr lang="en-US" altLang="zh-CN" sz="2400" dirty="0"/>
              <a:t> P2</a:t>
            </a:r>
            <a:r>
              <a:rPr lang="zh-CN" altLang="zh-CN" sz="2400" dirty="0"/>
              <a:t>， ……），每个零件的每次进货、发货都有一张卡片作出记录，每月根据这样一叠卡片打印一张月报表。 报表每行列出某种零件本月库存量的净变化。用</a:t>
            </a:r>
            <a:r>
              <a:rPr lang="en-US" altLang="zh-CN" sz="2400" dirty="0"/>
              <a:t>JSP</a:t>
            </a:r>
            <a:r>
              <a:rPr lang="zh-CN" altLang="zh-CN" sz="2400" dirty="0"/>
              <a:t>方法对该问题进行设计。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2) </a:t>
            </a:r>
            <a:r>
              <a:rPr lang="zh-CN" altLang="zh-CN" sz="2400" dirty="0"/>
              <a:t>建立输入、 输出数据结构</a:t>
            </a:r>
          </a:p>
          <a:p>
            <a:r>
              <a:rPr lang="en-US" altLang="zh-CN" sz="2400" dirty="0"/>
              <a:t>  </a:t>
            </a:r>
            <a:r>
              <a:rPr lang="zh-CN" altLang="zh-CN" sz="2400" dirty="0"/>
              <a:t>建立输入、 输出数据结构的步骤如下：</a:t>
            </a:r>
          </a:p>
          <a:p>
            <a:r>
              <a:rPr lang="en-US" altLang="zh-CN" sz="2400" dirty="0"/>
              <a:t>  (1) </a:t>
            </a:r>
            <a:r>
              <a:rPr lang="zh-CN" altLang="zh-CN" sz="2400" dirty="0"/>
              <a:t>输入数据： 根据问题陈述， 同一种零件的进货、 发货状态不同，每月登记有若干张卡片。</a:t>
            </a:r>
          </a:p>
          <a:p>
            <a:r>
              <a:rPr lang="zh-CN" altLang="zh-CN" sz="2400" dirty="0"/>
              <a:t>把同一种零件的卡片放在一起组成一组，所有的卡片组按零件名排序。 所以输入数据是由许多零件组组成的文件，每个零件组有许多张卡片， 张卡片上记录着本零件进货或发货的信息。因此输入数据结构的</a:t>
            </a:r>
            <a:r>
              <a:rPr lang="en-US" altLang="zh-CN" sz="2400" dirty="0"/>
              <a:t>Jackson</a:t>
            </a:r>
            <a:r>
              <a:rPr lang="zh-CN" altLang="zh-CN" sz="2400" dirty="0"/>
              <a:t>图为图</a:t>
            </a:r>
            <a:r>
              <a:rPr lang="en-US" altLang="zh-CN" sz="2400" dirty="0"/>
              <a:t>(a)</a:t>
            </a:r>
            <a:r>
              <a:rPr lang="zh-CN" altLang="zh-CN" sz="2400" dirty="0"/>
              <a:t>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1480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 (2) </a:t>
            </a:r>
            <a:r>
              <a:rPr lang="zh-CN" altLang="zh-CN" sz="2400" dirty="0"/>
              <a:t>输出数据：根据问题陈述，输出数据是一张如图</a:t>
            </a:r>
            <a:r>
              <a:rPr lang="en-US" altLang="zh-CN" sz="2400" dirty="0"/>
              <a:t>(c</a:t>
            </a:r>
            <a:r>
              <a:rPr lang="zh-CN" altLang="zh-CN" sz="2400" dirty="0"/>
              <a:t>）的月报表， 它由表头和表体两部分组成，表体中有许多行， 一个零件的净变化占一行，其输出数据结构的</a:t>
            </a:r>
            <a:r>
              <a:rPr lang="en-US" altLang="zh-CN" sz="2400" dirty="0"/>
              <a:t>Jackson</a:t>
            </a:r>
            <a:r>
              <a:rPr lang="zh-CN" altLang="zh-CN" sz="2400" dirty="0"/>
              <a:t>图为图</a:t>
            </a:r>
            <a:r>
              <a:rPr lang="en-US" altLang="zh-CN" sz="2400" dirty="0"/>
              <a:t>(b)</a:t>
            </a:r>
            <a:r>
              <a:rPr lang="zh-CN" altLang="zh-CN" sz="2400" dirty="0"/>
              <a:t>。</a:t>
            </a:r>
          </a:p>
          <a:p>
            <a:r>
              <a:rPr lang="en-US" altLang="zh-CN" sz="2400" dirty="0"/>
              <a:t>3) </a:t>
            </a:r>
            <a:r>
              <a:rPr lang="zh-CN" altLang="zh-CN" sz="2400" dirty="0"/>
              <a:t>找出输入、 输出数据结构中有对应关系的单元月报表由输入文件产生，有直接的因果关系， 因此顶层的数据单元是对应的。表体的每一行数据由输入文件的每一个“零件组”计算而来，行数与组数相同，且行的排列次序与组的排列次序一致，都按零件号排序。因此“零件组”与“行”两个单元对应，以下再无对应的单元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9762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756177"/>
              </p:ext>
            </p:extLst>
          </p:nvPr>
        </p:nvGraphicFramePr>
        <p:xfrm>
          <a:off x="147501" y="1607574"/>
          <a:ext cx="12589263" cy="4262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Visio" r:id="rId3" imgW="4243856" imgH="1433138" progId="Visio.Drawing.11">
                  <p:embed/>
                </p:oleObj>
              </mc:Choice>
              <mc:Fallback>
                <p:oleObj name="Visio" r:id="rId3" imgW="4243856" imgH="143313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01" y="1607574"/>
                        <a:ext cx="12589263" cy="426228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149180" y="5943289"/>
            <a:ext cx="5126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(a) </a:t>
            </a:r>
            <a:r>
              <a:rPr lang="zh-CN" altLang="zh-CN" dirty="0"/>
              <a:t>输入数据结构；</a:t>
            </a:r>
            <a:r>
              <a:rPr lang="en-US" altLang="zh-CN" dirty="0"/>
              <a:t> (b) </a:t>
            </a:r>
            <a:r>
              <a:rPr lang="zh-CN" altLang="zh-CN" dirty="0"/>
              <a:t>输出数据结构；</a:t>
            </a:r>
            <a:r>
              <a:rPr lang="en-US" altLang="zh-CN" dirty="0"/>
              <a:t> (c) </a:t>
            </a:r>
            <a:r>
              <a:rPr lang="zh-CN" altLang="zh-CN" dirty="0"/>
              <a:t>输出表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762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2007" y="1722386"/>
            <a:ext cx="5429865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4) </a:t>
            </a:r>
            <a:r>
              <a:rPr lang="zh-CN" altLang="zh-CN" sz="2000" dirty="0"/>
              <a:t>导出程序结构</a:t>
            </a:r>
          </a:p>
          <a:p>
            <a:r>
              <a:rPr lang="zh-CN" altLang="zh-CN" sz="2000" dirty="0"/>
              <a:t>找出对应关系后，根据以下规则导出程序结构：对于输入数据结构与输出数据结构中的数据单元，每对有对应关系的数据单元按照它们所在的层次，在程序结构图适当位置合画一个处理框，无对应关系的数据单元，各画一个处理框。</a:t>
            </a:r>
          </a:p>
          <a:p>
            <a:r>
              <a:rPr lang="zh-CN" altLang="zh-CN" sz="2000" dirty="0"/>
              <a:t>根据以上规则， 画出的程序结构图如图</a:t>
            </a:r>
            <a:r>
              <a:rPr lang="en-US" altLang="zh-CN" sz="2000" dirty="0"/>
              <a:t>4</a:t>
            </a:r>
            <a:r>
              <a:rPr lang="zh-CN" altLang="zh-CN" sz="2000" dirty="0"/>
              <a:t>所示。</a:t>
            </a:r>
          </a:p>
          <a:p>
            <a:r>
              <a:rPr lang="zh-CN" altLang="zh-CN" sz="2000" dirty="0"/>
              <a:t>在图</a:t>
            </a:r>
            <a:r>
              <a:rPr lang="en-US" altLang="zh-CN" sz="2000" dirty="0"/>
              <a:t>4</a:t>
            </a:r>
            <a:r>
              <a:rPr lang="zh-CN" altLang="zh-CN" sz="2000" dirty="0"/>
              <a:t>的程序结构的第</a:t>
            </a:r>
            <a:r>
              <a:rPr lang="en-US" altLang="zh-CN" sz="2000" dirty="0"/>
              <a:t>4</a:t>
            </a:r>
            <a:r>
              <a:rPr lang="zh-CN" altLang="zh-CN" sz="2000" dirty="0"/>
              <a:t>层增加了一个“处理零件组”的框，因为改进的</a:t>
            </a:r>
            <a:r>
              <a:rPr lang="en-US" altLang="zh-CN" sz="2000" dirty="0"/>
              <a:t>Jackson</a:t>
            </a:r>
            <a:r>
              <a:rPr lang="zh-CN" altLang="zh-CN" sz="2000" dirty="0"/>
              <a:t>图规定顺序执行的处理中不允许混有重复执行和选择执行的处理。 增加了这样一个框， 使符合该规定，同时也提高了结构图的易读性。</a:t>
            </a:r>
          </a:p>
          <a:p>
            <a:endParaRPr lang="zh-CN" altLang="en-US" sz="20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541101"/>
              </p:ext>
            </p:extLst>
          </p:nvPr>
        </p:nvGraphicFramePr>
        <p:xfrm>
          <a:off x="5633219" y="1651666"/>
          <a:ext cx="6667500" cy="456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Visio" r:id="rId3" imgW="2873173" imgH="1973206" progId="Visio.Drawing.11">
                  <p:embed/>
                </p:oleObj>
              </mc:Choice>
              <mc:Fallback>
                <p:oleObj name="Visio" r:id="rId3" imgW="2873173" imgH="1973206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3219" y="1651666"/>
                        <a:ext cx="6667500" cy="45688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9762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8768" y="1825625"/>
            <a:ext cx="6064045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5</a:t>
            </a:r>
            <a:r>
              <a:rPr lang="zh-CN" altLang="zh-CN" sz="2000" dirty="0"/>
              <a:t>）列出并分配操作与条件</a:t>
            </a:r>
          </a:p>
          <a:p>
            <a:r>
              <a:rPr lang="zh-CN" altLang="zh-CN" sz="2000" dirty="0"/>
              <a:t>为了对程序结构作补充，要列出求解问题的所有操作和条件，然后分配到程序结构图的适当位置， 就可得到完整的程序结构图。</a:t>
            </a:r>
          </a:p>
          <a:p>
            <a:r>
              <a:rPr lang="en-US" altLang="zh-CN" sz="2000" dirty="0"/>
              <a:t>  (1) </a:t>
            </a:r>
            <a:r>
              <a:rPr lang="zh-CN" altLang="zh-CN" sz="2000" dirty="0"/>
              <a:t>本问题的基本操作列出如下：</a:t>
            </a:r>
          </a:p>
          <a:p>
            <a:r>
              <a:rPr lang="en-US" altLang="zh-CN" sz="2000" dirty="0"/>
              <a:t>  A</a:t>
            </a:r>
            <a:r>
              <a:rPr lang="zh-CN" altLang="zh-CN" sz="2000" dirty="0"/>
              <a:t>、终止；</a:t>
            </a:r>
            <a:r>
              <a:rPr lang="en-US" altLang="zh-CN" sz="2000" dirty="0"/>
              <a:t>B</a:t>
            </a:r>
            <a:r>
              <a:rPr lang="zh-CN" altLang="zh-CN" sz="2000" dirty="0"/>
              <a:t>、打开文件；</a:t>
            </a:r>
            <a:r>
              <a:rPr lang="en-US" altLang="zh-CN" sz="2000" dirty="0"/>
              <a:t>C</a:t>
            </a:r>
            <a:r>
              <a:rPr lang="zh-CN" altLang="zh-CN" sz="2000" dirty="0"/>
              <a:t>、关闭文件；</a:t>
            </a:r>
            <a:r>
              <a:rPr lang="en-US" altLang="zh-CN" sz="2000" dirty="0"/>
              <a:t>D</a:t>
            </a:r>
            <a:r>
              <a:rPr lang="zh-CN" altLang="zh-CN" sz="2000" dirty="0"/>
              <a:t>、打印字符行；</a:t>
            </a:r>
            <a:r>
              <a:rPr lang="en-US" altLang="zh-CN" sz="2000" dirty="0"/>
              <a:t>E</a:t>
            </a:r>
            <a:r>
              <a:rPr lang="zh-CN" altLang="zh-CN" sz="2000" dirty="0"/>
              <a:t>、读一张卡；</a:t>
            </a:r>
            <a:r>
              <a:rPr lang="en-US" altLang="zh-CN" sz="2000" dirty="0"/>
              <a:t>F</a:t>
            </a:r>
            <a:r>
              <a:rPr lang="zh-CN" altLang="zh-CN" sz="2000" dirty="0"/>
              <a:t>、产生行结束符；</a:t>
            </a:r>
            <a:r>
              <a:rPr lang="en-US" altLang="zh-CN" sz="2000" dirty="0"/>
              <a:t>G</a:t>
            </a:r>
            <a:r>
              <a:rPr lang="zh-CN" altLang="zh-CN" sz="2000" dirty="0"/>
              <a:t>、累计进货量；</a:t>
            </a:r>
            <a:r>
              <a:rPr lang="en-US" altLang="zh-CN" sz="2000" dirty="0"/>
              <a:t>H</a:t>
            </a:r>
            <a:r>
              <a:rPr lang="zh-CN" altLang="zh-CN" sz="2000" dirty="0"/>
              <a:t>、累计发货量；</a:t>
            </a:r>
            <a:r>
              <a:rPr lang="en-US" altLang="zh-CN" sz="2000" dirty="0"/>
              <a:t>I</a:t>
            </a:r>
            <a:r>
              <a:rPr lang="zh-CN" altLang="zh-CN" sz="2000" dirty="0"/>
              <a:t>、计算净变化；</a:t>
            </a:r>
            <a:r>
              <a:rPr lang="en-US" altLang="zh-CN" sz="2000" dirty="0"/>
              <a:t>J</a:t>
            </a:r>
            <a:r>
              <a:rPr lang="zh-CN" altLang="zh-CN" sz="2000" dirty="0"/>
              <a:t>、置零件组开始标志。</a:t>
            </a:r>
          </a:p>
          <a:p>
            <a:r>
              <a:rPr lang="en-US" altLang="zh-CN" sz="2000" dirty="0"/>
              <a:t>  (2) </a:t>
            </a:r>
            <a:r>
              <a:rPr lang="zh-CN" altLang="zh-CN" sz="2000" dirty="0"/>
              <a:t>列出条件如下：</a:t>
            </a:r>
          </a:p>
          <a:p>
            <a:r>
              <a:rPr lang="en-US" altLang="zh-CN" sz="2000" dirty="0"/>
              <a:t>  </a:t>
            </a:r>
            <a:r>
              <a:rPr lang="zh-CN" altLang="zh-CN" sz="2000" dirty="0"/>
              <a:t>（</a:t>
            </a:r>
            <a:r>
              <a:rPr lang="en-US" altLang="zh-CN" sz="2000" dirty="0"/>
              <a:t>1</a:t>
            </a:r>
            <a:r>
              <a:rPr lang="zh-CN" altLang="zh-CN" sz="2000" dirty="0"/>
              <a:t>）：输入条件未结束</a:t>
            </a:r>
            <a:r>
              <a:rPr lang="en-US" altLang="zh-CN" sz="2000" dirty="0"/>
              <a:t>I</a:t>
            </a:r>
            <a:r>
              <a:rPr lang="zh-CN" altLang="zh-CN" sz="2000" dirty="0"/>
              <a:t>；（</a:t>
            </a:r>
            <a:r>
              <a:rPr lang="en-US" altLang="zh-CN" sz="2000" dirty="0"/>
              <a:t>2</a:t>
            </a:r>
            <a:r>
              <a:rPr lang="zh-CN" altLang="zh-CN" sz="2000" dirty="0"/>
              <a:t>）：零件组未结束</a:t>
            </a:r>
            <a:r>
              <a:rPr lang="en-US" altLang="zh-CN" sz="2000" dirty="0"/>
              <a:t>S</a:t>
            </a:r>
            <a:r>
              <a:rPr lang="zh-CN" altLang="zh-CN" sz="2000" dirty="0"/>
              <a:t>；（</a:t>
            </a:r>
            <a:r>
              <a:rPr lang="en-US" altLang="zh-CN" sz="2000" dirty="0"/>
              <a:t>3</a:t>
            </a:r>
            <a:r>
              <a:rPr lang="zh-CN" altLang="zh-CN" sz="2000" dirty="0"/>
              <a:t>）： 进发货标志，将操作与条件分配到适当位置的程序结构图如图</a:t>
            </a:r>
            <a:r>
              <a:rPr lang="en-US" altLang="zh-CN" sz="2000" dirty="0"/>
              <a:t>5</a:t>
            </a:r>
            <a:r>
              <a:rPr lang="zh-CN" altLang="zh-CN" sz="2000" dirty="0"/>
              <a:t>所示。</a:t>
            </a:r>
          </a:p>
          <a:p>
            <a:endParaRPr lang="zh-CN" altLang="en-US" sz="20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372758"/>
              </p:ext>
            </p:extLst>
          </p:nvPr>
        </p:nvGraphicFramePr>
        <p:xfrm>
          <a:off x="6430296" y="1740310"/>
          <a:ext cx="5795233" cy="374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Visio" r:id="rId3" imgW="3449031" imgH="2225176" progId="Visio.Drawing.11">
                  <p:embed/>
                </p:oleObj>
              </mc:Choice>
              <mc:Fallback>
                <p:oleObj name="Visio" r:id="rId3" imgW="3449031" imgH="222517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296" y="1740310"/>
                        <a:ext cx="5795233" cy="374609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9762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412226" cy="435133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6) </a:t>
            </a:r>
            <a:r>
              <a:rPr lang="zh-CN" altLang="zh-CN" sz="2000" dirty="0"/>
              <a:t>用纲要逻辑写出程序</a:t>
            </a:r>
          </a:p>
          <a:p>
            <a:r>
              <a:rPr lang="en-US" altLang="zh-CN" sz="2000" dirty="0"/>
              <a:t>Jackson</a:t>
            </a:r>
            <a:r>
              <a:rPr lang="zh-CN" altLang="zh-CN" sz="2000" dirty="0"/>
              <a:t>方法中的纲要逻辑与</a:t>
            </a:r>
            <a:r>
              <a:rPr lang="en-US" altLang="zh-CN" sz="2000" dirty="0"/>
              <a:t>Jackson</a:t>
            </a:r>
            <a:r>
              <a:rPr lang="zh-CN" altLang="zh-CN" sz="2000" dirty="0"/>
              <a:t>所示的程序结构图完全对应，用纲要逻辑写出程序的过程，实际上就是自顶向下用这些纲要逻辑替换</a:t>
            </a:r>
            <a:r>
              <a:rPr lang="en-US" altLang="zh-CN" sz="2000" dirty="0"/>
              <a:t>Jackson</a:t>
            </a:r>
            <a:r>
              <a:rPr lang="zh-CN" altLang="zh-CN" sz="2000" dirty="0"/>
              <a:t>图中每个处理框的过程，每个处理框都看作是下层处理框及分配在上面的操作组成。</a:t>
            </a:r>
          </a:p>
          <a:p>
            <a:endParaRPr lang="zh-CN" altLang="en-US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7" t="14623" r="44274" b="5376"/>
          <a:stretch/>
        </p:blipFill>
        <p:spPr bwMode="auto">
          <a:xfrm>
            <a:off x="7315200" y="0"/>
            <a:ext cx="2977905" cy="675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9762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b="1" dirty="0"/>
              <a:t>5.3.3</a:t>
            </a:r>
            <a:r>
              <a:rPr lang="zh-CN" altLang="zh-CN" sz="2400" b="1" dirty="0"/>
              <a:t>程序复杂度的度量</a:t>
            </a:r>
          </a:p>
          <a:p>
            <a:r>
              <a:rPr lang="zh-CN" altLang="zh-CN" sz="2400" dirty="0"/>
              <a:t>度量详细设计后的模块质量时，软件设计的基本原理可作为定性度量的依据。目前广泛使用的定量度量程序复杂度的方法：</a:t>
            </a:r>
            <a:r>
              <a:rPr lang="en-US" altLang="zh-CN" sz="2400" dirty="0"/>
              <a:t>McCabe</a:t>
            </a:r>
            <a:r>
              <a:rPr lang="zh-CN" altLang="zh-CN" sz="2400" dirty="0"/>
              <a:t>方法（环路度量法）。</a:t>
            </a:r>
          </a:p>
          <a:p>
            <a:r>
              <a:rPr lang="zh-CN" altLang="zh-CN" sz="2400" dirty="0"/>
              <a:t>定量度量的价值：估算开发工作量和软件中故障的数量，比较不同算法的优劣，还可以作为模块规模的精确限度。</a:t>
            </a:r>
          </a:p>
          <a:p>
            <a:endParaRPr lang="zh-CN" altLang="en-US" sz="2400" dirty="0"/>
          </a:p>
        </p:txBody>
      </p:sp>
      <p:pic>
        <p:nvPicPr>
          <p:cNvPr id="1126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57" t="21913" r="27872" b="40741"/>
          <a:stretch>
            <a:fillRect/>
          </a:stretch>
        </p:blipFill>
        <p:spPr bwMode="auto">
          <a:xfrm>
            <a:off x="1144588" y="3965575"/>
            <a:ext cx="4356560" cy="282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76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5.3</a:t>
            </a:r>
            <a:r>
              <a:rPr lang="zh-CN" altLang="zh-CN" b="1" dirty="0"/>
              <a:t>结构化详细设计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在控制流图的基础上分析控制构造的环路复杂度，用来度量程序的逻辑复杂性，计算如下：</a:t>
            </a:r>
          </a:p>
          <a:p>
            <a:r>
              <a:rPr lang="en-US" altLang="zh-CN" sz="2400" dirty="0"/>
              <a:t>1</a:t>
            </a:r>
            <a:r>
              <a:rPr lang="zh-CN" altLang="zh-CN" sz="2400" dirty="0"/>
              <a:t>）控制流图</a:t>
            </a:r>
            <a:r>
              <a:rPr lang="en-US" altLang="zh-CN" sz="2400" dirty="0"/>
              <a:t>G</a:t>
            </a:r>
            <a:r>
              <a:rPr lang="zh-CN" altLang="zh-CN" sz="2400" dirty="0"/>
              <a:t>中的区域数；</a:t>
            </a:r>
          </a:p>
          <a:p>
            <a:r>
              <a:rPr lang="en-US" altLang="zh-CN" sz="2400" dirty="0"/>
              <a:t>2</a:t>
            </a:r>
            <a:r>
              <a:rPr lang="zh-CN" altLang="zh-CN" sz="2400" dirty="0"/>
              <a:t>）环路复杂度</a:t>
            </a:r>
            <a:r>
              <a:rPr lang="en-US" altLang="zh-CN" sz="2400" dirty="0"/>
              <a:t>V(G)</a:t>
            </a:r>
            <a:r>
              <a:rPr lang="zh-CN" altLang="zh-CN" sz="2400" dirty="0"/>
              <a:t>＝</a:t>
            </a:r>
            <a:r>
              <a:rPr lang="en-US" altLang="zh-CN" sz="2400" dirty="0"/>
              <a:t>E-N+2</a:t>
            </a:r>
            <a:r>
              <a:rPr lang="zh-CN" altLang="zh-CN" sz="2400" dirty="0"/>
              <a:t>，其中</a:t>
            </a:r>
            <a:r>
              <a:rPr lang="en-US" altLang="zh-CN" sz="2400" dirty="0"/>
              <a:t>E</a:t>
            </a:r>
            <a:r>
              <a:rPr lang="zh-CN" altLang="zh-CN" sz="2400" dirty="0"/>
              <a:t>是流图中边数，</a:t>
            </a:r>
            <a:r>
              <a:rPr lang="en-US" altLang="zh-CN" sz="2400" dirty="0"/>
              <a:t>N</a:t>
            </a:r>
            <a:r>
              <a:rPr lang="zh-CN" altLang="zh-CN" sz="2400" dirty="0"/>
              <a:t>是节点数；</a:t>
            </a:r>
          </a:p>
          <a:p>
            <a:r>
              <a:rPr lang="en-US" altLang="zh-CN" sz="2400" dirty="0"/>
              <a:t>3</a:t>
            </a:r>
            <a:r>
              <a:rPr lang="zh-CN" altLang="zh-CN" sz="2400" dirty="0"/>
              <a:t>）环路复杂度</a:t>
            </a:r>
            <a:r>
              <a:rPr lang="en-US" altLang="zh-CN" sz="2400" dirty="0"/>
              <a:t>V(G)</a:t>
            </a:r>
            <a:r>
              <a:rPr lang="zh-CN" altLang="zh-CN" sz="2400" dirty="0"/>
              <a:t>＝</a:t>
            </a:r>
            <a:r>
              <a:rPr lang="en-US" altLang="zh-CN" sz="2400" dirty="0"/>
              <a:t>P+1</a:t>
            </a:r>
            <a:r>
              <a:rPr lang="zh-CN" altLang="zh-CN" sz="2400" dirty="0"/>
              <a:t>，其中</a:t>
            </a:r>
            <a:r>
              <a:rPr lang="en-US" altLang="zh-CN" sz="2400" dirty="0"/>
              <a:t>P</a:t>
            </a:r>
            <a:r>
              <a:rPr lang="zh-CN" altLang="zh-CN" sz="2400" dirty="0"/>
              <a:t>是流图中判定节点的数目。</a:t>
            </a:r>
          </a:p>
          <a:p>
            <a:r>
              <a:rPr lang="en-US" altLang="zh-CN" sz="2400" dirty="0"/>
              <a:t> </a:t>
            </a:r>
            <a:endParaRPr lang="zh-CN" altLang="zh-CN" sz="2400" dirty="0"/>
          </a:p>
          <a:p>
            <a:r>
              <a:rPr lang="zh-CN" altLang="zh-CN" sz="2400" dirty="0"/>
              <a:t>环路复杂度取决于程序结构的复杂度，是对测试难度的一种定量度量，环路复杂度高的程序往往最困难、最容易出问题。大量实践研究表明，模块规模以</a:t>
            </a:r>
            <a:r>
              <a:rPr lang="en-US" altLang="zh-CN" sz="2400" dirty="0"/>
              <a:t>V(G)</a:t>
            </a:r>
            <a:r>
              <a:rPr lang="zh-CN" altLang="zh-CN" sz="2400" dirty="0"/>
              <a:t>≤</a:t>
            </a:r>
            <a:r>
              <a:rPr lang="en-US" altLang="zh-CN" sz="2400" dirty="0"/>
              <a:t>10</a:t>
            </a:r>
            <a:r>
              <a:rPr lang="zh-CN" altLang="zh-CN" sz="2400" dirty="0"/>
              <a:t>为宜，也就是说，</a:t>
            </a:r>
            <a:r>
              <a:rPr lang="en-US" altLang="zh-CN" sz="2400" dirty="0"/>
              <a:t>V(G)=10 </a:t>
            </a:r>
            <a:r>
              <a:rPr lang="zh-CN" altLang="zh-CN" sz="2400" dirty="0"/>
              <a:t>是模块规模的一个更科学更精确的上限。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9762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5.4</a:t>
            </a:r>
            <a:r>
              <a:rPr lang="zh-CN" altLang="zh-CN" b="1" dirty="0"/>
              <a:t>面向对象详细设计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在概要设计阶段已经对系统结构及对象进行设计，设计了类，并同时描述了类中的属性、操作以及相关的接口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r>
              <a:rPr lang="zh-CN" altLang="zh-CN" sz="2400" dirty="0" smtClean="0"/>
              <a:t>在</a:t>
            </a:r>
            <a:r>
              <a:rPr lang="zh-CN" altLang="zh-CN" sz="2400" dirty="0"/>
              <a:t>详细设计阶段主要是对每一个类进行详细描述，包括所有的属性和相关的操作。每一个属性的数据结构进行详细说明，每一个操作的实现处理逻辑的算法细节。</a:t>
            </a:r>
          </a:p>
          <a:p>
            <a:r>
              <a:rPr lang="zh-CN" altLang="zh-CN" sz="2400" dirty="0" smtClean="0"/>
              <a:t>算法</a:t>
            </a:r>
            <a:r>
              <a:rPr lang="zh-CN" altLang="zh-CN" sz="2400" dirty="0"/>
              <a:t>和数据结构的设计：算法是设计对象中每个方法的实现规格；数据结构的设计与算法是同时进行的。</a:t>
            </a:r>
          </a:p>
          <a:p>
            <a:r>
              <a:rPr lang="zh-CN" altLang="zh-CN" sz="2400" dirty="0" smtClean="0"/>
              <a:t>模块</a:t>
            </a:r>
            <a:r>
              <a:rPr lang="zh-CN" altLang="zh-CN" sz="2400" dirty="0"/>
              <a:t>和接口：将对象定义为模块；定义对象之间的接口和对象的总的结构。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95462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5.4</a:t>
            </a:r>
            <a:r>
              <a:rPr lang="zh-CN" altLang="zh-CN" b="1" dirty="0"/>
              <a:t>面向对象详细设计</a:t>
            </a:r>
            <a:r>
              <a:rPr lang="zh-CN" altLang="zh-CN" b="1" dirty="0" smtClean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在概要设计阶段可以通过类图、时序图、状态图等描述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r>
              <a:rPr lang="zh-CN" altLang="zh-CN" sz="2400" dirty="0" smtClean="0"/>
              <a:t>在</a:t>
            </a:r>
            <a:r>
              <a:rPr lang="zh-CN" altLang="zh-CN" sz="2400" dirty="0"/>
              <a:t>详细阶段可以通过伪码、活动图、程序流程图等对类中的属性以及每一个操作进行描述。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9546274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1713</Words>
  <Application>Microsoft Office PowerPoint</Application>
  <PresentationFormat>自定义</PresentationFormat>
  <Paragraphs>106</Paragraphs>
  <Slides>25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7" baseType="lpstr">
      <vt:lpstr>WPS</vt:lpstr>
      <vt:lpstr>Microsoft Visio 绘图</vt:lpstr>
      <vt:lpstr>软件项目实践 第5章 软件项目的详细设计</vt:lpstr>
      <vt:lpstr>PowerPoint 演示文稿</vt:lpstr>
      <vt:lpstr>5.1详细设计的概述</vt:lpstr>
      <vt:lpstr>5.2详细设计的内容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5.3结构化详细设计方法</vt:lpstr>
      <vt:lpstr>5.4面向对象详细设计方法</vt:lpstr>
      <vt:lpstr>5.4面向对象详细设计方法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软件项目实践 第5章 软件项目的详细设计</dc:title>
  <dc:creator>xiexiong</dc:creator>
  <cp:lastModifiedBy>xiexiong</cp:lastModifiedBy>
  <cp:revision>4</cp:revision>
  <dcterms:created xsi:type="dcterms:W3CDTF">2023-08-09T12:44:55Z</dcterms:created>
  <dcterms:modified xsi:type="dcterms:W3CDTF">2025-08-26T02:33:11Z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