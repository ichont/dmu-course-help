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301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93" r:id="rId30"/>
    <p:sldId id="294" r:id="rId31"/>
    <p:sldId id="295" r:id="rId32"/>
    <p:sldId id="296" r:id="rId33"/>
    <p:sldId id="297" r:id="rId34"/>
    <p:sldId id="298" r:id="rId35"/>
    <p:sldId id="299" r:id="rId36"/>
    <p:sldId id="300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2" autoAdjust="0"/>
    <p:restoredTop sz="94660"/>
  </p:normalViewPr>
  <p:slideViewPr>
    <p:cSldViewPr snapToGrid="0">
      <p:cViewPr varScale="1">
        <p:scale>
          <a:sx n="63" d="100"/>
          <a:sy n="63" d="100"/>
        </p:scale>
        <p:origin x="102" y="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9/21/2020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9/21/2020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9/21/2020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9/21/2020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9/21/2020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9/21/2020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4.w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顺序表和单链表的应用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 err="1" smtClean="0"/>
              <a:t>SqList</a:t>
            </a:r>
            <a:r>
              <a:rPr lang="en-US" altLang="zh-CN" sz="3200" dirty="0" smtClean="0"/>
              <a:t> </a:t>
            </a:r>
            <a:r>
              <a:rPr lang="en-US" altLang="zh-CN" sz="3200" dirty="0" err="1" smtClean="0"/>
              <a:t>v.s.LinkList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893587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6929438" y="6042026"/>
            <a:ext cx="684212" cy="365125"/>
          </a:xfrm>
        </p:spPr>
        <p:txBody>
          <a:bodyPr/>
          <a:lstStyle/>
          <a:p>
            <a:pPr algn="r">
              <a:defRPr/>
            </a:pPr>
            <a:r>
              <a:rPr lang="zh-CN" altLang="en-US" smtClean="0"/>
              <a:t>北京林业大学信息学院</a:t>
            </a:r>
            <a:endParaRPr lang="zh-CN" altLang="en-US" sz="1400"/>
          </a:p>
        </p:txBody>
      </p:sp>
      <p:sp>
        <p:nvSpPr>
          <p:cNvPr id="35843" name="Rectangle 4"/>
          <p:cNvSpPr>
            <a:spLocks noChangeArrowheads="1"/>
          </p:cNvSpPr>
          <p:nvPr/>
        </p:nvSpPr>
        <p:spPr bwMode="auto">
          <a:xfrm>
            <a:off x="1524000" y="511175"/>
            <a:ext cx="7850188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rgbClr val="404040"/>
                </a:solidFill>
                <a:latin typeface="Trebuchet MS" panose="020B0603020202020204" pitchFamily="34" charset="0"/>
                <a:ea typeface="华文新魏" pitchFamily="2" charset="-122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rgbClr val="404040"/>
                </a:solidFill>
                <a:latin typeface="Trebuchet MS" panose="020B0603020202020204" pitchFamily="34" charset="0"/>
                <a:ea typeface="华文新魏" pitchFamily="2" charset="-122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rgbClr val="404040"/>
                </a:solidFill>
                <a:latin typeface="Trebuchet MS" panose="020B0603020202020204" pitchFamily="34" charset="0"/>
                <a:ea typeface="华文新魏" pitchFamily="2" charset="-122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  <a:ea typeface="华文新魏" pitchFamily="2" charset="-122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  <a:ea typeface="华文新魏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  <a:ea typeface="华文新魏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  <a:ea typeface="华文新魏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  <a:ea typeface="华文新魏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200">
                <a:solidFill>
                  <a:srgbClr val="404040"/>
                </a:solidFill>
                <a:latin typeface="Trebuchet MS" panose="020B0603020202020204" pitchFamily="34" charset="0"/>
                <a:ea typeface="华文新魏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000" b="1">
                <a:solidFill>
                  <a:srgbClr val="CC00CC"/>
                </a:solidFill>
                <a:latin typeface="楷体_GB2312"/>
                <a:ea typeface="楷体_GB2312"/>
                <a:cs typeface="楷体_GB2312"/>
              </a:rPr>
              <a:t>2.6 </a:t>
            </a:r>
            <a:r>
              <a:rPr lang="zh-CN" altLang="en-US" sz="4000" b="1">
                <a:solidFill>
                  <a:srgbClr val="CC00CC"/>
                </a:solidFill>
                <a:latin typeface="楷体_GB2312"/>
                <a:ea typeface="楷体_GB2312"/>
                <a:cs typeface="楷体_GB2312"/>
              </a:rPr>
              <a:t>顺序表和链表的比较</a:t>
            </a:r>
          </a:p>
        </p:txBody>
      </p:sp>
      <p:sp>
        <p:nvSpPr>
          <p:cNvPr id="35844" name="Line 5"/>
          <p:cNvSpPr>
            <a:spLocks noChangeShapeType="1"/>
          </p:cNvSpPr>
          <p:nvPr/>
        </p:nvSpPr>
        <p:spPr bwMode="auto">
          <a:xfrm>
            <a:off x="1524000" y="1268413"/>
            <a:ext cx="9144000" cy="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35845" name="Picture 6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4188" y="509589"/>
            <a:ext cx="811212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809750" y="1268414"/>
          <a:ext cx="8572500" cy="5505463"/>
        </p:xfrm>
        <a:graphic>
          <a:graphicData uri="http://schemas.openxmlformats.org/drawingml/2006/table">
            <a:tbl>
              <a:tblPr/>
              <a:tblGrid>
                <a:gridCol w="794380"/>
                <a:gridCol w="2642639"/>
                <a:gridCol w="2642639"/>
                <a:gridCol w="2492842"/>
              </a:tblGrid>
              <a:tr h="718657">
                <a:tc gridSpan="2">
                  <a:txBody>
                    <a:bodyPr/>
                    <a:lstStyle/>
                    <a:p>
                      <a:pPr indent="430530" algn="just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1600" kern="100">
                          <a:latin typeface="Times New Roman"/>
                          <a:ea typeface="方正书宋简体"/>
                          <a:cs typeface="Times New Roman"/>
                        </a:rPr>
                        <a:t>存储结构</a:t>
                      </a:r>
                      <a:endParaRPr lang="zh-CN" sz="1600" kern="1000">
                        <a:latin typeface="Times New Roman"/>
                        <a:ea typeface="方正书宋简体"/>
                        <a:cs typeface="Times New Roman"/>
                      </a:endParaRPr>
                    </a:p>
                    <a:p>
                      <a:pPr algn="just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1600" kern="100">
                          <a:latin typeface="Times New Roman"/>
                          <a:ea typeface="方正书宋简体"/>
                          <a:cs typeface="Times New Roman"/>
                        </a:rPr>
                        <a:t>比较项目</a:t>
                      </a:r>
                      <a:endParaRPr lang="zh-CN" sz="1600" kern="1000"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1600" kern="100">
                          <a:latin typeface="Times New Roman"/>
                          <a:ea typeface="方正书宋简体"/>
                          <a:cs typeface="Times New Roman"/>
                        </a:rPr>
                        <a:t>顺序表</a:t>
                      </a:r>
                      <a:endParaRPr lang="zh-CN" sz="1600" kern="1000"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1600" kern="100">
                          <a:latin typeface="Times New Roman"/>
                          <a:ea typeface="方正书宋简体"/>
                          <a:cs typeface="Times New Roman"/>
                        </a:rPr>
                        <a:t>链表</a:t>
                      </a:r>
                      <a:endParaRPr lang="zh-CN" sz="1600" kern="1000"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7"/>
                    </a:solidFill>
                  </a:tcPr>
                </a:tc>
              </a:tr>
              <a:tr h="654492">
                <a:tc rowSpan="2"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zh-CN" sz="1600" kern="100">
                          <a:latin typeface="Times New Roman"/>
                          <a:ea typeface="方正书宋简体"/>
                          <a:cs typeface="Times New Roman"/>
                        </a:rPr>
                        <a:t>空间</a:t>
                      </a:r>
                      <a:endParaRPr lang="zh-CN" sz="1600" kern="1000"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zh-CN" sz="1600" kern="100">
                          <a:latin typeface="Times New Roman"/>
                          <a:ea typeface="方正书宋简体"/>
                          <a:cs typeface="Times New Roman"/>
                        </a:rPr>
                        <a:t>存储空间</a:t>
                      </a:r>
                      <a:endParaRPr lang="zh-CN" sz="1600" kern="1000"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7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zh-CN" sz="1600" kern="100">
                          <a:latin typeface="Times New Roman"/>
                          <a:ea typeface="方正书宋简体"/>
                          <a:cs typeface="Times New Roman"/>
                        </a:rPr>
                        <a:t>预先分配，会导致空间闲置或溢出现象</a:t>
                      </a:r>
                      <a:endParaRPr lang="zh-CN" sz="1600" kern="1000"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7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zh-CN" sz="1600" kern="100">
                          <a:latin typeface="Times New Roman"/>
                          <a:ea typeface="方正书宋简体"/>
                          <a:cs typeface="Times New Roman"/>
                        </a:rPr>
                        <a:t>动态分配，不会出现存储空间闲置或溢出现象</a:t>
                      </a:r>
                      <a:endParaRPr lang="zh-CN" sz="1600" kern="1000"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7"/>
                    </a:solidFill>
                  </a:tcPr>
                </a:tc>
              </a:tr>
              <a:tr h="98173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zh-CN" sz="1600" kern="100">
                          <a:latin typeface="Times New Roman"/>
                          <a:ea typeface="方正书宋简体"/>
                          <a:cs typeface="Times New Roman"/>
                        </a:rPr>
                        <a:t>存储密度</a:t>
                      </a:r>
                      <a:endParaRPr lang="zh-CN" sz="1600" kern="1000"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7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zh-CN" sz="1600" kern="100">
                          <a:latin typeface="Times New Roman"/>
                          <a:ea typeface="方正书宋简体"/>
                          <a:cs typeface="Times New Roman"/>
                        </a:rPr>
                        <a:t>不用为表示结点间的逻辑关系而增加额外的存储开销，存储密度等于</a:t>
                      </a:r>
                      <a:r>
                        <a:rPr lang="en-US" sz="1600" kern="100">
                          <a:latin typeface="Times New Roman"/>
                          <a:ea typeface="方正书宋简体"/>
                          <a:cs typeface="Times New Roman"/>
                        </a:rPr>
                        <a:t>1</a:t>
                      </a:r>
                      <a:endParaRPr lang="zh-CN" sz="1600" kern="1000"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7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zh-CN" sz="1600" kern="100">
                          <a:latin typeface="Times New Roman"/>
                          <a:ea typeface="方正书宋简体"/>
                          <a:cs typeface="Times New Roman"/>
                        </a:rPr>
                        <a:t>需要借助指针来体现元素间的逻辑关系，存储密度小于</a:t>
                      </a:r>
                      <a:r>
                        <a:rPr lang="en-US" sz="1600" kern="100">
                          <a:latin typeface="Times New Roman"/>
                          <a:ea typeface="方正书宋简体"/>
                          <a:cs typeface="Times New Roman"/>
                        </a:rPr>
                        <a:t>1</a:t>
                      </a:r>
                      <a:endParaRPr lang="zh-CN" sz="1600" kern="1000"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7"/>
                    </a:solidFill>
                  </a:tcPr>
                </a:tc>
              </a:tr>
              <a:tr h="654492">
                <a:tc rowSpan="2"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zh-CN" sz="1600" kern="100">
                          <a:latin typeface="Times New Roman"/>
                          <a:ea typeface="方正书宋简体"/>
                          <a:cs typeface="Times New Roman"/>
                        </a:rPr>
                        <a:t>时间</a:t>
                      </a:r>
                      <a:endParaRPr lang="zh-CN" sz="1600" kern="1000"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zh-CN" sz="1600" kern="100">
                          <a:latin typeface="Times New Roman"/>
                          <a:ea typeface="方正书宋简体"/>
                          <a:cs typeface="Times New Roman"/>
                        </a:rPr>
                        <a:t>存取元素</a:t>
                      </a:r>
                      <a:endParaRPr lang="zh-CN" sz="1600" kern="1000"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7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zh-CN" sz="1600" kern="100">
                          <a:latin typeface="Times New Roman"/>
                          <a:ea typeface="方正书宋简体"/>
                          <a:cs typeface="Times New Roman"/>
                        </a:rPr>
                        <a:t>随机存取，按位置访问元素的时间复杂度为</a:t>
                      </a:r>
                      <a:r>
                        <a:rPr lang="en-US" sz="1600" kern="100">
                          <a:latin typeface="Times New Roman"/>
                          <a:ea typeface="方正书宋简体"/>
                          <a:cs typeface="Times New Roman"/>
                        </a:rPr>
                        <a:t>O(1)</a:t>
                      </a:r>
                      <a:endParaRPr lang="zh-CN" sz="1600" kern="1000"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7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zh-CN" sz="1600" kern="100">
                          <a:latin typeface="Times New Roman"/>
                          <a:ea typeface="方正书宋简体"/>
                          <a:cs typeface="Times New Roman"/>
                        </a:rPr>
                        <a:t>顺序存取，按位置访问元素时间复杂度为</a:t>
                      </a:r>
                      <a:r>
                        <a:rPr lang="en-US" sz="1600" kern="100">
                          <a:latin typeface="Times New Roman"/>
                          <a:ea typeface="方正书宋简体"/>
                          <a:cs typeface="Times New Roman"/>
                        </a:rPr>
                        <a:t>O(</a:t>
                      </a:r>
                      <a:r>
                        <a:rPr lang="en-US" sz="1600" i="1" kern="100">
                          <a:latin typeface="Times New Roman"/>
                          <a:ea typeface="方正书宋简体"/>
                          <a:cs typeface="Times New Roman"/>
                        </a:rPr>
                        <a:t>n</a:t>
                      </a:r>
                      <a:r>
                        <a:rPr lang="en-US" sz="1600" kern="100">
                          <a:latin typeface="Times New Roman"/>
                          <a:ea typeface="方正书宋简体"/>
                          <a:cs typeface="Times New Roman"/>
                        </a:rPr>
                        <a:t>)</a:t>
                      </a:r>
                      <a:endParaRPr lang="zh-CN" sz="1600" kern="1000"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7"/>
                    </a:solidFill>
                  </a:tcPr>
                </a:tc>
              </a:tr>
              <a:tr h="73150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zh-CN" sz="1600" kern="100">
                          <a:latin typeface="Times New Roman"/>
                          <a:ea typeface="方正书宋简体"/>
                          <a:cs typeface="Times New Roman"/>
                        </a:rPr>
                        <a:t>插入、删除</a:t>
                      </a:r>
                      <a:endParaRPr lang="zh-CN" sz="1600" kern="1000"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7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zh-CN" sz="1600" kern="100">
                          <a:latin typeface="Times New Roman"/>
                          <a:ea typeface="方正书宋简体"/>
                          <a:cs typeface="Times New Roman"/>
                        </a:rPr>
                        <a:t>平均移动约表中一半元素，时间复杂度为</a:t>
                      </a:r>
                      <a:r>
                        <a:rPr lang="en-US" sz="1600" kern="100">
                          <a:latin typeface="Times New Roman"/>
                          <a:ea typeface="方正书宋简体"/>
                          <a:cs typeface="Times New Roman"/>
                        </a:rPr>
                        <a:t>O(</a:t>
                      </a:r>
                      <a:r>
                        <a:rPr lang="en-US" sz="1600" i="1" kern="100">
                          <a:latin typeface="Times New Roman"/>
                          <a:ea typeface="方正书宋简体"/>
                          <a:cs typeface="Times New Roman"/>
                        </a:rPr>
                        <a:t>n</a:t>
                      </a:r>
                      <a:r>
                        <a:rPr lang="en-US" sz="1600" kern="100">
                          <a:latin typeface="Times New Roman"/>
                          <a:ea typeface="方正书宋简体"/>
                          <a:cs typeface="Times New Roman"/>
                        </a:rPr>
                        <a:t>)</a:t>
                      </a:r>
                      <a:endParaRPr lang="zh-CN" sz="1600" kern="1000"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7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zh-CN" sz="1600" kern="100">
                          <a:latin typeface="Times New Roman"/>
                          <a:ea typeface="方正书宋简体"/>
                          <a:cs typeface="Times New Roman"/>
                        </a:rPr>
                        <a:t>不需移动元素，确定插入、删除位置后，时间复杂度为</a:t>
                      </a:r>
                      <a:r>
                        <a:rPr lang="en-US" sz="1600" kern="100">
                          <a:latin typeface="Times New Roman"/>
                          <a:ea typeface="方正书宋简体"/>
                          <a:cs typeface="Times New Roman"/>
                        </a:rPr>
                        <a:t>O(1)</a:t>
                      </a:r>
                      <a:endParaRPr lang="zh-CN" sz="1600" kern="1000"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7"/>
                    </a:solidFill>
                  </a:tcPr>
                </a:tc>
              </a:tr>
              <a:tr h="1764563">
                <a:tc gridSpan="2">
                  <a:txBody>
                    <a:bodyPr/>
                    <a:lstStyle/>
                    <a:p>
                      <a:pPr algn="ctr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zh-CN" sz="1600" kern="100">
                          <a:latin typeface="Times New Roman"/>
                          <a:ea typeface="方正书宋简体"/>
                          <a:cs typeface="Times New Roman"/>
                        </a:rPr>
                        <a:t>适用情况</a:t>
                      </a:r>
                      <a:endParaRPr lang="zh-CN" sz="1600" kern="1000"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zh-CN" sz="1600" kern="100">
                          <a:latin typeface="Times New Roman"/>
                          <a:ea typeface="方正书宋简体"/>
                          <a:cs typeface="Times New Roman"/>
                        </a:rPr>
                        <a:t>① 表长变化不大，且能事先确定变化的范围</a:t>
                      </a:r>
                      <a:endParaRPr lang="zh-CN" sz="1600" kern="1000">
                        <a:latin typeface="Times New Roman"/>
                        <a:ea typeface="方正书宋简体"/>
                        <a:cs typeface="Times New Roman"/>
                      </a:endParaRPr>
                    </a:p>
                    <a:p>
                      <a:pPr algn="just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zh-CN" sz="1600" kern="100">
                          <a:latin typeface="Times New Roman"/>
                          <a:ea typeface="方正书宋简体"/>
                          <a:cs typeface="Times New Roman"/>
                        </a:rPr>
                        <a:t>② 很少进行插入或删除操作，经常按元素位置序号访问数据元素</a:t>
                      </a:r>
                      <a:endParaRPr lang="zh-CN" sz="1600" kern="1000"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7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zh-CN" sz="1600" kern="100" dirty="0">
                          <a:latin typeface="Times New Roman"/>
                          <a:ea typeface="方正书宋简体"/>
                          <a:cs typeface="Times New Roman"/>
                        </a:rPr>
                        <a:t>① 长度变化较大</a:t>
                      </a:r>
                      <a:endParaRPr lang="zh-CN" sz="1600" kern="1000" dirty="0">
                        <a:latin typeface="Times New Roman"/>
                        <a:ea typeface="方正书宋简体"/>
                        <a:cs typeface="Times New Roman"/>
                      </a:endParaRPr>
                    </a:p>
                    <a:p>
                      <a:pPr algn="just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zh-CN" sz="1600" kern="100" dirty="0">
                          <a:latin typeface="Times New Roman"/>
                          <a:ea typeface="方正书宋简体"/>
                          <a:cs typeface="Times New Roman"/>
                        </a:rPr>
                        <a:t>② 频繁进行插入或删除操作</a:t>
                      </a:r>
                      <a:endParaRPr lang="zh-CN" sz="1600" kern="1000" dirty="0"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7"/>
                    </a:solidFill>
                  </a:tcPr>
                </a:tc>
              </a:tr>
            </a:tbl>
          </a:graphicData>
        </a:graphic>
      </p:graphicFrame>
      <p:sp>
        <p:nvSpPr>
          <p:cNvPr id="35877" name="Line 1"/>
          <p:cNvSpPr>
            <a:spLocks noChangeShapeType="1"/>
          </p:cNvSpPr>
          <p:nvPr/>
        </p:nvSpPr>
        <p:spPr bwMode="auto">
          <a:xfrm>
            <a:off x="1457325" y="1589"/>
            <a:ext cx="1017588" cy="327025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528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2" name="Rectangle 4"/>
          <p:cNvSpPr>
            <a:spLocks noChangeArrowheads="1"/>
          </p:cNvSpPr>
          <p:nvPr/>
        </p:nvSpPr>
        <p:spPr bwMode="auto">
          <a:xfrm>
            <a:off x="1524000" y="511175"/>
            <a:ext cx="7850188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r>
              <a:rPr lang="en-US" altLang="zh-CN" sz="4000" b="1">
                <a:solidFill>
                  <a:srgbClr val="CC00CC"/>
                </a:solidFill>
                <a:latin typeface="楷体_GB2312"/>
                <a:ea typeface="楷体_GB2312"/>
                <a:cs typeface="楷体_GB2312"/>
              </a:rPr>
              <a:t>2.7 </a:t>
            </a:r>
            <a:r>
              <a:rPr lang="zh-CN" altLang="en-US" sz="4000" b="1">
                <a:solidFill>
                  <a:srgbClr val="CC00CC"/>
                </a:solidFill>
                <a:latin typeface="楷体_GB2312"/>
                <a:ea typeface="楷体_GB2312"/>
                <a:cs typeface="楷体_GB2312"/>
              </a:rPr>
              <a:t>线性表的应用</a:t>
            </a:r>
          </a:p>
        </p:txBody>
      </p:sp>
      <p:sp>
        <p:nvSpPr>
          <p:cNvPr id="145413" name="Line 5"/>
          <p:cNvSpPr>
            <a:spLocks noChangeShapeType="1"/>
          </p:cNvSpPr>
          <p:nvPr/>
        </p:nvSpPr>
        <p:spPr bwMode="auto">
          <a:xfrm>
            <a:off x="1524000" y="1268413"/>
            <a:ext cx="9144000" cy="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45414" name="Picture 6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4188" y="509589"/>
            <a:ext cx="811212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5415" name="Group 3"/>
          <p:cNvGrpSpPr>
            <a:grpSpLocks/>
          </p:cNvGrpSpPr>
          <p:nvPr/>
        </p:nvGrpSpPr>
        <p:grpSpPr bwMode="auto">
          <a:xfrm>
            <a:off x="1524000" y="2533650"/>
            <a:ext cx="9144000" cy="122238"/>
            <a:chOff x="0" y="1896"/>
            <a:chExt cx="5760" cy="120"/>
          </a:xfrm>
        </p:grpSpPr>
        <p:sp>
          <p:nvSpPr>
            <p:cNvPr id="145460" name="Rectangle 4"/>
            <p:cNvSpPr>
              <a:spLocks noChangeArrowheads="1"/>
            </p:cNvSpPr>
            <p:nvPr/>
          </p:nvSpPr>
          <p:spPr bwMode="gray">
            <a:xfrm>
              <a:off x="0" y="1896"/>
              <a:ext cx="5760" cy="47"/>
            </a:xfrm>
            <a:prstGeom prst="rect">
              <a:avLst/>
            </a:prstGeom>
            <a:gradFill rotWithShape="1">
              <a:gsLst>
                <a:gs pos="0">
                  <a:srgbClr val="808080"/>
                </a:gs>
                <a:gs pos="100000">
                  <a:srgbClr val="ECECEC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 eaLnBrk="1" hangingPunct="1"/>
              <a:endParaRPr kumimoji="0" lang="zh-CN" altLang="zh-CN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5461" name="Rectangle 5"/>
            <p:cNvSpPr>
              <a:spLocks noChangeArrowheads="1"/>
            </p:cNvSpPr>
            <p:nvPr/>
          </p:nvSpPr>
          <p:spPr bwMode="gray">
            <a:xfrm>
              <a:off x="0" y="1942"/>
              <a:ext cx="5760" cy="74"/>
            </a:xfrm>
            <a:prstGeom prst="rect">
              <a:avLst/>
            </a:prstGeom>
            <a:gradFill rotWithShape="1">
              <a:gsLst>
                <a:gs pos="0">
                  <a:srgbClr val="CFCFCF"/>
                </a:gs>
                <a:gs pos="100000">
                  <a:srgbClr val="5F5F5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 eaLnBrk="1" hangingPunct="1"/>
              <a:endParaRPr kumimoji="0" lang="zh-CN" altLang="zh-CN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" name="Group 93"/>
          <p:cNvGrpSpPr>
            <a:grpSpLocks/>
          </p:cNvGrpSpPr>
          <p:nvPr/>
        </p:nvGrpSpPr>
        <p:grpSpPr bwMode="auto">
          <a:xfrm>
            <a:off x="3000376" y="1984375"/>
            <a:ext cx="2049463" cy="3429000"/>
            <a:chOff x="533" y="1792"/>
            <a:chExt cx="1022" cy="1912"/>
          </a:xfrm>
        </p:grpSpPr>
        <p:grpSp>
          <p:nvGrpSpPr>
            <p:cNvPr id="145440" name="Group 59"/>
            <p:cNvGrpSpPr>
              <a:grpSpLocks/>
            </p:cNvGrpSpPr>
            <p:nvPr/>
          </p:nvGrpSpPr>
          <p:grpSpPr bwMode="auto">
            <a:xfrm rot="3877067">
              <a:off x="568" y="2717"/>
              <a:ext cx="1432" cy="542"/>
              <a:chOff x="2290" y="2725"/>
              <a:chExt cx="1832" cy="713"/>
            </a:xfrm>
          </p:grpSpPr>
          <p:grpSp>
            <p:nvGrpSpPr>
              <p:cNvPr id="145454" name="Group 60"/>
              <p:cNvGrpSpPr>
                <a:grpSpLocks/>
              </p:cNvGrpSpPr>
              <p:nvPr/>
            </p:nvGrpSpPr>
            <p:grpSpPr bwMode="auto">
              <a:xfrm>
                <a:off x="2290" y="3030"/>
                <a:ext cx="1832" cy="408"/>
                <a:chOff x="2290" y="3030"/>
                <a:chExt cx="1832" cy="408"/>
              </a:xfrm>
            </p:grpSpPr>
            <p:sp>
              <p:nvSpPr>
                <p:cNvPr id="145458" name="Freeform 61"/>
                <p:cNvSpPr>
                  <a:spLocks/>
                </p:cNvSpPr>
                <p:nvPr/>
              </p:nvSpPr>
              <p:spPr bwMode="gray">
                <a:xfrm>
                  <a:off x="2290" y="3030"/>
                  <a:ext cx="1832" cy="408"/>
                </a:xfrm>
                <a:custGeom>
                  <a:avLst/>
                  <a:gdLst>
                    <a:gd name="T0" fmla="*/ 1832 w 1832"/>
                    <a:gd name="T1" fmla="*/ 32 h 408"/>
                    <a:gd name="T2" fmla="*/ 1830 w 1832"/>
                    <a:gd name="T3" fmla="*/ 66 h 408"/>
                    <a:gd name="T4" fmla="*/ 1814 w 1832"/>
                    <a:gd name="T5" fmla="*/ 128 h 408"/>
                    <a:gd name="T6" fmla="*/ 1788 w 1832"/>
                    <a:gd name="T7" fmla="*/ 188 h 408"/>
                    <a:gd name="T8" fmla="*/ 1754 w 1832"/>
                    <a:gd name="T9" fmla="*/ 240 h 408"/>
                    <a:gd name="T10" fmla="*/ 1712 w 1832"/>
                    <a:gd name="T11" fmla="*/ 288 h 408"/>
                    <a:gd name="T12" fmla="*/ 1664 w 1832"/>
                    <a:gd name="T13" fmla="*/ 330 h 408"/>
                    <a:gd name="T14" fmla="*/ 1610 w 1832"/>
                    <a:gd name="T15" fmla="*/ 362 h 408"/>
                    <a:gd name="T16" fmla="*/ 1550 w 1832"/>
                    <a:gd name="T17" fmla="*/ 388 h 408"/>
                    <a:gd name="T18" fmla="*/ 1486 w 1832"/>
                    <a:gd name="T19" fmla="*/ 402 h 408"/>
                    <a:gd name="T20" fmla="*/ 1418 w 1832"/>
                    <a:gd name="T21" fmla="*/ 408 h 408"/>
                    <a:gd name="T22" fmla="*/ 0 w 1832"/>
                    <a:gd name="T23" fmla="*/ 408 h 408"/>
                    <a:gd name="T24" fmla="*/ 0 w 1832"/>
                    <a:gd name="T25" fmla="*/ 0 h 408"/>
                    <a:gd name="T26" fmla="*/ 1832 w 1832"/>
                    <a:gd name="T27" fmla="*/ 0 h 408"/>
                    <a:gd name="T28" fmla="*/ 1832 w 1832"/>
                    <a:gd name="T29" fmla="*/ 32 h 408"/>
                    <a:gd name="T30" fmla="*/ 1832 w 1832"/>
                    <a:gd name="T31" fmla="*/ 32 h 408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w 1832"/>
                    <a:gd name="T49" fmla="*/ 0 h 408"/>
                    <a:gd name="T50" fmla="*/ 1832 w 1832"/>
                    <a:gd name="T51" fmla="*/ 408 h 408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T48" t="T49" r="T50" b="T51"/>
                  <a:pathLst>
                    <a:path w="1832" h="408">
                      <a:moveTo>
                        <a:pt x="1832" y="32"/>
                      </a:moveTo>
                      <a:lnTo>
                        <a:pt x="1830" y="66"/>
                      </a:lnTo>
                      <a:lnTo>
                        <a:pt x="1814" y="128"/>
                      </a:lnTo>
                      <a:lnTo>
                        <a:pt x="1788" y="188"/>
                      </a:lnTo>
                      <a:lnTo>
                        <a:pt x="1754" y="240"/>
                      </a:lnTo>
                      <a:lnTo>
                        <a:pt x="1712" y="288"/>
                      </a:lnTo>
                      <a:lnTo>
                        <a:pt x="1664" y="330"/>
                      </a:lnTo>
                      <a:lnTo>
                        <a:pt x="1610" y="362"/>
                      </a:lnTo>
                      <a:lnTo>
                        <a:pt x="1550" y="388"/>
                      </a:lnTo>
                      <a:lnTo>
                        <a:pt x="1486" y="402"/>
                      </a:lnTo>
                      <a:lnTo>
                        <a:pt x="1418" y="408"/>
                      </a:lnTo>
                      <a:lnTo>
                        <a:pt x="0" y="408"/>
                      </a:lnTo>
                      <a:lnTo>
                        <a:pt x="0" y="0"/>
                      </a:lnTo>
                      <a:lnTo>
                        <a:pt x="1832" y="0"/>
                      </a:lnTo>
                      <a:lnTo>
                        <a:pt x="1832" y="32"/>
                      </a:lnTo>
                      <a:close/>
                    </a:path>
                  </a:pathLst>
                </a:custGeom>
                <a:solidFill>
                  <a:srgbClr val="60878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vert="eaVert"/>
                <a:lstStyle>
                  <a:lvl1pPr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1pPr>
                  <a:lvl2pPr marL="742950" indent="-28575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2pPr>
                  <a:lvl3pPr marL="11430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3pPr>
                  <a:lvl4pPr marL="16002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4pPr>
                  <a:lvl5pPr marL="20574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9pPr>
                </a:lstStyle>
                <a:p>
                  <a:pPr>
                    <a:spcBef>
                      <a:spcPct val="20000"/>
                    </a:spcBef>
                  </a:pPr>
                  <a:endParaRPr lang="zh-CN" altLang="en-US"/>
                </a:p>
              </p:txBody>
            </p:sp>
            <p:sp>
              <p:nvSpPr>
                <p:cNvPr id="145459" name="Freeform 62"/>
                <p:cNvSpPr>
                  <a:spLocks/>
                </p:cNvSpPr>
                <p:nvPr/>
              </p:nvSpPr>
              <p:spPr bwMode="gray">
                <a:xfrm>
                  <a:off x="3810" y="3058"/>
                  <a:ext cx="288" cy="334"/>
                </a:xfrm>
                <a:custGeom>
                  <a:avLst/>
                  <a:gdLst>
                    <a:gd name="T0" fmla="*/ 288 w 288"/>
                    <a:gd name="T1" fmla="*/ 0 h 334"/>
                    <a:gd name="T2" fmla="*/ 284 w 288"/>
                    <a:gd name="T3" fmla="*/ 52 h 334"/>
                    <a:gd name="T4" fmla="*/ 272 w 288"/>
                    <a:gd name="T5" fmla="*/ 98 h 334"/>
                    <a:gd name="T6" fmla="*/ 254 w 288"/>
                    <a:gd name="T7" fmla="*/ 140 h 334"/>
                    <a:gd name="T8" fmla="*/ 230 w 288"/>
                    <a:gd name="T9" fmla="*/ 176 h 334"/>
                    <a:gd name="T10" fmla="*/ 204 w 288"/>
                    <a:gd name="T11" fmla="*/ 208 h 334"/>
                    <a:gd name="T12" fmla="*/ 174 w 288"/>
                    <a:gd name="T13" fmla="*/ 238 h 334"/>
                    <a:gd name="T14" fmla="*/ 144 w 288"/>
                    <a:gd name="T15" fmla="*/ 262 h 334"/>
                    <a:gd name="T16" fmla="*/ 112 w 288"/>
                    <a:gd name="T17" fmla="*/ 282 h 334"/>
                    <a:gd name="T18" fmla="*/ 84 w 288"/>
                    <a:gd name="T19" fmla="*/ 298 h 334"/>
                    <a:gd name="T20" fmla="*/ 56 w 288"/>
                    <a:gd name="T21" fmla="*/ 312 h 334"/>
                    <a:gd name="T22" fmla="*/ 34 w 288"/>
                    <a:gd name="T23" fmla="*/ 322 h 334"/>
                    <a:gd name="T24" fmla="*/ 16 w 288"/>
                    <a:gd name="T25" fmla="*/ 328 h 334"/>
                    <a:gd name="T26" fmla="*/ 4 w 288"/>
                    <a:gd name="T27" fmla="*/ 332 h 334"/>
                    <a:gd name="T28" fmla="*/ 0 w 288"/>
                    <a:gd name="T29" fmla="*/ 334 h 334"/>
                    <a:gd name="T30" fmla="*/ 4 w 288"/>
                    <a:gd name="T31" fmla="*/ 332 h 334"/>
                    <a:gd name="T32" fmla="*/ 16 w 288"/>
                    <a:gd name="T33" fmla="*/ 326 h 334"/>
                    <a:gd name="T34" fmla="*/ 34 w 288"/>
                    <a:gd name="T35" fmla="*/ 318 h 334"/>
                    <a:gd name="T36" fmla="*/ 56 w 288"/>
                    <a:gd name="T37" fmla="*/ 304 h 334"/>
                    <a:gd name="T38" fmla="*/ 84 w 288"/>
                    <a:gd name="T39" fmla="*/ 288 h 334"/>
                    <a:gd name="T40" fmla="*/ 112 w 288"/>
                    <a:gd name="T41" fmla="*/ 266 h 334"/>
                    <a:gd name="T42" fmla="*/ 142 w 288"/>
                    <a:gd name="T43" fmla="*/ 242 h 334"/>
                    <a:gd name="T44" fmla="*/ 170 w 288"/>
                    <a:gd name="T45" fmla="*/ 212 h 334"/>
                    <a:gd name="T46" fmla="*/ 196 w 288"/>
                    <a:gd name="T47" fmla="*/ 180 h 334"/>
                    <a:gd name="T48" fmla="*/ 220 w 288"/>
                    <a:gd name="T49" fmla="*/ 142 h 334"/>
                    <a:gd name="T50" fmla="*/ 238 w 288"/>
                    <a:gd name="T51" fmla="*/ 100 h 334"/>
                    <a:gd name="T52" fmla="*/ 250 w 288"/>
                    <a:gd name="T53" fmla="*/ 54 h 334"/>
                    <a:gd name="T54" fmla="*/ 254 w 288"/>
                    <a:gd name="T55" fmla="*/ 2 h 334"/>
                    <a:gd name="T56" fmla="*/ 288 w 288"/>
                    <a:gd name="T57" fmla="*/ 0 h 334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w 288"/>
                    <a:gd name="T88" fmla="*/ 0 h 334"/>
                    <a:gd name="T89" fmla="*/ 288 w 288"/>
                    <a:gd name="T90" fmla="*/ 334 h 334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T87" t="T88" r="T89" b="T90"/>
                  <a:pathLst>
                    <a:path w="288" h="334">
                      <a:moveTo>
                        <a:pt x="288" y="0"/>
                      </a:moveTo>
                      <a:lnTo>
                        <a:pt x="284" y="52"/>
                      </a:lnTo>
                      <a:lnTo>
                        <a:pt x="272" y="98"/>
                      </a:lnTo>
                      <a:lnTo>
                        <a:pt x="254" y="140"/>
                      </a:lnTo>
                      <a:lnTo>
                        <a:pt x="230" y="176"/>
                      </a:lnTo>
                      <a:lnTo>
                        <a:pt x="204" y="208"/>
                      </a:lnTo>
                      <a:lnTo>
                        <a:pt x="174" y="238"/>
                      </a:lnTo>
                      <a:lnTo>
                        <a:pt x="144" y="262"/>
                      </a:lnTo>
                      <a:lnTo>
                        <a:pt x="112" y="282"/>
                      </a:lnTo>
                      <a:lnTo>
                        <a:pt x="84" y="298"/>
                      </a:lnTo>
                      <a:lnTo>
                        <a:pt x="56" y="312"/>
                      </a:lnTo>
                      <a:lnTo>
                        <a:pt x="34" y="322"/>
                      </a:lnTo>
                      <a:lnTo>
                        <a:pt x="16" y="328"/>
                      </a:lnTo>
                      <a:lnTo>
                        <a:pt x="4" y="332"/>
                      </a:lnTo>
                      <a:lnTo>
                        <a:pt x="0" y="334"/>
                      </a:lnTo>
                      <a:lnTo>
                        <a:pt x="4" y="332"/>
                      </a:lnTo>
                      <a:lnTo>
                        <a:pt x="16" y="326"/>
                      </a:lnTo>
                      <a:lnTo>
                        <a:pt x="34" y="318"/>
                      </a:lnTo>
                      <a:lnTo>
                        <a:pt x="56" y="304"/>
                      </a:lnTo>
                      <a:lnTo>
                        <a:pt x="84" y="288"/>
                      </a:lnTo>
                      <a:lnTo>
                        <a:pt x="112" y="266"/>
                      </a:lnTo>
                      <a:lnTo>
                        <a:pt x="142" y="242"/>
                      </a:lnTo>
                      <a:lnTo>
                        <a:pt x="170" y="212"/>
                      </a:lnTo>
                      <a:lnTo>
                        <a:pt x="196" y="180"/>
                      </a:lnTo>
                      <a:lnTo>
                        <a:pt x="220" y="142"/>
                      </a:lnTo>
                      <a:lnTo>
                        <a:pt x="238" y="100"/>
                      </a:lnTo>
                      <a:lnTo>
                        <a:pt x="250" y="54"/>
                      </a:lnTo>
                      <a:lnTo>
                        <a:pt x="254" y="2"/>
                      </a:lnTo>
                      <a:lnTo>
                        <a:pt x="288" y="0"/>
                      </a:lnTo>
                      <a:close/>
                    </a:path>
                  </a:pathLst>
                </a:custGeom>
                <a:solidFill>
                  <a:srgbClr val="FFFFFF">
                    <a:alpha val="49019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vert="eaVert"/>
                <a:lstStyle>
                  <a:lvl1pPr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1pPr>
                  <a:lvl2pPr marL="742950" indent="-28575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2pPr>
                  <a:lvl3pPr marL="11430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3pPr>
                  <a:lvl4pPr marL="16002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4pPr>
                  <a:lvl5pPr marL="20574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9pPr>
                </a:lstStyle>
                <a:p>
                  <a:pPr>
                    <a:spcBef>
                      <a:spcPct val="20000"/>
                    </a:spcBef>
                  </a:pPr>
                  <a:endParaRPr lang="zh-CN" altLang="en-US"/>
                </a:p>
              </p:txBody>
            </p:sp>
          </p:grpSp>
          <p:grpSp>
            <p:nvGrpSpPr>
              <p:cNvPr id="145455" name="Group 63"/>
              <p:cNvGrpSpPr>
                <a:grpSpLocks/>
              </p:cNvGrpSpPr>
              <p:nvPr/>
            </p:nvGrpSpPr>
            <p:grpSpPr bwMode="auto">
              <a:xfrm flipV="1">
                <a:off x="2290" y="2725"/>
                <a:ext cx="1406" cy="313"/>
                <a:chOff x="2290" y="3030"/>
                <a:chExt cx="1832" cy="408"/>
              </a:xfrm>
            </p:grpSpPr>
            <p:sp>
              <p:nvSpPr>
                <p:cNvPr id="145456" name="Freeform 64"/>
                <p:cNvSpPr>
                  <a:spLocks/>
                </p:cNvSpPr>
                <p:nvPr/>
              </p:nvSpPr>
              <p:spPr bwMode="gray">
                <a:xfrm>
                  <a:off x="2290" y="3030"/>
                  <a:ext cx="1832" cy="408"/>
                </a:xfrm>
                <a:custGeom>
                  <a:avLst/>
                  <a:gdLst>
                    <a:gd name="T0" fmla="*/ 1832 w 1832"/>
                    <a:gd name="T1" fmla="*/ 32 h 408"/>
                    <a:gd name="T2" fmla="*/ 1830 w 1832"/>
                    <a:gd name="T3" fmla="*/ 66 h 408"/>
                    <a:gd name="T4" fmla="*/ 1814 w 1832"/>
                    <a:gd name="T5" fmla="*/ 128 h 408"/>
                    <a:gd name="T6" fmla="*/ 1788 w 1832"/>
                    <a:gd name="T7" fmla="*/ 188 h 408"/>
                    <a:gd name="T8" fmla="*/ 1754 w 1832"/>
                    <a:gd name="T9" fmla="*/ 240 h 408"/>
                    <a:gd name="T10" fmla="*/ 1712 w 1832"/>
                    <a:gd name="T11" fmla="*/ 288 h 408"/>
                    <a:gd name="T12" fmla="*/ 1664 w 1832"/>
                    <a:gd name="T13" fmla="*/ 330 h 408"/>
                    <a:gd name="T14" fmla="*/ 1610 w 1832"/>
                    <a:gd name="T15" fmla="*/ 362 h 408"/>
                    <a:gd name="T16" fmla="*/ 1550 w 1832"/>
                    <a:gd name="T17" fmla="*/ 388 h 408"/>
                    <a:gd name="T18" fmla="*/ 1486 w 1832"/>
                    <a:gd name="T19" fmla="*/ 402 h 408"/>
                    <a:gd name="T20" fmla="*/ 1418 w 1832"/>
                    <a:gd name="T21" fmla="*/ 408 h 408"/>
                    <a:gd name="T22" fmla="*/ 0 w 1832"/>
                    <a:gd name="T23" fmla="*/ 408 h 408"/>
                    <a:gd name="T24" fmla="*/ 0 w 1832"/>
                    <a:gd name="T25" fmla="*/ 0 h 408"/>
                    <a:gd name="T26" fmla="*/ 1832 w 1832"/>
                    <a:gd name="T27" fmla="*/ 0 h 408"/>
                    <a:gd name="T28" fmla="*/ 1832 w 1832"/>
                    <a:gd name="T29" fmla="*/ 32 h 408"/>
                    <a:gd name="T30" fmla="*/ 1832 w 1832"/>
                    <a:gd name="T31" fmla="*/ 32 h 408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w 1832"/>
                    <a:gd name="T49" fmla="*/ 0 h 408"/>
                    <a:gd name="T50" fmla="*/ 1832 w 1832"/>
                    <a:gd name="T51" fmla="*/ 408 h 408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T48" t="T49" r="T50" b="T51"/>
                  <a:pathLst>
                    <a:path w="1832" h="408">
                      <a:moveTo>
                        <a:pt x="1832" y="32"/>
                      </a:moveTo>
                      <a:lnTo>
                        <a:pt x="1830" y="66"/>
                      </a:lnTo>
                      <a:lnTo>
                        <a:pt x="1814" y="128"/>
                      </a:lnTo>
                      <a:lnTo>
                        <a:pt x="1788" y="188"/>
                      </a:lnTo>
                      <a:lnTo>
                        <a:pt x="1754" y="240"/>
                      </a:lnTo>
                      <a:lnTo>
                        <a:pt x="1712" y="288"/>
                      </a:lnTo>
                      <a:lnTo>
                        <a:pt x="1664" y="330"/>
                      </a:lnTo>
                      <a:lnTo>
                        <a:pt x="1610" y="362"/>
                      </a:lnTo>
                      <a:lnTo>
                        <a:pt x="1550" y="388"/>
                      </a:lnTo>
                      <a:lnTo>
                        <a:pt x="1486" y="402"/>
                      </a:lnTo>
                      <a:lnTo>
                        <a:pt x="1418" y="408"/>
                      </a:lnTo>
                      <a:lnTo>
                        <a:pt x="0" y="408"/>
                      </a:lnTo>
                      <a:lnTo>
                        <a:pt x="0" y="0"/>
                      </a:lnTo>
                      <a:lnTo>
                        <a:pt x="1832" y="0"/>
                      </a:lnTo>
                      <a:lnTo>
                        <a:pt x="1832" y="32"/>
                      </a:lnTo>
                      <a:close/>
                    </a:path>
                  </a:pathLst>
                </a:custGeom>
                <a:solidFill>
                  <a:srgbClr val="98B5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/>
                <a:lstStyle>
                  <a:lvl1pPr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1pPr>
                  <a:lvl2pPr marL="742950" indent="-28575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2pPr>
                  <a:lvl3pPr marL="11430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3pPr>
                  <a:lvl4pPr marL="16002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4pPr>
                  <a:lvl5pPr marL="20574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9pPr>
                </a:lstStyle>
                <a:p>
                  <a:pPr>
                    <a:spcBef>
                      <a:spcPct val="20000"/>
                    </a:spcBef>
                  </a:pPr>
                  <a:endParaRPr lang="zh-CN" altLang="en-US"/>
                </a:p>
              </p:txBody>
            </p:sp>
            <p:sp>
              <p:nvSpPr>
                <p:cNvPr id="145457" name="Freeform 65"/>
                <p:cNvSpPr>
                  <a:spLocks/>
                </p:cNvSpPr>
                <p:nvPr/>
              </p:nvSpPr>
              <p:spPr bwMode="gray">
                <a:xfrm>
                  <a:off x="3811" y="3062"/>
                  <a:ext cx="288" cy="334"/>
                </a:xfrm>
                <a:custGeom>
                  <a:avLst/>
                  <a:gdLst>
                    <a:gd name="T0" fmla="*/ 288 w 288"/>
                    <a:gd name="T1" fmla="*/ 0 h 334"/>
                    <a:gd name="T2" fmla="*/ 284 w 288"/>
                    <a:gd name="T3" fmla="*/ 52 h 334"/>
                    <a:gd name="T4" fmla="*/ 272 w 288"/>
                    <a:gd name="T5" fmla="*/ 98 h 334"/>
                    <a:gd name="T6" fmla="*/ 254 w 288"/>
                    <a:gd name="T7" fmla="*/ 140 h 334"/>
                    <a:gd name="T8" fmla="*/ 230 w 288"/>
                    <a:gd name="T9" fmla="*/ 176 h 334"/>
                    <a:gd name="T10" fmla="*/ 204 w 288"/>
                    <a:gd name="T11" fmla="*/ 208 h 334"/>
                    <a:gd name="T12" fmla="*/ 174 w 288"/>
                    <a:gd name="T13" fmla="*/ 238 h 334"/>
                    <a:gd name="T14" fmla="*/ 144 w 288"/>
                    <a:gd name="T15" fmla="*/ 262 h 334"/>
                    <a:gd name="T16" fmla="*/ 112 w 288"/>
                    <a:gd name="T17" fmla="*/ 282 h 334"/>
                    <a:gd name="T18" fmla="*/ 84 w 288"/>
                    <a:gd name="T19" fmla="*/ 298 h 334"/>
                    <a:gd name="T20" fmla="*/ 56 w 288"/>
                    <a:gd name="T21" fmla="*/ 312 h 334"/>
                    <a:gd name="T22" fmla="*/ 34 w 288"/>
                    <a:gd name="T23" fmla="*/ 322 h 334"/>
                    <a:gd name="T24" fmla="*/ 16 w 288"/>
                    <a:gd name="T25" fmla="*/ 328 h 334"/>
                    <a:gd name="T26" fmla="*/ 4 w 288"/>
                    <a:gd name="T27" fmla="*/ 332 h 334"/>
                    <a:gd name="T28" fmla="*/ 0 w 288"/>
                    <a:gd name="T29" fmla="*/ 334 h 334"/>
                    <a:gd name="T30" fmla="*/ 4 w 288"/>
                    <a:gd name="T31" fmla="*/ 332 h 334"/>
                    <a:gd name="T32" fmla="*/ 16 w 288"/>
                    <a:gd name="T33" fmla="*/ 326 h 334"/>
                    <a:gd name="T34" fmla="*/ 34 w 288"/>
                    <a:gd name="T35" fmla="*/ 318 h 334"/>
                    <a:gd name="T36" fmla="*/ 56 w 288"/>
                    <a:gd name="T37" fmla="*/ 304 h 334"/>
                    <a:gd name="T38" fmla="*/ 84 w 288"/>
                    <a:gd name="T39" fmla="*/ 288 h 334"/>
                    <a:gd name="T40" fmla="*/ 112 w 288"/>
                    <a:gd name="T41" fmla="*/ 266 h 334"/>
                    <a:gd name="T42" fmla="*/ 142 w 288"/>
                    <a:gd name="T43" fmla="*/ 242 h 334"/>
                    <a:gd name="T44" fmla="*/ 170 w 288"/>
                    <a:gd name="T45" fmla="*/ 212 h 334"/>
                    <a:gd name="T46" fmla="*/ 196 w 288"/>
                    <a:gd name="T47" fmla="*/ 180 h 334"/>
                    <a:gd name="T48" fmla="*/ 220 w 288"/>
                    <a:gd name="T49" fmla="*/ 142 h 334"/>
                    <a:gd name="T50" fmla="*/ 238 w 288"/>
                    <a:gd name="T51" fmla="*/ 100 h 334"/>
                    <a:gd name="T52" fmla="*/ 250 w 288"/>
                    <a:gd name="T53" fmla="*/ 54 h 334"/>
                    <a:gd name="T54" fmla="*/ 254 w 288"/>
                    <a:gd name="T55" fmla="*/ 2 h 334"/>
                    <a:gd name="T56" fmla="*/ 288 w 288"/>
                    <a:gd name="T57" fmla="*/ 0 h 334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w 288"/>
                    <a:gd name="T88" fmla="*/ 0 h 334"/>
                    <a:gd name="T89" fmla="*/ 288 w 288"/>
                    <a:gd name="T90" fmla="*/ 334 h 334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T87" t="T88" r="T89" b="T90"/>
                  <a:pathLst>
                    <a:path w="288" h="334">
                      <a:moveTo>
                        <a:pt x="288" y="0"/>
                      </a:moveTo>
                      <a:lnTo>
                        <a:pt x="284" y="52"/>
                      </a:lnTo>
                      <a:lnTo>
                        <a:pt x="272" y="98"/>
                      </a:lnTo>
                      <a:lnTo>
                        <a:pt x="254" y="140"/>
                      </a:lnTo>
                      <a:lnTo>
                        <a:pt x="230" y="176"/>
                      </a:lnTo>
                      <a:lnTo>
                        <a:pt x="204" y="208"/>
                      </a:lnTo>
                      <a:lnTo>
                        <a:pt x="174" y="238"/>
                      </a:lnTo>
                      <a:lnTo>
                        <a:pt x="144" y="262"/>
                      </a:lnTo>
                      <a:lnTo>
                        <a:pt x="112" y="282"/>
                      </a:lnTo>
                      <a:lnTo>
                        <a:pt x="84" y="298"/>
                      </a:lnTo>
                      <a:lnTo>
                        <a:pt x="56" y="312"/>
                      </a:lnTo>
                      <a:lnTo>
                        <a:pt x="34" y="322"/>
                      </a:lnTo>
                      <a:lnTo>
                        <a:pt x="16" y="328"/>
                      </a:lnTo>
                      <a:lnTo>
                        <a:pt x="4" y="332"/>
                      </a:lnTo>
                      <a:lnTo>
                        <a:pt x="0" y="334"/>
                      </a:lnTo>
                      <a:lnTo>
                        <a:pt x="4" y="332"/>
                      </a:lnTo>
                      <a:lnTo>
                        <a:pt x="16" y="326"/>
                      </a:lnTo>
                      <a:lnTo>
                        <a:pt x="34" y="318"/>
                      </a:lnTo>
                      <a:lnTo>
                        <a:pt x="56" y="304"/>
                      </a:lnTo>
                      <a:lnTo>
                        <a:pt x="84" y="288"/>
                      </a:lnTo>
                      <a:lnTo>
                        <a:pt x="112" y="266"/>
                      </a:lnTo>
                      <a:lnTo>
                        <a:pt x="142" y="242"/>
                      </a:lnTo>
                      <a:lnTo>
                        <a:pt x="170" y="212"/>
                      </a:lnTo>
                      <a:lnTo>
                        <a:pt x="196" y="180"/>
                      </a:lnTo>
                      <a:lnTo>
                        <a:pt x="220" y="142"/>
                      </a:lnTo>
                      <a:lnTo>
                        <a:pt x="238" y="100"/>
                      </a:lnTo>
                      <a:lnTo>
                        <a:pt x="250" y="54"/>
                      </a:lnTo>
                      <a:lnTo>
                        <a:pt x="254" y="2"/>
                      </a:lnTo>
                      <a:lnTo>
                        <a:pt x="288" y="0"/>
                      </a:lnTo>
                      <a:close/>
                    </a:path>
                  </a:pathLst>
                </a:custGeom>
                <a:solidFill>
                  <a:srgbClr val="FFFFFF">
                    <a:alpha val="49019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/>
                <a:lstStyle>
                  <a:lvl1pPr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1pPr>
                  <a:lvl2pPr marL="742950" indent="-28575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2pPr>
                  <a:lvl3pPr marL="11430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3pPr>
                  <a:lvl4pPr marL="16002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4pPr>
                  <a:lvl5pPr marL="20574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9pPr>
                </a:lstStyle>
                <a:p>
                  <a:pPr>
                    <a:spcBef>
                      <a:spcPct val="20000"/>
                    </a:spcBef>
                  </a:pPr>
                  <a:endParaRPr lang="zh-CN" altLang="en-US"/>
                </a:p>
              </p:txBody>
            </p:sp>
          </p:grpSp>
        </p:grpSp>
        <p:grpSp>
          <p:nvGrpSpPr>
            <p:cNvPr id="145441" name="Group 66"/>
            <p:cNvGrpSpPr>
              <a:grpSpLocks/>
            </p:cNvGrpSpPr>
            <p:nvPr/>
          </p:nvGrpSpPr>
          <p:grpSpPr bwMode="auto">
            <a:xfrm>
              <a:off x="533" y="1792"/>
              <a:ext cx="693" cy="625"/>
              <a:chOff x="2849" y="1735"/>
              <a:chExt cx="787" cy="688"/>
            </a:xfrm>
          </p:grpSpPr>
          <p:sp>
            <p:nvSpPr>
              <p:cNvPr id="145444" name="Oval 67"/>
              <p:cNvSpPr>
                <a:spLocks noChangeArrowheads="1"/>
              </p:cNvSpPr>
              <p:nvPr/>
            </p:nvSpPr>
            <p:spPr bwMode="gray">
              <a:xfrm>
                <a:off x="2907" y="1919"/>
                <a:ext cx="147" cy="319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83A6A7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381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 eaLnBrk="1" hangingPunct="1"/>
                <a:endParaRPr kumimoji="0" lang="zh-CN" altLang="zh-CN" sz="18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5445" name="Oval 68"/>
              <p:cNvSpPr>
                <a:spLocks noChangeArrowheads="1"/>
              </p:cNvSpPr>
              <p:nvPr/>
            </p:nvSpPr>
            <p:spPr bwMode="gray">
              <a:xfrm>
                <a:off x="2907" y="1919"/>
                <a:ext cx="147" cy="319"/>
              </a:xfrm>
              <a:prstGeom prst="ellipse">
                <a:avLst/>
              </a:prstGeom>
              <a:gradFill rotWithShape="1">
                <a:gsLst>
                  <a:gs pos="0">
                    <a:srgbClr val="83A6A7">
                      <a:alpha val="32001"/>
                    </a:srgbClr>
                  </a:gs>
                  <a:gs pos="100000">
                    <a:srgbClr val="000000">
                      <a:alpha val="89998"/>
                    </a:srgb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381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 eaLnBrk="1" hangingPunct="1"/>
                <a:endParaRPr kumimoji="0" lang="zh-CN" altLang="zh-CN" sz="18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5446" name="Oval 69"/>
              <p:cNvSpPr>
                <a:spLocks noChangeArrowheads="1"/>
              </p:cNvSpPr>
              <p:nvPr/>
            </p:nvSpPr>
            <p:spPr bwMode="gray">
              <a:xfrm>
                <a:off x="2849" y="1919"/>
                <a:ext cx="787" cy="319"/>
              </a:xfrm>
              <a:prstGeom prst="ellipse">
                <a:avLst/>
              </a:prstGeom>
              <a:gradFill rotWithShape="1">
                <a:gsLst>
                  <a:gs pos="0">
                    <a:srgbClr val="475A5A"/>
                  </a:gs>
                  <a:gs pos="50000">
                    <a:srgbClr val="83A6A7"/>
                  </a:gs>
                  <a:gs pos="100000">
                    <a:srgbClr val="475A5A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381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 eaLnBrk="1" hangingPunct="1"/>
                <a:endParaRPr kumimoji="0" lang="zh-CN" altLang="zh-CN" sz="18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5447" name="Oval 70"/>
              <p:cNvSpPr>
                <a:spLocks noChangeArrowheads="1"/>
              </p:cNvSpPr>
              <p:nvPr/>
            </p:nvSpPr>
            <p:spPr bwMode="gray">
              <a:xfrm>
                <a:off x="2849" y="1921"/>
                <a:ext cx="787" cy="319"/>
              </a:xfrm>
              <a:prstGeom prst="ellipse">
                <a:avLst/>
              </a:prstGeom>
              <a:gradFill rotWithShape="1">
                <a:gsLst>
                  <a:gs pos="0">
                    <a:srgbClr val="53696A"/>
                  </a:gs>
                  <a:gs pos="100000">
                    <a:srgbClr val="83A6A7">
                      <a:alpha val="0"/>
                    </a:srgb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381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 eaLnBrk="1" hangingPunct="1"/>
                <a:endParaRPr kumimoji="0" lang="zh-CN" altLang="zh-CN" sz="18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5448" name="Oval 71"/>
              <p:cNvSpPr>
                <a:spLocks noChangeArrowheads="1"/>
              </p:cNvSpPr>
              <p:nvPr/>
            </p:nvSpPr>
            <p:spPr bwMode="gray">
              <a:xfrm>
                <a:off x="2888" y="1919"/>
                <a:ext cx="709" cy="319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81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 eaLnBrk="1" hangingPunct="1"/>
                <a:endParaRPr kumimoji="0" lang="zh-CN" altLang="zh-CN" sz="18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145449" name="Group 72"/>
              <p:cNvGrpSpPr>
                <a:grpSpLocks/>
              </p:cNvGrpSpPr>
              <p:nvPr/>
            </p:nvGrpSpPr>
            <p:grpSpPr bwMode="auto">
              <a:xfrm>
                <a:off x="2899" y="1735"/>
                <a:ext cx="687" cy="688"/>
                <a:chOff x="4166" y="1706"/>
                <a:chExt cx="1252" cy="1252"/>
              </a:xfrm>
            </p:grpSpPr>
            <p:sp>
              <p:nvSpPr>
                <p:cNvPr id="145450" name="Oval 73"/>
                <p:cNvSpPr>
                  <a:spLocks noChangeArrowheads="1"/>
                </p:cNvSpPr>
                <p:nvPr/>
              </p:nvSpPr>
              <p:spPr bwMode="gray">
                <a:xfrm>
                  <a:off x="4166" y="1706"/>
                  <a:ext cx="1252" cy="125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636869"/>
                    </a:gs>
                    <a:gs pos="100000">
                      <a:srgbClr val="D6E1E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1pPr>
                  <a:lvl2pPr marL="742950" indent="-28575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2pPr>
                  <a:lvl3pPr marL="11430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3pPr>
                  <a:lvl4pPr marL="16002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4pPr>
                  <a:lvl5pPr marL="20574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9pPr>
                </a:lstStyle>
                <a:p>
                  <a:pPr eaLnBrk="1" hangingPunct="1"/>
                  <a:endParaRPr kumimoji="0" lang="zh-CN" altLang="zh-CN" sz="180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5451" name="Oval 74"/>
                <p:cNvSpPr>
                  <a:spLocks noChangeArrowheads="1"/>
                </p:cNvSpPr>
                <p:nvPr/>
              </p:nvSpPr>
              <p:spPr bwMode="gray">
                <a:xfrm>
                  <a:off x="4182" y="1713"/>
                  <a:ext cx="1222" cy="122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alpha val="0"/>
                      </a:srgbClr>
                    </a:gs>
                    <a:gs pos="100000">
                      <a:srgbClr val="F1F5F5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1pPr>
                  <a:lvl2pPr marL="742950" indent="-28575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2pPr>
                  <a:lvl3pPr marL="11430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3pPr>
                  <a:lvl4pPr marL="16002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4pPr>
                  <a:lvl5pPr marL="20574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9pPr>
                </a:lstStyle>
                <a:p>
                  <a:pPr eaLnBrk="1" hangingPunct="1"/>
                  <a:endParaRPr kumimoji="0" lang="zh-CN" altLang="zh-CN" sz="180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5452" name="Oval 75"/>
                <p:cNvSpPr>
                  <a:spLocks noChangeArrowheads="1"/>
                </p:cNvSpPr>
                <p:nvPr/>
              </p:nvSpPr>
              <p:spPr bwMode="gray">
                <a:xfrm>
                  <a:off x="4195" y="1725"/>
                  <a:ext cx="1162" cy="114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AAB2B3"/>
                    </a:gs>
                    <a:gs pos="100000">
                      <a:srgbClr val="D6E1E2">
                        <a:alpha val="48000"/>
                      </a:srgb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1pPr>
                  <a:lvl2pPr marL="742950" indent="-28575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2pPr>
                  <a:lvl3pPr marL="11430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3pPr>
                  <a:lvl4pPr marL="16002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4pPr>
                  <a:lvl5pPr marL="20574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9pPr>
                </a:lstStyle>
                <a:p>
                  <a:pPr eaLnBrk="1" hangingPunct="1"/>
                  <a:endParaRPr kumimoji="0" lang="zh-CN" altLang="zh-CN" sz="180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5453" name="Oval 76"/>
                <p:cNvSpPr>
                  <a:spLocks noChangeArrowheads="1"/>
                </p:cNvSpPr>
                <p:nvPr/>
              </p:nvSpPr>
              <p:spPr bwMode="gray">
                <a:xfrm>
                  <a:off x="4263" y="1757"/>
                  <a:ext cx="1033" cy="92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D6E1E2">
                        <a:alpha val="37999"/>
                      </a:srgb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1pPr>
                  <a:lvl2pPr marL="742950" indent="-28575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2pPr>
                  <a:lvl3pPr marL="11430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3pPr>
                  <a:lvl4pPr marL="16002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4pPr>
                  <a:lvl5pPr marL="20574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9pPr>
                </a:lstStyle>
                <a:p>
                  <a:pPr eaLnBrk="1" hangingPunct="1"/>
                  <a:endParaRPr kumimoji="0" lang="zh-CN" altLang="zh-CN" sz="180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101" name="Text Box 77"/>
            <p:cNvSpPr txBox="1">
              <a:spLocks noChangeArrowheads="1"/>
            </p:cNvSpPr>
            <p:nvPr/>
          </p:nvSpPr>
          <p:spPr bwMode="gray">
            <a:xfrm rot="3925970">
              <a:off x="566" y="2846"/>
              <a:ext cx="1129" cy="2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zh-CN" altLang="en-US" sz="2400" b="1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线性表的合并</a:t>
              </a:r>
            </a:p>
          </p:txBody>
        </p:sp>
        <p:sp>
          <p:nvSpPr>
            <p:cNvPr id="145443" name="Text Box 78"/>
            <p:cNvSpPr txBox="1">
              <a:spLocks noChangeArrowheads="1"/>
            </p:cNvSpPr>
            <p:nvPr/>
          </p:nvSpPr>
          <p:spPr bwMode="gray">
            <a:xfrm rot="3925970">
              <a:off x="1160" y="2815"/>
              <a:ext cx="223" cy="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vert="eaVert" wrap="none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endParaRPr kumimoji="0" lang="zh-CN" altLang="zh-CN" sz="1400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9" name="Group 94"/>
          <p:cNvGrpSpPr>
            <a:grpSpLocks/>
          </p:cNvGrpSpPr>
          <p:nvPr/>
        </p:nvGrpSpPr>
        <p:grpSpPr bwMode="auto">
          <a:xfrm>
            <a:off x="5472113" y="1938338"/>
            <a:ext cx="1878012" cy="3597482"/>
            <a:chOff x="1634" y="1792"/>
            <a:chExt cx="1022" cy="2004"/>
          </a:xfrm>
        </p:grpSpPr>
        <p:grpSp>
          <p:nvGrpSpPr>
            <p:cNvPr id="145420" name="Group 41"/>
            <p:cNvGrpSpPr>
              <a:grpSpLocks/>
            </p:cNvGrpSpPr>
            <p:nvPr/>
          </p:nvGrpSpPr>
          <p:grpSpPr bwMode="auto">
            <a:xfrm rot="3877067">
              <a:off x="1669" y="2717"/>
              <a:ext cx="1432" cy="542"/>
              <a:chOff x="2290" y="2725"/>
              <a:chExt cx="1832" cy="713"/>
            </a:xfrm>
          </p:grpSpPr>
          <p:grpSp>
            <p:nvGrpSpPr>
              <p:cNvPr id="145434" name="Group 42"/>
              <p:cNvGrpSpPr>
                <a:grpSpLocks/>
              </p:cNvGrpSpPr>
              <p:nvPr/>
            </p:nvGrpSpPr>
            <p:grpSpPr bwMode="auto">
              <a:xfrm>
                <a:off x="2290" y="3030"/>
                <a:ext cx="1832" cy="408"/>
                <a:chOff x="2290" y="3030"/>
                <a:chExt cx="1832" cy="408"/>
              </a:xfrm>
            </p:grpSpPr>
            <p:sp>
              <p:nvSpPr>
                <p:cNvPr id="145438" name="Freeform 43"/>
                <p:cNvSpPr>
                  <a:spLocks/>
                </p:cNvSpPr>
                <p:nvPr/>
              </p:nvSpPr>
              <p:spPr bwMode="gray">
                <a:xfrm>
                  <a:off x="2290" y="3030"/>
                  <a:ext cx="1832" cy="408"/>
                </a:xfrm>
                <a:custGeom>
                  <a:avLst/>
                  <a:gdLst>
                    <a:gd name="T0" fmla="*/ 1832 w 1832"/>
                    <a:gd name="T1" fmla="*/ 32 h 408"/>
                    <a:gd name="T2" fmla="*/ 1830 w 1832"/>
                    <a:gd name="T3" fmla="*/ 66 h 408"/>
                    <a:gd name="T4" fmla="*/ 1814 w 1832"/>
                    <a:gd name="T5" fmla="*/ 128 h 408"/>
                    <a:gd name="T6" fmla="*/ 1788 w 1832"/>
                    <a:gd name="T7" fmla="*/ 188 h 408"/>
                    <a:gd name="T8" fmla="*/ 1754 w 1832"/>
                    <a:gd name="T9" fmla="*/ 240 h 408"/>
                    <a:gd name="T10" fmla="*/ 1712 w 1832"/>
                    <a:gd name="T11" fmla="*/ 288 h 408"/>
                    <a:gd name="T12" fmla="*/ 1664 w 1832"/>
                    <a:gd name="T13" fmla="*/ 330 h 408"/>
                    <a:gd name="T14" fmla="*/ 1610 w 1832"/>
                    <a:gd name="T15" fmla="*/ 362 h 408"/>
                    <a:gd name="T16" fmla="*/ 1550 w 1832"/>
                    <a:gd name="T17" fmla="*/ 388 h 408"/>
                    <a:gd name="T18" fmla="*/ 1486 w 1832"/>
                    <a:gd name="T19" fmla="*/ 402 h 408"/>
                    <a:gd name="T20" fmla="*/ 1418 w 1832"/>
                    <a:gd name="T21" fmla="*/ 408 h 408"/>
                    <a:gd name="T22" fmla="*/ 0 w 1832"/>
                    <a:gd name="T23" fmla="*/ 408 h 408"/>
                    <a:gd name="T24" fmla="*/ 0 w 1832"/>
                    <a:gd name="T25" fmla="*/ 0 h 408"/>
                    <a:gd name="T26" fmla="*/ 1832 w 1832"/>
                    <a:gd name="T27" fmla="*/ 0 h 408"/>
                    <a:gd name="T28" fmla="*/ 1832 w 1832"/>
                    <a:gd name="T29" fmla="*/ 32 h 408"/>
                    <a:gd name="T30" fmla="*/ 1832 w 1832"/>
                    <a:gd name="T31" fmla="*/ 32 h 408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w 1832"/>
                    <a:gd name="T49" fmla="*/ 0 h 408"/>
                    <a:gd name="T50" fmla="*/ 1832 w 1832"/>
                    <a:gd name="T51" fmla="*/ 408 h 408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T48" t="T49" r="T50" b="T51"/>
                  <a:pathLst>
                    <a:path w="1832" h="408">
                      <a:moveTo>
                        <a:pt x="1832" y="32"/>
                      </a:moveTo>
                      <a:lnTo>
                        <a:pt x="1830" y="66"/>
                      </a:lnTo>
                      <a:lnTo>
                        <a:pt x="1814" y="128"/>
                      </a:lnTo>
                      <a:lnTo>
                        <a:pt x="1788" y="188"/>
                      </a:lnTo>
                      <a:lnTo>
                        <a:pt x="1754" y="240"/>
                      </a:lnTo>
                      <a:lnTo>
                        <a:pt x="1712" y="288"/>
                      </a:lnTo>
                      <a:lnTo>
                        <a:pt x="1664" y="330"/>
                      </a:lnTo>
                      <a:lnTo>
                        <a:pt x="1610" y="362"/>
                      </a:lnTo>
                      <a:lnTo>
                        <a:pt x="1550" y="388"/>
                      </a:lnTo>
                      <a:lnTo>
                        <a:pt x="1486" y="402"/>
                      </a:lnTo>
                      <a:lnTo>
                        <a:pt x="1418" y="408"/>
                      </a:lnTo>
                      <a:lnTo>
                        <a:pt x="0" y="408"/>
                      </a:lnTo>
                      <a:lnTo>
                        <a:pt x="0" y="0"/>
                      </a:lnTo>
                      <a:lnTo>
                        <a:pt x="1832" y="0"/>
                      </a:lnTo>
                      <a:lnTo>
                        <a:pt x="1832" y="32"/>
                      </a:lnTo>
                      <a:close/>
                    </a:path>
                  </a:pathLst>
                </a:custGeom>
                <a:solidFill>
                  <a:srgbClr val="60878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vert="eaVert"/>
                <a:lstStyle>
                  <a:lvl1pPr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1pPr>
                  <a:lvl2pPr marL="742950" indent="-28575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2pPr>
                  <a:lvl3pPr marL="11430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3pPr>
                  <a:lvl4pPr marL="16002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4pPr>
                  <a:lvl5pPr marL="20574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9pPr>
                </a:lstStyle>
                <a:p>
                  <a:pPr>
                    <a:spcBef>
                      <a:spcPct val="20000"/>
                    </a:spcBef>
                  </a:pPr>
                  <a:endParaRPr lang="zh-CN" altLang="en-US"/>
                </a:p>
              </p:txBody>
            </p:sp>
            <p:sp>
              <p:nvSpPr>
                <p:cNvPr id="145439" name="Freeform 44"/>
                <p:cNvSpPr>
                  <a:spLocks/>
                </p:cNvSpPr>
                <p:nvPr/>
              </p:nvSpPr>
              <p:spPr bwMode="gray">
                <a:xfrm>
                  <a:off x="3810" y="3058"/>
                  <a:ext cx="288" cy="334"/>
                </a:xfrm>
                <a:custGeom>
                  <a:avLst/>
                  <a:gdLst>
                    <a:gd name="T0" fmla="*/ 288 w 288"/>
                    <a:gd name="T1" fmla="*/ 0 h 334"/>
                    <a:gd name="T2" fmla="*/ 284 w 288"/>
                    <a:gd name="T3" fmla="*/ 52 h 334"/>
                    <a:gd name="T4" fmla="*/ 272 w 288"/>
                    <a:gd name="T5" fmla="*/ 98 h 334"/>
                    <a:gd name="T6" fmla="*/ 254 w 288"/>
                    <a:gd name="T7" fmla="*/ 140 h 334"/>
                    <a:gd name="T8" fmla="*/ 230 w 288"/>
                    <a:gd name="T9" fmla="*/ 176 h 334"/>
                    <a:gd name="T10" fmla="*/ 204 w 288"/>
                    <a:gd name="T11" fmla="*/ 208 h 334"/>
                    <a:gd name="T12" fmla="*/ 174 w 288"/>
                    <a:gd name="T13" fmla="*/ 238 h 334"/>
                    <a:gd name="T14" fmla="*/ 144 w 288"/>
                    <a:gd name="T15" fmla="*/ 262 h 334"/>
                    <a:gd name="T16" fmla="*/ 112 w 288"/>
                    <a:gd name="T17" fmla="*/ 282 h 334"/>
                    <a:gd name="T18" fmla="*/ 84 w 288"/>
                    <a:gd name="T19" fmla="*/ 298 h 334"/>
                    <a:gd name="T20" fmla="*/ 56 w 288"/>
                    <a:gd name="T21" fmla="*/ 312 h 334"/>
                    <a:gd name="T22" fmla="*/ 34 w 288"/>
                    <a:gd name="T23" fmla="*/ 322 h 334"/>
                    <a:gd name="T24" fmla="*/ 16 w 288"/>
                    <a:gd name="T25" fmla="*/ 328 h 334"/>
                    <a:gd name="T26" fmla="*/ 4 w 288"/>
                    <a:gd name="T27" fmla="*/ 332 h 334"/>
                    <a:gd name="T28" fmla="*/ 0 w 288"/>
                    <a:gd name="T29" fmla="*/ 334 h 334"/>
                    <a:gd name="T30" fmla="*/ 4 w 288"/>
                    <a:gd name="T31" fmla="*/ 332 h 334"/>
                    <a:gd name="T32" fmla="*/ 16 w 288"/>
                    <a:gd name="T33" fmla="*/ 326 h 334"/>
                    <a:gd name="T34" fmla="*/ 34 w 288"/>
                    <a:gd name="T35" fmla="*/ 318 h 334"/>
                    <a:gd name="T36" fmla="*/ 56 w 288"/>
                    <a:gd name="T37" fmla="*/ 304 h 334"/>
                    <a:gd name="T38" fmla="*/ 84 w 288"/>
                    <a:gd name="T39" fmla="*/ 288 h 334"/>
                    <a:gd name="T40" fmla="*/ 112 w 288"/>
                    <a:gd name="T41" fmla="*/ 266 h 334"/>
                    <a:gd name="T42" fmla="*/ 142 w 288"/>
                    <a:gd name="T43" fmla="*/ 242 h 334"/>
                    <a:gd name="T44" fmla="*/ 170 w 288"/>
                    <a:gd name="T45" fmla="*/ 212 h 334"/>
                    <a:gd name="T46" fmla="*/ 196 w 288"/>
                    <a:gd name="T47" fmla="*/ 180 h 334"/>
                    <a:gd name="T48" fmla="*/ 220 w 288"/>
                    <a:gd name="T49" fmla="*/ 142 h 334"/>
                    <a:gd name="T50" fmla="*/ 238 w 288"/>
                    <a:gd name="T51" fmla="*/ 100 h 334"/>
                    <a:gd name="T52" fmla="*/ 250 w 288"/>
                    <a:gd name="T53" fmla="*/ 54 h 334"/>
                    <a:gd name="T54" fmla="*/ 254 w 288"/>
                    <a:gd name="T55" fmla="*/ 2 h 334"/>
                    <a:gd name="T56" fmla="*/ 288 w 288"/>
                    <a:gd name="T57" fmla="*/ 0 h 334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w 288"/>
                    <a:gd name="T88" fmla="*/ 0 h 334"/>
                    <a:gd name="T89" fmla="*/ 288 w 288"/>
                    <a:gd name="T90" fmla="*/ 334 h 334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T87" t="T88" r="T89" b="T90"/>
                  <a:pathLst>
                    <a:path w="288" h="334">
                      <a:moveTo>
                        <a:pt x="288" y="0"/>
                      </a:moveTo>
                      <a:lnTo>
                        <a:pt x="284" y="52"/>
                      </a:lnTo>
                      <a:lnTo>
                        <a:pt x="272" y="98"/>
                      </a:lnTo>
                      <a:lnTo>
                        <a:pt x="254" y="140"/>
                      </a:lnTo>
                      <a:lnTo>
                        <a:pt x="230" y="176"/>
                      </a:lnTo>
                      <a:lnTo>
                        <a:pt x="204" y="208"/>
                      </a:lnTo>
                      <a:lnTo>
                        <a:pt x="174" y="238"/>
                      </a:lnTo>
                      <a:lnTo>
                        <a:pt x="144" y="262"/>
                      </a:lnTo>
                      <a:lnTo>
                        <a:pt x="112" y="282"/>
                      </a:lnTo>
                      <a:lnTo>
                        <a:pt x="84" y="298"/>
                      </a:lnTo>
                      <a:lnTo>
                        <a:pt x="56" y="312"/>
                      </a:lnTo>
                      <a:lnTo>
                        <a:pt x="34" y="322"/>
                      </a:lnTo>
                      <a:lnTo>
                        <a:pt x="16" y="328"/>
                      </a:lnTo>
                      <a:lnTo>
                        <a:pt x="4" y="332"/>
                      </a:lnTo>
                      <a:lnTo>
                        <a:pt x="0" y="334"/>
                      </a:lnTo>
                      <a:lnTo>
                        <a:pt x="4" y="332"/>
                      </a:lnTo>
                      <a:lnTo>
                        <a:pt x="16" y="326"/>
                      </a:lnTo>
                      <a:lnTo>
                        <a:pt x="34" y="318"/>
                      </a:lnTo>
                      <a:lnTo>
                        <a:pt x="56" y="304"/>
                      </a:lnTo>
                      <a:lnTo>
                        <a:pt x="84" y="288"/>
                      </a:lnTo>
                      <a:lnTo>
                        <a:pt x="112" y="266"/>
                      </a:lnTo>
                      <a:lnTo>
                        <a:pt x="142" y="242"/>
                      </a:lnTo>
                      <a:lnTo>
                        <a:pt x="170" y="212"/>
                      </a:lnTo>
                      <a:lnTo>
                        <a:pt x="196" y="180"/>
                      </a:lnTo>
                      <a:lnTo>
                        <a:pt x="220" y="142"/>
                      </a:lnTo>
                      <a:lnTo>
                        <a:pt x="238" y="100"/>
                      </a:lnTo>
                      <a:lnTo>
                        <a:pt x="250" y="54"/>
                      </a:lnTo>
                      <a:lnTo>
                        <a:pt x="254" y="2"/>
                      </a:lnTo>
                      <a:lnTo>
                        <a:pt x="288" y="0"/>
                      </a:lnTo>
                      <a:close/>
                    </a:path>
                  </a:pathLst>
                </a:custGeom>
                <a:solidFill>
                  <a:srgbClr val="FFFFFF">
                    <a:alpha val="49019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rot="10800000" vert="eaVert"/>
                <a:lstStyle>
                  <a:lvl1pPr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1pPr>
                  <a:lvl2pPr marL="742950" indent="-28575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2pPr>
                  <a:lvl3pPr marL="11430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3pPr>
                  <a:lvl4pPr marL="16002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4pPr>
                  <a:lvl5pPr marL="20574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9pPr>
                </a:lstStyle>
                <a:p>
                  <a:pPr>
                    <a:spcBef>
                      <a:spcPct val="20000"/>
                    </a:spcBef>
                  </a:pPr>
                  <a:endParaRPr lang="zh-CN" altLang="en-US"/>
                </a:p>
              </p:txBody>
            </p:sp>
          </p:grpSp>
          <p:grpSp>
            <p:nvGrpSpPr>
              <p:cNvPr id="145435" name="Group 45"/>
              <p:cNvGrpSpPr>
                <a:grpSpLocks/>
              </p:cNvGrpSpPr>
              <p:nvPr/>
            </p:nvGrpSpPr>
            <p:grpSpPr bwMode="auto">
              <a:xfrm flipV="1">
                <a:off x="2290" y="2725"/>
                <a:ext cx="1406" cy="313"/>
                <a:chOff x="2290" y="3030"/>
                <a:chExt cx="1832" cy="408"/>
              </a:xfrm>
            </p:grpSpPr>
            <p:sp>
              <p:nvSpPr>
                <p:cNvPr id="145436" name="Freeform 46"/>
                <p:cNvSpPr>
                  <a:spLocks/>
                </p:cNvSpPr>
                <p:nvPr/>
              </p:nvSpPr>
              <p:spPr bwMode="gray">
                <a:xfrm>
                  <a:off x="2290" y="3030"/>
                  <a:ext cx="1832" cy="408"/>
                </a:xfrm>
                <a:custGeom>
                  <a:avLst/>
                  <a:gdLst>
                    <a:gd name="T0" fmla="*/ 1832 w 1832"/>
                    <a:gd name="T1" fmla="*/ 32 h 408"/>
                    <a:gd name="T2" fmla="*/ 1830 w 1832"/>
                    <a:gd name="T3" fmla="*/ 66 h 408"/>
                    <a:gd name="T4" fmla="*/ 1814 w 1832"/>
                    <a:gd name="T5" fmla="*/ 128 h 408"/>
                    <a:gd name="T6" fmla="*/ 1788 w 1832"/>
                    <a:gd name="T7" fmla="*/ 188 h 408"/>
                    <a:gd name="T8" fmla="*/ 1754 w 1832"/>
                    <a:gd name="T9" fmla="*/ 240 h 408"/>
                    <a:gd name="T10" fmla="*/ 1712 w 1832"/>
                    <a:gd name="T11" fmla="*/ 288 h 408"/>
                    <a:gd name="T12" fmla="*/ 1664 w 1832"/>
                    <a:gd name="T13" fmla="*/ 330 h 408"/>
                    <a:gd name="T14" fmla="*/ 1610 w 1832"/>
                    <a:gd name="T15" fmla="*/ 362 h 408"/>
                    <a:gd name="T16" fmla="*/ 1550 w 1832"/>
                    <a:gd name="T17" fmla="*/ 388 h 408"/>
                    <a:gd name="T18" fmla="*/ 1486 w 1832"/>
                    <a:gd name="T19" fmla="*/ 402 h 408"/>
                    <a:gd name="T20" fmla="*/ 1418 w 1832"/>
                    <a:gd name="T21" fmla="*/ 408 h 408"/>
                    <a:gd name="T22" fmla="*/ 0 w 1832"/>
                    <a:gd name="T23" fmla="*/ 408 h 408"/>
                    <a:gd name="T24" fmla="*/ 0 w 1832"/>
                    <a:gd name="T25" fmla="*/ 0 h 408"/>
                    <a:gd name="T26" fmla="*/ 1832 w 1832"/>
                    <a:gd name="T27" fmla="*/ 0 h 408"/>
                    <a:gd name="T28" fmla="*/ 1832 w 1832"/>
                    <a:gd name="T29" fmla="*/ 32 h 408"/>
                    <a:gd name="T30" fmla="*/ 1832 w 1832"/>
                    <a:gd name="T31" fmla="*/ 32 h 408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w 1832"/>
                    <a:gd name="T49" fmla="*/ 0 h 408"/>
                    <a:gd name="T50" fmla="*/ 1832 w 1832"/>
                    <a:gd name="T51" fmla="*/ 408 h 408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T48" t="T49" r="T50" b="T51"/>
                  <a:pathLst>
                    <a:path w="1832" h="408">
                      <a:moveTo>
                        <a:pt x="1832" y="32"/>
                      </a:moveTo>
                      <a:lnTo>
                        <a:pt x="1830" y="66"/>
                      </a:lnTo>
                      <a:lnTo>
                        <a:pt x="1814" y="128"/>
                      </a:lnTo>
                      <a:lnTo>
                        <a:pt x="1788" y="188"/>
                      </a:lnTo>
                      <a:lnTo>
                        <a:pt x="1754" y="240"/>
                      </a:lnTo>
                      <a:lnTo>
                        <a:pt x="1712" y="288"/>
                      </a:lnTo>
                      <a:lnTo>
                        <a:pt x="1664" y="330"/>
                      </a:lnTo>
                      <a:lnTo>
                        <a:pt x="1610" y="362"/>
                      </a:lnTo>
                      <a:lnTo>
                        <a:pt x="1550" y="388"/>
                      </a:lnTo>
                      <a:lnTo>
                        <a:pt x="1486" y="402"/>
                      </a:lnTo>
                      <a:lnTo>
                        <a:pt x="1418" y="408"/>
                      </a:lnTo>
                      <a:lnTo>
                        <a:pt x="0" y="408"/>
                      </a:lnTo>
                      <a:lnTo>
                        <a:pt x="0" y="0"/>
                      </a:lnTo>
                      <a:lnTo>
                        <a:pt x="1832" y="0"/>
                      </a:lnTo>
                      <a:lnTo>
                        <a:pt x="1832" y="32"/>
                      </a:lnTo>
                      <a:close/>
                    </a:path>
                  </a:pathLst>
                </a:custGeom>
                <a:solidFill>
                  <a:srgbClr val="98B5B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/>
                <a:lstStyle>
                  <a:lvl1pPr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1pPr>
                  <a:lvl2pPr marL="742950" indent="-28575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2pPr>
                  <a:lvl3pPr marL="11430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3pPr>
                  <a:lvl4pPr marL="16002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4pPr>
                  <a:lvl5pPr marL="20574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9pPr>
                </a:lstStyle>
                <a:p>
                  <a:pPr>
                    <a:spcBef>
                      <a:spcPct val="20000"/>
                    </a:spcBef>
                  </a:pPr>
                  <a:endParaRPr lang="zh-CN" altLang="en-US"/>
                </a:p>
              </p:txBody>
            </p:sp>
            <p:sp>
              <p:nvSpPr>
                <p:cNvPr id="145437" name="Freeform 47"/>
                <p:cNvSpPr>
                  <a:spLocks/>
                </p:cNvSpPr>
                <p:nvPr/>
              </p:nvSpPr>
              <p:spPr bwMode="gray">
                <a:xfrm>
                  <a:off x="3810" y="3058"/>
                  <a:ext cx="288" cy="334"/>
                </a:xfrm>
                <a:custGeom>
                  <a:avLst/>
                  <a:gdLst>
                    <a:gd name="T0" fmla="*/ 288 w 288"/>
                    <a:gd name="T1" fmla="*/ 0 h 334"/>
                    <a:gd name="T2" fmla="*/ 284 w 288"/>
                    <a:gd name="T3" fmla="*/ 52 h 334"/>
                    <a:gd name="T4" fmla="*/ 272 w 288"/>
                    <a:gd name="T5" fmla="*/ 98 h 334"/>
                    <a:gd name="T6" fmla="*/ 254 w 288"/>
                    <a:gd name="T7" fmla="*/ 140 h 334"/>
                    <a:gd name="T8" fmla="*/ 230 w 288"/>
                    <a:gd name="T9" fmla="*/ 176 h 334"/>
                    <a:gd name="T10" fmla="*/ 204 w 288"/>
                    <a:gd name="T11" fmla="*/ 208 h 334"/>
                    <a:gd name="T12" fmla="*/ 174 w 288"/>
                    <a:gd name="T13" fmla="*/ 238 h 334"/>
                    <a:gd name="T14" fmla="*/ 144 w 288"/>
                    <a:gd name="T15" fmla="*/ 262 h 334"/>
                    <a:gd name="T16" fmla="*/ 112 w 288"/>
                    <a:gd name="T17" fmla="*/ 282 h 334"/>
                    <a:gd name="T18" fmla="*/ 84 w 288"/>
                    <a:gd name="T19" fmla="*/ 298 h 334"/>
                    <a:gd name="T20" fmla="*/ 56 w 288"/>
                    <a:gd name="T21" fmla="*/ 312 h 334"/>
                    <a:gd name="T22" fmla="*/ 34 w 288"/>
                    <a:gd name="T23" fmla="*/ 322 h 334"/>
                    <a:gd name="T24" fmla="*/ 16 w 288"/>
                    <a:gd name="T25" fmla="*/ 328 h 334"/>
                    <a:gd name="T26" fmla="*/ 4 w 288"/>
                    <a:gd name="T27" fmla="*/ 332 h 334"/>
                    <a:gd name="T28" fmla="*/ 0 w 288"/>
                    <a:gd name="T29" fmla="*/ 334 h 334"/>
                    <a:gd name="T30" fmla="*/ 4 w 288"/>
                    <a:gd name="T31" fmla="*/ 332 h 334"/>
                    <a:gd name="T32" fmla="*/ 16 w 288"/>
                    <a:gd name="T33" fmla="*/ 326 h 334"/>
                    <a:gd name="T34" fmla="*/ 34 w 288"/>
                    <a:gd name="T35" fmla="*/ 318 h 334"/>
                    <a:gd name="T36" fmla="*/ 56 w 288"/>
                    <a:gd name="T37" fmla="*/ 304 h 334"/>
                    <a:gd name="T38" fmla="*/ 84 w 288"/>
                    <a:gd name="T39" fmla="*/ 288 h 334"/>
                    <a:gd name="T40" fmla="*/ 112 w 288"/>
                    <a:gd name="T41" fmla="*/ 266 h 334"/>
                    <a:gd name="T42" fmla="*/ 142 w 288"/>
                    <a:gd name="T43" fmla="*/ 242 h 334"/>
                    <a:gd name="T44" fmla="*/ 170 w 288"/>
                    <a:gd name="T45" fmla="*/ 212 h 334"/>
                    <a:gd name="T46" fmla="*/ 196 w 288"/>
                    <a:gd name="T47" fmla="*/ 180 h 334"/>
                    <a:gd name="T48" fmla="*/ 220 w 288"/>
                    <a:gd name="T49" fmla="*/ 142 h 334"/>
                    <a:gd name="T50" fmla="*/ 238 w 288"/>
                    <a:gd name="T51" fmla="*/ 100 h 334"/>
                    <a:gd name="T52" fmla="*/ 250 w 288"/>
                    <a:gd name="T53" fmla="*/ 54 h 334"/>
                    <a:gd name="T54" fmla="*/ 254 w 288"/>
                    <a:gd name="T55" fmla="*/ 2 h 334"/>
                    <a:gd name="T56" fmla="*/ 288 w 288"/>
                    <a:gd name="T57" fmla="*/ 0 h 334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w 288"/>
                    <a:gd name="T88" fmla="*/ 0 h 334"/>
                    <a:gd name="T89" fmla="*/ 288 w 288"/>
                    <a:gd name="T90" fmla="*/ 334 h 334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T87" t="T88" r="T89" b="T90"/>
                  <a:pathLst>
                    <a:path w="288" h="334">
                      <a:moveTo>
                        <a:pt x="288" y="0"/>
                      </a:moveTo>
                      <a:lnTo>
                        <a:pt x="284" y="52"/>
                      </a:lnTo>
                      <a:lnTo>
                        <a:pt x="272" y="98"/>
                      </a:lnTo>
                      <a:lnTo>
                        <a:pt x="254" y="140"/>
                      </a:lnTo>
                      <a:lnTo>
                        <a:pt x="230" y="176"/>
                      </a:lnTo>
                      <a:lnTo>
                        <a:pt x="204" y="208"/>
                      </a:lnTo>
                      <a:lnTo>
                        <a:pt x="174" y="238"/>
                      </a:lnTo>
                      <a:lnTo>
                        <a:pt x="144" y="262"/>
                      </a:lnTo>
                      <a:lnTo>
                        <a:pt x="112" y="282"/>
                      </a:lnTo>
                      <a:lnTo>
                        <a:pt x="84" y="298"/>
                      </a:lnTo>
                      <a:lnTo>
                        <a:pt x="56" y="312"/>
                      </a:lnTo>
                      <a:lnTo>
                        <a:pt x="34" y="322"/>
                      </a:lnTo>
                      <a:lnTo>
                        <a:pt x="16" y="328"/>
                      </a:lnTo>
                      <a:lnTo>
                        <a:pt x="4" y="332"/>
                      </a:lnTo>
                      <a:lnTo>
                        <a:pt x="0" y="334"/>
                      </a:lnTo>
                      <a:lnTo>
                        <a:pt x="4" y="332"/>
                      </a:lnTo>
                      <a:lnTo>
                        <a:pt x="16" y="326"/>
                      </a:lnTo>
                      <a:lnTo>
                        <a:pt x="34" y="318"/>
                      </a:lnTo>
                      <a:lnTo>
                        <a:pt x="56" y="304"/>
                      </a:lnTo>
                      <a:lnTo>
                        <a:pt x="84" y="288"/>
                      </a:lnTo>
                      <a:lnTo>
                        <a:pt x="112" y="266"/>
                      </a:lnTo>
                      <a:lnTo>
                        <a:pt x="142" y="242"/>
                      </a:lnTo>
                      <a:lnTo>
                        <a:pt x="170" y="212"/>
                      </a:lnTo>
                      <a:lnTo>
                        <a:pt x="196" y="180"/>
                      </a:lnTo>
                      <a:lnTo>
                        <a:pt x="220" y="142"/>
                      </a:lnTo>
                      <a:lnTo>
                        <a:pt x="238" y="100"/>
                      </a:lnTo>
                      <a:lnTo>
                        <a:pt x="250" y="54"/>
                      </a:lnTo>
                      <a:lnTo>
                        <a:pt x="254" y="2"/>
                      </a:lnTo>
                      <a:lnTo>
                        <a:pt x="288" y="0"/>
                      </a:lnTo>
                      <a:close/>
                    </a:path>
                  </a:pathLst>
                </a:custGeom>
                <a:solidFill>
                  <a:srgbClr val="FFFFFF">
                    <a:alpha val="49019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/>
                <a:lstStyle>
                  <a:lvl1pPr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1pPr>
                  <a:lvl2pPr marL="742950" indent="-28575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2pPr>
                  <a:lvl3pPr marL="11430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3pPr>
                  <a:lvl4pPr marL="16002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4pPr>
                  <a:lvl5pPr marL="20574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9pPr>
                </a:lstStyle>
                <a:p>
                  <a:pPr>
                    <a:spcBef>
                      <a:spcPct val="20000"/>
                    </a:spcBef>
                  </a:pPr>
                  <a:endParaRPr lang="zh-CN" altLang="en-US"/>
                </a:p>
              </p:txBody>
            </p:sp>
          </p:grpSp>
        </p:grpSp>
        <p:grpSp>
          <p:nvGrpSpPr>
            <p:cNvPr id="145421" name="Group 48"/>
            <p:cNvGrpSpPr>
              <a:grpSpLocks/>
            </p:cNvGrpSpPr>
            <p:nvPr/>
          </p:nvGrpSpPr>
          <p:grpSpPr bwMode="auto">
            <a:xfrm>
              <a:off x="1634" y="1792"/>
              <a:ext cx="693" cy="625"/>
              <a:chOff x="2849" y="1735"/>
              <a:chExt cx="787" cy="688"/>
            </a:xfrm>
          </p:grpSpPr>
          <p:sp>
            <p:nvSpPr>
              <p:cNvPr id="145424" name="Oval 49"/>
              <p:cNvSpPr>
                <a:spLocks noChangeArrowheads="1"/>
              </p:cNvSpPr>
              <p:nvPr/>
            </p:nvSpPr>
            <p:spPr bwMode="gray">
              <a:xfrm>
                <a:off x="2906" y="1919"/>
                <a:ext cx="161" cy="318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50000">
                    <a:srgbClr val="83A6A7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381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 eaLnBrk="1" hangingPunct="1"/>
                <a:endParaRPr kumimoji="0" lang="zh-CN" altLang="zh-CN" sz="18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5425" name="Oval 50"/>
              <p:cNvSpPr>
                <a:spLocks noChangeArrowheads="1"/>
              </p:cNvSpPr>
              <p:nvPr/>
            </p:nvSpPr>
            <p:spPr bwMode="gray">
              <a:xfrm>
                <a:off x="2906" y="1919"/>
                <a:ext cx="161" cy="318"/>
              </a:xfrm>
              <a:prstGeom prst="ellipse">
                <a:avLst/>
              </a:prstGeom>
              <a:gradFill rotWithShape="1">
                <a:gsLst>
                  <a:gs pos="0">
                    <a:srgbClr val="83A6A7">
                      <a:alpha val="32001"/>
                    </a:srgbClr>
                  </a:gs>
                  <a:gs pos="100000">
                    <a:srgbClr val="000000">
                      <a:alpha val="89998"/>
                    </a:srgb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381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 eaLnBrk="1" hangingPunct="1"/>
                <a:endParaRPr kumimoji="0" lang="zh-CN" altLang="zh-CN" sz="18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5426" name="Oval 51"/>
              <p:cNvSpPr>
                <a:spLocks noChangeArrowheads="1"/>
              </p:cNvSpPr>
              <p:nvPr/>
            </p:nvSpPr>
            <p:spPr bwMode="gray">
              <a:xfrm>
                <a:off x="2849" y="1919"/>
                <a:ext cx="787" cy="318"/>
              </a:xfrm>
              <a:prstGeom prst="ellipse">
                <a:avLst/>
              </a:prstGeom>
              <a:gradFill rotWithShape="1">
                <a:gsLst>
                  <a:gs pos="0">
                    <a:srgbClr val="475A5A"/>
                  </a:gs>
                  <a:gs pos="50000">
                    <a:srgbClr val="83A6A7"/>
                  </a:gs>
                  <a:gs pos="100000">
                    <a:srgbClr val="475A5A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381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 eaLnBrk="1" hangingPunct="1"/>
                <a:endParaRPr kumimoji="0" lang="zh-CN" altLang="zh-CN" sz="18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5427" name="Oval 52"/>
              <p:cNvSpPr>
                <a:spLocks noChangeArrowheads="1"/>
              </p:cNvSpPr>
              <p:nvPr/>
            </p:nvSpPr>
            <p:spPr bwMode="gray">
              <a:xfrm>
                <a:off x="2849" y="1921"/>
                <a:ext cx="787" cy="318"/>
              </a:xfrm>
              <a:prstGeom prst="ellipse">
                <a:avLst/>
              </a:prstGeom>
              <a:gradFill rotWithShape="1">
                <a:gsLst>
                  <a:gs pos="0">
                    <a:srgbClr val="53696A"/>
                  </a:gs>
                  <a:gs pos="100000">
                    <a:srgbClr val="83A6A7">
                      <a:alpha val="0"/>
                    </a:srgb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381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 eaLnBrk="1" hangingPunct="1"/>
                <a:endParaRPr kumimoji="0" lang="zh-CN" altLang="zh-CN" sz="18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5428" name="Oval 53"/>
              <p:cNvSpPr>
                <a:spLocks noChangeArrowheads="1"/>
              </p:cNvSpPr>
              <p:nvPr/>
            </p:nvSpPr>
            <p:spPr bwMode="gray">
              <a:xfrm>
                <a:off x="2888" y="1919"/>
                <a:ext cx="710" cy="318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81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 eaLnBrk="1" hangingPunct="1"/>
                <a:endParaRPr kumimoji="0" lang="zh-CN" altLang="zh-CN" sz="18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145429" name="Group 54"/>
              <p:cNvGrpSpPr>
                <a:grpSpLocks/>
              </p:cNvGrpSpPr>
              <p:nvPr/>
            </p:nvGrpSpPr>
            <p:grpSpPr bwMode="auto">
              <a:xfrm>
                <a:off x="2899" y="1735"/>
                <a:ext cx="687" cy="688"/>
                <a:chOff x="4166" y="1706"/>
                <a:chExt cx="1252" cy="1252"/>
              </a:xfrm>
            </p:grpSpPr>
            <p:sp>
              <p:nvSpPr>
                <p:cNvPr id="145430" name="Oval 55"/>
                <p:cNvSpPr>
                  <a:spLocks noChangeArrowheads="1"/>
                </p:cNvSpPr>
                <p:nvPr/>
              </p:nvSpPr>
              <p:spPr bwMode="gray">
                <a:xfrm>
                  <a:off x="4166" y="1706"/>
                  <a:ext cx="1252" cy="1252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636869"/>
                    </a:gs>
                    <a:gs pos="100000">
                      <a:srgbClr val="D6E1E2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1pPr>
                  <a:lvl2pPr marL="742950" indent="-28575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2pPr>
                  <a:lvl3pPr marL="11430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3pPr>
                  <a:lvl4pPr marL="16002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4pPr>
                  <a:lvl5pPr marL="20574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9pPr>
                </a:lstStyle>
                <a:p>
                  <a:pPr eaLnBrk="1" hangingPunct="1"/>
                  <a:endParaRPr kumimoji="0" lang="zh-CN" altLang="zh-CN" sz="180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5431" name="Oval 56"/>
                <p:cNvSpPr>
                  <a:spLocks noChangeArrowheads="1"/>
                </p:cNvSpPr>
                <p:nvPr/>
              </p:nvSpPr>
              <p:spPr bwMode="gray">
                <a:xfrm>
                  <a:off x="4182" y="1713"/>
                  <a:ext cx="1222" cy="122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D6E1E2">
                        <a:alpha val="0"/>
                      </a:srgbClr>
                    </a:gs>
                    <a:gs pos="100000">
                      <a:srgbClr val="F1F5F5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1pPr>
                  <a:lvl2pPr marL="742950" indent="-28575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2pPr>
                  <a:lvl3pPr marL="11430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3pPr>
                  <a:lvl4pPr marL="16002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4pPr>
                  <a:lvl5pPr marL="20574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9pPr>
                </a:lstStyle>
                <a:p>
                  <a:pPr eaLnBrk="1" hangingPunct="1"/>
                  <a:endParaRPr kumimoji="0" lang="zh-CN" altLang="zh-CN" sz="180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5432" name="Oval 57"/>
                <p:cNvSpPr>
                  <a:spLocks noChangeArrowheads="1"/>
                </p:cNvSpPr>
                <p:nvPr/>
              </p:nvSpPr>
              <p:spPr bwMode="gray">
                <a:xfrm>
                  <a:off x="4195" y="1725"/>
                  <a:ext cx="1162" cy="1141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AAB2B3"/>
                    </a:gs>
                    <a:gs pos="100000">
                      <a:srgbClr val="D6E1E2">
                        <a:alpha val="48000"/>
                      </a:srgb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1pPr>
                  <a:lvl2pPr marL="742950" indent="-28575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2pPr>
                  <a:lvl3pPr marL="11430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3pPr>
                  <a:lvl4pPr marL="16002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4pPr>
                  <a:lvl5pPr marL="20574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9pPr>
                </a:lstStyle>
                <a:p>
                  <a:pPr eaLnBrk="1" hangingPunct="1"/>
                  <a:endParaRPr kumimoji="0" lang="zh-CN" altLang="zh-CN" sz="180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45433" name="Oval 58"/>
                <p:cNvSpPr>
                  <a:spLocks noChangeArrowheads="1"/>
                </p:cNvSpPr>
                <p:nvPr/>
              </p:nvSpPr>
              <p:spPr bwMode="gray">
                <a:xfrm>
                  <a:off x="4263" y="1757"/>
                  <a:ext cx="1033" cy="92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/>
                    </a:gs>
                    <a:gs pos="100000">
                      <a:srgbClr val="D6E1E2">
                        <a:alpha val="37999"/>
                      </a:srgb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eaVert" wrap="none" anchor="ctr"/>
                <a:lstStyle>
                  <a:lvl1pPr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1pPr>
                  <a:lvl2pPr marL="742950" indent="-28575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2pPr>
                  <a:lvl3pPr marL="11430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3pPr>
                  <a:lvl4pPr marL="16002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4pPr>
                  <a:lvl5pPr marL="2057400" indent="-228600" eaLnBrk="0" hangingPunct="0"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_GB2312"/>
                      <a:cs typeface="仿宋_GB2312"/>
                    </a:defRPr>
                  </a:lvl9pPr>
                </a:lstStyle>
                <a:p>
                  <a:pPr eaLnBrk="1" hangingPunct="1"/>
                  <a:endParaRPr kumimoji="0" lang="zh-CN" altLang="zh-CN" sz="180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81" name="Text Box 79"/>
            <p:cNvSpPr txBox="1">
              <a:spLocks noChangeArrowheads="1"/>
            </p:cNvSpPr>
            <p:nvPr/>
          </p:nvSpPr>
          <p:spPr bwMode="gray">
            <a:xfrm rot="3925970">
              <a:off x="1675" y="3033"/>
              <a:ext cx="1274" cy="2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defRPr/>
              </a:pPr>
              <a:r>
                <a:rPr lang="zh-CN" altLang="en-US" sz="2400" b="1">
                  <a:solidFill>
                    <a:schemeClr val="bg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楷体_GB2312" pitchFamily="49" charset="-122"/>
                  <a:ea typeface="楷体_GB2312" pitchFamily="49" charset="-122"/>
                </a:rPr>
                <a:t>有序表的合并</a:t>
              </a:r>
              <a:endParaRPr lang="zh-CN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45423" name="Text Box 80"/>
            <p:cNvSpPr txBox="1">
              <a:spLocks noChangeArrowheads="1"/>
            </p:cNvSpPr>
            <p:nvPr/>
          </p:nvSpPr>
          <p:spPr bwMode="gray">
            <a:xfrm rot="3925970">
              <a:off x="2259" y="2812"/>
              <a:ext cx="223" cy="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vert="eaVert" wrap="none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endParaRPr kumimoji="0" lang="zh-CN" altLang="zh-CN" sz="1400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00" name="TextBox 199"/>
          <p:cNvSpPr txBox="1"/>
          <p:nvPr/>
        </p:nvSpPr>
        <p:spPr>
          <a:xfrm>
            <a:off x="3429000" y="2284413"/>
            <a:ext cx="533400" cy="457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24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</a:rPr>
              <a:t>1</a:t>
            </a:r>
            <a:endParaRPr lang="en-US" altLang="zh-CN" dirty="0">
              <a:solidFill>
                <a:srgbClr val="00438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ea typeface="宋体" pitchFamily="2" charset="-122"/>
            </a:endParaRPr>
          </a:p>
        </p:txBody>
      </p:sp>
      <p:sp>
        <p:nvSpPr>
          <p:cNvPr id="201" name="TextBox 200"/>
          <p:cNvSpPr txBox="1"/>
          <p:nvPr/>
        </p:nvSpPr>
        <p:spPr>
          <a:xfrm>
            <a:off x="5840413" y="2305050"/>
            <a:ext cx="533400" cy="457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24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</a:rPr>
              <a:t>2</a:t>
            </a:r>
            <a:endParaRPr lang="en-US" altLang="zh-CN" dirty="0">
              <a:solidFill>
                <a:srgbClr val="00438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83293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6" name="Rectangle 4"/>
          <p:cNvSpPr>
            <a:spLocks noChangeArrowheads="1"/>
          </p:cNvSpPr>
          <p:nvPr/>
        </p:nvSpPr>
        <p:spPr bwMode="auto">
          <a:xfrm>
            <a:off x="1524000" y="511175"/>
            <a:ext cx="7850188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r>
              <a:rPr lang="en-US" altLang="zh-CN" sz="4000" b="1">
                <a:solidFill>
                  <a:srgbClr val="CC00CC"/>
                </a:solidFill>
                <a:latin typeface="楷体_GB2312"/>
                <a:ea typeface="楷体_GB2312"/>
                <a:cs typeface="楷体_GB2312"/>
              </a:rPr>
              <a:t>2.7.1 </a:t>
            </a:r>
            <a:r>
              <a:rPr lang="zh-CN" altLang="en-US" sz="4000" b="1">
                <a:solidFill>
                  <a:srgbClr val="CC00CC"/>
                </a:solidFill>
                <a:latin typeface="楷体_GB2312"/>
                <a:ea typeface="楷体_GB2312"/>
                <a:cs typeface="楷体_GB2312"/>
              </a:rPr>
              <a:t>　线性表的合并</a:t>
            </a:r>
          </a:p>
        </p:txBody>
      </p:sp>
      <p:sp>
        <p:nvSpPr>
          <p:cNvPr id="146437" name="Line 5"/>
          <p:cNvSpPr>
            <a:spLocks noChangeShapeType="1"/>
          </p:cNvSpPr>
          <p:nvPr/>
        </p:nvSpPr>
        <p:spPr bwMode="auto">
          <a:xfrm>
            <a:off x="1524000" y="1268413"/>
            <a:ext cx="9144000" cy="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46438" name="Picture 6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4188" y="509589"/>
            <a:ext cx="811212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6439" name="Rectangle 10"/>
          <p:cNvSpPr>
            <a:spLocks noChangeArrowheads="1"/>
          </p:cNvSpPr>
          <p:nvPr/>
        </p:nvSpPr>
        <p:spPr bwMode="auto">
          <a:xfrm>
            <a:off x="1371600" y="1412876"/>
            <a:ext cx="9066213" cy="266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3200" b="1" dirty="0">
                <a:latin typeface="楷体_GB2312"/>
                <a:ea typeface="楷体_GB2312"/>
                <a:cs typeface="楷体_GB2312"/>
              </a:rPr>
              <a:t>问题描述：   </a:t>
            </a: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3200" b="1" dirty="0">
                <a:latin typeface="楷体_GB2312"/>
                <a:ea typeface="楷体_GB2312"/>
                <a:cs typeface="楷体_GB2312"/>
              </a:rPr>
              <a:t>    假设利用两个线性表</a:t>
            </a:r>
            <a:r>
              <a:rPr lang="en-US" altLang="zh-CN" sz="3200" b="1" dirty="0">
                <a:latin typeface="楷体_GB2312"/>
                <a:ea typeface="楷体_GB2312"/>
                <a:cs typeface="楷体_GB2312"/>
              </a:rPr>
              <a:t>La</a:t>
            </a:r>
            <a:r>
              <a:rPr lang="zh-CN" altLang="en-US" sz="3200" b="1" dirty="0">
                <a:latin typeface="楷体_GB2312"/>
                <a:ea typeface="楷体_GB2312"/>
                <a:cs typeface="楷体_GB2312"/>
              </a:rPr>
              <a:t>和</a:t>
            </a:r>
            <a:r>
              <a:rPr lang="en-US" altLang="zh-CN" sz="3200" b="1" dirty="0" err="1">
                <a:latin typeface="楷体_GB2312"/>
                <a:ea typeface="楷体_GB2312"/>
                <a:cs typeface="楷体_GB2312"/>
              </a:rPr>
              <a:t>Lb</a:t>
            </a:r>
            <a:r>
              <a:rPr lang="zh-CN" altLang="en-US" sz="3200" b="1" dirty="0">
                <a:latin typeface="楷体_GB2312"/>
                <a:ea typeface="楷体_GB2312"/>
                <a:cs typeface="楷体_GB2312"/>
              </a:rPr>
              <a:t>分别表示两个集合</a:t>
            </a:r>
            <a:r>
              <a:rPr lang="en-US" altLang="zh-CN" sz="3200" b="1" dirty="0">
                <a:latin typeface="楷体_GB2312"/>
                <a:ea typeface="楷体_GB2312"/>
                <a:cs typeface="楷体_GB2312"/>
              </a:rPr>
              <a:t>A</a:t>
            </a:r>
            <a:r>
              <a:rPr lang="zh-CN" altLang="en-US" sz="3200" b="1" dirty="0">
                <a:latin typeface="楷体_GB2312"/>
                <a:ea typeface="楷体_GB2312"/>
                <a:cs typeface="楷体_GB2312"/>
              </a:rPr>
              <a:t>和</a:t>
            </a:r>
            <a:r>
              <a:rPr lang="en-US" altLang="zh-CN" sz="3200" b="1" dirty="0">
                <a:latin typeface="楷体_GB2312"/>
                <a:ea typeface="楷体_GB2312"/>
                <a:cs typeface="楷体_GB2312"/>
              </a:rPr>
              <a:t>B,</a:t>
            </a:r>
            <a:r>
              <a:rPr lang="zh-CN" altLang="en-US" sz="3200" b="1" dirty="0">
                <a:latin typeface="楷体_GB2312"/>
                <a:ea typeface="楷体_GB2312"/>
                <a:cs typeface="楷体_GB2312"/>
              </a:rPr>
              <a:t>现要求一个新的集合</a:t>
            </a: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3200" dirty="0"/>
              <a:t>                           </a:t>
            </a:r>
            <a:r>
              <a:rPr lang="en-US" altLang="zh-CN" sz="4000" dirty="0">
                <a:solidFill>
                  <a:schemeClr val="tx2"/>
                </a:solidFill>
              </a:rPr>
              <a:t>A=A</a:t>
            </a:r>
            <a:r>
              <a:rPr lang="en-US" altLang="zh-CN" sz="4000" dirty="0">
                <a:solidFill>
                  <a:schemeClr val="tx2"/>
                </a:solidFill>
                <a:sym typeface="Symbol" panose="05050102010706020507" pitchFamily="18" charset="2"/>
              </a:rPr>
              <a:t>B</a:t>
            </a:r>
            <a:endParaRPr lang="en-US" altLang="zh-CN" sz="3200" dirty="0">
              <a:solidFill>
                <a:schemeClr val="tx2"/>
              </a:solidFill>
            </a:endParaRPr>
          </a:p>
          <a:p>
            <a:pPr lvl="2">
              <a:lnSpc>
                <a:spcPct val="150000"/>
              </a:lnSpc>
              <a:spcBef>
                <a:spcPct val="20000"/>
              </a:spcBef>
            </a:pPr>
            <a:endParaRPr lang="en-US" altLang="zh-CN" sz="2400" dirty="0">
              <a:solidFill>
                <a:schemeClr val="tx2"/>
              </a:solidFill>
            </a:endParaRPr>
          </a:p>
          <a:p>
            <a:pPr lvl="2">
              <a:lnSpc>
                <a:spcPct val="150000"/>
              </a:lnSpc>
              <a:spcBef>
                <a:spcPct val="20000"/>
              </a:spcBef>
            </a:pPr>
            <a:endParaRPr lang="en-US" altLang="zh-CN" sz="2400" dirty="0"/>
          </a:p>
          <a:p>
            <a:pPr>
              <a:spcBef>
                <a:spcPct val="20000"/>
              </a:spcBef>
            </a:pPr>
            <a:endParaRPr lang="en-US" altLang="zh-CN" sz="3200" dirty="0"/>
          </a:p>
        </p:txBody>
      </p:sp>
      <p:sp>
        <p:nvSpPr>
          <p:cNvPr id="674827" name="Rectangle 11"/>
          <p:cNvSpPr>
            <a:spLocks noChangeArrowheads="1"/>
          </p:cNvSpPr>
          <p:nvPr/>
        </p:nvSpPr>
        <p:spPr bwMode="auto">
          <a:xfrm>
            <a:off x="1371600" y="4087238"/>
            <a:ext cx="8685213" cy="213360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en-US" sz="3200" b="1" dirty="0">
                <a:ea typeface="黑体" panose="02010609060101010101" pitchFamily="49" charset="-122"/>
              </a:rPr>
              <a:t>L</a:t>
            </a:r>
            <a:r>
              <a:rPr lang="en-US" altLang="zh-CN" sz="3200" b="1" dirty="0">
                <a:ea typeface="黑体" panose="02010609060101010101" pitchFamily="49" charset="-122"/>
              </a:rPr>
              <a:t>a</a:t>
            </a:r>
            <a:r>
              <a:rPr lang="en-US" altLang="en-US" sz="3200" b="1" dirty="0">
                <a:ea typeface="黑体" panose="02010609060101010101" pitchFamily="49" charset="-122"/>
              </a:rPr>
              <a:t>=(</a:t>
            </a:r>
            <a:r>
              <a:rPr lang="en-US" altLang="zh-CN" sz="3200" b="1" dirty="0">
                <a:ea typeface="黑体" panose="02010609060101010101" pitchFamily="49" charset="-122"/>
              </a:rPr>
              <a:t>7</a:t>
            </a:r>
            <a:r>
              <a:rPr lang="en-US" altLang="en-US" sz="3200" b="1" dirty="0">
                <a:ea typeface="黑体" panose="02010609060101010101" pitchFamily="49" charset="-122"/>
              </a:rPr>
              <a:t>, 5, </a:t>
            </a:r>
            <a:r>
              <a:rPr lang="en-US" altLang="zh-CN" sz="3200" b="1" dirty="0">
                <a:ea typeface="黑体" panose="02010609060101010101" pitchFamily="49" charset="-122"/>
              </a:rPr>
              <a:t>3</a:t>
            </a:r>
            <a:r>
              <a:rPr lang="en-US" altLang="en-US" sz="3200" b="1" dirty="0">
                <a:ea typeface="黑体" panose="02010609060101010101" pitchFamily="49" charset="-122"/>
              </a:rPr>
              <a:t>, 11)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3200" b="1" dirty="0" err="1">
                <a:ea typeface="黑体" panose="02010609060101010101" pitchFamily="49" charset="-122"/>
              </a:rPr>
              <a:t>L</a:t>
            </a:r>
            <a:r>
              <a:rPr lang="en-US" altLang="zh-CN" sz="3200" b="1" dirty="0" err="1">
                <a:ea typeface="黑体" panose="02010609060101010101" pitchFamily="49" charset="-122"/>
              </a:rPr>
              <a:t>b</a:t>
            </a:r>
            <a:r>
              <a:rPr lang="en-US" altLang="en-US" sz="3200" b="1" dirty="0">
                <a:ea typeface="黑体" panose="02010609060101010101" pitchFamily="49" charset="-122"/>
              </a:rPr>
              <a:t>=(2, 6, </a:t>
            </a:r>
            <a:r>
              <a:rPr lang="en-US" altLang="zh-CN" sz="3200" b="1" dirty="0">
                <a:ea typeface="黑体" panose="02010609060101010101" pitchFamily="49" charset="-122"/>
              </a:rPr>
              <a:t>3</a:t>
            </a:r>
            <a:r>
              <a:rPr lang="en-US" altLang="en-US" sz="3200" b="1" dirty="0">
                <a:ea typeface="黑体" panose="02010609060101010101" pitchFamily="49" charset="-122"/>
              </a:rPr>
              <a:t>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3200" b="1" dirty="0">
                <a:ea typeface="宋体" panose="02010600030101010101" pitchFamily="2" charset="-122"/>
              </a:rPr>
              <a:t>La=(7, 5, 3, 11, 2, 6) </a:t>
            </a:r>
          </a:p>
          <a:p>
            <a:pPr algn="just" eaLnBrk="1" hangingPunct="1">
              <a:lnSpc>
                <a:spcPct val="120000"/>
              </a:lnSpc>
            </a:pPr>
            <a:r>
              <a:rPr lang="en-US" altLang="zh-CN" dirty="0">
                <a:ea typeface="宋体" panose="02010600030101010101" pitchFamily="2" charset="-122"/>
              </a:rPr>
              <a:t>.</a:t>
            </a:r>
          </a:p>
          <a:p>
            <a:pPr algn="just" eaLnBrk="1" hangingPunct="1"/>
            <a:endParaRPr lang="en-US" altLang="zh-CN" sz="2400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150000"/>
              </a:lnSpc>
            </a:pPr>
            <a:endParaRPr lang="en-US" altLang="zh-CN" sz="2400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150000"/>
              </a:lnSpc>
            </a:pP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sz="2400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83909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4827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60" name="Text Box 5"/>
          <p:cNvSpPr txBox="1">
            <a:spLocks noChangeArrowheads="1"/>
          </p:cNvSpPr>
          <p:nvPr/>
        </p:nvSpPr>
        <p:spPr bwMode="auto">
          <a:xfrm>
            <a:off x="1774825" y="765175"/>
            <a:ext cx="8718550" cy="1865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3200" b="1">
                <a:latin typeface="楷体_GB2312"/>
                <a:ea typeface="楷体_GB2312"/>
                <a:cs typeface="楷体_GB2312"/>
              </a:rPr>
              <a:t>依次取出</a:t>
            </a:r>
            <a:r>
              <a:rPr lang="en-US" altLang="zh-CN" sz="3200" b="1">
                <a:latin typeface="楷体_GB2312"/>
                <a:ea typeface="楷体_GB2312"/>
                <a:cs typeface="楷体_GB2312"/>
              </a:rPr>
              <a:t>Lb </a:t>
            </a:r>
            <a:r>
              <a:rPr lang="zh-CN" altLang="en-US" sz="3200" b="1">
                <a:latin typeface="楷体_GB2312"/>
                <a:ea typeface="楷体_GB2312"/>
                <a:cs typeface="楷体_GB2312"/>
              </a:rPr>
              <a:t>中的每个元素，执行以下操作：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3200" b="1">
                <a:latin typeface="楷体_GB2312"/>
                <a:ea typeface="楷体_GB2312"/>
                <a:cs typeface="楷体_GB2312"/>
              </a:rPr>
              <a:t>　</a:t>
            </a:r>
            <a:r>
              <a:rPr lang="zh-CN" altLang="en-US" sz="3200" b="1">
                <a:solidFill>
                  <a:schemeClr val="accent2"/>
                </a:solidFill>
                <a:latin typeface="楷体_GB2312"/>
                <a:ea typeface="楷体_GB2312"/>
                <a:cs typeface="楷体_GB2312"/>
              </a:rPr>
              <a:t>在</a:t>
            </a:r>
            <a:r>
              <a:rPr lang="en-US" altLang="zh-CN" sz="3200" b="1">
                <a:solidFill>
                  <a:schemeClr val="accent2"/>
                </a:solidFill>
                <a:latin typeface="楷体_GB2312"/>
                <a:ea typeface="楷体_GB2312"/>
                <a:cs typeface="楷体_GB2312"/>
              </a:rPr>
              <a:t>La</a:t>
            </a:r>
            <a:r>
              <a:rPr lang="zh-CN" altLang="en-US" sz="3200" b="1">
                <a:solidFill>
                  <a:schemeClr val="accent2"/>
                </a:solidFill>
                <a:latin typeface="楷体_GB2312"/>
                <a:ea typeface="楷体_GB2312"/>
                <a:cs typeface="楷体_GB2312"/>
              </a:rPr>
              <a:t>中查找该元素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3200" b="1">
                <a:solidFill>
                  <a:schemeClr val="accent2"/>
                </a:solidFill>
                <a:latin typeface="楷体_GB2312"/>
                <a:ea typeface="楷体_GB2312"/>
                <a:cs typeface="楷体_GB2312"/>
              </a:rPr>
              <a:t>　如果找不到，则将其插入</a:t>
            </a:r>
            <a:r>
              <a:rPr lang="en-US" altLang="zh-CN" b="1">
                <a:solidFill>
                  <a:schemeClr val="accent2"/>
                </a:solidFill>
              </a:rPr>
              <a:t>La</a:t>
            </a:r>
            <a:r>
              <a:rPr lang="zh-CN" altLang="en-US" sz="3200" b="1">
                <a:solidFill>
                  <a:schemeClr val="accent2"/>
                </a:solidFill>
                <a:latin typeface="楷体_GB2312"/>
                <a:ea typeface="楷体_GB2312"/>
                <a:cs typeface="楷体_GB2312"/>
              </a:rPr>
              <a:t>的最后</a:t>
            </a:r>
          </a:p>
        </p:txBody>
      </p:sp>
      <p:sp>
        <p:nvSpPr>
          <p:cNvPr id="147461" name="Rectangle 8"/>
          <p:cNvSpPr>
            <a:spLocks noChangeArrowheads="1"/>
          </p:cNvSpPr>
          <p:nvPr/>
        </p:nvSpPr>
        <p:spPr bwMode="auto">
          <a:xfrm>
            <a:off x="1528764" y="-26988"/>
            <a:ext cx="3775075" cy="606426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r>
              <a:rPr lang="en-US" altLang="zh-CN" sz="4400" b="1">
                <a:ea typeface="楷体_GB2312"/>
                <a:cs typeface="楷体_GB2312"/>
              </a:rPr>
              <a:t>【</a:t>
            </a:r>
            <a:r>
              <a:rPr lang="zh-CN" altLang="en-US" sz="4400" b="1">
                <a:ea typeface="楷体_GB2312"/>
                <a:cs typeface="楷体_GB2312"/>
              </a:rPr>
              <a:t>算法步骤</a:t>
            </a:r>
            <a:r>
              <a:rPr lang="en-US" altLang="zh-CN" sz="4400" b="1">
                <a:ea typeface="楷体_GB2312"/>
                <a:cs typeface="楷体_GB2312"/>
              </a:rPr>
              <a:t>】</a:t>
            </a:r>
          </a:p>
        </p:txBody>
      </p:sp>
    </p:spTree>
    <p:extLst>
      <p:ext uri="{BB962C8B-B14F-4D97-AF65-F5344CB8AC3E}">
        <p14:creationId xmlns:p14="http://schemas.microsoft.com/office/powerpoint/2010/main" val="335112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Rectangle 4"/>
          <p:cNvSpPr>
            <a:spLocks noChangeArrowheads="1"/>
          </p:cNvSpPr>
          <p:nvPr/>
        </p:nvSpPr>
        <p:spPr bwMode="auto">
          <a:xfrm>
            <a:off x="768927" y="620714"/>
            <a:ext cx="9594273" cy="554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algn="just">
              <a:lnSpc>
                <a:spcPct val="120000"/>
              </a:lnSpc>
              <a:spcBef>
                <a:spcPct val="20000"/>
              </a:spcBef>
            </a:pPr>
            <a:r>
              <a:rPr lang="en-US" altLang="zh-CN" sz="3200" b="1" dirty="0">
                <a:solidFill>
                  <a:schemeClr val="tx2"/>
                </a:solidFill>
              </a:rPr>
              <a:t>void union(List &amp;La, List </a:t>
            </a:r>
            <a:r>
              <a:rPr lang="en-US" altLang="zh-CN" sz="3200" b="1" dirty="0" err="1">
                <a:solidFill>
                  <a:schemeClr val="tx2"/>
                </a:solidFill>
              </a:rPr>
              <a:t>Lb</a:t>
            </a:r>
            <a:r>
              <a:rPr lang="en-US" altLang="zh-CN" sz="3200" b="1" dirty="0">
                <a:solidFill>
                  <a:schemeClr val="tx2"/>
                </a:solidFill>
              </a:rPr>
              <a:t>){</a:t>
            </a:r>
          </a:p>
          <a:p>
            <a:pPr algn="just">
              <a:lnSpc>
                <a:spcPct val="120000"/>
              </a:lnSpc>
              <a:spcBef>
                <a:spcPct val="20000"/>
              </a:spcBef>
            </a:pPr>
            <a:r>
              <a:rPr lang="en-US" altLang="zh-CN" sz="3200" b="1" dirty="0"/>
              <a:t>  </a:t>
            </a:r>
            <a:r>
              <a:rPr lang="en-US" altLang="zh-CN" sz="3200" b="1" dirty="0" err="1"/>
              <a:t>La_len</a:t>
            </a:r>
            <a:r>
              <a:rPr lang="en-US" altLang="zh-CN" sz="3200" b="1" dirty="0"/>
              <a:t>=</a:t>
            </a:r>
            <a:r>
              <a:rPr lang="en-US" altLang="zh-CN" sz="3200" b="1" dirty="0" err="1">
                <a:solidFill>
                  <a:schemeClr val="folHlink"/>
                </a:solidFill>
              </a:rPr>
              <a:t>ListLength</a:t>
            </a:r>
            <a:r>
              <a:rPr lang="en-US" altLang="zh-CN" sz="3200" b="1" dirty="0">
                <a:solidFill>
                  <a:schemeClr val="folHlink"/>
                </a:solidFill>
              </a:rPr>
              <a:t>(La);</a:t>
            </a:r>
            <a:endParaRPr lang="en-US" altLang="zh-CN" sz="3200" b="1" dirty="0"/>
          </a:p>
          <a:p>
            <a:pPr algn="just">
              <a:lnSpc>
                <a:spcPct val="120000"/>
              </a:lnSpc>
              <a:spcBef>
                <a:spcPct val="20000"/>
              </a:spcBef>
            </a:pPr>
            <a:r>
              <a:rPr lang="en-US" altLang="zh-CN" sz="3200" b="1" dirty="0"/>
              <a:t>  </a:t>
            </a:r>
            <a:r>
              <a:rPr lang="en-US" altLang="zh-CN" sz="3200" b="1" dirty="0" err="1"/>
              <a:t>Lb_len</a:t>
            </a:r>
            <a:r>
              <a:rPr lang="en-US" altLang="zh-CN" sz="3200" b="1" dirty="0"/>
              <a:t>=</a:t>
            </a:r>
            <a:r>
              <a:rPr lang="en-US" altLang="zh-CN" sz="3200" b="1" dirty="0" err="1">
                <a:solidFill>
                  <a:schemeClr val="folHlink"/>
                </a:solidFill>
              </a:rPr>
              <a:t>ListLength</a:t>
            </a:r>
            <a:r>
              <a:rPr lang="en-US" altLang="zh-CN" sz="3200" b="1" dirty="0">
                <a:solidFill>
                  <a:schemeClr val="folHlink"/>
                </a:solidFill>
              </a:rPr>
              <a:t>(</a:t>
            </a:r>
            <a:r>
              <a:rPr lang="en-US" altLang="zh-CN" sz="3200" b="1" dirty="0" err="1">
                <a:solidFill>
                  <a:schemeClr val="folHlink"/>
                </a:solidFill>
              </a:rPr>
              <a:t>Lb</a:t>
            </a:r>
            <a:r>
              <a:rPr lang="en-US" altLang="zh-CN" sz="3200" b="1" dirty="0">
                <a:solidFill>
                  <a:schemeClr val="folHlink"/>
                </a:solidFill>
              </a:rPr>
              <a:t>);</a:t>
            </a:r>
            <a:r>
              <a:rPr lang="en-US" altLang="zh-CN" sz="3200" b="1" dirty="0"/>
              <a:t> </a:t>
            </a:r>
          </a:p>
          <a:p>
            <a:pPr algn="just">
              <a:lnSpc>
                <a:spcPct val="120000"/>
              </a:lnSpc>
              <a:spcBef>
                <a:spcPct val="20000"/>
              </a:spcBef>
            </a:pPr>
            <a:r>
              <a:rPr lang="en-US" altLang="zh-CN" sz="3200" b="1" dirty="0"/>
              <a:t>  for(</a:t>
            </a:r>
            <a:r>
              <a:rPr lang="en-US" altLang="zh-CN" sz="3200" b="1" dirty="0" err="1"/>
              <a:t>i</a:t>
            </a:r>
            <a:r>
              <a:rPr lang="en-US" altLang="zh-CN" sz="3200" b="1" dirty="0"/>
              <a:t>=1;i&lt;=</a:t>
            </a:r>
            <a:r>
              <a:rPr lang="en-US" altLang="zh-CN" sz="3200" b="1" dirty="0" err="1"/>
              <a:t>Lb_len;i</a:t>
            </a:r>
            <a:r>
              <a:rPr lang="en-US" altLang="zh-CN" sz="3200" b="1" dirty="0"/>
              <a:t>++){</a:t>
            </a:r>
          </a:p>
          <a:p>
            <a:pPr algn="just">
              <a:lnSpc>
                <a:spcPct val="120000"/>
              </a:lnSpc>
              <a:spcBef>
                <a:spcPct val="20000"/>
              </a:spcBef>
            </a:pPr>
            <a:r>
              <a:rPr lang="en-US" altLang="zh-CN" sz="3200" b="1" dirty="0"/>
              <a:t>      </a:t>
            </a:r>
            <a:r>
              <a:rPr lang="en-US" altLang="zh-CN" sz="3200" b="1" dirty="0" err="1">
                <a:solidFill>
                  <a:schemeClr val="folHlink"/>
                </a:solidFill>
              </a:rPr>
              <a:t>GetElem</a:t>
            </a:r>
            <a:r>
              <a:rPr lang="en-US" altLang="zh-CN" sz="3200" b="1" dirty="0">
                <a:solidFill>
                  <a:schemeClr val="folHlink"/>
                </a:solidFill>
              </a:rPr>
              <a:t>(</a:t>
            </a:r>
            <a:r>
              <a:rPr lang="en-US" altLang="zh-CN" sz="3200" b="1" dirty="0" err="1">
                <a:solidFill>
                  <a:schemeClr val="folHlink"/>
                </a:solidFill>
              </a:rPr>
              <a:t>Lb,i,e</a:t>
            </a:r>
            <a:r>
              <a:rPr lang="en-US" altLang="zh-CN" sz="3200" b="1" dirty="0">
                <a:solidFill>
                  <a:schemeClr val="folHlink"/>
                </a:solidFill>
              </a:rPr>
              <a:t>);</a:t>
            </a:r>
          </a:p>
          <a:p>
            <a:pPr algn="just">
              <a:lnSpc>
                <a:spcPct val="120000"/>
              </a:lnSpc>
              <a:spcBef>
                <a:spcPct val="20000"/>
              </a:spcBef>
            </a:pPr>
            <a:r>
              <a:rPr lang="en-US" altLang="zh-CN" sz="3200" b="1" dirty="0"/>
              <a:t>      if(!</a:t>
            </a:r>
            <a:r>
              <a:rPr lang="en-US" altLang="zh-CN" sz="3200" b="1" dirty="0" err="1"/>
              <a:t>LocateElem</a:t>
            </a:r>
            <a:r>
              <a:rPr lang="en-US" altLang="zh-CN" sz="3200" b="1" dirty="0"/>
              <a:t>(</a:t>
            </a:r>
            <a:r>
              <a:rPr lang="en-US" altLang="zh-CN" sz="3200" b="1" dirty="0" err="1"/>
              <a:t>La,e</a:t>
            </a:r>
            <a:r>
              <a:rPr lang="en-US" altLang="zh-CN" sz="3200" b="1" dirty="0"/>
              <a:t>)) </a:t>
            </a:r>
          </a:p>
          <a:p>
            <a:pPr algn="just">
              <a:lnSpc>
                <a:spcPct val="120000"/>
              </a:lnSpc>
              <a:spcBef>
                <a:spcPct val="20000"/>
              </a:spcBef>
            </a:pPr>
            <a:r>
              <a:rPr lang="en-US" altLang="zh-CN" sz="3200" b="1" dirty="0">
                <a:solidFill>
                  <a:schemeClr val="folHlink"/>
                </a:solidFill>
              </a:rPr>
              <a:t>           </a:t>
            </a:r>
            <a:r>
              <a:rPr lang="en-US" altLang="zh-CN" sz="3200" b="1" dirty="0" err="1">
                <a:solidFill>
                  <a:schemeClr val="folHlink"/>
                </a:solidFill>
              </a:rPr>
              <a:t>ListInsert</a:t>
            </a:r>
            <a:r>
              <a:rPr lang="en-US" altLang="zh-CN" sz="3200" b="1" dirty="0">
                <a:solidFill>
                  <a:schemeClr val="folHlink"/>
                </a:solidFill>
              </a:rPr>
              <a:t>(&amp;La,++</a:t>
            </a:r>
            <a:r>
              <a:rPr lang="en-US" altLang="zh-CN" sz="3200" b="1" dirty="0" err="1">
                <a:solidFill>
                  <a:schemeClr val="folHlink"/>
                </a:solidFill>
              </a:rPr>
              <a:t>La_len,e</a:t>
            </a:r>
            <a:r>
              <a:rPr lang="en-US" altLang="zh-CN" sz="3200" b="1" dirty="0">
                <a:solidFill>
                  <a:schemeClr val="folHlink"/>
                </a:solidFill>
              </a:rPr>
              <a:t>);</a:t>
            </a:r>
            <a:r>
              <a:rPr lang="en-US" altLang="zh-CN" sz="3200" b="1" dirty="0"/>
              <a:t>                        </a:t>
            </a:r>
          </a:p>
          <a:p>
            <a:pPr algn="just">
              <a:lnSpc>
                <a:spcPct val="120000"/>
              </a:lnSpc>
              <a:spcBef>
                <a:spcPct val="20000"/>
              </a:spcBef>
            </a:pPr>
            <a:r>
              <a:rPr lang="en-US" altLang="zh-CN" sz="3200" b="1" dirty="0"/>
              <a:t>  }</a:t>
            </a:r>
          </a:p>
          <a:p>
            <a:pPr algn="just">
              <a:lnSpc>
                <a:spcPct val="120000"/>
              </a:lnSpc>
              <a:spcBef>
                <a:spcPct val="20000"/>
              </a:spcBef>
            </a:pPr>
            <a:r>
              <a:rPr lang="en-US" altLang="zh-CN" sz="3200" b="1" dirty="0"/>
              <a:t>}</a:t>
            </a:r>
            <a:endParaRPr lang="en-US" altLang="zh-CN" sz="3200" b="1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altLang="zh-CN" b="1" dirty="0">
              <a:solidFill>
                <a:schemeClr val="tx2"/>
              </a:solidFill>
            </a:endParaRPr>
          </a:p>
        </p:txBody>
      </p:sp>
      <p:graphicFrame>
        <p:nvGraphicFramePr>
          <p:cNvPr id="56423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4069662"/>
              </p:ext>
            </p:extLst>
          </p:nvPr>
        </p:nvGraphicFramePr>
        <p:xfrm>
          <a:off x="1528764" y="5514976"/>
          <a:ext cx="7507287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4" name="Equation" r:id="rId3" imgW="2298600" imgH="203040" progId="Equation.3">
                  <p:embed/>
                </p:oleObj>
              </mc:Choice>
              <mc:Fallback>
                <p:oleObj name="Equation" r:id="rId3" imgW="229860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8764" y="5514976"/>
                        <a:ext cx="7507287" cy="650875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2" name="Rectangle 7"/>
          <p:cNvSpPr>
            <a:spLocks noChangeArrowheads="1"/>
          </p:cNvSpPr>
          <p:nvPr/>
        </p:nvSpPr>
        <p:spPr bwMode="auto">
          <a:xfrm>
            <a:off x="1528764" y="-26988"/>
            <a:ext cx="3775075" cy="606426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r>
              <a:rPr lang="en-US" altLang="zh-CN" sz="4400" b="1">
                <a:ea typeface="楷体_GB2312"/>
                <a:cs typeface="楷体_GB2312"/>
              </a:rPr>
              <a:t>【</a:t>
            </a:r>
            <a:r>
              <a:rPr lang="zh-CN" altLang="en-US" sz="4400" b="1">
                <a:ea typeface="楷体_GB2312"/>
                <a:cs typeface="楷体_GB2312"/>
              </a:rPr>
              <a:t>算法描述</a:t>
            </a:r>
            <a:r>
              <a:rPr lang="en-US" altLang="zh-CN" sz="4400" b="1">
                <a:ea typeface="楷体_GB2312"/>
                <a:cs typeface="楷体_GB2312"/>
              </a:rPr>
              <a:t>】</a:t>
            </a:r>
          </a:p>
        </p:txBody>
      </p:sp>
    </p:spTree>
    <p:extLst>
      <p:ext uri="{BB962C8B-B14F-4D97-AF65-F5344CB8AC3E}">
        <p14:creationId xmlns:p14="http://schemas.microsoft.com/office/powerpoint/2010/main" val="494773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4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4" name="Rectangle 4"/>
          <p:cNvSpPr>
            <a:spLocks noChangeArrowheads="1"/>
          </p:cNvSpPr>
          <p:nvPr/>
        </p:nvSpPr>
        <p:spPr bwMode="auto">
          <a:xfrm>
            <a:off x="1080655" y="1628775"/>
            <a:ext cx="9053945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3200" b="1" dirty="0">
                <a:latin typeface="楷体_GB2312"/>
                <a:ea typeface="楷体_GB2312"/>
                <a:cs typeface="楷体_GB2312"/>
              </a:rPr>
              <a:t>问题描述：   </a:t>
            </a:r>
          </a:p>
          <a:p>
            <a:pPr algn="just">
              <a:lnSpc>
                <a:spcPct val="120000"/>
              </a:lnSpc>
              <a:spcBef>
                <a:spcPct val="20000"/>
              </a:spcBef>
            </a:pPr>
            <a:r>
              <a:rPr lang="zh-CN" altLang="en-US" sz="3200" b="1" dirty="0">
                <a:latin typeface="楷体_GB2312"/>
                <a:ea typeface="楷体_GB2312"/>
                <a:cs typeface="楷体_GB2312"/>
              </a:rPr>
              <a:t>  </a:t>
            </a:r>
            <a:r>
              <a:rPr lang="zh-CN" altLang="en-US" b="1" dirty="0">
                <a:latin typeface="楷体_GB2312"/>
                <a:ea typeface="楷体_GB2312"/>
                <a:cs typeface="楷体_GB2312"/>
              </a:rPr>
              <a:t>已知线性表</a:t>
            </a:r>
            <a:r>
              <a:rPr lang="en-US" altLang="zh-CN" b="1" dirty="0">
                <a:solidFill>
                  <a:srgbClr val="FF0000"/>
                </a:solidFill>
                <a:latin typeface="楷体_GB2312"/>
                <a:ea typeface="楷体_GB2312"/>
                <a:cs typeface="楷体_GB2312"/>
              </a:rPr>
              <a:t>La </a:t>
            </a:r>
            <a:r>
              <a:rPr lang="zh-CN" altLang="en-US" b="1" dirty="0">
                <a:latin typeface="楷体_GB2312"/>
                <a:ea typeface="楷体_GB2312"/>
                <a:cs typeface="楷体_GB2312"/>
              </a:rPr>
              <a:t>和</a:t>
            </a:r>
            <a:r>
              <a:rPr lang="en-US" altLang="zh-CN" b="1" dirty="0" err="1">
                <a:solidFill>
                  <a:srgbClr val="FF0000"/>
                </a:solidFill>
                <a:latin typeface="楷体_GB2312"/>
                <a:ea typeface="楷体_GB2312"/>
                <a:cs typeface="楷体_GB2312"/>
              </a:rPr>
              <a:t>Lb</a:t>
            </a:r>
            <a:r>
              <a:rPr lang="zh-CN" altLang="en-US" b="1" dirty="0">
                <a:latin typeface="楷体_GB2312"/>
                <a:ea typeface="楷体_GB2312"/>
                <a:cs typeface="楷体_GB2312"/>
              </a:rPr>
              <a:t>中的数据元素按值</a:t>
            </a:r>
            <a:r>
              <a:rPr lang="zh-CN" altLang="en-US" b="1" dirty="0">
                <a:solidFill>
                  <a:schemeClr val="tx2"/>
                </a:solidFill>
                <a:latin typeface="楷体_GB2312"/>
                <a:ea typeface="楷体_GB2312"/>
                <a:cs typeface="楷体_GB2312"/>
              </a:rPr>
              <a:t>非递减</a:t>
            </a:r>
            <a:r>
              <a:rPr lang="zh-CN" altLang="en-US" b="1" dirty="0">
                <a:latin typeface="楷体_GB2312"/>
                <a:ea typeface="楷体_GB2312"/>
                <a:cs typeface="楷体_GB2312"/>
              </a:rPr>
              <a:t>有序排列</a:t>
            </a:r>
            <a:r>
              <a:rPr lang="en-US" altLang="zh-CN" b="1" dirty="0">
                <a:latin typeface="楷体_GB2312"/>
                <a:ea typeface="楷体_GB2312"/>
                <a:cs typeface="楷体_GB2312"/>
              </a:rPr>
              <a:t>,</a:t>
            </a:r>
            <a:r>
              <a:rPr lang="zh-CN" altLang="en-US" b="1" dirty="0">
                <a:latin typeface="楷体_GB2312"/>
                <a:ea typeface="楷体_GB2312"/>
                <a:cs typeface="楷体_GB2312"/>
              </a:rPr>
              <a:t>现要求将</a:t>
            </a:r>
            <a:r>
              <a:rPr lang="en-US" altLang="zh-CN" b="1" dirty="0">
                <a:latin typeface="楷体_GB2312"/>
                <a:ea typeface="楷体_GB2312"/>
                <a:cs typeface="楷体_GB2312"/>
              </a:rPr>
              <a:t>La</a:t>
            </a:r>
            <a:r>
              <a:rPr lang="zh-CN" altLang="en-US" b="1" dirty="0">
                <a:latin typeface="楷体_GB2312"/>
                <a:ea typeface="楷体_GB2312"/>
                <a:cs typeface="楷体_GB2312"/>
              </a:rPr>
              <a:t>和</a:t>
            </a:r>
            <a:r>
              <a:rPr lang="en-US" altLang="zh-CN" b="1" dirty="0" err="1">
                <a:latin typeface="楷体_GB2312"/>
                <a:ea typeface="楷体_GB2312"/>
                <a:cs typeface="楷体_GB2312"/>
              </a:rPr>
              <a:t>Lb</a:t>
            </a:r>
            <a:r>
              <a:rPr lang="zh-CN" altLang="en-US" b="1" dirty="0">
                <a:latin typeface="楷体_GB2312"/>
                <a:ea typeface="楷体_GB2312"/>
                <a:cs typeface="楷体_GB2312"/>
              </a:rPr>
              <a:t>归并为一个新的线性表</a:t>
            </a:r>
            <a:r>
              <a:rPr lang="en-US" altLang="zh-CN" b="1" dirty="0" err="1">
                <a:solidFill>
                  <a:srgbClr val="FF0000"/>
                </a:solidFill>
                <a:latin typeface="楷体_GB2312"/>
                <a:ea typeface="楷体_GB2312"/>
                <a:cs typeface="楷体_GB2312"/>
              </a:rPr>
              <a:t>Lc</a:t>
            </a:r>
            <a:r>
              <a:rPr lang="en-US" altLang="zh-CN" b="1" dirty="0">
                <a:latin typeface="楷体_GB2312"/>
                <a:ea typeface="楷体_GB2312"/>
                <a:cs typeface="楷体_GB2312"/>
              </a:rPr>
              <a:t>,</a:t>
            </a:r>
            <a:r>
              <a:rPr lang="zh-CN" altLang="en-US" b="1" dirty="0">
                <a:latin typeface="楷体_GB2312"/>
                <a:ea typeface="楷体_GB2312"/>
                <a:cs typeface="楷体_GB2312"/>
              </a:rPr>
              <a:t>且</a:t>
            </a:r>
            <a:r>
              <a:rPr lang="en-US" altLang="zh-CN" b="1" dirty="0" err="1">
                <a:latin typeface="楷体_GB2312"/>
                <a:ea typeface="楷体_GB2312"/>
                <a:cs typeface="楷体_GB2312"/>
              </a:rPr>
              <a:t>Lc</a:t>
            </a:r>
            <a:r>
              <a:rPr lang="zh-CN" altLang="en-US" b="1" dirty="0">
                <a:latin typeface="楷体_GB2312"/>
                <a:ea typeface="楷体_GB2312"/>
                <a:cs typeface="楷体_GB2312"/>
              </a:rPr>
              <a:t>中的数据元素仍按值非递减有序排列</a:t>
            </a:r>
            <a:r>
              <a:rPr lang="en-US" altLang="zh-CN" b="1" dirty="0">
                <a:latin typeface="楷体_GB2312"/>
                <a:ea typeface="楷体_GB2312"/>
                <a:cs typeface="楷体_GB2312"/>
              </a:rPr>
              <a:t>.</a:t>
            </a:r>
          </a:p>
          <a:p>
            <a:pPr algn="just">
              <a:spcBef>
                <a:spcPct val="20000"/>
              </a:spcBef>
              <a:buFontTx/>
              <a:buChar char="•"/>
            </a:pPr>
            <a:endParaRPr lang="en-US" altLang="zh-CN" sz="3200" b="1" dirty="0">
              <a:latin typeface="楷体_GB2312"/>
              <a:ea typeface="楷体_GB2312"/>
              <a:cs typeface="楷体_GB2312"/>
            </a:endParaRPr>
          </a:p>
          <a:p>
            <a:pPr lvl="2">
              <a:lnSpc>
                <a:spcPct val="150000"/>
              </a:lnSpc>
              <a:spcBef>
                <a:spcPct val="20000"/>
              </a:spcBef>
            </a:pPr>
            <a:endParaRPr lang="en-US" altLang="zh-CN" sz="2400" dirty="0"/>
          </a:p>
          <a:p>
            <a:pPr lvl="2">
              <a:lnSpc>
                <a:spcPct val="150000"/>
              </a:lnSpc>
              <a:spcBef>
                <a:spcPct val="20000"/>
              </a:spcBef>
            </a:pPr>
            <a:endParaRPr lang="en-US" altLang="zh-CN" sz="2400" dirty="0"/>
          </a:p>
          <a:p>
            <a:pPr>
              <a:spcBef>
                <a:spcPct val="20000"/>
              </a:spcBef>
            </a:pPr>
            <a:endParaRPr lang="en-US" altLang="zh-CN" sz="3200" dirty="0"/>
          </a:p>
        </p:txBody>
      </p:sp>
      <p:sp>
        <p:nvSpPr>
          <p:cNvPr id="565253" name="Rectangle 5"/>
          <p:cNvSpPr>
            <a:spLocks noChangeArrowheads="1"/>
          </p:cNvSpPr>
          <p:nvPr/>
        </p:nvSpPr>
        <p:spPr bwMode="auto">
          <a:xfrm>
            <a:off x="1156854" y="4125768"/>
            <a:ext cx="8901545" cy="213360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en-US" sz="3200" b="1" dirty="0">
                <a:ea typeface="黑体" panose="02010609060101010101" pitchFamily="49" charset="-122"/>
              </a:rPr>
              <a:t>L</a:t>
            </a:r>
            <a:r>
              <a:rPr lang="en-US" altLang="zh-CN" sz="3200" b="1" dirty="0">
                <a:ea typeface="黑体" panose="02010609060101010101" pitchFamily="49" charset="-122"/>
              </a:rPr>
              <a:t>a</a:t>
            </a:r>
            <a:r>
              <a:rPr lang="en-US" altLang="en-US" sz="3200" b="1" dirty="0">
                <a:ea typeface="黑体" panose="02010609060101010101" pitchFamily="49" charset="-122"/>
              </a:rPr>
              <a:t>=(</a:t>
            </a:r>
            <a:r>
              <a:rPr lang="en-US" altLang="zh-CN" sz="3200" b="1" dirty="0"/>
              <a:t>1</a:t>
            </a:r>
            <a:r>
              <a:rPr lang="en-US" altLang="en-US" sz="3200" b="1" dirty="0"/>
              <a:t> ,</a:t>
            </a:r>
            <a:r>
              <a:rPr lang="en-US" altLang="zh-CN" sz="3200" b="1" dirty="0"/>
              <a:t>7</a:t>
            </a:r>
            <a:r>
              <a:rPr lang="en-US" altLang="en-US" sz="3200" b="1" dirty="0">
                <a:ea typeface="黑体" panose="02010609060101010101" pitchFamily="49" charset="-122"/>
              </a:rPr>
              <a:t>, 8)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3200" b="1" dirty="0" err="1">
                <a:ea typeface="黑体" panose="02010609060101010101" pitchFamily="49" charset="-122"/>
              </a:rPr>
              <a:t>L</a:t>
            </a:r>
            <a:r>
              <a:rPr lang="en-US" altLang="zh-CN" sz="3200" b="1" dirty="0" err="1">
                <a:ea typeface="黑体" panose="02010609060101010101" pitchFamily="49" charset="-122"/>
              </a:rPr>
              <a:t>b</a:t>
            </a:r>
            <a:r>
              <a:rPr lang="en-US" altLang="en-US" sz="3200" b="1" dirty="0">
                <a:ea typeface="黑体" panose="02010609060101010101" pitchFamily="49" charset="-122"/>
              </a:rPr>
              <a:t>=(2,</a:t>
            </a:r>
            <a:r>
              <a:rPr lang="en-US" altLang="zh-CN" sz="3200" b="1" dirty="0">
                <a:ea typeface="黑体" panose="02010609060101010101" pitchFamily="49" charset="-122"/>
              </a:rPr>
              <a:t> 4</a:t>
            </a:r>
            <a:r>
              <a:rPr lang="en-US" altLang="en-US" sz="3200" b="1" dirty="0">
                <a:ea typeface="黑体" panose="02010609060101010101" pitchFamily="49" charset="-122"/>
              </a:rPr>
              <a:t>, </a:t>
            </a:r>
            <a:r>
              <a:rPr lang="en-US" altLang="zh-CN" sz="3200" b="1" dirty="0">
                <a:ea typeface="黑体" panose="02010609060101010101" pitchFamily="49" charset="-122"/>
              </a:rPr>
              <a:t>6</a:t>
            </a:r>
            <a:r>
              <a:rPr lang="en-US" altLang="en-US" sz="3200" b="1" dirty="0">
                <a:ea typeface="黑体" panose="02010609060101010101" pitchFamily="49" charset="-122"/>
              </a:rPr>
              <a:t>, </a:t>
            </a:r>
            <a:r>
              <a:rPr lang="en-US" altLang="zh-CN" sz="3200" b="1" dirty="0">
                <a:ea typeface="黑体" panose="02010609060101010101" pitchFamily="49" charset="-122"/>
              </a:rPr>
              <a:t>8</a:t>
            </a:r>
            <a:r>
              <a:rPr lang="en-US" altLang="en-US" sz="3200" b="1" dirty="0">
                <a:ea typeface="黑体" panose="02010609060101010101" pitchFamily="49" charset="-122"/>
              </a:rPr>
              <a:t>, 1</a:t>
            </a:r>
            <a:r>
              <a:rPr lang="en-US" altLang="zh-CN" sz="3200" b="1" dirty="0">
                <a:ea typeface="黑体" panose="02010609060101010101" pitchFamily="49" charset="-122"/>
              </a:rPr>
              <a:t>0</a:t>
            </a:r>
            <a:r>
              <a:rPr lang="en-US" altLang="en-US" sz="3200" b="1" dirty="0">
                <a:ea typeface="黑体" panose="02010609060101010101" pitchFamily="49" charset="-122"/>
              </a:rPr>
              <a:t>, </a:t>
            </a:r>
            <a:r>
              <a:rPr lang="en-US" altLang="zh-CN" sz="3200" b="1" dirty="0">
                <a:ea typeface="黑体" panose="02010609060101010101" pitchFamily="49" charset="-122"/>
              </a:rPr>
              <a:t>11</a:t>
            </a:r>
            <a:r>
              <a:rPr lang="en-US" altLang="en-US" sz="3200" b="1" dirty="0">
                <a:ea typeface="黑体" panose="02010609060101010101" pitchFamily="49" charset="-122"/>
              </a:rPr>
              <a:t>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3200" b="1" dirty="0" err="1">
                <a:ea typeface="宋体" panose="02010600030101010101" pitchFamily="2" charset="-122"/>
              </a:rPr>
              <a:t>Lc</a:t>
            </a:r>
            <a:r>
              <a:rPr lang="en-US" altLang="zh-CN" sz="3200" b="1" dirty="0">
                <a:ea typeface="宋体" panose="02010600030101010101" pitchFamily="2" charset="-122"/>
              </a:rPr>
              <a:t>=(1</a:t>
            </a:r>
            <a:r>
              <a:rPr lang="en-US" altLang="en-US" b="1" dirty="0"/>
              <a:t>,</a:t>
            </a:r>
            <a:r>
              <a:rPr lang="en-US" altLang="zh-CN" b="1" dirty="0"/>
              <a:t> </a:t>
            </a:r>
            <a:r>
              <a:rPr lang="en-US" altLang="zh-CN" sz="3200" b="1" dirty="0">
                <a:ea typeface="宋体" panose="02010600030101010101" pitchFamily="2" charset="-122"/>
              </a:rPr>
              <a:t>2</a:t>
            </a:r>
            <a:r>
              <a:rPr lang="en-US" altLang="en-US" b="1" dirty="0"/>
              <a:t>,</a:t>
            </a:r>
            <a:r>
              <a:rPr lang="en-US" altLang="zh-CN" b="1" dirty="0"/>
              <a:t> </a:t>
            </a:r>
            <a:r>
              <a:rPr lang="en-US" altLang="zh-CN" sz="3200" b="1" dirty="0">
                <a:ea typeface="宋体" panose="02010600030101010101" pitchFamily="2" charset="-122"/>
              </a:rPr>
              <a:t>4, 6, 7 </a:t>
            </a:r>
            <a:r>
              <a:rPr lang="en-US" altLang="en-US" b="1" dirty="0"/>
              <a:t>,</a:t>
            </a:r>
            <a:r>
              <a:rPr lang="en-US" altLang="zh-CN" sz="3200" b="1" dirty="0">
                <a:ea typeface="宋体" panose="02010600030101010101" pitchFamily="2" charset="-122"/>
              </a:rPr>
              <a:t> 8, 8, 10, 11) </a:t>
            </a:r>
          </a:p>
          <a:p>
            <a:pPr algn="just" eaLnBrk="1" hangingPunct="1">
              <a:lnSpc>
                <a:spcPct val="120000"/>
              </a:lnSpc>
            </a:pPr>
            <a:r>
              <a:rPr lang="en-US" altLang="zh-CN" sz="3200" b="1" dirty="0">
                <a:ea typeface="宋体" panose="02010600030101010101" pitchFamily="2" charset="-122"/>
              </a:rPr>
              <a:t>.</a:t>
            </a:r>
          </a:p>
          <a:p>
            <a:pPr algn="just" eaLnBrk="1" hangingPunct="1"/>
            <a:endParaRPr lang="en-US" altLang="zh-CN" sz="3200" b="1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150000"/>
              </a:lnSpc>
            </a:pPr>
            <a:endParaRPr lang="en-US" altLang="zh-CN" sz="3200" b="1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150000"/>
              </a:lnSpc>
            </a:pPr>
            <a:endParaRPr lang="en-US" altLang="zh-CN" sz="3200" b="1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sz="3200" b="1" dirty="0">
              <a:ea typeface="宋体" panose="02010600030101010101" pitchFamily="2" charset="-122"/>
            </a:endParaRPr>
          </a:p>
        </p:txBody>
      </p:sp>
      <p:sp>
        <p:nvSpPr>
          <p:cNvPr id="148486" name="Rectangle 7"/>
          <p:cNvSpPr>
            <a:spLocks noChangeArrowheads="1"/>
          </p:cNvSpPr>
          <p:nvPr/>
        </p:nvSpPr>
        <p:spPr bwMode="auto">
          <a:xfrm>
            <a:off x="1524000" y="511175"/>
            <a:ext cx="7850188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r>
              <a:rPr lang="en-US" altLang="zh-CN" sz="4000" b="1">
                <a:solidFill>
                  <a:srgbClr val="CC00CC"/>
                </a:solidFill>
                <a:latin typeface="楷体_GB2312"/>
                <a:ea typeface="楷体_GB2312"/>
                <a:cs typeface="楷体_GB2312"/>
              </a:rPr>
              <a:t>2.7.2 </a:t>
            </a:r>
            <a:r>
              <a:rPr lang="zh-CN" altLang="en-US" sz="4000" b="1">
                <a:solidFill>
                  <a:srgbClr val="CC00CC"/>
                </a:solidFill>
                <a:latin typeface="楷体_GB2312"/>
                <a:ea typeface="楷体_GB2312"/>
                <a:cs typeface="楷体_GB2312"/>
              </a:rPr>
              <a:t>　有序表的合并</a:t>
            </a:r>
          </a:p>
        </p:txBody>
      </p:sp>
      <p:sp>
        <p:nvSpPr>
          <p:cNvPr id="148487" name="Line 8"/>
          <p:cNvSpPr>
            <a:spLocks noChangeShapeType="1"/>
          </p:cNvSpPr>
          <p:nvPr/>
        </p:nvSpPr>
        <p:spPr bwMode="auto">
          <a:xfrm>
            <a:off x="1524000" y="1268413"/>
            <a:ext cx="9144000" cy="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48488" name="Picture 9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4188" y="509589"/>
            <a:ext cx="811212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7240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5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5253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8" name="Text Box 4"/>
          <p:cNvSpPr txBox="1">
            <a:spLocks noChangeArrowheads="1"/>
          </p:cNvSpPr>
          <p:nvPr/>
        </p:nvSpPr>
        <p:spPr bwMode="auto">
          <a:xfrm>
            <a:off x="1132031" y="1127702"/>
            <a:ext cx="63055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3200" b="1">
                <a:latin typeface="楷体_GB2312"/>
                <a:ea typeface="楷体_GB2312"/>
                <a:cs typeface="楷体_GB2312"/>
              </a:rPr>
              <a:t>(1) </a:t>
            </a:r>
            <a:r>
              <a:rPr lang="zh-CN" altLang="en-US" sz="3200" b="1">
                <a:latin typeface="楷体_GB2312"/>
                <a:ea typeface="楷体_GB2312"/>
                <a:cs typeface="楷体_GB2312"/>
              </a:rPr>
              <a:t>创建一个空表</a:t>
            </a:r>
            <a:r>
              <a:rPr lang="en-US" altLang="zh-CN" sz="3200" b="1">
                <a:latin typeface="楷体_GB2312"/>
                <a:ea typeface="楷体_GB2312"/>
                <a:cs typeface="楷体_GB2312"/>
              </a:rPr>
              <a:t>Lc</a:t>
            </a:r>
          </a:p>
        </p:txBody>
      </p:sp>
      <p:sp>
        <p:nvSpPr>
          <p:cNvPr id="608261" name="Text Box 5"/>
          <p:cNvSpPr txBox="1">
            <a:spLocks noChangeArrowheads="1"/>
          </p:cNvSpPr>
          <p:nvPr/>
        </p:nvSpPr>
        <p:spPr bwMode="auto">
          <a:xfrm>
            <a:off x="1201882" y="1769052"/>
            <a:ext cx="8397875" cy="1865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 dirty="0"/>
              <a:t>(2)</a:t>
            </a:r>
            <a:r>
              <a:rPr lang="en-US" altLang="zh-CN" sz="3200" b="1" dirty="0">
                <a:latin typeface="楷体_GB2312"/>
                <a:ea typeface="楷体_GB2312"/>
                <a:cs typeface="楷体_GB2312"/>
              </a:rPr>
              <a:t> </a:t>
            </a:r>
            <a:r>
              <a:rPr lang="zh-CN" altLang="en-US" sz="3200" b="1" dirty="0">
                <a:latin typeface="楷体_GB2312"/>
                <a:ea typeface="楷体_GB2312"/>
                <a:cs typeface="楷体_GB2312"/>
              </a:rPr>
              <a:t>依次从 </a:t>
            </a:r>
            <a:r>
              <a:rPr lang="en-US" altLang="zh-CN" sz="3200" b="1" dirty="0">
                <a:latin typeface="楷体_GB2312"/>
                <a:ea typeface="楷体_GB2312"/>
                <a:cs typeface="楷体_GB2312"/>
              </a:rPr>
              <a:t>La </a:t>
            </a:r>
            <a:r>
              <a:rPr lang="zh-CN" altLang="en-US" sz="3200" b="1" dirty="0">
                <a:latin typeface="楷体_GB2312"/>
                <a:ea typeface="楷体_GB2312"/>
                <a:cs typeface="楷体_GB2312"/>
              </a:rPr>
              <a:t>或 </a:t>
            </a:r>
            <a:r>
              <a:rPr lang="en-US" altLang="zh-CN" sz="3200" b="1" dirty="0" err="1">
                <a:latin typeface="楷体_GB2312"/>
                <a:ea typeface="楷体_GB2312"/>
                <a:cs typeface="楷体_GB2312"/>
              </a:rPr>
              <a:t>Lb</a:t>
            </a:r>
            <a:r>
              <a:rPr lang="en-US" altLang="zh-CN" sz="3200" b="1" dirty="0">
                <a:latin typeface="楷体_GB2312"/>
                <a:ea typeface="楷体_GB2312"/>
                <a:cs typeface="楷体_GB2312"/>
              </a:rPr>
              <a:t> </a:t>
            </a:r>
            <a:r>
              <a:rPr lang="zh-CN" altLang="en-US" sz="3200" b="1" dirty="0">
                <a:latin typeface="楷体_GB2312"/>
                <a:ea typeface="楷体_GB2312"/>
                <a:cs typeface="楷体_GB2312"/>
              </a:rPr>
              <a:t>中“摘取”元素值较小的结点插入到 </a:t>
            </a:r>
            <a:r>
              <a:rPr lang="en-US" altLang="zh-CN" sz="3200" b="1" dirty="0" err="1">
                <a:latin typeface="楷体_GB2312"/>
                <a:ea typeface="楷体_GB2312"/>
                <a:cs typeface="楷体_GB2312"/>
              </a:rPr>
              <a:t>Lc</a:t>
            </a:r>
            <a:r>
              <a:rPr lang="en-US" altLang="zh-CN" sz="3200" b="1" dirty="0">
                <a:latin typeface="楷体_GB2312"/>
                <a:ea typeface="楷体_GB2312"/>
                <a:cs typeface="楷体_GB2312"/>
              </a:rPr>
              <a:t> </a:t>
            </a:r>
            <a:r>
              <a:rPr lang="zh-CN" altLang="en-US" sz="3200" b="1" dirty="0">
                <a:latin typeface="楷体_GB2312"/>
                <a:ea typeface="楷体_GB2312"/>
                <a:cs typeface="楷体_GB2312"/>
              </a:rPr>
              <a:t>表的最后，直至其中一个表变空为止</a:t>
            </a:r>
          </a:p>
        </p:txBody>
      </p:sp>
      <p:sp>
        <p:nvSpPr>
          <p:cNvPr id="608262" name="Text Box 6"/>
          <p:cNvSpPr txBox="1">
            <a:spLocks noChangeArrowheads="1"/>
          </p:cNvSpPr>
          <p:nvPr/>
        </p:nvSpPr>
        <p:spPr bwMode="auto">
          <a:xfrm>
            <a:off x="1217757" y="3569278"/>
            <a:ext cx="8397875" cy="1274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>
                <a:latin typeface="楷体_GB2312"/>
                <a:ea typeface="楷体_GB2312"/>
                <a:cs typeface="楷体_GB2312"/>
              </a:rPr>
              <a:t>(3) </a:t>
            </a:r>
            <a:r>
              <a:rPr lang="zh-CN" altLang="en-US" sz="3200" b="1">
                <a:latin typeface="楷体_GB2312"/>
                <a:ea typeface="楷体_GB2312"/>
                <a:cs typeface="楷体_GB2312"/>
              </a:rPr>
              <a:t>继续将 </a:t>
            </a:r>
            <a:r>
              <a:rPr lang="en-US" altLang="zh-CN" sz="3200" b="1">
                <a:latin typeface="楷体_GB2312"/>
                <a:ea typeface="楷体_GB2312"/>
                <a:cs typeface="楷体_GB2312"/>
              </a:rPr>
              <a:t>La </a:t>
            </a:r>
            <a:r>
              <a:rPr lang="zh-CN" altLang="en-US" sz="3200" b="1">
                <a:latin typeface="楷体_GB2312"/>
                <a:ea typeface="楷体_GB2312"/>
                <a:cs typeface="楷体_GB2312"/>
              </a:rPr>
              <a:t>或 </a:t>
            </a:r>
            <a:r>
              <a:rPr lang="en-US" altLang="zh-CN" sz="3200" b="1">
                <a:latin typeface="楷体_GB2312"/>
                <a:ea typeface="楷体_GB2312"/>
                <a:cs typeface="楷体_GB2312"/>
              </a:rPr>
              <a:t>Lb </a:t>
            </a:r>
            <a:r>
              <a:rPr lang="zh-CN" altLang="en-US" sz="3200" b="1">
                <a:latin typeface="楷体_GB2312"/>
                <a:ea typeface="楷体_GB2312"/>
                <a:cs typeface="楷体_GB2312"/>
              </a:rPr>
              <a:t>其中一个表的剩余结点插入在 </a:t>
            </a:r>
            <a:r>
              <a:rPr lang="en-US" altLang="zh-CN" sz="3200" b="1">
                <a:latin typeface="楷体_GB2312"/>
                <a:ea typeface="楷体_GB2312"/>
                <a:cs typeface="楷体_GB2312"/>
              </a:rPr>
              <a:t>Lc </a:t>
            </a:r>
            <a:r>
              <a:rPr lang="zh-CN" altLang="en-US" sz="3200" b="1">
                <a:latin typeface="楷体_GB2312"/>
                <a:ea typeface="楷体_GB2312"/>
                <a:cs typeface="楷体_GB2312"/>
              </a:rPr>
              <a:t>表的最后</a:t>
            </a:r>
          </a:p>
        </p:txBody>
      </p:sp>
      <p:sp>
        <p:nvSpPr>
          <p:cNvPr id="149511" name="Rectangle 8"/>
          <p:cNvSpPr>
            <a:spLocks noChangeArrowheads="1"/>
          </p:cNvSpPr>
          <p:nvPr/>
        </p:nvSpPr>
        <p:spPr bwMode="auto">
          <a:xfrm>
            <a:off x="635144" y="513339"/>
            <a:ext cx="8096250" cy="606426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r>
              <a:rPr lang="en-US" altLang="zh-CN" sz="4400" b="1">
                <a:ea typeface="楷体_GB2312"/>
                <a:cs typeface="楷体_GB2312"/>
              </a:rPr>
              <a:t>【</a:t>
            </a:r>
            <a:r>
              <a:rPr lang="zh-CN" altLang="en-US" sz="4400" b="1">
                <a:ea typeface="楷体_GB2312"/>
                <a:cs typeface="楷体_GB2312"/>
              </a:rPr>
              <a:t>算法步骤</a:t>
            </a:r>
            <a:r>
              <a:rPr lang="en-US" altLang="zh-CN" sz="4400" b="1">
                <a:ea typeface="楷体_GB2312"/>
                <a:cs typeface="楷体_GB2312"/>
              </a:rPr>
              <a:t>】</a:t>
            </a:r>
            <a:r>
              <a:rPr lang="zh-CN" altLang="en-US" sz="4400" b="1">
                <a:ea typeface="楷体_GB2312"/>
                <a:cs typeface="楷体_GB2312"/>
              </a:rPr>
              <a:t>－</a:t>
            </a:r>
            <a:r>
              <a:rPr lang="zh-CN" altLang="en-US" sz="3200" b="1">
                <a:latin typeface="楷体_GB2312"/>
                <a:ea typeface="楷体_GB2312"/>
                <a:cs typeface="楷体_GB2312"/>
              </a:rPr>
              <a:t>有序的顺序表合并</a:t>
            </a:r>
          </a:p>
        </p:txBody>
      </p:sp>
    </p:spTree>
    <p:extLst>
      <p:ext uri="{BB962C8B-B14F-4D97-AF65-F5344CB8AC3E}">
        <p14:creationId xmlns:p14="http://schemas.microsoft.com/office/powerpoint/2010/main" val="2624451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608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608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8261" grpId="0"/>
      <p:bldP spid="60826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5" name="Rectangle 4"/>
          <p:cNvSpPr>
            <a:spLocks noChangeArrowheads="1"/>
          </p:cNvSpPr>
          <p:nvPr/>
        </p:nvSpPr>
        <p:spPr bwMode="auto">
          <a:xfrm>
            <a:off x="457200" y="765176"/>
            <a:ext cx="9982200" cy="51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200" b="1" dirty="0"/>
              <a:t>void </a:t>
            </a:r>
            <a:r>
              <a:rPr lang="en-US" altLang="zh-CN" sz="2200" b="1" dirty="0" err="1"/>
              <a:t>MergeList_Sq</a:t>
            </a:r>
            <a:r>
              <a:rPr lang="en-US" altLang="zh-CN" sz="2200" b="1" dirty="0"/>
              <a:t>(</a:t>
            </a:r>
            <a:r>
              <a:rPr lang="en-US" altLang="zh-CN" sz="2200" b="1" dirty="0" err="1"/>
              <a:t>SqList</a:t>
            </a:r>
            <a:r>
              <a:rPr lang="en-US" altLang="zh-CN" sz="2200" b="1" dirty="0"/>
              <a:t> </a:t>
            </a:r>
            <a:r>
              <a:rPr lang="en-US" altLang="zh-CN" sz="2200" b="1" dirty="0" err="1"/>
              <a:t>LA,SqList</a:t>
            </a:r>
            <a:r>
              <a:rPr lang="en-US" altLang="zh-CN" sz="2200" b="1" dirty="0"/>
              <a:t> </a:t>
            </a:r>
            <a:r>
              <a:rPr lang="en-US" altLang="zh-CN" sz="2200" b="1" dirty="0" err="1"/>
              <a:t>LB,SqList</a:t>
            </a:r>
            <a:r>
              <a:rPr lang="en-US" altLang="zh-CN" sz="2200" b="1" dirty="0"/>
              <a:t> &amp;LC){ </a:t>
            </a:r>
          </a:p>
          <a:p>
            <a:pPr>
              <a:spcBef>
                <a:spcPct val="20000"/>
              </a:spcBef>
            </a:pPr>
            <a:r>
              <a:rPr lang="en-US" altLang="zh-CN" sz="2200" b="1" dirty="0"/>
              <a:t>     pa=</a:t>
            </a:r>
            <a:r>
              <a:rPr lang="en-US" altLang="zh-CN" sz="2200" b="1" dirty="0" err="1"/>
              <a:t>LA.elem</a:t>
            </a:r>
            <a:r>
              <a:rPr lang="en-US" altLang="zh-CN" sz="2200" b="1" dirty="0"/>
              <a:t>;  </a:t>
            </a:r>
            <a:r>
              <a:rPr lang="en-US" altLang="zh-CN" sz="2200" b="1" dirty="0" err="1"/>
              <a:t>pb</a:t>
            </a:r>
            <a:r>
              <a:rPr lang="en-US" altLang="zh-CN" sz="2200" b="1" dirty="0"/>
              <a:t>=</a:t>
            </a:r>
            <a:r>
              <a:rPr lang="en-US" altLang="zh-CN" sz="2200" b="1" dirty="0" err="1"/>
              <a:t>LB.elem</a:t>
            </a:r>
            <a:r>
              <a:rPr lang="en-US" altLang="zh-CN" sz="2200" b="1" dirty="0"/>
              <a:t>; 	//</a:t>
            </a:r>
            <a:r>
              <a:rPr lang="zh-CN" altLang="en-US" sz="2200" b="1" dirty="0"/>
              <a:t>指针</a:t>
            </a:r>
            <a:r>
              <a:rPr lang="en-US" altLang="zh-CN" sz="2200" b="1" dirty="0"/>
              <a:t>pa</a:t>
            </a:r>
            <a:r>
              <a:rPr lang="zh-CN" altLang="en-US" sz="2200" b="1" dirty="0"/>
              <a:t>和</a:t>
            </a:r>
            <a:r>
              <a:rPr lang="en-US" altLang="zh-CN" sz="2200" b="1" dirty="0" err="1"/>
              <a:t>pb</a:t>
            </a:r>
            <a:r>
              <a:rPr lang="zh-CN" altLang="en-US" sz="2200" b="1" dirty="0"/>
              <a:t>的初值分别指向两个表的第一个元素 </a:t>
            </a:r>
          </a:p>
          <a:p>
            <a:pPr>
              <a:spcBef>
                <a:spcPct val="20000"/>
              </a:spcBef>
            </a:pPr>
            <a:r>
              <a:rPr lang="zh-CN" altLang="en-US" sz="2200" b="1" dirty="0"/>
              <a:t>     </a:t>
            </a:r>
            <a:r>
              <a:rPr lang="en-US" altLang="zh-CN" sz="2200" b="1" dirty="0" err="1"/>
              <a:t>LC.length</a:t>
            </a:r>
            <a:r>
              <a:rPr lang="en-US" altLang="zh-CN" sz="2200" b="1" dirty="0"/>
              <a:t>=</a:t>
            </a:r>
            <a:r>
              <a:rPr lang="en-US" altLang="zh-CN" sz="2200" b="1" dirty="0" err="1"/>
              <a:t>LA.length+LB.length</a:t>
            </a:r>
            <a:r>
              <a:rPr lang="en-US" altLang="zh-CN" sz="2200" b="1" dirty="0"/>
              <a:t>;      	//</a:t>
            </a:r>
            <a:r>
              <a:rPr lang="zh-CN" altLang="en-US" sz="2200" b="1" dirty="0"/>
              <a:t>新表长度为待合并两表的长度之和 </a:t>
            </a:r>
          </a:p>
          <a:p>
            <a:pPr>
              <a:spcBef>
                <a:spcPct val="20000"/>
              </a:spcBef>
            </a:pPr>
            <a:r>
              <a:rPr lang="zh-CN" altLang="en-US" sz="2200" b="1" dirty="0"/>
              <a:t>     </a:t>
            </a:r>
            <a:r>
              <a:rPr lang="en-US" altLang="zh-CN" sz="2200" b="1" dirty="0" err="1">
                <a:solidFill>
                  <a:srgbClr val="FF0000"/>
                </a:solidFill>
              </a:rPr>
              <a:t>LC.elem</a:t>
            </a:r>
            <a:r>
              <a:rPr lang="en-US" altLang="zh-CN" sz="2200" b="1" dirty="0">
                <a:solidFill>
                  <a:srgbClr val="FF0000"/>
                </a:solidFill>
              </a:rPr>
              <a:t>=new </a:t>
            </a:r>
            <a:r>
              <a:rPr lang="en-US" altLang="zh-CN" sz="2200" b="1" dirty="0" err="1">
                <a:solidFill>
                  <a:srgbClr val="FF0000"/>
                </a:solidFill>
              </a:rPr>
              <a:t>ElemType</a:t>
            </a:r>
            <a:r>
              <a:rPr lang="en-US" altLang="zh-CN" sz="2200" b="1" dirty="0">
                <a:solidFill>
                  <a:srgbClr val="FF0000"/>
                </a:solidFill>
              </a:rPr>
              <a:t>[</a:t>
            </a:r>
            <a:r>
              <a:rPr lang="en-US" altLang="zh-CN" sz="2200" b="1" dirty="0" err="1">
                <a:solidFill>
                  <a:srgbClr val="FF0000"/>
                </a:solidFill>
              </a:rPr>
              <a:t>LC.length</a:t>
            </a:r>
            <a:r>
              <a:rPr lang="en-US" altLang="zh-CN" sz="2200" b="1" dirty="0">
                <a:solidFill>
                  <a:srgbClr val="FF0000"/>
                </a:solidFill>
              </a:rPr>
              <a:t>];</a:t>
            </a:r>
            <a:r>
              <a:rPr lang="en-US" altLang="zh-CN" sz="2200" b="1" dirty="0"/>
              <a:t>    	//</a:t>
            </a:r>
            <a:r>
              <a:rPr lang="zh-CN" altLang="en-US" sz="2200" b="1" dirty="0"/>
              <a:t>为合并后的新表分配一个数组空间 </a:t>
            </a:r>
          </a:p>
          <a:p>
            <a:pPr>
              <a:spcBef>
                <a:spcPct val="20000"/>
              </a:spcBef>
            </a:pPr>
            <a:r>
              <a:rPr lang="zh-CN" altLang="en-US" sz="2200" b="1" dirty="0"/>
              <a:t>     </a:t>
            </a:r>
            <a:r>
              <a:rPr lang="en-US" altLang="zh-CN" sz="2200" b="1" dirty="0"/>
              <a:t>pc=</a:t>
            </a:r>
            <a:r>
              <a:rPr lang="en-US" altLang="zh-CN" sz="2200" b="1" dirty="0" err="1"/>
              <a:t>LC.elem</a:t>
            </a:r>
            <a:r>
              <a:rPr lang="en-US" altLang="zh-CN" sz="2200" b="1" dirty="0"/>
              <a:t>;                         		//</a:t>
            </a:r>
            <a:r>
              <a:rPr lang="zh-CN" altLang="en-US" sz="2200" b="1" dirty="0"/>
              <a:t>指针</a:t>
            </a:r>
            <a:r>
              <a:rPr lang="en-US" altLang="zh-CN" sz="2200" b="1" dirty="0"/>
              <a:t>pc</a:t>
            </a:r>
            <a:r>
              <a:rPr lang="zh-CN" altLang="en-US" sz="2200" b="1" dirty="0"/>
              <a:t>指向新表的第一个元素 </a:t>
            </a:r>
          </a:p>
          <a:p>
            <a:pPr>
              <a:spcBef>
                <a:spcPct val="20000"/>
              </a:spcBef>
            </a:pPr>
            <a:r>
              <a:rPr lang="zh-CN" altLang="en-US" sz="2200" b="1" dirty="0"/>
              <a:t>     </a:t>
            </a:r>
            <a:r>
              <a:rPr lang="en-US" altLang="zh-CN" sz="2200" b="1" dirty="0" err="1"/>
              <a:t>pa_last</a:t>
            </a:r>
            <a:r>
              <a:rPr lang="en-US" altLang="zh-CN" sz="2200" b="1" dirty="0"/>
              <a:t>=LA.elem+LA.length-1; 	//</a:t>
            </a:r>
            <a:r>
              <a:rPr lang="zh-CN" altLang="en-US" sz="2200" b="1" dirty="0"/>
              <a:t>指针</a:t>
            </a:r>
            <a:r>
              <a:rPr lang="en-US" altLang="zh-CN" sz="2200" b="1" dirty="0" err="1"/>
              <a:t>pa_last</a:t>
            </a:r>
            <a:r>
              <a:rPr lang="zh-CN" altLang="en-US" sz="2200" b="1" dirty="0"/>
              <a:t>指向</a:t>
            </a:r>
            <a:r>
              <a:rPr lang="en-US" altLang="zh-CN" sz="2200" b="1" dirty="0"/>
              <a:t>LA</a:t>
            </a:r>
            <a:r>
              <a:rPr lang="zh-CN" altLang="en-US" sz="2200" b="1" dirty="0"/>
              <a:t>表的最后一个元素 </a:t>
            </a:r>
          </a:p>
          <a:p>
            <a:pPr>
              <a:spcBef>
                <a:spcPct val="20000"/>
              </a:spcBef>
            </a:pPr>
            <a:r>
              <a:rPr lang="zh-CN" altLang="en-US" sz="2200" b="1" dirty="0"/>
              <a:t>     </a:t>
            </a:r>
            <a:r>
              <a:rPr lang="en-US" altLang="zh-CN" sz="2200" b="1" dirty="0" err="1"/>
              <a:t>pb_last</a:t>
            </a:r>
            <a:r>
              <a:rPr lang="en-US" altLang="zh-CN" sz="2200" b="1" dirty="0"/>
              <a:t>=LB.elem+LB.length-1; 	//</a:t>
            </a:r>
            <a:r>
              <a:rPr lang="zh-CN" altLang="en-US" sz="2200" b="1" dirty="0"/>
              <a:t>指针</a:t>
            </a:r>
            <a:r>
              <a:rPr lang="en-US" altLang="zh-CN" sz="2200" b="1" dirty="0" err="1"/>
              <a:t>pb_last</a:t>
            </a:r>
            <a:r>
              <a:rPr lang="zh-CN" altLang="en-US" sz="2200" b="1" dirty="0"/>
              <a:t>指向</a:t>
            </a:r>
            <a:r>
              <a:rPr lang="en-US" altLang="zh-CN" sz="2200" b="1" dirty="0"/>
              <a:t>LB</a:t>
            </a:r>
            <a:r>
              <a:rPr lang="zh-CN" altLang="en-US" sz="2200" b="1" dirty="0"/>
              <a:t>表的最后一个元素 </a:t>
            </a:r>
          </a:p>
          <a:p>
            <a:pPr>
              <a:spcBef>
                <a:spcPct val="20000"/>
              </a:spcBef>
            </a:pPr>
            <a:r>
              <a:rPr lang="zh-CN" altLang="en-US" sz="2200" b="1" dirty="0"/>
              <a:t>     </a:t>
            </a:r>
            <a:r>
              <a:rPr lang="en-US" altLang="zh-CN" sz="2200" b="1" dirty="0"/>
              <a:t>while(pa&lt;=</a:t>
            </a:r>
            <a:r>
              <a:rPr lang="en-US" altLang="zh-CN" sz="2200" b="1" dirty="0" err="1"/>
              <a:t>pa_last</a:t>
            </a:r>
            <a:r>
              <a:rPr lang="en-US" altLang="zh-CN" sz="2200" b="1" dirty="0"/>
              <a:t> &amp;&amp; </a:t>
            </a:r>
            <a:r>
              <a:rPr lang="en-US" altLang="zh-CN" sz="2200" b="1" dirty="0" err="1"/>
              <a:t>pb</a:t>
            </a:r>
            <a:r>
              <a:rPr lang="en-US" altLang="zh-CN" sz="2200" b="1" dirty="0"/>
              <a:t>&lt;=</a:t>
            </a:r>
            <a:r>
              <a:rPr lang="en-US" altLang="zh-CN" sz="2200" b="1" dirty="0" err="1"/>
              <a:t>pb_last</a:t>
            </a:r>
            <a:r>
              <a:rPr lang="en-US" altLang="zh-CN" sz="2200" b="1" dirty="0"/>
              <a:t>){  	//</a:t>
            </a:r>
            <a:r>
              <a:rPr lang="zh-CN" altLang="en-US" sz="2200" b="1" dirty="0"/>
              <a:t>两个表都非空 </a:t>
            </a:r>
          </a:p>
          <a:p>
            <a:pPr>
              <a:spcBef>
                <a:spcPct val="20000"/>
              </a:spcBef>
            </a:pPr>
            <a:r>
              <a:rPr lang="zh-CN" altLang="en-US" sz="2200" b="1" dirty="0"/>
              <a:t>     </a:t>
            </a:r>
            <a:r>
              <a:rPr lang="en-US" altLang="zh-CN" sz="2200" b="1" dirty="0" smtClean="0"/>
              <a:t>if</a:t>
            </a:r>
            <a:r>
              <a:rPr lang="en-US" altLang="zh-CN" sz="2200" b="1" dirty="0"/>
              <a:t>(*pa&lt;=*</a:t>
            </a:r>
            <a:r>
              <a:rPr lang="en-US" altLang="zh-CN" sz="2200" b="1" dirty="0" err="1"/>
              <a:t>pb</a:t>
            </a:r>
            <a:r>
              <a:rPr lang="en-US" altLang="zh-CN" sz="2200" b="1" dirty="0"/>
              <a:t>) *pc++=*pa++;        		//</a:t>
            </a:r>
            <a:r>
              <a:rPr lang="zh-CN" altLang="en-US" sz="2200" b="1" dirty="0"/>
              <a:t>依次“摘取”两表中值较小的结点       </a:t>
            </a:r>
            <a:r>
              <a:rPr lang="en-US" altLang="zh-CN" sz="2200" b="1" dirty="0"/>
              <a:t>else *pc++=*</a:t>
            </a:r>
            <a:r>
              <a:rPr lang="en-US" altLang="zh-CN" sz="2200" b="1" dirty="0" err="1"/>
              <a:t>pb</a:t>
            </a:r>
            <a:r>
              <a:rPr lang="en-US" altLang="zh-CN" sz="2200" b="1" dirty="0"/>
              <a:t>++;      } </a:t>
            </a:r>
          </a:p>
          <a:p>
            <a:pPr>
              <a:spcBef>
                <a:spcPct val="20000"/>
              </a:spcBef>
            </a:pPr>
            <a:r>
              <a:rPr lang="en-US" altLang="zh-CN" sz="2200" b="1" dirty="0"/>
              <a:t>     while(pa&lt;=</a:t>
            </a:r>
            <a:r>
              <a:rPr lang="en-US" altLang="zh-CN" sz="2200" b="1" dirty="0" err="1"/>
              <a:t>pa_last</a:t>
            </a:r>
            <a:r>
              <a:rPr lang="en-US" altLang="zh-CN" sz="2200" b="1" dirty="0"/>
              <a:t>)  *pc++=*pa++;             //LB</a:t>
            </a:r>
            <a:r>
              <a:rPr lang="zh-CN" altLang="en-US" sz="2200" b="1" dirty="0"/>
              <a:t>表已到达表尾</a:t>
            </a:r>
          </a:p>
          <a:p>
            <a:pPr>
              <a:spcBef>
                <a:spcPct val="20000"/>
              </a:spcBef>
            </a:pPr>
            <a:r>
              <a:rPr lang="zh-CN" altLang="en-US" sz="2200" b="1" dirty="0"/>
              <a:t>     </a:t>
            </a:r>
            <a:r>
              <a:rPr lang="en-US" altLang="zh-CN" sz="2200" b="1" dirty="0"/>
              <a:t>while(</a:t>
            </a:r>
            <a:r>
              <a:rPr lang="en-US" altLang="zh-CN" sz="2200" b="1" dirty="0" err="1"/>
              <a:t>pb</a:t>
            </a:r>
            <a:r>
              <a:rPr lang="en-US" altLang="zh-CN" sz="2200" b="1" dirty="0"/>
              <a:t>&lt;=</a:t>
            </a:r>
            <a:r>
              <a:rPr lang="en-US" altLang="zh-CN" sz="2200" b="1" dirty="0" err="1"/>
              <a:t>pb_last</a:t>
            </a:r>
            <a:r>
              <a:rPr lang="en-US" altLang="zh-CN" sz="2200" b="1" dirty="0"/>
              <a:t>)  *pc++=*</a:t>
            </a:r>
            <a:r>
              <a:rPr lang="en-US" altLang="zh-CN" sz="2200" b="1" dirty="0" err="1"/>
              <a:t>pb</a:t>
            </a:r>
            <a:r>
              <a:rPr lang="en-US" altLang="zh-CN" sz="2200" b="1" dirty="0"/>
              <a:t>++;          //LA</a:t>
            </a:r>
            <a:r>
              <a:rPr lang="zh-CN" altLang="en-US" sz="2200" b="1" dirty="0"/>
              <a:t>表已到达表尾 </a:t>
            </a:r>
          </a:p>
          <a:p>
            <a:pPr>
              <a:spcBef>
                <a:spcPct val="20000"/>
              </a:spcBef>
            </a:pPr>
            <a:r>
              <a:rPr lang="en-US" altLang="zh-CN" sz="2200" b="1" dirty="0"/>
              <a:t>}//</a:t>
            </a:r>
            <a:r>
              <a:rPr lang="en-US" altLang="zh-CN" sz="2200" b="1" dirty="0" err="1"/>
              <a:t>MergeList_Sq</a:t>
            </a:r>
            <a:r>
              <a:rPr lang="en-US" altLang="zh-CN" sz="2200" dirty="0"/>
              <a:t> 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5236703" y="5566570"/>
            <a:ext cx="6926263" cy="1138238"/>
            <a:chOff x="691" y="3226"/>
            <a:chExt cx="4363" cy="717"/>
          </a:xfrm>
        </p:grpSpPr>
        <p:sp>
          <p:nvSpPr>
            <p:cNvPr id="20488" name="Text Box 8"/>
            <p:cNvSpPr txBox="1">
              <a:spLocks noChangeArrowheads="1"/>
            </p:cNvSpPr>
            <p:nvPr/>
          </p:nvSpPr>
          <p:spPr bwMode="auto">
            <a:xfrm>
              <a:off x="691" y="3226"/>
              <a:ext cx="1330" cy="717"/>
            </a:xfrm>
            <a:prstGeom prst="rect">
              <a:avLst/>
            </a:prstGeom>
            <a:solidFill>
              <a:srgbClr val="FFFF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3200" b="1" dirty="0"/>
                <a:t>T(n)=</a:t>
              </a:r>
            </a:p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FF0000"/>
                  </a:solidFill>
                </a:rPr>
                <a:t>S(n)= O(n)</a:t>
              </a:r>
            </a:p>
          </p:txBody>
        </p:sp>
        <p:graphicFrame>
          <p:nvGraphicFramePr>
            <p:cNvPr id="20482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30300430"/>
                </p:ext>
              </p:extLst>
            </p:nvPr>
          </p:nvGraphicFramePr>
          <p:xfrm>
            <a:off x="1449" y="3264"/>
            <a:ext cx="3605" cy="3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18" name="Equation" r:id="rId3" imgW="1752480" imgH="164880" progId="Equation.DSMT4">
                    <p:embed/>
                  </p:oleObj>
                </mc:Choice>
                <mc:Fallback>
                  <p:oleObj name="Equation" r:id="rId3" imgW="17524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9" y="3264"/>
                          <a:ext cx="3605" cy="334"/>
                        </a:xfrm>
                        <a:prstGeom prst="rect">
                          <a:avLst/>
                        </a:prstGeom>
                        <a:solidFill>
                          <a:srgbClr val="CCFFCC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487" name="Rectangle 11"/>
          <p:cNvSpPr>
            <a:spLocks noChangeArrowheads="1"/>
          </p:cNvSpPr>
          <p:nvPr/>
        </p:nvSpPr>
        <p:spPr bwMode="auto">
          <a:xfrm>
            <a:off x="1528763" y="-26988"/>
            <a:ext cx="8096250" cy="606426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r>
              <a:rPr lang="en-US" altLang="zh-CN" sz="4400" b="1">
                <a:ea typeface="楷体_GB2312"/>
                <a:cs typeface="楷体_GB2312"/>
              </a:rPr>
              <a:t>【</a:t>
            </a:r>
            <a:r>
              <a:rPr lang="zh-CN" altLang="en-US" sz="4400" b="1">
                <a:ea typeface="楷体_GB2312"/>
                <a:cs typeface="楷体_GB2312"/>
              </a:rPr>
              <a:t>算法描述</a:t>
            </a:r>
            <a:r>
              <a:rPr lang="en-US" altLang="zh-CN" sz="4400" b="1">
                <a:ea typeface="楷体_GB2312"/>
                <a:cs typeface="楷体_GB2312"/>
              </a:rPr>
              <a:t>】</a:t>
            </a:r>
            <a:r>
              <a:rPr lang="zh-CN" altLang="en-US" sz="4400" b="1">
                <a:ea typeface="楷体_GB2312"/>
                <a:cs typeface="楷体_GB2312"/>
              </a:rPr>
              <a:t>－</a:t>
            </a:r>
            <a:r>
              <a:rPr lang="zh-CN" altLang="en-US" sz="3200" b="1">
                <a:latin typeface="楷体_GB2312"/>
                <a:ea typeface="楷体_GB2312"/>
                <a:cs typeface="楷体_GB2312"/>
              </a:rPr>
              <a:t>有序的顺序表合并</a:t>
            </a:r>
          </a:p>
        </p:txBody>
      </p:sp>
    </p:spTree>
    <p:extLst>
      <p:ext uri="{BB962C8B-B14F-4D97-AF65-F5344CB8AC3E}">
        <p14:creationId xmlns:p14="http://schemas.microsoft.com/office/powerpoint/2010/main" val="1113212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2" name="Rectangle 4"/>
          <p:cNvSpPr>
            <a:spLocks noChangeArrowheads="1"/>
          </p:cNvSpPr>
          <p:nvPr/>
        </p:nvSpPr>
        <p:spPr bwMode="auto">
          <a:xfrm>
            <a:off x="768927" y="1393285"/>
            <a:ext cx="9791123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3200" b="1" dirty="0">
                <a:latin typeface="楷体_GB2312"/>
                <a:ea typeface="楷体_GB2312"/>
                <a:cs typeface="楷体_GB2312"/>
              </a:rPr>
              <a:t>将这两个有序链表合并成一个有序的单链表。</a:t>
            </a: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ü"/>
            </a:pPr>
            <a:endParaRPr lang="zh-CN" altLang="en-US" sz="3200" b="1" dirty="0">
              <a:latin typeface="楷体_GB2312"/>
              <a:ea typeface="楷体_GB2312"/>
              <a:cs typeface="楷体_GB2312"/>
            </a:endParaRP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3200" b="1" dirty="0">
                <a:latin typeface="楷体_GB2312"/>
                <a:ea typeface="楷体_GB2312"/>
                <a:cs typeface="楷体_GB2312"/>
              </a:rPr>
              <a:t>要求结果链表仍使用原来两个链表的存储空间</a:t>
            </a:r>
            <a:r>
              <a:rPr lang="en-US" altLang="zh-CN" sz="3200" b="1" dirty="0">
                <a:latin typeface="楷体_GB2312"/>
                <a:ea typeface="楷体_GB2312"/>
                <a:cs typeface="楷体_GB2312"/>
              </a:rPr>
              <a:t>, </a:t>
            </a:r>
            <a:r>
              <a:rPr lang="zh-CN" altLang="en-US" sz="3200" b="1" dirty="0">
                <a:latin typeface="楷体_GB2312"/>
                <a:ea typeface="楷体_GB2312"/>
                <a:cs typeface="楷体_GB2312"/>
              </a:rPr>
              <a:t>不另外占用其它的存储空间。</a:t>
            </a: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ü"/>
            </a:pPr>
            <a:endParaRPr lang="zh-CN" altLang="en-US" sz="3200" b="1" dirty="0">
              <a:latin typeface="楷体_GB2312"/>
              <a:ea typeface="楷体_GB2312"/>
              <a:cs typeface="楷体_GB2312"/>
            </a:endParaRP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3200" b="1" dirty="0">
                <a:latin typeface="楷体_GB2312"/>
                <a:ea typeface="楷体_GB2312"/>
                <a:cs typeface="楷体_GB2312"/>
              </a:rPr>
              <a:t>表中允许有重复的数据。 </a:t>
            </a:r>
          </a:p>
        </p:txBody>
      </p:sp>
      <p:sp>
        <p:nvSpPr>
          <p:cNvPr id="602117" name="Rectangle 5"/>
          <p:cNvSpPr>
            <a:spLocks noChangeArrowheads="1"/>
          </p:cNvSpPr>
          <p:nvPr/>
        </p:nvSpPr>
        <p:spPr bwMode="auto">
          <a:xfrm>
            <a:off x="847798" y="0"/>
            <a:ext cx="7483403" cy="820948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0" hangingPunct="0">
              <a:defRPr/>
            </a:pP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有序链表合并</a:t>
            </a:r>
            <a:r>
              <a:rPr lang="zh-CN" altLang="en-US" sz="3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49" charset="-122"/>
              </a:rPr>
              <a:t>－－重点掌握</a:t>
            </a:r>
          </a:p>
        </p:txBody>
      </p:sp>
    </p:spTree>
    <p:extLst>
      <p:ext uri="{BB962C8B-B14F-4D97-AF65-F5344CB8AC3E}">
        <p14:creationId xmlns:p14="http://schemas.microsoft.com/office/powerpoint/2010/main" val="1337096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6" name="Text Box 152"/>
          <p:cNvSpPr txBox="1">
            <a:spLocks noChangeArrowheads="1"/>
          </p:cNvSpPr>
          <p:nvPr/>
        </p:nvSpPr>
        <p:spPr bwMode="auto">
          <a:xfrm>
            <a:off x="1666875" y="582614"/>
            <a:ext cx="5984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3200">
                <a:latin typeface="Tahoma" panose="020B0604030504040204" pitchFamily="34" charset="0"/>
                <a:ea typeface="宋体" panose="02010600030101010101" pitchFamily="2" charset="-122"/>
              </a:rPr>
              <a:t>La</a:t>
            </a:r>
          </a:p>
        </p:txBody>
      </p:sp>
      <p:grpSp>
        <p:nvGrpSpPr>
          <p:cNvPr id="151557" name="Group 105"/>
          <p:cNvGrpSpPr>
            <a:grpSpLocks/>
          </p:cNvGrpSpPr>
          <p:nvPr/>
        </p:nvGrpSpPr>
        <p:grpSpPr bwMode="auto">
          <a:xfrm>
            <a:off x="3571875" y="809625"/>
            <a:ext cx="838200" cy="381000"/>
            <a:chOff x="1968" y="1344"/>
            <a:chExt cx="528" cy="240"/>
          </a:xfrm>
        </p:grpSpPr>
        <p:sp>
          <p:nvSpPr>
            <p:cNvPr id="151685" name="Rectangle 106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1686" name="Rectangle 107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51558" name="Group 108"/>
          <p:cNvGrpSpPr>
            <a:grpSpLocks/>
          </p:cNvGrpSpPr>
          <p:nvPr/>
        </p:nvGrpSpPr>
        <p:grpSpPr bwMode="auto">
          <a:xfrm>
            <a:off x="4791075" y="809625"/>
            <a:ext cx="838200" cy="381000"/>
            <a:chOff x="1968" y="1344"/>
            <a:chExt cx="528" cy="240"/>
          </a:xfrm>
        </p:grpSpPr>
        <p:sp>
          <p:nvSpPr>
            <p:cNvPr id="151683" name="Rectangle 109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1684" name="Rectangle 110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51559" name="Group 111"/>
          <p:cNvGrpSpPr>
            <a:grpSpLocks/>
          </p:cNvGrpSpPr>
          <p:nvPr/>
        </p:nvGrpSpPr>
        <p:grpSpPr bwMode="auto">
          <a:xfrm>
            <a:off x="6010275" y="809625"/>
            <a:ext cx="838200" cy="381000"/>
            <a:chOff x="1968" y="1344"/>
            <a:chExt cx="528" cy="240"/>
          </a:xfrm>
        </p:grpSpPr>
        <p:sp>
          <p:nvSpPr>
            <p:cNvPr id="151681" name="Rectangle 112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1682" name="Rectangle 113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51560" name="Group 114"/>
          <p:cNvGrpSpPr>
            <a:grpSpLocks/>
          </p:cNvGrpSpPr>
          <p:nvPr/>
        </p:nvGrpSpPr>
        <p:grpSpPr bwMode="auto">
          <a:xfrm>
            <a:off x="2428875" y="809625"/>
            <a:ext cx="838200" cy="381000"/>
            <a:chOff x="1968" y="1344"/>
            <a:chExt cx="528" cy="240"/>
          </a:xfrm>
        </p:grpSpPr>
        <p:sp>
          <p:nvSpPr>
            <p:cNvPr id="151679" name="Rectangle 115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1680" name="Rectangle 116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sp>
        <p:nvSpPr>
          <p:cNvPr id="151561" name="Line 117"/>
          <p:cNvSpPr>
            <a:spLocks noChangeShapeType="1"/>
          </p:cNvSpPr>
          <p:nvPr/>
        </p:nvSpPr>
        <p:spPr bwMode="auto">
          <a:xfrm>
            <a:off x="2047875" y="1038225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1562" name="Line 139"/>
          <p:cNvSpPr>
            <a:spLocks noChangeShapeType="1"/>
          </p:cNvSpPr>
          <p:nvPr/>
        </p:nvSpPr>
        <p:spPr bwMode="auto">
          <a:xfrm>
            <a:off x="3114675" y="1038225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1563" name="Line 140"/>
          <p:cNvSpPr>
            <a:spLocks noChangeShapeType="1"/>
          </p:cNvSpPr>
          <p:nvPr/>
        </p:nvSpPr>
        <p:spPr bwMode="auto">
          <a:xfrm>
            <a:off x="4333875" y="1038225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1564" name="Line 141"/>
          <p:cNvSpPr>
            <a:spLocks noChangeShapeType="1"/>
          </p:cNvSpPr>
          <p:nvPr/>
        </p:nvSpPr>
        <p:spPr bwMode="auto">
          <a:xfrm>
            <a:off x="5553075" y="1038225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1565" name="Text Box 153"/>
          <p:cNvSpPr txBox="1">
            <a:spLocks noChangeArrowheads="1"/>
          </p:cNvSpPr>
          <p:nvPr/>
        </p:nvSpPr>
        <p:spPr bwMode="auto">
          <a:xfrm>
            <a:off x="3687764" y="74295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51566" name="Text Box 157"/>
          <p:cNvSpPr txBox="1">
            <a:spLocks noChangeArrowheads="1"/>
          </p:cNvSpPr>
          <p:nvPr/>
        </p:nvSpPr>
        <p:spPr bwMode="auto">
          <a:xfrm>
            <a:off x="4870451" y="74295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151567" name="Text Box 158"/>
          <p:cNvSpPr txBox="1">
            <a:spLocks noChangeArrowheads="1"/>
          </p:cNvSpPr>
          <p:nvPr/>
        </p:nvSpPr>
        <p:spPr bwMode="auto">
          <a:xfrm>
            <a:off x="6126164" y="74295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8</a:t>
            </a:r>
          </a:p>
        </p:txBody>
      </p:sp>
      <p:grpSp>
        <p:nvGrpSpPr>
          <p:cNvPr id="151568" name="Group 118"/>
          <p:cNvGrpSpPr>
            <a:grpSpLocks/>
          </p:cNvGrpSpPr>
          <p:nvPr/>
        </p:nvGrpSpPr>
        <p:grpSpPr bwMode="auto">
          <a:xfrm>
            <a:off x="3606800" y="1573213"/>
            <a:ext cx="838200" cy="381000"/>
            <a:chOff x="1968" y="1344"/>
            <a:chExt cx="528" cy="240"/>
          </a:xfrm>
        </p:grpSpPr>
        <p:sp>
          <p:nvSpPr>
            <p:cNvPr id="151677" name="Rectangle 119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1678" name="Rectangle 120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51569" name="Group 121"/>
          <p:cNvGrpSpPr>
            <a:grpSpLocks/>
          </p:cNvGrpSpPr>
          <p:nvPr/>
        </p:nvGrpSpPr>
        <p:grpSpPr bwMode="auto">
          <a:xfrm>
            <a:off x="4749800" y="1573213"/>
            <a:ext cx="838200" cy="381000"/>
            <a:chOff x="1968" y="1344"/>
            <a:chExt cx="528" cy="240"/>
          </a:xfrm>
        </p:grpSpPr>
        <p:sp>
          <p:nvSpPr>
            <p:cNvPr id="151675" name="Rectangle 122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1676" name="Rectangle 123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51570" name="Group 124"/>
          <p:cNvGrpSpPr>
            <a:grpSpLocks/>
          </p:cNvGrpSpPr>
          <p:nvPr/>
        </p:nvGrpSpPr>
        <p:grpSpPr bwMode="auto">
          <a:xfrm>
            <a:off x="5969000" y="1573213"/>
            <a:ext cx="838200" cy="381000"/>
            <a:chOff x="1968" y="1344"/>
            <a:chExt cx="528" cy="240"/>
          </a:xfrm>
        </p:grpSpPr>
        <p:sp>
          <p:nvSpPr>
            <p:cNvPr id="151673" name="Rectangle 125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1674" name="Rectangle 126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51571" name="Group 127"/>
          <p:cNvGrpSpPr>
            <a:grpSpLocks/>
          </p:cNvGrpSpPr>
          <p:nvPr/>
        </p:nvGrpSpPr>
        <p:grpSpPr bwMode="auto">
          <a:xfrm>
            <a:off x="7188200" y="1573213"/>
            <a:ext cx="838200" cy="381000"/>
            <a:chOff x="1968" y="1344"/>
            <a:chExt cx="528" cy="240"/>
          </a:xfrm>
        </p:grpSpPr>
        <p:sp>
          <p:nvSpPr>
            <p:cNvPr id="151671" name="Rectangle 128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1672" name="Rectangle 129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51572" name="Group 130"/>
          <p:cNvGrpSpPr>
            <a:grpSpLocks/>
          </p:cNvGrpSpPr>
          <p:nvPr/>
        </p:nvGrpSpPr>
        <p:grpSpPr bwMode="auto">
          <a:xfrm>
            <a:off x="8331200" y="1573213"/>
            <a:ext cx="838200" cy="381000"/>
            <a:chOff x="1968" y="1344"/>
            <a:chExt cx="528" cy="240"/>
          </a:xfrm>
        </p:grpSpPr>
        <p:sp>
          <p:nvSpPr>
            <p:cNvPr id="151669" name="Rectangle 131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1670" name="Rectangle 132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51573" name="Group 133"/>
          <p:cNvGrpSpPr>
            <a:grpSpLocks/>
          </p:cNvGrpSpPr>
          <p:nvPr/>
        </p:nvGrpSpPr>
        <p:grpSpPr bwMode="auto">
          <a:xfrm>
            <a:off x="9474200" y="1573213"/>
            <a:ext cx="838200" cy="381000"/>
            <a:chOff x="1968" y="1344"/>
            <a:chExt cx="528" cy="240"/>
          </a:xfrm>
        </p:grpSpPr>
        <p:sp>
          <p:nvSpPr>
            <p:cNvPr id="151667" name="Rectangle 134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1668" name="Rectangle 135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sp>
        <p:nvSpPr>
          <p:cNvPr id="151574" name="Line 136"/>
          <p:cNvSpPr>
            <a:spLocks noChangeShapeType="1"/>
          </p:cNvSpPr>
          <p:nvPr/>
        </p:nvSpPr>
        <p:spPr bwMode="auto">
          <a:xfrm>
            <a:off x="4292600" y="1725613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1575" name="Line 137"/>
          <p:cNvSpPr>
            <a:spLocks noChangeShapeType="1"/>
          </p:cNvSpPr>
          <p:nvPr/>
        </p:nvSpPr>
        <p:spPr bwMode="auto">
          <a:xfrm>
            <a:off x="6731000" y="1725613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1576" name="Line 138"/>
          <p:cNvSpPr>
            <a:spLocks noChangeShapeType="1"/>
          </p:cNvSpPr>
          <p:nvPr/>
        </p:nvSpPr>
        <p:spPr bwMode="auto">
          <a:xfrm>
            <a:off x="7874000" y="1725613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1577" name="Line 142"/>
          <p:cNvSpPr>
            <a:spLocks noChangeShapeType="1"/>
          </p:cNvSpPr>
          <p:nvPr/>
        </p:nvSpPr>
        <p:spPr bwMode="auto">
          <a:xfrm>
            <a:off x="5511800" y="1725613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1578" name="Line 143"/>
          <p:cNvSpPr>
            <a:spLocks noChangeShapeType="1"/>
          </p:cNvSpPr>
          <p:nvPr/>
        </p:nvSpPr>
        <p:spPr bwMode="auto">
          <a:xfrm>
            <a:off x="9017000" y="1725613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1579" name="Text Box 154"/>
          <p:cNvSpPr txBox="1">
            <a:spLocks noChangeArrowheads="1"/>
          </p:cNvSpPr>
          <p:nvPr/>
        </p:nvSpPr>
        <p:spPr bwMode="auto">
          <a:xfrm>
            <a:off x="3748089" y="1497013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51580" name="Text Box 155"/>
          <p:cNvSpPr txBox="1">
            <a:spLocks noChangeArrowheads="1"/>
          </p:cNvSpPr>
          <p:nvPr/>
        </p:nvSpPr>
        <p:spPr bwMode="auto">
          <a:xfrm>
            <a:off x="4865689" y="1497013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51581" name="Text Box 156"/>
          <p:cNvSpPr txBox="1">
            <a:spLocks noChangeArrowheads="1"/>
          </p:cNvSpPr>
          <p:nvPr/>
        </p:nvSpPr>
        <p:spPr bwMode="auto">
          <a:xfrm>
            <a:off x="6045201" y="1538288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151582" name="Text Box 159"/>
          <p:cNvSpPr txBox="1">
            <a:spLocks noChangeArrowheads="1"/>
          </p:cNvSpPr>
          <p:nvPr/>
        </p:nvSpPr>
        <p:spPr bwMode="auto">
          <a:xfrm>
            <a:off x="7304089" y="1538288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151583" name="Text Box 160"/>
          <p:cNvSpPr txBox="1">
            <a:spLocks noChangeArrowheads="1"/>
          </p:cNvSpPr>
          <p:nvPr/>
        </p:nvSpPr>
        <p:spPr bwMode="auto">
          <a:xfrm>
            <a:off x="8324850" y="1538288"/>
            <a:ext cx="571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151584" name="Text Box 161"/>
          <p:cNvSpPr txBox="1">
            <a:spLocks noChangeArrowheads="1"/>
          </p:cNvSpPr>
          <p:nvPr/>
        </p:nvSpPr>
        <p:spPr bwMode="auto">
          <a:xfrm>
            <a:off x="9477375" y="1538288"/>
            <a:ext cx="571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11</a:t>
            </a:r>
          </a:p>
        </p:txBody>
      </p:sp>
      <p:grpSp>
        <p:nvGrpSpPr>
          <p:cNvPr id="151585" name="Group 168"/>
          <p:cNvGrpSpPr>
            <a:grpSpLocks/>
          </p:cNvGrpSpPr>
          <p:nvPr/>
        </p:nvGrpSpPr>
        <p:grpSpPr bwMode="auto">
          <a:xfrm>
            <a:off x="2392363" y="1563688"/>
            <a:ext cx="838200" cy="381000"/>
            <a:chOff x="1968" y="1344"/>
            <a:chExt cx="528" cy="240"/>
          </a:xfrm>
        </p:grpSpPr>
        <p:sp>
          <p:nvSpPr>
            <p:cNvPr id="151665" name="Rectangle 169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1666" name="Rectangle 170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sp>
        <p:nvSpPr>
          <p:cNvPr id="151586" name="Line 171"/>
          <p:cNvSpPr>
            <a:spLocks noChangeShapeType="1"/>
          </p:cNvSpPr>
          <p:nvPr/>
        </p:nvSpPr>
        <p:spPr bwMode="auto">
          <a:xfrm>
            <a:off x="3154363" y="1792288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151587" name="Group 179"/>
          <p:cNvGrpSpPr>
            <a:grpSpLocks/>
          </p:cNvGrpSpPr>
          <p:nvPr/>
        </p:nvGrpSpPr>
        <p:grpSpPr bwMode="auto">
          <a:xfrm>
            <a:off x="1630363" y="1282700"/>
            <a:ext cx="762000" cy="579438"/>
            <a:chOff x="834" y="1888"/>
            <a:chExt cx="480" cy="365"/>
          </a:xfrm>
        </p:grpSpPr>
        <p:sp>
          <p:nvSpPr>
            <p:cNvPr id="151663" name="Line 180"/>
            <p:cNvSpPr>
              <a:spLocks noChangeShapeType="1"/>
            </p:cNvSpPr>
            <p:nvPr/>
          </p:nvSpPr>
          <p:spPr bwMode="auto">
            <a:xfrm>
              <a:off x="1074" y="2175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1664" name="Text Box 181"/>
            <p:cNvSpPr txBox="1">
              <a:spLocks noChangeArrowheads="1"/>
            </p:cNvSpPr>
            <p:nvPr/>
          </p:nvSpPr>
          <p:spPr bwMode="auto">
            <a:xfrm>
              <a:off x="834" y="1888"/>
              <a:ext cx="38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 eaLnBrk="1" hangingPunct="1"/>
              <a:r>
                <a:rPr lang="en-US" altLang="zh-CN" sz="3200">
                  <a:latin typeface="Tahoma" panose="020B0604030504040204" pitchFamily="34" charset="0"/>
                  <a:ea typeface="宋体" panose="02010600030101010101" pitchFamily="2" charset="-122"/>
                </a:rPr>
                <a:t>Lb</a:t>
              </a:r>
            </a:p>
          </p:txBody>
        </p:sp>
      </p:grpSp>
      <p:grpSp>
        <p:nvGrpSpPr>
          <p:cNvPr id="14" name="Group 189"/>
          <p:cNvGrpSpPr>
            <a:grpSpLocks/>
          </p:cNvGrpSpPr>
          <p:nvPr/>
        </p:nvGrpSpPr>
        <p:grpSpPr bwMode="auto">
          <a:xfrm>
            <a:off x="1885950" y="1995488"/>
            <a:ext cx="7920038" cy="2906712"/>
            <a:chOff x="228" y="1257"/>
            <a:chExt cx="4989" cy="1831"/>
          </a:xfrm>
        </p:grpSpPr>
        <p:grpSp>
          <p:nvGrpSpPr>
            <p:cNvPr id="151590" name="Group 5"/>
            <p:cNvGrpSpPr>
              <a:grpSpLocks/>
            </p:cNvGrpSpPr>
            <p:nvPr/>
          </p:nvGrpSpPr>
          <p:grpSpPr bwMode="auto">
            <a:xfrm>
              <a:off x="1905" y="1814"/>
              <a:ext cx="528" cy="240"/>
              <a:chOff x="1968" y="1344"/>
              <a:chExt cx="528" cy="240"/>
            </a:xfrm>
          </p:grpSpPr>
          <p:sp>
            <p:nvSpPr>
              <p:cNvPr id="151661" name="Rectangle 6"/>
              <p:cNvSpPr>
                <a:spLocks noChangeArrowheads="1"/>
              </p:cNvSpPr>
              <p:nvPr/>
            </p:nvSpPr>
            <p:spPr bwMode="auto">
              <a:xfrm>
                <a:off x="1968" y="1344"/>
                <a:ext cx="384" cy="240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151662" name="Rectangle 7"/>
              <p:cNvSpPr>
                <a:spLocks noChangeArrowheads="1"/>
              </p:cNvSpPr>
              <p:nvPr/>
            </p:nvSpPr>
            <p:spPr bwMode="auto">
              <a:xfrm>
                <a:off x="2352" y="1344"/>
                <a:ext cx="144" cy="240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</p:grpSp>
        <p:grpSp>
          <p:nvGrpSpPr>
            <p:cNvPr id="151591" name="Group 10"/>
            <p:cNvGrpSpPr>
              <a:grpSpLocks/>
            </p:cNvGrpSpPr>
            <p:nvPr/>
          </p:nvGrpSpPr>
          <p:grpSpPr bwMode="auto">
            <a:xfrm>
              <a:off x="2673" y="1814"/>
              <a:ext cx="528" cy="240"/>
              <a:chOff x="1968" y="1344"/>
              <a:chExt cx="528" cy="240"/>
            </a:xfrm>
          </p:grpSpPr>
          <p:sp>
            <p:nvSpPr>
              <p:cNvPr id="151659" name="Rectangle 11"/>
              <p:cNvSpPr>
                <a:spLocks noChangeArrowheads="1"/>
              </p:cNvSpPr>
              <p:nvPr/>
            </p:nvSpPr>
            <p:spPr bwMode="auto">
              <a:xfrm>
                <a:off x="1968" y="1344"/>
                <a:ext cx="384" cy="240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151660" name="Rectangle 12"/>
              <p:cNvSpPr>
                <a:spLocks noChangeArrowheads="1"/>
              </p:cNvSpPr>
              <p:nvPr/>
            </p:nvSpPr>
            <p:spPr bwMode="auto">
              <a:xfrm>
                <a:off x="2352" y="1344"/>
                <a:ext cx="144" cy="240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</p:grpSp>
        <p:grpSp>
          <p:nvGrpSpPr>
            <p:cNvPr id="151592" name="Group 13"/>
            <p:cNvGrpSpPr>
              <a:grpSpLocks/>
            </p:cNvGrpSpPr>
            <p:nvPr/>
          </p:nvGrpSpPr>
          <p:grpSpPr bwMode="auto">
            <a:xfrm>
              <a:off x="3441" y="1814"/>
              <a:ext cx="528" cy="240"/>
              <a:chOff x="1968" y="1344"/>
              <a:chExt cx="528" cy="240"/>
            </a:xfrm>
          </p:grpSpPr>
          <p:sp>
            <p:nvSpPr>
              <p:cNvPr id="151657" name="Rectangle 14"/>
              <p:cNvSpPr>
                <a:spLocks noChangeArrowheads="1"/>
              </p:cNvSpPr>
              <p:nvPr/>
            </p:nvSpPr>
            <p:spPr bwMode="auto">
              <a:xfrm>
                <a:off x="1968" y="1344"/>
                <a:ext cx="384" cy="240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151658" name="Rectangle 15"/>
              <p:cNvSpPr>
                <a:spLocks noChangeArrowheads="1"/>
              </p:cNvSpPr>
              <p:nvPr/>
            </p:nvSpPr>
            <p:spPr bwMode="auto">
              <a:xfrm>
                <a:off x="2352" y="1344"/>
                <a:ext cx="144" cy="240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</p:grpSp>
        <p:grpSp>
          <p:nvGrpSpPr>
            <p:cNvPr id="151593" name="Group 19"/>
            <p:cNvGrpSpPr>
              <a:grpSpLocks/>
            </p:cNvGrpSpPr>
            <p:nvPr/>
          </p:nvGrpSpPr>
          <p:grpSpPr bwMode="auto">
            <a:xfrm>
              <a:off x="1185" y="1814"/>
              <a:ext cx="528" cy="240"/>
              <a:chOff x="1968" y="1344"/>
              <a:chExt cx="528" cy="240"/>
            </a:xfrm>
          </p:grpSpPr>
          <p:sp>
            <p:nvSpPr>
              <p:cNvPr id="151655" name="Rectangle 20"/>
              <p:cNvSpPr>
                <a:spLocks noChangeArrowheads="1"/>
              </p:cNvSpPr>
              <p:nvPr/>
            </p:nvSpPr>
            <p:spPr bwMode="auto">
              <a:xfrm>
                <a:off x="1968" y="1344"/>
                <a:ext cx="384" cy="240"/>
              </a:xfrm>
              <a:prstGeom prst="rect">
                <a:avLst/>
              </a:prstGeom>
              <a:solidFill>
                <a:srgbClr val="CC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151656" name="Rectangle 21"/>
              <p:cNvSpPr>
                <a:spLocks noChangeArrowheads="1"/>
              </p:cNvSpPr>
              <p:nvPr/>
            </p:nvSpPr>
            <p:spPr bwMode="auto">
              <a:xfrm>
                <a:off x="2352" y="1344"/>
                <a:ext cx="144" cy="240"/>
              </a:xfrm>
              <a:prstGeom prst="rect">
                <a:avLst/>
              </a:prstGeom>
              <a:solidFill>
                <a:srgbClr val="CC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</p:grpSp>
        <p:grpSp>
          <p:nvGrpSpPr>
            <p:cNvPr id="151594" name="Group 27"/>
            <p:cNvGrpSpPr>
              <a:grpSpLocks/>
            </p:cNvGrpSpPr>
            <p:nvPr/>
          </p:nvGrpSpPr>
          <p:grpSpPr bwMode="auto">
            <a:xfrm>
              <a:off x="993" y="2822"/>
              <a:ext cx="528" cy="240"/>
              <a:chOff x="1968" y="1344"/>
              <a:chExt cx="528" cy="240"/>
            </a:xfrm>
          </p:grpSpPr>
          <p:sp>
            <p:nvSpPr>
              <p:cNvPr id="151653" name="Rectangle 28"/>
              <p:cNvSpPr>
                <a:spLocks noChangeArrowheads="1"/>
              </p:cNvSpPr>
              <p:nvPr/>
            </p:nvSpPr>
            <p:spPr bwMode="auto">
              <a:xfrm>
                <a:off x="1968" y="1344"/>
                <a:ext cx="384" cy="240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151654" name="Rectangle 29"/>
              <p:cNvSpPr>
                <a:spLocks noChangeArrowheads="1"/>
              </p:cNvSpPr>
              <p:nvPr/>
            </p:nvSpPr>
            <p:spPr bwMode="auto">
              <a:xfrm>
                <a:off x="2352" y="1344"/>
                <a:ext cx="144" cy="240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</p:grpSp>
        <p:grpSp>
          <p:nvGrpSpPr>
            <p:cNvPr id="151595" name="Group 30"/>
            <p:cNvGrpSpPr>
              <a:grpSpLocks/>
            </p:cNvGrpSpPr>
            <p:nvPr/>
          </p:nvGrpSpPr>
          <p:grpSpPr bwMode="auto">
            <a:xfrm>
              <a:off x="1713" y="2822"/>
              <a:ext cx="528" cy="240"/>
              <a:chOff x="1968" y="1344"/>
              <a:chExt cx="528" cy="240"/>
            </a:xfrm>
          </p:grpSpPr>
          <p:sp>
            <p:nvSpPr>
              <p:cNvPr id="151651" name="Rectangle 31"/>
              <p:cNvSpPr>
                <a:spLocks noChangeArrowheads="1"/>
              </p:cNvSpPr>
              <p:nvPr/>
            </p:nvSpPr>
            <p:spPr bwMode="auto">
              <a:xfrm>
                <a:off x="1968" y="1344"/>
                <a:ext cx="384" cy="240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151652" name="Rectangle 32"/>
              <p:cNvSpPr>
                <a:spLocks noChangeArrowheads="1"/>
              </p:cNvSpPr>
              <p:nvPr/>
            </p:nvSpPr>
            <p:spPr bwMode="auto">
              <a:xfrm>
                <a:off x="2352" y="1344"/>
                <a:ext cx="144" cy="240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</p:grpSp>
        <p:grpSp>
          <p:nvGrpSpPr>
            <p:cNvPr id="151596" name="Group 33"/>
            <p:cNvGrpSpPr>
              <a:grpSpLocks/>
            </p:cNvGrpSpPr>
            <p:nvPr/>
          </p:nvGrpSpPr>
          <p:grpSpPr bwMode="auto">
            <a:xfrm>
              <a:off x="2481" y="2822"/>
              <a:ext cx="528" cy="240"/>
              <a:chOff x="1968" y="1344"/>
              <a:chExt cx="528" cy="240"/>
            </a:xfrm>
          </p:grpSpPr>
          <p:sp>
            <p:nvSpPr>
              <p:cNvPr id="151649" name="Rectangle 34"/>
              <p:cNvSpPr>
                <a:spLocks noChangeArrowheads="1"/>
              </p:cNvSpPr>
              <p:nvPr/>
            </p:nvSpPr>
            <p:spPr bwMode="auto">
              <a:xfrm>
                <a:off x="1968" y="1344"/>
                <a:ext cx="384" cy="240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151650" name="Rectangle 35"/>
              <p:cNvSpPr>
                <a:spLocks noChangeArrowheads="1"/>
              </p:cNvSpPr>
              <p:nvPr/>
            </p:nvSpPr>
            <p:spPr bwMode="auto">
              <a:xfrm>
                <a:off x="2352" y="1344"/>
                <a:ext cx="144" cy="240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</p:grpSp>
        <p:grpSp>
          <p:nvGrpSpPr>
            <p:cNvPr id="151597" name="Group 36"/>
            <p:cNvGrpSpPr>
              <a:grpSpLocks/>
            </p:cNvGrpSpPr>
            <p:nvPr/>
          </p:nvGrpSpPr>
          <p:grpSpPr bwMode="auto">
            <a:xfrm>
              <a:off x="3249" y="2822"/>
              <a:ext cx="528" cy="240"/>
              <a:chOff x="1968" y="1344"/>
              <a:chExt cx="528" cy="240"/>
            </a:xfrm>
          </p:grpSpPr>
          <p:sp>
            <p:nvSpPr>
              <p:cNvPr id="151647" name="Rectangle 37"/>
              <p:cNvSpPr>
                <a:spLocks noChangeArrowheads="1"/>
              </p:cNvSpPr>
              <p:nvPr/>
            </p:nvSpPr>
            <p:spPr bwMode="auto">
              <a:xfrm>
                <a:off x="1968" y="1344"/>
                <a:ext cx="384" cy="240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151648" name="Rectangle 38"/>
              <p:cNvSpPr>
                <a:spLocks noChangeArrowheads="1"/>
              </p:cNvSpPr>
              <p:nvPr/>
            </p:nvSpPr>
            <p:spPr bwMode="auto">
              <a:xfrm>
                <a:off x="2352" y="1344"/>
                <a:ext cx="144" cy="240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</p:grpSp>
        <p:grpSp>
          <p:nvGrpSpPr>
            <p:cNvPr id="151598" name="Group 39"/>
            <p:cNvGrpSpPr>
              <a:grpSpLocks/>
            </p:cNvGrpSpPr>
            <p:nvPr/>
          </p:nvGrpSpPr>
          <p:grpSpPr bwMode="auto">
            <a:xfrm>
              <a:off x="3969" y="2822"/>
              <a:ext cx="528" cy="240"/>
              <a:chOff x="1968" y="1344"/>
              <a:chExt cx="528" cy="240"/>
            </a:xfrm>
          </p:grpSpPr>
          <p:sp>
            <p:nvSpPr>
              <p:cNvPr id="151645" name="Rectangle 40"/>
              <p:cNvSpPr>
                <a:spLocks noChangeArrowheads="1"/>
              </p:cNvSpPr>
              <p:nvPr/>
            </p:nvSpPr>
            <p:spPr bwMode="auto">
              <a:xfrm>
                <a:off x="1968" y="1344"/>
                <a:ext cx="384" cy="240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151646" name="Rectangle 41"/>
              <p:cNvSpPr>
                <a:spLocks noChangeArrowheads="1"/>
              </p:cNvSpPr>
              <p:nvPr/>
            </p:nvSpPr>
            <p:spPr bwMode="auto">
              <a:xfrm>
                <a:off x="2352" y="1344"/>
                <a:ext cx="144" cy="240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</p:grpSp>
        <p:grpSp>
          <p:nvGrpSpPr>
            <p:cNvPr id="151599" name="Group 42"/>
            <p:cNvGrpSpPr>
              <a:grpSpLocks/>
            </p:cNvGrpSpPr>
            <p:nvPr/>
          </p:nvGrpSpPr>
          <p:grpSpPr bwMode="auto">
            <a:xfrm>
              <a:off x="4689" y="2822"/>
              <a:ext cx="528" cy="240"/>
              <a:chOff x="1968" y="1344"/>
              <a:chExt cx="528" cy="240"/>
            </a:xfrm>
          </p:grpSpPr>
          <p:sp>
            <p:nvSpPr>
              <p:cNvPr id="151643" name="Rectangle 43"/>
              <p:cNvSpPr>
                <a:spLocks noChangeArrowheads="1"/>
              </p:cNvSpPr>
              <p:nvPr/>
            </p:nvSpPr>
            <p:spPr bwMode="auto">
              <a:xfrm>
                <a:off x="1968" y="1344"/>
                <a:ext cx="384" cy="240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151644" name="Rectangle 44"/>
              <p:cNvSpPr>
                <a:spLocks noChangeArrowheads="1"/>
              </p:cNvSpPr>
              <p:nvPr/>
            </p:nvSpPr>
            <p:spPr bwMode="auto">
              <a:xfrm>
                <a:off x="2352" y="1344"/>
                <a:ext cx="144" cy="240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</p:grpSp>
        <p:sp>
          <p:nvSpPr>
            <p:cNvPr id="151600" name="Line 45"/>
            <p:cNvSpPr>
              <a:spLocks noChangeShapeType="1"/>
            </p:cNvSpPr>
            <p:nvPr/>
          </p:nvSpPr>
          <p:spPr bwMode="auto">
            <a:xfrm>
              <a:off x="1425" y="2918"/>
              <a:ext cx="28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1601" name="Line 47"/>
            <p:cNvSpPr>
              <a:spLocks noChangeShapeType="1"/>
            </p:cNvSpPr>
            <p:nvPr/>
          </p:nvSpPr>
          <p:spPr bwMode="auto">
            <a:xfrm>
              <a:off x="2961" y="2918"/>
              <a:ext cx="28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1602" name="Line 48"/>
            <p:cNvSpPr>
              <a:spLocks noChangeShapeType="1"/>
            </p:cNvSpPr>
            <p:nvPr/>
          </p:nvSpPr>
          <p:spPr bwMode="auto">
            <a:xfrm>
              <a:off x="3681" y="2918"/>
              <a:ext cx="28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1603" name="Line 22"/>
            <p:cNvSpPr>
              <a:spLocks noChangeShapeType="1"/>
            </p:cNvSpPr>
            <p:nvPr/>
          </p:nvSpPr>
          <p:spPr bwMode="auto">
            <a:xfrm>
              <a:off x="1617" y="1958"/>
              <a:ext cx="28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1604" name="Line 23"/>
            <p:cNvSpPr>
              <a:spLocks noChangeShapeType="1"/>
            </p:cNvSpPr>
            <p:nvPr/>
          </p:nvSpPr>
          <p:spPr bwMode="auto">
            <a:xfrm>
              <a:off x="2385" y="1958"/>
              <a:ext cx="28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1605" name="Line 24"/>
            <p:cNvSpPr>
              <a:spLocks noChangeShapeType="1"/>
            </p:cNvSpPr>
            <p:nvPr/>
          </p:nvSpPr>
          <p:spPr bwMode="auto">
            <a:xfrm>
              <a:off x="3153" y="1958"/>
              <a:ext cx="28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1606" name="Line 46"/>
            <p:cNvSpPr>
              <a:spLocks noChangeShapeType="1"/>
            </p:cNvSpPr>
            <p:nvPr/>
          </p:nvSpPr>
          <p:spPr bwMode="auto">
            <a:xfrm>
              <a:off x="2193" y="2918"/>
              <a:ext cx="28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1607" name="Line 49"/>
            <p:cNvSpPr>
              <a:spLocks noChangeShapeType="1"/>
            </p:cNvSpPr>
            <p:nvPr/>
          </p:nvSpPr>
          <p:spPr bwMode="auto">
            <a:xfrm>
              <a:off x="4401" y="2918"/>
              <a:ext cx="28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1608" name="Line 53"/>
            <p:cNvSpPr>
              <a:spLocks noChangeShapeType="1"/>
            </p:cNvSpPr>
            <p:nvPr/>
          </p:nvSpPr>
          <p:spPr bwMode="auto">
            <a:xfrm flipV="1">
              <a:off x="1281" y="2054"/>
              <a:ext cx="0" cy="48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1609" name="Line 56"/>
            <p:cNvSpPr>
              <a:spLocks noChangeShapeType="1"/>
            </p:cNvSpPr>
            <p:nvPr/>
          </p:nvSpPr>
          <p:spPr bwMode="auto">
            <a:xfrm>
              <a:off x="2328" y="1958"/>
              <a:ext cx="0" cy="28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1610" name="Line 57"/>
            <p:cNvSpPr>
              <a:spLocks noChangeShapeType="1"/>
            </p:cNvSpPr>
            <p:nvPr/>
          </p:nvSpPr>
          <p:spPr bwMode="auto">
            <a:xfrm flipH="1">
              <a:off x="1473" y="2246"/>
              <a:ext cx="85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1611" name="Line 58"/>
            <p:cNvSpPr>
              <a:spLocks noChangeShapeType="1"/>
            </p:cNvSpPr>
            <p:nvPr/>
          </p:nvSpPr>
          <p:spPr bwMode="auto">
            <a:xfrm>
              <a:off x="1470" y="2246"/>
              <a:ext cx="0" cy="57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1612" name="Line 59"/>
            <p:cNvSpPr>
              <a:spLocks noChangeShapeType="1"/>
            </p:cNvSpPr>
            <p:nvPr/>
          </p:nvSpPr>
          <p:spPr bwMode="auto">
            <a:xfrm flipV="1">
              <a:off x="2913" y="2054"/>
              <a:ext cx="0" cy="86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1613" name="Line 65"/>
            <p:cNvSpPr>
              <a:spLocks noChangeShapeType="1"/>
            </p:cNvSpPr>
            <p:nvPr/>
          </p:nvSpPr>
          <p:spPr bwMode="auto">
            <a:xfrm>
              <a:off x="3887" y="1958"/>
              <a:ext cx="0" cy="33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1614" name="Line 66"/>
            <p:cNvSpPr>
              <a:spLocks noChangeShapeType="1"/>
            </p:cNvSpPr>
            <p:nvPr/>
          </p:nvSpPr>
          <p:spPr bwMode="auto">
            <a:xfrm flipH="1">
              <a:off x="3647" y="2294"/>
              <a:ext cx="24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1615" name="Line 67"/>
            <p:cNvSpPr>
              <a:spLocks noChangeShapeType="1"/>
            </p:cNvSpPr>
            <p:nvPr/>
          </p:nvSpPr>
          <p:spPr bwMode="auto">
            <a:xfrm>
              <a:off x="3647" y="2294"/>
              <a:ext cx="0" cy="52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grpSp>
          <p:nvGrpSpPr>
            <p:cNvPr id="151616" name="Group 178"/>
            <p:cNvGrpSpPr>
              <a:grpSpLocks/>
            </p:cNvGrpSpPr>
            <p:nvPr/>
          </p:nvGrpSpPr>
          <p:grpSpPr bwMode="auto">
            <a:xfrm>
              <a:off x="705" y="1671"/>
              <a:ext cx="480" cy="365"/>
              <a:chOff x="834" y="1888"/>
              <a:chExt cx="480" cy="365"/>
            </a:xfrm>
          </p:grpSpPr>
          <p:sp>
            <p:nvSpPr>
              <p:cNvPr id="151641" name="Line 26"/>
              <p:cNvSpPr>
                <a:spLocks noChangeShapeType="1"/>
              </p:cNvSpPr>
              <p:nvPr/>
            </p:nvSpPr>
            <p:spPr bwMode="auto">
              <a:xfrm>
                <a:off x="1074" y="2175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51642" name="Text Box 68"/>
              <p:cNvSpPr txBox="1">
                <a:spLocks noChangeArrowheads="1"/>
              </p:cNvSpPr>
              <p:nvPr/>
            </p:nvSpPr>
            <p:spPr bwMode="auto">
              <a:xfrm>
                <a:off x="834" y="1888"/>
                <a:ext cx="377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 eaLnBrk="1" hangingPunct="1"/>
                <a:r>
                  <a:rPr lang="en-US" altLang="zh-CN" sz="3200">
                    <a:latin typeface="Tahoma" panose="020B0604030504040204" pitchFamily="34" charset="0"/>
                    <a:ea typeface="宋体" panose="02010600030101010101" pitchFamily="2" charset="-122"/>
                  </a:rPr>
                  <a:t>La</a:t>
                </a:r>
              </a:p>
            </p:txBody>
          </p:sp>
        </p:grpSp>
        <p:sp>
          <p:nvSpPr>
            <p:cNvPr id="151617" name="Text Box 81"/>
            <p:cNvSpPr txBox="1">
              <a:spLocks noChangeArrowheads="1"/>
            </p:cNvSpPr>
            <p:nvPr/>
          </p:nvSpPr>
          <p:spPr bwMode="auto">
            <a:xfrm>
              <a:off x="1978" y="1772"/>
              <a:ext cx="23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 eaLnBrk="1" hangingPunct="1"/>
              <a:r>
                <a: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151618" name="Text Box 82"/>
            <p:cNvSpPr txBox="1">
              <a:spLocks noChangeArrowheads="1"/>
            </p:cNvSpPr>
            <p:nvPr/>
          </p:nvSpPr>
          <p:spPr bwMode="auto">
            <a:xfrm>
              <a:off x="1082" y="2774"/>
              <a:ext cx="23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 eaLnBrk="1" hangingPunct="1"/>
              <a:r>
                <a: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151619" name="Text Box 83"/>
            <p:cNvSpPr txBox="1">
              <a:spLocks noChangeArrowheads="1"/>
            </p:cNvSpPr>
            <p:nvPr/>
          </p:nvSpPr>
          <p:spPr bwMode="auto">
            <a:xfrm>
              <a:off x="1786" y="2774"/>
              <a:ext cx="23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 eaLnBrk="1" hangingPunct="1"/>
              <a:r>
                <a: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151620" name="Text Box 84"/>
            <p:cNvSpPr txBox="1">
              <a:spLocks noChangeArrowheads="1"/>
            </p:cNvSpPr>
            <p:nvPr/>
          </p:nvSpPr>
          <p:spPr bwMode="auto">
            <a:xfrm>
              <a:off x="2529" y="2800"/>
              <a:ext cx="23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 eaLnBrk="1" hangingPunct="1"/>
              <a:r>
                <a: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151621" name="Text Box 85"/>
            <p:cNvSpPr txBox="1">
              <a:spLocks noChangeArrowheads="1"/>
            </p:cNvSpPr>
            <p:nvPr/>
          </p:nvSpPr>
          <p:spPr bwMode="auto">
            <a:xfrm>
              <a:off x="2723" y="1772"/>
              <a:ext cx="23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 eaLnBrk="1" hangingPunct="1"/>
              <a:r>
                <a: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151622" name="Text Box 86"/>
            <p:cNvSpPr txBox="1">
              <a:spLocks noChangeArrowheads="1"/>
            </p:cNvSpPr>
            <p:nvPr/>
          </p:nvSpPr>
          <p:spPr bwMode="auto">
            <a:xfrm>
              <a:off x="3514" y="1772"/>
              <a:ext cx="23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 eaLnBrk="1" hangingPunct="1"/>
              <a:r>
                <a: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151623" name="Text Box 88"/>
            <p:cNvSpPr txBox="1">
              <a:spLocks noChangeArrowheads="1"/>
            </p:cNvSpPr>
            <p:nvPr/>
          </p:nvSpPr>
          <p:spPr bwMode="auto">
            <a:xfrm>
              <a:off x="3322" y="2800"/>
              <a:ext cx="23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 eaLnBrk="1" hangingPunct="1"/>
              <a:r>
                <a: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151624" name="Text Box 90"/>
            <p:cNvSpPr txBox="1">
              <a:spLocks noChangeArrowheads="1"/>
            </p:cNvSpPr>
            <p:nvPr/>
          </p:nvSpPr>
          <p:spPr bwMode="auto">
            <a:xfrm>
              <a:off x="3965" y="2800"/>
              <a:ext cx="36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 eaLnBrk="1" hangingPunct="1"/>
              <a:r>
                <a: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151625" name="Text Box 91"/>
            <p:cNvSpPr txBox="1">
              <a:spLocks noChangeArrowheads="1"/>
            </p:cNvSpPr>
            <p:nvPr/>
          </p:nvSpPr>
          <p:spPr bwMode="auto">
            <a:xfrm>
              <a:off x="4691" y="2800"/>
              <a:ext cx="36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 eaLnBrk="1" hangingPunct="1"/>
              <a:r>
                <a: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11</a:t>
              </a:r>
            </a:p>
          </p:txBody>
        </p:sp>
        <p:grpSp>
          <p:nvGrpSpPr>
            <p:cNvPr id="151626" name="Group 92"/>
            <p:cNvGrpSpPr>
              <a:grpSpLocks/>
            </p:cNvGrpSpPr>
            <p:nvPr/>
          </p:nvGrpSpPr>
          <p:grpSpPr bwMode="auto">
            <a:xfrm>
              <a:off x="2433" y="1868"/>
              <a:ext cx="144" cy="192"/>
              <a:chOff x="2698" y="1622"/>
              <a:chExt cx="144" cy="192"/>
            </a:xfrm>
          </p:grpSpPr>
          <p:sp>
            <p:nvSpPr>
              <p:cNvPr id="151639" name="Line 93"/>
              <p:cNvSpPr>
                <a:spLocks noChangeShapeType="1"/>
              </p:cNvSpPr>
              <p:nvPr/>
            </p:nvSpPr>
            <p:spPr bwMode="auto">
              <a:xfrm flipH="1">
                <a:off x="2746" y="1622"/>
                <a:ext cx="48" cy="192"/>
              </a:xfrm>
              <a:prstGeom prst="line">
                <a:avLst/>
              </a:prstGeom>
              <a:noFill/>
              <a:ln w="57150">
                <a:solidFill>
                  <a:schemeClr val="hlink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51640" name="Line 94"/>
              <p:cNvSpPr>
                <a:spLocks noChangeShapeType="1"/>
              </p:cNvSpPr>
              <p:nvPr/>
            </p:nvSpPr>
            <p:spPr bwMode="auto">
              <a:xfrm>
                <a:off x="2698" y="1622"/>
                <a:ext cx="144" cy="192"/>
              </a:xfrm>
              <a:prstGeom prst="line">
                <a:avLst/>
              </a:prstGeom>
              <a:noFill/>
              <a:ln w="57150">
                <a:solidFill>
                  <a:schemeClr val="hlink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51627" name="Group 95"/>
            <p:cNvGrpSpPr>
              <a:grpSpLocks/>
            </p:cNvGrpSpPr>
            <p:nvPr/>
          </p:nvGrpSpPr>
          <p:grpSpPr bwMode="auto">
            <a:xfrm>
              <a:off x="3081" y="2822"/>
              <a:ext cx="144" cy="192"/>
              <a:chOff x="2698" y="1622"/>
              <a:chExt cx="144" cy="192"/>
            </a:xfrm>
          </p:grpSpPr>
          <p:sp>
            <p:nvSpPr>
              <p:cNvPr id="151637" name="Line 96"/>
              <p:cNvSpPr>
                <a:spLocks noChangeShapeType="1"/>
              </p:cNvSpPr>
              <p:nvPr/>
            </p:nvSpPr>
            <p:spPr bwMode="auto">
              <a:xfrm flipH="1">
                <a:off x="2746" y="1622"/>
                <a:ext cx="48" cy="192"/>
              </a:xfrm>
              <a:prstGeom prst="line">
                <a:avLst/>
              </a:prstGeom>
              <a:noFill/>
              <a:ln w="57150">
                <a:solidFill>
                  <a:schemeClr val="hlink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51638" name="Line 97"/>
              <p:cNvSpPr>
                <a:spLocks noChangeShapeType="1"/>
              </p:cNvSpPr>
              <p:nvPr/>
            </p:nvSpPr>
            <p:spPr bwMode="auto">
              <a:xfrm>
                <a:off x="2698" y="1622"/>
                <a:ext cx="144" cy="192"/>
              </a:xfrm>
              <a:prstGeom prst="line">
                <a:avLst/>
              </a:prstGeom>
              <a:noFill/>
              <a:ln w="57150">
                <a:solidFill>
                  <a:schemeClr val="hlink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51628" name="Group 98"/>
            <p:cNvGrpSpPr>
              <a:grpSpLocks/>
            </p:cNvGrpSpPr>
            <p:nvPr/>
          </p:nvGrpSpPr>
          <p:grpSpPr bwMode="auto">
            <a:xfrm>
              <a:off x="228" y="2816"/>
              <a:ext cx="528" cy="240"/>
              <a:chOff x="1968" y="1344"/>
              <a:chExt cx="528" cy="240"/>
            </a:xfrm>
          </p:grpSpPr>
          <p:sp>
            <p:nvSpPr>
              <p:cNvPr id="151635" name="Rectangle 99"/>
              <p:cNvSpPr>
                <a:spLocks noChangeArrowheads="1"/>
              </p:cNvSpPr>
              <p:nvPr/>
            </p:nvSpPr>
            <p:spPr bwMode="auto">
              <a:xfrm>
                <a:off x="1968" y="1344"/>
                <a:ext cx="384" cy="240"/>
              </a:xfrm>
              <a:prstGeom prst="rect">
                <a:avLst/>
              </a:prstGeom>
              <a:solidFill>
                <a:srgbClr val="CC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151636" name="Rectangle 100"/>
              <p:cNvSpPr>
                <a:spLocks noChangeArrowheads="1"/>
              </p:cNvSpPr>
              <p:nvPr/>
            </p:nvSpPr>
            <p:spPr bwMode="auto">
              <a:xfrm>
                <a:off x="2352" y="1344"/>
                <a:ext cx="144" cy="240"/>
              </a:xfrm>
              <a:prstGeom prst="rect">
                <a:avLst/>
              </a:prstGeom>
              <a:solidFill>
                <a:srgbClr val="CC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</p:grpSp>
        <p:sp>
          <p:nvSpPr>
            <p:cNvPr id="151629" name="Line 101"/>
            <p:cNvSpPr>
              <a:spLocks noChangeShapeType="1"/>
            </p:cNvSpPr>
            <p:nvPr/>
          </p:nvSpPr>
          <p:spPr bwMode="auto">
            <a:xfrm>
              <a:off x="708" y="2960"/>
              <a:ext cx="28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grpSp>
          <p:nvGrpSpPr>
            <p:cNvPr id="151630" name="Group 102"/>
            <p:cNvGrpSpPr>
              <a:grpSpLocks/>
            </p:cNvGrpSpPr>
            <p:nvPr/>
          </p:nvGrpSpPr>
          <p:grpSpPr bwMode="auto">
            <a:xfrm>
              <a:off x="756" y="2870"/>
              <a:ext cx="144" cy="192"/>
              <a:chOff x="2698" y="1622"/>
              <a:chExt cx="144" cy="192"/>
            </a:xfrm>
          </p:grpSpPr>
          <p:sp>
            <p:nvSpPr>
              <p:cNvPr id="151633" name="Line 103"/>
              <p:cNvSpPr>
                <a:spLocks noChangeShapeType="1"/>
              </p:cNvSpPr>
              <p:nvPr/>
            </p:nvSpPr>
            <p:spPr bwMode="auto">
              <a:xfrm flipH="1">
                <a:off x="2746" y="1622"/>
                <a:ext cx="48" cy="192"/>
              </a:xfrm>
              <a:prstGeom prst="line">
                <a:avLst/>
              </a:prstGeom>
              <a:noFill/>
              <a:ln w="57150">
                <a:solidFill>
                  <a:schemeClr val="hlink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51634" name="Line 104"/>
              <p:cNvSpPr>
                <a:spLocks noChangeShapeType="1"/>
              </p:cNvSpPr>
              <p:nvPr/>
            </p:nvSpPr>
            <p:spPr bwMode="auto">
              <a:xfrm>
                <a:off x="2698" y="1622"/>
                <a:ext cx="144" cy="192"/>
              </a:xfrm>
              <a:prstGeom prst="line">
                <a:avLst/>
              </a:prstGeom>
              <a:noFill/>
              <a:ln w="57150">
                <a:solidFill>
                  <a:schemeClr val="hlink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151631" name="AutoShape 185"/>
            <p:cNvSpPr>
              <a:spLocks noChangeArrowheads="1"/>
            </p:cNvSpPr>
            <p:nvPr/>
          </p:nvSpPr>
          <p:spPr bwMode="auto">
            <a:xfrm>
              <a:off x="2848" y="1257"/>
              <a:ext cx="357" cy="491"/>
            </a:xfrm>
            <a:prstGeom prst="downArrow">
              <a:avLst>
                <a:gd name="adj1" fmla="val 50000"/>
                <a:gd name="adj2" fmla="val 34384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1632" name="Text Box 186"/>
            <p:cNvSpPr txBox="1">
              <a:spLocks noChangeArrowheads="1"/>
            </p:cNvSpPr>
            <p:nvPr/>
          </p:nvSpPr>
          <p:spPr bwMode="auto">
            <a:xfrm>
              <a:off x="3243" y="1344"/>
              <a:ext cx="953" cy="327"/>
            </a:xfrm>
            <a:prstGeom prst="rect">
              <a:avLst/>
            </a:prstGeom>
            <a:solidFill>
              <a:srgbClr val="FFFF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rgbClr val="FF0000"/>
                  </a:solidFill>
                  <a:ea typeface="楷体_GB2312"/>
                  <a:cs typeface="楷体_GB2312"/>
                </a:rPr>
                <a:t>合并后</a:t>
              </a:r>
            </a:p>
          </p:txBody>
        </p:sp>
      </p:grpSp>
      <p:sp>
        <p:nvSpPr>
          <p:cNvPr id="585916" name="Rectangle 188"/>
          <p:cNvSpPr>
            <a:spLocks noChangeArrowheads="1"/>
          </p:cNvSpPr>
          <p:nvPr/>
        </p:nvSpPr>
        <p:spPr bwMode="auto">
          <a:xfrm>
            <a:off x="1566864" y="0"/>
            <a:ext cx="6764337" cy="515938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0" hangingPunct="0">
              <a:defRPr/>
            </a:pP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有序链表合并</a:t>
            </a:r>
            <a:r>
              <a:rPr lang="zh-CN" altLang="en-US" sz="3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49" charset="-122"/>
              </a:rPr>
              <a:t>－－重点掌握</a:t>
            </a:r>
          </a:p>
        </p:txBody>
      </p:sp>
    </p:spTree>
    <p:extLst>
      <p:ext uri="{BB962C8B-B14F-4D97-AF65-F5344CB8AC3E}">
        <p14:creationId xmlns:p14="http://schemas.microsoft.com/office/powerpoint/2010/main" val="546313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80" name="Text Box 5"/>
          <p:cNvSpPr txBox="1">
            <a:spLocks noChangeArrowheads="1"/>
          </p:cNvSpPr>
          <p:nvPr/>
        </p:nvSpPr>
        <p:spPr bwMode="auto">
          <a:xfrm>
            <a:off x="2025650" y="587375"/>
            <a:ext cx="38179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3200" b="1">
                <a:latin typeface="楷体_GB2312"/>
                <a:ea typeface="楷体_GB2312"/>
                <a:cs typeface="楷体_GB2312"/>
              </a:rPr>
              <a:t>(1)Lc</a:t>
            </a:r>
            <a:r>
              <a:rPr lang="zh-CN" altLang="en-US" sz="3200" b="1">
                <a:latin typeface="楷体_GB2312"/>
                <a:ea typeface="楷体_GB2312"/>
                <a:cs typeface="楷体_GB2312"/>
              </a:rPr>
              <a:t>指向</a:t>
            </a:r>
            <a:r>
              <a:rPr lang="en-US" altLang="zh-CN" sz="3200" b="1">
                <a:latin typeface="楷体_GB2312"/>
                <a:ea typeface="楷体_GB2312"/>
                <a:cs typeface="楷体_GB2312"/>
              </a:rPr>
              <a:t>La</a:t>
            </a:r>
          </a:p>
        </p:txBody>
      </p:sp>
      <p:sp>
        <p:nvSpPr>
          <p:cNvPr id="600070" name="Text Box 6"/>
          <p:cNvSpPr txBox="1">
            <a:spLocks noChangeArrowheads="1"/>
          </p:cNvSpPr>
          <p:nvPr/>
        </p:nvSpPr>
        <p:spPr bwMode="auto">
          <a:xfrm>
            <a:off x="2095501" y="1228725"/>
            <a:ext cx="8397875" cy="1865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/>
              <a:t>(2)</a:t>
            </a:r>
            <a:r>
              <a:rPr lang="en-US" altLang="zh-CN" sz="3200" b="1">
                <a:latin typeface="楷体_GB2312"/>
                <a:ea typeface="楷体_GB2312"/>
                <a:cs typeface="楷体_GB2312"/>
              </a:rPr>
              <a:t> </a:t>
            </a:r>
            <a:r>
              <a:rPr lang="zh-CN" altLang="en-US" sz="3200" b="1">
                <a:latin typeface="楷体_GB2312"/>
                <a:ea typeface="楷体_GB2312"/>
                <a:cs typeface="楷体_GB2312"/>
              </a:rPr>
              <a:t>依次从 </a:t>
            </a:r>
            <a:r>
              <a:rPr lang="en-US" altLang="zh-CN" sz="3200" b="1">
                <a:latin typeface="楷体_GB2312"/>
                <a:ea typeface="楷体_GB2312"/>
                <a:cs typeface="楷体_GB2312"/>
              </a:rPr>
              <a:t>La </a:t>
            </a:r>
            <a:r>
              <a:rPr lang="zh-CN" altLang="en-US" sz="3200" b="1">
                <a:latin typeface="楷体_GB2312"/>
                <a:ea typeface="楷体_GB2312"/>
                <a:cs typeface="楷体_GB2312"/>
              </a:rPr>
              <a:t>或 </a:t>
            </a:r>
            <a:r>
              <a:rPr lang="en-US" altLang="zh-CN" sz="3200" b="1">
                <a:latin typeface="楷体_GB2312"/>
                <a:ea typeface="楷体_GB2312"/>
                <a:cs typeface="楷体_GB2312"/>
              </a:rPr>
              <a:t>Lb </a:t>
            </a:r>
            <a:r>
              <a:rPr lang="zh-CN" altLang="en-US" sz="3200" b="1">
                <a:latin typeface="楷体_GB2312"/>
                <a:ea typeface="楷体_GB2312"/>
                <a:cs typeface="楷体_GB2312"/>
              </a:rPr>
              <a:t>中“摘取”元素值较小的结点插入到 </a:t>
            </a:r>
            <a:r>
              <a:rPr lang="en-US" altLang="zh-CN" sz="32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rPr>
              <a:t>Lc </a:t>
            </a:r>
            <a:r>
              <a:rPr lang="zh-CN" altLang="en-US" sz="32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rPr>
              <a:t>表的最后</a:t>
            </a:r>
            <a:r>
              <a:rPr lang="zh-CN" altLang="en-US" sz="3200" b="1">
                <a:latin typeface="楷体_GB2312"/>
                <a:ea typeface="楷体_GB2312"/>
                <a:cs typeface="楷体_GB2312"/>
              </a:rPr>
              <a:t>，直至其中一个表变空为止</a:t>
            </a:r>
          </a:p>
        </p:txBody>
      </p:sp>
      <p:sp>
        <p:nvSpPr>
          <p:cNvPr id="600071" name="Text Box 7"/>
          <p:cNvSpPr txBox="1">
            <a:spLocks noChangeArrowheads="1"/>
          </p:cNvSpPr>
          <p:nvPr/>
        </p:nvSpPr>
        <p:spPr bwMode="auto">
          <a:xfrm>
            <a:off x="2111376" y="3028951"/>
            <a:ext cx="8397875" cy="1274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>
                <a:latin typeface="楷体_GB2312"/>
                <a:ea typeface="楷体_GB2312"/>
                <a:cs typeface="楷体_GB2312"/>
              </a:rPr>
              <a:t>(3) </a:t>
            </a:r>
            <a:r>
              <a:rPr lang="zh-CN" altLang="en-US" sz="3200" b="1">
                <a:latin typeface="楷体_GB2312"/>
                <a:ea typeface="楷体_GB2312"/>
                <a:cs typeface="楷体_GB2312"/>
              </a:rPr>
              <a:t>继续将 </a:t>
            </a:r>
            <a:r>
              <a:rPr lang="en-US" altLang="zh-CN" sz="3200" b="1">
                <a:latin typeface="楷体_GB2312"/>
                <a:ea typeface="楷体_GB2312"/>
                <a:cs typeface="楷体_GB2312"/>
              </a:rPr>
              <a:t>La </a:t>
            </a:r>
            <a:r>
              <a:rPr lang="zh-CN" altLang="en-US" sz="3200" b="1">
                <a:latin typeface="楷体_GB2312"/>
                <a:ea typeface="楷体_GB2312"/>
                <a:cs typeface="楷体_GB2312"/>
              </a:rPr>
              <a:t>或 </a:t>
            </a:r>
            <a:r>
              <a:rPr lang="en-US" altLang="zh-CN" sz="3200" b="1">
                <a:latin typeface="楷体_GB2312"/>
                <a:ea typeface="楷体_GB2312"/>
                <a:cs typeface="楷体_GB2312"/>
              </a:rPr>
              <a:t>Lb </a:t>
            </a:r>
            <a:r>
              <a:rPr lang="zh-CN" altLang="en-US" sz="3200" b="1">
                <a:latin typeface="楷体_GB2312"/>
                <a:ea typeface="楷体_GB2312"/>
                <a:cs typeface="楷体_GB2312"/>
              </a:rPr>
              <a:t>其中一个表的剩余结点插入在 </a:t>
            </a:r>
            <a:r>
              <a:rPr lang="en-US" altLang="zh-CN" sz="32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rPr>
              <a:t>Lc </a:t>
            </a:r>
            <a:r>
              <a:rPr lang="zh-CN" altLang="en-US" sz="32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rPr>
              <a:t>表的最后</a:t>
            </a:r>
          </a:p>
        </p:txBody>
      </p:sp>
      <p:sp>
        <p:nvSpPr>
          <p:cNvPr id="600072" name="Text Box 8"/>
          <p:cNvSpPr txBox="1">
            <a:spLocks noChangeArrowheads="1"/>
          </p:cNvSpPr>
          <p:nvPr/>
        </p:nvSpPr>
        <p:spPr bwMode="auto">
          <a:xfrm>
            <a:off x="2133600" y="4470400"/>
            <a:ext cx="50863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3200" b="1">
                <a:latin typeface="楷体_GB2312"/>
                <a:ea typeface="楷体_GB2312"/>
                <a:cs typeface="楷体_GB2312"/>
              </a:rPr>
              <a:t>(4) </a:t>
            </a:r>
            <a:r>
              <a:rPr lang="zh-CN" altLang="en-US" sz="3200" b="1">
                <a:latin typeface="楷体_GB2312"/>
                <a:ea typeface="楷体_GB2312"/>
                <a:cs typeface="楷体_GB2312"/>
              </a:rPr>
              <a:t>释放 </a:t>
            </a:r>
            <a:r>
              <a:rPr lang="en-US" altLang="zh-CN" sz="3200" b="1">
                <a:latin typeface="楷体_GB2312"/>
                <a:ea typeface="楷体_GB2312"/>
                <a:cs typeface="楷体_GB2312"/>
              </a:rPr>
              <a:t>Lb </a:t>
            </a:r>
            <a:r>
              <a:rPr lang="zh-CN" altLang="en-US" sz="3200" b="1">
                <a:latin typeface="楷体_GB2312"/>
                <a:ea typeface="楷体_GB2312"/>
                <a:cs typeface="楷体_GB2312"/>
              </a:rPr>
              <a:t>表的表头结点</a:t>
            </a:r>
          </a:p>
        </p:txBody>
      </p:sp>
      <p:sp>
        <p:nvSpPr>
          <p:cNvPr id="152584" name="Rectangle 10"/>
          <p:cNvSpPr>
            <a:spLocks noChangeArrowheads="1"/>
          </p:cNvSpPr>
          <p:nvPr/>
        </p:nvSpPr>
        <p:spPr bwMode="auto">
          <a:xfrm>
            <a:off x="1528763" y="-26988"/>
            <a:ext cx="8096250" cy="606426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r>
              <a:rPr lang="en-US" altLang="zh-CN" sz="4400" b="1">
                <a:ea typeface="楷体_GB2312"/>
                <a:cs typeface="楷体_GB2312"/>
              </a:rPr>
              <a:t>【</a:t>
            </a:r>
            <a:r>
              <a:rPr lang="zh-CN" altLang="en-US" sz="4400" b="1">
                <a:ea typeface="楷体_GB2312"/>
                <a:cs typeface="楷体_GB2312"/>
              </a:rPr>
              <a:t>算法步骤</a:t>
            </a:r>
            <a:r>
              <a:rPr lang="en-US" altLang="zh-CN" sz="4400" b="1">
                <a:ea typeface="楷体_GB2312"/>
                <a:cs typeface="楷体_GB2312"/>
              </a:rPr>
              <a:t>】</a:t>
            </a:r>
            <a:r>
              <a:rPr lang="zh-CN" altLang="en-US" sz="4400" b="1">
                <a:ea typeface="楷体_GB2312"/>
                <a:cs typeface="楷体_GB2312"/>
              </a:rPr>
              <a:t>－</a:t>
            </a:r>
            <a:r>
              <a:rPr lang="zh-CN" altLang="en-US" sz="3200" b="1">
                <a:latin typeface="楷体_GB2312"/>
                <a:ea typeface="楷体_GB2312"/>
                <a:cs typeface="楷体_GB2312"/>
              </a:rPr>
              <a:t>有序的链表合并</a:t>
            </a:r>
          </a:p>
        </p:txBody>
      </p:sp>
    </p:spTree>
    <p:extLst>
      <p:ext uri="{BB962C8B-B14F-4D97-AF65-F5344CB8AC3E}">
        <p14:creationId xmlns:p14="http://schemas.microsoft.com/office/powerpoint/2010/main" val="582756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00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600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000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000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0070" grpId="0"/>
      <p:bldP spid="600071" grpId="0"/>
      <p:bldP spid="60007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864" name="Rectangle 112"/>
          <p:cNvSpPr>
            <a:spLocks noChangeArrowheads="1"/>
          </p:cNvSpPr>
          <p:nvPr/>
        </p:nvSpPr>
        <p:spPr bwMode="auto">
          <a:xfrm>
            <a:off x="1573214" y="0"/>
            <a:ext cx="6764337" cy="515938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eaLnBrk="0" hangingPunct="0">
              <a:defRPr/>
            </a:pP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有序链表合并</a:t>
            </a:r>
            <a:r>
              <a:rPr lang="zh-CN" altLang="en-US" sz="3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仿宋_GB2312" pitchFamily="49" charset="-122"/>
              </a:rPr>
              <a:t>（初始化）</a:t>
            </a:r>
          </a:p>
        </p:txBody>
      </p:sp>
      <p:sp>
        <p:nvSpPr>
          <p:cNvPr id="153605" name="Text Box 125"/>
          <p:cNvSpPr txBox="1">
            <a:spLocks noChangeArrowheads="1"/>
          </p:cNvSpPr>
          <p:nvPr/>
        </p:nvSpPr>
        <p:spPr bwMode="auto">
          <a:xfrm>
            <a:off x="4619626" y="1268414"/>
            <a:ext cx="6826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3200" b="1">
                <a:latin typeface="Tahoma" panose="020B0604030504040204" pitchFamily="34" charset="0"/>
                <a:ea typeface="宋体" panose="02010600030101010101" pitchFamily="2" charset="-122"/>
              </a:rPr>
              <a:t>pa</a:t>
            </a:r>
          </a:p>
        </p:txBody>
      </p:sp>
      <p:sp>
        <p:nvSpPr>
          <p:cNvPr id="153606" name="Line 127"/>
          <p:cNvSpPr>
            <a:spLocks noChangeShapeType="1"/>
          </p:cNvSpPr>
          <p:nvPr/>
        </p:nvSpPr>
        <p:spPr bwMode="auto">
          <a:xfrm flipV="1">
            <a:off x="4548188" y="1219200"/>
            <a:ext cx="0" cy="381000"/>
          </a:xfrm>
          <a:prstGeom prst="line">
            <a:avLst/>
          </a:prstGeom>
          <a:noFill/>
          <a:ln w="5715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3607" name="Line 180"/>
          <p:cNvSpPr>
            <a:spLocks noChangeShapeType="1"/>
          </p:cNvSpPr>
          <p:nvPr/>
        </p:nvSpPr>
        <p:spPr bwMode="auto">
          <a:xfrm>
            <a:off x="2827338" y="1095375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3608" name="Text Box 181"/>
          <p:cNvSpPr txBox="1">
            <a:spLocks noChangeArrowheads="1"/>
          </p:cNvSpPr>
          <p:nvPr/>
        </p:nvSpPr>
        <p:spPr bwMode="auto">
          <a:xfrm>
            <a:off x="2351089" y="639764"/>
            <a:ext cx="5984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3200">
                <a:latin typeface="Tahoma" panose="020B0604030504040204" pitchFamily="34" charset="0"/>
                <a:ea typeface="宋体" panose="02010600030101010101" pitchFamily="2" charset="-122"/>
              </a:rPr>
              <a:t>La</a:t>
            </a:r>
          </a:p>
        </p:txBody>
      </p:sp>
      <p:grpSp>
        <p:nvGrpSpPr>
          <p:cNvPr id="153609" name="Group 133"/>
          <p:cNvGrpSpPr>
            <a:grpSpLocks/>
          </p:cNvGrpSpPr>
          <p:nvPr/>
        </p:nvGrpSpPr>
        <p:grpSpPr bwMode="auto">
          <a:xfrm>
            <a:off x="4351338" y="866775"/>
            <a:ext cx="838200" cy="381000"/>
            <a:chOff x="1968" y="1344"/>
            <a:chExt cx="528" cy="240"/>
          </a:xfrm>
        </p:grpSpPr>
        <p:sp>
          <p:nvSpPr>
            <p:cNvPr id="153666" name="Rectangle 134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3667" name="Rectangle 135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53610" name="Group 136"/>
          <p:cNvGrpSpPr>
            <a:grpSpLocks/>
          </p:cNvGrpSpPr>
          <p:nvPr/>
        </p:nvGrpSpPr>
        <p:grpSpPr bwMode="auto">
          <a:xfrm>
            <a:off x="5570538" y="866775"/>
            <a:ext cx="838200" cy="381000"/>
            <a:chOff x="1968" y="1344"/>
            <a:chExt cx="528" cy="240"/>
          </a:xfrm>
        </p:grpSpPr>
        <p:sp>
          <p:nvSpPr>
            <p:cNvPr id="153664" name="Rectangle 137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3665" name="Rectangle 138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53611" name="Group 139"/>
          <p:cNvGrpSpPr>
            <a:grpSpLocks/>
          </p:cNvGrpSpPr>
          <p:nvPr/>
        </p:nvGrpSpPr>
        <p:grpSpPr bwMode="auto">
          <a:xfrm>
            <a:off x="6789738" y="866775"/>
            <a:ext cx="838200" cy="381000"/>
            <a:chOff x="1968" y="1344"/>
            <a:chExt cx="528" cy="240"/>
          </a:xfrm>
        </p:grpSpPr>
        <p:sp>
          <p:nvSpPr>
            <p:cNvPr id="153662" name="Rectangle 140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3663" name="Rectangle 141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53612" name="Group 142"/>
          <p:cNvGrpSpPr>
            <a:grpSpLocks/>
          </p:cNvGrpSpPr>
          <p:nvPr/>
        </p:nvGrpSpPr>
        <p:grpSpPr bwMode="auto">
          <a:xfrm>
            <a:off x="3208338" y="866775"/>
            <a:ext cx="838200" cy="381000"/>
            <a:chOff x="1968" y="1344"/>
            <a:chExt cx="528" cy="240"/>
          </a:xfrm>
        </p:grpSpPr>
        <p:sp>
          <p:nvSpPr>
            <p:cNvPr id="153660" name="Rectangle 143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3661" name="Rectangle 144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sp>
        <p:nvSpPr>
          <p:cNvPr id="153613" name="Line 166"/>
          <p:cNvSpPr>
            <a:spLocks noChangeShapeType="1"/>
          </p:cNvSpPr>
          <p:nvPr/>
        </p:nvSpPr>
        <p:spPr bwMode="auto">
          <a:xfrm>
            <a:off x="3894138" y="1095375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3614" name="Line 167"/>
          <p:cNvSpPr>
            <a:spLocks noChangeShapeType="1"/>
          </p:cNvSpPr>
          <p:nvPr/>
        </p:nvSpPr>
        <p:spPr bwMode="auto">
          <a:xfrm>
            <a:off x="5113338" y="1095375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3615" name="Line 168"/>
          <p:cNvSpPr>
            <a:spLocks noChangeShapeType="1"/>
          </p:cNvSpPr>
          <p:nvPr/>
        </p:nvSpPr>
        <p:spPr bwMode="auto">
          <a:xfrm>
            <a:off x="6332538" y="1095375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3616" name="Text Box 182"/>
          <p:cNvSpPr txBox="1">
            <a:spLocks noChangeArrowheads="1"/>
          </p:cNvSpPr>
          <p:nvPr/>
        </p:nvSpPr>
        <p:spPr bwMode="auto">
          <a:xfrm>
            <a:off x="4467226" y="80010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53617" name="Text Box 186"/>
          <p:cNvSpPr txBox="1">
            <a:spLocks noChangeArrowheads="1"/>
          </p:cNvSpPr>
          <p:nvPr/>
        </p:nvSpPr>
        <p:spPr bwMode="auto">
          <a:xfrm>
            <a:off x="5649914" y="80010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153618" name="Text Box 187"/>
          <p:cNvSpPr txBox="1">
            <a:spLocks noChangeArrowheads="1"/>
          </p:cNvSpPr>
          <p:nvPr/>
        </p:nvSpPr>
        <p:spPr bwMode="auto">
          <a:xfrm>
            <a:off x="6905626" y="80010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8</a:t>
            </a:r>
          </a:p>
        </p:txBody>
      </p:sp>
      <p:grpSp>
        <p:nvGrpSpPr>
          <p:cNvPr id="153619" name="Group 233"/>
          <p:cNvGrpSpPr>
            <a:grpSpLocks/>
          </p:cNvGrpSpPr>
          <p:nvPr/>
        </p:nvGrpSpPr>
        <p:grpSpPr bwMode="auto">
          <a:xfrm>
            <a:off x="3808413" y="2571750"/>
            <a:ext cx="838200" cy="381000"/>
            <a:chOff x="1968" y="1344"/>
            <a:chExt cx="528" cy="240"/>
          </a:xfrm>
        </p:grpSpPr>
        <p:sp>
          <p:nvSpPr>
            <p:cNvPr id="153658" name="Rectangle 234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3659" name="Rectangle 235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53620" name="Group 236"/>
          <p:cNvGrpSpPr>
            <a:grpSpLocks/>
          </p:cNvGrpSpPr>
          <p:nvPr/>
        </p:nvGrpSpPr>
        <p:grpSpPr bwMode="auto">
          <a:xfrm>
            <a:off x="4951413" y="2571750"/>
            <a:ext cx="838200" cy="381000"/>
            <a:chOff x="1968" y="1344"/>
            <a:chExt cx="528" cy="240"/>
          </a:xfrm>
        </p:grpSpPr>
        <p:sp>
          <p:nvSpPr>
            <p:cNvPr id="153656" name="Rectangle 237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3657" name="Rectangle 238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53621" name="Group 239"/>
          <p:cNvGrpSpPr>
            <a:grpSpLocks/>
          </p:cNvGrpSpPr>
          <p:nvPr/>
        </p:nvGrpSpPr>
        <p:grpSpPr bwMode="auto">
          <a:xfrm>
            <a:off x="6170613" y="2571750"/>
            <a:ext cx="838200" cy="381000"/>
            <a:chOff x="1968" y="1344"/>
            <a:chExt cx="528" cy="240"/>
          </a:xfrm>
        </p:grpSpPr>
        <p:sp>
          <p:nvSpPr>
            <p:cNvPr id="153654" name="Rectangle 240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3655" name="Rectangle 241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53622" name="Group 242"/>
          <p:cNvGrpSpPr>
            <a:grpSpLocks/>
          </p:cNvGrpSpPr>
          <p:nvPr/>
        </p:nvGrpSpPr>
        <p:grpSpPr bwMode="auto">
          <a:xfrm>
            <a:off x="7389813" y="2571750"/>
            <a:ext cx="838200" cy="381000"/>
            <a:chOff x="1968" y="1344"/>
            <a:chExt cx="528" cy="240"/>
          </a:xfrm>
        </p:grpSpPr>
        <p:sp>
          <p:nvSpPr>
            <p:cNvPr id="153652" name="Rectangle 243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3653" name="Rectangle 244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53623" name="Group 245"/>
          <p:cNvGrpSpPr>
            <a:grpSpLocks/>
          </p:cNvGrpSpPr>
          <p:nvPr/>
        </p:nvGrpSpPr>
        <p:grpSpPr bwMode="auto">
          <a:xfrm>
            <a:off x="8532813" y="2571750"/>
            <a:ext cx="838200" cy="381000"/>
            <a:chOff x="1968" y="1344"/>
            <a:chExt cx="528" cy="240"/>
          </a:xfrm>
        </p:grpSpPr>
        <p:sp>
          <p:nvSpPr>
            <p:cNvPr id="153650" name="Rectangle 246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3651" name="Rectangle 247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53624" name="Group 248"/>
          <p:cNvGrpSpPr>
            <a:grpSpLocks/>
          </p:cNvGrpSpPr>
          <p:nvPr/>
        </p:nvGrpSpPr>
        <p:grpSpPr bwMode="auto">
          <a:xfrm>
            <a:off x="9675813" y="2571750"/>
            <a:ext cx="838200" cy="381000"/>
            <a:chOff x="1968" y="1344"/>
            <a:chExt cx="528" cy="240"/>
          </a:xfrm>
        </p:grpSpPr>
        <p:sp>
          <p:nvSpPr>
            <p:cNvPr id="153648" name="Rectangle 249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3649" name="Rectangle 250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sp>
        <p:nvSpPr>
          <p:cNvPr id="153625" name="Line 251"/>
          <p:cNvSpPr>
            <a:spLocks noChangeShapeType="1"/>
          </p:cNvSpPr>
          <p:nvPr/>
        </p:nvSpPr>
        <p:spPr bwMode="auto">
          <a:xfrm>
            <a:off x="4494213" y="2724150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3626" name="Line 252"/>
          <p:cNvSpPr>
            <a:spLocks noChangeShapeType="1"/>
          </p:cNvSpPr>
          <p:nvPr/>
        </p:nvSpPr>
        <p:spPr bwMode="auto">
          <a:xfrm>
            <a:off x="6932613" y="2724150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3627" name="Line 253"/>
          <p:cNvSpPr>
            <a:spLocks noChangeShapeType="1"/>
          </p:cNvSpPr>
          <p:nvPr/>
        </p:nvSpPr>
        <p:spPr bwMode="auto">
          <a:xfrm>
            <a:off x="8075613" y="2724150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3628" name="Line 254"/>
          <p:cNvSpPr>
            <a:spLocks noChangeShapeType="1"/>
          </p:cNvSpPr>
          <p:nvPr/>
        </p:nvSpPr>
        <p:spPr bwMode="auto">
          <a:xfrm>
            <a:off x="5713413" y="2724150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3629" name="Line 255"/>
          <p:cNvSpPr>
            <a:spLocks noChangeShapeType="1"/>
          </p:cNvSpPr>
          <p:nvPr/>
        </p:nvSpPr>
        <p:spPr bwMode="auto">
          <a:xfrm>
            <a:off x="9218613" y="2724150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3630" name="Text Box 256"/>
          <p:cNvSpPr txBox="1">
            <a:spLocks noChangeArrowheads="1"/>
          </p:cNvSpPr>
          <p:nvPr/>
        </p:nvSpPr>
        <p:spPr bwMode="auto">
          <a:xfrm>
            <a:off x="3949701" y="249555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53631" name="Text Box 257"/>
          <p:cNvSpPr txBox="1">
            <a:spLocks noChangeArrowheads="1"/>
          </p:cNvSpPr>
          <p:nvPr/>
        </p:nvSpPr>
        <p:spPr bwMode="auto">
          <a:xfrm>
            <a:off x="5067301" y="249555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53632" name="Text Box 258"/>
          <p:cNvSpPr txBox="1">
            <a:spLocks noChangeArrowheads="1"/>
          </p:cNvSpPr>
          <p:nvPr/>
        </p:nvSpPr>
        <p:spPr bwMode="auto">
          <a:xfrm>
            <a:off x="6246814" y="2536825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153633" name="Text Box 259"/>
          <p:cNvSpPr txBox="1">
            <a:spLocks noChangeArrowheads="1"/>
          </p:cNvSpPr>
          <p:nvPr/>
        </p:nvSpPr>
        <p:spPr bwMode="auto">
          <a:xfrm>
            <a:off x="7505701" y="2536825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153634" name="Text Box 260"/>
          <p:cNvSpPr txBox="1">
            <a:spLocks noChangeArrowheads="1"/>
          </p:cNvSpPr>
          <p:nvPr/>
        </p:nvSpPr>
        <p:spPr bwMode="auto">
          <a:xfrm>
            <a:off x="8526463" y="2536825"/>
            <a:ext cx="571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153635" name="Text Box 261"/>
          <p:cNvSpPr txBox="1">
            <a:spLocks noChangeArrowheads="1"/>
          </p:cNvSpPr>
          <p:nvPr/>
        </p:nvSpPr>
        <p:spPr bwMode="auto">
          <a:xfrm>
            <a:off x="9678988" y="2536825"/>
            <a:ext cx="571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11</a:t>
            </a:r>
          </a:p>
        </p:txBody>
      </p:sp>
      <p:grpSp>
        <p:nvGrpSpPr>
          <p:cNvPr id="153636" name="Group 262"/>
          <p:cNvGrpSpPr>
            <a:grpSpLocks/>
          </p:cNvGrpSpPr>
          <p:nvPr/>
        </p:nvGrpSpPr>
        <p:grpSpPr bwMode="auto">
          <a:xfrm>
            <a:off x="2593975" y="2562225"/>
            <a:ext cx="838200" cy="381000"/>
            <a:chOff x="1968" y="1344"/>
            <a:chExt cx="528" cy="240"/>
          </a:xfrm>
        </p:grpSpPr>
        <p:sp>
          <p:nvSpPr>
            <p:cNvPr id="153646" name="Rectangle 263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3647" name="Rectangle 264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sp>
        <p:nvSpPr>
          <p:cNvPr id="153637" name="Line 265"/>
          <p:cNvSpPr>
            <a:spLocks noChangeShapeType="1"/>
          </p:cNvSpPr>
          <p:nvPr/>
        </p:nvSpPr>
        <p:spPr bwMode="auto">
          <a:xfrm>
            <a:off x="3355975" y="2790825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153638" name="Group 266"/>
          <p:cNvGrpSpPr>
            <a:grpSpLocks/>
          </p:cNvGrpSpPr>
          <p:nvPr/>
        </p:nvGrpSpPr>
        <p:grpSpPr bwMode="auto">
          <a:xfrm>
            <a:off x="1831975" y="2281239"/>
            <a:ext cx="762000" cy="579437"/>
            <a:chOff x="834" y="1888"/>
            <a:chExt cx="480" cy="365"/>
          </a:xfrm>
        </p:grpSpPr>
        <p:sp>
          <p:nvSpPr>
            <p:cNvPr id="153644" name="Line 267"/>
            <p:cNvSpPr>
              <a:spLocks noChangeShapeType="1"/>
            </p:cNvSpPr>
            <p:nvPr/>
          </p:nvSpPr>
          <p:spPr bwMode="auto">
            <a:xfrm>
              <a:off x="1074" y="2175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3645" name="Text Box 268"/>
            <p:cNvSpPr txBox="1">
              <a:spLocks noChangeArrowheads="1"/>
            </p:cNvSpPr>
            <p:nvPr/>
          </p:nvSpPr>
          <p:spPr bwMode="auto">
            <a:xfrm>
              <a:off x="834" y="1888"/>
              <a:ext cx="38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 eaLnBrk="1" hangingPunct="1"/>
              <a:r>
                <a:rPr lang="en-US" altLang="zh-CN" sz="3200">
                  <a:latin typeface="Tahoma" panose="020B0604030504040204" pitchFamily="34" charset="0"/>
                  <a:ea typeface="宋体" panose="02010600030101010101" pitchFamily="2" charset="-122"/>
                </a:rPr>
                <a:t>Lb</a:t>
              </a:r>
            </a:p>
          </p:txBody>
        </p:sp>
      </p:grpSp>
      <p:sp>
        <p:nvSpPr>
          <p:cNvPr id="153639" name="Text Box 269"/>
          <p:cNvSpPr txBox="1">
            <a:spLocks noChangeArrowheads="1"/>
          </p:cNvSpPr>
          <p:nvPr/>
        </p:nvSpPr>
        <p:spPr bwMode="auto">
          <a:xfrm>
            <a:off x="4152901" y="2994025"/>
            <a:ext cx="6969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3200" b="1">
                <a:latin typeface="Tahoma" panose="020B0604030504040204" pitchFamily="34" charset="0"/>
                <a:ea typeface="宋体" panose="02010600030101010101" pitchFamily="2" charset="-122"/>
              </a:rPr>
              <a:t>pb</a:t>
            </a:r>
          </a:p>
        </p:txBody>
      </p:sp>
      <p:sp>
        <p:nvSpPr>
          <p:cNvPr id="153640" name="Line 270"/>
          <p:cNvSpPr>
            <a:spLocks noChangeShapeType="1"/>
          </p:cNvSpPr>
          <p:nvPr/>
        </p:nvSpPr>
        <p:spPr bwMode="auto">
          <a:xfrm flipV="1">
            <a:off x="4081463" y="2944813"/>
            <a:ext cx="0" cy="381000"/>
          </a:xfrm>
          <a:prstGeom prst="line">
            <a:avLst/>
          </a:prstGeom>
          <a:noFill/>
          <a:ln w="5715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14" name="Group 273"/>
          <p:cNvGrpSpPr>
            <a:grpSpLocks/>
          </p:cNvGrpSpPr>
          <p:nvPr/>
        </p:nvGrpSpPr>
        <p:grpSpPr bwMode="auto">
          <a:xfrm>
            <a:off x="1701801" y="1257300"/>
            <a:ext cx="1782763" cy="922338"/>
            <a:chOff x="112" y="792"/>
            <a:chExt cx="1123" cy="581"/>
          </a:xfrm>
        </p:grpSpPr>
        <p:sp>
          <p:nvSpPr>
            <p:cNvPr id="153642" name="Text Box 271"/>
            <p:cNvSpPr txBox="1">
              <a:spLocks noChangeArrowheads="1"/>
            </p:cNvSpPr>
            <p:nvPr/>
          </p:nvSpPr>
          <p:spPr bwMode="auto">
            <a:xfrm>
              <a:off x="112" y="1008"/>
              <a:ext cx="1123" cy="365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 eaLnBrk="1" hangingPunct="1"/>
              <a:r>
                <a:rPr lang="en-US" altLang="zh-CN" sz="3200" b="1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Lc = </a:t>
              </a:r>
              <a:r>
                <a:rPr lang="en-US" altLang="zh-CN" sz="3200" b="1">
                  <a:solidFill>
                    <a:srgbClr val="FF0000"/>
                  </a:solidFill>
                </a:rPr>
                <a:t>pc</a:t>
              </a:r>
              <a:endParaRPr lang="en-US" altLang="zh-CN" sz="32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3643" name="Line 272"/>
            <p:cNvSpPr>
              <a:spLocks noChangeShapeType="1"/>
            </p:cNvSpPr>
            <p:nvPr/>
          </p:nvSpPr>
          <p:spPr bwMode="auto">
            <a:xfrm>
              <a:off x="1154" y="792"/>
              <a:ext cx="0" cy="216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89436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8" name="Line 4"/>
          <p:cNvSpPr>
            <a:spLocks noChangeShapeType="1"/>
          </p:cNvSpPr>
          <p:nvPr/>
        </p:nvSpPr>
        <p:spPr bwMode="auto">
          <a:xfrm>
            <a:off x="4797425" y="1055688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4629" name="Text Box 5"/>
          <p:cNvSpPr txBox="1">
            <a:spLocks noChangeArrowheads="1"/>
          </p:cNvSpPr>
          <p:nvPr/>
        </p:nvSpPr>
        <p:spPr bwMode="auto">
          <a:xfrm>
            <a:off x="5492751" y="1230314"/>
            <a:ext cx="6826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3200" b="1">
                <a:latin typeface="Tahoma" panose="020B0604030504040204" pitchFamily="34" charset="0"/>
                <a:ea typeface="宋体" panose="02010600030101010101" pitchFamily="2" charset="-122"/>
              </a:rPr>
              <a:t>pa</a:t>
            </a:r>
          </a:p>
        </p:txBody>
      </p:sp>
      <p:sp>
        <p:nvSpPr>
          <p:cNvPr id="154630" name="Line 6"/>
          <p:cNvSpPr>
            <a:spLocks noChangeShapeType="1"/>
          </p:cNvSpPr>
          <p:nvPr/>
        </p:nvSpPr>
        <p:spPr bwMode="auto">
          <a:xfrm flipV="1">
            <a:off x="5421313" y="1181100"/>
            <a:ext cx="0" cy="381000"/>
          </a:xfrm>
          <a:prstGeom prst="line">
            <a:avLst/>
          </a:prstGeom>
          <a:noFill/>
          <a:ln w="5715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4631" name="Line 7"/>
          <p:cNvSpPr>
            <a:spLocks noChangeShapeType="1"/>
          </p:cNvSpPr>
          <p:nvPr/>
        </p:nvSpPr>
        <p:spPr bwMode="auto">
          <a:xfrm>
            <a:off x="3700463" y="1057275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4632" name="Text Box 8"/>
          <p:cNvSpPr txBox="1">
            <a:spLocks noChangeArrowheads="1"/>
          </p:cNvSpPr>
          <p:nvPr/>
        </p:nvSpPr>
        <p:spPr bwMode="auto">
          <a:xfrm>
            <a:off x="1701800" y="639764"/>
            <a:ext cx="22479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3200">
                <a:latin typeface="Tahoma" panose="020B0604030504040204" pitchFamily="34" charset="0"/>
                <a:ea typeface="宋体" panose="02010600030101010101" pitchFamily="2" charset="-122"/>
              </a:rPr>
              <a:t>La(</a:t>
            </a:r>
            <a:r>
              <a:rPr lang="en-US" altLang="zh-CN" sz="320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Lc ,pc</a:t>
            </a:r>
            <a:r>
              <a:rPr lang="en-US" altLang="zh-CN" sz="3200">
                <a:latin typeface="Tahoma" panose="020B0604030504040204" pitchFamily="34" charset="0"/>
                <a:ea typeface="宋体" panose="02010600030101010101" pitchFamily="2" charset="-122"/>
              </a:rPr>
              <a:t>)</a:t>
            </a:r>
          </a:p>
        </p:txBody>
      </p:sp>
      <p:grpSp>
        <p:nvGrpSpPr>
          <p:cNvPr id="154633" name="Group 9"/>
          <p:cNvGrpSpPr>
            <a:grpSpLocks/>
          </p:cNvGrpSpPr>
          <p:nvPr/>
        </p:nvGrpSpPr>
        <p:grpSpPr bwMode="auto">
          <a:xfrm>
            <a:off x="5224463" y="828675"/>
            <a:ext cx="838200" cy="381000"/>
            <a:chOff x="1968" y="1344"/>
            <a:chExt cx="528" cy="240"/>
          </a:xfrm>
        </p:grpSpPr>
        <p:sp>
          <p:nvSpPr>
            <p:cNvPr id="154689" name="Rectangle 10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4690" name="Rectangle 11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54634" name="Group 12"/>
          <p:cNvGrpSpPr>
            <a:grpSpLocks/>
          </p:cNvGrpSpPr>
          <p:nvPr/>
        </p:nvGrpSpPr>
        <p:grpSpPr bwMode="auto">
          <a:xfrm>
            <a:off x="6443663" y="828675"/>
            <a:ext cx="838200" cy="381000"/>
            <a:chOff x="1968" y="1344"/>
            <a:chExt cx="528" cy="240"/>
          </a:xfrm>
        </p:grpSpPr>
        <p:sp>
          <p:nvSpPr>
            <p:cNvPr id="154687" name="Rectangle 13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4688" name="Rectangle 14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54635" name="Group 15"/>
          <p:cNvGrpSpPr>
            <a:grpSpLocks/>
          </p:cNvGrpSpPr>
          <p:nvPr/>
        </p:nvGrpSpPr>
        <p:grpSpPr bwMode="auto">
          <a:xfrm>
            <a:off x="7662863" y="828675"/>
            <a:ext cx="838200" cy="381000"/>
            <a:chOff x="1968" y="1344"/>
            <a:chExt cx="528" cy="240"/>
          </a:xfrm>
        </p:grpSpPr>
        <p:sp>
          <p:nvSpPr>
            <p:cNvPr id="154685" name="Rectangle 16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4686" name="Rectangle 17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54636" name="Group 18"/>
          <p:cNvGrpSpPr>
            <a:grpSpLocks/>
          </p:cNvGrpSpPr>
          <p:nvPr/>
        </p:nvGrpSpPr>
        <p:grpSpPr bwMode="auto">
          <a:xfrm>
            <a:off x="4081463" y="828675"/>
            <a:ext cx="838200" cy="381000"/>
            <a:chOff x="1968" y="1344"/>
            <a:chExt cx="528" cy="240"/>
          </a:xfrm>
        </p:grpSpPr>
        <p:sp>
          <p:nvSpPr>
            <p:cNvPr id="154683" name="Rectangle 19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4684" name="Rectangle 20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sp>
        <p:nvSpPr>
          <p:cNvPr id="590869" name="Line 21"/>
          <p:cNvSpPr>
            <a:spLocks noChangeShapeType="1"/>
          </p:cNvSpPr>
          <p:nvPr/>
        </p:nvSpPr>
        <p:spPr bwMode="auto">
          <a:xfrm>
            <a:off x="4835525" y="1047750"/>
            <a:ext cx="457200" cy="0"/>
          </a:xfrm>
          <a:prstGeom prst="line">
            <a:avLst/>
          </a:prstGeom>
          <a:noFill/>
          <a:ln w="5715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4638" name="Line 22"/>
          <p:cNvSpPr>
            <a:spLocks noChangeShapeType="1"/>
          </p:cNvSpPr>
          <p:nvPr/>
        </p:nvSpPr>
        <p:spPr bwMode="auto">
          <a:xfrm>
            <a:off x="5986463" y="1057275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4639" name="Line 23"/>
          <p:cNvSpPr>
            <a:spLocks noChangeShapeType="1"/>
          </p:cNvSpPr>
          <p:nvPr/>
        </p:nvSpPr>
        <p:spPr bwMode="auto">
          <a:xfrm>
            <a:off x="7205663" y="1057275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4640" name="Text Box 24"/>
          <p:cNvSpPr txBox="1">
            <a:spLocks noChangeArrowheads="1"/>
          </p:cNvSpPr>
          <p:nvPr/>
        </p:nvSpPr>
        <p:spPr bwMode="auto">
          <a:xfrm>
            <a:off x="5340351" y="76200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54641" name="Text Box 25"/>
          <p:cNvSpPr txBox="1">
            <a:spLocks noChangeArrowheads="1"/>
          </p:cNvSpPr>
          <p:nvPr/>
        </p:nvSpPr>
        <p:spPr bwMode="auto">
          <a:xfrm>
            <a:off x="6523039" y="76200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154642" name="Text Box 26"/>
          <p:cNvSpPr txBox="1">
            <a:spLocks noChangeArrowheads="1"/>
          </p:cNvSpPr>
          <p:nvPr/>
        </p:nvSpPr>
        <p:spPr bwMode="auto">
          <a:xfrm>
            <a:off x="7778751" y="76200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8</a:t>
            </a:r>
          </a:p>
        </p:txBody>
      </p:sp>
      <p:grpSp>
        <p:nvGrpSpPr>
          <p:cNvPr id="154643" name="Group 27"/>
          <p:cNvGrpSpPr>
            <a:grpSpLocks/>
          </p:cNvGrpSpPr>
          <p:nvPr/>
        </p:nvGrpSpPr>
        <p:grpSpPr bwMode="auto">
          <a:xfrm>
            <a:off x="3778250" y="2155825"/>
            <a:ext cx="838200" cy="381000"/>
            <a:chOff x="1968" y="1344"/>
            <a:chExt cx="528" cy="240"/>
          </a:xfrm>
        </p:grpSpPr>
        <p:sp>
          <p:nvSpPr>
            <p:cNvPr id="154681" name="Rectangle 28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4682" name="Rectangle 29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54644" name="Group 30"/>
          <p:cNvGrpSpPr>
            <a:grpSpLocks/>
          </p:cNvGrpSpPr>
          <p:nvPr/>
        </p:nvGrpSpPr>
        <p:grpSpPr bwMode="auto">
          <a:xfrm>
            <a:off x="4921250" y="2155825"/>
            <a:ext cx="838200" cy="381000"/>
            <a:chOff x="1968" y="1344"/>
            <a:chExt cx="528" cy="240"/>
          </a:xfrm>
        </p:grpSpPr>
        <p:sp>
          <p:nvSpPr>
            <p:cNvPr id="154679" name="Rectangle 31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4680" name="Rectangle 32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54645" name="Group 33"/>
          <p:cNvGrpSpPr>
            <a:grpSpLocks/>
          </p:cNvGrpSpPr>
          <p:nvPr/>
        </p:nvGrpSpPr>
        <p:grpSpPr bwMode="auto">
          <a:xfrm>
            <a:off x="6140450" y="2155825"/>
            <a:ext cx="838200" cy="381000"/>
            <a:chOff x="1968" y="1344"/>
            <a:chExt cx="528" cy="240"/>
          </a:xfrm>
        </p:grpSpPr>
        <p:sp>
          <p:nvSpPr>
            <p:cNvPr id="154677" name="Rectangle 34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4678" name="Rectangle 35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54646" name="Group 36"/>
          <p:cNvGrpSpPr>
            <a:grpSpLocks/>
          </p:cNvGrpSpPr>
          <p:nvPr/>
        </p:nvGrpSpPr>
        <p:grpSpPr bwMode="auto">
          <a:xfrm>
            <a:off x="7359650" y="2155825"/>
            <a:ext cx="838200" cy="381000"/>
            <a:chOff x="1968" y="1344"/>
            <a:chExt cx="528" cy="240"/>
          </a:xfrm>
        </p:grpSpPr>
        <p:sp>
          <p:nvSpPr>
            <p:cNvPr id="154675" name="Rectangle 37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4676" name="Rectangle 38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54647" name="Group 39"/>
          <p:cNvGrpSpPr>
            <a:grpSpLocks/>
          </p:cNvGrpSpPr>
          <p:nvPr/>
        </p:nvGrpSpPr>
        <p:grpSpPr bwMode="auto">
          <a:xfrm>
            <a:off x="8502650" y="2155825"/>
            <a:ext cx="838200" cy="381000"/>
            <a:chOff x="1968" y="1344"/>
            <a:chExt cx="528" cy="240"/>
          </a:xfrm>
        </p:grpSpPr>
        <p:sp>
          <p:nvSpPr>
            <p:cNvPr id="154673" name="Rectangle 40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4674" name="Rectangle 41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54648" name="Group 42"/>
          <p:cNvGrpSpPr>
            <a:grpSpLocks/>
          </p:cNvGrpSpPr>
          <p:nvPr/>
        </p:nvGrpSpPr>
        <p:grpSpPr bwMode="auto">
          <a:xfrm>
            <a:off x="9645650" y="2155825"/>
            <a:ext cx="838200" cy="381000"/>
            <a:chOff x="1968" y="1344"/>
            <a:chExt cx="528" cy="240"/>
          </a:xfrm>
        </p:grpSpPr>
        <p:sp>
          <p:nvSpPr>
            <p:cNvPr id="154671" name="Rectangle 43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4672" name="Rectangle 44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sp>
        <p:nvSpPr>
          <p:cNvPr id="154649" name="Line 45"/>
          <p:cNvSpPr>
            <a:spLocks noChangeShapeType="1"/>
          </p:cNvSpPr>
          <p:nvPr/>
        </p:nvSpPr>
        <p:spPr bwMode="auto">
          <a:xfrm>
            <a:off x="4464050" y="2308225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4650" name="Line 46"/>
          <p:cNvSpPr>
            <a:spLocks noChangeShapeType="1"/>
          </p:cNvSpPr>
          <p:nvPr/>
        </p:nvSpPr>
        <p:spPr bwMode="auto">
          <a:xfrm>
            <a:off x="6902450" y="2308225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4651" name="Line 47"/>
          <p:cNvSpPr>
            <a:spLocks noChangeShapeType="1"/>
          </p:cNvSpPr>
          <p:nvPr/>
        </p:nvSpPr>
        <p:spPr bwMode="auto">
          <a:xfrm>
            <a:off x="8045450" y="2308225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4652" name="Line 48"/>
          <p:cNvSpPr>
            <a:spLocks noChangeShapeType="1"/>
          </p:cNvSpPr>
          <p:nvPr/>
        </p:nvSpPr>
        <p:spPr bwMode="auto">
          <a:xfrm>
            <a:off x="5683250" y="2308225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4653" name="Line 49"/>
          <p:cNvSpPr>
            <a:spLocks noChangeShapeType="1"/>
          </p:cNvSpPr>
          <p:nvPr/>
        </p:nvSpPr>
        <p:spPr bwMode="auto">
          <a:xfrm>
            <a:off x="9188450" y="2308225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4654" name="Text Box 50"/>
          <p:cNvSpPr txBox="1">
            <a:spLocks noChangeArrowheads="1"/>
          </p:cNvSpPr>
          <p:nvPr/>
        </p:nvSpPr>
        <p:spPr bwMode="auto">
          <a:xfrm>
            <a:off x="3919539" y="2079625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54655" name="Text Box 51"/>
          <p:cNvSpPr txBox="1">
            <a:spLocks noChangeArrowheads="1"/>
          </p:cNvSpPr>
          <p:nvPr/>
        </p:nvSpPr>
        <p:spPr bwMode="auto">
          <a:xfrm>
            <a:off x="5037139" y="2079625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54656" name="Text Box 52"/>
          <p:cNvSpPr txBox="1">
            <a:spLocks noChangeArrowheads="1"/>
          </p:cNvSpPr>
          <p:nvPr/>
        </p:nvSpPr>
        <p:spPr bwMode="auto">
          <a:xfrm>
            <a:off x="6216651" y="212090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154657" name="Text Box 53"/>
          <p:cNvSpPr txBox="1">
            <a:spLocks noChangeArrowheads="1"/>
          </p:cNvSpPr>
          <p:nvPr/>
        </p:nvSpPr>
        <p:spPr bwMode="auto">
          <a:xfrm>
            <a:off x="7475539" y="212090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154658" name="Text Box 54"/>
          <p:cNvSpPr txBox="1">
            <a:spLocks noChangeArrowheads="1"/>
          </p:cNvSpPr>
          <p:nvPr/>
        </p:nvSpPr>
        <p:spPr bwMode="auto">
          <a:xfrm>
            <a:off x="8496300" y="2120900"/>
            <a:ext cx="571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154659" name="Text Box 55"/>
          <p:cNvSpPr txBox="1">
            <a:spLocks noChangeArrowheads="1"/>
          </p:cNvSpPr>
          <p:nvPr/>
        </p:nvSpPr>
        <p:spPr bwMode="auto">
          <a:xfrm>
            <a:off x="9648825" y="2120900"/>
            <a:ext cx="571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11</a:t>
            </a:r>
          </a:p>
        </p:txBody>
      </p:sp>
      <p:grpSp>
        <p:nvGrpSpPr>
          <p:cNvPr id="154660" name="Group 56"/>
          <p:cNvGrpSpPr>
            <a:grpSpLocks/>
          </p:cNvGrpSpPr>
          <p:nvPr/>
        </p:nvGrpSpPr>
        <p:grpSpPr bwMode="auto">
          <a:xfrm>
            <a:off x="2563813" y="2146300"/>
            <a:ext cx="838200" cy="381000"/>
            <a:chOff x="1968" y="1344"/>
            <a:chExt cx="528" cy="240"/>
          </a:xfrm>
        </p:grpSpPr>
        <p:sp>
          <p:nvSpPr>
            <p:cNvPr id="154669" name="Rectangle 57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4670" name="Rectangle 58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sp>
        <p:nvSpPr>
          <p:cNvPr id="154661" name="Line 59"/>
          <p:cNvSpPr>
            <a:spLocks noChangeShapeType="1"/>
          </p:cNvSpPr>
          <p:nvPr/>
        </p:nvSpPr>
        <p:spPr bwMode="auto">
          <a:xfrm>
            <a:off x="3325813" y="2374900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154662" name="Group 60"/>
          <p:cNvGrpSpPr>
            <a:grpSpLocks/>
          </p:cNvGrpSpPr>
          <p:nvPr/>
        </p:nvGrpSpPr>
        <p:grpSpPr bwMode="auto">
          <a:xfrm>
            <a:off x="1801813" y="1865314"/>
            <a:ext cx="762000" cy="579437"/>
            <a:chOff x="834" y="1888"/>
            <a:chExt cx="480" cy="365"/>
          </a:xfrm>
        </p:grpSpPr>
        <p:sp>
          <p:nvSpPr>
            <p:cNvPr id="154667" name="Line 61"/>
            <p:cNvSpPr>
              <a:spLocks noChangeShapeType="1"/>
            </p:cNvSpPr>
            <p:nvPr/>
          </p:nvSpPr>
          <p:spPr bwMode="auto">
            <a:xfrm>
              <a:off x="1074" y="2175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4668" name="Text Box 62"/>
            <p:cNvSpPr txBox="1">
              <a:spLocks noChangeArrowheads="1"/>
            </p:cNvSpPr>
            <p:nvPr/>
          </p:nvSpPr>
          <p:spPr bwMode="auto">
            <a:xfrm>
              <a:off x="834" y="1888"/>
              <a:ext cx="38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 eaLnBrk="1" hangingPunct="1"/>
              <a:r>
                <a:rPr lang="en-US" altLang="zh-CN" sz="3200">
                  <a:latin typeface="Tahoma" panose="020B0604030504040204" pitchFamily="34" charset="0"/>
                  <a:ea typeface="宋体" panose="02010600030101010101" pitchFamily="2" charset="-122"/>
                </a:rPr>
                <a:t>Lb</a:t>
              </a:r>
            </a:p>
          </p:txBody>
        </p:sp>
      </p:grpSp>
      <p:sp>
        <p:nvSpPr>
          <p:cNvPr id="154663" name="Text Box 63"/>
          <p:cNvSpPr txBox="1">
            <a:spLocks noChangeArrowheads="1"/>
          </p:cNvSpPr>
          <p:nvPr/>
        </p:nvSpPr>
        <p:spPr bwMode="auto">
          <a:xfrm>
            <a:off x="4122738" y="2578100"/>
            <a:ext cx="6969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3200" b="1">
                <a:latin typeface="Tahoma" panose="020B0604030504040204" pitchFamily="34" charset="0"/>
                <a:ea typeface="宋体" panose="02010600030101010101" pitchFamily="2" charset="-122"/>
              </a:rPr>
              <a:t>pb</a:t>
            </a:r>
          </a:p>
        </p:txBody>
      </p:sp>
      <p:sp>
        <p:nvSpPr>
          <p:cNvPr id="154664" name="Line 64"/>
          <p:cNvSpPr>
            <a:spLocks noChangeShapeType="1"/>
          </p:cNvSpPr>
          <p:nvPr/>
        </p:nvSpPr>
        <p:spPr bwMode="auto">
          <a:xfrm flipV="1">
            <a:off x="4051300" y="2528888"/>
            <a:ext cx="0" cy="381000"/>
          </a:xfrm>
          <a:prstGeom prst="line">
            <a:avLst/>
          </a:prstGeom>
          <a:noFill/>
          <a:ln w="5715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4665" name="Rectangle 68"/>
          <p:cNvSpPr>
            <a:spLocks noChangeArrowheads="1"/>
          </p:cNvSpPr>
          <p:nvPr/>
        </p:nvSpPr>
        <p:spPr bwMode="auto">
          <a:xfrm>
            <a:off x="1573213" y="0"/>
            <a:ext cx="7797800" cy="5159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r>
              <a:rPr lang="zh-CN" altLang="en-US" sz="3200" b="1">
                <a:latin typeface="楷体_GB2312"/>
                <a:ea typeface="楷体_GB2312"/>
                <a:cs typeface="楷体_GB2312"/>
              </a:rPr>
              <a:t>有序链表合并</a:t>
            </a:r>
            <a:r>
              <a:rPr lang="en-US" altLang="zh-CN" sz="3200" b="1">
                <a:solidFill>
                  <a:srgbClr val="FF0000"/>
                </a:solidFill>
              </a:rPr>
              <a:t>( pa-&gt;data &lt; </a:t>
            </a:r>
            <a:r>
              <a:rPr lang="zh-CN" altLang="en-US" sz="3200" b="1">
                <a:solidFill>
                  <a:srgbClr val="FF0000"/>
                </a:solidFill>
              </a:rPr>
              <a:t>＝</a:t>
            </a:r>
            <a:r>
              <a:rPr lang="en-US" altLang="zh-CN" sz="3200" b="1">
                <a:solidFill>
                  <a:srgbClr val="FF0000"/>
                </a:solidFill>
              </a:rPr>
              <a:t>pb-&gt;data )</a:t>
            </a:r>
          </a:p>
        </p:txBody>
      </p:sp>
      <p:sp>
        <p:nvSpPr>
          <p:cNvPr id="590917" name="Text Box 69"/>
          <p:cNvSpPr txBox="1">
            <a:spLocks noChangeArrowheads="1"/>
          </p:cNvSpPr>
          <p:nvPr/>
        </p:nvSpPr>
        <p:spPr bwMode="auto">
          <a:xfrm>
            <a:off x="6430963" y="2867025"/>
            <a:ext cx="3681412" cy="579438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32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pc-&gt;next = pa;</a:t>
            </a:r>
          </a:p>
        </p:txBody>
      </p:sp>
    </p:spTree>
    <p:extLst>
      <p:ext uri="{BB962C8B-B14F-4D97-AF65-F5344CB8AC3E}">
        <p14:creationId xmlns:p14="http://schemas.microsoft.com/office/powerpoint/2010/main" val="3288788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90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590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2000" fill="hold"/>
                                        <p:tgtEl>
                                          <p:spTgt spid="59086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0869" grpId="0" animBg="1"/>
      <p:bldP spid="590869" grpId="1" animBg="1"/>
      <p:bldP spid="59091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2" name="Line 4"/>
          <p:cNvSpPr>
            <a:spLocks noChangeShapeType="1"/>
          </p:cNvSpPr>
          <p:nvPr/>
        </p:nvSpPr>
        <p:spPr bwMode="auto">
          <a:xfrm>
            <a:off x="4797425" y="1055688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5653" name="Text Box 5"/>
          <p:cNvSpPr txBox="1">
            <a:spLocks noChangeArrowheads="1"/>
          </p:cNvSpPr>
          <p:nvPr/>
        </p:nvSpPr>
        <p:spPr bwMode="auto">
          <a:xfrm>
            <a:off x="5492750" y="1230314"/>
            <a:ext cx="7239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3200" b="1">
                <a:latin typeface="Tahoma" panose="020B0604030504040204" pitchFamily="34" charset="0"/>
                <a:ea typeface="宋体" panose="02010600030101010101" pitchFamily="2" charset="-122"/>
              </a:rPr>
              <a:t>Pa</a:t>
            </a:r>
          </a:p>
        </p:txBody>
      </p:sp>
      <p:sp>
        <p:nvSpPr>
          <p:cNvPr id="155654" name="Line 6"/>
          <p:cNvSpPr>
            <a:spLocks noChangeShapeType="1"/>
          </p:cNvSpPr>
          <p:nvPr/>
        </p:nvSpPr>
        <p:spPr bwMode="auto">
          <a:xfrm flipV="1">
            <a:off x="5421313" y="1181100"/>
            <a:ext cx="0" cy="381000"/>
          </a:xfrm>
          <a:prstGeom prst="line">
            <a:avLst/>
          </a:prstGeom>
          <a:noFill/>
          <a:ln w="5715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5655" name="Line 7"/>
          <p:cNvSpPr>
            <a:spLocks noChangeShapeType="1"/>
          </p:cNvSpPr>
          <p:nvPr/>
        </p:nvSpPr>
        <p:spPr bwMode="auto">
          <a:xfrm>
            <a:off x="3700463" y="1057275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5656" name="Text Box 8"/>
          <p:cNvSpPr txBox="1">
            <a:spLocks noChangeArrowheads="1"/>
          </p:cNvSpPr>
          <p:nvPr/>
        </p:nvSpPr>
        <p:spPr bwMode="auto">
          <a:xfrm>
            <a:off x="2463801" y="639764"/>
            <a:ext cx="147161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3200">
                <a:latin typeface="Tahoma" panose="020B0604030504040204" pitchFamily="34" charset="0"/>
                <a:ea typeface="宋体" panose="02010600030101010101" pitchFamily="2" charset="-122"/>
              </a:rPr>
              <a:t>La(</a:t>
            </a:r>
            <a:r>
              <a:rPr lang="en-US" altLang="zh-CN" sz="320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Lc</a:t>
            </a:r>
            <a:r>
              <a:rPr lang="en-US" altLang="zh-CN" sz="3200">
                <a:latin typeface="Tahoma" panose="020B0604030504040204" pitchFamily="34" charset="0"/>
                <a:ea typeface="宋体" panose="02010600030101010101" pitchFamily="2" charset="-122"/>
              </a:rPr>
              <a:t>)</a:t>
            </a:r>
          </a:p>
        </p:txBody>
      </p:sp>
      <p:grpSp>
        <p:nvGrpSpPr>
          <p:cNvPr id="155657" name="Group 9"/>
          <p:cNvGrpSpPr>
            <a:grpSpLocks/>
          </p:cNvGrpSpPr>
          <p:nvPr/>
        </p:nvGrpSpPr>
        <p:grpSpPr bwMode="auto">
          <a:xfrm>
            <a:off x="5224463" y="828675"/>
            <a:ext cx="838200" cy="381000"/>
            <a:chOff x="1968" y="1344"/>
            <a:chExt cx="528" cy="240"/>
          </a:xfrm>
        </p:grpSpPr>
        <p:sp>
          <p:nvSpPr>
            <p:cNvPr id="155720" name="Rectangle 10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5721" name="Rectangle 11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55658" name="Group 12"/>
          <p:cNvGrpSpPr>
            <a:grpSpLocks/>
          </p:cNvGrpSpPr>
          <p:nvPr/>
        </p:nvGrpSpPr>
        <p:grpSpPr bwMode="auto">
          <a:xfrm>
            <a:off x="6443663" y="828675"/>
            <a:ext cx="838200" cy="381000"/>
            <a:chOff x="1968" y="1344"/>
            <a:chExt cx="528" cy="240"/>
          </a:xfrm>
        </p:grpSpPr>
        <p:sp>
          <p:nvSpPr>
            <p:cNvPr id="155718" name="Rectangle 13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5719" name="Rectangle 14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55659" name="Group 15"/>
          <p:cNvGrpSpPr>
            <a:grpSpLocks/>
          </p:cNvGrpSpPr>
          <p:nvPr/>
        </p:nvGrpSpPr>
        <p:grpSpPr bwMode="auto">
          <a:xfrm>
            <a:off x="7662863" y="828675"/>
            <a:ext cx="838200" cy="381000"/>
            <a:chOff x="1968" y="1344"/>
            <a:chExt cx="528" cy="240"/>
          </a:xfrm>
        </p:grpSpPr>
        <p:sp>
          <p:nvSpPr>
            <p:cNvPr id="155716" name="Rectangle 16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5717" name="Rectangle 17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55660" name="Group 18"/>
          <p:cNvGrpSpPr>
            <a:grpSpLocks/>
          </p:cNvGrpSpPr>
          <p:nvPr/>
        </p:nvGrpSpPr>
        <p:grpSpPr bwMode="auto">
          <a:xfrm>
            <a:off x="4081463" y="828675"/>
            <a:ext cx="838200" cy="381000"/>
            <a:chOff x="1968" y="1344"/>
            <a:chExt cx="528" cy="240"/>
          </a:xfrm>
        </p:grpSpPr>
        <p:sp>
          <p:nvSpPr>
            <p:cNvPr id="155714" name="Rectangle 19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5715" name="Rectangle 20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sp>
        <p:nvSpPr>
          <p:cNvPr id="155661" name="Line 21"/>
          <p:cNvSpPr>
            <a:spLocks noChangeShapeType="1"/>
          </p:cNvSpPr>
          <p:nvPr/>
        </p:nvSpPr>
        <p:spPr bwMode="auto">
          <a:xfrm>
            <a:off x="4835525" y="1047750"/>
            <a:ext cx="457200" cy="0"/>
          </a:xfrm>
          <a:prstGeom prst="line">
            <a:avLst/>
          </a:prstGeom>
          <a:noFill/>
          <a:ln w="5715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5662" name="Line 22"/>
          <p:cNvSpPr>
            <a:spLocks noChangeShapeType="1"/>
          </p:cNvSpPr>
          <p:nvPr/>
        </p:nvSpPr>
        <p:spPr bwMode="auto">
          <a:xfrm>
            <a:off x="5986463" y="1057275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5663" name="Line 23"/>
          <p:cNvSpPr>
            <a:spLocks noChangeShapeType="1"/>
          </p:cNvSpPr>
          <p:nvPr/>
        </p:nvSpPr>
        <p:spPr bwMode="auto">
          <a:xfrm>
            <a:off x="7205663" y="1057275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5664" name="Text Box 24"/>
          <p:cNvSpPr txBox="1">
            <a:spLocks noChangeArrowheads="1"/>
          </p:cNvSpPr>
          <p:nvPr/>
        </p:nvSpPr>
        <p:spPr bwMode="auto">
          <a:xfrm>
            <a:off x="5340351" y="76200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55665" name="Text Box 25"/>
          <p:cNvSpPr txBox="1">
            <a:spLocks noChangeArrowheads="1"/>
          </p:cNvSpPr>
          <p:nvPr/>
        </p:nvSpPr>
        <p:spPr bwMode="auto">
          <a:xfrm>
            <a:off x="6523039" y="76200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155666" name="Text Box 26"/>
          <p:cNvSpPr txBox="1">
            <a:spLocks noChangeArrowheads="1"/>
          </p:cNvSpPr>
          <p:nvPr/>
        </p:nvSpPr>
        <p:spPr bwMode="auto">
          <a:xfrm>
            <a:off x="7778751" y="76200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8</a:t>
            </a:r>
          </a:p>
        </p:txBody>
      </p:sp>
      <p:grpSp>
        <p:nvGrpSpPr>
          <p:cNvPr id="155667" name="Group 27"/>
          <p:cNvGrpSpPr>
            <a:grpSpLocks/>
          </p:cNvGrpSpPr>
          <p:nvPr/>
        </p:nvGrpSpPr>
        <p:grpSpPr bwMode="auto">
          <a:xfrm>
            <a:off x="3778250" y="2155825"/>
            <a:ext cx="838200" cy="381000"/>
            <a:chOff x="1968" y="1344"/>
            <a:chExt cx="528" cy="240"/>
          </a:xfrm>
        </p:grpSpPr>
        <p:sp>
          <p:nvSpPr>
            <p:cNvPr id="155712" name="Rectangle 28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5713" name="Rectangle 29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55668" name="Group 30"/>
          <p:cNvGrpSpPr>
            <a:grpSpLocks/>
          </p:cNvGrpSpPr>
          <p:nvPr/>
        </p:nvGrpSpPr>
        <p:grpSpPr bwMode="auto">
          <a:xfrm>
            <a:off x="4921250" y="2155825"/>
            <a:ext cx="838200" cy="381000"/>
            <a:chOff x="1968" y="1344"/>
            <a:chExt cx="528" cy="240"/>
          </a:xfrm>
        </p:grpSpPr>
        <p:sp>
          <p:nvSpPr>
            <p:cNvPr id="155710" name="Rectangle 31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5711" name="Rectangle 32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55669" name="Group 33"/>
          <p:cNvGrpSpPr>
            <a:grpSpLocks/>
          </p:cNvGrpSpPr>
          <p:nvPr/>
        </p:nvGrpSpPr>
        <p:grpSpPr bwMode="auto">
          <a:xfrm>
            <a:off x="6140450" y="2155825"/>
            <a:ext cx="838200" cy="381000"/>
            <a:chOff x="1968" y="1344"/>
            <a:chExt cx="528" cy="240"/>
          </a:xfrm>
        </p:grpSpPr>
        <p:sp>
          <p:nvSpPr>
            <p:cNvPr id="155708" name="Rectangle 34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5709" name="Rectangle 35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55670" name="Group 36"/>
          <p:cNvGrpSpPr>
            <a:grpSpLocks/>
          </p:cNvGrpSpPr>
          <p:nvPr/>
        </p:nvGrpSpPr>
        <p:grpSpPr bwMode="auto">
          <a:xfrm>
            <a:off x="7359650" y="2155825"/>
            <a:ext cx="838200" cy="381000"/>
            <a:chOff x="1968" y="1344"/>
            <a:chExt cx="528" cy="240"/>
          </a:xfrm>
        </p:grpSpPr>
        <p:sp>
          <p:nvSpPr>
            <p:cNvPr id="155706" name="Rectangle 37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5707" name="Rectangle 38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55671" name="Group 39"/>
          <p:cNvGrpSpPr>
            <a:grpSpLocks/>
          </p:cNvGrpSpPr>
          <p:nvPr/>
        </p:nvGrpSpPr>
        <p:grpSpPr bwMode="auto">
          <a:xfrm>
            <a:off x="8502650" y="2155825"/>
            <a:ext cx="838200" cy="381000"/>
            <a:chOff x="1968" y="1344"/>
            <a:chExt cx="528" cy="240"/>
          </a:xfrm>
        </p:grpSpPr>
        <p:sp>
          <p:nvSpPr>
            <p:cNvPr id="155704" name="Rectangle 40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5705" name="Rectangle 41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55672" name="Group 42"/>
          <p:cNvGrpSpPr>
            <a:grpSpLocks/>
          </p:cNvGrpSpPr>
          <p:nvPr/>
        </p:nvGrpSpPr>
        <p:grpSpPr bwMode="auto">
          <a:xfrm>
            <a:off x="9645650" y="2155825"/>
            <a:ext cx="838200" cy="381000"/>
            <a:chOff x="1968" y="1344"/>
            <a:chExt cx="528" cy="240"/>
          </a:xfrm>
        </p:grpSpPr>
        <p:sp>
          <p:nvSpPr>
            <p:cNvPr id="155702" name="Rectangle 43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5703" name="Rectangle 44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sp>
        <p:nvSpPr>
          <p:cNvPr id="155673" name="Line 45"/>
          <p:cNvSpPr>
            <a:spLocks noChangeShapeType="1"/>
          </p:cNvSpPr>
          <p:nvPr/>
        </p:nvSpPr>
        <p:spPr bwMode="auto">
          <a:xfrm>
            <a:off x="4464050" y="2308225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5674" name="Line 46"/>
          <p:cNvSpPr>
            <a:spLocks noChangeShapeType="1"/>
          </p:cNvSpPr>
          <p:nvPr/>
        </p:nvSpPr>
        <p:spPr bwMode="auto">
          <a:xfrm>
            <a:off x="6902450" y="2308225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5675" name="Line 47"/>
          <p:cNvSpPr>
            <a:spLocks noChangeShapeType="1"/>
          </p:cNvSpPr>
          <p:nvPr/>
        </p:nvSpPr>
        <p:spPr bwMode="auto">
          <a:xfrm>
            <a:off x="8045450" y="2308225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5676" name="Line 48"/>
          <p:cNvSpPr>
            <a:spLocks noChangeShapeType="1"/>
          </p:cNvSpPr>
          <p:nvPr/>
        </p:nvSpPr>
        <p:spPr bwMode="auto">
          <a:xfrm>
            <a:off x="5683250" y="2308225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5677" name="Line 49"/>
          <p:cNvSpPr>
            <a:spLocks noChangeShapeType="1"/>
          </p:cNvSpPr>
          <p:nvPr/>
        </p:nvSpPr>
        <p:spPr bwMode="auto">
          <a:xfrm>
            <a:off x="9188450" y="2308225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5678" name="Text Box 50"/>
          <p:cNvSpPr txBox="1">
            <a:spLocks noChangeArrowheads="1"/>
          </p:cNvSpPr>
          <p:nvPr/>
        </p:nvSpPr>
        <p:spPr bwMode="auto">
          <a:xfrm>
            <a:off x="3919539" y="2079625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55679" name="Text Box 51"/>
          <p:cNvSpPr txBox="1">
            <a:spLocks noChangeArrowheads="1"/>
          </p:cNvSpPr>
          <p:nvPr/>
        </p:nvSpPr>
        <p:spPr bwMode="auto">
          <a:xfrm>
            <a:off x="5037139" y="2079625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55680" name="Text Box 52"/>
          <p:cNvSpPr txBox="1">
            <a:spLocks noChangeArrowheads="1"/>
          </p:cNvSpPr>
          <p:nvPr/>
        </p:nvSpPr>
        <p:spPr bwMode="auto">
          <a:xfrm>
            <a:off x="6216651" y="212090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155681" name="Text Box 53"/>
          <p:cNvSpPr txBox="1">
            <a:spLocks noChangeArrowheads="1"/>
          </p:cNvSpPr>
          <p:nvPr/>
        </p:nvSpPr>
        <p:spPr bwMode="auto">
          <a:xfrm>
            <a:off x="7475539" y="212090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155682" name="Text Box 54"/>
          <p:cNvSpPr txBox="1">
            <a:spLocks noChangeArrowheads="1"/>
          </p:cNvSpPr>
          <p:nvPr/>
        </p:nvSpPr>
        <p:spPr bwMode="auto">
          <a:xfrm>
            <a:off x="8496300" y="2120900"/>
            <a:ext cx="571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155683" name="Text Box 55"/>
          <p:cNvSpPr txBox="1">
            <a:spLocks noChangeArrowheads="1"/>
          </p:cNvSpPr>
          <p:nvPr/>
        </p:nvSpPr>
        <p:spPr bwMode="auto">
          <a:xfrm>
            <a:off x="9648825" y="2120900"/>
            <a:ext cx="571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11</a:t>
            </a:r>
          </a:p>
        </p:txBody>
      </p:sp>
      <p:grpSp>
        <p:nvGrpSpPr>
          <p:cNvPr id="155684" name="Group 56"/>
          <p:cNvGrpSpPr>
            <a:grpSpLocks/>
          </p:cNvGrpSpPr>
          <p:nvPr/>
        </p:nvGrpSpPr>
        <p:grpSpPr bwMode="auto">
          <a:xfrm>
            <a:off x="2563813" y="2146300"/>
            <a:ext cx="838200" cy="381000"/>
            <a:chOff x="1968" y="1344"/>
            <a:chExt cx="528" cy="240"/>
          </a:xfrm>
        </p:grpSpPr>
        <p:sp>
          <p:nvSpPr>
            <p:cNvPr id="155700" name="Rectangle 57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5701" name="Rectangle 58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sp>
        <p:nvSpPr>
          <p:cNvPr id="155685" name="Line 59"/>
          <p:cNvSpPr>
            <a:spLocks noChangeShapeType="1"/>
          </p:cNvSpPr>
          <p:nvPr/>
        </p:nvSpPr>
        <p:spPr bwMode="auto">
          <a:xfrm>
            <a:off x="3325813" y="2374900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155686" name="Group 60"/>
          <p:cNvGrpSpPr>
            <a:grpSpLocks/>
          </p:cNvGrpSpPr>
          <p:nvPr/>
        </p:nvGrpSpPr>
        <p:grpSpPr bwMode="auto">
          <a:xfrm>
            <a:off x="1801813" y="1865314"/>
            <a:ext cx="762000" cy="579437"/>
            <a:chOff x="834" y="1888"/>
            <a:chExt cx="480" cy="365"/>
          </a:xfrm>
        </p:grpSpPr>
        <p:sp>
          <p:nvSpPr>
            <p:cNvPr id="155698" name="Line 61"/>
            <p:cNvSpPr>
              <a:spLocks noChangeShapeType="1"/>
            </p:cNvSpPr>
            <p:nvPr/>
          </p:nvSpPr>
          <p:spPr bwMode="auto">
            <a:xfrm>
              <a:off x="1074" y="2175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5699" name="Text Box 62"/>
            <p:cNvSpPr txBox="1">
              <a:spLocks noChangeArrowheads="1"/>
            </p:cNvSpPr>
            <p:nvPr/>
          </p:nvSpPr>
          <p:spPr bwMode="auto">
            <a:xfrm>
              <a:off x="834" y="1888"/>
              <a:ext cx="38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 eaLnBrk="1" hangingPunct="1"/>
              <a:r>
                <a:rPr lang="en-US" altLang="zh-CN" sz="3200">
                  <a:latin typeface="Tahoma" panose="020B0604030504040204" pitchFamily="34" charset="0"/>
                  <a:ea typeface="宋体" panose="02010600030101010101" pitchFamily="2" charset="-122"/>
                </a:rPr>
                <a:t>Lb</a:t>
              </a:r>
            </a:p>
          </p:txBody>
        </p:sp>
      </p:grpSp>
      <p:sp>
        <p:nvSpPr>
          <p:cNvPr id="155687" name="Text Box 63"/>
          <p:cNvSpPr txBox="1">
            <a:spLocks noChangeArrowheads="1"/>
          </p:cNvSpPr>
          <p:nvPr/>
        </p:nvSpPr>
        <p:spPr bwMode="auto">
          <a:xfrm>
            <a:off x="4122738" y="2578100"/>
            <a:ext cx="6969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3200" b="1">
                <a:latin typeface="Tahoma" panose="020B0604030504040204" pitchFamily="34" charset="0"/>
                <a:ea typeface="宋体" panose="02010600030101010101" pitchFamily="2" charset="-122"/>
              </a:rPr>
              <a:t>pb</a:t>
            </a:r>
          </a:p>
        </p:txBody>
      </p:sp>
      <p:sp>
        <p:nvSpPr>
          <p:cNvPr id="155688" name="Line 64"/>
          <p:cNvSpPr>
            <a:spLocks noChangeShapeType="1"/>
          </p:cNvSpPr>
          <p:nvPr/>
        </p:nvSpPr>
        <p:spPr bwMode="auto">
          <a:xfrm flipV="1">
            <a:off x="4051300" y="2528888"/>
            <a:ext cx="0" cy="381000"/>
          </a:xfrm>
          <a:prstGeom prst="line">
            <a:avLst/>
          </a:prstGeom>
          <a:noFill/>
          <a:ln w="5715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5689" name="Rectangle 65"/>
          <p:cNvSpPr>
            <a:spLocks noChangeArrowheads="1"/>
          </p:cNvSpPr>
          <p:nvPr/>
        </p:nvSpPr>
        <p:spPr bwMode="auto">
          <a:xfrm>
            <a:off x="1573213" y="0"/>
            <a:ext cx="7797800" cy="5159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r>
              <a:rPr lang="zh-CN" altLang="en-US" sz="3200" b="1">
                <a:latin typeface="楷体_GB2312"/>
                <a:ea typeface="楷体_GB2312"/>
                <a:cs typeface="楷体_GB2312"/>
              </a:rPr>
              <a:t>有序链表合并</a:t>
            </a:r>
            <a:r>
              <a:rPr lang="en-US" altLang="zh-CN" sz="3200" b="1">
                <a:solidFill>
                  <a:srgbClr val="FF0000"/>
                </a:solidFill>
              </a:rPr>
              <a:t>( pa-&gt;data &lt; </a:t>
            </a:r>
            <a:r>
              <a:rPr lang="zh-CN" altLang="en-US" sz="3200" b="1">
                <a:solidFill>
                  <a:srgbClr val="FF0000"/>
                </a:solidFill>
              </a:rPr>
              <a:t>＝</a:t>
            </a:r>
            <a:r>
              <a:rPr lang="en-US" altLang="zh-CN" sz="3200" b="1">
                <a:solidFill>
                  <a:srgbClr val="FF0000"/>
                </a:solidFill>
              </a:rPr>
              <a:t>pb-&gt;data )</a:t>
            </a:r>
          </a:p>
        </p:txBody>
      </p:sp>
      <p:sp>
        <p:nvSpPr>
          <p:cNvPr id="155690" name="Text Box 66"/>
          <p:cNvSpPr txBox="1">
            <a:spLocks noChangeArrowheads="1"/>
          </p:cNvSpPr>
          <p:nvPr/>
        </p:nvSpPr>
        <p:spPr bwMode="auto">
          <a:xfrm>
            <a:off x="6430963" y="2867025"/>
            <a:ext cx="3681412" cy="579438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32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pc-&gt;next = pa;</a:t>
            </a:r>
          </a:p>
        </p:txBody>
      </p:sp>
      <p:sp>
        <p:nvSpPr>
          <p:cNvPr id="591940" name="Text Box 68"/>
          <p:cNvSpPr txBox="1">
            <a:spLocks noChangeArrowheads="1"/>
          </p:cNvSpPr>
          <p:nvPr/>
        </p:nvSpPr>
        <p:spPr bwMode="auto">
          <a:xfrm>
            <a:off x="6443663" y="3446464"/>
            <a:ext cx="3681412" cy="579437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32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pc= pa;</a:t>
            </a:r>
          </a:p>
        </p:txBody>
      </p:sp>
      <p:grpSp>
        <p:nvGrpSpPr>
          <p:cNvPr id="14" name="Group 76"/>
          <p:cNvGrpSpPr>
            <a:grpSpLocks/>
          </p:cNvGrpSpPr>
          <p:nvPr/>
        </p:nvGrpSpPr>
        <p:grpSpPr bwMode="auto">
          <a:xfrm>
            <a:off x="5214938" y="773113"/>
            <a:ext cx="838200" cy="457200"/>
            <a:chOff x="2467" y="616"/>
            <a:chExt cx="528" cy="288"/>
          </a:xfrm>
        </p:grpSpPr>
        <p:grpSp>
          <p:nvGrpSpPr>
            <p:cNvPr id="155694" name="Group 72"/>
            <p:cNvGrpSpPr>
              <a:grpSpLocks/>
            </p:cNvGrpSpPr>
            <p:nvPr/>
          </p:nvGrpSpPr>
          <p:grpSpPr bwMode="auto">
            <a:xfrm>
              <a:off x="2467" y="658"/>
              <a:ext cx="528" cy="240"/>
              <a:chOff x="1968" y="1344"/>
              <a:chExt cx="528" cy="240"/>
            </a:xfrm>
          </p:grpSpPr>
          <p:sp>
            <p:nvSpPr>
              <p:cNvPr id="155696" name="Rectangle 73"/>
              <p:cNvSpPr>
                <a:spLocks noChangeArrowheads="1"/>
              </p:cNvSpPr>
              <p:nvPr/>
            </p:nvSpPr>
            <p:spPr bwMode="auto">
              <a:xfrm>
                <a:off x="1968" y="1344"/>
                <a:ext cx="384" cy="240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155697" name="Rectangle 74"/>
              <p:cNvSpPr>
                <a:spLocks noChangeArrowheads="1"/>
              </p:cNvSpPr>
              <p:nvPr/>
            </p:nvSpPr>
            <p:spPr bwMode="auto">
              <a:xfrm>
                <a:off x="2352" y="1344"/>
                <a:ext cx="144" cy="240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</p:grpSp>
        <p:sp>
          <p:nvSpPr>
            <p:cNvPr id="155695" name="Text Box 75"/>
            <p:cNvSpPr txBox="1">
              <a:spLocks noChangeArrowheads="1"/>
            </p:cNvSpPr>
            <p:nvPr/>
          </p:nvSpPr>
          <p:spPr bwMode="auto">
            <a:xfrm>
              <a:off x="2540" y="616"/>
              <a:ext cx="23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 eaLnBrk="1" hangingPunct="1"/>
              <a:r>
                <a: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591950" name="Text Box 78"/>
          <p:cNvSpPr txBox="1">
            <a:spLocks noChangeArrowheads="1"/>
          </p:cNvSpPr>
          <p:nvPr/>
        </p:nvSpPr>
        <p:spPr bwMode="auto">
          <a:xfrm>
            <a:off x="4722813" y="1193800"/>
            <a:ext cx="86836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32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Pc</a:t>
            </a:r>
            <a:endParaRPr lang="en-US" altLang="zh-CN" sz="3200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3446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91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91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3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1" dur="2000" fill="hold"/>
                                        <p:tgtEl>
                                          <p:spTgt spid="1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1940" grpId="0" animBg="1"/>
      <p:bldP spid="59195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6" name="Line 4"/>
          <p:cNvSpPr>
            <a:spLocks noChangeShapeType="1"/>
          </p:cNvSpPr>
          <p:nvPr/>
        </p:nvSpPr>
        <p:spPr bwMode="auto">
          <a:xfrm>
            <a:off x="4797425" y="1055688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6677" name="Line 6"/>
          <p:cNvSpPr>
            <a:spLocks noChangeShapeType="1"/>
          </p:cNvSpPr>
          <p:nvPr/>
        </p:nvSpPr>
        <p:spPr bwMode="auto">
          <a:xfrm flipV="1">
            <a:off x="5421313" y="1181100"/>
            <a:ext cx="0" cy="381000"/>
          </a:xfrm>
          <a:prstGeom prst="line">
            <a:avLst/>
          </a:prstGeom>
          <a:noFill/>
          <a:ln w="5715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6678" name="Line 7"/>
          <p:cNvSpPr>
            <a:spLocks noChangeShapeType="1"/>
          </p:cNvSpPr>
          <p:nvPr/>
        </p:nvSpPr>
        <p:spPr bwMode="auto">
          <a:xfrm>
            <a:off x="3700463" y="1057275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6679" name="Text Box 8"/>
          <p:cNvSpPr txBox="1">
            <a:spLocks noChangeArrowheads="1"/>
          </p:cNvSpPr>
          <p:nvPr/>
        </p:nvSpPr>
        <p:spPr bwMode="auto">
          <a:xfrm>
            <a:off x="2463801" y="639764"/>
            <a:ext cx="147161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3200">
                <a:latin typeface="Tahoma" panose="020B0604030504040204" pitchFamily="34" charset="0"/>
                <a:ea typeface="宋体" panose="02010600030101010101" pitchFamily="2" charset="-122"/>
              </a:rPr>
              <a:t>La(</a:t>
            </a:r>
            <a:r>
              <a:rPr lang="en-US" altLang="zh-CN" sz="320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Lc</a:t>
            </a:r>
            <a:r>
              <a:rPr lang="en-US" altLang="zh-CN" sz="3200">
                <a:latin typeface="Tahoma" panose="020B0604030504040204" pitchFamily="34" charset="0"/>
                <a:ea typeface="宋体" panose="02010600030101010101" pitchFamily="2" charset="-122"/>
              </a:rPr>
              <a:t>)</a:t>
            </a:r>
          </a:p>
        </p:txBody>
      </p:sp>
      <p:grpSp>
        <p:nvGrpSpPr>
          <p:cNvPr id="156680" name="Group 9"/>
          <p:cNvGrpSpPr>
            <a:grpSpLocks/>
          </p:cNvGrpSpPr>
          <p:nvPr/>
        </p:nvGrpSpPr>
        <p:grpSpPr bwMode="auto">
          <a:xfrm>
            <a:off x="5224463" y="828675"/>
            <a:ext cx="838200" cy="381000"/>
            <a:chOff x="1968" y="1344"/>
            <a:chExt cx="528" cy="240"/>
          </a:xfrm>
        </p:grpSpPr>
        <p:sp>
          <p:nvSpPr>
            <p:cNvPr id="156748" name="Rectangle 10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6749" name="Rectangle 11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56681" name="Group 12"/>
          <p:cNvGrpSpPr>
            <a:grpSpLocks/>
          </p:cNvGrpSpPr>
          <p:nvPr/>
        </p:nvGrpSpPr>
        <p:grpSpPr bwMode="auto">
          <a:xfrm>
            <a:off x="6443663" y="828675"/>
            <a:ext cx="838200" cy="381000"/>
            <a:chOff x="1968" y="1344"/>
            <a:chExt cx="528" cy="240"/>
          </a:xfrm>
        </p:grpSpPr>
        <p:sp>
          <p:nvSpPr>
            <p:cNvPr id="156746" name="Rectangle 13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6747" name="Rectangle 14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56682" name="Group 15"/>
          <p:cNvGrpSpPr>
            <a:grpSpLocks/>
          </p:cNvGrpSpPr>
          <p:nvPr/>
        </p:nvGrpSpPr>
        <p:grpSpPr bwMode="auto">
          <a:xfrm>
            <a:off x="7662863" y="828675"/>
            <a:ext cx="838200" cy="381000"/>
            <a:chOff x="1968" y="1344"/>
            <a:chExt cx="528" cy="240"/>
          </a:xfrm>
        </p:grpSpPr>
        <p:sp>
          <p:nvSpPr>
            <p:cNvPr id="156744" name="Rectangle 16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6745" name="Rectangle 17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56683" name="Group 18"/>
          <p:cNvGrpSpPr>
            <a:grpSpLocks/>
          </p:cNvGrpSpPr>
          <p:nvPr/>
        </p:nvGrpSpPr>
        <p:grpSpPr bwMode="auto">
          <a:xfrm>
            <a:off x="4081463" y="828675"/>
            <a:ext cx="838200" cy="381000"/>
            <a:chOff x="1968" y="1344"/>
            <a:chExt cx="528" cy="240"/>
          </a:xfrm>
        </p:grpSpPr>
        <p:sp>
          <p:nvSpPr>
            <p:cNvPr id="156742" name="Rectangle 19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6743" name="Rectangle 20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sp>
        <p:nvSpPr>
          <p:cNvPr id="156684" name="Line 21"/>
          <p:cNvSpPr>
            <a:spLocks noChangeShapeType="1"/>
          </p:cNvSpPr>
          <p:nvPr/>
        </p:nvSpPr>
        <p:spPr bwMode="auto">
          <a:xfrm>
            <a:off x="4835525" y="1047750"/>
            <a:ext cx="457200" cy="0"/>
          </a:xfrm>
          <a:prstGeom prst="line">
            <a:avLst/>
          </a:prstGeom>
          <a:noFill/>
          <a:ln w="5715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6685" name="Line 22"/>
          <p:cNvSpPr>
            <a:spLocks noChangeShapeType="1"/>
          </p:cNvSpPr>
          <p:nvPr/>
        </p:nvSpPr>
        <p:spPr bwMode="auto">
          <a:xfrm>
            <a:off x="5986463" y="1057275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6686" name="Line 23"/>
          <p:cNvSpPr>
            <a:spLocks noChangeShapeType="1"/>
          </p:cNvSpPr>
          <p:nvPr/>
        </p:nvSpPr>
        <p:spPr bwMode="auto">
          <a:xfrm>
            <a:off x="7205663" y="1057275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6687" name="Text Box 24"/>
          <p:cNvSpPr txBox="1">
            <a:spLocks noChangeArrowheads="1"/>
          </p:cNvSpPr>
          <p:nvPr/>
        </p:nvSpPr>
        <p:spPr bwMode="auto">
          <a:xfrm>
            <a:off x="5340351" y="76200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56688" name="Text Box 25"/>
          <p:cNvSpPr txBox="1">
            <a:spLocks noChangeArrowheads="1"/>
          </p:cNvSpPr>
          <p:nvPr/>
        </p:nvSpPr>
        <p:spPr bwMode="auto">
          <a:xfrm>
            <a:off x="6523039" y="76200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156689" name="Text Box 26"/>
          <p:cNvSpPr txBox="1">
            <a:spLocks noChangeArrowheads="1"/>
          </p:cNvSpPr>
          <p:nvPr/>
        </p:nvSpPr>
        <p:spPr bwMode="auto">
          <a:xfrm>
            <a:off x="7778751" y="76200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8</a:t>
            </a:r>
          </a:p>
        </p:txBody>
      </p:sp>
      <p:grpSp>
        <p:nvGrpSpPr>
          <p:cNvPr id="156690" name="Group 27"/>
          <p:cNvGrpSpPr>
            <a:grpSpLocks/>
          </p:cNvGrpSpPr>
          <p:nvPr/>
        </p:nvGrpSpPr>
        <p:grpSpPr bwMode="auto">
          <a:xfrm>
            <a:off x="3778250" y="2155825"/>
            <a:ext cx="838200" cy="381000"/>
            <a:chOff x="1968" y="1344"/>
            <a:chExt cx="528" cy="240"/>
          </a:xfrm>
        </p:grpSpPr>
        <p:sp>
          <p:nvSpPr>
            <p:cNvPr id="156740" name="Rectangle 28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6741" name="Rectangle 29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56691" name="Group 30"/>
          <p:cNvGrpSpPr>
            <a:grpSpLocks/>
          </p:cNvGrpSpPr>
          <p:nvPr/>
        </p:nvGrpSpPr>
        <p:grpSpPr bwMode="auto">
          <a:xfrm>
            <a:off x="4921250" y="2155825"/>
            <a:ext cx="838200" cy="381000"/>
            <a:chOff x="1968" y="1344"/>
            <a:chExt cx="528" cy="240"/>
          </a:xfrm>
        </p:grpSpPr>
        <p:sp>
          <p:nvSpPr>
            <p:cNvPr id="156738" name="Rectangle 31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6739" name="Rectangle 32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56692" name="Group 33"/>
          <p:cNvGrpSpPr>
            <a:grpSpLocks/>
          </p:cNvGrpSpPr>
          <p:nvPr/>
        </p:nvGrpSpPr>
        <p:grpSpPr bwMode="auto">
          <a:xfrm>
            <a:off x="6140450" y="2155825"/>
            <a:ext cx="838200" cy="381000"/>
            <a:chOff x="1968" y="1344"/>
            <a:chExt cx="528" cy="240"/>
          </a:xfrm>
        </p:grpSpPr>
        <p:sp>
          <p:nvSpPr>
            <p:cNvPr id="156736" name="Rectangle 34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6737" name="Rectangle 35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56693" name="Group 36"/>
          <p:cNvGrpSpPr>
            <a:grpSpLocks/>
          </p:cNvGrpSpPr>
          <p:nvPr/>
        </p:nvGrpSpPr>
        <p:grpSpPr bwMode="auto">
          <a:xfrm>
            <a:off x="7359650" y="2155825"/>
            <a:ext cx="838200" cy="381000"/>
            <a:chOff x="1968" y="1344"/>
            <a:chExt cx="528" cy="240"/>
          </a:xfrm>
        </p:grpSpPr>
        <p:sp>
          <p:nvSpPr>
            <p:cNvPr id="156734" name="Rectangle 37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6735" name="Rectangle 38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56694" name="Group 39"/>
          <p:cNvGrpSpPr>
            <a:grpSpLocks/>
          </p:cNvGrpSpPr>
          <p:nvPr/>
        </p:nvGrpSpPr>
        <p:grpSpPr bwMode="auto">
          <a:xfrm>
            <a:off x="8502650" y="2155825"/>
            <a:ext cx="838200" cy="381000"/>
            <a:chOff x="1968" y="1344"/>
            <a:chExt cx="528" cy="240"/>
          </a:xfrm>
        </p:grpSpPr>
        <p:sp>
          <p:nvSpPr>
            <p:cNvPr id="156732" name="Rectangle 40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6733" name="Rectangle 41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56695" name="Group 42"/>
          <p:cNvGrpSpPr>
            <a:grpSpLocks/>
          </p:cNvGrpSpPr>
          <p:nvPr/>
        </p:nvGrpSpPr>
        <p:grpSpPr bwMode="auto">
          <a:xfrm>
            <a:off x="9645650" y="2155825"/>
            <a:ext cx="838200" cy="381000"/>
            <a:chOff x="1968" y="1344"/>
            <a:chExt cx="528" cy="240"/>
          </a:xfrm>
        </p:grpSpPr>
        <p:sp>
          <p:nvSpPr>
            <p:cNvPr id="156730" name="Rectangle 43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6731" name="Rectangle 44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sp>
        <p:nvSpPr>
          <p:cNvPr id="156696" name="Line 45"/>
          <p:cNvSpPr>
            <a:spLocks noChangeShapeType="1"/>
          </p:cNvSpPr>
          <p:nvPr/>
        </p:nvSpPr>
        <p:spPr bwMode="auto">
          <a:xfrm>
            <a:off x="4464050" y="2308225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6697" name="Line 46"/>
          <p:cNvSpPr>
            <a:spLocks noChangeShapeType="1"/>
          </p:cNvSpPr>
          <p:nvPr/>
        </p:nvSpPr>
        <p:spPr bwMode="auto">
          <a:xfrm>
            <a:off x="6902450" y="2308225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6698" name="Line 47"/>
          <p:cNvSpPr>
            <a:spLocks noChangeShapeType="1"/>
          </p:cNvSpPr>
          <p:nvPr/>
        </p:nvSpPr>
        <p:spPr bwMode="auto">
          <a:xfrm>
            <a:off x="8045450" y="2308225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6699" name="Line 48"/>
          <p:cNvSpPr>
            <a:spLocks noChangeShapeType="1"/>
          </p:cNvSpPr>
          <p:nvPr/>
        </p:nvSpPr>
        <p:spPr bwMode="auto">
          <a:xfrm>
            <a:off x="5683250" y="2308225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6700" name="Line 49"/>
          <p:cNvSpPr>
            <a:spLocks noChangeShapeType="1"/>
          </p:cNvSpPr>
          <p:nvPr/>
        </p:nvSpPr>
        <p:spPr bwMode="auto">
          <a:xfrm>
            <a:off x="9188450" y="2308225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6701" name="Text Box 50"/>
          <p:cNvSpPr txBox="1">
            <a:spLocks noChangeArrowheads="1"/>
          </p:cNvSpPr>
          <p:nvPr/>
        </p:nvSpPr>
        <p:spPr bwMode="auto">
          <a:xfrm>
            <a:off x="3919539" y="2079625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56702" name="Text Box 51"/>
          <p:cNvSpPr txBox="1">
            <a:spLocks noChangeArrowheads="1"/>
          </p:cNvSpPr>
          <p:nvPr/>
        </p:nvSpPr>
        <p:spPr bwMode="auto">
          <a:xfrm>
            <a:off x="5037139" y="2079625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56703" name="Text Box 52"/>
          <p:cNvSpPr txBox="1">
            <a:spLocks noChangeArrowheads="1"/>
          </p:cNvSpPr>
          <p:nvPr/>
        </p:nvSpPr>
        <p:spPr bwMode="auto">
          <a:xfrm>
            <a:off x="6216651" y="212090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156704" name="Text Box 53"/>
          <p:cNvSpPr txBox="1">
            <a:spLocks noChangeArrowheads="1"/>
          </p:cNvSpPr>
          <p:nvPr/>
        </p:nvSpPr>
        <p:spPr bwMode="auto">
          <a:xfrm>
            <a:off x="7475539" y="212090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156705" name="Text Box 54"/>
          <p:cNvSpPr txBox="1">
            <a:spLocks noChangeArrowheads="1"/>
          </p:cNvSpPr>
          <p:nvPr/>
        </p:nvSpPr>
        <p:spPr bwMode="auto">
          <a:xfrm>
            <a:off x="8496300" y="2120900"/>
            <a:ext cx="571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156706" name="Text Box 55"/>
          <p:cNvSpPr txBox="1">
            <a:spLocks noChangeArrowheads="1"/>
          </p:cNvSpPr>
          <p:nvPr/>
        </p:nvSpPr>
        <p:spPr bwMode="auto">
          <a:xfrm>
            <a:off x="9648825" y="2120900"/>
            <a:ext cx="571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11</a:t>
            </a:r>
          </a:p>
        </p:txBody>
      </p:sp>
      <p:grpSp>
        <p:nvGrpSpPr>
          <p:cNvPr id="156707" name="Group 56"/>
          <p:cNvGrpSpPr>
            <a:grpSpLocks/>
          </p:cNvGrpSpPr>
          <p:nvPr/>
        </p:nvGrpSpPr>
        <p:grpSpPr bwMode="auto">
          <a:xfrm>
            <a:off x="2563813" y="2146300"/>
            <a:ext cx="838200" cy="381000"/>
            <a:chOff x="1968" y="1344"/>
            <a:chExt cx="528" cy="240"/>
          </a:xfrm>
        </p:grpSpPr>
        <p:sp>
          <p:nvSpPr>
            <p:cNvPr id="156728" name="Rectangle 57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6729" name="Rectangle 58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sp>
        <p:nvSpPr>
          <p:cNvPr id="156708" name="Line 59"/>
          <p:cNvSpPr>
            <a:spLocks noChangeShapeType="1"/>
          </p:cNvSpPr>
          <p:nvPr/>
        </p:nvSpPr>
        <p:spPr bwMode="auto">
          <a:xfrm>
            <a:off x="3325813" y="2374900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156709" name="Group 60"/>
          <p:cNvGrpSpPr>
            <a:grpSpLocks/>
          </p:cNvGrpSpPr>
          <p:nvPr/>
        </p:nvGrpSpPr>
        <p:grpSpPr bwMode="auto">
          <a:xfrm>
            <a:off x="1801813" y="1865314"/>
            <a:ext cx="762000" cy="579437"/>
            <a:chOff x="834" y="1888"/>
            <a:chExt cx="480" cy="365"/>
          </a:xfrm>
        </p:grpSpPr>
        <p:sp>
          <p:nvSpPr>
            <p:cNvPr id="156726" name="Line 61"/>
            <p:cNvSpPr>
              <a:spLocks noChangeShapeType="1"/>
            </p:cNvSpPr>
            <p:nvPr/>
          </p:nvSpPr>
          <p:spPr bwMode="auto">
            <a:xfrm>
              <a:off x="1074" y="2175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6727" name="Text Box 62"/>
            <p:cNvSpPr txBox="1">
              <a:spLocks noChangeArrowheads="1"/>
            </p:cNvSpPr>
            <p:nvPr/>
          </p:nvSpPr>
          <p:spPr bwMode="auto">
            <a:xfrm>
              <a:off x="834" y="1888"/>
              <a:ext cx="38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 eaLnBrk="1" hangingPunct="1"/>
              <a:r>
                <a:rPr lang="en-US" altLang="zh-CN" sz="3200">
                  <a:latin typeface="Tahoma" panose="020B0604030504040204" pitchFamily="34" charset="0"/>
                  <a:ea typeface="宋体" panose="02010600030101010101" pitchFamily="2" charset="-122"/>
                </a:rPr>
                <a:t>Lb</a:t>
              </a:r>
            </a:p>
          </p:txBody>
        </p:sp>
      </p:grpSp>
      <p:sp>
        <p:nvSpPr>
          <p:cNvPr id="156710" name="Text Box 63"/>
          <p:cNvSpPr txBox="1">
            <a:spLocks noChangeArrowheads="1"/>
          </p:cNvSpPr>
          <p:nvPr/>
        </p:nvSpPr>
        <p:spPr bwMode="auto">
          <a:xfrm>
            <a:off x="4122738" y="2578100"/>
            <a:ext cx="6969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3200" b="1">
                <a:latin typeface="Tahoma" panose="020B0604030504040204" pitchFamily="34" charset="0"/>
                <a:ea typeface="宋体" panose="02010600030101010101" pitchFamily="2" charset="-122"/>
              </a:rPr>
              <a:t>pb</a:t>
            </a:r>
          </a:p>
        </p:txBody>
      </p:sp>
      <p:sp>
        <p:nvSpPr>
          <p:cNvPr id="156711" name="Line 64"/>
          <p:cNvSpPr>
            <a:spLocks noChangeShapeType="1"/>
          </p:cNvSpPr>
          <p:nvPr/>
        </p:nvSpPr>
        <p:spPr bwMode="auto">
          <a:xfrm flipV="1">
            <a:off x="4051300" y="2528888"/>
            <a:ext cx="0" cy="381000"/>
          </a:xfrm>
          <a:prstGeom prst="line">
            <a:avLst/>
          </a:prstGeom>
          <a:noFill/>
          <a:ln w="5715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6712" name="Rectangle 65"/>
          <p:cNvSpPr>
            <a:spLocks noChangeArrowheads="1"/>
          </p:cNvSpPr>
          <p:nvPr/>
        </p:nvSpPr>
        <p:spPr bwMode="auto">
          <a:xfrm>
            <a:off x="1573213" y="0"/>
            <a:ext cx="7797800" cy="5159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r>
              <a:rPr lang="zh-CN" altLang="en-US" sz="3200" b="1">
                <a:latin typeface="楷体_GB2312"/>
                <a:ea typeface="楷体_GB2312"/>
                <a:cs typeface="楷体_GB2312"/>
              </a:rPr>
              <a:t>有序链表合并</a:t>
            </a:r>
            <a:r>
              <a:rPr lang="en-US" altLang="zh-CN" sz="3200" b="1">
                <a:solidFill>
                  <a:srgbClr val="FF0000"/>
                </a:solidFill>
              </a:rPr>
              <a:t>( pa-&gt;data &lt; </a:t>
            </a:r>
            <a:r>
              <a:rPr lang="zh-CN" altLang="en-US" sz="3200" b="1">
                <a:solidFill>
                  <a:srgbClr val="FF0000"/>
                </a:solidFill>
              </a:rPr>
              <a:t>＝</a:t>
            </a:r>
            <a:r>
              <a:rPr lang="en-US" altLang="zh-CN" sz="3200" b="1">
                <a:solidFill>
                  <a:srgbClr val="FF0000"/>
                </a:solidFill>
              </a:rPr>
              <a:t>pb-&gt;data )</a:t>
            </a:r>
          </a:p>
        </p:txBody>
      </p:sp>
      <p:sp>
        <p:nvSpPr>
          <p:cNvPr id="156713" name="Text Box 66"/>
          <p:cNvSpPr txBox="1">
            <a:spLocks noChangeArrowheads="1"/>
          </p:cNvSpPr>
          <p:nvPr/>
        </p:nvSpPr>
        <p:spPr bwMode="auto">
          <a:xfrm>
            <a:off x="6430963" y="2867025"/>
            <a:ext cx="3681412" cy="579438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32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pc-&gt;next = pa;</a:t>
            </a:r>
          </a:p>
        </p:txBody>
      </p:sp>
      <p:sp>
        <p:nvSpPr>
          <p:cNvPr id="156714" name="Text Box 67"/>
          <p:cNvSpPr txBox="1">
            <a:spLocks noChangeArrowheads="1"/>
          </p:cNvSpPr>
          <p:nvPr/>
        </p:nvSpPr>
        <p:spPr bwMode="auto">
          <a:xfrm>
            <a:off x="6443663" y="3446464"/>
            <a:ext cx="3681412" cy="579437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32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pc= pa;</a:t>
            </a:r>
          </a:p>
        </p:txBody>
      </p:sp>
      <p:grpSp>
        <p:nvGrpSpPr>
          <p:cNvPr id="156715" name="Group 68"/>
          <p:cNvGrpSpPr>
            <a:grpSpLocks/>
          </p:cNvGrpSpPr>
          <p:nvPr/>
        </p:nvGrpSpPr>
        <p:grpSpPr bwMode="auto">
          <a:xfrm>
            <a:off x="5214938" y="773113"/>
            <a:ext cx="838200" cy="457200"/>
            <a:chOff x="2467" y="616"/>
            <a:chExt cx="528" cy="288"/>
          </a:xfrm>
        </p:grpSpPr>
        <p:grpSp>
          <p:nvGrpSpPr>
            <p:cNvPr id="156722" name="Group 69"/>
            <p:cNvGrpSpPr>
              <a:grpSpLocks/>
            </p:cNvGrpSpPr>
            <p:nvPr/>
          </p:nvGrpSpPr>
          <p:grpSpPr bwMode="auto">
            <a:xfrm>
              <a:off x="2467" y="658"/>
              <a:ext cx="528" cy="240"/>
              <a:chOff x="1968" y="1344"/>
              <a:chExt cx="528" cy="240"/>
            </a:xfrm>
          </p:grpSpPr>
          <p:sp>
            <p:nvSpPr>
              <p:cNvPr id="156724" name="Rectangle 70"/>
              <p:cNvSpPr>
                <a:spLocks noChangeArrowheads="1"/>
              </p:cNvSpPr>
              <p:nvPr/>
            </p:nvSpPr>
            <p:spPr bwMode="auto">
              <a:xfrm>
                <a:off x="1968" y="1344"/>
                <a:ext cx="384" cy="240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156725" name="Rectangle 71"/>
              <p:cNvSpPr>
                <a:spLocks noChangeArrowheads="1"/>
              </p:cNvSpPr>
              <p:nvPr/>
            </p:nvSpPr>
            <p:spPr bwMode="auto">
              <a:xfrm>
                <a:off x="2352" y="1344"/>
                <a:ext cx="144" cy="240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</p:grpSp>
        <p:sp>
          <p:nvSpPr>
            <p:cNvPr id="156723" name="Text Box 72"/>
            <p:cNvSpPr txBox="1">
              <a:spLocks noChangeArrowheads="1"/>
            </p:cNvSpPr>
            <p:nvPr/>
          </p:nvSpPr>
          <p:spPr bwMode="auto">
            <a:xfrm>
              <a:off x="2540" y="616"/>
              <a:ext cx="23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 eaLnBrk="1" hangingPunct="1"/>
              <a:r>
                <a: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156716" name="Text Box 73"/>
          <p:cNvSpPr txBox="1">
            <a:spLocks noChangeArrowheads="1"/>
          </p:cNvSpPr>
          <p:nvPr/>
        </p:nvSpPr>
        <p:spPr bwMode="auto">
          <a:xfrm>
            <a:off x="4722813" y="1193800"/>
            <a:ext cx="86836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32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Pc</a:t>
            </a:r>
            <a:endParaRPr lang="en-US" altLang="zh-CN" sz="3200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6" name="Group 77"/>
          <p:cNvGrpSpPr>
            <a:grpSpLocks/>
          </p:cNvGrpSpPr>
          <p:nvPr/>
        </p:nvGrpSpPr>
        <p:grpSpPr bwMode="auto">
          <a:xfrm>
            <a:off x="6443663" y="1230314"/>
            <a:ext cx="3681412" cy="3375025"/>
            <a:chOff x="3099" y="775"/>
            <a:chExt cx="2319" cy="2126"/>
          </a:xfrm>
        </p:grpSpPr>
        <p:sp>
          <p:nvSpPr>
            <p:cNvPr id="156718" name="Text Box 74"/>
            <p:cNvSpPr txBox="1">
              <a:spLocks noChangeArrowheads="1"/>
            </p:cNvSpPr>
            <p:nvPr/>
          </p:nvSpPr>
          <p:spPr bwMode="auto">
            <a:xfrm>
              <a:off x="3099" y="2536"/>
              <a:ext cx="2319" cy="365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 eaLnBrk="1" hangingPunct="1"/>
              <a:r>
                <a:rPr lang="en-US" altLang="zh-CN" sz="3200" b="1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pa = pa-&gt;next;</a:t>
              </a:r>
            </a:p>
          </p:txBody>
        </p:sp>
        <p:grpSp>
          <p:nvGrpSpPr>
            <p:cNvPr id="156719" name="Group 76"/>
            <p:cNvGrpSpPr>
              <a:grpSpLocks/>
            </p:cNvGrpSpPr>
            <p:nvPr/>
          </p:nvGrpSpPr>
          <p:grpSpPr bwMode="auto">
            <a:xfrm>
              <a:off x="3231" y="775"/>
              <a:ext cx="456" cy="365"/>
              <a:chOff x="3231" y="775"/>
              <a:chExt cx="456" cy="365"/>
            </a:xfrm>
          </p:grpSpPr>
          <p:sp>
            <p:nvSpPr>
              <p:cNvPr id="156720" name="Text Box 5"/>
              <p:cNvSpPr txBox="1">
                <a:spLocks noChangeArrowheads="1"/>
              </p:cNvSpPr>
              <p:nvPr/>
            </p:nvSpPr>
            <p:spPr bwMode="auto">
              <a:xfrm>
                <a:off x="3231" y="775"/>
                <a:ext cx="456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 eaLnBrk="1" hangingPunct="1"/>
                <a:r>
                  <a:rPr lang="en-US" altLang="zh-CN" sz="3200" b="1">
                    <a:latin typeface="Tahoma" panose="020B0604030504040204" pitchFamily="34" charset="0"/>
                    <a:ea typeface="宋体" panose="02010600030101010101" pitchFamily="2" charset="-122"/>
                  </a:rPr>
                  <a:t>Pa</a:t>
                </a:r>
              </a:p>
            </p:txBody>
          </p:sp>
          <p:sp>
            <p:nvSpPr>
              <p:cNvPr id="156721" name="Line 75"/>
              <p:cNvSpPr>
                <a:spLocks noChangeShapeType="1"/>
              </p:cNvSpPr>
              <p:nvPr/>
            </p:nvSpPr>
            <p:spPr bwMode="auto">
              <a:xfrm flipV="1">
                <a:off x="3231" y="775"/>
                <a:ext cx="0" cy="24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29353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00" name="Line 67"/>
          <p:cNvSpPr>
            <a:spLocks noChangeShapeType="1"/>
          </p:cNvSpPr>
          <p:nvPr/>
        </p:nvSpPr>
        <p:spPr bwMode="auto">
          <a:xfrm>
            <a:off x="4797425" y="1055688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7701" name="Line 68"/>
          <p:cNvSpPr>
            <a:spLocks noChangeShapeType="1"/>
          </p:cNvSpPr>
          <p:nvPr/>
        </p:nvSpPr>
        <p:spPr bwMode="auto">
          <a:xfrm flipV="1">
            <a:off x="5421313" y="1181100"/>
            <a:ext cx="0" cy="381000"/>
          </a:xfrm>
          <a:prstGeom prst="line">
            <a:avLst/>
          </a:prstGeom>
          <a:noFill/>
          <a:ln w="5715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7702" name="Line 69"/>
          <p:cNvSpPr>
            <a:spLocks noChangeShapeType="1"/>
          </p:cNvSpPr>
          <p:nvPr/>
        </p:nvSpPr>
        <p:spPr bwMode="auto">
          <a:xfrm>
            <a:off x="3700463" y="1057275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7703" name="Text Box 70"/>
          <p:cNvSpPr txBox="1">
            <a:spLocks noChangeArrowheads="1"/>
          </p:cNvSpPr>
          <p:nvPr/>
        </p:nvSpPr>
        <p:spPr bwMode="auto">
          <a:xfrm>
            <a:off x="2463801" y="639764"/>
            <a:ext cx="147161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3200">
                <a:latin typeface="Tahoma" panose="020B0604030504040204" pitchFamily="34" charset="0"/>
                <a:ea typeface="宋体" panose="02010600030101010101" pitchFamily="2" charset="-122"/>
              </a:rPr>
              <a:t>La(</a:t>
            </a:r>
            <a:r>
              <a:rPr lang="en-US" altLang="zh-CN" sz="320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Lc</a:t>
            </a:r>
            <a:r>
              <a:rPr lang="en-US" altLang="zh-CN" sz="3200">
                <a:latin typeface="Tahoma" panose="020B0604030504040204" pitchFamily="34" charset="0"/>
                <a:ea typeface="宋体" panose="02010600030101010101" pitchFamily="2" charset="-122"/>
              </a:rPr>
              <a:t>)</a:t>
            </a:r>
          </a:p>
        </p:txBody>
      </p:sp>
      <p:grpSp>
        <p:nvGrpSpPr>
          <p:cNvPr id="157704" name="Group 71"/>
          <p:cNvGrpSpPr>
            <a:grpSpLocks/>
          </p:cNvGrpSpPr>
          <p:nvPr/>
        </p:nvGrpSpPr>
        <p:grpSpPr bwMode="auto">
          <a:xfrm>
            <a:off x="5224463" y="828675"/>
            <a:ext cx="838200" cy="381000"/>
            <a:chOff x="1968" y="1344"/>
            <a:chExt cx="528" cy="240"/>
          </a:xfrm>
        </p:grpSpPr>
        <p:sp>
          <p:nvSpPr>
            <p:cNvPr id="157775" name="Rectangle 72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7776" name="Rectangle 73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57705" name="Group 74"/>
          <p:cNvGrpSpPr>
            <a:grpSpLocks/>
          </p:cNvGrpSpPr>
          <p:nvPr/>
        </p:nvGrpSpPr>
        <p:grpSpPr bwMode="auto">
          <a:xfrm>
            <a:off x="6443663" y="828675"/>
            <a:ext cx="838200" cy="381000"/>
            <a:chOff x="1968" y="1344"/>
            <a:chExt cx="528" cy="240"/>
          </a:xfrm>
        </p:grpSpPr>
        <p:sp>
          <p:nvSpPr>
            <p:cNvPr id="157773" name="Rectangle 75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7774" name="Rectangle 76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57706" name="Group 77"/>
          <p:cNvGrpSpPr>
            <a:grpSpLocks/>
          </p:cNvGrpSpPr>
          <p:nvPr/>
        </p:nvGrpSpPr>
        <p:grpSpPr bwMode="auto">
          <a:xfrm>
            <a:off x="7662863" y="828675"/>
            <a:ext cx="838200" cy="381000"/>
            <a:chOff x="1968" y="1344"/>
            <a:chExt cx="528" cy="240"/>
          </a:xfrm>
        </p:grpSpPr>
        <p:sp>
          <p:nvSpPr>
            <p:cNvPr id="157771" name="Rectangle 78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7772" name="Rectangle 79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57707" name="Group 80"/>
          <p:cNvGrpSpPr>
            <a:grpSpLocks/>
          </p:cNvGrpSpPr>
          <p:nvPr/>
        </p:nvGrpSpPr>
        <p:grpSpPr bwMode="auto">
          <a:xfrm>
            <a:off x="4081463" y="828675"/>
            <a:ext cx="838200" cy="381000"/>
            <a:chOff x="1968" y="1344"/>
            <a:chExt cx="528" cy="240"/>
          </a:xfrm>
        </p:grpSpPr>
        <p:sp>
          <p:nvSpPr>
            <p:cNvPr id="157769" name="Rectangle 81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7770" name="Rectangle 82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sp>
        <p:nvSpPr>
          <p:cNvPr id="157708" name="Line 83"/>
          <p:cNvSpPr>
            <a:spLocks noChangeShapeType="1"/>
          </p:cNvSpPr>
          <p:nvPr/>
        </p:nvSpPr>
        <p:spPr bwMode="auto">
          <a:xfrm>
            <a:off x="4835525" y="1047750"/>
            <a:ext cx="457200" cy="0"/>
          </a:xfrm>
          <a:prstGeom prst="line">
            <a:avLst/>
          </a:prstGeom>
          <a:noFill/>
          <a:ln w="5715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7709" name="Line 84"/>
          <p:cNvSpPr>
            <a:spLocks noChangeShapeType="1"/>
          </p:cNvSpPr>
          <p:nvPr/>
        </p:nvSpPr>
        <p:spPr bwMode="auto">
          <a:xfrm>
            <a:off x="5986463" y="1057275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7710" name="Line 85"/>
          <p:cNvSpPr>
            <a:spLocks noChangeShapeType="1"/>
          </p:cNvSpPr>
          <p:nvPr/>
        </p:nvSpPr>
        <p:spPr bwMode="auto">
          <a:xfrm>
            <a:off x="7205663" y="1057275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7711" name="Text Box 86"/>
          <p:cNvSpPr txBox="1">
            <a:spLocks noChangeArrowheads="1"/>
          </p:cNvSpPr>
          <p:nvPr/>
        </p:nvSpPr>
        <p:spPr bwMode="auto">
          <a:xfrm>
            <a:off x="5340351" y="76200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57712" name="Text Box 87"/>
          <p:cNvSpPr txBox="1">
            <a:spLocks noChangeArrowheads="1"/>
          </p:cNvSpPr>
          <p:nvPr/>
        </p:nvSpPr>
        <p:spPr bwMode="auto">
          <a:xfrm>
            <a:off x="6523039" y="76200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157713" name="Text Box 88"/>
          <p:cNvSpPr txBox="1">
            <a:spLocks noChangeArrowheads="1"/>
          </p:cNvSpPr>
          <p:nvPr/>
        </p:nvSpPr>
        <p:spPr bwMode="auto">
          <a:xfrm>
            <a:off x="7778751" y="76200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8</a:t>
            </a:r>
          </a:p>
        </p:txBody>
      </p:sp>
      <p:grpSp>
        <p:nvGrpSpPr>
          <p:cNvPr id="157714" name="Group 89"/>
          <p:cNvGrpSpPr>
            <a:grpSpLocks/>
          </p:cNvGrpSpPr>
          <p:nvPr/>
        </p:nvGrpSpPr>
        <p:grpSpPr bwMode="auto">
          <a:xfrm>
            <a:off x="3778250" y="2155825"/>
            <a:ext cx="838200" cy="381000"/>
            <a:chOff x="1968" y="1344"/>
            <a:chExt cx="528" cy="240"/>
          </a:xfrm>
        </p:grpSpPr>
        <p:sp>
          <p:nvSpPr>
            <p:cNvPr id="157767" name="Rectangle 90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7768" name="Rectangle 91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57715" name="Group 92"/>
          <p:cNvGrpSpPr>
            <a:grpSpLocks/>
          </p:cNvGrpSpPr>
          <p:nvPr/>
        </p:nvGrpSpPr>
        <p:grpSpPr bwMode="auto">
          <a:xfrm>
            <a:off x="4921250" y="2155825"/>
            <a:ext cx="838200" cy="381000"/>
            <a:chOff x="1968" y="1344"/>
            <a:chExt cx="528" cy="240"/>
          </a:xfrm>
        </p:grpSpPr>
        <p:sp>
          <p:nvSpPr>
            <p:cNvPr id="157765" name="Rectangle 93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7766" name="Rectangle 94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57716" name="Group 95"/>
          <p:cNvGrpSpPr>
            <a:grpSpLocks/>
          </p:cNvGrpSpPr>
          <p:nvPr/>
        </p:nvGrpSpPr>
        <p:grpSpPr bwMode="auto">
          <a:xfrm>
            <a:off x="6140450" y="2155825"/>
            <a:ext cx="838200" cy="381000"/>
            <a:chOff x="1968" y="1344"/>
            <a:chExt cx="528" cy="240"/>
          </a:xfrm>
        </p:grpSpPr>
        <p:sp>
          <p:nvSpPr>
            <p:cNvPr id="157763" name="Rectangle 96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7764" name="Rectangle 97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57717" name="Group 98"/>
          <p:cNvGrpSpPr>
            <a:grpSpLocks/>
          </p:cNvGrpSpPr>
          <p:nvPr/>
        </p:nvGrpSpPr>
        <p:grpSpPr bwMode="auto">
          <a:xfrm>
            <a:off x="7359650" y="2155825"/>
            <a:ext cx="838200" cy="381000"/>
            <a:chOff x="1968" y="1344"/>
            <a:chExt cx="528" cy="240"/>
          </a:xfrm>
        </p:grpSpPr>
        <p:sp>
          <p:nvSpPr>
            <p:cNvPr id="157761" name="Rectangle 99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7762" name="Rectangle 100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57718" name="Group 101"/>
          <p:cNvGrpSpPr>
            <a:grpSpLocks/>
          </p:cNvGrpSpPr>
          <p:nvPr/>
        </p:nvGrpSpPr>
        <p:grpSpPr bwMode="auto">
          <a:xfrm>
            <a:off x="8502650" y="2155825"/>
            <a:ext cx="838200" cy="381000"/>
            <a:chOff x="1968" y="1344"/>
            <a:chExt cx="528" cy="240"/>
          </a:xfrm>
        </p:grpSpPr>
        <p:sp>
          <p:nvSpPr>
            <p:cNvPr id="157759" name="Rectangle 102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7760" name="Rectangle 103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57719" name="Group 104"/>
          <p:cNvGrpSpPr>
            <a:grpSpLocks/>
          </p:cNvGrpSpPr>
          <p:nvPr/>
        </p:nvGrpSpPr>
        <p:grpSpPr bwMode="auto">
          <a:xfrm>
            <a:off x="9645650" y="2155825"/>
            <a:ext cx="838200" cy="381000"/>
            <a:chOff x="1968" y="1344"/>
            <a:chExt cx="528" cy="240"/>
          </a:xfrm>
        </p:grpSpPr>
        <p:sp>
          <p:nvSpPr>
            <p:cNvPr id="157757" name="Rectangle 105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7758" name="Rectangle 106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sp>
        <p:nvSpPr>
          <p:cNvPr id="157720" name="Line 107"/>
          <p:cNvSpPr>
            <a:spLocks noChangeShapeType="1"/>
          </p:cNvSpPr>
          <p:nvPr/>
        </p:nvSpPr>
        <p:spPr bwMode="auto">
          <a:xfrm>
            <a:off x="4464050" y="2308225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7721" name="Line 108"/>
          <p:cNvSpPr>
            <a:spLocks noChangeShapeType="1"/>
          </p:cNvSpPr>
          <p:nvPr/>
        </p:nvSpPr>
        <p:spPr bwMode="auto">
          <a:xfrm>
            <a:off x="6902450" y="2308225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7722" name="Line 109"/>
          <p:cNvSpPr>
            <a:spLocks noChangeShapeType="1"/>
          </p:cNvSpPr>
          <p:nvPr/>
        </p:nvSpPr>
        <p:spPr bwMode="auto">
          <a:xfrm>
            <a:off x="8045450" y="2308225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7723" name="Line 110"/>
          <p:cNvSpPr>
            <a:spLocks noChangeShapeType="1"/>
          </p:cNvSpPr>
          <p:nvPr/>
        </p:nvSpPr>
        <p:spPr bwMode="auto">
          <a:xfrm>
            <a:off x="5683250" y="2308225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7724" name="Line 111"/>
          <p:cNvSpPr>
            <a:spLocks noChangeShapeType="1"/>
          </p:cNvSpPr>
          <p:nvPr/>
        </p:nvSpPr>
        <p:spPr bwMode="auto">
          <a:xfrm>
            <a:off x="9188450" y="2308225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7725" name="Text Box 112"/>
          <p:cNvSpPr txBox="1">
            <a:spLocks noChangeArrowheads="1"/>
          </p:cNvSpPr>
          <p:nvPr/>
        </p:nvSpPr>
        <p:spPr bwMode="auto">
          <a:xfrm>
            <a:off x="3919539" y="2079625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57726" name="Text Box 113"/>
          <p:cNvSpPr txBox="1">
            <a:spLocks noChangeArrowheads="1"/>
          </p:cNvSpPr>
          <p:nvPr/>
        </p:nvSpPr>
        <p:spPr bwMode="auto">
          <a:xfrm>
            <a:off x="5037139" y="2079625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57727" name="Text Box 114"/>
          <p:cNvSpPr txBox="1">
            <a:spLocks noChangeArrowheads="1"/>
          </p:cNvSpPr>
          <p:nvPr/>
        </p:nvSpPr>
        <p:spPr bwMode="auto">
          <a:xfrm>
            <a:off x="6216651" y="212090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157728" name="Text Box 115"/>
          <p:cNvSpPr txBox="1">
            <a:spLocks noChangeArrowheads="1"/>
          </p:cNvSpPr>
          <p:nvPr/>
        </p:nvSpPr>
        <p:spPr bwMode="auto">
          <a:xfrm>
            <a:off x="7475539" y="212090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157729" name="Text Box 116"/>
          <p:cNvSpPr txBox="1">
            <a:spLocks noChangeArrowheads="1"/>
          </p:cNvSpPr>
          <p:nvPr/>
        </p:nvSpPr>
        <p:spPr bwMode="auto">
          <a:xfrm>
            <a:off x="8496300" y="2120900"/>
            <a:ext cx="571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157730" name="Text Box 117"/>
          <p:cNvSpPr txBox="1">
            <a:spLocks noChangeArrowheads="1"/>
          </p:cNvSpPr>
          <p:nvPr/>
        </p:nvSpPr>
        <p:spPr bwMode="auto">
          <a:xfrm>
            <a:off x="9648825" y="2120900"/>
            <a:ext cx="571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11</a:t>
            </a:r>
          </a:p>
        </p:txBody>
      </p:sp>
      <p:grpSp>
        <p:nvGrpSpPr>
          <p:cNvPr id="157731" name="Group 118"/>
          <p:cNvGrpSpPr>
            <a:grpSpLocks/>
          </p:cNvGrpSpPr>
          <p:nvPr/>
        </p:nvGrpSpPr>
        <p:grpSpPr bwMode="auto">
          <a:xfrm>
            <a:off x="2563813" y="2146300"/>
            <a:ext cx="838200" cy="381000"/>
            <a:chOff x="1968" y="1344"/>
            <a:chExt cx="528" cy="240"/>
          </a:xfrm>
        </p:grpSpPr>
        <p:sp>
          <p:nvSpPr>
            <p:cNvPr id="157755" name="Rectangle 119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7756" name="Rectangle 120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sp>
        <p:nvSpPr>
          <p:cNvPr id="157732" name="Line 121"/>
          <p:cNvSpPr>
            <a:spLocks noChangeShapeType="1"/>
          </p:cNvSpPr>
          <p:nvPr/>
        </p:nvSpPr>
        <p:spPr bwMode="auto">
          <a:xfrm>
            <a:off x="3325813" y="2374900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157733" name="Group 122"/>
          <p:cNvGrpSpPr>
            <a:grpSpLocks/>
          </p:cNvGrpSpPr>
          <p:nvPr/>
        </p:nvGrpSpPr>
        <p:grpSpPr bwMode="auto">
          <a:xfrm>
            <a:off x="1801813" y="1865314"/>
            <a:ext cx="762000" cy="579437"/>
            <a:chOff x="834" y="1888"/>
            <a:chExt cx="480" cy="365"/>
          </a:xfrm>
        </p:grpSpPr>
        <p:sp>
          <p:nvSpPr>
            <p:cNvPr id="157753" name="Line 123"/>
            <p:cNvSpPr>
              <a:spLocks noChangeShapeType="1"/>
            </p:cNvSpPr>
            <p:nvPr/>
          </p:nvSpPr>
          <p:spPr bwMode="auto">
            <a:xfrm>
              <a:off x="1074" y="2175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7754" name="Text Box 124"/>
            <p:cNvSpPr txBox="1">
              <a:spLocks noChangeArrowheads="1"/>
            </p:cNvSpPr>
            <p:nvPr/>
          </p:nvSpPr>
          <p:spPr bwMode="auto">
            <a:xfrm>
              <a:off x="834" y="1888"/>
              <a:ext cx="38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 eaLnBrk="1" hangingPunct="1"/>
              <a:r>
                <a:rPr lang="en-US" altLang="zh-CN" sz="3200">
                  <a:latin typeface="Tahoma" panose="020B0604030504040204" pitchFamily="34" charset="0"/>
                  <a:ea typeface="宋体" panose="02010600030101010101" pitchFamily="2" charset="-122"/>
                </a:rPr>
                <a:t>Lb</a:t>
              </a:r>
            </a:p>
          </p:txBody>
        </p:sp>
      </p:grpSp>
      <p:sp>
        <p:nvSpPr>
          <p:cNvPr id="157734" name="Text Box 125"/>
          <p:cNvSpPr txBox="1">
            <a:spLocks noChangeArrowheads="1"/>
          </p:cNvSpPr>
          <p:nvPr/>
        </p:nvSpPr>
        <p:spPr bwMode="auto">
          <a:xfrm>
            <a:off x="4122738" y="2578100"/>
            <a:ext cx="6969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3200" b="1">
                <a:latin typeface="Tahoma" panose="020B0604030504040204" pitchFamily="34" charset="0"/>
                <a:ea typeface="宋体" panose="02010600030101010101" pitchFamily="2" charset="-122"/>
              </a:rPr>
              <a:t>pb</a:t>
            </a:r>
          </a:p>
        </p:txBody>
      </p:sp>
      <p:sp>
        <p:nvSpPr>
          <p:cNvPr id="157735" name="Line 126"/>
          <p:cNvSpPr>
            <a:spLocks noChangeShapeType="1"/>
          </p:cNvSpPr>
          <p:nvPr/>
        </p:nvSpPr>
        <p:spPr bwMode="auto">
          <a:xfrm flipV="1">
            <a:off x="4051300" y="2528888"/>
            <a:ext cx="0" cy="381000"/>
          </a:xfrm>
          <a:prstGeom prst="line">
            <a:avLst/>
          </a:prstGeom>
          <a:noFill/>
          <a:ln w="5715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7736" name="Rectangle 127"/>
          <p:cNvSpPr>
            <a:spLocks noChangeArrowheads="1"/>
          </p:cNvSpPr>
          <p:nvPr/>
        </p:nvSpPr>
        <p:spPr bwMode="auto">
          <a:xfrm>
            <a:off x="1573213" y="0"/>
            <a:ext cx="7797800" cy="5159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r>
              <a:rPr lang="zh-CN" altLang="en-US" sz="3200" b="1">
                <a:latin typeface="楷体_GB2312"/>
                <a:ea typeface="楷体_GB2312"/>
                <a:cs typeface="楷体_GB2312"/>
              </a:rPr>
              <a:t>有序链表合并</a:t>
            </a:r>
            <a:r>
              <a:rPr lang="en-US" altLang="zh-CN" sz="3200" b="1">
                <a:solidFill>
                  <a:srgbClr val="FF0000"/>
                </a:solidFill>
              </a:rPr>
              <a:t>( pa-&gt;data &gt;pb-&gt;data )</a:t>
            </a:r>
          </a:p>
        </p:txBody>
      </p:sp>
      <p:sp>
        <p:nvSpPr>
          <p:cNvPr id="594048" name="Text Box 128"/>
          <p:cNvSpPr txBox="1">
            <a:spLocks noChangeArrowheads="1"/>
          </p:cNvSpPr>
          <p:nvPr/>
        </p:nvSpPr>
        <p:spPr bwMode="auto">
          <a:xfrm>
            <a:off x="6430963" y="2867025"/>
            <a:ext cx="3681412" cy="579438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32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pc-&gt;next = pb;</a:t>
            </a:r>
          </a:p>
        </p:txBody>
      </p:sp>
      <p:grpSp>
        <p:nvGrpSpPr>
          <p:cNvPr id="157738" name="Group 130"/>
          <p:cNvGrpSpPr>
            <a:grpSpLocks/>
          </p:cNvGrpSpPr>
          <p:nvPr/>
        </p:nvGrpSpPr>
        <p:grpSpPr bwMode="auto">
          <a:xfrm>
            <a:off x="5214938" y="773113"/>
            <a:ext cx="838200" cy="457200"/>
            <a:chOff x="2467" y="616"/>
            <a:chExt cx="528" cy="288"/>
          </a:xfrm>
        </p:grpSpPr>
        <p:grpSp>
          <p:nvGrpSpPr>
            <p:cNvPr id="157749" name="Group 131"/>
            <p:cNvGrpSpPr>
              <a:grpSpLocks/>
            </p:cNvGrpSpPr>
            <p:nvPr/>
          </p:nvGrpSpPr>
          <p:grpSpPr bwMode="auto">
            <a:xfrm>
              <a:off x="2467" y="658"/>
              <a:ext cx="528" cy="240"/>
              <a:chOff x="1968" y="1344"/>
              <a:chExt cx="528" cy="240"/>
            </a:xfrm>
          </p:grpSpPr>
          <p:sp>
            <p:nvSpPr>
              <p:cNvPr id="157751" name="Rectangle 132"/>
              <p:cNvSpPr>
                <a:spLocks noChangeArrowheads="1"/>
              </p:cNvSpPr>
              <p:nvPr/>
            </p:nvSpPr>
            <p:spPr bwMode="auto">
              <a:xfrm>
                <a:off x="1968" y="1344"/>
                <a:ext cx="384" cy="240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157752" name="Rectangle 133"/>
              <p:cNvSpPr>
                <a:spLocks noChangeArrowheads="1"/>
              </p:cNvSpPr>
              <p:nvPr/>
            </p:nvSpPr>
            <p:spPr bwMode="auto">
              <a:xfrm>
                <a:off x="2352" y="1344"/>
                <a:ext cx="144" cy="240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</p:grpSp>
        <p:sp>
          <p:nvSpPr>
            <p:cNvPr id="157750" name="Text Box 134"/>
            <p:cNvSpPr txBox="1">
              <a:spLocks noChangeArrowheads="1"/>
            </p:cNvSpPr>
            <p:nvPr/>
          </p:nvSpPr>
          <p:spPr bwMode="auto">
            <a:xfrm>
              <a:off x="2540" y="616"/>
              <a:ext cx="23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 eaLnBrk="1" hangingPunct="1"/>
              <a:r>
                <a: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157739" name="Text Box 135"/>
          <p:cNvSpPr txBox="1">
            <a:spLocks noChangeArrowheads="1"/>
          </p:cNvSpPr>
          <p:nvPr/>
        </p:nvSpPr>
        <p:spPr bwMode="auto">
          <a:xfrm>
            <a:off x="4722813" y="1193800"/>
            <a:ext cx="86836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32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Pc</a:t>
            </a:r>
            <a:endParaRPr lang="en-US" altLang="zh-CN" sz="3200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6" name="Group 144"/>
          <p:cNvGrpSpPr>
            <a:grpSpLocks/>
          </p:cNvGrpSpPr>
          <p:nvPr/>
        </p:nvGrpSpPr>
        <p:grpSpPr bwMode="auto">
          <a:xfrm>
            <a:off x="4211638" y="1209675"/>
            <a:ext cx="1681162" cy="960438"/>
            <a:chOff x="1693" y="762"/>
            <a:chExt cx="1059" cy="605"/>
          </a:xfrm>
        </p:grpSpPr>
        <p:sp>
          <p:nvSpPr>
            <p:cNvPr id="157746" name="Line 141"/>
            <p:cNvSpPr>
              <a:spLocks noChangeShapeType="1"/>
            </p:cNvSpPr>
            <p:nvPr/>
          </p:nvSpPr>
          <p:spPr bwMode="auto">
            <a:xfrm>
              <a:off x="2737" y="762"/>
              <a:ext cx="0" cy="2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7747" name="Line 142"/>
            <p:cNvSpPr>
              <a:spLocks noChangeShapeType="1"/>
            </p:cNvSpPr>
            <p:nvPr/>
          </p:nvSpPr>
          <p:spPr bwMode="auto">
            <a:xfrm flipH="1">
              <a:off x="1693" y="1050"/>
              <a:ext cx="1059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7748" name="Line 143"/>
            <p:cNvSpPr>
              <a:spLocks noChangeShapeType="1"/>
            </p:cNvSpPr>
            <p:nvPr/>
          </p:nvSpPr>
          <p:spPr bwMode="auto">
            <a:xfrm>
              <a:off x="1701" y="1050"/>
              <a:ext cx="0" cy="31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157741" name="Text Box 145"/>
          <p:cNvSpPr txBox="1">
            <a:spLocks noChangeArrowheads="1"/>
          </p:cNvSpPr>
          <p:nvPr/>
        </p:nvSpPr>
        <p:spPr bwMode="auto">
          <a:xfrm>
            <a:off x="6711951" y="1246189"/>
            <a:ext cx="6826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3200" b="1">
                <a:latin typeface="Tahoma" panose="020B0604030504040204" pitchFamily="34" charset="0"/>
                <a:ea typeface="宋体" panose="02010600030101010101" pitchFamily="2" charset="-122"/>
              </a:rPr>
              <a:t>pa</a:t>
            </a:r>
          </a:p>
        </p:txBody>
      </p:sp>
      <p:sp>
        <p:nvSpPr>
          <p:cNvPr id="157742" name="Line 146"/>
          <p:cNvSpPr>
            <a:spLocks noChangeShapeType="1"/>
          </p:cNvSpPr>
          <p:nvPr/>
        </p:nvSpPr>
        <p:spPr bwMode="auto">
          <a:xfrm flipV="1">
            <a:off x="6640513" y="1196975"/>
            <a:ext cx="0" cy="381000"/>
          </a:xfrm>
          <a:prstGeom prst="line">
            <a:avLst/>
          </a:prstGeom>
          <a:noFill/>
          <a:ln w="5715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17" name="Group 147"/>
          <p:cNvGrpSpPr>
            <a:grpSpLocks/>
          </p:cNvGrpSpPr>
          <p:nvPr/>
        </p:nvGrpSpPr>
        <p:grpSpPr bwMode="auto">
          <a:xfrm>
            <a:off x="3471863" y="2222500"/>
            <a:ext cx="228600" cy="304800"/>
            <a:chOff x="2698" y="1622"/>
            <a:chExt cx="144" cy="192"/>
          </a:xfrm>
        </p:grpSpPr>
        <p:sp>
          <p:nvSpPr>
            <p:cNvPr id="157744" name="Line 148"/>
            <p:cNvSpPr>
              <a:spLocks noChangeShapeType="1"/>
            </p:cNvSpPr>
            <p:nvPr/>
          </p:nvSpPr>
          <p:spPr bwMode="auto">
            <a:xfrm flipH="1">
              <a:off x="2746" y="1622"/>
              <a:ext cx="48" cy="192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7745" name="Line 149"/>
            <p:cNvSpPr>
              <a:spLocks noChangeShapeType="1"/>
            </p:cNvSpPr>
            <p:nvPr/>
          </p:nvSpPr>
          <p:spPr bwMode="auto">
            <a:xfrm>
              <a:off x="2698" y="1622"/>
              <a:ext cx="144" cy="192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62090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594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04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4" name="Line 4"/>
          <p:cNvSpPr>
            <a:spLocks noChangeShapeType="1"/>
          </p:cNvSpPr>
          <p:nvPr/>
        </p:nvSpPr>
        <p:spPr bwMode="auto">
          <a:xfrm>
            <a:off x="4797425" y="1055688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8725" name="Line 6"/>
          <p:cNvSpPr>
            <a:spLocks noChangeShapeType="1"/>
          </p:cNvSpPr>
          <p:nvPr/>
        </p:nvSpPr>
        <p:spPr bwMode="auto">
          <a:xfrm>
            <a:off x="3700463" y="1057275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8726" name="Text Box 7"/>
          <p:cNvSpPr txBox="1">
            <a:spLocks noChangeArrowheads="1"/>
          </p:cNvSpPr>
          <p:nvPr/>
        </p:nvSpPr>
        <p:spPr bwMode="auto">
          <a:xfrm>
            <a:off x="2463801" y="639764"/>
            <a:ext cx="147161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3200">
                <a:latin typeface="Tahoma" panose="020B0604030504040204" pitchFamily="34" charset="0"/>
                <a:ea typeface="宋体" panose="02010600030101010101" pitchFamily="2" charset="-122"/>
              </a:rPr>
              <a:t>La(</a:t>
            </a:r>
            <a:r>
              <a:rPr lang="en-US" altLang="zh-CN" sz="320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Lc</a:t>
            </a:r>
            <a:r>
              <a:rPr lang="en-US" altLang="zh-CN" sz="3200">
                <a:latin typeface="Tahoma" panose="020B0604030504040204" pitchFamily="34" charset="0"/>
                <a:ea typeface="宋体" panose="02010600030101010101" pitchFamily="2" charset="-122"/>
              </a:rPr>
              <a:t>)</a:t>
            </a:r>
          </a:p>
        </p:txBody>
      </p:sp>
      <p:grpSp>
        <p:nvGrpSpPr>
          <p:cNvPr id="158727" name="Group 8"/>
          <p:cNvGrpSpPr>
            <a:grpSpLocks/>
          </p:cNvGrpSpPr>
          <p:nvPr/>
        </p:nvGrpSpPr>
        <p:grpSpPr bwMode="auto">
          <a:xfrm>
            <a:off x="5224463" y="828675"/>
            <a:ext cx="838200" cy="381000"/>
            <a:chOff x="1968" y="1344"/>
            <a:chExt cx="528" cy="240"/>
          </a:xfrm>
        </p:grpSpPr>
        <p:sp>
          <p:nvSpPr>
            <p:cNvPr id="158806" name="Rectangle 9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8807" name="Rectangle 10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58728" name="Group 11"/>
          <p:cNvGrpSpPr>
            <a:grpSpLocks/>
          </p:cNvGrpSpPr>
          <p:nvPr/>
        </p:nvGrpSpPr>
        <p:grpSpPr bwMode="auto">
          <a:xfrm>
            <a:off x="6443663" y="828675"/>
            <a:ext cx="838200" cy="381000"/>
            <a:chOff x="1968" y="1344"/>
            <a:chExt cx="528" cy="240"/>
          </a:xfrm>
        </p:grpSpPr>
        <p:sp>
          <p:nvSpPr>
            <p:cNvPr id="158804" name="Rectangle 12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8805" name="Rectangle 13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58729" name="Group 14"/>
          <p:cNvGrpSpPr>
            <a:grpSpLocks/>
          </p:cNvGrpSpPr>
          <p:nvPr/>
        </p:nvGrpSpPr>
        <p:grpSpPr bwMode="auto">
          <a:xfrm>
            <a:off x="7662863" y="828675"/>
            <a:ext cx="838200" cy="381000"/>
            <a:chOff x="1968" y="1344"/>
            <a:chExt cx="528" cy="240"/>
          </a:xfrm>
        </p:grpSpPr>
        <p:sp>
          <p:nvSpPr>
            <p:cNvPr id="158802" name="Rectangle 15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8803" name="Rectangle 16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58730" name="Group 17"/>
          <p:cNvGrpSpPr>
            <a:grpSpLocks/>
          </p:cNvGrpSpPr>
          <p:nvPr/>
        </p:nvGrpSpPr>
        <p:grpSpPr bwMode="auto">
          <a:xfrm>
            <a:off x="4081463" y="828675"/>
            <a:ext cx="838200" cy="381000"/>
            <a:chOff x="1968" y="1344"/>
            <a:chExt cx="528" cy="240"/>
          </a:xfrm>
        </p:grpSpPr>
        <p:sp>
          <p:nvSpPr>
            <p:cNvPr id="158800" name="Rectangle 18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8801" name="Rectangle 19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sp>
        <p:nvSpPr>
          <p:cNvPr id="158731" name="Line 20"/>
          <p:cNvSpPr>
            <a:spLocks noChangeShapeType="1"/>
          </p:cNvSpPr>
          <p:nvPr/>
        </p:nvSpPr>
        <p:spPr bwMode="auto">
          <a:xfrm>
            <a:off x="4835525" y="1047750"/>
            <a:ext cx="457200" cy="0"/>
          </a:xfrm>
          <a:prstGeom prst="line">
            <a:avLst/>
          </a:prstGeom>
          <a:noFill/>
          <a:ln w="5715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8732" name="Line 21"/>
          <p:cNvSpPr>
            <a:spLocks noChangeShapeType="1"/>
          </p:cNvSpPr>
          <p:nvPr/>
        </p:nvSpPr>
        <p:spPr bwMode="auto">
          <a:xfrm>
            <a:off x="5986463" y="1057275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8733" name="Line 22"/>
          <p:cNvSpPr>
            <a:spLocks noChangeShapeType="1"/>
          </p:cNvSpPr>
          <p:nvPr/>
        </p:nvSpPr>
        <p:spPr bwMode="auto">
          <a:xfrm>
            <a:off x="7205663" y="1057275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8734" name="Text Box 23"/>
          <p:cNvSpPr txBox="1">
            <a:spLocks noChangeArrowheads="1"/>
          </p:cNvSpPr>
          <p:nvPr/>
        </p:nvSpPr>
        <p:spPr bwMode="auto">
          <a:xfrm>
            <a:off x="5340351" y="76200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58735" name="Text Box 24"/>
          <p:cNvSpPr txBox="1">
            <a:spLocks noChangeArrowheads="1"/>
          </p:cNvSpPr>
          <p:nvPr/>
        </p:nvSpPr>
        <p:spPr bwMode="auto">
          <a:xfrm>
            <a:off x="6523039" y="76200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158736" name="Text Box 25"/>
          <p:cNvSpPr txBox="1">
            <a:spLocks noChangeArrowheads="1"/>
          </p:cNvSpPr>
          <p:nvPr/>
        </p:nvSpPr>
        <p:spPr bwMode="auto">
          <a:xfrm>
            <a:off x="7778751" y="76200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8</a:t>
            </a:r>
          </a:p>
        </p:txBody>
      </p:sp>
      <p:grpSp>
        <p:nvGrpSpPr>
          <p:cNvPr id="158737" name="Group 29"/>
          <p:cNvGrpSpPr>
            <a:grpSpLocks/>
          </p:cNvGrpSpPr>
          <p:nvPr/>
        </p:nvGrpSpPr>
        <p:grpSpPr bwMode="auto">
          <a:xfrm>
            <a:off x="4921250" y="2155825"/>
            <a:ext cx="838200" cy="381000"/>
            <a:chOff x="1968" y="1344"/>
            <a:chExt cx="528" cy="240"/>
          </a:xfrm>
        </p:grpSpPr>
        <p:sp>
          <p:nvSpPr>
            <p:cNvPr id="158798" name="Rectangle 30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8799" name="Rectangle 31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58738" name="Group 32"/>
          <p:cNvGrpSpPr>
            <a:grpSpLocks/>
          </p:cNvGrpSpPr>
          <p:nvPr/>
        </p:nvGrpSpPr>
        <p:grpSpPr bwMode="auto">
          <a:xfrm>
            <a:off x="6140450" y="2155825"/>
            <a:ext cx="838200" cy="381000"/>
            <a:chOff x="1968" y="1344"/>
            <a:chExt cx="528" cy="240"/>
          </a:xfrm>
        </p:grpSpPr>
        <p:sp>
          <p:nvSpPr>
            <p:cNvPr id="158796" name="Rectangle 33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8797" name="Rectangle 34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58739" name="Group 35"/>
          <p:cNvGrpSpPr>
            <a:grpSpLocks/>
          </p:cNvGrpSpPr>
          <p:nvPr/>
        </p:nvGrpSpPr>
        <p:grpSpPr bwMode="auto">
          <a:xfrm>
            <a:off x="7359650" y="2155825"/>
            <a:ext cx="838200" cy="381000"/>
            <a:chOff x="1968" y="1344"/>
            <a:chExt cx="528" cy="240"/>
          </a:xfrm>
        </p:grpSpPr>
        <p:sp>
          <p:nvSpPr>
            <p:cNvPr id="158794" name="Rectangle 36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8795" name="Rectangle 37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58740" name="Group 38"/>
          <p:cNvGrpSpPr>
            <a:grpSpLocks/>
          </p:cNvGrpSpPr>
          <p:nvPr/>
        </p:nvGrpSpPr>
        <p:grpSpPr bwMode="auto">
          <a:xfrm>
            <a:off x="8502650" y="2155825"/>
            <a:ext cx="838200" cy="381000"/>
            <a:chOff x="1968" y="1344"/>
            <a:chExt cx="528" cy="240"/>
          </a:xfrm>
        </p:grpSpPr>
        <p:sp>
          <p:nvSpPr>
            <p:cNvPr id="158792" name="Rectangle 39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8793" name="Rectangle 40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58741" name="Group 41"/>
          <p:cNvGrpSpPr>
            <a:grpSpLocks/>
          </p:cNvGrpSpPr>
          <p:nvPr/>
        </p:nvGrpSpPr>
        <p:grpSpPr bwMode="auto">
          <a:xfrm>
            <a:off x="9645650" y="2155825"/>
            <a:ext cx="838200" cy="381000"/>
            <a:chOff x="1968" y="1344"/>
            <a:chExt cx="528" cy="240"/>
          </a:xfrm>
        </p:grpSpPr>
        <p:sp>
          <p:nvSpPr>
            <p:cNvPr id="158790" name="Rectangle 42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8791" name="Rectangle 43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sp>
        <p:nvSpPr>
          <p:cNvPr id="158742" name="Line 44"/>
          <p:cNvSpPr>
            <a:spLocks noChangeShapeType="1"/>
          </p:cNvSpPr>
          <p:nvPr/>
        </p:nvSpPr>
        <p:spPr bwMode="auto">
          <a:xfrm>
            <a:off x="4464050" y="2308225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8743" name="Line 45"/>
          <p:cNvSpPr>
            <a:spLocks noChangeShapeType="1"/>
          </p:cNvSpPr>
          <p:nvPr/>
        </p:nvSpPr>
        <p:spPr bwMode="auto">
          <a:xfrm>
            <a:off x="6902450" y="2308225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8744" name="Line 46"/>
          <p:cNvSpPr>
            <a:spLocks noChangeShapeType="1"/>
          </p:cNvSpPr>
          <p:nvPr/>
        </p:nvSpPr>
        <p:spPr bwMode="auto">
          <a:xfrm>
            <a:off x="8045450" y="2308225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8745" name="Line 47"/>
          <p:cNvSpPr>
            <a:spLocks noChangeShapeType="1"/>
          </p:cNvSpPr>
          <p:nvPr/>
        </p:nvSpPr>
        <p:spPr bwMode="auto">
          <a:xfrm>
            <a:off x="5683250" y="2308225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8746" name="Line 48"/>
          <p:cNvSpPr>
            <a:spLocks noChangeShapeType="1"/>
          </p:cNvSpPr>
          <p:nvPr/>
        </p:nvSpPr>
        <p:spPr bwMode="auto">
          <a:xfrm>
            <a:off x="9188450" y="2308225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158747" name="Group 83"/>
          <p:cNvGrpSpPr>
            <a:grpSpLocks/>
          </p:cNvGrpSpPr>
          <p:nvPr/>
        </p:nvGrpSpPr>
        <p:grpSpPr bwMode="auto">
          <a:xfrm>
            <a:off x="3778250" y="2079625"/>
            <a:ext cx="838200" cy="457200"/>
            <a:chOff x="1420" y="1310"/>
            <a:chExt cx="528" cy="288"/>
          </a:xfrm>
        </p:grpSpPr>
        <p:grpSp>
          <p:nvGrpSpPr>
            <p:cNvPr id="158786" name="Group 26"/>
            <p:cNvGrpSpPr>
              <a:grpSpLocks/>
            </p:cNvGrpSpPr>
            <p:nvPr/>
          </p:nvGrpSpPr>
          <p:grpSpPr bwMode="auto">
            <a:xfrm>
              <a:off x="1420" y="1358"/>
              <a:ext cx="528" cy="240"/>
              <a:chOff x="1968" y="1344"/>
              <a:chExt cx="528" cy="240"/>
            </a:xfrm>
          </p:grpSpPr>
          <p:sp>
            <p:nvSpPr>
              <p:cNvPr id="158788" name="Rectangle 27"/>
              <p:cNvSpPr>
                <a:spLocks noChangeArrowheads="1"/>
              </p:cNvSpPr>
              <p:nvPr/>
            </p:nvSpPr>
            <p:spPr bwMode="auto">
              <a:xfrm>
                <a:off x="1968" y="1344"/>
                <a:ext cx="384" cy="240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158789" name="Rectangle 28"/>
              <p:cNvSpPr>
                <a:spLocks noChangeArrowheads="1"/>
              </p:cNvSpPr>
              <p:nvPr/>
            </p:nvSpPr>
            <p:spPr bwMode="auto">
              <a:xfrm>
                <a:off x="2352" y="1344"/>
                <a:ext cx="144" cy="240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</p:grpSp>
        <p:sp>
          <p:nvSpPr>
            <p:cNvPr id="158787" name="Text Box 49"/>
            <p:cNvSpPr txBox="1">
              <a:spLocks noChangeArrowheads="1"/>
            </p:cNvSpPr>
            <p:nvPr/>
          </p:nvSpPr>
          <p:spPr bwMode="auto">
            <a:xfrm>
              <a:off x="1509" y="1310"/>
              <a:ext cx="23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 eaLnBrk="1" hangingPunct="1"/>
              <a:r>
                <a: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2</a:t>
              </a:r>
            </a:p>
          </p:txBody>
        </p:sp>
      </p:grpSp>
      <p:sp>
        <p:nvSpPr>
          <p:cNvPr id="158748" name="Text Box 50"/>
          <p:cNvSpPr txBox="1">
            <a:spLocks noChangeArrowheads="1"/>
          </p:cNvSpPr>
          <p:nvPr/>
        </p:nvSpPr>
        <p:spPr bwMode="auto">
          <a:xfrm>
            <a:off x="5037139" y="2079625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58749" name="Text Box 51"/>
          <p:cNvSpPr txBox="1">
            <a:spLocks noChangeArrowheads="1"/>
          </p:cNvSpPr>
          <p:nvPr/>
        </p:nvSpPr>
        <p:spPr bwMode="auto">
          <a:xfrm>
            <a:off x="6216651" y="212090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158750" name="Text Box 52"/>
          <p:cNvSpPr txBox="1">
            <a:spLocks noChangeArrowheads="1"/>
          </p:cNvSpPr>
          <p:nvPr/>
        </p:nvSpPr>
        <p:spPr bwMode="auto">
          <a:xfrm>
            <a:off x="7475539" y="212090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158751" name="Text Box 53"/>
          <p:cNvSpPr txBox="1">
            <a:spLocks noChangeArrowheads="1"/>
          </p:cNvSpPr>
          <p:nvPr/>
        </p:nvSpPr>
        <p:spPr bwMode="auto">
          <a:xfrm>
            <a:off x="8496300" y="2120900"/>
            <a:ext cx="571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158752" name="Text Box 54"/>
          <p:cNvSpPr txBox="1">
            <a:spLocks noChangeArrowheads="1"/>
          </p:cNvSpPr>
          <p:nvPr/>
        </p:nvSpPr>
        <p:spPr bwMode="auto">
          <a:xfrm>
            <a:off x="9648825" y="2120900"/>
            <a:ext cx="571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11</a:t>
            </a:r>
          </a:p>
        </p:txBody>
      </p:sp>
      <p:grpSp>
        <p:nvGrpSpPr>
          <p:cNvPr id="158753" name="Group 55"/>
          <p:cNvGrpSpPr>
            <a:grpSpLocks/>
          </p:cNvGrpSpPr>
          <p:nvPr/>
        </p:nvGrpSpPr>
        <p:grpSpPr bwMode="auto">
          <a:xfrm>
            <a:off x="2563813" y="2146300"/>
            <a:ext cx="838200" cy="381000"/>
            <a:chOff x="1968" y="1344"/>
            <a:chExt cx="528" cy="240"/>
          </a:xfrm>
        </p:grpSpPr>
        <p:sp>
          <p:nvSpPr>
            <p:cNvPr id="158784" name="Rectangle 56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8785" name="Rectangle 57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sp>
        <p:nvSpPr>
          <p:cNvPr id="158754" name="Line 58"/>
          <p:cNvSpPr>
            <a:spLocks noChangeShapeType="1"/>
          </p:cNvSpPr>
          <p:nvPr/>
        </p:nvSpPr>
        <p:spPr bwMode="auto">
          <a:xfrm>
            <a:off x="3325813" y="2374900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158755" name="Group 59"/>
          <p:cNvGrpSpPr>
            <a:grpSpLocks/>
          </p:cNvGrpSpPr>
          <p:nvPr/>
        </p:nvGrpSpPr>
        <p:grpSpPr bwMode="auto">
          <a:xfrm>
            <a:off x="1801813" y="1865314"/>
            <a:ext cx="762000" cy="579437"/>
            <a:chOff x="834" y="1888"/>
            <a:chExt cx="480" cy="365"/>
          </a:xfrm>
        </p:grpSpPr>
        <p:sp>
          <p:nvSpPr>
            <p:cNvPr id="158782" name="Line 60"/>
            <p:cNvSpPr>
              <a:spLocks noChangeShapeType="1"/>
            </p:cNvSpPr>
            <p:nvPr/>
          </p:nvSpPr>
          <p:spPr bwMode="auto">
            <a:xfrm>
              <a:off x="1074" y="2175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8783" name="Text Box 61"/>
            <p:cNvSpPr txBox="1">
              <a:spLocks noChangeArrowheads="1"/>
            </p:cNvSpPr>
            <p:nvPr/>
          </p:nvSpPr>
          <p:spPr bwMode="auto">
            <a:xfrm>
              <a:off x="834" y="1888"/>
              <a:ext cx="38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 eaLnBrk="1" hangingPunct="1"/>
              <a:r>
                <a:rPr lang="en-US" altLang="zh-CN" sz="3200">
                  <a:latin typeface="Tahoma" panose="020B0604030504040204" pitchFamily="34" charset="0"/>
                  <a:ea typeface="宋体" panose="02010600030101010101" pitchFamily="2" charset="-122"/>
                </a:rPr>
                <a:t>Lb</a:t>
              </a:r>
            </a:p>
          </p:txBody>
        </p:sp>
      </p:grpSp>
      <p:sp>
        <p:nvSpPr>
          <p:cNvPr id="158756" name="Text Box 62"/>
          <p:cNvSpPr txBox="1">
            <a:spLocks noChangeArrowheads="1"/>
          </p:cNvSpPr>
          <p:nvPr/>
        </p:nvSpPr>
        <p:spPr bwMode="auto">
          <a:xfrm>
            <a:off x="4122738" y="2578100"/>
            <a:ext cx="6969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3200" b="1">
                <a:latin typeface="Tahoma" panose="020B0604030504040204" pitchFamily="34" charset="0"/>
                <a:ea typeface="宋体" panose="02010600030101010101" pitchFamily="2" charset="-122"/>
              </a:rPr>
              <a:t>pb</a:t>
            </a:r>
          </a:p>
        </p:txBody>
      </p:sp>
      <p:sp>
        <p:nvSpPr>
          <p:cNvPr id="158757" name="Line 63"/>
          <p:cNvSpPr>
            <a:spLocks noChangeShapeType="1"/>
          </p:cNvSpPr>
          <p:nvPr/>
        </p:nvSpPr>
        <p:spPr bwMode="auto">
          <a:xfrm flipV="1">
            <a:off x="4051300" y="2528888"/>
            <a:ext cx="0" cy="381000"/>
          </a:xfrm>
          <a:prstGeom prst="line">
            <a:avLst/>
          </a:prstGeom>
          <a:noFill/>
          <a:ln w="5715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8758" name="Rectangle 64"/>
          <p:cNvSpPr>
            <a:spLocks noChangeArrowheads="1"/>
          </p:cNvSpPr>
          <p:nvPr/>
        </p:nvSpPr>
        <p:spPr bwMode="auto">
          <a:xfrm>
            <a:off x="1573213" y="0"/>
            <a:ext cx="7797800" cy="5159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r>
              <a:rPr lang="zh-CN" altLang="en-US" sz="3200" b="1">
                <a:latin typeface="楷体_GB2312"/>
                <a:ea typeface="楷体_GB2312"/>
                <a:cs typeface="楷体_GB2312"/>
              </a:rPr>
              <a:t>有序链表合并</a:t>
            </a:r>
            <a:r>
              <a:rPr lang="en-US" altLang="zh-CN" sz="3200" b="1">
                <a:solidFill>
                  <a:srgbClr val="FF0000"/>
                </a:solidFill>
              </a:rPr>
              <a:t>( pa-&gt;data &gt;pb-&gt;data )</a:t>
            </a:r>
          </a:p>
        </p:txBody>
      </p:sp>
      <p:sp>
        <p:nvSpPr>
          <p:cNvPr id="158759" name="Text Box 65"/>
          <p:cNvSpPr txBox="1">
            <a:spLocks noChangeArrowheads="1"/>
          </p:cNvSpPr>
          <p:nvPr/>
        </p:nvSpPr>
        <p:spPr bwMode="auto">
          <a:xfrm>
            <a:off x="6430963" y="2867025"/>
            <a:ext cx="3681412" cy="579438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32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pc-&gt;next = pb;</a:t>
            </a:r>
          </a:p>
        </p:txBody>
      </p:sp>
      <p:grpSp>
        <p:nvGrpSpPr>
          <p:cNvPr id="158760" name="Group 66"/>
          <p:cNvGrpSpPr>
            <a:grpSpLocks/>
          </p:cNvGrpSpPr>
          <p:nvPr/>
        </p:nvGrpSpPr>
        <p:grpSpPr bwMode="auto">
          <a:xfrm>
            <a:off x="5214938" y="773113"/>
            <a:ext cx="838200" cy="457200"/>
            <a:chOff x="2467" y="616"/>
            <a:chExt cx="528" cy="288"/>
          </a:xfrm>
        </p:grpSpPr>
        <p:grpSp>
          <p:nvGrpSpPr>
            <p:cNvPr id="158778" name="Group 67"/>
            <p:cNvGrpSpPr>
              <a:grpSpLocks/>
            </p:cNvGrpSpPr>
            <p:nvPr/>
          </p:nvGrpSpPr>
          <p:grpSpPr bwMode="auto">
            <a:xfrm>
              <a:off x="2467" y="658"/>
              <a:ext cx="528" cy="240"/>
              <a:chOff x="1968" y="1344"/>
              <a:chExt cx="528" cy="240"/>
            </a:xfrm>
          </p:grpSpPr>
          <p:sp>
            <p:nvSpPr>
              <p:cNvPr id="158780" name="Rectangle 68"/>
              <p:cNvSpPr>
                <a:spLocks noChangeArrowheads="1"/>
              </p:cNvSpPr>
              <p:nvPr/>
            </p:nvSpPr>
            <p:spPr bwMode="auto">
              <a:xfrm>
                <a:off x="1968" y="1344"/>
                <a:ext cx="384" cy="240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158781" name="Rectangle 69"/>
              <p:cNvSpPr>
                <a:spLocks noChangeArrowheads="1"/>
              </p:cNvSpPr>
              <p:nvPr/>
            </p:nvSpPr>
            <p:spPr bwMode="auto">
              <a:xfrm>
                <a:off x="2352" y="1344"/>
                <a:ext cx="144" cy="240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</p:grpSp>
        <p:sp>
          <p:nvSpPr>
            <p:cNvPr id="158779" name="Text Box 70"/>
            <p:cNvSpPr txBox="1">
              <a:spLocks noChangeArrowheads="1"/>
            </p:cNvSpPr>
            <p:nvPr/>
          </p:nvSpPr>
          <p:spPr bwMode="auto">
            <a:xfrm>
              <a:off x="2540" y="616"/>
              <a:ext cx="23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 eaLnBrk="1" hangingPunct="1"/>
              <a:r>
                <a: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</p:grpSp>
      <p:grpSp>
        <p:nvGrpSpPr>
          <p:cNvPr id="17" name="Group 72"/>
          <p:cNvGrpSpPr>
            <a:grpSpLocks/>
          </p:cNvGrpSpPr>
          <p:nvPr/>
        </p:nvGrpSpPr>
        <p:grpSpPr bwMode="auto">
          <a:xfrm>
            <a:off x="4211638" y="1209675"/>
            <a:ext cx="1681162" cy="960438"/>
            <a:chOff x="1693" y="762"/>
            <a:chExt cx="1059" cy="605"/>
          </a:xfrm>
        </p:grpSpPr>
        <p:sp>
          <p:nvSpPr>
            <p:cNvPr id="158775" name="Line 73"/>
            <p:cNvSpPr>
              <a:spLocks noChangeShapeType="1"/>
            </p:cNvSpPr>
            <p:nvPr/>
          </p:nvSpPr>
          <p:spPr bwMode="auto">
            <a:xfrm>
              <a:off x="2737" y="762"/>
              <a:ext cx="0" cy="2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8776" name="Line 74"/>
            <p:cNvSpPr>
              <a:spLocks noChangeShapeType="1"/>
            </p:cNvSpPr>
            <p:nvPr/>
          </p:nvSpPr>
          <p:spPr bwMode="auto">
            <a:xfrm flipH="1">
              <a:off x="1693" y="1050"/>
              <a:ext cx="1059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8777" name="Line 75"/>
            <p:cNvSpPr>
              <a:spLocks noChangeShapeType="1"/>
            </p:cNvSpPr>
            <p:nvPr/>
          </p:nvSpPr>
          <p:spPr bwMode="auto">
            <a:xfrm>
              <a:off x="1701" y="1050"/>
              <a:ext cx="0" cy="31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158762" name="Text Box 76"/>
          <p:cNvSpPr txBox="1">
            <a:spLocks noChangeArrowheads="1"/>
          </p:cNvSpPr>
          <p:nvPr/>
        </p:nvSpPr>
        <p:spPr bwMode="auto">
          <a:xfrm>
            <a:off x="6711951" y="1246189"/>
            <a:ext cx="6826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3200" b="1">
                <a:latin typeface="Tahoma" panose="020B0604030504040204" pitchFamily="34" charset="0"/>
                <a:ea typeface="宋体" panose="02010600030101010101" pitchFamily="2" charset="-122"/>
              </a:rPr>
              <a:t>pa</a:t>
            </a:r>
          </a:p>
        </p:txBody>
      </p:sp>
      <p:sp>
        <p:nvSpPr>
          <p:cNvPr id="158763" name="Line 77"/>
          <p:cNvSpPr>
            <a:spLocks noChangeShapeType="1"/>
          </p:cNvSpPr>
          <p:nvPr/>
        </p:nvSpPr>
        <p:spPr bwMode="auto">
          <a:xfrm flipV="1">
            <a:off x="6640513" y="1196975"/>
            <a:ext cx="0" cy="381000"/>
          </a:xfrm>
          <a:prstGeom prst="line">
            <a:avLst/>
          </a:prstGeom>
          <a:noFill/>
          <a:ln w="5715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18" name="Group 79"/>
          <p:cNvGrpSpPr>
            <a:grpSpLocks/>
          </p:cNvGrpSpPr>
          <p:nvPr/>
        </p:nvGrpSpPr>
        <p:grpSpPr bwMode="auto">
          <a:xfrm>
            <a:off x="3355975" y="2565400"/>
            <a:ext cx="6769100" cy="1460500"/>
            <a:chOff x="1154" y="1616"/>
            <a:chExt cx="4264" cy="920"/>
          </a:xfrm>
        </p:grpSpPr>
        <p:sp>
          <p:nvSpPr>
            <p:cNvPr id="158773" name="Text Box 71"/>
            <p:cNvSpPr txBox="1">
              <a:spLocks noChangeArrowheads="1"/>
            </p:cNvSpPr>
            <p:nvPr/>
          </p:nvSpPr>
          <p:spPr bwMode="auto">
            <a:xfrm>
              <a:off x="1154" y="1616"/>
              <a:ext cx="547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 eaLnBrk="1" hangingPunct="1"/>
              <a:r>
                <a:rPr lang="en-US" altLang="zh-CN" sz="3200" b="1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Pc</a:t>
              </a:r>
              <a:endParaRPr lang="en-US" altLang="zh-CN" sz="3200" b="1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8774" name="Text Box 78"/>
            <p:cNvSpPr txBox="1">
              <a:spLocks noChangeArrowheads="1"/>
            </p:cNvSpPr>
            <p:nvPr/>
          </p:nvSpPr>
          <p:spPr bwMode="auto">
            <a:xfrm>
              <a:off x="3099" y="2171"/>
              <a:ext cx="2319" cy="365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 eaLnBrk="1" hangingPunct="1"/>
              <a:r>
                <a:rPr lang="en-US" altLang="zh-CN" sz="3200" b="1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pc= pb;</a:t>
              </a:r>
            </a:p>
          </p:txBody>
        </p:sp>
      </p:grpSp>
      <p:grpSp>
        <p:nvGrpSpPr>
          <p:cNvPr id="19" name="Group 89"/>
          <p:cNvGrpSpPr>
            <a:grpSpLocks/>
          </p:cNvGrpSpPr>
          <p:nvPr/>
        </p:nvGrpSpPr>
        <p:grpSpPr bwMode="auto">
          <a:xfrm>
            <a:off x="3778250" y="2079625"/>
            <a:ext cx="838200" cy="457200"/>
            <a:chOff x="1420" y="1310"/>
            <a:chExt cx="528" cy="288"/>
          </a:xfrm>
        </p:grpSpPr>
        <p:grpSp>
          <p:nvGrpSpPr>
            <p:cNvPr id="158769" name="Group 85"/>
            <p:cNvGrpSpPr>
              <a:grpSpLocks/>
            </p:cNvGrpSpPr>
            <p:nvPr/>
          </p:nvGrpSpPr>
          <p:grpSpPr bwMode="auto">
            <a:xfrm>
              <a:off x="1420" y="1358"/>
              <a:ext cx="528" cy="240"/>
              <a:chOff x="1968" y="1344"/>
              <a:chExt cx="528" cy="240"/>
            </a:xfrm>
          </p:grpSpPr>
          <p:sp>
            <p:nvSpPr>
              <p:cNvPr id="158771" name="Rectangle 86"/>
              <p:cNvSpPr>
                <a:spLocks noChangeArrowheads="1"/>
              </p:cNvSpPr>
              <p:nvPr/>
            </p:nvSpPr>
            <p:spPr bwMode="auto">
              <a:xfrm>
                <a:off x="1968" y="1344"/>
                <a:ext cx="384" cy="240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158772" name="Rectangle 87"/>
              <p:cNvSpPr>
                <a:spLocks noChangeArrowheads="1"/>
              </p:cNvSpPr>
              <p:nvPr/>
            </p:nvSpPr>
            <p:spPr bwMode="auto">
              <a:xfrm>
                <a:off x="2352" y="1344"/>
                <a:ext cx="144" cy="240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</p:grpSp>
        <p:sp>
          <p:nvSpPr>
            <p:cNvPr id="158770" name="Text Box 88"/>
            <p:cNvSpPr txBox="1">
              <a:spLocks noChangeArrowheads="1"/>
            </p:cNvSpPr>
            <p:nvPr/>
          </p:nvSpPr>
          <p:spPr bwMode="auto">
            <a:xfrm>
              <a:off x="1509" y="1310"/>
              <a:ext cx="23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 eaLnBrk="1" hangingPunct="1"/>
              <a:r>
                <a: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2</a:t>
              </a:r>
            </a:p>
          </p:txBody>
        </p:sp>
      </p:grpSp>
      <p:grpSp>
        <p:nvGrpSpPr>
          <p:cNvPr id="21" name="Group 90"/>
          <p:cNvGrpSpPr>
            <a:grpSpLocks/>
          </p:cNvGrpSpPr>
          <p:nvPr/>
        </p:nvGrpSpPr>
        <p:grpSpPr bwMode="auto">
          <a:xfrm>
            <a:off x="3355975" y="2222500"/>
            <a:ext cx="228600" cy="304800"/>
            <a:chOff x="2698" y="1622"/>
            <a:chExt cx="144" cy="192"/>
          </a:xfrm>
        </p:grpSpPr>
        <p:sp>
          <p:nvSpPr>
            <p:cNvPr id="158767" name="Line 91"/>
            <p:cNvSpPr>
              <a:spLocks noChangeShapeType="1"/>
            </p:cNvSpPr>
            <p:nvPr/>
          </p:nvSpPr>
          <p:spPr bwMode="auto">
            <a:xfrm flipH="1">
              <a:off x="2746" y="1622"/>
              <a:ext cx="48" cy="192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8768" name="Line 92"/>
            <p:cNvSpPr>
              <a:spLocks noChangeShapeType="1"/>
            </p:cNvSpPr>
            <p:nvPr/>
          </p:nvSpPr>
          <p:spPr bwMode="auto">
            <a:xfrm>
              <a:off x="2698" y="1622"/>
              <a:ext cx="144" cy="192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6249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3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2" dur="2000" fill="hold"/>
                                        <p:tgtEl>
                                          <p:spTgt spid="1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8" name="Line 4"/>
          <p:cNvSpPr>
            <a:spLocks noChangeShapeType="1"/>
          </p:cNvSpPr>
          <p:nvPr/>
        </p:nvSpPr>
        <p:spPr bwMode="auto">
          <a:xfrm>
            <a:off x="4797425" y="1055688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9749" name="Line 5"/>
          <p:cNvSpPr>
            <a:spLocks noChangeShapeType="1"/>
          </p:cNvSpPr>
          <p:nvPr/>
        </p:nvSpPr>
        <p:spPr bwMode="auto">
          <a:xfrm>
            <a:off x="3700463" y="1057275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9750" name="Text Box 6"/>
          <p:cNvSpPr txBox="1">
            <a:spLocks noChangeArrowheads="1"/>
          </p:cNvSpPr>
          <p:nvPr/>
        </p:nvSpPr>
        <p:spPr bwMode="auto">
          <a:xfrm>
            <a:off x="2463801" y="639764"/>
            <a:ext cx="147161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3200">
                <a:latin typeface="Tahoma" panose="020B0604030504040204" pitchFamily="34" charset="0"/>
                <a:ea typeface="宋体" panose="02010600030101010101" pitchFamily="2" charset="-122"/>
              </a:rPr>
              <a:t>La(</a:t>
            </a:r>
            <a:r>
              <a:rPr lang="en-US" altLang="zh-CN" sz="320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Lc</a:t>
            </a:r>
            <a:r>
              <a:rPr lang="en-US" altLang="zh-CN" sz="3200">
                <a:latin typeface="Tahoma" panose="020B0604030504040204" pitchFamily="34" charset="0"/>
                <a:ea typeface="宋体" panose="02010600030101010101" pitchFamily="2" charset="-122"/>
              </a:rPr>
              <a:t>)</a:t>
            </a:r>
          </a:p>
        </p:txBody>
      </p:sp>
      <p:grpSp>
        <p:nvGrpSpPr>
          <p:cNvPr id="159751" name="Group 7"/>
          <p:cNvGrpSpPr>
            <a:grpSpLocks/>
          </p:cNvGrpSpPr>
          <p:nvPr/>
        </p:nvGrpSpPr>
        <p:grpSpPr bwMode="auto">
          <a:xfrm>
            <a:off x="5224463" y="828675"/>
            <a:ext cx="838200" cy="381000"/>
            <a:chOff x="1968" y="1344"/>
            <a:chExt cx="528" cy="240"/>
          </a:xfrm>
        </p:grpSpPr>
        <p:sp>
          <p:nvSpPr>
            <p:cNvPr id="159834" name="Rectangle 8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9835" name="Rectangle 9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59752" name="Group 10"/>
          <p:cNvGrpSpPr>
            <a:grpSpLocks/>
          </p:cNvGrpSpPr>
          <p:nvPr/>
        </p:nvGrpSpPr>
        <p:grpSpPr bwMode="auto">
          <a:xfrm>
            <a:off x="6443663" y="828675"/>
            <a:ext cx="838200" cy="381000"/>
            <a:chOff x="1968" y="1344"/>
            <a:chExt cx="528" cy="240"/>
          </a:xfrm>
        </p:grpSpPr>
        <p:sp>
          <p:nvSpPr>
            <p:cNvPr id="159832" name="Rectangle 11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9833" name="Rectangle 12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59753" name="Group 13"/>
          <p:cNvGrpSpPr>
            <a:grpSpLocks/>
          </p:cNvGrpSpPr>
          <p:nvPr/>
        </p:nvGrpSpPr>
        <p:grpSpPr bwMode="auto">
          <a:xfrm>
            <a:off x="7662863" y="828675"/>
            <a:ext cx="838200" cy="381000"/>
            <a:chOff x="1968" y="1344"/>
            <a:chExt cx="528" cy="240"/>
          </a:xfrm>
        </p:grpSpPr>
        <p:sp>
          <p:nvSpPr>
            <p:cNvPr id="159830" name="Rectangle 14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9831" name="Rectangle 15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59754" name="Group 16"/>
          <p:cNvGrpSpPr>
            <a:grpSpLocks/>
          </p:cNvGrpSpPr>
          <p:nvPr/>
        </p:nvGrpSpPr>
        <p:grpSpPr bwMode="auto">
          <a:xfrm>
            <a:off x="4081463" y="828675"/>
            <a:ext cx="838200" cy="381000"/>
            <a:chOff x="1968" y="1344"/>
            <a:chExt cx="528" cy="240"/>
          </a:xfrm>
        </p:grpSpPr>
        <p:sp>
          <p:nvSpPr>
            <p:cNvPr id="159828" name="Rectangle 17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9829" name="Rectangle 18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sp>
        <p:nvSpPr>
          <p:cNvPr id="159755" name="Line 19"/>
          <p:cNvSpPr>
            <a:spLocks noChangeShapeType="1"/>
          </p:cNvSpPr>
          <p:nvPr/>
        </p:nvSpPr>
        <p:spPr bwMode="auto">
          <a:xfrm>
            <a:off x="4835525" y="1047750"/>
            <a:ext cx="457200" cy="0"/>
          </a:xfrm>
          <a:prstGeom prst="line">
            <a:avLst/>
          </a:prstGeom>
          <a:noFill/>
          <a:ln w="5715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9756" name="Line 20"/>
          <p:cNvSpPr>
            <a:spLocks noChangeShapeType="1"/>
          </p:cNvSpPr>
          <p:nvPr/>
        </p:nvSpPr>
        <p:spPr bwMode="auto">
          <a:xfrm>
            <a:off x="5986463" y="1057275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9757" name="Line 21"/>
          <p:cNvSpPr>
            <a:spLocks noChangeShapeType="1"/>
          </p:cNvSpPr>
          <p:nvPr/>
        </p:nvSpPr>
        <p:spPr bwMode="auto">
          <a:xfrm>
            <a:off x="7205663" y="1057275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9758" name="Text Box 22"/>
          <p:cNvSpPr txBox="1">
            <a:spLocks noChangeArrowheads="1"/>
          </p:cNvSpPr>
          <p:nvPr/>
        </p:nvSpPr>
        <p:spPr bwMode="auto">
          <a:xfrm>
            <a:off x="5340351" y="76200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59759" name="Text Box 23"/>
          <p:cNvSpPr txBox="1">
            <a:spLocks noChangeArrowheads="1"/>
          </p:cNvSpPr>
          <p:nvPr/>
        </p:nvSpPr>
        <p:spPr bwMode="auto">
          <a:xfrm>
            <a:off x="6523039" y="76200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159760" name="Text Box 24"/>
          <p:cNvSpPr txBox="1">
            <a:spLocks noChangeArrowheads="1"/>
          </p:cNvSpPr>
          <p:nvPr/>
        </p:nvSpPr>
        <p:spPr bwMode="auto">
          <a:xfrm>
            <a:off x="7778751" y="76200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8</a:t>
            </a:r>
          </a:p>
        </p:txBody>
      </p:sp>
      <p:grpSp>
        <p:nvGrpSpPr>
          <p:cNvPr id="159761" name="Group 25"/>
          <p:cNvGrpSpPr>
            <a:grpSpLocks/>
          </p:cNvGrpSpPr>
          <p:nvPr/>
        </p:nvGrpSpPr>
        <p:grpSpPr bwMode="auto">
          <a:xfrm>
            <a:off x="4921250" y="2155825"/>
            <a:ext cx="838200" cy="381000"/>
            <a:chOff x="1968" y="1344"/>
            <a:chExt cx="528" cy="240"/>
          </a:xfrm>
        </p:grpSpPr>
        <p:sp>
          <p:nvSpPr>
            <p:cNvPr id="159826" name="Rectangle 26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9827" name="Rectangle 27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59762" name="Group 28"/>
          <p:cNvGrpSpPr>
            <a:grpSpLocks/>
          </p:cNvGrpSpPr>
          <p:nvPr/>
        </p:nvGrpSpPr>
        <p:grpSpPr bwMode="auto">
          <a:xfrm>
            <a:off x="6140450" y="2155825"/>
            <a:ext cx="838200" cy="381000"/>
            <a:chOff x="1968" y="1344"/>
            <a:chExt cx="528" cy="240"/>
          </a:xfrm>
        </p:grpSpPr>
        <p:sp>
          <p:nvSpPr>
            <p:cNvPr id="159824" name="Rectangle 29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9825" name="Rectangle 30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59763" name="Group 31"/>
          <p:cNvGrpSpPr>
            <a:grpSpLocks/>
          </p:cNvGrpSpPr>
          <p:nvPr/>
        </p:nvGrpSpPr>
        <p:grpSpPr bwMode="auto">
          <a:xfrm>
            <a:off x="7359650" y="2155825"/>
            <a:ext cx="838200" cy="381000"/>
            <a:chOff x="1968" y="1344"/>
            <a:chExt cx="528" cy="240"/>
          </a:xfrm>
        </p:grpSpPr>
        <p:sp>
          <p:nvSpPr>
            <p:cNvPr id="159822" name="Rectangle 32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9823" name="Rectangle 33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59764" name="Group 34"/>
          <p:cNvGrpSpPr>
            <a:grpSpLocks/>
          </p:cNvGrpSpPr>
          <p:nvPr/>
        </p:nvGrpSpPr>
        <p:grpSpPr bwMode="auto">
          <a:xfrm>
            <a:off x="8502650" y="2155825"/>
            <a:ext cx="838200" cy="381000"/>
            <a:chOff x="1968" y="1344"/>
            <a:chExt cx="528" cy="240"/>
          </a:xfrm>
        </p:grpSpPr>
        <p:sp>
          <p:nvSpPr>
            <p:cNvPr id="159820" name="Rectangle 35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9821" name="Rectangle 36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59765" name="Group 37"/>
          <p:cNvGrpSpPr>
            <a:grpSpLocks/>
          </p:cNvGrpSpPr>
          <p:nvPr/>
        </p:nvGrpSpPr>
        <p:grpSpPr bwMode="auto">
          <a:xfrm>
            <a:off x="9645650" y="2155825"/>
            <a:ext cx="838200" cy="381000"/>
            <a:chOff x="1968" y="1344"/>
            <a:chExt cx="528" cy="240"/>
          </a:xfrm>
        </p:grpSpPr>
        <p:sp>
          <p:nvSpPr>
            <p:cNvPr id="159818" name="Rectangle 38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9819" name="Rectangle 39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sp>
        <p:nvSpPr>
          <p:cNvPr id="159766" name="Line 40"/>
          <p:cNvSpPr>
            <a:spLocks noChangeShapeType="1"/>
          </p:cNvSpPr>
          <p:nvPr/>
        </p:nvSpPr>
        <p:spPr bwMode="auto">
          <a:xfrm>
            <a:off x="4464050" y="2308225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9767" name="Line 41"/>
          <p:cNvSpPr>
            <a:spLocks noChangeShapeType="1"/>
          </p:cNvSpPr>
          <p:nvPr/>
        </p:nvSpPr>
        <p:spPr bwMode="auto">
          <a:xfrm>
            <a:off x="6902450" y="2308225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9768" name="Line 42"/>
          <p:cNvSpPr>
            <a:spLocks noChangeShapeType="1"/>
          </p:cNvSpPr>
          <p:nvPr/>
        </p:nvSpPr>
        <p:spPr bwMode="auto">
          <a:xfrm>
            <a:off x="8045450" y="2308225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9769" name="Line 43"/>
          <p:cNvSpPr>
            <a:spLocks noChangeShapeType="1"/>
          </p:cNvSpPr>
          <p:nvPr/>
        </p:nvSpPr>
        <p:spPr bwMode="auto">
          <a:xfrm>
            <a:off x="5683250" y="2308225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9770" name="Line 44"/>
          <p:cNvSpPr>
            <a:spLocks noChangeShapeType="1"/>
          </p:cNvSpPr>
          <p:nvPr/>
        </p:nvSpPr>
        <p:spPr bwMode="auto">
          <a:xfrm>
            <a:off x="9188450" y="2308225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159771" name="Group 45"/>
          <p:cNvGrpSpPr>
            <a:grpSpLocks/>
          </p:cNvGrpSpPr>
          <p:nvPr/>
        </p:nvGrpSpPr>
        <p:grpSpPr bwMode="auto">
          <a:xfrm>
            <a:off x="3778250" y="2079625"/>
            <a:ext cx="838200" cy="457200"/>
            <a:chOff x="1420" y="1310"/>
            <a:chExt cx="528" cy="288"/>
          </a:xfrm>
        </p:grpSpPr>
        <p:grpSp>
          <p:nvGrpSpPr>
            <p:cNvPr id="159814" name="Group 46"/>
            <p:cNvGrpSpPr>
              <a:grpSpLocks/>
            </p:cNvGrpSpPr>
            <p:nvPr/>
          </p:nvGrpSpPr>
          <p:grpSpPr bwMode="auto">
            <a:xfrm>
              <a:off x="1420" y="1358"/>
              <a:ext cx="528" cy="240"/>
              <a:chOff x="1968" y="1344"/>
              <a:chExt cx="528" cy="240"/>
            </a:xfrm>
          </p:grpSpPr>
          <p:sp>
            <p:nvSpPr>
              <p:cNvPr id="159816" name="Rectangle 47"/>
              <p:cNvSpPr>
                <a:spLocks noChangeArrowheads="1"/>
              </p:cNvSpPr>
              <p:nvPr/>
            </p:nvSpPr>
            <p:spPr bwMode="auto">
              <a:xfrm>
                <a:off x="1968" y="1344"/>
                <a:ext cx="384" cy="240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159817" name="Rectangle 48"/>
              <p:cNvSpPr>
                <a:spLocks noChangeArrowheads="1"/>
              </p:cNvSpPr>
              <p:nvPr/>
            </p:nvSpPr>
            <p:spPr bwMode="auto">
              <a:xfrm>
                <a:off x="2352" y="1344"/>
                <a:ext cx="144" cy="240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</p:grpSp>
        <p:sp>
          <p:nvSpPr>
            <p:cNvPr id="159815" name="Text Box 49"/>
            <p:cNvSpPr txBox="1">
              <a:spLocks noChangeArrowheads="1"/>
            </p:cNvSpPr>
            <p:nvPr/>
          </p:nvSpPr>
          <p:spPr bwMode="auto">
            <a:xfrm>
              <a:off x="1509" y="1310"/>
              <a:ext cx="23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 eaLnBrk="1" hangingPunct="1"/>
              <a:r>
                <a: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2</a:t>
              </a:r>
            </a:p>
          </p:txBody>
        </p:sp>
      </p:grpSp>
      <p:sp>
        <p:nvSpPr>
          <p:cNvPr id="159772" name="Text Box 50"/>
          <p:cNvSpPr txBox="1">
            <a:spLocks noChangeArrowheads="1"/>
          </p:cNvSpPr>
          <p:nvPr/>
        </p:nvSpPr>
        <p:spPr bwMode="auto">
          <a:xfrm>
            <a:off x="5037139" y="2079625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59773" name="Text Box 51"/>
          <p:cNvSpPr txBox="1">
            <a:spLocks noChangeArrowheads="1"/>
          </p:cNvSpPr>
          <p:nvPr/>
        </p:nvSpPr>
        <p:spPr bwMode="auto">
          <a:xfrm>
            <a:off x="6216651" y="212090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159774" name="Text Box 52"/>
          <p:cNvSpPr txBox="1">
            <a:spLocks noChangeArrowheads="1"/>
          </p:cNvSpPr>
          <p:nvPr/>
        </p:nvSpPr>
        <p:spPr bwMode="auto">
          <a:xfrm>
            <a:off x="7475539" y="212090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159775" name="Text Box 53"/>
          <p:cNvSpPr txBox="1">
            <a:spLocks noChangeArrowheads="1"/>
          </p:cNvSpPr>
          <p:nvPr/>
        </p:nvSpPr>
        <p:spPr bwMode="auto">
          <a:xfrm>
            <a:off x="8496300" y="2120900"/>
            <a:ext cx="571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159776" name="Text Box 54"/>
          <p:cNvSpPr txBox="1">
            <a:spLocks noChangeArrowheads="1"/>
          </p:cNvSpPr>
          <p:nvPr/>
        </p:nvSpPr>
        <p:spPr bwMode="auto">
          <a:xfrm>
            <a:off x="9648825" y="2120900"/>
            <a:ext cx="571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11</a:t>
            </a:r>
          </a:p>
        </p:txBody>
      </p:sp>
      <p:grpSp>
        <p:nvGrpSpPr>
          <p:cNvPr id="159777" name="Group 55"/>
          <p:cNvGrpSpPr>
            <a:grpSpLocks/>
          </p:cNvGrpSpPr>
          <p:nvPr/>
        </p:nvGrpSpPr>
        <p:grpSpPr bwMode="auto">
          <a:xfrm>
            <a:off x="2563813" y="2146300"/>
            <a:ext cx="838200" cy="381000"/>
            <a:chOff x="1968" y="1344"/>
            <a:chExt cx="528" cy="240"/>
          </a:xfrm>
        </p:grpSpPr>
        <p:sp>
          <p:nvSpPr>
            <p:cNvPr id="159812" name="Rectangle 56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59813" name="Rectangle 57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sp>
        <p:nvSpPr>
          <p:cNvPr id="159778" name="Line 58"/>
          <p:cNvSpPr>
            <a:spLocks noChangeShapeType="1"/>
          </p:cNvSpPr>
          <p:nvPr/>
        </p:nvSpPr>
        <p:spPr bwMode="auto">
          <a:xfrm>
            <a:off x="3325813" y="2374900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159779" name="Group 59"/>
          <p:cNvGrpSpPr>
            <a:grpSpLocks/>
          </p:cNvGrpSpPr>
          <p:nvPr/>
        </p:nvGrpSpPr>
        <p:grpSpPr bwMode="auto">
          <a:xfrm>
            <a:off x="1801813" y="1865314"/>
            <a:ext cx="762000" cy="579437"/>
            <a:chOff x="834" y="1888"/>
            <a:chExt cx="480" cy="365"/>
          </a:xfrm>
        </p:grpSpPr>
        <p:sp>
          <p:nvSpPr>
            <p:cNvPr id="159810" name="Line 60"/>
            <p:cNvSpPr>
              <a:spLocks noChangeShapeType="1"/>
            </p:cNvSpPr>
            <p:nvPr/>
          </p:nvSpPr>
          <p:spPr bwMode="auto">
            <a:xfrm>
              <a:off x="1074" y="2175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9811" name="Text Box 61"/>
            <p:cNvSpPr txBox="1">
              <a:spLocks noChangeArrowheads="1"/>
            </p:cNvSpPr>
            <p:nvPr/>
          </p:nvSpPr>
          <p:spPr bwMode="auto">
            <a:xfrm>
              <a:off x="834" y="1888"/>
              <a:ext cx="38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 eaLnBrk="1" hangingPunct="1"/>
              <a:r>
                <a:rPr lang="en-US" altLang="zh-CN" sz="3200">
                  <a:latin typeface="Tahoma" panose="020B0604030504040204" pitchFamily="34" charset="0"/>
                  <a:ea typeface="宋体" panose="02010600030101010101" pitchFamily="2" charset="-122"/>
                </a:rPr>
                <a:t>Lb</a:t>
              </a:r>
            </a:p>
          </p:txBody>
        </p:sp>
      </p:grpSp>
      <p:sp>
        <p:nvSpPr>
          <p:cNvPr id="159780" name="Line 63"/>
          <p:cNvSpPr>
            <a:spLocks noChangeShapeType="1"/>
          </p:cNvSpPr>
          <p:nvPr/>
        </p:nvSpPr>
        <p:spPr bwMode="auto">
          <a:xfrm flipV="1">
            <a:off x="4051300" y="2528888"/>
            <a:ext cx="0" cy="381000"/>
          </a:xfrm>
          <a:prstGeom prst="line">
            <a:avLst/>
          </a:prstGeom>
          <a:noFill/>
          <a:ln w="5715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9781" name="Rectangle 64"/>
          <p:cNvSpPr>
            <a:spLocks noChangeArrowheads="1"/>
          </p:cNvSpPr>
          <p:nvPr/>
        </p:nvSpPr>
        <p:spPr bwMode="auto">
          <a:xfrm>
            <a:off x="1573213" y="0"/>
            <a:ext cx="7797800" cy="5159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r>
              <a:rPr lang="zh-CN" altLang="en-US" sz="3200" b="1">
                <a:latin typeface="楷体_GB2312"/>
                <a:ea typeface="楷体_GB2312"/>
                <a:cs typeface="楷体_GB2312"/>
              </a:rPr>
              <a:t>有序链表合并</a:t>
            </a:r>
            <a:r>
              <a:rPr lang="en-US" altLang="zh-CN" sz="3200" b="1">
                <a:solidFill>
                  <a:srgbClr val="FF0000"/>
                </a:solidFill>
              </a:rPr>
              <a:t>( pa-&gt;data &gt;pb-&gt;data )</a:t>
            </a:r>
          </a:p>
        </p:txBody>
      </p:sp>
      <p:sp>
        <p:nvSpPr>
          <p:cNvPr id="159782" name="Text Box 65"/>
          <p:cNvSpPr txBox="1">
            <a:spLocks noChangeArrowheads="1"/>
          </p:cNvSpPr>
          <p:nvPr/>
        </p:nvSpPr>
        <p:spPr bwMode="auto">
          <a:xfrm>
            <a:off x="6430963" y="2867025"/>
            <a:ext cx="3681412" cy="579438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32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pc-&gt;next = pb;</a:t>
            </a:r>
          </a:p>
        </p:txBody>
      </p:sp>
      <p:grpSp>
        <p:nvGrpSpPr>
          <p:cNvPr id="159783" name="Group 66"/>
          <p:cNvGrpSpPr>
            <a:grpSpLocks/>
          </p:cNvGrpSpPr>
          <p:nvPr/>
        </p:nvGrpSpPr>
        <p:grpSpPr bwMode="auto">
          <a:xfrm>
            <a:off x="5214938" y="773113"/>
            <a:ext cx="838200" cy="457200"/>
            <a:chOff x="2467" y="616"/>
            <a:chExt cx="528" cy="288"/>
          </a:xfrm>
        </p:grpSpPr>
        <p:grpSp>
          <p:nvGrpSpPr>
            <p:cNvPr id="159806" name="Group 67"/>
            <p:cNvGrpSpPr>
              <a:grpSpLocks/>
            </p:cNvGrpSpPr>
            <p:nvPr/>
          </p:nvGrpSpPr>
          <p:grpSpPr bwMode="auto">
            <a:xfrm>
              <a:off x="2467" y="658"/>
              <a:ext cx="528" cy="240"/>
              <a:chOff x="1968" y="1344"/>
              <a:chExt cx="528" cy="240"/>
            </a:xfrm>
          </p:grpSpPr>
          <p:sp>
            <p:nvSpPr>
              <p:cNvPr id="159808" name="Rectangle 68"/>
              <p:cNvSpPr>
                <a:spLocks noChangeArrowheads="1"/>
              </p:cNvSpPr>
              <p:nvPr/>
            </p:nvSpPr>
            <p:spPr bwMode="auto">
              <a:xfrm>
                <a:off x="1968" y="1344"/>
                <a:ext cx="384" cy="240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159809" name="Rectangle 69"/>
              <p:cNvSpPr>
                <a:spLocks noChangeArrowheads="1"/>
              </p:cNvSpPr>
              <p:nvPr/>
            </p:nvSpPr>
            <p:spPr bwMode="auto">
              <a:xfrm>
                <a:off x="2352" y="1344"/>
                <a:ext cx="144" cy="240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</p:grpSp>
        <p:sp>
          <p:nvSpPr>
            <p:cNvPr id="159807" name="Text Box 70"/>
            <p:cNvSpPr txBox="1">
              <a:spLocks noChangeArrowheads="1"/>
            </p:cNvSpPr>
            <p:nvPr/>
          </p:nvSpPr>
          <p:spPr bwMode="auto">
            <a:xfrm>
              <a:off x="2540" y="616"/>
              <a:ext cx="23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 eaLnBrk="1" hangingPunct="1"/>
              <a:r>
                <a: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1</a:t>
              </a:r>
            </a:p>
          </p:txBody>
        </p:sp>
      </p:grpSp>
      <p:grpSp>
        <p:nvGrpSpPr>
          <p:cNvPr id="159784" name="Group 71"/>
          <p:cNvGrpSpPr>
            <a:grpSpLocks/>
          </p:cNvGrpSpPr>
          <p:nvPr/>
        </p:nvGrpSpPr>
        <p:grpSpPr bwMode="auto">
          <a:xfrm>
            <a:off x="4211638" y="1209675"/>
            <a:ext cx="1681162" cy="960438"/>
            <a:chOff x="1693" y="762"/>
            <a:chExt cx="1059" cy="605"/>
          </a:xfrm>
        </p:grpSpPr>
        <p:sp>
          <p:nvSpPr>
            <p:cNvPr id="159803" name="Line 72"/>
            <p:cNvSpPr>
              <a:spLocks noChangeShapeType="1"/>
            </p:cNvSpPr>
            <p:nvPr/>
          </p:nvSpPr>
          <p:spPr bwMode="auto">
            <a:xfrm>
              <a:off x="2737" y="762"/>
              <a:ext cx="0" cy="2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9804" name="Line 73"/>
            <p:cNvSpPr>
              <a:spLocks noChangeShapeType="1"/>
            </p:cNvSpPr>
            <p:nvPr/>
          </p:nvSpPr>
          <p:spPr bwMode="auto">
            <a:xfrm flipH="1">
              <a:off x="1693" y="1050"/>
              <a:ext cx="1059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9805" name="Line 74"/>
            <p:cNvSpPr>
              <a:spLocks noChangeShapeType="1"/>
            </p:cNvSpPr>
            <p:nvPr/>
          </p:nvSpPr>
          <p:spPr bwMode="auto">
            <a:xfrm>
              <a:off x="1701" y="1050"/>
              <a:ext cx="0" cy="31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159785" name="Text Box 75"/>
          <p:cNvSpPr txBox="1">
            <a:spLocks noChangeArrowheads="1"/>
          </p:cNvSpPr>
          <p:nvPr/>
        </p:nvSpPr>
        <p:spPr bwMode="auto">
          <a:xfrm>
            <a:off x="6711951" y="1246189"/>
            <a:ext cx="6826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3200" b="1">
                <a:latin typeface="Tahoma" panose="020B0604030504040204" pitchFamily="34" charset="0"/>
                <a:ea typeface="宋体" panose="02010600030101010101" pitchFamily="2" charset="-122"/>
              </a:rPr>
              <a:t>pa</a:t>
            </a:r>
          </a:p>
        </p:txBody>
      </p:sp>
      <p:sp>
        <p:nvSpPr>
          <p:cNvPr id="159786" name="Line 76"/>
          <p:cNvSpPr>
            <a:spLocks noChangeShapeType="1"/>
          </p:cNvSpPr>
          <p:nvPr/>
        </p:nvSpPr>
        <p:spPr bwMode="auto">
          <a:xfrm flipV="1">
            <a:off x="6640513" y="1196975"/>
            <a:ext cx="0" cy="381000"/>
          </a:xfrm>
          <a:prstGeom prst="line">
            <a:avLst/>
          </a:prstGeom>
          <a:noFill/>
          <a:ln w="5715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159787" name="Group 77"/>
          <p:cNvGrpSpPr>
            <a:grpSpLocks/>
          </p:cNvGrpSpPr>
          <p:nvPr/>
        </p:nvGrpSpPr>
        <p:grpSpPr bwMode="auto">
          <a:xfrm>
            <a:off x="3355975" y="2565400"/>
            <a:ext cx="6769100" cy="1460500"/>
            <a:chOff x="1154" y="1616"/>
            <a:chExt cx="4264" cy="920"/>
          </a:xfrm>
        </p:grpSpPr>
        <p:sp>
          <p:nvSpPr>
            <p:cNvPr id="159801" name="Text Box 78"/>
            <p:cNvSpPr txBox="1">
              <a:spLocks noChangeArrowheads="1"/>
            </p:cNvSpPr>
            <p:nvPr/>
          </p:nvSpPr>
          <p:spPr bwMode="auto">
            <a:xfrm>
              <a:off x="1154" y="1616"/>
              <a:ext cx="547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 eaLnBrk="1" hangingPunct="1"/>
              <a:r>
                <a:rPr lang="en-US" altLang="zh-CN" sz="3200" b="1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Pc</a:t>
              </a:r>
              <a:endParaRPr lang="en-US" altLang="zh-CN" sz="3200" b="1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9802" name="Text Box 79"/>
            <p:cNvSpPr txBox="1">
              <a:spLocks noChangeArrowheads="1"/>
            </p:cNvSpPr>
            <p:nvPr/>
          </p:nvSpPr>
          <p:spPr bwMode="auto">
            <a:xfrm>
              <a:off x="3099" y="2171"/>
              <a:ext cx="2319" cy="365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 eaLnBrk="1" hangingPunct="1"/>
              <a:r>
                <a:rPr lang="en-US" altLang="zh-CN" sz="3200" b="1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pc= pb;</a:t>
              </a:r>
            </a:p>
          </p:txBody>
        </p:sp>
      </p:grpSp>
      <p:grpSp>
        <p:nvGrpSpPr>
          <p:cNvPr id="159788" name="Group 80"/>
          <p:cNvGrpSpPr>
            <a:grpSpLocks/>
          </p:cNvGrpSpPr>
          <p:nvPr/>
        </p:nvGrpSpPr>
        <p:grpSpPr bwMode="auto">
          <a:xfrm>
            <a:off x="3778250" y="2079625"/>
            <a:ext cx="838200" cy="457200"/>
            <a:chOff x="1420" y="1310"/>
            <a:chExt cx="528" cy="288"/>
          </a:xfrm>
        </p:grpSpPr>
        <p:grpSp>
          <p:nvGrpSpPr>
            <p:cNvPr id="159797" name="Group 81"/>
            <p:cNvGrpSpPr>
              <a:grpSpLocks/>
            </p:cNvGrpSpPr>
            <p:nvPr/>
          </p:nvGrpSpPr>
          <p:grpSpPr bwMode="auto">
            <a:xfrm>
              <a:off x="1420" y="1358"/>
              <a:ext cx="528" cy="240"/>
              <a:chOff x="1968" y="1344"/>
              <a:chExt cx="528" cy="240"/>
            </a:xfrm>
          </p:grpSpPr>
          <p:sp>
            <p:nvSpPr>
              <p:cNvPr id="159799" name="Rectangle 82"/>
              <p:cNvSpPr>
                <a:spLocks noChangeArrowheads="1"/>
              </p:cNvSpPr>
              <p:nvPr/>
            </p:nvSpPr>
            <p:spPr bwMode="auto">
              <a:xfrm>
                <a:off x="1968" y="1344"/>
                <a:ext cx="384" cy="240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159800" name="Rectangle 83"/>
              <p:cNvSpPr>
                <a:spLocks noChangeArrowheads="1"/>
              </p:cNvSpPr>
              <p:nvPr/>
            </p:nvSpPr>
            <p:spPr bwMode="auto">
              <a:xfrm>
                <a:off x="2352" y="1344"/>
                <a:ext cx="144" cy="240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</p:grpSp>
        <p:sp>
          <p:nvSpPr>
            <p:cNvPr id="159798" name="Text Box 84"/>
            <p:cNvSpPr txBox="1">
              <a:spLocks noChangeArrowheads="1"/>
            </p:cNvSpPr>
            <p:nvPr/>
          </p:nvSpPr>
          <p:spPr bwMode="auto">
            <a:xfrm>
              <a:off x="1509" y="1310"/>
              <a:ext cx="23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 eaLnBrk="1" hangingPunct="1"/>
              <a:r>
                <a: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rPr>
                <a:t>2</a:t>
              </a:r>
            </a:p>
          </p:txBody>
        </p:sp>
      </p:grpSp>
      <p:grpSp>
        <p:nvGrpSpPr>
          <p:cNvPr id="21" name="Group 88"/>
          <p:cNvGrpSpPr>
            <a:grpSpLocks/>
          </p:cNvGrpSpPr>
          <p:nvPr/>
        </p:nvGrpSpPr>
        <p:grpSpPr bwMode="auto">
          <a:xfrm>
            <a:off x="5178425" y="2565400"/>
            <a:ext cx="4946650" cy="2039938"/>
            <a:chOff x="2302" y="1616"/>
            <a:chExt cx="3116" cy="1285"/>
          </a:xfrm>
        </p:grpSpPr>
        <p:sp>
          <p:nvSpPr>
            <p:cNvPr id="159793" name="Text Box 85"/>
            <p:cNvSpPr txBox="1">
              <a:spLocks noChangeArrowheads="1"/>
            </p:cNvSpPr>
            <p:nvPr/>
          </p:nvSpPr>
          <p:spPr bwMode="auto">
            <a:xfrm>
              <a:off x="3099" y="2536"/>
              <a:ext cx="2319" cy="365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 eaLnBrk="1" hangingPunct="1"/>
              <a:r>
                <a:rPr lang="en-US" altLang="zh-CN" sz="3200" b="1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pb =pb-&gt;next;</a:t>
              </a:r>
            </a:p>
          </p:txBody>
        </p:sp>
        <p:grpSp>
          <p:nvGrpSpPr>
            <p:cNvPr id="159794" name="Group 87"/>
            <p:cNvGrpSpPr>
              <a:grpSpLocks/>
            </p:cNvGrpSpPr>
            <p:nvPr/>
          </p:nvGrpSpPr>
          <p:grpSpPr bwMode="auto">
            <a:xfrm>
              <a:off x="2302" y="1616"/>
              <a:ext cx="487" cy="365"/>
              <a:chOff x="2302" y="1616"/>
              <a:chExt cx="487" cy="365"/>
            </a:xfrm>
          </p:grpSpPr>
          <p:sp>
            <p:nvSpPr>
              <p:cNvPr id="159795" name="Text Box 62"/>
              <p:cNvSpPr txBox="1">
                <a:spLocks noChangeArrowheads="1"/>
              </p:cNvSpPr>
              <p:nvPr/>
            </p:nvSpPr>
            <p:spPr bwMode="auto">
              <a:xfrm>
                <a:off x="2350" y="1616"/>
                <a:ext cx="439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 eaLnBrk="1" hangingPunct="1"/>
                <a:r>
                  <a:rPr lang="en-US" altLang="zh-CN" sz="3200" b="1">
                    <a:latin typeface="Tahoma" panose="020B0604030504040204" pitchFamily="34" charset="0"/>
                    <a:ea typeface="宋体" panose="02010600030101010101" pitchFamily="2" charset="-122"/>
                  </a:rPr>
                  <a:t>pb</a:t>
                </a:r>
              </a:p>
            </p:txBody>
          </p:sp>
          <p:sp>
            <p:nvSpPr>
              <p:cNvPr id="159796" name="Line 86"/>
              <p:cNvSpPr>
                <a:spLocks noChangeShapeType="1"/>
              </p:cNvSpPr>
              <p:nvPr/>
            </p:nvSpPr>
            <p:spPr bwMode="auto">
              <a:xfrm flipV="1">
                <a:off x="2302" y="1624"/>
                <a:ext cx="0" cy="24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</p:grpSp>
      <p:grpSp>
        <p:nvGrpSpPr>
          <p:cNvPr id="159790" name="Group 89"/>
          <p:cNvGrpSpPr>
            <a:grpSpLocks/>
          </p:cNvGrpSpPr>
          <p:nvPr/>
        </p:nvGrpSpPr>
        <p:grpSpPr bwMode="auto">
          <a:xfrm>
            <a:off x="3471863" y="2222500"/>
            <a:ext cx="228600" cy="304800"/>
            <a:chOff x="2698" y="1622"/>
            <a:chExt cx="144" cy="192"/>
          </a:xfrm>
        </p:grpSpPr>
        <p:sp>
          <p:nvSpPr>
            <p:cNvPr id="159791" name="Line 90"/>
            <p:cNvSpPr>
              <a:spLocks noChangeShapeType="1"/>
            </p:cNvSpPr>
            <p:nvPr/>
          </p:nvSpPr>
          <p:spPr bwMode="auto">
            <a:xfrm flipH="1">
              <a:off x="2746" y="1622"/>
              <a:ext cx="48" cy="192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9792" name="Line 91"/>
            <p:cNvSpPr>
              <a:spLocks noChangeShapeType="1"/>
            </p:cNvSpPr>
            <p:nvPr/>
          </p:nvSpPr>
          <p:spPr bwMode="auto">
            <a:xfrm>
              <a:off x="2698" y="1622"/>
              <a:ext cx="144" cy="192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3388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772" name="Group 4"/>
          <p:cNvGrpSpPr>
            <a:grpSpLocks/>
          </p:cNvGrpSpPr>
          <p:nvPr/>
        </p:nvGrpSpPr>
        <p:grpSpPr bwMode="auto">
          <a:xfrm>
            <a:off x="4565650" y="1079500"/>
            <a:ext cx="838200" cy="381000"/>
            <a:chOff x="1968" y="1344"/>
            <a:chExt cx="528" cy="240"/>
          </a:xfrm>
        </p:grpSpPr>
        <p:sp>
          <p:nvSpPr>
            <p:cNvPr id="160848" name="Rectangle 5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60849" name="Rectangle 6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60773" name="Group 7"/>
          <p:cNvGrpSpPr>
            <a:grpSpLocks/>
          </p:cNvGrpSpPr>
          <p:nvPr/>
        </p:nvGrpSpPr>
        <p:grpSpPr bwMode="auto">
          <a:xfrm>
            <a:off x="5784850" y="1079500"/>
            <a:ext cx="838200" cy="381000"/>
            <a:chOff x="1968" y="1344"/>
            <a:chExt cx="528" cy="240"/>
          </a:xfrm>
        </p:grpSpPr>
        <p:sp>
          <p:nvSpPr>
            <p:cNvPr id="160846" name="Rectangle 8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60847" name="Rectangle 9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60774" name="Group 10"/>
          <p:cNvGrpSpPr>
            <a:grpSpLocks/>
          </p:cNvGrpSpPr>
          <p:nvPr/>
        </p:nvGrpSpPr>
        <p:grpSpPr bwMode="auto">
          <a:xfrm>
            <a:off x="7004050" y="1079500"/>
            <a:ext cx="838200" cy="381000"/>
            <a:chOff x="1968" y="1344"/>
            <a:chExt cx="528" cy="240"/>
          </a:xfrm>
        </p:grpSpPr>
        <p:sp>
          <p:nvSpPr>
            <p:cNvPr id="160844" name="Rectangle 11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60845" name="Rectangle 12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60775" name="Group 13"/>
          <p:cNvGrpSpPr>
            <a:grpSpLocks/>
          </p:cNvGrpSpPr>
          <p:nvPr/>
        </p:nvGrpSpPr>
        <p:grpSpPr bwMode="auto">
          <a:xfrm>
            <a:off x="3422650" y="1079500"/>
            <a:ext cx="838200" cy="381000"/>
            <a:chOff x="1968" y="1344"/>
            <a:chExt cx="528" cy="240"/>
          </a:xfrm>
        </p:grpSpPr>
        <p:sp>
          <p:nvSpPr>
            <p:cNvPr id="160842" name="Rectangle 14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60843" name="Rectangle 15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60776" name="Group 16"/>
          <p:cNvGrpSpPr>
            <a:grpSpLocks/>
          </p:cNvGrpSpPr>
          <p:nvPr/>
        </p:nvGrpSpPr>
        <p:grpSpPr bwMode="auto">
          <a:xfrm>
            <a:off x="3117850" y="2679700"/>
            <a:ext cx="838200" cy="381000"/>
            <a:chOff x="1968" y="1344"/>
            <a:chExt cx="528" cy="240"/>
          </a:xfrm>
        </p:grpSpPr>
        <p:sp>
          <p:nvSpPr>
            <p:cNvPr id="160840" name="Rectangle 17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60841" name="Rectangle 18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60777" name="Group 19"/>
          <p:cNvGrpSpPr>
            <a:grpSpLocks/>
          </p:cNvGrpSpPr>
          <p:nvPr/>
        </p:nvGrpSpPr>
        <p:grpSpPr bwMode="auto">
          <a:xfrm>
            <a:off x="4260850" y="2679700"/>
            <a:ext cx="838200" cy="381000"/>
            <a:chOff x="1968" y="1344"/>
            <a:chExt cx="528" cy="240"/>
          </a:xfrm>
        </p:grpSpPr>
        <p:sp>
          <p:nvSpPr>
            <p:cNvPr id="160838" name="Rectangle 20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60839" name="Rectangle 21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60778" name="Group 22"/>
          <p:cNvGrpSpPr>
            <a:grpSpLocks/>
          </p:cNvGrpSpPr>
          <p:nvPr/>
        </p:nvGrpSpPr>
        <p:grpSpPr bwMode="auto">
          <a:xfrm>
            <a:off x="5480050" y="2679700"/>
            <a:ext cx="838200" cy="381000"/>
            <a:chOff x="1968" y="1344"/>
            <a:chExt cx="528" cy="240"/>
          </a:xfrm>
        </p:grpSpPr>
        <p:sp>
          <p:nvSpPr>
            <p:cNvPr id="160836" name="Rectangle 23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60837" name="Rectangle 24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60779" name="Group 25"/>
          <p:cNvGrpSpPr>
            <a:grpSpLocks/>
          </p:cNvGrpSpPr>
          <p:nvPr/>
        </p:nvGrpSpPr>
        <p:grpSpPr bwMode="auto">
          <a:xfrm>
            <a:off x="6699250" y="2679700"/>
            <a:ext cx="838200" cy="381000"/>
            <a:chOff x="1968" y="1344"/>
            <a:chExt cx="528" cy="240"/>
          </a:xfrm>
        </p:grpSpPr>
        <p:sp>
          <p:nvSpPr>
            <p:cNvPr id="160834" name="Rectangle 26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60835" name="Rectangle 27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60780" name="Group 28"/>
          <p:cNvGrpSpPr>
            <a:grpSpLocks/>
          </p:cNvGrpSpPr>
          <p:nvPr/>
        </p:nvGrpSpPr>
        <p:grpSpPr bwMode="auto">
          <a:xfrm>
            <a:off x="7842250" y="2679700"/>
            <a:ext cx="838200" cy="381000"/>
            <a:chOff x="1968" y="1344"/>
            <a:chExt cx="528" cy="240"/>
          </a:xfrm>
        </p:grpSpPr>
        <p:sp>
          <p:nvSpPr>
            <p:cNvPr id="160832" name="Rectangle 29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60833" name="Rectangle 30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60781" name="Group 31"/>
          <p:cNvGrpSpPr>
            <a:grpSpLocks/>
          </p:cNvGrpSpPr>
          <p:nvPr/>
        </p:nvGrpSpPr>
        <p:grpSpPr bwMode="auto">
          <a:xfrm>
            <a:off x="8985250" y="2679700"/>
            <a:ext cx="838200" cy="381000"/>
            <a:chOff x="1968" y="1344"/>
            <a:chExt cx="528" cy="240"/>
          </a:xfrm>
        </p:grpSpPr>
        <p:sp>
          <p:nvSpPr>
            <p:cNvPr id="160830" name="Rectangle 32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60831" name="Rectangle 33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sp>
        <p:nvSpPr>
          <p:cNvPr id="160782" name="Line 34"/>
          <p:cNvSpPr>
            <a:spLocks noChangeShapeType="1"/>
          </p:cNvSpPr>
          <p:nvPr/>
        </p:nvSpPr>
        <p:spPr bwMode="auto">
          <a:xfrm>
            <a:off x="3803650" y="2832100"/>
            <a:ext cx="457200" cy="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0783" name="Line 35"/>
          <p:cNvSpPr>
            <a:spLocks noChangeShapeType="1"/>
          </p:cNvSpPr>
          <p:nvPr/>
        </p:nvSpPr>
        <p:spPr bwMode="auto">
          <a:xfrm>
            <a:off x="6242050" y="2832100"/>
            <a:ext cx="457200" cy="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0784" name="Line 36"/>
          <p:cNvSpPr>
            <a:spLocks noChangeShapeType="1"/>
          </p:cNvSpPr>
          <p:nvPr/>
        </p:nvSpPr>
        <p:spPr bwMode="auto">
          <a:xfrm>
            <a:off x="7385050" y="2832100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0785" name="Line 37"/>
          <p:cNvSpPr>
            <a:spLocks noChangeShapeType="1"/>
          </p:cNvSpPr>
          <p:nvPr/>
        </p:nvSpPr>
        <p:spPr bwMode="auto">
          <a:xfrm>
            <a:off x="4108450" y="1308100"/>
            <a:ext cx="457200" cy="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0786" name="Line 38"/>
          <p:cNvSpPr>
            <a:spLocks noChangeShapeType="1"/>
          </p:cNvSpPr>
          <p:nvPr/>
        </p:nvSpPr>
        <p:spPr bwMode="auto">
          <a:xfrm>
            <a:off x="5327650" y="1308100"/>
            <a:ext cx="457200" cy="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0787" name="Line 39"/>
          <p:cNvSpPr>
            <a:spLocks noChangeShapeType="1"/>
          </p:cNvSpPr>
          <p:nvPr/>
        </p:nvSpPr>
        <p:spPr bwMode="auto">
          <a:xfrm>
            <a:off x="6546850" y="1308100"/>
            <a:ext cx="457200" cy="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0788" name="Line 40"/>
          <p:cNvSpPr>
            <a:spLocks noChangeShapeType="1"/>
          </p:cNvSpPr>
          <p:nvPr/>
        </p:nvSpPr>
        <p:spPr bwMode="auto">
          <a:xfrm>
            <a:off x="5022850" y="2832100"/>
            <a:ext cx="457200" cy="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0789" name="Line 41"/>
          <p:cNvSpPr>
            <a:spLocks noChangeShapeType="1"/>
          </p:cNvSpPr>
          <p:nvPr/>
        </p:nvSpPr>
        <p:spPr bwMode="auto">
          <a:xfrm>
            <a:off x="8528050" y="2832100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0790" name="Line 42"/>
          <p:cNvSpPr>
            <a:spLocks noChangeShapeType="1"/>
          </p:cNvSpPr>
          <p:nvPr/>
        </p:nvSpPr>
        <p:spPr bwMode="auto">
          <a:xfrm flipV="1">
            <a:off x="3575050" y="1460500"/>
            <a:ext cx="0" cy="76200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0791" name="Line 43"/>
          <p:cNvSpPr>
            <a:spLocks noChangeShapeType="1"/>
          </p:cNvSpPr>
          <p:nvPr/>
        </p:nvSpPr>
        <p:spPr bwMode="auto">
          <a:xfrm>
            <a:off x="5237163" y="1308100"/>
            <a:ext cx="0" cy="45720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0792" name="Line 44"/>
          <p:cNvSpPr>
            <a:spLocks noChangeShapeType="1"/>
          </p:cNvSpPr>
          <p:nvPr/>
        </p:nvSpPr>
        <p:spPr bwMode="auto">
          <a:xfrm flipH="1">
            <a:off x="3879850" y="1765300"/>
            <a:ext cx="1352550" cy="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0793" name="Line 45"/>
          <p:cNvSpPr>
            <a:spLocks noChangeShapeType="1"/>
          </p:cNvSpPr>
          <p:nvPr/>
        </p:nvSpPr>
        <p:spPr bwMode="auto">
          <a:xfrm>
            <a:off x="3875088" y="1765300"/>
            <a:ext cx="0" cy="91440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0794" name="Line 46"/>
          <p:cNvSpPr>
            <a:spLocks noChangeShapeType="1"/>
          </p:cNvSpPr>
          <p:nvPr/>
        </p:nvSpPr>
        <p:spPr bwMode="auto">
          <a:xfrm flipV="1">
            <a:off x="6165850" y="1460500"/>
            <a:ext cx="0" cy="137160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0795" name="Line 47"/>
          <p:cNvSpPr>
            <a:spLocks noChangeShapeType="1"/>
          </p:cNvSpPr>
          <p:nvPr/>
        </p:nvSpPr>
        <p:spPr bwMode="auto">
          <a:xfrm>
            <a:off x="7712075" y="1308100"/>
            <a:ext cx="0" cy="53340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0796" name="Line 48"/>
          <p:cNvSpPr>
            <a:spLocks noChangeShapeType="1"/>
          </p:cNvSpPr>
          <p:nvPr/>
        </p:nvSpPr>
        <p:spPr bwMode="auto">
          <a:xfrm flipH="1">
            <a:off x="7331075" y="1841500"/>
            <a:ext cx="381000" cy="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0797" name="Line 49"/>
          <p:cNvSpPr>
            <a:spLocks noChangeShapeType="1"/>
          </p:cNvSpPr>
          <p:nvPr/>
        </p:nvSpPr>
        <p:spPr bwMode="auto">
          <a:xfrm>
            <a:off x="7331075" y="1841500"/>
            <a:ext cx="0" cy="83820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0798" name="Line 50"/>
          <p:cNvSpPr>
            <a:spLocks noChangeShapeType="1"/>
          </p:cNvSpPr>
          <p:nvPr/>
        </p:nvSpPr>
        <p:spPr bwMode="auto">
          <a:xfrm>
            <a:off x="3041650" y="130810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0799" name="Text Box 51"/>
          <p:cNvSpPr txBox="1">
            <a:spLocks noChangeArrowheads="1"/>
          </p:cNvSpPr>
          <p:nvPr/>
        </p:nvSpPr>
        <p:spPr bwMode="auto">
          <a:xfrm>
            <a:off x="1903414" y="706439"/>
            <a:ext cx="13557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3200">
                <a:latin typeface="Tahoma" panose="020B0604030504040204" pitchFamily="34" charset="0"/>
                <a:ea typeface="宋体" panose="02010600030101010101" pitchFamily="2" charset="-122"/>
              </a:rPr>
              <a:t>La(Lc)</a:t>
            </a:r>
          </a:p>
        </p:txBody>
      </p:sp>
      <p:sp>
        <p:nvSpPr>
          <p:cNvPr id="160800" name="Text Box 52"/>
          <p:cNvSpPr txBox="1">
            <a:spLocks noChangeArrowheads="1"/>
          </p:cNvSpPr>
          <p:nvPr/>
        </p:nvSpPr>
        <p:spPr bwMode="auto">
          <a:xfrm>
            <a:off x="4681539" y="1012825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60801" name="Text Box 53"/>
          <p:cNvSpPr txBox="1">
            <a:spLocks noChangeArrowheads="1"/>
          </p:cNvSpPr>
          <p:nvPr/>
        </p:nvSpPr>
        <p:spPr bwMode="auto">
          <a:xfrm>
            <a:off x="3259139" y="260350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60802" name="Text Box 54"/>
          <p:cNvSpPr txBox="1">
            <a:spLocks noChangeArrowheads="1"/>
          </p:cNvSpPr>
          <p:nvPr/>
        </p:nvSpPr>
        <p:spPr bwMode="auto">
          <a:xfrm>
            <a:off x="4376739" y="260350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60803" name="Text Box 55"/>
          <p:cNvSpPr txBox="1">
            <a:spLocks noChangeArrowheads="1"/>
          </p:cNvSpPr>
          <p:nvPr/>
        </p:nvSpPr>
        <p:spPr bwMode="auto">
          <a:xfrm>
            <a:off x="5556251" y="2644775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160804" name="Text Box 56"/>
          <p:cNvSpPr txBox="1">
            <a:spLocks noChangeArrowheads="1"/>
          </p:cNvSpPr>
          <p:nvPr/>
        </p:nvSpPr>
        <p:spPr bwMode="auto">
          <a:xfrm>
            <a:off x="5864226" y="1012825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160805" name="Text Box 57"/>
          <p:cNvSpPr txBox="1">
            <a:spLocks noChangeArrowheads="1"/>
          </p:cNvSpPr>
          <p:nvPr/>
        </p:nvSpPr>
        <p:spPr bwMode="auto">
          <a:xfrm>
            <a:off x="7119939" y="1012825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160806" name="Text Box 58"/>
          <p:cNvSpPr txBox="1">
            <a:spLocks noChangeArrowheads="1"/>
          </p:cNvSpPr>
          <p:nvPr/>
        </p:nvSpPr>
        <p:spPr bwMode="auto">
          <a:xfrm>
            <a:off x="6815139" y="2644775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160807" name="Text Box 59"/>
          <p:cNvSpPr txBox="1">
            <a:spLocks noChangeArrowheads="1"/>
          </p:cNvSpPr>
          <p:nvPr/>
        </p:nvSpPr>
        <p:spPr bwMode="auto">
          <a:xfrm>
            <a:off x="7835900" y="2644775"/>
            <a:ext cx="571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160808" name="Text Box 60"/>
          <p:cNvSpPr txBox="1">
            <a:spLocks noChangeArrowheads="1"/>
          </p:cNvSpPr>
          <p:nvPr/>
        </p:nvSpPr>
        <p:spPr bwMode="auto">
          <a:xfrm>
            <a:off x="8988425" y="2644775"/>
            <a:ext cx="571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11</a:t>
            </a:r>
          </a:p>
        </p:txBody>
      </p:sp>
      <p:grpSp>
        <p:nvGrpSpPr>
          <p:cNvPr id="160809" name="Group 61"/>
          <p:cNvGrpSpPr>
            <a:grpSpLocks/>
          </p:cNvGrpSpPr>
          <p:nvPr/>
        </p:nvGrpSpPr>
        <p:grpSpPr bwMode="auto">
          <a:xfrm>
            <a:off x="5403850" y="1165225"/>
            <a:ext cx="228600" cy="304800"/>
            <a:chOff x="2698" y="1622"/>
            <a:chExt cx="144" cy="192"/>
          </a:xfrm>
        </p:grpSpPr>
        <p:sp>
          <p:nvSpPr>
            <p:cNvPr id="160828" name="Line 62"/>
            <p:cNvSpPr>
              <a:spLocks noChangeShapeType="1"/>
            </p:cNvSpPr>
            <p:nvPr/>
          </p:nvSpPr>
          <p:spPr bwMode="auto">
            <a:xfrm flipH="1">
              <a:off x="2746" y="1622"/>
              <a:ext cx="48" cy="192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60829" name="Line 63"/>
            <p:cNvSpPr>
              <a:spLocks noChangeShapeType="1"/>
            </p:cNvSpPr>
            <p:nvPr/>
          </p:nvSpPr>
          <p:spPr bwMode="auto">
            <a:xfrm>
              <a:off x="2698" y="1622"/>
              <a:ext cx="144" cy="192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60810" name="Group 64"/>
          <p:cNvGrpSpPr>
            <a:grpSpLocks/>
          </p:cNvGrpSpPr>
          <p:nvPr/>
        </p:nvGrpSpPr>
        <p:grpSpPr bwMode="auto">
          <a:xfrm>
            <a:off x="6432550" y="2679700"/>
            <a:ext cx="228600" cy="304800"/>
            <a:chOff x="2698" y="1622"/>
            <a:chExt cx="144" cy="192"/>
          </a:xfrm>
        </p:grpSpPr>
        <p:sp>
          <p:nvSpPr>
            <p:cNvPr id="160826" name="Line 65"/>
            <p:cNvSpPr>
              <a:spLocks noChangeShapeType="1"/>
            </p:cNvSpPr>
            <p:nvPr/>
          </p:nvSpPr>
          <p:spPr bwMode="auto">
            <a:xfrm flipH="1">
              <a:off x="2746" y="1622"/>
              <a:ext cx="48" cy="192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60827" name="Line 66"/>
            <p:cNvSpPr>
              <a:spLocks noChangeShapeType="1"/>
            </p:cNvSpPr>
            <p:nvPr/>
          </p:nvSpPr>
          <p:spPr bwMode="auto">
            <a:xfrm>
              <a:off x="2698" y="1622"/>
              <a:ext cx="144" cy="192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60811" name="Group 67"/>
          <p:cNvGrpSpPr>
            <a:grpSpLocks/>
          </p:cNvGrpSpPr>
          <p:nvPr/>
        </p:nvGrpSpPr>
        <p:grpSpPr bwMode="auto">
          <a:xfrm>
            <a:off x="1903413" y="2670175"/>
            <a:ext cx="838200" cy="381000"/>
            <a:chOff x="1968" y="1344"/>
            <a:chExt cx="528" cy="240"/>
          </a:xfrm>
        </p:grpSpPr>
        <p:sp>
          <p:nvSpPr>
            <p:cNvPr id="160824" name="Rectangle 68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60825" name="Rectangle 69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sp>
        <p:nvSpPr>
          <p:cNvPr id="160812" name="Line 70"/>
          <p:cNvSpPr>
            <a:spLocks noChangeShapeType="1"/>
          </p:cNvSpPr>
          <p:nvPr/>
        </p:nvSpPr>
        <p:spPr bwMode="auto">
          <a:xfrm>
            <a:off x="2665413" y="2898775"/>
            <a:ext cx="457200" cy="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160813" name="Group 71"/>
          <p:cNvGrpSpPr>
            <a:grpSpLocks/>
          </p:cNvGrpSpPr>
          <p:nvPr/>
        </p:nvGrpSpPr>
        <p:grpSpPr bwMode="auto">
          <a:xfrm>
            <a:off x="2741613" y="2755900"/>
            <a:ext cx="228600" cy="304800"/>
            <a:chOff x="2698" y="1622"/>
            <a:chExt cx="144" cy="192"/>
          </a:xfrm>
        </p:grpSpPr>
        <p:sp>
          <p:nvSpPr>
            <p:cNvPr id="160822" name="Line 72"/>
            <p:cNvSpPr>
              <a:spLocks noChangeShapeType="1"/>
            </p:cNvSpPr>
            <p:nvPr/>
          </p:nvSpPr>
          <p:spPr bwMode="auto">
            <a:xfrm flipH="1">
              <a:off x="2746" y="1622"/>
              <a:ext cx="48" cy="192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60823" name="Line 73"/>
            <p:cNvSpPr>
              <a:spLocks noChangeShapeType="1"/>
            </p:cNvSpPr>
            <p:nvPr/>
          </p:nvSpPr>
          <p:spPr bwMode="auto">
            <a:xfrm>
              <a:off x="2698" y="1622"/>
              <a:ext cx="144" cy="192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160814" name="Rectangle 81"/>
          <p:cNvSpPr>
            <a:spLocks noChangeArrowheads="1"/>
          </p:cNvSpPr>
          <p:nvPr/>
        </p:nvSpPr>
        <p:spPr bwMode="auto">
          <a:xfrm>
            <a:off x="1555751" y="0"/>
            <a:ext cx="2816225" cy="5159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r>
              <a:rPr lang="zh-CN" altLang="en-US" sz="3200" b="1">
                <a:latin typeface="楷体_GB2312"/>
                <a:ea typeface="楷体_GB2312"/>
                <a:cs typeface="楷体_GB2312"/>
              </a:rPr>
              <a:t>有序链表合并</a:t>
            </a:r>
            <a:endParaRPr lang="zh-CN" altLang="en-US" sz="3200" b="1">
              <a:solidFill>
                <a:srgbClr val="FF0000"/>
              </a:solidFill>
            </a:endParaRPr>
          </a:p>
        </p:txBody>
      </p:sp>
      <p:sp>
        <p:nvSpPr>
          <p:cNvPr id="598098" name="Text Box 82"/>
          <p:cNvSpPr txBox="1">
            <a:spLocks noChangeArrowheads="1"/>
          </p:cNvSpPr>
          <p:nvPr/>
        </p:nvSpPr>
        <p:spPr bwMode="auto">
          <a:xfrm>
            <a:off x="5175251" y="4146550"/>
            <a:ext cx="4672013" cy="579438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3200" b="1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pc-&gt; next=pa?pa:pb; </a:t>
            </a:r>
          </a:p>
        </p:txBody>
      </p:sp>
      <p:sp>
        <p:nvSpPr>
          <p:cNvPr id="160816" name="Text Box 83"/>
          <p:cNvSpPr txBox="1">
            <a:spLocks noChangeArrowheads="1"/>
          </p:cNvSpPr>
          <p:nvPr/>
        </p:nvSpPr>
        <p:spPr bwMode="auto">
          <a:xfrm>
            <a:off x="8186739" y="1535114"/>
            <a:ext cx="23018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3200" b="1">
                <a:latin typeface="Tahoma" panose="020B0604030504040204" pitchFamily="34" charset="0"/>
                <a:ea typeface="宋体" panose="02010600030101010101" pitchFamily="2" charset="-122"/>
              </a:rPr>
              <a:t>pa(NULL)</a:t>
            </a:r>
          </a:p>
        </p:txBody>
      </p:sp>
      <p:sp>
        <p:nvSpPr>
          <p:cNvPr id="160817" name="Line 84"/>
          <p:cNvSpPr>
            <a:spLocks noChangeShapeType="1"/>
          </p:cNvSpPr>
          <p:nvPr/>
        </p:nvSpPr>
        <p:spPr bwMode="auto">
          <a:xfrm flipV="1">
            <a:off x="8115300" y="1485900"/>
            <a:ext cx="0" cy="381000"/>
          </a:xfrm>
          <a:prstGeom prst="line">
            <a:avLst/>
          </a:prstGeom>
          <a:noFill/>
          <a:ln w="5715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0818" name="Text Box 85"/>
          <p:cNvSpPr txBox="1">
            <a:spLocks noChangeArrowheads="1"/>
          </p:cNvSpPr>
          <p:nvPr/>
        </p:nvSpPr>
        <p:spPr bwMode="auto">
          <a:xfrm>
            <a:off x="8302626" y="3101975"/>
            <a:ext cx="6969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3200" b="1">
                <a:latin typeface="Tahoma" panose="020B0604030504040204" pitchFamily="34" charset="0"/>
                <a:ea typeface="宋体" panose="02010600030101010101" pitchFamily="2" charset="-122"/>
              </a:rPr>
              <a:t>pb</a:t>
            </a:r>
          </a:p>
        </p:txBody>
      </p:sp>
      <p:sp>
        <p:nvSpPr>
          <p:cNvPr id="160819" name="Line 86"/>
          <p:cNvSpPr>
            <a:spLocks noChangeShapeType="1"/>
          </p:cNvSpPr>
          <p:nvPr/>
        </p:nvSpPr>
        <p:spPr bwMode="auto">
          <a:xfrm flipV="1">
            <a:off x="8231188" y="3052763"/>
            <a:ext cx="0" cy="381000"/>
          </a:xfrm>
          <a:prstGeom prst="line">
            <a:avLst/>
          </a:prstGeom>
          <a:noFill/>
          <a:ln w="5715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0820" name="Text Box 87"/>
          <p:cNvSpPr txBox="1">
            <a:spLocks noChangeArrowheads="1"/>
          </p:cNvSpPr>
          <p:nvPr/>
        </p:nvSpPr>
        <p:spPr bwMode="auto">
          <a:xfrm>
            <a:off x="7119938" y="3101975"/>
            <a:ext cx="6540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3200" b="1">
                <a:latin typeface="Tahoma" panose="020B0604030504040204" pitchFamily="34" charset="0"/>
                <a:ea typeface="宋体" panose="02010600030101010101" pitchFamily="2" charset="-122"/>
              </a:rPr>
              <a:t>pc</a:t>
            </a:r>
          </a:p>
        </p:txBody>
      </p:sp>
      <p:sp>
        <p:nvSpPr>
          <p:cNvPr id="160821" name="Line 88"/>
          <p:cNvSpPr>
            <a:spLocks noChangeShapeType="1"/>
          </p:cNvSpPr>
          <p:nvPr/>
        </p:nvSpPr>
        <p:spPr bwMode="auto">
          <a:xfrm flipV="1">
            <a:off x="7048500" y="3052763"/>
            <a:ext cx="0" cy="381000"/>
          </a:xfrm>
          <a:prstGeom prst="line">
            <a:avLst/>
          </a:prstGeom>
          <a:noFill/>
          <a:ln w="5715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389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598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809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796" name="Group 5"/>
          <p:cNvGrpSpPr>
            <a:grpSpLocks/>
          </p:cNvGrpSpPr>
          <p:nvPr/>
        </p:nvGrpSpPr>
        <p:grpSpPr bwMode="auto">
          <a:xfrm>
            <a:off x="4846638" y="1425575"/>
            <a:ext cx="838200" cy="381000"/>
            <a:chOff x="1968" y="1344"/>
            <a:chExt cx="528" cy="240"/>
          </a:xfrm>
        </p:grpSpPr>
        <p:sp>
          <p:nvSpPr>
            <p:cNvPr id="161872" name="Rectangle 6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61873" name="Rectangle 7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61797" name="Group 8"/>
          <p:cNvGrpSpPr>
            <a:grpSpLocks/>
          </p:cNvGrpSpPr>
          <p:nvPr/>
        </p:nvGrpSpPr>
        <p:grpSpPr bwMode="auto">
          <a:xfrm>
            <a:off x="6065838" y="1425575"/>
            <a:ext cx="838200" cy="381000"/>
            <a:chOff x="1968" y="1344"/>
            <a:chExt cx="528" cy="240"/>
          </a:xfrm>
        </p:grpSpPr>
        <p:sp>
          <p:nvSpPr>
            <p:cNvPr id="161870" name="Rectangle 9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61871" name="Rectangle 10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61798" name="Group 11"/>
          <p:cNvGrpSpPr>
            <a:grpSpLocks/>
          </p:cNvGrpSpPr>
          <p:nvPr/>
        </p:nvGrpSpPr>
        <p:grpSpPr bwMode="auto">
          <a:xfrm>
            <a:off x="7285038" y="1425575"/>
            <a:ext cx="838200" cy="381000"/>
            <a:chOff x="1968" y="1344"/>
            <a:chExt cx="528" cy="240"/>
          </a:xfrm>
        </p:grpSpPr>
        <p:sp>
          <p:nvSpPr>
            <p:cNvPr id="161868" name="Rectangle 12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61869" name="Rectangle 13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61799" name="Group 14"/>
          <p:cNvGrpSpPr>
            <a:grpSpLocks/>
          </p:cNvGrpSpPr>
          <p:nvPr/>
        </p:nvGrpSpPr>
        <p:grpSpPr bwMode="auto">
          <a:xfrm>
            <a:off x="3703638" y="1425575"/>
            <a:ext cx="838200" cy="381000"/>
            <a:chOff x="1968" y="1344"/>
            <a:chExt cx="528" cy="240"/>
          </a:xfrm>
        </p:grpSpPr>
        <p:sp>
          <p:nvSpPr>
            <p:cNvPr id="161866" name="Rectangle 15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61867" name="Rectangle 16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61800" name="Group 17"/>
          <p:cNvGrpSpPr>
            <a:grpSpLocks/>
          </p:cNvGrpSpPr>
          <p:nvPr/>
        </p:nvGrpSpPr>
        <p:grpSpPr bwMode="auto">
          <a:xfrm>
            <a:off x="3398838" y="3025775"/>
            <a:ext cx="838200" cy="381000"/>
            <a:chOff x="1968" y="1344"/>
            <a:chExt cx="528" cy="240"/>
          </a:xfrm>
        </p:grpSpPr>
        <p:sp>
          <p:nvSpPr>
            <p:cNvPr id="161864" name="Rectangle 18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61865" name="Rectangle 19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61801" name="Group 20"/>
          <p:cNvGrpSpPr>
            <a:grpSpLocks/>
          </p:cNvGrpSpPr>
          <p:nvPr/>
        </p:nvGrpSpPr>
        <p:grpSpPr bwMode="auto">
          <a:xfrm>
            <a:off x="4541838" y="3025775"/>
            <a:ext cx="838200" cy="381000"/>
            <a:chOff x="1968" y="1344"/>
            <a:chExt cx="528" cy="240"/>
          </a:xfrm>
        </p:grpSpPr>
        <p:sp>
          <p:nvSpPr>
            <p:cNvPr id="161862" name="Rectangle 21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61863" name="Rectangle 22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61802" name="Group 23"/>
          <p:cNvGrpSpPr>
            <a:grpSpLocks/>
          </p:cNvGrpSpPr>
          <p:nvPr/>
        </p:nvGrpSpPr>
        <p:grpSpPr bwMode="auto">
          <a:xfrm>
            <a:off x="5761038" y="3025775"/>
            <a:ext cx="838200" cy="381000"/>
            <a:chOff x="1968" y="1344"/>
            <a:chExt cx="528" cy="240"/>
          </a:xfrm>
        </p:grpSpPr>
        <p:sp>
          <p:nvSpPr>
            <p:cNvPr id="161860" name="Rectangle 24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61861" name="Rectangle 25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61803" name="Group 26"/>
          <p:cNvGrpSpPr>
            <a:grpSpLocks/>
          </p:cNvGrpSpPr>
          <p:nvPr/>
        </p:nvGrpSpPr>
        <p:grpSpPr bwMode="auto">
          <a:xfrm>
            <a:off x="6980238" y="3025775"/>
            <a:ext cx="838200" cy="381000"/>
            <a:chOff x="1968" y="1344"/>
            <a:chExt cx="528" cy="240"/>
          </a:xfrm>
        </p:grpSpPr>
        <p:sp>
          <p:nvSpPr>
            <p:cNvPr id="161858" name="Rectangle 27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61859" name="Rectangle 28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61804" name="Group 29"/>
          <p:cNvGrpSpPr>
            <a:grpSpLocks/>
          </p:cNvGrpSpPr>
          <p:nvPr/>
        </p:nvGrpSpPr>
        <p:grpSpPr bwMode="auto">
          <a:xfrm>
            <a:off x="8123238" y="3025775"/>
            <a:ext cx="838200" cy="381000"/>
            <a:chOff x="1968" y="1344"/>
            <a:chExt cx="528" cy="240"/>
          </a:xfrm>
        </p:grpSpPr>
        <p:sp>
          <p:nvSpPr>
            <p:cNvPr id="161856" name="Rectangle 30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61857" name="Rectangle 31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61805" name="Group 32"/>
          <p:cNvGrpSpPr>
            <a:grpSpLocks/>
          </p:cNvGrpSpPr>
          <p:nvPr/>
        </p:nvGrpSpPr>
        <p:grpSpPr bwMode="auto">
          <a:xfrm>
            <a:off x="9266238" y="3025775"/>
            <a:ext cx="838200" cy="381000"/>
            <a:chOff x="1968" y="1344"/>
            <a:chExt cx="528" cy="240"/>
          </a:xfrm>
        </p:grpSpPr>
        <p:sp>
          <p:nvSpPr>
            <p:cNvPr id="161854" name="Rectangle 33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61855" name="Rectangle 34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sp>
        <p:nvSpPr>
          <p:cNvPr id="161806" name="Line 35"/>
          <p:cNvSpPr>
            <a:spLocks noChangeShapeType="1"/>
          </p:cNvSpPr>
          <p:nvPr/>
        </p:nvSpPr>
        <p:spPr bwMode="auto">
          <a:xfrm>
            <a:off x="4084638" y="3178175"/>
            <a:ext cx="457200" cy="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1807" name="Line 36"/>
          <p:cNvSpPr>
            <a:spLocks noChangeShapeType="1"/>
          </p:cNvSpPr>
          <p:nvPr/>
        </p:nvSpPr>
        <p:spPr bwMode="auto">
          <a:xfrm>
            <a:off x="6523038" y="3178175"/>
            <a:ext cx="457200" cy="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1808" name="Line 37"/>
          <p:cNvSpPr>
            <a:spLocks noChangeShapeType="1"/>
          </p:cNvSpPr>
          <p:nvPr/>
        </p:nvSpPr>
        <p:spPr bwMode="auto">
          <a:xfrm>
            <a:off x="7666038" y="3178175"/>
            <a:ext cx="457200" cy="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1809" name="Line 38"/>
          <p:cNvSpPr>
            <a:spLocks noChangeShapeType="1"/>
          </p:cNvSpPr>
          <p:nvPr/>
        </p:nvSpPr>
        <p:spPr bwMode="auto">
          <a:xfrm>
            <a:off x="4389438" y="1654175"/>
            <a:ext cx="457200" cy="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1810" name="Line 39"/>
          <p:cNvSpPr>
            <a:spLocks noChangeShapeType="1"/>
          </p:cNvSpPr>
          <p:nvPr/>
        </p:nvSpPr>
        <p:spPr bwMode="auto">
          <a:xfrm>
            <a:off x="5608638" y="1654175"/>
            <a:ext cx="457200" cy="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1811" name="Line 40"/>
          <p:cNvSpPr>
            <a:spLocks noChangeShapeType="1"/>
          </p:cNvSpPr>
          <p:nvPr/>
        </p:nvSpPr>
        <p:spPr bwMode="auto">
          <a:xfrm>
            <a:off x="6827838" y="1654175"/>
            <a:ext cx="457200" cy="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1812" name="Line 41"/>
          <p:cNvSpPr>
            <a:spLocks noChangeShapeType="1"/>
          </p:cNvSpPr>
          <p:nvPr/>
        </p:nvSpPr>
        <p:spPr bwMode="auto">
          <a:xfrm>
            <a:off x="5303838" y="3178175"/>
            <a:ext cx="457200" cy="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1813" name="Line 42"/>
          <p:cNvSpPr>
            <a:spLocks noChangeShapeType="1"/>
          </p:cNvSpPr>
          <p:nvPr/>
        </p:nvSpPr>
        <p:spPr bwMode="auto">
          <a:xfrm>
            <a:off x="8809038" y="3178175"/>
            <a:ext cx="457200" cy="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1814" name="Line 43"/>
          <p:cNvSpPr>
            <a:spLocks noChangeShapeType="1"/>
          </p:cNvSpPr>
          <p:nvPr/>
        </p:nvSpPr>
        <p:spPr bwMode="auto">
          <a:xfrm flipV="1">
            <a:off x="3856038" y="1806575"/>
            <a:ext cx="0" cy="76200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1815" name="Line 44"/>
          <p:cNvSpPr>
            <a:spLocks noChangeShapeType="1"/>
          </p:cNvSpPr>
          <p:nvPr/>
        </p:nvSpPr>
        <p:spPr bwMode="auto">
          <a:xfrm>
            <a:off x="5518150" y="1654175"/>
            <a:ext cx="0" cy="45720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1816" name="Line 45"/>
          <p:cNvSpPr>
            <a:spLocks noChangeShapeType="1"/>
          </p:cNvSpPr>
          <p:nvPr/>
        </p:nvSpPr>
        <p:spPr bwMode="auto">
          <a:xfrm flipH="1">
            <a:off x="4160838" y="2111375"/>
            <a:ext cx="1352550" cy="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1817" name="Line 46"/>
          <p:cNvSpPr>
            <a:spLocks noChangeShapeType="1"/>
          </p:cNvSpPr>
          <p:nvPr/>
        </p:nvSpPr>
        <p:spPr bwMode="auto">
          <a:xfrm>
            <a:off x="4156075" y="2111375"/>
            <a:ext cx="0" cy="91440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1818" name="Line 47"/>
          <p:cNvSpPr>
            <a:spLocks noChangeShapeType="1"/>
          </p:cNvSpPr>
          <p:nvPr/>
        </p:nvSpPr>
        <p:spPr bwMode="auto">
          <a:xfrm flipV="1">
            <a:off x="6446838" y="1806575"/>
            <a:ext cx="0" cy="137160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1819" name="Line 48"/>
          <p:cNvSpPr>
            <a:spLocks noChangeShapeType="1"/>
          </p:cNvSpPr>
          <p:nvPr/>
        </p:nvSpPr>
        <p:spPr bwMode="auto">
          <a:xfrm>
            <a:off x="7993063" y="1654175"/>
            <a:ext cx="0" cy="53340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1820" name="Line 49"/>
          <p:cNvSpPr>
            <a:spLocks noChangeShapeType="1"/>
          </p:cNvSpPr>
          <p:nvPr/>
        </p:nvSpPr>
        <p:spPr bwMode="auto">
          <a:xfrm flipH="1">
            <a:off x="7612063" y="2187575"/>
            <a:ext cx="381000" cy="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1821" name="Line 50"/>
          <p:cNvSpPr>
            <a:spLocks noChangeShapeType="1"/>
          </p:cNvSpPr>
          <p:nvPr/>
        </p:nvSpPr>
        <p:spPr bwMode="auto">
          <a:xfrm>
            <a:off x="7612063" y="2187575"/>
            <a:ext cx="0" cy="83820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1822" name="Line 52"/>
          <p:cNvSpPr>
            <a:spLocks noChangeShapeType="1"/>
          </p:cNvSpPr>
          <p:nvPr/>
        </p:nvSpPr>
        <p:spPr bwMode="auto">
          <a:xfrm>
            <a:off x="3322638" y="1654175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1823" name="Text Box 53"/>
          <p:cNvSpPr txBox="1">
            <a:spLocks noChangeArrowheads="1"/>
          </p:cNvSpPr>
          <p:nvPr/>
        </p:nvSpPr>
        <p:spPr bwMode="auto">
          <a:xfrm>
            <a:off x="2184401" y="1052514"/>
            <a:ext cx="13557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3200">
                <a:latin typeface="Tahoma" panose="020B0604030504040204" pitchFamily="34" charset="0"/>
                <a:ea typeface="宋体" panose="02010600030101010101" pitchFamily="2" charset="-122"/>
              </a:rPr>
              <a:t>La(Lc)</a:t>
            </a:r>
          </a:p>
        </p:txBody>
      </p:sp>
      <p:sp>
        <p:nvSpPr>
          <p:cNvPr id="161824" name="Text Box 54"/>
          <p:cNvSpPr txBox="1">
            <a:spLocks noChangeArrowheads="1"/>
          </p:cNvSpPr>
          <p:nvPr/>
        </p:nvSpPr>
        <p:spPr bwMode="auto">
          <a:xfrm>
            <a:off x="4962526" y="135890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61825" name="Text Box 55"/>
          <p:cNvSpPr txBox="1">
            <a:spLocks noChangeArrowheads="1"/>
          </p:cNvSpPr>
          <p:nvPr/>
        </p:nvSpPr>
        <p:spPr bwMode="auto">
          <a:xfrm>
            <a:off x="3540126" y="2949575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61826" name="Text Box 56"/>
          <p:cNvSpPr txBox="1">
            <a:spLocks noChangeArrowheads="1"/>
          </p:cNvSpPr>
          <p:nvPr/>
        </p:nvSpPr>
        <p:spPr bwMode="auto">
          <a:xfrm>
            <a:off x="4657726" y="2949575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61827" name="Text Box 57"/>
          <p:cNvSpPr txBox="1">
            <a:spLocks noChangeArrowheads="1"/>
          </p:cNvSpPr>
          <p:nvPr/>
        </p:nvSpPr>
        <p:spPr bwMode="auto">
          <a:xfrm>
            <a:off x="5837239" y="299085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161828" name="Text Box 58"/>
          <p:cNvSpPr txBox="1">
            <a:spLocks noChangeArrowheads="1"/>
          </p:cNvSpPr>
          <p:nvPr/>
        </p:nvSpPr>
        <p:spPr bwMode="auto">
          <a:xfrm>
            <a:off x="6145214" y="135890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161829" name="Text Box 59"/>
          <p:cNvSpPr txBox="1">
            <a:spLocks noChangeArrowheads="1"/>
          </p:cNvSpPr>
          <p:nvPr/>
        </p:nvSpPr>
        <p:spPr bwMode="auto">
          <a:xfrm>
            <a:off x="7400926" y="135890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161830" name="Text Box 60"/>
          <p:cNvSpPr txBox="1">
            <a:spLocks noChangeArrowheads="1"/>
          </p:cNvSpPr>
          <p:nvPr/>
        </p:nvSpPr>
        <p:spPr bwMode="auto">
          <a:xfrm>
            <a:off x="7096126" y="299085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161831" name="Text Box 61"/>
          <p:cNvSpPr txBox="1">
            <a:spLocks noChangeArrowheads="1"/>
          </p:cNvSpPr>
          <p:nvPr/>
        </p:nvSpPr>
        <p:spPr bwMode="auto">
          <a:xfrm>
            <a:off x="8116888" y="2990850"/>
            <a:ext cx="571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161832" name="Text Box 62"/>
          <p:cNvSpPr txBox="1">
            <a:spLocks noChangeArrowheads="1"/>
          </p:cNvSpPr>
          <p:nvPr/>
        </p:nvSpPr>
        <p:spPr bwMode="auto">
          <a:xfrm>
            <a:off x="9269413" y="2990850"/>
            <a:ext cx="571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11</a:t>
            </a:r>
          </a:p>
        </p:txBody>
      </p:sp>
      <p:grpSp>
        <p:nvGrpSpPr>
          <p:cNvPr id="161833" name="Group 63"/>
          <p:cNvGrpSpPr>
            <a:grpSpLocks/>
          </p:cNvGrpSpPr>
          <p:nvPr/>
        </p:nvGrpSpPr>
        <p:grpSpPr bwMode="auto">
          <a:xfrm>
            <a:off x="5684838" y="1511300"/>
            <a:ext cx="228600" cy="304800"/>
            <a:chOff x="2698" y="1622"/>
            <a:chExt cx="144" cy="192"/>
          </a:xfrm>
        </p:grpSpPr>
        <p:sp>
          <p:nvSpPr>
            <p:cNvPr id="161852" name="Line 64"/>
            <p:cNvSpPr>
              <a:spLocks noChangeShapeType="1"/>
            </p:cNvSpPr>
            <p:nvPr/>
          </p:nvSpPr>
          <p:spPr bwMode="auto">
            <a:xfrm flipH="1">
              <a:off x="2746" y="1622"/>
              <a:ext cx="48" cy="192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61853" name="Line 65"/>
            <p:cNvSpPr>
              <a:spLocks noChangeShapeType="1"/>
            </p:cNvSpPr>
            <p:nvPr/>
          </p:nvSpPr>
          <p:spPr bwMode="auto">
            <a:xfrm>
              <a:off x="2698" y="1622"/>
              <a:ext cx="144" cy="192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61834" name="Group 66"/>
          <p:cNvGrpSpPr>
            <a:grpSpLocks/>
          </p:cNvGrpSpPr>
          <p:nvPr/>
        </p:nvGrpSpPr>
        <p:grpSpPr bwMode="auto">
          <a:xfrm>
            <a:off x="6713538" y="3025775"/>
            <a:ext cx="228600" cy="304800"/>
            <a:chOff x="2698" y="1622"/>
            <a:chExt cx="144" cy="192"/>
          </a:xfrm>
        </p:grpSpPr>
        <p:sp>
          <p:nvSpPr>
            <p:cNvPr id="161850" name="Line 67"/>
            <p:cNvSpPr>
              <a:spLocks noChangeShapeType="1"/>
            </p:cNvSpPr>
            <p:nvPr/>
          </p:nvSpPr>
          <p:spPr bwMode="auto">
            <a:xfrm flipH="1">
              <a:off x="2746" y="1622"/>
              <a:ext cx="48" cy="192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61851" name="Line 68"/>
            <p:cNvSpPr>
              <a:spLocks noChangeShapeType="1"/>
            </p:cNvSpPr>
            <p:nvPr/>
          </p:nvSpPr>
          <p:spPr bwMode="auto">
            <a:xfrm>
              <a:off x="2698" y="1622"/>
              <a:ext cx="144" cy="192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61835" name="Group 69"/>
          <p:cNvGrpSpPr>
            <a:grpSpLocks/>
          </p:cNvGrpSpPr>
          <p:nvPr/>
        </p:nvGrpSpPr>
        <p:grpSpPr bwMode="auto">
          <a:xfrm>
            <a:off x="2184400" y="3016250"/>
            <a:ext cx="838200" cy="381000"/>
            <a:chOff x="1968" y="1344"/>
            <a:chExt cx="528" cy="240"/>
          </a:xfrm>
        </p:grpSpPr>
        <p:sp>
          <p:nvSpPr>
            <p:cNvPr id="161848" name="Rectangle 70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61849" name="Rectangle 71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sp>
        <p:nvSpPr>
          <p:cNvPr id="161836" name="Line 72"/>
          <p:cNvSpPr>
            <a:spLocks noChangeShapeType="1"/>
          </p:cNvSpPr>
          <p:nvPr/>
        </p:nvSpPr>
        <p:spPr bwMode="auto">
          <a:xfrm>
            <a:off x="2946400" y="3244850"/>
            <a:ext cx="457200" cy="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161837" name="Group 73"/>
          <p:cNvGrpSpPr>
            <a:grpSpLocks/>
          </p:cNvGrpSpPr>
          <p:nvPr/>
        </p:nvGrpSpPr>
        <p:grpSpPr bwMode="auto">
          <a:xfrm>
            <a:off x="3022600" y="3101975"/>
            <a:ext cx="228600" cy="304800"/>
            <a:chOff x="2698" y="1622"/>
            <a:chExt cx="144" cy="192"/>
          </a:xfrm>
        </p:grpSpPr>
        <p:sp>
          <p:nvSpPr>
            <p:cNvPr id="161846" name="Line 74"/>
            <p:cNvSpPr>
              <a:spLocks noChangeShapeType="1"/>
            </p:cNvSpPr>
            <p:nvPr/>
          </p:nvSpPr>
          <p:spPr bwMode="auto">
            <a:xfrm flipH="1">
              <a:off x="2746" y="1622"/>
              <a:ext cx="48" cy="192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61847" name="Line 75"/>
            <p:cNvSpPr>
              <a:spLocks noChangeShapeType="1"/>
            </p:cNvSpPr>
            <p:nvPr/>
          </p:nvSpPr>
          <p:spPr bwMode="auto">
            <a:xfrm>
              <a:off x="2698" y="1622"/>
              <a:ext cx="144" cy="192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161838" name="AutoShape 76"/>
          <p:cNvSpPr>
            <a:spLocks noChangeArrowheads="1"/>
          </p:cNvSpPr>
          <p:nvPr/>
        </p:nvSpPr>
        <p:spPr bwMode="auto">
          <a:xfrm>
            <a:off x="6343650" y="541338"/>
            <a:ext cx="566738" cy="779462"/>
          </a:xfrm>
          <a:prstGeom prst="downArrow">
            <a:avLst>
              <a:gd name="adj1" fmla="val 50000"/>
              <a:gd name="adj2" fmla="val 34384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161839" name="Text Box 77"/>
          <p:cNvSpPr txBox="1">
            <a:spLocks noChangeArrowheads="1"/>
          </p:cNvSpPr>
          <p:nvPr/>
        </p:nvSpPr>
        <p:spPr bwMode="auto">
          <a:xfrm>
            <a:off x="6942138" y="496889"/>
            <a:ext cx="1790700" cy="701675"/>
          </a:xfrm>
          <a:prstGeom prst="rect">
            <a:avLst/>
          </a:prstGeom>
          <a:solidFill>
            <a:srgbClr val="FFFF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4000" b="1">
                <a:solidFill>
                  <a:schemeClr val="accent2"/>
                </a:solidFill>
                <a:ea typeface="楷体_GB2312"/>
                <a:cs typeface="楷体_GB2312"/>
              </a:rPr>
              <a:t>合并后</a:t>
            </a:r>
          </a:p>
        </p:txBody>
      </p:sp>
      <p:grpSp>
        <p:nvGrpSpPr>
          <p:cNvPr id="16" name="Group 82"/>
          <p:cNvGrpSpPr>
            <a:grpSpLocks/>
          </p:cNvGrpSpPr>
          <p:nvPr/>
        </p:nvGrpSpPr>
        <p:grpSpPr bwMode="auto">
          <a:xfrm>
            <a:off x="1955800" y="2889250"/>
            <a:ext cx="2286000" cy="1479550"/>
            <a:chOff x="272" y="1820"/>
            <a:chExt cx="1440" cy="932"/>
          </a:xfrm>
        </p:grpSpPr>
        <p:sp>
          <p:nvSpPr>
            <p:cNvPr id="161842" name="Text Box 78"/>
            <p:cNvSpPr txBox="1">
              <a:spLocks noChangeArrowheads="1"/>
            </p:cNvSpPr>
            <p:nvPr/>
          </p:nvSpPr>
          <p:spPr bwMode="auto">
            <a:xfrm>
              <a:off x="272" y="2387"/>
              <a:ext cx="1440" cy="365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 eaLnBrk="1" hangingPunct="1"/>
              <a:r>
                <a:rPr lang="en-US" altLang="zh-CN" sz="3200" b="1">
                  <a:solidFill>
                    <a:srgbClr val="FF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delete Lb;</a:t>
              </a:r>
            </a:p>
          </p:txBody>
        </p:sp>
        <p:grpSp>
          <p:nvGrpSpPr>
            <p:cNvPr id="161843" name="Group 79"/>
            <p:cNvGrpSpPr>
              <a:grpSpLocks/>
            </p:cNvGrpSpPr>
            <p:nvPr/>
          </p:nvGrpSpPr>
          <p:grpSpPr bwMode="auto">
            <a:xfrm>
              <a:off x="537" y="1820"/>
              <a:ext cx="263" cy="363"/>
              <a:chOff x="2698" y="1622"/>
              <a:chExt cx="144" cy="192"/>
            </a:xfrm>
          </p:grpSpPr>
          <p:sp>
            <p:nvSpPr>
              <p:cNvPr id="161844" name="Line 80"/>
              <p:cNvSpPr>
                <a:spLocks noChangeShapeType="1"/>
              </p:cNvSpPr>
              <p:nvPr/>
            </p:nvSpPr>
            <p:spPr bwMode="auto">
              <a:xfrm flipH="1">
                <a:off x="2746" y="1622"/>
                <a:ext cx="48" cy="192"/>
              </a:xfrm>
              <a:prstGeom prst="line">
                <a:avLst/>
              </a:prstGeom>
              <a:noFill/>
              <a:ln w="57150">
                <a:solidFill>
                  <a:schemeClr val="hlink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61845" name="Line 81"/>
              <p:cNvSpPr>
                <a:spLocks noChangeShapeType="1"/>
              </p:cNvSpPr>
              <p:nvPr/>
            </p:nvSpPr>
            <p:spPr bwMode="auto">
              <a:xfrm>
                <a:off x="2698" y="1622"/>
                <a:ext cx="144" cy="192"/>
              </a:xfrm>
              <a:prstGeom prst="line">
                <a:avLst/>
              </a:prstGeom>
              <a:noFill/>
              <a:ln w="57150">
                <a:solidFill>
                  <a:schemeClr val="hlink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</p:grpSp>
      <p:sp>
        <p:nvSpPr>
          <p:cNvPr id="161841" name="Rectangle 83"/>
          <p:cNvSpPr>
            <a:spLocks noChangeArrowheads="1"/>
          </p:cNvSpPr>
          <p:nvPr/>
        </p:nvSpPr>
        <p:spPr bwMode="auto">
          <a:xfrm>
            <a:off x="1573214" y="0"/>
            <a:ext cx="2816225" cy="5159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r>
              <a:rPr lang="zh-CN" altLang="en-US" sz="3200" b="1">
                <a:latin typeface="楷体_GB2312"/>
                <a:ea typeface="楷体_GB2312"/>
                <a:cs typeface="楷体_GB2312"/>
              </a:rPr>
              <a:t>有序链表合并</a:t>
            </a:r>
            <a:endParaRPr lang="zh-CN" altLang="en-US" sz="32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5287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9" name="Rectangle 4"/>
          <p:cNvSpPr>
            <a:spLocks noChangeArrowheads="1"/>
          </p:cNvSpPr>
          <p:nvPr/>
        </p:nvSpPr>
        <p:spPr bwMode="auto">
          <a:xfrm>
            <a:off x="502920" y="719454"/>
            <a:ext cx="9379268" cy="3928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algn="just">
              <a:spcBef>
                <a:spcPct val="20000"/>
              </a:spcBef>
            </a:pPr>
            <a:r>
              <a:rPr lang="en-US" altLang="zh-CN" sz="2400" b="1" dirty="0">
                <a:solidFill>
                  <a:schemeClr val="folHlink"/>
                </a:solidFill>
              </a:rPr>
              <a:t>void </a:t>
            </a:r>
            <a:r>
              <a:rPr lang="en-US" altLang="zh-CN" sz="2400" b="1" dirty="0" err="1">
                <a:solidFill>
                  <a:schemeClr val="folHlink"/>
                </a:solidFill>
              </a:rPr>
              <a:t>MergeList_L</a:t>
            </a:r>
            <a:r>
              <a:rPr lang="en-US" altLang="zh-CN" sz="2400" b="1" dirty="0">
                <a:solidFill>
                  <a:schemeClr val="folHlink"/>
                </a:solidFill>
              </a:rPr>
              <a:t>(</a:t>
            </a:r>
            <a:r>
              <a:rPr lang="en-US" altLang="zh-CN" sz="2400" b="1" dirty="0" err="1">
                <a:solidFill>
                  <a:schemeClr val="folHlink"/>
                </a:solidFill>
              </a:rPr>
              <a:t>LinkList</a:t>
            </a:r>
            <a:r>
              <a:rPr lang="en-US" altLang="zh-CN" sz="2400" b="1" dirty="0">
                <a:solidFill>
                  <a:schemeClr val="folHlink"/>
                </a:solidFill>
              </a:rPr>
              <a:t> &amp;</a:t>
            </a:r>
            <a:r>
              <a:rPr lang="en-US" altLang="zh-CN" sz="2400" b="1" dirty="0" err="1">
                <a:solidFill>
                  <a:schemeClr val="folHlink"/>
                </a:solidFill>
              </a:rPr>
              <a:t>La,LinkList</a:t>
            </a:r>
            <a:r>
              <a:rPr lang="en-US" altLang="zh-CN" sz="2400" b="1" dirty="0">
                <a:solidFill>
                  <a:schemeClr val="folHlink"/>
                </a:solidFill>
              </a:rPr>
              <a:t> &amp;</a:t>
            </a:r>
            <a:r>
              <a:rPr lang="en-US" altLang="zh-CN" sz="2400" b="1" dirty="0" err="1">
                <a:solidFill>
                  <a:schemeClr val="folHlink"/>
                </a:solidFill>
              </a:rPr>
              <a:t>Lb,LinkList</a:t>
            </a:r>
            <a:r>
              <a:rPr lang="en-US" altLang="zh-CN" sz="2400" b="1" dirty="0">
                <a:solidFill>
                  <a:schemeClr val="folHlink"/>
                </a:solidFill>
              </a:rPr>
              <a:t> &amp;</a:t>
            </a:r>
            <a:r>
              <a:rPr lang="en-US" altLang="zh-CN" sz="2400" b="1" dirty="0" err="1">
                <a:solidFill>
                  <a:schemeClr val="folHlink"/>
                </a:solidFill>
              </a:rPr>
              <a:t>Lc</a:t>
            </a:r>
            <a:r>
              <a:rPr lang="en-US" altLang="zh-CN" sz="2400" b="1" dirty="0">
                <a:solidFill>
                  <a:schemeClr val="folHlink"/>
                </a:solidFill>
              </a:rPr>
              <a:t>){</a:t>
            </a:r>
          </a:p>
          <a:p>
            <a:pPr algn="just">
              <a:spcBef>
                <a:spcPct val="20000"/>
              </a:spcBef>
            </a:pPr>
            <a:r>
              <a:rPr lang="en-US" altLang="zh-CN" sz="2400" b="1" dirty="0"/>
              <a:t>   pa=La-&gt;next;  </a:t>
            </a:r>
            <a:r>
              <a:rPr lang="en-US" altLang="zh-CN" sz="2400" b="1" dirty="0" err="1"/>
              <a:t>pb</a:t>
            </a:r>
            <a:r>
              <a:rPr lang="en-US" altLang="zh-CN" sz="2400" b="1" dirty="0"/>
              <a:t>=</a:t>
            </a:r>
            <a:r>
              <a:rPr lang="en-US" altLang="zh-CN" sz="2400" b="1" dirty="0" err="1"/>
              <a:t>Lb</a:t>
            </a:r>
            <a:r>
              <a:rPr lang="en-US" altLang="zh-CN" sz="2400" b="1" dirty="0"/>
              <a:t>-&gt;next;</a:t>
            </a:r>
          </a:p>
          <a:p>
            <a:pPr algn="just">
              <a:spcBef>
                <a:spcPct val="20000"/>
              </a:spcBef>
            </a:pPr>
            <a:r>
              <a:rPr lang="en-US" altLang="zh-CN" sz="2400" b="1" dirty="0"/>
              <a:t>   pc=</a:t>
            </a:r>
            <a:r>
              <a:rPr lang="en-US" altLang="zh-CN" sz="2400" b="1" dirty="0" err="1"/>
              <a:t>Lc</a:t>
            </a:r>
            <a:r>
              <a:rPr lang="en-US" altLang="zh-CN" sz="2400" b="1" dirty="0"/>
              <a:t>=La;             //</a:t>
            </a:r>
            <a:r>
              <a:rPr lang="zh-CN" altLang="en-US" sz="2400" b="1" dirty="0"/>
              <a:t>用</a:t>
            </a:r>
            <a:r>
              <a:rPr lang="en-US" altLang="zh-CN" sz="2400" b="1" dirty="0"/>
              <a:t>La</a:t>
            </a:r>
            <a:r>
              <a:rPr lang="zh-CN" altLang="en-US" sz="2400" b="1" dirty="0"/>
              <a:t>的头结点作为</a:t>
            </a:r>
            <a:r>
              <a:rPr lang="en-US" altLang="zh-CN" sz="2400" b="1" dirty="0" err="1"/>
              <a:t>Lc</a:t>
            </a:r>
            <a:r>
              <a:rPr lang="zh-CN" altLang="en-US" sz="2400" b="1" dirty="0"/>
              <a:t>的头结点 </a:t>
            </a:r>
          </a:p>
          <a:p>
            <a:pPr algn="just">
              <a:spcBef>
                <a:spcPct val="20000"/>
              </a:spcBef>
            </a:pPr>
            <a:r>
              <a:rPr lang="zh-CN" altLang="en-US" sz="2400" b="1" dirty="0"/>
              <a:t>   </a:t>
            </a:r>
            <a:r>
              <a:rPr lang="en-US" altLang="zh-CN" sz="2400" b="1" dirty="0"/>
              <a:t>while(pa &amp;&amp; </a:t>
            </a:r>
            <a:r>
              <a:rPr lang="en-US" altLang="zh-CN" sz="2400" b="1" dirty="0" err="1"/>
              <a:t>pb</a:t>
            </a:r>
            <a:r>
              <a:rPr lang="en-US" altLang="zh-CN" sz="2400" b="1" dirty="0"/>
              <a:t>){</a:t>
            </a:r>
          </a:p>
          <a:p>
            <a:pPr algn="just">
              <a:spcBef>
                <a:spcPct val="20000"/>
              </a:spcBef>
            </a:pPr>
            <a:r>
              <a:rPr lang="en-US" altLang="zh-CN" sz="2400" b="1" dirty="0"/>
              <a:t>      if(pa-&gt;data&lt;=</a:t>
            </a:r>
            <a:r>
              <a:rPr lang="en-US" altLang="zh-CN" sz="2400" b="1" dirty="0" err="1"/>
              <a:t>pb</a:t>
            </a:r>
            <a:r>
              <a:rPr lang="en-US" altLang="zh-CN" sz="2400" b="1" dirty="0"/>
              <a:t>-&gt;data){ pc-&gt;next=</a:t>
            </a:r>
            <a:r>
              <a:rPr lang="en-US" altLang="zh-CN" sz="2400" b="1" dirty="0" err="1"/>
              <a:t>pa;pc</a:t>
            </a:r>
            <a:r>
              <a:rPr lang="en-US" altLang="zh-CN" sz="2400" b="1" dirty="0"/>
              <a:t>=</a:t>
            </a:r>
            <a:r>
              <a:rPr lang="en-US" altLang="zh-CN" sz="2400" b="1" dirty="0" err="1"/>
              <a:t>pa;pa</a:t>
            </a:r>
            <a:r>
              <a:rPr lang="en-US" altLang="zh-CN" sz="2400" b="1" dirty="0"/>
              <a:t>=pa-&gt;next;}</a:t>
            </a:r>
          </a:p>
          <a:p>
            <a:pPr algn="just">
              <a:spcBef>
                <a:spcPct val="20000"/>
              </a:spcBef>
            </a:pPr>
            <a:r>
              <a:rPr lang="en-US" altLang="zh-CN" sz="2400" b="1" dirty="0"/>
              <a:t>      else{pc-&gt;next=</a:t>
            </a:r>
            <a:r>
              <a:rPr lang="en-US" altLang="zh-CN" sz="2400" b="1" dirty="0" err="1"/>
              <a:t>pb</a:t>
            </a:r>
            <a:r>
              <a:rPr lang="en-US" altLang="zh-CN" sz="2400" b="1" dirty="0"/>
              <a:t>; pc=</a:t>
            </a:r>
            <a:r>
              <a:rPr lang="en-US" altLang="zh-CN" sz="2400" b="1" dirty="0" err="1"/>
              <a:t>pb</a:t>
            </a:r>
            <a:r>
              <a:rPr lang="en-US" altLang="zh-CN" sz="2400" b="1" dirty="0"/>
              <a:t>; </a:t>
            </a:r>
            <a:r>
              <a:rPr lang="en-US" altLang="zh-CN" sz="2400" b="1" dirty="0" err="1"/>
              <a:t>pb</a:t>
            </a:r>
            <a:r>
              <a:rPr lang="en-US" altLang="zh-CN" sz="2400" b="1" dirty="0"/>
              <a:t>=</a:t>
            </a:r>
            <a:r>
              <a:rPr lang="en-US" altLang="zh-CN" sz="2400" b="1" dirty="0" err="1"/>
              <a:t>pb</a:t>
            </a:r>
            <a:r>
              <a:rPr lang="en-US" altLang="zh-CN" sz="2400" b="1" dirty="0"/>
              <a:t>-&gt;next;}</a:t>
            </a:r>
          </a:p>
          <a:p>
            <a:pPr algn="just">
              <a:spcBef>
                <a:spcPct val="20000"/>
              </a:spcBef>
            </a:pPr>
            <a:r>
              <a:rPr lang="en-US" altLang="zh-CN" sz="2400" b="1" dirty="0"/>
              <a:t>   pc-&gt;next=</a:t>
            </a:r>
            <a:r>
              <a:rPr lang="en-US" altLang="zh-CN" sz="2400" b="1" dirty="0" err="1"/>
              <a:t>pa?pa:pb</a:t>
            </a:r>
            <a:r>
              <a:rPr lang="en-US" altLang="zh-CN" sz="2400" b="1" dirty="0"/>
              <a:t>;    //</a:t>
            </a:r>
            <a:r>
              <a:rPr lang="zh-CN" altLang="en-US" sz="2400" b="1" dirty="0"/>
              <a:t>插入剩余段  </a:t>
            </a:r>
          </a:p>
          <a:p>
            <a:pPr algn="just">
              <a:spcBef>
                <a:spcPct val="20000"/>
              </a:spcBef>
            </a:pPr>
            <a:r>
              <a:rPr lang="zh-CN" altLang="en-US" sz="2400" b="1" dirty="0"/>
              <a:t>   </a:t>
            </a:r>
            <a:r>
              <a:rPr lang="en-US" altLang="zh-CN" sz="2400" b="1" dirty="0"/>
              <a:t>delete </a:t>
            </a:r>
            <a:r>
              <a:rPr lang="en-US" altLang="zh-CN" sz="2400" b="1" dirty="0" err="1"/>
              <a:t>Lb</a:t>
            </a:r>
            <a:r>
              <a:rPr lang="en-US" altLang="zh-CN" sz="2400" b="1" dirty="0"/>
              <a:t>;             //</a:t>
            </a:r>
            <a:r>
              <a:rPr lang="zh-CN" altLang="en-US" sz="2400" b="1" dirty="0"/>
              <a:t>释放</a:t>
            </a:r>
            <a:r>
              <a:rPr lang="en-US" altLang="zh-CN" sz="2400" b="1" dirty="0" err="1"/>
              <a:t>Lb</a:t>
            </a:r>
            <a:r>
              <a:rPr lang="zh-CN" altLang="en-US" sz="2400" b="1" dirty="0"/>
              <a:t>的头</a:t>
            </a:r>
            <a:r>
              <a:rPr lang="zh-CN" altLang="en-US" sz="2400" b="1" dirty="0" smtClean="0"/>
              <a:t>结点</a:t>
            </a:r>
            <a:endParaRPr lang="en-US" altLang="zh-CN" sz="2400" b="1" dirty="0" smtClean="0"/>
          </a:p>
          <a:p>
            <a:pPr algn="just">
              <a:spcBef>
                <a:spcPct val="20000"/>
              </a:spcBef>
            </a:pPr>
            <a:r>
              <a:rPr lang="en-US" altLang="zh-CN" sz="2400" b="1" dirty="0" smtClean="0"/>
              <a:t>}  </a:t>
            </a:r>
            <a:endParaRPr lang="en-US" altLang="zh-CN" sz="2400" b="1" dirty="0"/>
          </a:p>
          <a:p>
            <a:pPr>
              <a:lnSpc>
                <a:spcPct val="130000"/>
              </a:lnSpc>
              <a:spcBef>
                <a:spcPct val="20000"/>
              </a:spcBef>
            </a:pPr>
            <a:endParaRPr lang="en-US" altLang="zh-CN" sz="2400" b="1" dirty="0"/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685801" y="4788215"/>
            <a:ext cx="8461375" cy="1016001"/>
            <a:chOff x="192" y="3543"/>
            <a:chExt cx="5330" cy="640"/>
          </a:xfrm>
        </p:grpSpPr>
        <p:sp>
          <p:nvSpPr>
            <p:cNvPr id="21512" name="Text Box 8"/>
            <p:cNvSpPr txBox="1">
              <a:spLocks noChangeArrowheads="1"/>
            </p:cNvSpPr>
            <p:nvPr/>
          </p:nvSpPr>
          <p:spPr bwMode="auto">
            <a:xfrm>
              <a:off x="192" y="3543"/>
              <a:ext cx="1330" cy="640"/>
            </a:xfrm>
            <a:prstGeom prst="rect">
              <a:avLst/>
            </a:prstGeom>
            <a:solidFill>
              <a:srgbClr val="FFFF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400" b="1">
                  <a:solidFill>
                    <a:srgbClr val="FF0000"/>
                  </a:solidFill>
                </a:rPr>
                <a:t>T(n)=</a:t>
              </a:r>
            </a:p>
            <a:p>
              <a:pPr>
                <a:spcBef>
                  <a:spcPct val="50000"/>
                </a:spcBef>
              </a:pPr>
              <a:r>
                <a:rPr lang="en-US" altLang="zh-CN" sz="2400" b="1">
                  <a:solidFill>
                    <a:srgbClr val="FF0000"/>
                  </a:solidFill>
                </a:rPr>
                <a:t>S(n)= </a:t>
              </a:r>
              <a:r>
                <a:rPr lang="en-US" altLang="zh-CN" sz="2400" b="1">
                  <a:solidFill>
                    <a:schemeClr val="tx2"/>
                  </a:solidFill>
                </a:rPr>
                <a:t>O(1)</a:t>
              </a:r>
            </a:p>
          </p:txBody>
        </p:sp>
        <p:graphicFrame>
          <p:nvGraphicFramePr>
            <p:cNvPr id="21506" name="Object 9"/>
            <p:cNvGraphicFramePr>
              <a:graphicFrameLocks noChangeAspect="1"/>
            </p:cNvGraphicFramePr>
            <p:nvPr/>
          </p:nvGraphicFramePr>
          <p:xfrm>
            <a:off x="793" y="3543"/>
            <a:ext cx="4729" cy="4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42" name="公式" r:id="rId3" imgW="2298600" imgH="203040" progId="Equation.3">
                    <p:embed/>
                  </p:oleObj>
                </mc:Choice>
                <mc:Fallback>
                  <p:oleObj name="公式" r:id="rId3" imgW="2298600" imgH="203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3" y="3543"/>
                          <a:ext cx="4729" cy="410"/>
                        </a:xfrm>
                        <a:prstGeom prst="rect">
                          <a:avLst/>
                        </a:prstGeom>
                        <a:solidFill>
                          <a:srgbClr val="CCFFCC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511" name="Rectangle 10"/>
          <p:cNvSpPr>
            <a:spLocks noChangeArrowheads="1"/>
          </p:cNvSpPr>
          <p:nvPr/>
        </p:nvSpPr>
        <p:spPr bwMode="auto">
          <a:xfrm>
            <a:off x="1528763" y="-26988"/>
            <a:ext cx="8096250" cy="606426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r>
              <a:rPr lang="en-US" altLang="zh-CN" sz="4400" b="1">
                <a:ea typeface="楷体_GB2312"/>
                <a:cs typeface="楷体_GB2312"/>
              </a:rPr>
              <a:t>【</a:t>
            </a:r>
            <a:r>
              <a:rPr lang="zh-CN" altLang="en-US" sz="4400" b="1">
                <a:ea typeface="楷体_GB2312"/>
                <a:cs typeface="楷体_GB2312"/>
              </a:rPr>
              <a:t>算法描述</a:t>
            </a:r>
            <a:r>
              <a:rPr lang="en-US" altLang="zh-CN" sz="4400" b="1">
                <a:ea typeface="楷体_GB2312"/>
                <a:cs typeface="楷体_GB2312"/>
              </a:rPr>
              <a:t>】</a:t>
            </a:r>
            <a:r>
              <a:rPr lang="zh-CN" altLang="en-US" sz="4400" b="1">
                <a:ea typeface="楷体_GB2312"/>
                <a:cs typeface="楷体_GB2312"/>
              </a:rPr>
              <a:t>－</a:t>
            </a:r>
            <a:r>
              <a:rPr lang="zh-CN" altLang="en-US" sz="3200" b="1">
                <a:latin typeface="楷体_GB2312"/>
                <a:ea typeface="楷体_GB2312"/>
                <a:cs typeface="楷体_GB2312"/>
              </a:rPr>
              <a:t>有序的链表合并</a:t>
            </a:r>
          </a:p>
        </p:txBody>
      </p:sp>
    </p:spTree>
    <p:extLst>
      <p:ext uri="{BB962C8B-B14F-4D97-AF65-F5344CB8AC3E}">
        <p14:creationId xmlns:p14="http://schemas.microsoft.com/office/powerpoint/2010/main" val="3750932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20" name="Rectangle 78"/>
          <p:cNvSpPr>
            <a:spLocks noChangeArrowheads="1"/>
          </p:cNvSpPr>
          <p:nvPr/>
        </p:nvSpPr>
        <p:spPr bwMode="auto">
          <a:xfrm>
            <a:off x="1616076" y="44450"/>
            <a:ext cx="9051925" cy="647700"/>
          </a:xfrm>
          <a:prstGeom prst="rect">
            <a:avLst/>
          </a:prstGeom>
          <a:solidFill>
            <a:srgbClr val="FFFF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r>
              <a:rPr lang="zh-CN" altLang="en-US" sz="3200" b="1">
                <a:solidFill>
                  <a:schemeClr val="hlink"/>
                </a:solidFill>
              </a:rPr>
              <a:t>思考</a:t>
            </a:r>
            <a:r>
              <a:rPr lang="en-US" altLang="zh-CN" sz="3200" b="1">
                <a:solidFill>
                  <a:schemeClr val="hlink"/>
                </a:solidFill>
              </a:rPr>
              <a:t>1</a:t>
            </a:r>
            <a:r>
              <a:rPr lang="zh-CN" altLang="en-US" sz="3200" b="1">
                <a:solidFill>
                  <a:schemeClr val="hlink"/>
                </a:solidFill>
              </a:rPr>
              <a:t>：要求合并后的表无重复数据，如何实现？</a:t>
            </a:r>
          </a:p>
        </p:txBody>
      </p:sp>
      <p:sp>
        <p:nvSpPr>
          <p:cNvPr id="599119" name="Rectangle 79"/>
          <p:cNvSpPr>
            <a:spLocks noChangeArrowheads="1"/>
          </p:cNvSpPr>
          <p:nvPr/>
        </p:nvSpPr>
        <p:spPr bwMode="auto">
          <a:xfrm>
            <a:off x="2838451" y="4076700"/>
            <a:ext cx="6022975" cy="1081088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r>
              <a:rPr lang="zh-CN" altLang="en-US" sz="3200" b="1"/>
              <a:t>提示：要单独考虑</a:t>
            </a:r>
            <a:br>
              <a:rPr lang="zh-CN" altLang="en-US" sz="3200" b="1"/>
            </a:br>
            <a:r>
              <a:rPr lang="en-US" altLang="zh-CN" sz="4000" b="1">
                <a:solidFill>
                  <a:srgbClr val="FF0000"/>
                </a:solidFill>
              </a:rPr>
              <a:t>pa-&gt;data = =pb-&gt;data</a:t>
            </a:r>
            <a:r>
              <a:rPr lang="en-US" altLang="zh-CN" sz="3200" b="1">
                <a:solidFill>
                  <a:srgbClr val="FF0000"/>
                </a:solidFill>
              </a:rPr>
              <a:t> </a:t>
            </a:r>
          </a:p>
        </p:txBody>
      </p:sp>
      <p:grpSp>
        <p:nvGrpSpPr>
          <p:cNvPr id="162822" name="Group 159"/>
          <p:cNvGrpSpPr>
            <a:grpSpLocks/>
          </p:cNvGrpSpPr>
          <p:nvPr/>
        </p:nvGrpSpPr>
        <p:grpSpPr bwMode="auto">
          <a:xfrm>
            <a:off x="4891088" y="1577975"/>
            <a:ext cx="838200" cy="381000"/>
            <a:chOff x="1968" y="1344"/>
            <a:chExt cx="528" cy="240"/>
          </a:xfrm>
        </p:grpSpPr>
        <p:sp>
          <p:nvSpPr>
            <p:cNvPr id="162896" name="Rectangle 160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62897" name="Rectangle 161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62823" name="Group 162"/>
          <p:cNvGrpSpPr>
            <a:grpSpLocks/>
          </p:cNvGrpSpPr>
          <p:nvPr/>
        </p:nvGrpSpPr>
        <p:grpSpPr bwMode="auto">
          <a:xfrm>
            <a:off x="6110288" y="1577975"/>
            <a:ext cx="838200" cy="381000"/>
            <a:chOff x="1968" y="1344"/>
            <a:chExt cx="528" cy="240"/>
          </a:xfrm>
        </p:grpSpPr>
        <p:sp>
          <p:nvSpPr>
            <p:cNvPr id="162894" name="Rectangle 163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62895" name="Rectangle 164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62824" name="Group 165"/>
          <p:cNvGrpSpPr>
            <a:grpSpLocks/>
          </p:cNvGrpSpPr>
          <p:nvPr/>
        </p:nvGrpSpPr>
        <p:grpSpPr bwMode="auto">
          <a:xfrm>
            <a:off x="7329488" y="1577975"/>
            <a:ext cx="838200" cy="381000"/>
            <a:chOff x="1968" y="1344"/>
            <a:chExt cx="528" cy="240"/>
          </a:xfrm>
        </p:grpSpPr>
        <p:sp>
          <p:nvSpPr>
            <p:cNvPr id="162892" name="Rectangle 166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62893" name="Rectangle 167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62825" name="Group 168"/>
          <p:cNvGrpSpPr>
            <a:grpSpLocks/>
          </p:cNvGrpSpPr>
          <p:nvPr/>
        </p:nvGrpSpPr>
        <p:grpSpPr bwMode="auto">
          <a:xfrm>
            <a:off x="3748088" y="1577975"/>
            <a:ext cx="838200" cy="381000"/>
            <a:chOff x="1968" y="1344"/>
            <a:chExt cx="528" cy="240"/>
          </a:xfrm>
        </p:grpSpPr>
        <p:sp>
          <p:nvSpPr>
            <p:cNvPr id="162890" name="Rectangle 169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62891" name="Rectangle 170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62826" name="Group 171"/>
          <p:cNvGrpSpPr>
            <a:grpSpLocks/>
          </p:cNvGrpSpPr>
          <p:nvPr/>
        </p:nvGrpSpPr>
        <p:grpSpPr bwMode="auto">
          <a:xfrm>
            <a:off x="3443288" y="3178175"/>
            <a:ext cx="838200" cy="381000"/>
            <a:chOff x="1968" y="1344"/>
            <a:chExt cx="528" cy="240"/>
          </a:xfrm>
        </p:grpSpPr>
        <p:sp>
          <p:nvSpPr>
            <p:cNvPr id="162888" name="Rectangle 172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62889" name="Rectangle 173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62827" name="Group 174"/>
          <p:cNvGrpSpPr>
            <a:grpSpLocks/>
          </p:cNvGrpSpPr>
          <p:nvPr/>
        </p:nvGrpSpPr>
        <p:grpSpPr bwMode="auto">
          <a:xfrm>
            <a:off x="4586288" y="3178175"/>
            <a:ext cx="838200" cy="381000"/>
            <a:chOff x="1968" y="1344"/>
            <a:chExt cx="528" cy="240"/>
          </a:xfrm>
        </p:grpSpPr>
        <p:sp>
          <p:nvSpPr>
            <p:cNvPr id="162886" name="Rectangle 175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62887" name="Rectangle 176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62828" name="Group 177"/>
          <p:cNvGrpSpPr>
            <a:grpSpLocks/>
          </p:cNvGrpSpPr>
          <p:nvPr/>
        </p:nvGrpSpPr>
        <p:grpSpPr bwMode="auto">
          <a:xfrm>
            <a:off x="5805488" y="3178175"/>
            <a:ext cx="838200" cy="381000"/>
            <a:chOff x="1968" y="1344"/>
            <a:chExt cx="528" cy="240"/>
          </a:xfrm>
        </p:grpSpPr>
        <p:sp>
          <p:nvSpPr>
            <p:cNvPr id="162884" name="Rectangle 178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62885" name="Rectangle 179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62829" name="Group 180"/>
          <p:cNvGrpSpPr>
            <a:grpSpLocks/>
          </p:cNvGrpSpPr>
          <p:nvPr/>
        </p:nvGrpSpPr>
        <p:grpSpPr bwMode="auto">
          <a:xfrm>
            <a:off x="7024688" y="3178175"/>
            <a:ext cx="838200" cy="381000"/>
            <a:chOff x="1968" y="1344"/>
            <a:chExt cx="528" cy="240"/>
          </a:xfrm>
        </p:grpSpPr>
        <p:sp>
          <p:nvSpPr>
            <p:cNvPr id="162882" name="Rectangle 181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62883" name="Rectangle 182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62830" name="Group 183"/>
          <p:cNvGrpSpPr>
            <a:grpSpLocks/>
          </p:cNvGrpSpPr>
          <p:nvPr/>
        </p:nvGrpSpPr>
        <p:grpSpPr bwMode="auto">
          <a:xfrm>
            <a:off x="8167688" y="3178175"/>
            <a:ext cx="838200" cy="381000"/>
            <a:chOff x="1968" y="1344"/>
            <a:chExt cx="528" cy="240"/>
          </a:xfrm>
        </p:grpSpPr>
        <p:sp>
          <p:nvSpPr>
            <p:cNvPr id="162880" name="Rectangle 184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62881" name="Rectangle 185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162831" name="Group 186"/>
          <p:cNvGrpSpPr>
            <a:grpSpLocks/>
          </p:cNvGrpSpPr>
          <p:nvPr/>
        </p:nvGrpSpPr>
        <p:grpSpPr bwMode="auto">
          <a:xfrm>
            <a:off x="9310688" y="3178175"/>
            <a:ext cx="838200" cy="381000"/>
            <a:chOff x="1968" y="1344"/>
            <a:chExt cx="528" cy="240"/>
          </a:xfrm>
        </p:grpSpPr>
        <p:sp>
          <p:nvSpPr>
            <p:cNvPr id="162878" name="Rectangle 187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62879" name="Rectangle 188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sp>
        <p:nvSpPr>
          <p:cNvPr id="162832" name="Line 189"/>
          <p:cNvSpPr>
            <a:spLocks noChangeShapeType="1"/>
          </p:cNvSpPr>
          <p:nvPr/>
        </p:nvSpPr>
        <p:spPr bwMode="auto">
          <a:xfrm>
            <a:off x="4129088" y="3330575"/>
            <a:ext cx="457200" cy="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2833" name="Line 190"/>
          <p:cNvSpPr>
            <a:spLocks noChangeShapeType="1"/>
          </p:cNvSpPr>
          <p:nvPr/>
        </p:nvSpPr>
        <p:spPr bwMode="auto">
          <a:xfrm>
            <a:off x="6567488" y="3330575"/>
            <a:ext cx="457200" cy="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2834" name="Line 191"/>
          <p:cNvSpPr>
            <a:spLocks noChangeShapeType="1"/>
          </p:cNvSpPr>
          <p:nvPr/>
        </p:nvSpPr>
        <p:spPr bwMode="auto">
          <a:xfrm>
            <a:off x="7710488" y="3330575"/>
            <a:ext cx="457200" cy="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2835" name="Line 192"/>
          <p:cNvSpPr>
            <a:spLocks noChangeShapeType="1"/>
          </p:cNvSpPr>
          <p:nvPr/>
        </p:nvSpPr>
        <p:spPr bwMode="auto">
          <a:xfrm>
            <a:off x="4433888" y="1806575"/>
            <a:ext cx="457200" cy="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2836" name="Line 193"/>
          <p:cNvSpPr>
            <a:spLocks noChangeShapeType="1"/>
          </p:cNvSpPr>
          <p:nvPr/>
        </p:nvSpPr>
        <p:spPr bwMode="auto">
          <a:xfrm>
            <a:off x="5653088" y="1806575"/>
            <a:ext cx="457200" cy="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2837" name="Line 194"/>
          <p:cNvSpPr>
            <a:spLocks noChangeShapeType="1"/>
          </p:cNvSpPr>
          <p:nvPr/>
        </p:nvSpPr>
        <p:spPr bwMode="auto">
          <a:xfrm>
            <a:off x="6872288" y="1806575"/>
            <a:ext cx="457200" cy="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2838" name="Line 195"/>
          <p:cNvSpPr>
            <a:spLocks noChangeShapeType="1"/>
          </p:cNvSpPr>
          <p:nvPr/>
        </p:nvSpPr>
        <p:spPr bwMode="auto">
          <a:xfrm>
            <a:off x="5348288" y="3330575"/>
            <a:ext cx="457200" cy="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2839" name="Line 196"/>
          <p:cNvSpPr>
            <a:spLocks noChangeShapeType="1"/>
          </p:cNvSpPr>
          <p:nvPr/>
        </p:nvSpPr>
        <p:spPr bwMode="auto">
          <a:xfrm>
            <a:off x="8853488" y="3330575"/>
            <a:ext cx="457200" cy="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2840" name="Line 197"/>
          <p:cNvSpPr>
            <a:spLocks noChangeShapeType="1"/>
          </p:cNvSpPr>
          <p:nvPr/>
        </p:nvSpPr>
        <p:spPr bwMode="auto">
          <a:xfrm flipV="1">
            <a:off x="3900488" y="1958975"/>
            <a:ext cx="0" cy="76200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2841" name="Line 198"/>
          <p:cNvSpPr>
            <a:spLocks noChangeShapeType="1"/>
          </p:cNvSpPr>
          <p:nvPr/>
        </p:nvSpPr>
        <p:spPr bwMode="auto">
          <a:xfrm>
            <a:off x="5562600" y="1806575"/>
            <a:ext cx="0" cy="45720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2842" name="Line 199"/>
          <p:cNvSpPr>
            <a:spLocks noChangeShapeType="1"/>
          </p:cNvSpPr>
          <p:nvPr/>
        </p:nvSpPr>
        <p:spPr bwMode="auto">
          <a:xfrm flipH="1">
            <a:off x="4205288" y="2263775"/>
            <a:ext cx="1352550" cy="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2843" name="Line 200"/>
          <p:cNvSpPr>
            <a:spLocks noChangeShapeType="1"/>
          </p:cNvSpPr>
          <p:nvPr/>
        </p:nvSpPr>
        <p:spPr bwMode="auto">
          <a:xfrm>
            <a:off x="4200525" y="2263775"/>
            <a:ext cx="0" cy="91440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2844" name="Line 201"/>
          <p:cNvSpPr>
            <a:spLocks noChangeShapeType="1"/>
          </p:cNvSpPr>
          <p:nvPr/>
        </p:nvSpPr>
        <p:spPr bwMode="auto">
          <a:xfrm flipV="1">
            <a:off x="6491288" y="1958975"/>
            <a:ext cx="0" cy="137160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2845" name="Line 202"/>
          <p:cNvSpPr>
            <a:spLocks noChangeShapeType="1"/>
          </p:cNvSpPr>
          <p:nvPr/>
        </p:nvSpPr>
        <p:spPr bwMode="auto">
          <a:xfrm>
            <a:off x="8037513" y="1806575"/>
            <a:ext cx="0" cy="53340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2846" name="Line 203"/>
          <p:cNvSpPr>
            <a:spLocks noChangeShapeType="1"/>
          </p:cNvSpPr>
          <p:nvPr/>
        </p:nvSpPr>
        <p:spPr bwMode="auto">
          <a:xfrm flipH="1">
            <a:off x="8026400" y="2339975"/>
            <a:ext cx="381000" cy="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2847" name="Line 204"/>
          <p:cNvSpPr>
            <a:spLocks noChangeShapeType="1"/>
          </p:cNvSpPr>
          <p:nvPr/>
        </p:nvSpPr>
        <p:spPr bwMode="auto">
          <a:xfrm>
            <a:off x="8413750" y="2319338"/>
            <a:ext cx="0" cy="83820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2848" name="Line 205"/>
          <p:cNvSpPr>
            <a:spLocks noChangeShapeType="1"/>
          </p:cNvSpPr>
          <p:nvPr/>
        </p:nvSpPr>
        <p:spPr bwMode="auto">
          <a:xfrm>
            <a:off x="3367088" y="1806575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2849" name="Text Box 206"/>
          <p:cNvSpPr txBox="1">
            <a:spLocks noChangeArrowheads="1"/>
          </p:cNvSpPr>
          <p:nvPr/>
        </p:nvSpPr>
        <p:spPr bwMode="auto">
          <a:xfrm>
            <a:off x="2228851" y="1204914"/>
            <a:ext cx="13557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3200">
                <a:latin typeface="Tahoma" panose="020B0604030504040204" pitchFamily="34" charset="0"/>
                <a:ea typeface="宋体" panose="02010600030101010101" pitchFamily="2" charset="-122"/>
              </a:rPr>
              <a:t>La(Lc)</a:t>
            </a:r>
          </a:p>
        </p:txBody>
      </p:sp>
      <p:sp>
        <p:nvSpPr>
          <p:cNvPr id="162850" name="Text Box 207"/>
          <p:cNvSpPr txBox="1">
            <a:spLocks noChangeArrowheads="1"/>
          </p:cNvSpPr>
          <p:nvPr/>
        </p:nvSpPr>
        <p:spPr bwMode="auto">
          <a:xfrm>
            <a:off x="5006976" y="151130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62851" name="Text Box 208"/>
          <p:cNvSpPr txBox="1">
            <a:spLocks noChangeArrowheads="1"/>
          </p:cNvSpPr>
          <p:nvPr/>
        </p:nvSpPr>
        <p:spPr bwMode="auto">
          <a:xfrm>
            <a:off x="3584576" y="3101975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62852" name="Text Box 209"/>
          <p:cNvSpPr txBox="1">
            <a:spLocks noChangeArrowheads="1"/>
          </p:cNvSpPr>
          <p:nvPr/>
        </p:nvSpPr>
        <p:spPr bwMode="auto">
          <a:xfrm>
            <a:off x="4702176" y="3101975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62853" name="Text Box 210"/>
          <p:cNvSpPr txBox="1">
            <a:spLocks noChangeArrowheads="1"/>
          </p:cNvSpPr>
          <p:nvPr/>
        </p:nvSpPr>
        <p:spPr bwMode="auto">
          <a:xfrm>
            <a:off x="5881689" y="314325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162854" name="Text Box 211"/>
          <p:cNvSpPr txBox="1">
            <a:spLocks noChangeArrowheads="1"/>
          </p:cNvSpPr>
          <p:nvPr/>
        </p:nvSpPr>
        <p:spPr bwMode="auto">
          <a:xfrm>
            <a:off x="6189664" y="151130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162855" name="Text Box 212"/>
          <p:cNvSpPr txBox="1">
            <a:spLocks noChangeArrowheads="1"/>
          </p:cNvSpPr>
          <p:nvPr/>
        </p:nvSpPr>
        <p:spPr bwMode="auto">
          <a:xfrm>
            <a:off x="7445376" y="151130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162856" name="Text Box 213"/>
          <p:cNvSpPr txBox="1">
            <a:spLocks noChangeArrowheads="1"/>
          </p:cNvSpPr>
          <p:nvPr/>
        </p:nvSpPr>
        <p:spPr bwMode="auto">
          <a:xfrm>
            <a:off x="7140576" y="3143250"/>
            <a:ext cx="37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162857" name="Text Box 214"/>
          <p:cNvSpPr txBox="1">
            <a:spLocks noChangeArrowheads="1"/>
          </p:cNvSpPr>
          <p:nvPr/>
        </p:nvSpPr>
        <p:spPr bwMode="auto">
          <a:xfrm>
            <a:off x="8161338" y="3143250"/>
            <a:ext cx="571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162858" name="Text Box 215"/>
          <p:cNvSpPr txBox="1">
            <a:spLocks noChangeArrowheads="1"/>
          </p:cNvSpPr>
          <p:nvPr/>
        </p:nvSpPr>
        <p:spPr bwMode="auto">
          <a:xfrm>
            <a:off x="9313863" y="3143250"/>
            <a:ext cx="571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400" b="1">
                <a:latin typeface="Tahoma" panose="020B0604030504040204" pitchFamily="34" charset="0"/>
                <a:ea typeface="宋体" panose="02010600030101010101" pitchFamily="2" charset="-122"/>
              </a:rPr>
              <a:t>11</a:t>
            </a:r>
          </a:p>
        </p:txBody>
      </p:sp>
      <p:grpSp>
        <p:nvGrpSpPr>
          <p:cNvPr id="162859" name="Group 216"/>
          <p:cNvGrpSpPr>
            <a:grpSpLocks/>
          </p:cNvGrpSpPr>
          <p:nvPr/>
        </p:nvGrpSpPr>
        <p:grpSpPr bwMode="auto">
          <a:xfrm>
            <a:off x="5729288" y="1663700"/>
            <a:ext cx="228600" cy="304800"/>
            <a:chOff x="2698" y="1622"/>
            <a:chExt cx="144" cy="192"/>
          </a:xfrm>
        </p:grpSpPr>
        <p:sp>
          <p:nvSpPr>
            <p:cNvPr id="162876" name="Line 217"/>
            <p:cNvSpPr>
              <a:spLocks noChangeShapeType="1"/>
            </p:cNvSpPr>
            <p:nvPr/>
          </p:nvSpPr>
          <p:spPr bwMode="auto">
            <a:xfrm flipH="1">
              <a:off x="2746" y="1622"/>
              <a:ext cx="48" cy="192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62877" name="Line 218"/>
            <p:cNvSpPr>
              <a:spLocks noChangeShapeType="1"/>
            </p:cNvSpPr>
            <p:nvPr/>
          </p:nvSpPr>
          <p:spPr bwMode="auto">
            <a:xfrm>
              <a:off x="2698" y="1622"/>
              <a:ext cx="144" cy="192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62860" name="Group 219"/>
          <p:cNvGrpSpPr>
            <a:grpSpLocks/>
          </p:cNvGrpSpPr>
          <p:nvPr/>
        </p:nvGrpSpPr>
        <p:grpSpPr bwMode="auto">
          <a:xfrm>
            <a:off x="6757988" y="3178175"/>
            <a:ext cx="228600" cy="304800"/>
            <a:chOff x="2698" y="1622"/>
            <a:chExt cx="144" cy="192"/>
          </a:xfrm>
        </p:grpSpPr>
        <p:sp>
          <p:nvSpPr>
            <p:cNvPr id="162874" name="Line 220"/>
            <p:cNvSpPr>
              <a:spLocks noChangeShapeType="1"/>
            </p:cNvSpPr>
            <p:nvPr/>
          </p:nvSpPr>
          <p:spPr bwMode="auto">
            <a:xfrm flipH="1">
              <a:off x="2746" y="1622"/>
              <a:ext cx="48" cy="192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62875" name="Line 221"/>
            <p:cNvSpPr>
              <a:spLocks noChangeShapeType="1"/>
            </p:cNvSpPr>
            <p:nvPr/>
          </p:nvSpPr>
          <p:spPr bwMode="auto">
            <a:xfrm>
              <a:off x="2698" y="1622"/>
              <a:ext cx="144" cy="192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62861" name="Group 222"/>
          <p:cNvGrpSpPr>
            <a:grpSpLocks/>
          </p:cNvGrpSpPr>
          <p:nvPr/>
        </p:nvGrpSpPr>
        <p:grpSpPr bwMode="auto">
          <a:xfrm>
            <a:off x="2228850" y="3168650"/>
            <a:ext cx="838200" cy="381000"/>
            <a:chOff x="1968" y="1344"/>
            <a:chExt cx="528" cy="240"/>
          </a:xfrm>
        </p:grpSpPr>
        <p:sp>
          <p:nvSpPr>
            <p:cNvPr id="162872" name="Rectangle 223"/>
            <p:cNvSpPr>
              <a:spLocks noChangeArrowheads="1"/>
            </p:cNvSpPr>
            <p:nvPr/>
          </p:nvSpPr>
          <p:spPr bwMode="auto">
            <a:xfrm>
              <a:off x="1968" y="1344"/>
              <a:ext cx="384" cy="24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62873" name="Rectangle 224"/>
            <p:cNvSpPr>
              <a:spLocks noChangeArrowheads="1"/>
            </p:cNvSpPr>
            <p:nvPr/>
          </p:nvSpPr>
          <p:spPr bwMode="auto">
            <a:xfrm>
              <a:off x="2352" y="1344"/>
              <a:ext cx="144" cy="24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sp>
        <p:nvSpPr>
          <p:cNvPr id="162862" name="Line 225"/>
          <p:cNvSpPr>
            <a:spLocks noChangeShapeType="1"/>
          </p:cNvSpPr>
          <p:nvPr/>
        </p:nvSpPr>
        <p:spPr bwMode="auto">
          <a:xfrm>
            <a:off x="2990850" y="3397250"/>
            <a:ext cx="457200" cy="0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162863" name="Group 226"/>
          <p:cNvGrpSpPr>
            <a:grpSpLocks/>
          </p:cNvGrpSpPr>
          <p:nvPr/>
        </p:nvGrpSpPr>
        <p:grpSpPr bwMode="auto">
          <a:xfrm>
            <a:off x="3067050" y="3254375"/>
            <a:ext cx="228600" cy="304800"/>
            <a:chOff x="2698" y="1622"/>
            <a:chExt cx="144" cy="192"/>
          </a:xfrm>
        </p:grpSpPr>
        <p:sp>
          <p:nvSpPr>
            <p:cNvPr id="162870" name="Line 227"/>
            <p:cNvSpPr>
              <a:spLocks noChangeShapeType="1"/>
            </p:cNvSpPr>
            <p:nvPr/>
          </p:nvSpPr>
          <p:spPr bwMode="auto">
            <a:xfrm flipH="1">
              <a:off x="2746" y="1622"/>
              <a:ext cx="48" cy="192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62871" name="Line 228"/>
            <p:cNvSpPr>
              <a:spLocks noChangeShapeType="1"/>
            </p:cNvSpPr>
            <p:nvPr/>
          </p:nvSpPr>
          <p:spPr bwMode="auto">
            <a:xfrm>
              <a:off x="2698" y="1622"/>
              <a:ext cx="144" cy="192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62864" name="Group 229"/>
          <p:cNvGrpSpPr>
            <a:grpSpLocks/>
          </p:cNvGrpSpPr>
          <p:nvPr/>
        </p:nvGrpSpPr>
        <p:grpSpPr bwMode="auto">
          <a:xfrm>
            <a:off x="7278688" y="3124201"/>
            <a:ext cx="431800" cy="434975"/>
            <a:chOff x="2698" y="1622"/>
            <a:chExt cx="144" cy="192"/>
          </a:xfrm>
        </p:grpSpPr>
        <p:sp>
          <p:nvSpPr>
            <p:cNvPr id="162868" name="Line 230"/>
            <p:cNvSpPr>
              <a:spLocks noChangeShapeType="1"/>
            </p:cNvSpPr>
            <p:nvPr/>
          </p:nvSpPr>
          <p:spPr bwMode="auto">
            <a:xfrm flipH="1">
              <a:off x="2746" y="1622"/>
              <a:ext cx="48" cy="192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62869" name="Line 231"/>
            <p:cNvSpPr>
              <a:spLocks noChangeShapeType="1"/>
            </p:cNvSpPr>
            <p:nvPr/>
          </p:nvSpPr>
          <p:spPr bwMode="auto">
            <a:xfrm>
              <a:off x="2698" y="1622"/>
              <a:ext cx="144" cy="192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62865" name="Group 232"/>
          <p:cNvGrpSpPr>
            <a:grpSpLocks/>
          </p:cNvGrpSpPr>
          <p:nvPr/>
        </p:nvGrpSpPr>
        <p:grpSpPr bwMode="auto">
          <a:xfrm>
            <a:off x="7862888" y="3178175"/>
            <a:ext cx="228600" cy="304800"/>
            <a:chOff x="2698" y="1622"/>
            <a:chExt cx="144" cy="192"/>
          </a:xfrm>
        </p:grpSpPr>
        <p:sp>
          <p:nvSpPr>
            <p:cNvPr id="162866" name="Line 233"/>
            <p:cNvSpPr>
              <a:spLocks noChangeShapeType="1"/>
            </p:cNvSpPr>
            <p:nvPr/>
          </p:nvSpPr>
          <p:spPr bwMode="auto">
            <a:xfrm flipH="1">
              <a:off x="2746" y="1622"/>
              <a:ext cx="48" cy="192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62867" name="Line 234"/>
            <p:cNvSpPr>
              <a:spLocks noChangeShapeType="1"/>
            </p:cNvSpPr>
            <p:nvPr/>
          </p:nvSpPr>
          <p:spPr bwMode="auto">
            <a:xfrm>
              <a:off x="2698" y="1622"/>
              <a:ext cx="144" cy="192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00297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599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911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4" name="Rectangle 90"/>
          <p:cNvSpPr>
            <a:spLocks noChangeArrowheads="1"/>
          </p:cNvSpPr>
          <p:nvPr/>
        </p:nvSpPr>
        <p:spPr bwMode="auto">
          <a:xfrm>
            <a:off x="1177291" y="1407350"/>
            <a:ext cx="8583613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3200" b="1" dirty="0">
                <a:latin typeface="楷体_GB2312"/>
                <a:ea typeface="楷体_GB2312"/>
                <a:cs typeface="楷体_GB2312"/>
              </a:rPr>
              <a:t>要求结果链表仍使用原来两个链表的存储空间</a:t>
            </a:r>
            <a:r>
              <a:rPr lang="en-US" altLang="zh-CN" sz="3200" b="1" dirty="0">
                <a:latin typeface="楷体_GB2312"/>
                <a:ea typeface="楷体_GB2312"/>
                <a:cs typeface="楷体_GB2312"/>
              </a:rPr>
              <a:t>, </a:t>
            </a:r>
            <a:r>
              <a:rPr lang="zh-CN" altLang="en-US" sz="3200" b="1" dirty="0">
                <a:latin typeface="楷体_GB2312"/>
                <a:ea typeface="楷体_GB2312"/>
                <a:cs typeface="楷体_GB2312"/>
              </a:rPr>
              <a:t>不另外占用其它的存储空间。</a:t>
            </a: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ü"/>
            </a:pPr>
            <a:endParaRPr lang="zh-CN" altLang="en-US" sz="3200" b="1" dirty="0">
              <a:latin typeface="楷体_GB2312"/>
              <a:ea typeface="楷体_GB2312"/>
              <a:cs typeface="楷体_GB2312"/>
            </a:endParaRP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3200" b="1" dirty="0">
                <a:latin typeface="楷体_GB2312"/>
                <a:ea typeface="楷体_GB2312"/>
                <a:cs typeface="楷体_GB2312"/>
              </a:rPr>
              <a:t>表中允许有重复的数据。 </a:t>
            </a:r>
          </a:p>
        </p:txBody>
      </p:sp>
      <p:sp>
        <p:nvSpPr>
          <p:cNvPr id="163845" name="Rectangle 93"/>
          <p:cNvSpPr>
            <a:spLocks noChangeArrowheads="1"/>
          </p:cNvSpPr>
          <p:nvPr/>
        </p:nvSpPr>
        <p:spPr bwMode="auto">
          <a:xfrm>
            <a:off x="943134" y="121920"/>
            <a:ext cx="9051925" cy="1016000"/>
          </a:xfrm>
          <a:prstGeom prst="rect">
            <a:avLst/>
          </a:prstGeom>
          <a:solidFill>
            <a:srgbClr val="FFFF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r>
              <a:rPr lang="zh-CN" altLang="en-US" sz="3200" b="1" dirty="0">
                <a:solidFill>
                  <a:schemeClr val="hlink"/>
                </a:solidFill>
              </a:rPr>
              <a:t>思考</a:t>
            </a:r>
            <a:r>
              <a:rPr lang="en-US" altLang="zh-CN" sz="3200" b="1" dirty="0">
                <a:solidFill>
                  <a:schemeClr val="hlink"/>
                </a:solidFill>
              </a:rPr>
              <a:t>2</a:t>
            </a:r>
            <a:r>
              <a:rPr lang="zh-CN" altLang="en-US" sz="3200" b="1" dirty="0">
                <a:solidFill>
                  <a:schemeClr val="hlink"/>
                </a:solidFill>
              </a:rPr>
              <a:t>：将两个非递减的有序链表合并为一个非递增的有序链表，如何实现？</a:t>
            </a:r>
          </a:p>
        </p:txBody>
      </p:sp>
    </p:spTree>
    <p:extLst>
      <p:ext uri="{BB962C8B-B14F-4D97-AF65-F5344CB8AC3E}">
        <p14:creationId xmlns:p14="http://schemas.microsoft.com/office/powerpoint/2010/main" val="1908048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8" name="Text Box 4"/>
          <p:cNvSpPr txBox="1">
            <a:spLocks noChangeArrowheads="1"/>
          </p:cNvSpPr>
          <p:nvPr/>
        </p:nvSpPr>
        <p:spPr bwMode="auto">
          <a:xfrm>
            <a:off x="745490" y="785495"/>
            <a:ext cx="38179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3200" b="1">
                <a:latin typeface="楷体_GB2312"/>
                <a:ea typeface="楷体_GB2312"/>
                <a:cs typeface="楷体_GB2312"/>
              </a:rPr>
              <a:t>(1)Lc</a:t>
            </a:r>
            <a:r>
              <a:rPr lang="zh-CN" altLang="en-US" sz="3200" b="1">
                <a:latin typeface="楷体_GB2312"/>
                <a:ea typeface="楷体_GB2312"/>
                <a:cs typeface="楷体_GB2312"/>
              </a:rPr>
              <a:t>指向</a:t>
            </a:r>
            <a:r>
              <a:rPr lang="en-US" altLang="zh-CN" sz="3200" b="1">
                <a:latin typeface="楷体_GB2312"/>
                <a:ea typeface="楷体_GB2312"/>
                <a:cs typeface="楷体_GB2312"/>
              </a:rPr>
              <a:t>La</a:t>
            </a:r>
          </a:p>
        </p:txBody>
      </p:sp>
      <p:sp>
        <p:nvSpPr>
          <p:cNvPr id="609285" name="Text Box 5"/>
          <p:cNvSpPr txBox="1">
            <a:spLocks noChangeArrowheads="1"/>
          </p:cNvSpPr>
          <p:nvPr/>
        </p:nvSpPr>
        <p:spPr bwMode="auto">
          <a:xfrm>
            <a:off x="815341" y="1426845"/>
            <a:ext cx="8397875" cy="1865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/>
              <a:t>(2)</a:t>
            </a:r>
            <a:r>
              <a:rPr lang="en-US" altLang="zh-CN" sz="3200" b="1">
                <a:latin typeface="楷体_GB2312"/>
                <a:ea typeface="楷体_GB2312"/>
                <a:cs typeface="楷体_GB2312"/>
              </a:rPr>
              <a:t> </a:t>
            </a:r>
            <a:r>
              <a:rPr lang="zh-CN" altLang="en-US" sz="3200" b="1">
                <a:latin typeface="楷体_GB2312"/>
                <a:ea typeface="楷体_GB2312"/>
                <a:cs typeface="楷体_GB2312"/>
              </a:rPr>
              <a:t>依次从 </a:t>
            </a:r>
            <a:r>
              <a:rPr lang="en-US" altLang="zh-CN" sz="3200" b="1">
                <a:latin typeface="楷体_GB2312"/>
                <a:ea typeface="楷体_GB2312"/>
                <a:cs typeface="楷体_GB2312"/>
              </a:rPr>
              <a:t>La </a:t>
            </a:r>
            <a:r>
              <a:rPr lang="zh-CN" altLang="en-US" sz="3200" b="1">
                <a:latin typeface="楷体_GB2312"/>
                <a:ea typeface="楷体_GB2312"/>
                <a:cs typeface="楷体_GB2312"/>
              </a:rPr>
              <a:t>或 </a:t>
            </a:r>
            <a:r>
              <a:rPr lang="en-US" altLang="zh-CN" sz="3200" b="1">
                <a:latin typeface="楷体_GB2312"/>
                <a:ea typeface="楷体_GB2312"/>
                <a:cs typeface="楷体_GB2312"/>
              </a:rPr>
              <a:t>Lb </a:t>
            </a:r>
            <a:r>
              <a:rPr lang="zh-CN" altLang="en-US" sz="3200" b="1">
                <a:latin typeface="楷体_GB2312"/>
                <a:ea typeface="楷体_GB2312"/>
                <a:cs typeface="楷体_GB2312"/>
              </a:rPr>
              <a:t>中“摘取”元素值较小的结点插入到 </a:t>
            </a:r>
            <a:r>
              <a:rPr lang="en-US" altLang="zh-CN" sz="3200" b="1">
                <a:latin typeface="楷体_GB2312"/>
                <a:ea typeface="楷体_GB2312"/>
                <a:cs typeface="楷体_GB2312"/>
              </a:rPr>
              <a:t>Lc </a:t>
            </a:r>
            <a:r>
              <a:rPr lang="zh-CN" altLang="en-US" sz="3200" b="1">
                <a:latin typeface="楷体_GB2312"/>
                <a:ea typeface="楷体_GB2312"/>
                <a:cs typeface="楷体_GB2312"/>
              </a:rPr>
              <a:t>表的</a:t>
            </a:r>
            <a:r>
              <a:rPr lang="zh-CN" altLang="en-US" sz="3200" b="1">
                <a:solidFill>
                  <a:srgbClr val="FF0000"/>
                </a:solidFill>
                <a:latin typeface="楷体_GB2312"/>
                <a:ea typeface="楷体_GB2312"/>
                <a:cs typeface="楷体_GB2312"/>
              </a:rPr>
              <a:t>表头结点之后</a:t>
            </a:r>
            <a:r>
              <a:rPr lang="zh-CN" altLang="en-US" sz="3200" b="1">
                <a:latin typeface="楷体_GB2312"/>
                <a:ea typeface="楷体_GB2312"/>
                <a:cs typeface="楷体_GB2312"/>
              </a:rPr>
              <a:t>，直至其中一个表变空为止</a:t>
            </a:r>
          </a:p>
        </p:txBody>
      </p:sp>
      <p:sp>
        <p:nvSpPr>
          <p:cNvPr id="609286" name="Text Box 6"/>
          <p:cNvSpPr txBox="1">
            <a:spLocks noChangeArrowheads="1"/>
          </p:cNvSpPr>
          <p:nvPr/>
        </p:nvSpPr>
        <p:spPr bwMode="auto">
          <a:xfrm>
            <a:off x="831216" y="3227071"/>
            <a:ext cx="8397875" cy="1274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 dirty="0">
                <a:latin typeface="楷体_GB2312"/>
                <a:ea typeface="楷体_GB2312"/>
                <a:cs typeface="楷体_GB2312"/>
              </a:rPr>
              <a:t>(3) </a:t>
            </a:r>
            <a:r>
              <a:rPr lang="zh-CN" altLang="en-US" sz="3200" b="1" dirty="0">
                <a:latin typeface="楷体_GB2312"/>
                <a:ea typeface="楷体_GB2312"/>
                <a:cs typeface="楷体_GB2312"/>
              </a:rPr>
              <a:t>继续将 </a:t>
            </a:r>
            <a:r>
              <a:rPr lang="en-US" altLang="zh-CN" sz="3200" b="1" dirty="0">
                <a:latin typeface="楷体_GB2312"/>
                <a:ea typeface="楷体_GB2312"/>
                <a:cs typeface="楷体_GB2312"/>
              </a:rPr>
              <a:t>La </a:t>
            </a:r>
            <a:r>
              <a:rPr lang="zh-CN" altLang="en-US" sz="3200" b="1" dirty="0">
                <a:latin typeface="楷体_GB2312"/>
                <a:ea typeface="楷体_GB2312"/>
                <a:cs typeface="楷体_GB2312"/>
              </a:rPr>
              <a:t>或 </a:t>
            </a:r>
            <a:r>
              <a:rPr lang="en-US" altLang="zh-CN" sz="3200" b="1" dirty="0" err="1">
                <a:latin typeface="楷体_GB2312"/>
                <a:ea typeface="楷体_GB2312"/>
                <a:cs typeface="楷体_GB2312"/>
              </a:rPr>
              <a:t>Lb</a:t>
            </a:r>
            <a:r>
              <a:rPr lang="en-US" altLang="zh-CN" sz="3200" b="1" dirty="0">
                <a:latin typeface="楷体_GB2312"/>
                <a:ea typeface="楷体_GB2312"/>
                <a:cs typeface="楷体_GB2312"/>
              </a:rPr>
              <a:t> </a:t>
            </a:r>
            <a:r>
              <a:rPr lang="zh-CN" altLang="en-US" sz="3200" b="1" dirty="0">
                <a:latin typeface="楷体_GB2312"/>
                <a:ea typeface="楷体_GB2312"/>
                <a:cs typeface="楷体_GB2312"/>
              </a:rPr>
              <a:t>其中一个表的剩余结点插入在 </a:t>
            </a:r>
            <a:r>
              <a:rPr lang="en-US" altLang="zh-CN" sz="3200" b="1" dirty="0" err="1">
                <a:latin typeface="楷体_GB2312"/>
                <a:ea typeface="楷体_GB2312"/>
                <a:cs typeface="楷体_GB2312"/>
              </a:rPr>
              <a:t>Lc</a:t>
            </a:r>
            <a:r>
              <a:rPr lang="en-US" altLang="zh-CN" sz="3200" b="1" dirty="0">
                <a:latin typeface="楷体_GB2312"/>
                <a:ea typeface="楷体_GB2312"/>
                <a:cs typeface="楷体_GB2312"/>
              </a:rPr>
              <a:t> </a:t>
            </a:r>
            <a:r>
              <a:rPr lang="zh-CN" altLang="en-US" sz="3200" b="1" dirty="0">
                <a:latin typeface="楷体_GB2312"/>
                <a:ea typeface="楷体_GB2312"/>
                <a:cs typeface="楷体_GB2312"/>
              </a:rPr>
              <a:t>表的</a:t>
            </a:r>
            <a:r>
              <a:rPr lang="zh-CN" altLang="en-US" sz="3200" b="1" dirty="0">
                <a:solidFill>
                  <a:srgbClr val="FF0000"/>
                </a:solidFill>
                <a:latin typeface="楷体_GB2312"/>
                <a:ea typeface="楷体_GB2312"/>
                <a:cs typeface="楷体_GB2312"/>
              </a:rPr>
              <a:t>表头结点之后</a:t>
            </a:r>
            <a:endParaRPr lang="zh-CN" altLang="en-US" sz="3200" b="1" dirty="0"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609287" name="Text Box 7"/>
          <p:cNvSpPr txBox="1">
            <a:spLocks noChangeArrowheads="1"/>
          </p:cNvSpPr>
          <p:nvPr/>
        </p:nvSpPr>
        <p:spPr bwMode="auto">
          <a:xfrm>
            <a:off x="853440" y="4668520"/>
            <a:ext cx="50863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3200" b="1">
                <a:latin typeface="楷体_GB2312"/>
                <a:ea typeface="楷体_GB2312"/>
                <a:cs typeface="楷体_GB2312"/>
              </a:rPr>
              <a:t>(4) </a:t>
            </a:r>
            <a:r>
              <a:rPr lang="zh-CN" altLang="en-US" sz="3200" b="1">
                <a:latin typeface="楷体_GB2312"/>
                <a:ea typeface="楷体_GB2312"/>
                <a:cs typeface="楷体_GB2312"/>
              </a:rPr>
              <a:t>释放 </a:t>
            </a:r>
            <a:r>
              <a:rPr lang="en-US" altLang="zh-CN" sz="3200" b="1">
                <a:latin typeface="楷体_GB2312"/>
                <a:ea typeface="楷体_GB2312"/>
                <a:cs typeface="楷体_GB2312"/>
              </a:rPr>
              <a:t>Lb </a:t>
            </a:r>
            <a:r>
              <a:rPr lang="zh-CN" altLang="en-US" sz="3200" b="1">
                <a:latin typeface="楷体_GB2312"/>
                <a:ea typeface="楷体_GB2312"/>
                <a:cs typeface="楷体_GB2312"/>
              </a:rPr>
              <a:t>表的表头结点</a:t>
            </a:r>
          </a:p>
        </p:txBody>
      </p:sp>
      <p:sp>
        <p:nvSpPr>
          <p:cNvPr id="164872" name="Rectangle 10"/>
          <p:cNvSpPr>
            <a:spLocks noChangeArrowheads="1"/>
          </p:cNvSpPr>
          <p:nvPr/>
        </p:nvSpPr>
        <p:spPr bwMode="auto">
          <a:xfrm>
            <a:off x="1528763" y="-26988"/>
            <a:ext cx="3846512" cy="606426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r>
              <a:rPr lang="en-US" altLang="zh-CN" sz="4400" b="1">
                <a:ea typeface="楷体_GB2312"/>
                <a:cs typeface="楷体_GB2312"/>
              </a:rPr>
              <a:t>【</a:t>
            </a:r>
            <a:r>
              <a:rPr lang="zh-CN" altLang="en-US" sz="4400" b="1">
                <a:ea typeface="楷体_GB2312"/>
                <a:cs typeface="楷体_GB2312"/>
              </a:rPr>
              <a:t>算法步骤</a:t>
            </a:r>
            <a:r>
              <a:rPr lang="en-US" altLang="zh-CN" sz="4400" b="1">
                <a:ea typeface="楷体_GB2312"/>
                <a:cs typeface="楷体_GB2312"/>
              </a:rPr>
              <a:t>】</a:t>
            </a:r>
            <a:endParaRPr lang="en-US" altLang="zh-CN" sz="3200" b="1">
              <a:latin typeface="楷体_GB2312"/>
              <a:ea typeface="楷体_GB2312"/>
              <a:cs typeface="楷体_GB2312"/>
            </a:endParaRPr>
          </a:p>
        </p:txBody>
      </p:sp>
    </p:spTree>
    <p:extLst>
      <p:ext uri="{BB962C8B-B14F-4D97-AF65-F5344CB8AC3E}">
        <p14:creationId xmlns:p14="http://schemas.microsoft.com/office/powerpoint/2010/main" val="1074643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09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609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09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9285" grpId="0"/>
      <p:bldP spid="609286" grpId="0"/>
      <p:bldP spid="60928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1" name="Rectangle 58"/>
          <p:cNvSpPr>
            <a:spLocks noChangeArrowheads="1"/>
          </p:cNvSpPr>
          <p:nvPr/>
        </p:nvSpPr>
        <p:spPr bwMode="auto">
          <a:xfrm>
            <a:off x="1524000" y="511175"/>
            <a:ext cx="677545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r>
              <a:rPr lang="en-US" altLang="zh-CN" sz="4000" b="1">
                <a:solidFill>
                  <a:srgbClr val="CC00CC"/>
                </a:solidFill>
                <a:latin typeface="华文楷体" pitchFamily="2" charset="-122"/>
                <a:ea typeface="华文楷体" pitchFamily="2" charset="-122"/>
              </a:rPr>
              <a:t>2.8 </a:t>
            </a:r>
            <a:r>
              <a:rPr lang="zh-CN" altLang="en-US" sz="4000" b="1">
                <a:solidFill>
                  <a:srgbClr val="CC00CC"/>
                </a:solidFill>
                <a:latin typeface="华文楷体" pitchFamily="2" charset="-122"/>
                <a:ea typeface="华文楷体" pitchFamily="2" charset="-122"/>
              </a:rPr>
              <a:t>案例分析与实现</a:t>
            </a:r>
          </a:p>
        </p:txBody>
      </p:sp>
      <p:sp>
        <p:nvSpPr>
          <p:cNvPr id="165892" name="Line 59"/>
          <p:cNvSpPr>
            <a:spLocks noChangeShapeType="1"/>
          </p:cNvSpPr>
          <p:nvPr/>
        </p:nvSpPr>
        <p:spPr bwMode="auto">
          <a:xfrm>
            <a:off x="1524000" y="1268413"/>
            <a:ext cx="9144000" cy="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65893" name="Picture 60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4188" y="509589"/>
            <a:ext cx="811212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" name="Rectangle 154"/>
          <p:cNvSpPr txBox="1">
            <a:spLocks noChangeArrowheads="1"/>
          </p:cNvSpPr>
          <p:nvPr/>
        </p:nvSpPr>
        <p:spPr>
          <a:xfrm>
            <a:off x="1524000" y="1268413"/>
            <a:ext cx="4933950" cy="609600"/>
          </a:xfrm>
          <a:prstGeom prst="rect">
            <a:avLst/>
          </a:prstGeom>
          <a:solidFill>
            <a:srgbClr val="92D050"/>
          </a:solidFill>
        </p:spPr>
        <p:txBody>
          <a:bodyPr/>
          <a:lstStyle/>
          <a:p>
            <a:pPr eaLnBrk="0" hangingPunct="0">
              <a:defRPr/>
            </a:pPr>
            <a:r>
              <a:rPr lang="zh-CN" altLang="en-US" b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华文楷体" pitchFamily="2" charset="-122"/>
                <a:ea typeface="华文楷体" pitchFamily="2" charset="-122"/>
                <a:cs typeface="+mj-cs"/>
              </a:rPr>
              <a:t>案例</a:t>
            </a:r>
            <a:r>
              <a:rPr lang="en-US" altLang="zh-CN" b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华文楷体" pitchFamily="2" charset="-122"/>
                <a:ea typeface="华文楷体" pitchFamily="2" charset="-122"/>
                <a:cs typeface="+mj-cs"/>
              </a:rPr>
              <a:t>2.1 </a:t>
            </a:r>
            <a:r>
              <a:rPr lang="zh-CN" altLang="en-US" b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华文楷体" pitchFamily="2" charset="-122"/>
                <a:ea typeface="华文楷体" pitchFamily="2" charset="-122"/>
                <a:cs typeface="+mj-cs"/>
              </a:rPr>
              <a:t>：一元多项式的运算</a:t>
            </a:r>
          </a:p>
        </p:txBody>
      </p:sp>
      <p:graphicFrame>
        <p:nvGraphicFramePr>
          <p:cNvPr id="74" name="表格 73"/>
          <p:cNvGraphicFramePr>
            <a:graphicFrameLocks noGrp="1"/>
          </p:cNvGraphicFramePr>
          <p:nvPr/>
        </p:nvGraphicFramePr>
        <p:xfrm>
          <a:off x="2570163" y="2971800"/>
          <a:ext cx="6413498" cy="1241426"/>
        </p:xfrm>
        <a:graphic>
          <a:graphicData uri="http://schemas.openxmlformats.org/drawingml/2006/table">
            <a:tbl>
              <a:tblPr/>
              <a:tblGrid>
                <a:gridCol w="1068413"/>
                <a:gridCol w="1069168"/>
                <a:gridCol w="1069168"/>
                <a:gridCol w="1068413"/>
                <a:gridCol w="1069168"/>
                <a:gridCol w="1069168"/>
              </a:tblGrid>
              <a:tr h="620713"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2000" kern="1000" dirty="0">
                          <a:latin typeface="Times New Roman"/>
                          <a:ea typeface="方正书宋简体"/>
                          <a:cs typeface="Times New Roman"/>
                        </a:rPr>
                        <a:t>指数（下标</a:t>
                      </a:r>
                      <a:r>
                        <a:rPr lang="en-US" sz="2000" kern="1000" dirty="0" err="1">
                          <a:latin typeface="Times New Roman"/>
                          <a:ea typeface="方正书宋简体"/>
                          <a:cs typeface="Times New Roman"/>
                        </a:rPr>
                        <a:t>i</a:t>
                      </a:r>
                      <a:r>
                        <a:rPr lang="zh-CN" sz="2000" kern="1000" dirty="0">
                          <a:latin typeface="Times New Roman"/>
                          <a:ea typeface="方正书宋简体"/>
                          <a:cs typeface="Times New Roman"/>
                        </a:rPr>
                        <a:t>）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000" kern="1000">
                          <a:latin typeface="Times New Roman"/>
                          <a:ea typeface="方正书宋简体"/>
                          <a:cs typeface="Times New Roman"/>
                        </a:rPr>
                        <a:t>0</a:t>
                      </a:r>
                      <a:endParaRPr lang="zh-CN" sz="2000" kern="1000"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000" kern="1000">
                          <a:latin typeface="Times New Roman"/>
                          <a:ea typeface="方正书宋简体"/>
                          <a:cs typeface="Times New Roman"/>
                        </a:rPr>
                        <a:t>1</a:t>
                      </a:r>
                      <a:endParaRPr lang="zh-CN" sz="2000" kern="1000"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000" kern="1000">
                          <a:latin typeface="Times New Roman"/>
                          <a:ea typeface="方正书宋简体"/>
                          <a:cs typeface="Times New Roman"/>
                        </a:rPr>
                        <a:t>2</a:t>
                      </a:r>
                      <a:endParaRPr lang="zh-CN" sz="2000" kern="1000"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000" kern="1000" dirty="0">
                          <a:latin typeface="Times New Roman"/>
                          <a:ea typeface="方正书宋简体"/>
                          <a:cs typeface="Times New Roman"/>
                        </a:rPr>
                        <a:t>3</a:t>
                      </a:r>
                      <a:endParaRPr lang="zh-CN" sz="2000" kern="1000" dirty="0"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000" kern="1000">
                          <a:latin typeface="Times New Roman"/>
                          <a:ea typeface="方正书宋简体"/>
                          <a:cs typeface="Times New Roman"/>
                        </a:rPr>
                        <a:t>4</a:t>
                      </a:r>
                      <a:endParaRPr lang="zh-CN" sz="2000" kern="1000"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7"/>
                    </a:solidFill>
                  </a:tcPr>
                </a:tc>
              </a:tr>
              <a:tr h="620713"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2000" kern="1000">
                          <a:latin typeface="Times New Roman"/>
                          <a:ea typeface="方正书宋简体"/>
                          <a:cs typeface="Times New Roman"/>
                        </a:rPr>
                        <a:t>系数</a:t>
                      </a:r>
                      <a:r>
                        <a:rPr lang="en-US" sz="2000" kern="1000">
                          <a:latin typeface="Times New Roman"/>
                          <a:ea typeface="方正书宋简体"/>
                          <a:cs typeface="Times New Roman"/>
                        </a:rPr>
                        <a:t>p[i]</a:t>
                      </a:r>
                      <a:endParaRPr lang="zh-CN" sz="2000" kern="1000"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800" b="1" kern="1000" dirty="0">
                          <a:solidFill>
                            <a:srgbClr val="FF0000"/>
                          </a:solidFill>
                          <a:latin typeface="Times New Roman"/>
                          <a:ea typeface="方正书宋简体"/>
                          <a:cs typeface="Times New Roman"/>
                        </a:rPr>
                        <a:t>10</a:t>
                      </a:r>
                      <a:endParaRPr lang="zh-CN" sz="2800" b="1" kern="1000" dirty="0">
                        <a:solidFill>
                          <a:srgbClr val="FF0000"/>
                        </a:solidFill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800" b="1" kern="1000" dirty="0">
                          <a:solidFill>
                            <a:srgbClr val="FF0000"/>
                          </a:solidFill>
                          <a:latin typeface="Times New Roman"/>
                          <a:ea typeface="方正书宋简体"/>
                          <a:cs typeface="Times New Roman"/>
                        </a:rPr>
                        <a:t>5</a:t>
                      </a:r>
                      <a:endParaRPr lang="zh-CN" sz="2800" b="1" kern="1000" dirty="0">
                        <a:solidFill>
                          <a:srgbClr val="FF0000"/>
                        </a:solidFill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800" b="1" kern="1000" dirty="0">
                          <a:solidFill>
                            <a:srgbClr val="FF0000"/>
                          </a:solidFill>
                          <a:latin typeface="Times New Roman"/>
                          <a:ea typeface="方正书宋简体"/>
                          <a:cs typeface="Times New Roman"/>
                        </a:rPr>
                        <a:t>-4</a:t>
                      </a:r>
                      <a:endParaRPr lang="zh-CN" sz="2800" b="1" kern="1000" dirty="0">
                        <a:solidFill>
                          <a:srgbClr val="FF0000"/>
                        </a:solidFill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800" b="1" kern="1000" dirty="0">
                          <a:solidFill>
                            <a:srgbClr val="FF0000"/>
                          </a:solidFill>
                          <a:latin typeface="Times New Roman"/>
                          <a:ea typeface="方正书宋简体"/>
                          <a:cs typeface="Times New Roman"/>
                        </a:rPr>
                        <a:t>3</a:t>
                      </a:r>
                      <a:endParaRPr lang="zh-CN" sz="2800" b="1" kern="1000" dirty="0">
                        <a:solidFill>
                          <a:srgbClr val="FF0000"/>
                        </a:solidFill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800" b="1" kern="1000" dirty="0">
                          <a:solidFill>
                            <a:srgbClr val="FF0000"/>
                          </a:solidFill>
                          <a:latin typeface="Times New Roman"/>
                          <a:ea typeface="方正书宋简体"/>
                          <a:cs typeface="Times New Roman"/>
                        </a:rPr>
                        <a:t>2</a:t>
                      </a:r>
                      <a:endParaRPr lang="zh-CN" sz="2800" b="1" kern="1000" dirty="0">
                        <a:solidFill>
                          <a:srgbClr val="FF0000"/>
                        </a:solidFill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E7"/>
                    </a:solidFill>
                  </a:tcPr>
                </a:tc>
              </a:tr>
            </a:tbl>
          </a:graphicData>
        </a:graphic>
      </p:graphicFrame>
      <p:sp>
        <p:nvSpPr>
          <p:cNvPr id="44062" name="矩形 74"/>
          <p:cNvSpPr>
            <a:spLocks noChangeArrowheads="1"/>
          </p:cNvSpPr>
          <p:nvPr/>
        </p:nvSpPr>
        <p:spPr bwMode="auto">
          <a:xfrm>
            <a:off x="2166938" y="2070101"/>
            <a:ext cx="5143500" cy="52387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b="1" i="1"/>
              <a:t>P</a:t>
            </a:r>
            <a:r>
              <a:rPr lang="en-US" altLang="zh-CN" b="1"/>
              <a:t>(</a:t>
            </a:r>
            <a:r>
              <a:rPr lang="en-US" altLang="zh-CN" b="1" i="1"/>
              <a:t>x</a:t>
            </a:r>
            <a:r>
              <a:rPr lang="en-US" altLang="zh-CN" b="1"/>
              <a:t>) = 10 + 5x - 4</a:t>
            </a:r>
            <a:r>
              <a:rPr lang="en-US" altLang="zh-CN" b="1" i="1"/>
              <a:t>x</a:t>
            </a:r>
            <a:r>
              <a:rPr lang="en-US" altLang="zh-CN" b="1" baseline="30000"/>
              <a:t>2</a:t>
            </a:r>
            <a:r>
              <a:rPr lang="en-US" altLang="zh-CN" b="1"/>
              <a:t> + 3</a:t>
            </a:r>
            <a:r>
              <a:rPr lang="en-US" altLang="zh-CN" b="1" i="1"/>
              <a:t>x</a:t>
            </a:r>
            <a:r>
              <a:rPr lang="en-US" altLang="zh-CN" b="1" baseline="30000"/>
              <a:t>3</a:t>
            </a:r>
            <a:r>
              <a:rPr lang="en-US" altLang="zh-CN" b="1"/>
              <a:t> + 2</a:t>
            </a:r>
            <a:r>
              <a:rPr lang="en-US" altLang="zh-CN" b="1" i="1"/>
              <a:t>x</a:t>
            </a:r>
            <a:r>
              <a:rPr lang="en-US" altLang="zh-CN" b="1" baseline="30000"/>
              <a:t>4</a:t>
            </a:r>
            <a:endParaRPr lang="zh-CN" altLang="en-US" b="1"/>
          </a:p>
        </p:txBody>
      </p:sp>
      <p:grpSp>
        <p:nvGrpSpPr>
          <p:cNvPr id="2" name="组合 14"/>
          <p:cNvGrpSpPr>
            <a:grpSpLocks/>
          </p:cNvGrpSpPr>
          <p:nvPr/>
        </p:nvGrpSpPr>
        <p:grpSpPr bwMode="auto">
          <a:xfrm>
            <a:off x="7310439" y="1857376"/>
            <a:ext cx="3190875" cy="1069975"/>
            <a:chOff x="5786438" y="3644900"/>
            <a:chExt cx="3190875" cy="1069975"/>
          </a:xfrm>
        </p:grpSpPr>
        <p:sp>
          <p:nvSpPr>
            <p:cNvPr id="165924" name="矩形 75"/>
            <p:cNvSpPr>
              <a:spLocks noChangeArrowheads="1"/>
            </p:cNvSpPr>
            <p:nvPr/>
          </p:nvSpPr>
          <p:spPr bwMode="auto">
            <a:xfrm>
              <a:off x="6500813" y="3644900"/>
              <a:ext cx="2476500" cy="1069975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zh-CN" altLang="en-US" sz="2400" b="1">
                  <a:solidFill>
                    <a:srgbClr val="FF0000"/>
                  </a:solidFill>
                  <a:latin typeface="华文楷体" pitchFamily="2" charset="-122"/>
                  <a:ea typeface="华文楷体" pitchFamily="2" charset="-122"/>
                </a:rPr>
                <a:t>数组表示</a:t>
              </a:r>
              <a:endParaRPr lang="en-US" altLang="zh-CN" sz="2400" b="1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endParaRPr>
            </a:p>
            <a:p>
              <a:pPr>
                <a:spcBef>
                  <a:spcPct val="20000"/>
                </a:spcBef>
              </a:pPr>
              <a:r>
                <a:rPr lang="zh-CN" altLang="en-US" sz="1800" b="1"/>
                <a:t>（每一项的指数</a:t>
              </a:r>
              <a:r>
                <a:rPr lang="en-US" altLang="zh-CN" sz="1800" b="1" i="1"/>
                <a:t>i</a:t>
              </a:r>
              <a:r>
                <a:rPr lang="zh-CN" altLang="en-US" sz="1800" b="1"/>
                <a:t>隐含在其系数</a:t>
              </a:r>
              <a:r>
                <a:rPr lang="en-US" altLang="zh-CN" sz="1800" b="1" i="1"/>
                <a:t>p</a:t>
              </a:r>
              <a:r>
                <a:rPr lang="en-US" altLang="zh-CN" sz="1800" b="1" i="1" baseline="-30000"/>
                <a:t>i</a:t>
              </a:r>
              <a:r>
                <a:rPr lang="zh-CN" altLang="en-US" sz="1800" b="1"/>
                <a:t>的序号中）</a:t>
              </a:r>
              <a:endParaRPr lang="zh-CN" altLang="en-US" sz="2400" b="1"/>
            </a:p>
          </p:txBody>
        </p:sp>
        <p:sp>
          <p:nvSpPr>
            <p:cNvPr id="165925" name="右弧形箭头 76"/>
            <p:cNvSpPr>
              <a:spLocks noChangeArrowheads="1"/>
            </p:cNvSpPr>
            <p:nvPr/>
          </p:nvSpPr>
          <p:spPr bwMode="auto">
            <a:xfrm>
              <a:off x="5786438" y="4046538"/>
              <a:ext cx="428625" cy="668337"/>
            </a:xfrm>
            <a:prstGeom prst="curvedLeftArrow">
              <a:avLst>
                <a:gd name="adj1" fmla="val 24970"/>
                <a:gd name="adj2" fmla="val 49932"/>
                <a:gd name="adj3" fmla="val 33287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3" name="组合 20"/>
          <p:cNvGrpSpPr>
            <a:grpSpLocks/>
          </p:cNvGrpSpPr>
          <p:nvPr/>
        </p:nvGrpSpPr>
        <p:grpSpPr bwMode="auto">
          <a:xfrm>
            <a:off x="1524000" y="4643439"/>
            <a:ext cx="8351838" cy="1392237"/>
            <a:chOff x="0" y="4643446"/>
            <a:chExt cx="8351838" cy="1392238"/>
          </a:xfrm>
        </p:grpSpPr>
        <p:sp>
          <p:nvSpPr>
            <p:cNvPr id="165919" name="矩形 2"/>
            <p:cNvSpPr>
              <a:spLocks noChangeArrowheads="1"/>
            </p:cNvSpPr>
            <p:nvPr/>
          </p:nvSpPr>
          <p:spPr bwMode="auto">
            <a:xfrm>
              <a:off x="0" y="4643446"/>
              <a:ext cx="3357563" cy="523875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b="1" i="1"/>
                <a:t>R</a:t>
              </a:r>
              <a:r>
                <a:rPr lang="en-US" altLang="zh-CN" b="1" i="1" baseline="-30000"/>
                <a:t>n</a:t>
              </a:r>
              <a:r>
                <a:rPr lang="en-US" altLang="zh-CN" b="1"/>
                <a:t>(</a:t>
              </a:r>
              <a:r>
                <a:rPr lang="en-US" altLang="zh-CN" b="1" i="1"/>
                <a:t>x</a:t>
              </a:r>
              <a:r>
                <a:rPr lang="en-US" altLang="zh-CN" b="1"/>
                <a:t>) = </a:t>
              </a:r>
              <a:r>
                <a:rPr lang="en-US" altLang="zh-CN" b="1" i="1"/>
                <a:t>P</a:t>
              </a:r>
              <a:r>
                <a:rPr lang="en-US" altLang="zh-CN" b="1" i="1" baseline="-30000"/>
                <a:t>n</a:t>
              </a:r>
              <a:r>
                <a:rPr lang="en-US" altLang="zh-CN" b="1"/>
                <a:t>(</a:t>
              </a:r>
              <a:r>
                <a:rPr lang="en-US" altLang="zh-CN" b="1" i="1"/>
                <a:t>x</a:t>
              </a:r>
              <a:r>
                <a:rPr lang="en-US" altLang="zh-CN" b="1"/>
                <a:t>) + </a:t>
              </a:r>
              <a:r>
                <a:rPr lang="en-US" altLang="zh-CN" b="1" i="1"/>
                <a:t>Q</a:t>
              </a:r>
              <a:r>
                <a:rPr lang="en-US" altLang="zh-CN" b="1" i="1" baseline="-30000"/>
                <a:t>m</a:t>
              </a:r>
              <a:r>
                <a:rPr lang="en-US" altLang="zh-CN" b="1"/>
                <a:t>(</a:t>
              </a:r>
              <a:r>
                <a:rPr lang="en-US" altLang="zh-CN" b="1" i="1"/>
                <a:t>x</a:t>
              </a:r>
              <a:r>
                <a:rPr lang="en-US" altLang="zh-CN" b="1"/>
                <a:t>)</a:t>
              </a:r>
              <a:endParaRPr lang="zh-CN" altLang="en-US" b="1"/>
            </a:p>
          </p:txBody>
        </p:sp>
        <p:grpSp>
          <p:nvGrpSpPr>
            <p:cNvPr id="165920" name="组合 3"/>
            <p:cNvGrpSpPr>
              <a:grpSpLocks/>
            </p:cNvGrpSpPr>
            <p:nvPr/>
          </p:nvGrpSpPr>
          <p:grpSpPr bwMode="auto">
            <a:xfrm>
              <a:off x="285750" y="4905384"/>
              <a:ext cx="8066088" cy="1130300"/>
              <a:chOff x="285720" y="3902807"/>
              <a:chExt cx="8065939" cy="1130866"/>
            </a:xfrm>
          </p:grpSpPr>
          <p:sp>
            <p:nvSpPr>
              <p:cNvPr id="165922" name="矩形 4"/>
              <p:cNvSpPr>
                <a:spLocks noChangeArrowheads="1"/>
              </p:cNvSpPr>
              <p:nvPr/>
            </p:nvSpPr>
            <p:spPr bwMode="auto">
              <a:xfrm>
                <a:off x="285720" y="4572008"/>
                <a:ext cx="8065939" cy="461665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indent="254000" eaLnBrk="0" hangingPunct="0">
                  <a:tabLst>
                    <a:tab pos="2667000" algn="ctr"/>
                    <a:tab pos="5334000" algn="r"/>
                  </a:tabLs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tabLst>
                    <a:tab pos="2667000" algn="ctr"/>
                    <a:tab pos="5334000" algn="r"/>
                  </a:tabLs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tabLst>
                    <a:tab pos="2667000" algn="ctr"/>
                    <a:tab pos="5334000" algn="r"/>
                  </a:tabLs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tabLst>
                    <a:tab pos="2667000" algn="ctr"/>
                    <a:tab pos="5334000" algn="r"/>
                  </a:tabLs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tabLst>
                    <a:tab pos="2667000" algn="ctr"/>
                    <a:tab pos="5334000" algn="r"/>
                  </a:tabLs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0" algn="ctr"/>
                    <a:tab pos="5334000" algn="r"/>
                  </a:tabLs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0" algn="ctr"/>
                    <a:tab pos="5334000" algn="r"/>
                  </a:tabLs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0" algn="ctr"/>
                    <a:tab pos="5334000" algn="r"/>
                  </a:tabLs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2667000" algn="ctr"/>
                    <a:tab pos="5334000" algn="r"/>
                  </a:tabLs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r>
                  <a:rPr lang="zh-CN" altLang="en-US" sz="2400" b="1">
                    <a:latin typeface="华文楷体" pitchFamily="2" charset="-122"/>
                    <a:ea typeface="华文楷体" pitchFamily="2" charset="-122"/>
                  </a:rPr>
                  <a:t>线性表</a:t>
                </a:r>
                <a:r>
                  <a:rPr lang="en-US" altLang="zh-CN" sz="2400" b="1"/>
                  <a:t>R = (p</a:t>
                </a:r>
                <a:r>
                  <a:rPr lang="en-US" altLang="zh-CN" sz="2400" b="1" baseline="-30000"/>
                  <a:t>0</a:t>
                </a:r>
                <a:r>
                  <a:rPr lang="en-US" altLang="zh-CN" sz="2400" b="1"/>
                  <a:t> + q</a:t>
                </a:r>
                <a:r>
                  <a:rPr lang="en-US" altLang="zh-CN" sz="2400" b="1" baseline="-30000"/>
                  <a:t>0</a:t>
                </a:r>
                <a:r>
                  <a:rPr lang="en-US" altLang="zh-CN" sz="2400" b="1"/>
                  <a:t>,p</a:t>
                </a:r>
                <a:r>
                  <a:rPr lang="en-US" altLang="zh-CN" sz="2400" b="1" baseline="-30000"/>
                  <a:t>1</a:t>
                </a:r>
                <a:r>
                  <a:rPr lang="en-US" altLang="zh-CN" sz="2400" b="1"/>
                  <a:t> + q</a:t>
                </a:r>
                <a:r>
                  <a:rPr lang="en-US" altLang="zh-CN" sz="2400" b="1" baseline="-30000"/>
                  <a:t>1</a:t>
                </a:r>
                <a:r>
                  <a:rPr lang="en-US" altLang="zh-CN" sz="2400" b="1"/>
                  <a:t>,p</a:t>
                </a:r>
                <a:r>
                  <a:rPr lang="en-US" altLang="zh-CN" sz="2400" b="1" baseline="-30000"/>
                  <a:t>2</a:t>
                </a:r>
                <a:r>
                  <a:rPr lang="en-US" altLang="zh-CN" sz="2400" b="1"/>
                  <a:t> + q</a:t>
                </a:r>
                <a:r>
                  <a:rPr lang="en-US" altLang="zh-CN" sz="2400" b="1" baseline="-30000"/>
                  <a:t>2</a:t>
                </a:r>
                <a:r>
                  <a:rPr lang="en-US" altLang="zh-CN" sz="2400" b="1"/>
                  <a:t>,…,p</a:t>
                </a:r>
                <a:r>
                  <a:rPr lang="en-US" altLang="zh-CN" sz="2400" b="1" baseline="-30000"/>
                  <a:t>m</a:t>
                </a:r>
                <a:r>
                  <a:rPr lang="en-US" altLang="zh-CN" sz="2400" b="1"/>
                  <a:t> + q</a:t>
                </a:r>
                <a:r>
                  <a:rPr lang="en-US" altLang="zh-CN" sz="2400" b="1" baseline="-30000"/>
                  <a:t>m</a:t>
                </a:r>
                <a:r>
                  <a:rPr lang="en-US" altLang="zh-CN" sz="2400" b="1"/>
                  <a:t>,p</a:t>
                </a:r>
                <a:r>
                  <a:rPr lang="en-US" altLang="zh-CN" sz="2400" b="1" baseline="-30000"/>
                  <a:t>m+1</a:t>
                </a:r>
                <a:r>
                  <a:rPr lang="en-US" altLang="zh-CN" sz="2400" b="1"/>
                  <a:t>,…,p</a:t>
                </a:r>
                <a:r>
                  <a:rPr lang="en-US" altLang="zh-CN" sz="2400" b="1" baseline="-30000"/>
                  <a:t>n</a:t>
                </a:r>
                <a:r>
                  <a:rPr lang="en-US" altLang="zh-CN" sz="2400" b="1"/>
                  <a:t>)</a:t>
                </a:r>
              </a:p>
            </p:txBody>
          </p:sp>
          <p:sp>
            <p:nvSpPr>
              <p:cNvPr id="165923" name="右弧形箭头 5"/>
              <p:cNvSpPr>
                <a:spLocks noChangeArrowheads="1"/>
              </p:cNvSpPr>
              <p:nvPr/>
            </p:nvSpPr>
            <p:spPr bwMode="auto">
              <a:xfrm>
                <a:off x="3357554" y="3902807"/>
                <a:ext cx="428629" cy="669201"/>
              </a:xfrm>
              <a:prstGeom prst="curvedLeftArrow">
                <a:avLst>
                  <a:gd name="adj1" fmla="val 25002"/>
                  <a:gd name="adj2" fmla="val 49996"/>
                  <a:gd name="adj3" fmla="val 33287"/>
                </a:avLst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</p:grpSp>
        <p:pic>
          <p:nvPicPr>
            <p:cNvPr id="165921" name="Picture 2" descr="http://p8.qhimg.com/t01e8c1a6d348fa0b32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86188" y="4643446"/>
              <a:ext cx="1000125" cy="766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14798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0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6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>
          <a:xfrm>
            <a:off x="6730751" y="6024744"/>
            <a:ext cx="974841" cy="381744"/>
          </a:xfrm>
        </p:spPr>
        <p:txBody>
          <a:bodyPr/>
          <a:lstStyle/>
          <a:p>
            <a:pPr>
              <a:defRPr/>
            </a:pPr>
            <a:r>
              <a:rPr lang="zh-CN" altLang="en-US" smtClean="0"/>
              <a:t>北京林业大学信息学院</a:t>
            </a:r>
            <a:endParaRPr lang="zh-CN" altLang="en-US" sz="1400"/>
          </a:p>
        </p:txBody>
      </p:sp>
      <p:sp>
        <p:nvSpPr>
          <p:cNvPr id="166915" name="AutoShape 2" descr="http://img0.imgtn.bdimg.com/it/u=239226275,1387765387&amp;fm=21&amp;gp=0.jpg"/>
          <p:cNvSpPr>
            <a:spLocks noChangeAspect="1" noChangeArrowheads="1"/>
          </p:cNvSpPr>
          <p:nvPr/>
        </p:nvSpPr>
        <p:spPr bwMode="auto">
          <a:xfrm>
            <a:off x="1704975" y="-2127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166916" name="AutoShape 4" descr="http://img0.imgtn.bdimg.com/it/u=239226275,1387765387&amp;fm=21&amp;gp=0.jpg"/>
          <p:cNvSpPr>
            <a:spLocks noChangeAspect="1" noChangeArrowheads="1"/>
          </p:cNvSpPr>
          <p:nvPr/>
        </p:nvSpPr>
        <p:spPr bwMode="auto">
          <a:xfrm>
            <a:off x="1704975" y="-2127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166917" name="AutoShape 6" descr="http://img0.imgtn.bdimg.com/it/u=239226275,1387765387&amp;fm=21&amp;gp=0.jpg"/>
          <p:cNvSpPr>
            <a:spLocks noChangeAspect="1" noChangeArrowheads="1"/>
          </p:cNvSpPr>
          <p:nvPr/>
        </p:nvSpPr>
        <p:spPr bwMode="auto">
          <a:xfrm>
            <a:off x="1704975" y="-2127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166918" name="AutoShape 8" descr="http://img4.imgtn.bdimg.com/it/u=3584398993,898841989&amp;fm=21&amp;gp=0.jpg"/>
          <p:cNvSpPr>
            <a:spLocks noChangeAspect="1" noChangeArrowheads="1"/>
          </p:cNvSpPr>
          <p:nvPr/>
        </p:nvSpPr>
        <p:spPr bwMode="auto">
          <a:xfrm>
            <a:off x="1704975" y="-2127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1228378"/>
              </p:ext>
            </p:extLst>
          </p:nvPr>
        </p:nvGraphicFramePr>
        <p:xfrm>
          <a:off x="1536201" y="1373258"/>
          <a:ext cx="7826558" cy="1274692"/>
        </p:xfrm>
        <a:graphic>
          <a:graphicData uri="http://schemas.openxmlformats.org/drawingml/2006/table">
            <a:tbl>
              <a:tblPr/>
              <a:tblGrid>
                <a:gridCol w="1039920"/>
                <a:gridCol w="665319"/>
                <a:gridCol w="666272"/>
                <a:gridCol w="665319"/>
                <a:gridCol w="666272"/>
                <a:gridCol w="700587"/>
                <a:gridCol w="915052"/>
                <a:gridCol w="835939"/>
                <a:gridCol w="835939"/>
                <a:gridCol w="835939"/>
              </a:tblGrid>
              <a:tr h="318673"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2000" kern="1000" dirty="0">
                          <a:latin typeface="Times New Roman"/>
                          <a:ea typeface="方正书宋简体"/>
                          <a:cs typeface="Times New Roman"/>
                        </a:rPr>
                        <a:t>下标</a:t>
                      </a:r>
                      <a:r>
                        <a:rPr lang="en-US" sz="2000" kern="1000" dirty="0" err="1">
                          <a:latin typeface="Times New Roman"/>
                          <a:ea typeface="方正书宋简体"/>
                          <a:cs typeface="Times New Roman"/>
                        </a:rPr>
                        <a:t>i</a:t>
                      </a:r>
                      <a:endParaRPr lang="zh-CN" sz="2000" kern="1000" dirty="0"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77" marR="68577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000" kern="1000">
                          <a:latin typeface="Times New Roman"/>
                          <a:ea typeface="方正书宋简体"/>
                          <a:cs typeface="Times New Roman"/>
                        </a:rPr>
                        <a:t>0</a:t>
                      </a:r>
                      <a:endParaRPr lang="zh-CN" sz="2000" kern="1000"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77" marR="6857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000" kern="1000">
                          <a:latin typeface="Times New Roman"/>
                          <a:ea typeface="方正书宋简体"/>
                          <a:cs typeface="Times New Roman"/>
                        </a:rPr>
                        <a:t>1</a:t>
                      </a:r>
                      <a:endParaRPr lang="zh-CN" sz="2000" kern="1000"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77" marR="6857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000" kern="1000">
                          <a:latin typeface="Times New Roman"/>
                          <a:ea typeface="方正书宋简体"/>
                          <a:cs typeface="Times New Roman"/>
                        </a:rPr>
                        <a:t>2</a:t>
                      </a:r>
                      <a:endParaRPr lang="zh-CN" sz="2000" kern="1000"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77" marR="6857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000" kern="1000">
                          <a:latin typeface="Times New Roman"/>
                          <a:ea typeface="方正书宋简体"/>
                          <a:cs typeface="Times New Roman"/>
                        </a:rPr>
                        <a:t>3</a:t>
                      </a:r>
                      <a:endParaRPr lang="zh-CN" sz="2000" kern="1000"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77" marR="6857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endParaRPr lang="en-US" sz="2000" kern="1000"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77" marR="6857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2000" kern="1000">
                          <a:latin typeface="Times New Roman"/>
                          <a:ea typeface="方正书宋简体"/>
                          <a:cs typeface="Times New Roman"/>
                        </a:rPr>
                        <a:t>下标</a:t>
                      </a:r>
                      <a:r>
                        <a:rPr lang="en-US" sz="2000" kern="1000">
                          <a:latin typeface="Times New Roman"/>
                          <a:ea typeface="方正书宋简体"/>
                          <a:cs typeface="Times New Roman"/>
                        </a:rPr>
                        <a:t>i</a:t>
                      </a:r>
                      <a:endParaRPr lang="zh-CN" sz="2000" kern="1000"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77" marR="68577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000" kern="1000">
                          <a:latin typeface="Times New Roman"/>
                          <a:ea typeface="方正书宋简体"/>
                          <a:cs typeface="Times New Roman"/>
                        </a:rPr>
                        <a:t>0</a:t>
                      </a:r>
                      <a:endParaRPr lang="zh-CN" sz="2000" kern="1000"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77" marR="6857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000" kern="1000">
                          <a:latin typeface="Times New Roman"/>
                          <a:ea typeface="方正书宋简体"/>
                          <a:cs typeface="Times New Roman"/>
                        </a:rPr>
                        <a:t>1</a:t>
                      </a:r>
                      <a:endParaRPr lang="zh-CN" sz="2000" kern="1000"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77" marR="6857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000" kern="1000">
                          <a:latin typeface="Times New Roman"/>
                          <a:ea typeface="方正书宋简体"/>
                          <a:cs typeface="Times New Roman"/>
                        </a:rPr>
                        <a:t>2</a:t>
                      </a:r>
                      <a:endParaRPr lang="zh-CN" sz="2000" kern="1000"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77" marR="6857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7346"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2000" kern="1000" dirty="0">
                          <a:solidFill>
                            <a:srgbClr val="FF0000"/>
                          </a:solidFill>
                          <a:latin typeface="Times New Roman"/>
                          <a:ea typeface="方正书宋简体"/>
                          <a:cs typeface="Times New Roman"/>
                        </a:rPr>
                        <a:t>系数</a:t>
                      </a:r>
                      <a:r>
                        <a:rPr lang="en-US" sz="2000" kern="1000" dirty="0">
                          <a:latin typeface="Times New Roman"/>
                          <a:ea typeface="方正书宋简体"/>
                          <a:cs typeface="Times New Roman"/>
                        </a:rPr>
                        <a:t>a[</a:t>
                      </a:r>
                      <a:r>
                        <a:rPr lang="en-US" sz="2000" kern="1000" dirty="0" err="1">
                          <a:latin typeface="Times New Roman"/>
                          <a:ea typeface="方正书宋简体"/>
                          <a:cs typeface="Times New Roman"/>
                        </a:rPr>
                        <a:t>i</a:t>
                      </a:r>
                      <a:r>
                        <a:rPr lang="en-US" sz="2000" kern="1000" dirty="0">
                          <a:latin typeface="Times New Roman"/>
                          <a:ea typeface="方正书宋简体"/>
                          <a:cs typeface="Times New Roman"/>
                        </a:rPr>
                        <a:t>]</a:t>
                      </a:r>
                      <a:endParaRPr lang="zh-CN" sz="2000" kern="1000" dirty="0"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77" marR="68577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000" kern="1000" dirty="0">
                          <a:solidFill>
                            <a:srgbClr val="FF0000"/>
                          </a:solidFill>
                          <a:latin typeface="Times New Roman"/>
                          <a:ea typeface="方正书宋简体"/>
                          <a:cs typeface="Times New Roman"/>
                        </a:rPr>
                        <a:t>7</a:t>
                      </a:r>
                      <a:endParaRPr lang="zh-CN" sz="2000" kern="1000" dirty="0">
                        <a:solidFill>
                          <a:srgbClr val="FF0000"/>
                        </a:solidFill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77" marR="6857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000" kern="1000" dirty="0">
                          <a:solidFill>
                            <a:srgbClr val="FF0000"/>
                          </a:solidFill>
                          <a:latin typeface="Times New Roman"/>
                          <a:ea typeface="方正书宋简体"/>
                          <a:cs typeface="Times New Roman"/>
                        </a:rPr>
                        <a:t>3</a:t>
                      </a:r>
                      <a:endParaRPr lang="zh-CN" sz="2000" kern="1000" dirty="0">
                        <a:solidFill>
                          <a:srgbClr val="FF0000"/>
                        </a:solidFill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77" marR="6857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000" kern="1000" dirty="0">
                          <a:solidFill>
                            <a:srgbClr val="FF0000"/>
                          </a:solidFill>
                          <a:latin typeface="Times New Roman"/>
                          <a:ea typeface="方正书宋简体"/>
                          <a:cs typeface="Times New Roman"/>
                        </a:rPr>
                        <a:t>9</a:t>
                      </a:r>
                      <a:endParaRPr lang="zh-CN" sz="2000" kern="1000" dirty="0">
                        <a:solidFill>
                          <a:srgbClr val="FF0000"/>
                        </a:solidFill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77" marR="6857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000" kern="1000" dirty="0">
                          <a:solidFill>
                            <a:srgbClr val="FF0000"/>
                          </a:solidFill>
                          <a:latin typeface="Times New Roman"/>
                          <a:ea typeface="方正书宋简体"/>
                          <a:cs typeface="Times New Roman"/>
                        </a:rPr>
                        <a:t>5</a:t>
                      </a:r>
                      <a:endParaRPr lang="zh-CN" sz="2000" kern="1000" dirty="0">
                        <a:solidFill>
                          <a:srgbClr val="FF0000"/>
                        </a:solidFill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77" marR="6857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endParaRPr lang="en-US" sz="2000" kern="1000"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77" marR="6857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2000" kern="1000" dirty="0">
                          <a:solidFill>
                            <a:srgbClr val="FF0000"/>
                          </a:solidFill>
                          <a:latin typeface="Times New Roman"/>
                          <a:ea typeface="方正书宋简体"/>
                          <a:cs typeface="Times New Roman"/>
                        </a:rPr>
                        <a:t>系数</a:t>
                      </a:r>
                      <a:r>
                        <a:rPr lang="en-US" sz="2000" kern="1000" dirty="0">
                          <a:latin typeface="Times New Roman"/>
                          <a:ea typeface="方正书宋简体"/>
                          <a:cs typeface="Times New Roman"/>
                        </a:rPr>
                        <a:t>b[</a:t>
                      </a:r>
                      <a:r>
                        <a:rPr lang="en-US" sz="2000" kern="1000" dirty="0" err="1">
                          <a:latin typeface="Times New Roman"/>
                          <a:ea typeface="方正书宋简体"/>
                          <a:cs typeface="Times New Roman"/>
                        </a:rPr>
                        <a:t>i</a:t>
                      </a:r>
                      <a:r>
                        <a:rPr lang="en-US" sz="2000" kern="1000" dirty="0">
                          <a:latin typeface="Times New Roman"/>
                          <a:ea typeface="方正书宋简体"/>
                          <a:cs typeface="Times New Roman"/>
                        </a:rPr>
                        <a:t>]</a:t>
                      </a:r>
                      <a:endParaRPr lang="zh-CN" sz="2000" kern="1000" dirty="0"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77" marR="68577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000" kern="1000" dirty="0">
                          <a:solidFill>
                            <a:srgbClr val="FF0000"/>
                          </a:solidFill>
                          <a:latin typeface="Times New Roman"/>
                          <a:ea typeface="方正书宋简体"/>
                          <a:cs typeface="Times New Roman"/>
                        </a:rPr>
                        <a:t>8</a:t>
                      </a:r>
                      <a:endParaRPr lang="zh-CN" sz="2000" kern="1000" dirty="0">
                        <a:solidFill>
                          <a:srgbClr val="FF0000"/>
                        </a:solidFill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77" marR="6857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000" kern="1000" dirty="0">
                          <a:solidFill>
                            <a:srgbClr val="FF0000"/>
                          </a:solidFill>
                          <a:latin typeface="Times New Roman"/>
                          <a:ea typeface="方正书宋简体"/>
                          <a:cs typeface="Times New Roman"/>
                        </a:rPr>
                        <a:t>22</a:t>
                      </a:r>
                      <a:endParaRPr lang="zh-CN" sz="2000" kern="1000" dirty="0">
                        <a:solidFill>
                          <a:srgbClr val="FF0000"/>
                        </a:solidFill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77" marR="6857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000" kern="1000" dirty="0">
                          <a:solidFill>
                            <a:srgbClr val="FF0000"/>
                          </a:solidFill>
                          <a:latin typeface="Times New Roman"/>
                          <a:ea typeface="方正书宋简体"/>
                          <a:cs typeface="Times New Roman"/>
                        </a:rPr>
                        <a:t>-9</a:t>
                      </a:r>
                      <a:endParaRPr lang="zh-CN" sz="2000" kern="1000" dirty="0">
                        <a:solidFill>
                          <a:srgbClr val="FF0000"/>
                        </a:solidFill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77" marR="6857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8673"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2000" kern="1000" dirty="0">
                          <a:solidFill>
                            <a:srgbClr val="FF0000"/>
                          </a:solidFill>
                          <a:latin typeface="Times New Roman"/>
                          <a:ea typeface="方正书宋简体"/>
                          <a:cs typeface="Times New Roman"/>
                        </a:rPr>
                        <a:t>指数</a:t>
                      </a:r>
                    </a:p>
                  </a:txBody>
                  <a:tcPr marL="68577" marR="68577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000" kern="1000" dirty="0">
                          <a:solidFill>
                            <a:srgbClr val="FF0000"/>
                          </a:solidFill>
                          <a:latin typeface="Times New Roman"/>
                          <a:ea typeface="方正书宋简体"/>
                          <a:cs typeface="Times New Roman"/>
                        </a:rPr>
                        <a:t>0</a:t>
                      </a:r>
                      <a:endParaRPr lang="zh-CN" sz="2000" kern="1000" dirty="0">
                        <a:solidFill>
                          <a:srgbClr val="FF0000"/>
                        </a:solidFill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77" marR="6857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000" kern="1000" dirty="0">
                          <a:solidFill>
                            <a:srgbClr val="FF0000"/>
                          </a:solidFill>
                          <a:latin typeface="Times New Roman"/>
                          <a:ea typeface="方正书宋简体"/>
                          <a:cs typeface="Times New Roman"/>
                        </a:rPr>
                        <a:t>1</a:t>
                      </a:r>
                      <a:endParaRPr lang="zh-CN" sz="2000" kern="1000" dirty="0">
                        <a:solidFill>
                          <a:srgbClr val="FF0000"/>
                        </a:solidFill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77" marR="6857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000" kern="1000" dirty="0">
                          <a:solidFill>
                            <a:srgbClr val="FF0000"/>
                          </a:solidFill>
                          <a:latin typeface="Times New Roman"/>
                          <a:ea typeface="方正书宋简体"/>
                          <a:cs typeface="Times New Roman"/>
                        </a:rPr>
                        <a:t>8</a:t>
                      </a:r>
                      <a:endParaRPr lang="zh-CN" sz="2000" kern="1000" dirty="0">
                        <a:solidFill>
                          <a:srgbClr val="FF0000"/>
                        </a:solidFill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77" marR="6857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000" kern="1000" dirty="0">
                          <a:solidFill>
                            <a:srgbClr val="FF0000"/>
                          </a:solidFill>
                          <a:latin typeface="Times New Roman"/>
                          <a:ea typeface="方正书宋简体"/>
                          <a:cs typeface="Times New Roman"/>
                        </a:rPr>
                        <a:t>17</a:t>
                      </a:r>
                      <a:endParaRPr lang="zh-CN" sz="2000" kern="1000" dirty="0">
                        <a:solidFill>
                          <a:srgbClr val="FF0000"/>
                        </a:solidFill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77" marR="6857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endParaRPr lang="en-US" sz="2000" kern="1000"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77" marR="6857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zh-CN" sz="2000" kern="1000" dirty="0">
                          <a:solidFill>
                            <a:srgbClr val="FF0000"/>
                          </a:solidFill>
                          <a:latin typeface="Times New Roman"/>
                          <a:ea typeface="方正书宋简体"/>
                          <a:cs typeface="Times New Roman"/>
                        </a:rPr>
                        <a:t>指数</a:t>
                      </a:r>
                    </a:p>
                  </a:txBody>
                  <a:tcPr marL="68577" marR="68577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000" kern="1000">
                          <a:solidFill>
                            <a:srgbClr val="FF0000"/>
                          </a:solidFill>
                          <a:latin typeface="Times New Roman"/>
                          <a:ea typeface="方正书宋简体"/>
                          <a:cs typeface="Times New Roman"/>
                        </a:rPr>
                        <a:t>1</a:t>
                      </a:r>
                      <a:endParaRPr lang="zh-CN" sz="2000" kern="1000">
                        <a:solidFill>
                          <a:srgbClr val="FF0000"/>
                        </a:solidFill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77" marR="6857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000" kern="1000">
                          <a:solidFill>
                            <a:srgbClr val="FF0000"/>
                          </a:solidFill>
                          <a:latin typeface="Times New Roman"/>
                          <a:ea typeface="方正书宋简体"/>
                          <a:cs typeface="Times New Roman"/>
                        </a:rPr>
                        <a:t>7</a:t>
                      </a:r>
                      <a:endParaRPr lang="zh-CN" sz="2000" kern="1000">
                        <a:solidFill>
                          <a:srgbClr val="FF0000"/>
                        </a:solidFill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77" marR="6857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000" kern="1000" dirty="0">
                          <a:solidFill>
                            <a:srgbClr val="FF0000"/>
                          </a:solidFill>
                          <a:latin typeface="Times New Roman"/>
                          <a:ea typeface="方正书宋简体"/>
                          <a:cs typeface="Times New Roman"/>
                        </a:rPr>
                        <a:t>8</a:t>
                      </a:r>
                      <a:endParaRPr lang="zh-CN" sz="2000" kern="1000" dirty="0">
                        <a:solidFill>
                          <a:srgbClr val="FF0000"/>
                        </a:solidFill>
                        <a:latin typeface="Times New Roman"/>
                        <a:ea typeface="方正书宋简体"/>
                        <a:cs typeface="Times New Roman"/>
                      </a:endParaRPr>
                    </a:p>
                  </a:txBody>
                  <a:tcPr marL="68577" marR="68577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6965" name="Rectangle 1"/>
          <p:cNvSpPr>
            <a:spLocks noChangeArrowheads="1"/>
          </p:cNvSpPr>
          <p:nvPr/>
        </p:nvSpPr>
        <p:spPr bwMode="auto">
          <a:xfrm>
            <a:off x="724539" y="548546"/>
            <a:ext cx="8817606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indent="252413" eaLnBrk="0" hangingPunct="0">
              <a:tabLst>
                <a:tab pos="2667000" algn="ctr"/>
              </a:tabLs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tabLst>
                <a:tab pos="2667000" algn="ctr"/>
              </a:tabLs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tabLst>
                <a:tab pos="2667000" algn="ctr"/>
              </a:tabLs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tabLst>
                <a:tab pos="2667000" algn="ctr"/>
              </a:tabLs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tabLst>
                <a:tab pos="2667000" algn="ctr"/>
              </a:tabLs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0" algn="ctr"/>
              </a:tabLs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0" algn="ctr"/>
              </a:tabLs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0" algn="ctr"/>
              </a:tabLs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667000" algn="ctr"/>
              </a:tabLs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algn="ctr" eaLnBrk="1" hangingPunct="1"/>
            <a:r>
              <a:rPr kumimoji="0" lang="zh-CN" altLang="en-US" sz="2000" dirty="0">
                <a:latin typeface="Arial" panose="020B0604020202020204" pitchFamily="34" charset="0"/>
                <a:ea typeface="方正细圆简体" charset="-122"/>
                <a:cs typeface="宋体" panose="02010600030101010101" pitchFamily="2" charset="-122"/>
              </a:rPr>
              <a:t>多项式</a:t>
            </a:r>
            <a:r>
              <a:rPr kumimoji="0"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方正细圆简体" charset="-122"/>
                <a:cs typeface="宋体" panose="02010600030101010101" pitchFamily="2" charset="-122"/>
              </a:rPr>
              <a:t>非零项</a:t>
            </a:r>
            <a:r>
              <a:rPr kumimoji="0" lang="zh-CN" altLang="en-US" sz="2000" dirty="0">
                <a:latin typeface="Arial" panose="020B0604020202020204" pitchFamily="34" charset="0"/>
                <a:ea typeface="方正细圆简体" charset="-122"/>
                <a:cs typeface="宋体" panose="02010600030101010101" pitchFamily="2" charset="-122"/>
              </a:rPr>
              <a:t>的数组表示</a:t>
            </a:r>
          </a:p>
          <a:p>
            <a:r>
              <a:rPr kumimoji="0" lang="zh-CN" altLang="en-US" sz="2000" dirty="0">
                <a:ea typeface="方正细圆简体" charset="-122"/>
                <a:cs typeface="Times New Roman" panose="02020603050405020304" pitchFamily="18" charset="0"/>
              </a:rPr>
              <a:t> （</a:t>
            </a:r>
            <a:r>
              <a:rPr kumimoji="0" lang="en-US" altLang="zh-CN" sz="2000" dirty="0">
                <a:ea typeface="方正细圆简体" charset="-122"/>
                <a:cs typeface="Times New Roman" panose="02020603050405020304" pitchFamily="18" charset="0"/>
              </a:rPr>
              <a:t>a</a:t>
            </a:r>
            <a:r>
              <a:rPr kumimoji="0" lang="zh-CN" altLang="en-US" sz="2000" dirty="0">
                <a:ea typeface="方正细圆简体" charset="-122"/>
                <a:cs typeface="Times New Roman" panose="02020603050405020304" pitchFamily="18" charset="0"/>
              </a:rPr>
              <a:t>）</a:t>
            </a:r>
            <a:r>
              <a:rPr kumimoji="0" lang="en-US" altLang="zh-CN" sz="2000" i="1" dirty="0">
                <a:ea typeface="方正细圆简体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000" dirty="0">
                <a:ea typeface="方正细圆简体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000" i="1" dirty="0">
                <a:ea typeface="方正细圆简体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000" dirty="0">
                <a:ea typeface="方正细圆简体" charset="-122"/>
                <a:cs typeface="Times New Roman" panose="02020603050405020304" pitchFamily="18" charset="0"/>
              </a:rPr>
              <a:t>)</a:t>
            </a:r>
            <a:r>
              <a:rPr kumimoji="0" lang="en-US" altLang="zh-CN" sz="2000" dirty="0">
                <a:latin typeface="Arial" panose="020B0604020202020204" pitchFamily="34" charset="0"/>
                <a:ea typeface="方正细圆简体" charset="-122"/>
                <a:cs typeface="Times New Roman" panose="02020603050405020304" pitchFamily="18" charset="0"/>
              </a:rPr>
              <a:t> </a:t>
            </a:r>
            <a:r>
              <a:rPr kumimoji="0" lang="en-US" altLang="zh-CN" sz="2000" dirty="0">
                <a:ea typeface="方正细圆简体" charset="-122"/>
                <a:cs typeface="Times New Roman" panose="02020603050405020304" pitchFamily="18" charset="0"/>
              </a:rPr>
              <a:t>=</a:t>
            </a:r>
            <a:r>
              <a:rPr kumimoji="0" lang="en-US" altLang="zh-CN" sz="2000" dirty="0">
                <a:latin typeface="Arial" panose="020B0604020202020204" pitchFamily="34" charset="0"/>
                <a:ea typeface="方正细圆简体" charset="-122"/>
                <a:cs typeface="Times New Roman" panose="02020603050405020304" pitchFamily="18" charset="0"/>
              </a:rPr>
              <a:t> </a:t>
            </a:r>
            <a:r>
              <a:rPr kumimoji="0" lang="en-US" altLang="zh-CN" sz="2000" dirty="0">
                <a:ea typeface="方正细圆简体" charset="-122"/>
                <a:cs typeface="Times New Roman" panose="02020603050405020304" pitchFamily="18" charset="0"/>
              </a:rPr>
              <a:t>7</a:t>
            </a:r>
            <a:r>
              <a:rPr kumimoji="0" lang="en-US" altLang="zh-CN" sz="2000" dirty="0">
                <a:latin typeface="Arial" panose="020B0604020202020204" pitchFamily="34" charset="0"/>
                <a:ea typeface="方正细圆简体" charset="-122"/>
                <a:cs typeface="Times New Roman" panose="02020603050405020304" pitchFamily="18" charset="0"/>
              </a:rPr>
              <a:t> </a:t>
            </a:r>
            <a:r>
              <a:rPr kumimoji="0" lang="en-US" altLang="zh-CN" sz="2000" dirty="0">
                <a:ea typeface="方正细圆简体" charset="-122"/>
                <a:cs typeface="Times New Roman" panose="02020603050405020304" pitchFamily="18" charset="0"/>
              </a:rPr>
              <a:t>+</a:t>
            </a:r>
            <a:r>
              <a:rPr kumimoji="0" lang="en-US" altLang="zh-CN" sz="2000" dirty="0">
                <a:latin typeface="Arial" panose="020B0604020202020204" pitchFamily="34" charset="0"/>
                <a:ea typeface="方正细圆简体" charset="-122"/>
                <a:cs typeface="Times New Roman" panose="02020603050405020304" pitchFamily="18" charset="0"/>
              </a:rPr>
              <a:t> </a:t>
            </a:r>
            <a:r>
              <a:rPr kumimoji="0" lang="en-US" altLang="zh-CN" sz="2000" dirty="0">
                <a:ea typeface="方正细圆简体" charset="-122"/>
                <a:cs typeface="Times New Roman" panose="02020603050405020304" pitchFamily="18" charset="0"/>
              </a:rPr>
              <a:t>3</a:t>
            </a:r>
            <a:r>
              <a:rPr kumimoji="0" lang="en-US" altLang="zh-CN" sz="2000" i="1" dirty="0">
                <a:ea typeface="方正细圆简体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000" dirty="0">
                <a:latin typeface="Arial" panose="020B0604020202020204" pitchFamily="34" charset="0"/>
                <a:ea typeface="方正细圆简体" charset="-122"/>
                <a:cs typeface="Times New Roman" panose="02020603050405020304" pitchFamily="18" charset="0"/>
              </a:rPr>
              <a:t> </a:t>
            </a:r>
            <a:r>
              <a:rPr kumimoji="0" lang="en-US" altLang="zh-CN" sz="2000" dirty="0">
                <a:ea typeface="方正细圆简体" charset="-122"/>
                <a:cs typeface="Times New Roman" panose="02020603050405020304" pitchFamily="18" charset="0"/>
              </a:rPr>
              <a:t>+</a:t>
            </a:r>
            <a:r>
              <a:rPr kumimoji="0" lang="en-US" altLang="zh-CN" sz="2000" dirty="0">
                <a:latin typeface="Arial" panose="020B0604020202020204" pitchFamily="34" charset="0"/>
                <a:ea typeface="方正细圆简体" charset="-122"/>
                <a:cs typeface="Times New Roman" panose="02020603050405020304" pitchFamily="18" charset="0"/>
              </a:rPr>
              <a:t> </a:t>
            </a:r>
            <a:r>
              <a:rPr kumimoji="0" lang="en-US" altLang="zh-CN" sz="2000" dirty="0">
                <a:ea typeface="方正细圆简体" charset="-122"/>
                <a:cs typeface="Times New Roman" panose="02020603050405020304" pitchFamily="18" charset="0"/>
              </a:rPr>
              <a:t>9</a:t>
            </a:r>
            <a:r>
              <a:rPr kumimoji="0" lang="en-US" altLang="zh-CN" sz="2000" i="1" dirty="0">
                <a:ea typeface="方正细圆简体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000" baseline="30000" dirty="0">
                <a:ea typeface="方正细圆简体" charset="-122"/>
                <a:cs typeface="Times New Roman" panose="02020603050405020304" pitchFamily="18" charset="0"/>
              </a:rPr>
              <a:t>8</a:t>
            </a:r>
            <a:r>
              <a:rPr kumimoji="0" lang="en-US" altLang="zh-CN" sz="2000" dirty="0">
                <a:latin typeface="Arial" panose="020B0604020202020204" pitchFamily="34" charset="0"/>
                <a:ea typeface="方正细圆简体" charset="-122"/>
                <a:cs typeface="Times New Roman" panose="02020603050405020304" pitchFamily="18" charset="0"/>
              </a:rPr>
              <a:t> </a:t>
            </a:r>
            <a:r>
              <a:rPr kumimoji="0" lang="en-US" altLang="zh-CN" sz="2000" dirty="0">
                <a:ea typeface="方正细圆简体" charset="-122"/>
                <a:cs typeface="Times New Roman" panose="02020603050405020304" pitchFamily="18" charset="0"/>
              </a:rPr>
              <a:t>+</a:t>
            </a:r>
            <a:r>
              <a:rPr kumimoji="0" lang="en-US" altLang="zh-CN" sz="2000" dirty="0">
                <a:latin typeface="Arial" panose="020B0604020202020204" pitchFamily="34" charset="0"/>
                <a:ea typeface="方正细圆简体" charset="-122"/>
                <a:cs typeface="Times New Roman" panose="02020603050405020304" pitchFamily="18" charset="0"/>
              </a:rPr>
              <a:t> </a:t>
            </a:r>
            <a:r>
              <a:rPr kumimoji="0" lang="en-US" altLang="zh-CN" sz="2000" dirty="0">
                <a:ea typeface="方正细圆简体" charset="-122"/>
                <a:cs typeface="Times New Roman" panose="02020603050405020304" pitchFamily="18" charset="0"/>
              </a:rPr>
              <a:t>5</a:t>
            </a:r>
            <a:r>
              <a:rPr kumimoji="0" lang="en-US" altLang="zh-CN" sz="2000" i="1" dirty="0">
                <a:ea typeface="方正细圆简体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000" baseline="30000" dirty="0">
                <a:ea typeface="方正细圆简体" charset="-122"/>
                <a:cs typeface="Times New Roman" panose="02020603050405020304" pitchFamily="18" charset="0"/>
              </a:rPr>
              <a:t>17</a:t>
            </a:r>
            <a:r>
              <a:rPr kumimoji="0" lang="en-US" altLang="zh-CN" sz="2000" dirty="0">
                <a:ea typeface="方正细圆简体" charset="-122"/>
                <a:cs typeface="Times New Roman" panose="02020603050405020304" pitchFamily="18" charset="0"/>
              </a:rPr>
              <a:t>                       </a:t>
            </a:r>
            <a:r>
              <a:rPr kumimoji="0" lang="zh-CN" altLang="en-US" sz="2000" dirty="0">
                <a:ea typeface="方正细圆简体" charset="-122"/>
                <a:cs typeface="Times New Roman" panose="02020603050405020304" pitchFamily="18" charset="0"/>
              </a:rPr>
              <a:t>（</a:t>
            </a:r>
            <a:r>
              <a:rPr kumimoji="0" lang="en-US" altLang="zh-CN" sz="2000" dirty="0">
                <a:ea typeface="方正细圆简体" charset="-122"/>
                <a:cs typeface="Times New Roman" panose="02020603050405020304" pitchFamily="18" charset="0"/>
              </a:rPr>
              <a:t>b</a:t>
            </a:r>
            <a:r>
              <a:rPr kumimoji="0" lang="zh-CN" altLang="en-US" sz="2000" dirty="0">
                <a:ea typeface="方正细圆简体" charset="-122"/>
                <a:cs typeface="Times New Roman" panose="02020603050405020304" pitchFamily="18" charset="0"/>
              </a:rPr>
              <a:t>）</a:t>
            </a:r>
            <a:r>
              <a:rPr kumimoji="0" lang="en-US" altLang="zh-CN" sz="2000" i="1" dirty="0">
                <a:ea typeface="方正细圆简体" charset="-122"/>
                <a:cs typeface="Times New Roman" panose="02020603050405020304" pitchFamily="18" charset="0"/>
              </a:rPr>
              <a:t>B</a:t>
            </a:r>
            <a:r>
              <a:rPr kumimoji="0" lang="en-US" altLang="zh-CN" sz="2000" dirty="0">
                <a:ea typeface="方正细圆简体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000" i="1" dirty="0">
                <a:ea typeface="方正细圆简体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000" dirty="0">
                <a:ea typeface="方正细圆简体" charset="-122"/>
                <a:cs typeface="Times New Roman" panose="02020603050405020304" pitchFamily="18" charset="0"/>
              </a:rPr>
              <a:t>)</a:t>
            </a:r>
            <a:r>
              <a:rPr kumimoji="0" lang="en-US" altLang="zh-CN" sz="2000" dirty="0">
                <a:latin typeface="Arial" panose="020B0604020202020204" pitchFamily="34" charset="0"/>
                <a:ea typeface="方正细圆简体" charset="-122"/>
                <a:cs typeface="Times New Roman" panose="02020603050405020304" pitchFamily="18" charset="0"/>
              </a:rPr>
              <a:t> </a:t>
            </a:r>
            <a:r>
              <a:rPr kumimoji="0" lang="en-US" altLang="zh-CN" sz="2000" dirty="0">
                <a:ea typeface="方正细圆简体" charset="-122"/>
                <a:cs typeface="Times New Roman" panose="02020603050405020304" pitchFamily="18" charset="0"/>
              </a:rPr>
              <a:t>=</a:t>
            </a:r>
            <a:r>
              <a:rPr kumimoji="0" lang="en-US" altLang="zh-CN" sz="2000" dirty="0">
                <a:latin typeface="Arial" panose="020B0604020202020204" pitchFamily="34" charset="0"/>
                <a:ea typeface="方正细圆简体" charset="-122"/>
                <a:cs typeface="Times New Roman" panose="02020603050405020304" pitchFamily="18" charset="0"/>
              </a:rPr>
              <a:t> </a:t>
            </a:r>
            <a:r>
              <a:rPr kumimoji="0" lang="en-US" altLang="zh-CN" sz="2000" dirty="0">
                <a:ea typeface="方正细圆简体" charset="-122"/>
                <a:cs typeface="Times New Roman" panose="02020603050405020304" pitchFamily="18" charset="0"/>
              </a:rPr>
              <a:t>8</a:t>
            </a:r>
            <a:r>
              <a:rPr kumimoji="0" lang="en-US" altLang="zh-CN" sz="2000" i="1" dirty="0">
                <a:ea typeface="方正细圆简体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000" dirty="0">
                <a:latin typeface="Arial" panose="020B0604020202020204" pitchFamily="34" charset="0"/>
                <a:ea typeface="方正细圆简体" charset="-122"/>
                <a:cs typeface="Times New Roman" panose="02020603050405020304" pitchFamily="18" charset="0"/>
              </a:rPr>
              <a:t> </a:t>
            </a:r>
            <a:r>
              <a:rPr kumimoji="0" lang="en-US" altLang="zh-CN" sz="2000" dirty="0">
                <a:ea typeface="方正细圆简体" charset="-122"/>
                <a:cs typeface="Times New Roman" panose="02020603050405020304" pitchFamily="18" charset="0"/>
              </a:rPr>
              <a:t>+</a:t>
            </a:r>
            <a:r>
              <a:rPr kumimoji="0" lang="en-US" altLang="zh-CN" sz="2000" dirty="0">
                <a:latin typeface="Arial" panose="020B0604020202020204" pitchFamily="34" charset="0"/>
                <a:ea typeface="方正细圆简体" charset="-122"/>
                <a:cs typeface="Times New Roman" panose="02020603050405020304" pitchFamily="18" charset="0"/>
              </a:rPr>
              <a:t> </a:t>
            </a:r>
            <a:r>
              <a:rPr kumimoji="0" lang="en-US" altLang="zh-CN" sz="2000" dirty="0">
                <a:ea typeface="方正细圆简体" charset="-122"/>
                <a:cs typeface="Times New Roman" panose="02020603050405020304" pitchFamily="18" charset="0"/>
              </a:rPr>
              <a:t>22</a:t>
            </a:r>
            <a:r>
              <a:rPr kumimoji="0" lang="en-US" altLang="zh-CN" sz="2000" i="1" dirty="0">
                <a:ea typeface="方正细圆简体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000" baseline="30000" dirty="0">
                <a:ea typeface="方正细圆简体" charset="-122"/>
                <a:cs typeface="Times New Roman" panose="02020603050405020304" pitchFamily="18" charset="0"/>
              </a:rPr>
              <a:t>7</a:t>
            </a:r>
            <a:r>
              <a:rPr kumimoji="0" lang="en-US" altLang="zh-CN" sz="2000" dirty="0">
                <a:latin typeface="Arial" panose="020B0604020202020204" pitchFamily="34" charset="0"/>
                <a:ea typeface="方正细圆简体" charset="-122"/>
                <a:cs typeface="Times New Roman" panose="02020603050405020304" pitchFamily="18" charset="0"/>
              </a:rPr>
              <a:t> </a:t>
            </a:r>
            <a:r>
              <a:rPr kumimoji="0" lang="en-US" altLang="zh-CN" sz="2000" dirty="0">
                <a:ea typeface="方正细圆简体" charset="-122"/>
                <a:cs typeface="Times New Roman" panose="02020603050405020304" pitchFamily="18" charset="0"/>
              </a:rPr>
              <a:t>−</a:t>
            </a:r>
            <a:r>
              <a:rPr kumimoji="0" lang="en-US" altLang="zh-CN" sz="2000" dirty="0">
                <a:latin typeface="Arial" panose="020B0604020202020204" pitchFamily="34" charset="0"/>
                <a:ea typeface="方正细圆简体" charset="-122"/>
                <a:cs typeface="Times New Roman" panose="02020603050405020304" pitchFamily="18" charset="0"/>
              </a:rPr>
              <a:t> </a:t>
            </a:r>
            <a:r>
              <a:rPr kumimoji="0" lang="en-US" altLang="zh-CN" sz="2000" dirty="0">
                <a:ea typeface="方正细圆简体" charset="-122"/>
                <a:cs typeface="Times New Roman" panose="02020603050405020304" pitchFamily="18" charset="0"/>
              </a:rPr>
              <a:t>9</a:t>
            </a:r>
            <a:r>
              <a:rPr kumimoji="0" lang="en-US" altLang="zh-CN" sz="2000" i="1" dirty="0">
                <a:ea typeface="方正细圆简体" charset="-122"/>
                <a:cs typeface="Times New Roman" panose="02020603050405020304" pitchFamily="18" charset="0"/>
              </a:rPr>
              <a:t>x</a:t>
            </a:r>
            <a:r>
              <a:rPr kumimoji="0" lang="en-US" altLang="zh-CN" sz="2000" baseline="30000" dirty="0">
                <a:ea typeface="方正细圆简体" charset="-122"/>
                <a:cs typeface="Times New Roman" panose="02020603050405020304" pitchFamily="18" charset="0"/>
              </a:rPr>
              <a:t>8</a:t>
            </a:r>
            <a:endParaRPr kumimoji="0"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kumimoji="0" lang="en-US" altLang="zh-CN" sz="2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6966" name="Rectangle 8"/>
          <p:cNvSpPr>
            <a:spLocks noChangeArrowheads="1"/>
          </p:cNvSpPr>
          <p:nvPr/>
        </p:nvSpPr>
        <p:spPr bwMode="auto">
          <a:xfrm>
            <a:off x="1098347" y="932164"/>
            <a:ext cx="21968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kumimoji="0" lang="zh-CN" altLang="zh-CN" sz="6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kumimoji="0" lang="zh-CN" altLang="zh-CN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3" name="组合 22"/>
          <p:cNvGrpSpPr>
            <a:grpSpLocks/>
          </p:cNvGrpSpPr>
          <p:nvPr/>
        </p:nvGrpSpPr>
        <p:grpSpPr bwMode="auto">
          <a:xfrm>
            <a:off x="1015872" y="2832752"/>
            <a:ext cx="9026338" cy="1224900"/>
            <a:chOff x="485775" y="2886256"/>
            <a:chExt cx="8443942" cy="1170920"/>
          </a:xfrm>
        </p:grpSpPr>
        <p:sp>
          <p:nvSpPr>
            <p:cNvPr id="166973" name="矩形 10"/>
            <p:cNvSpPr>
              <a:spLocks noChangeArrowheads="1"/>
            </p:cNvSpPr>
            <p:nvPr/>
          </p:nvSpPr>
          <p:spPr bwMode="auto">
            <a:xfrm>
              <a:off x="3000364" y="3533956"/>
              <a:ext cx="5929353" cy="52322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zh-CN" altLang="en-US" b="1">
                  <a:latin typeface="华文楷体" pitchFamily="2" charset="-122"/>
                  <a:ea typeface="华文楷体" pitchFamily="2" charset="-122"/>
                </a:rPr>
                <a:t>线性表</a:t>
              </a:r>
              <a:r>
                <a:rPr lang="en-US" altLang="zh-CN" b="1"/>
                <a:t>P =((p</a:t>
              </a:r>
              <a:r>
                <a:rPr lang="en-US" altLang="zh-CN" b="1" baseline="-25000"/>
                <a:t>1</a:t>
              </a:r>
              <a:r>
                <a:rPr lang="en-US" altLang="zh-CN" b="1"/>
                <a:t>, e</a:t>
              </a:r>
              <a:r>
                <a:rPr lang="en-US" altLang="zh-CN" b="1" baseline="-25000"/>
                <a:t>1</a:t>
              </a:r>
              <a:r>
                <a:rPr lang="en-US" altLang="zh-CN" b="1"/>
                <a:t>), (p</a:t>
              </a:r>
              <a:r>
                <a:rPr lang="en-US" altLang="zh-CN" b="1" baseline="-25000"/>
                <a:t>2</a:t>
              </a:r>
              <a:r>
                <a:rPr lang="en-US" altLang="zh-CN" b="1"/>
                <a:t>, e</a:t>
              </a:r>
              <a:r>
                <a:rPr lang="en-US" altLang="zh-CN" b="1" baseline="-25000"/>
                <a:t>2</a:t>
              </a:r>
              <a:r>
                <a:rPr lang="en-US" altLang="zh-CN" b="1"/>
                <a:t>),…,(p</a:t>
              </a:r>
              <a:r>
                <a:rPr lang="en-US" altLang="zh-CN" b="1" baseline="-25000"/>
                <a:t>m</a:t>
              </a:r>
              <a:r>
                <a:rPr lang="en-US" altLang="zh-CN" b="1"/>
                <a:t>, e</a:t>
              </a:r>
              <a:r>
                <a:rPr lang="en-US" altLang="zh-CN" b="1" baseline="-25000"/>
                <a:t>m</a:t>
              </a:r>
              <a:r>
                <a:rPr lang="en-US" altLang="zh-CN" b="1"/>
                <a:t>))</a:t>
              </a:r>
              <a:endParaRPr lang="zh-CN" altLang="en-US" b="1"/>
            </a:p>
          </p:txBody>
        </p:sp>
        <p:sp>
          <p:nvSpPr>
            <p:cNvPr id="166974" name="右弧形箭头 11"/>
            <p:cNvSpPr>
              <a:spLocks noChangeArrowheads="1"/>
            </p:cNvSpPr>
            <p:nvPr/>
          </p:nvSpPr>
          <p:spPr bwMode="auto">
            <a:xfrm>
              <a:off x="5819775" y="3074875"/>
              <a:ext cx="466721" cy="459081"/>
            </a:xfrm>
            <a:prstGeom prst="curvedLeftArrow">
              <a:avLst>
                <a:gd name="adj1" fmla="val 25000"/>
                <a:gd name="adj2" fmla="val 50000"/>
                <a:gd name="adj3" fmla="val 33286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pic>
          <p:nvPicPr>
            <p:cNvPr id="166975" name="Picture 9" descr="C:\Users\Administrator\AppData\Roaming\Tencent\Users\597999009\QQ\WinTemp\RichOle\1AKPSCBIIOLLOXL@N~]ADUB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5775" y="2886256"/>
              <a:ext cx="5334000" cy="647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66968" name="AutoShape 11" descr="http://img5.imgtn.bdimg.com/it/u=2433390337,3835181186&amp;fm=21&amp;gp=0.jpg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grpSp>
        <p:nvGrpSpPr>
          <p:cNvPr id="4" name="组合 25"/>
          <p:cNvGrpSpPr>
            <a:grpSpLocks/>
          </p:cNvGrpSpPr>
          <p:nvPr/>
        </p:nvGrpSpPr>
        <p:grpSpPr bwMode="auto">
          <a:xfrm>
            <a:off x="518160" y="3459481"/>
            <a:ext cx="9211310" cy="3238184"/>
            <a:chOff x="0" y="3599900"/>
            <a:chExt cx="8616950" cy="3097763"/>
          </a:xfrm>
        </p:grpSpPr>
        <p:sp>
          <p:nvSpPr>
            <p:cNvPr id="166971" name="Rectangle 1044"/>
            <p:cNvSpPr>
              <a:spLocks noChangeArrowheads="1"/>
            </p:cNvSpPr>
            <p:nvPr/>
          </p:nvSpPr>
          <p:spPr bwMode="auto">
            <a:xfrm>
              <a:off x="180975" y="4450894"/>
              <a:ext cx="8435975" cy="224676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Char char="l"/>
              </a:pPr>
              <a:r>
                <a:rPr lang="zh-CN" altLang="en-US" sz="2000" b="1">
                  <a:latin typeface="华文楷体" pitchFamily="2" charset="-122"/>
                  <a:ea typeface="华文楷体" pitchFamily="2" charset="-122"/>
                </a:rPr>
                <a:t>创建一个</a:t>
              </a:r>
              <a:r>
                <a:rPr lang="zh-CN" altLang="en-US" sz="2000" b="1">
                  <a:solidFill>
                    <a:srgbClr val="FF0000"/>
                  </a:solidFill>
                  <a:latin typeface="华文楷体" pitchFamily="2" charset="-122"/>
                  <a:ea typeface="华文楷体" pitchFamily="2" charset="-122"/>
                </a:rPr>
                <a:t>新数组</a:t>
              </a:r>
              <a:r>
                <a:rPr lang="en-US" altLang="zh-CN" sz="2000" b="1">
                  <a:solidFill>
                    <a:srgbClr val="FF0000"/>
                  </a:solidFill>
                  <a:latin typeface="华文楷体" pitchFamily="2" charset="-122"/>
                  <a:ea typeface="华文楷体" pitchFamily="2" charset="-122"/>
                </a:rPr>
                <a:t>c</a:t>
              </a:r>
            </a:p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Char char="l"/>
              </a:pPr>
              <a:r>
                <a:rPr lang="zh-CN" altLang="en-US" sz="2000" b="1">
                  <a:latin typeface="华文楷体" pitchFamily="2" charset="-122"/>
                  <a:ea typeface="华文楷体" pitchFamily="2" charset="-122"/>
                </a:rPr>
                <a:t>分别从头遍历比较</a:t>
              </a:r>
              <a:r>
                <a:rPr lang="en-US" altLang="zh-CN" sz="2000" b="1">
                  <a:latin typeface="华文楷体" pitchFamily="2" charset="-122"/>
                  <a:ea typeface="华文楷体" pitchFamily="2" charset="-122"/>
                </a:rPr>
                <a:t>a</a:t>
              </a:r>
              <a:r>
                <a:rPr lang="zh-CN" altLang="en-US" sz="2000" b="1">
                  <a:latin typeface="华文楷体" pitchFamily="2" charset="-122"/>
                  <a:ea typeface="华文楷体" pitchFamily="2" charset="-122"/>
                </a:rPr>
                <a:t>和</a:t>
              </a:r>
              <a:r>
                <a:rPr lang="en-US" altLang="zh-CN" sz="2000" b="1">
                  <a:latin typeface="华文楷体" pitchFamily="2" charset="-122"/>
                  <a:ea typeface="华文楷体" pitchFamily="2" charset="-122"/>
                </a:rPr>
                <a:t>b</a:t>
              </a:r>
              <a:r>
                <a:rPr lang="zh-CN" altLang="en-US" sz="2000" b="1">
                  <a:latin typeface="华文楷体" pitchFamily="2" charset="-122"/>
                  <a:ea typeface="华文楷体" pitchFamily="2" charset="-122"/>
                </a:rPr>
                <a:t>的每一项</a:t>
              </a:r>
              <a:endParaRPr lang="en-US" altLang="zh-CN" sz="2000" b="1">
                <a:latin typeface="华文楷体" pitchFamily="2" charset="-122"/>
                <a:ea typeface="华文楷体" pitchFamily="2" charset="-122"/>
              </a:endParaRPr>
            </a:p>
            <a:p>
              <a:pPr lvl="1" eaLnBrk="1" hangingPunct="1">
                <a:spcBef>
                  <a:spcPct val="50000"/>
                </a:spcBef>
                <a:buFont typeface="Wingdings" panose="05000000000000000000" pitchFamily="2" charset="2"/>
                <a:buChar char="ü"/>
              </a:pPr>
              <a:r>
                <a:rPr lang="zh-CN" altLang="en-US" sz="2000" b="1">
                  <a:solidFill>
                    <a:srgbClr val="FF0000"/>
                  </a:solidFill>
                  <a:latin typeface="华文楷体" pitchFamily="2" charset="-122"/>
                  <a:ea typeface="华文楷体" pitchFamily="2" charset="-122"/>
                </a:rPr>
                <a:t>指数相同</a:t>
              </a:r>
              <a:r>
                <a:rPr lang="zh-CN" altLang="en-US" sz="2000" b="1">
                  <a:latin typeface="华文楷体" pitchFamily="2" charset="-122"/>
                  <a:ea typeface="华文楷体" pitchFamily="2" charset="-122"/>
                </a:rPr>
                <a:t>，对应系数相加，若其和不为零，则在</a:t>
              </a:r>
              <a:r>
                <a:rPr lang="en-US" altLang="zh-CN" sz="2000" b="1">
                  <a:latin typeface="华文楷体" pitchFamily="2" charset="-122"/>
                  <a:ea typeface="华文楷体" pitchFamily="2" charset="-122"/>
                </a:rPr>
                <a:t>c</a:t>
              </a:r>
              <a:r>
                <a:rPr lang="zh-CN" altLang="en-US" sz="2000" b="1">
                  <a:latin typeface="华文楷体" pitchFamily="2" charset="-122"/>
                  <a:ea typeface="华文楷体" pitchFamily="2" charset="-122"/>
                </a:rPr>
                <a:t>中增加一个新项</a:t>
              </a:r>
              <a:endParaRPr lang="en-US" altLang="zh-CN" sz="2000" b="1">
                <a:latin typeface="华文楷体" pitchFamily="2" charset="-122"/>
                <a:ea typeface="华文楷体" pitchFamily="2" charset="-122"/>
              </a:endParaRPr>
            </a:p>
            <a:p>
              <a:pPr lvl="1" eaLnBrk="1" hangingPunct="1">
                <a:spcBef>
                  <a:spcPct val="50000"/>
                </a:spcBef>
                <a:buFont typeface="Wingdings" panose="05000000000000000000" pitchFamily="2" charset="2"/>
                <a:buChar char="ü"/>
              </a:pPr>
              <a:r>
                <a:rPr lang="zh-CN" altLang="en-US" sz="2000" b="1">
                  <a:solidFill>
                    <a:srgbClr val="FF0000"/>
                  </a:solidFill>
                  <a:latin typeface="华文楷体" pitchFamily="2" charset="-122"/>
                  <a:ea typeface="华文楷体" pitchFamily="2" charset="-122"/>
                </a:rPr>
                <a:t>指数不相同</a:t>
              </a:r>
              <a:r>
                <a:rPr lang="zh-CN" altLang="en-US" sz="2000" b="1">
                  <a:latin typeface="华文楷体" pitchFamily="2" charset="-122"/>
                  <a:ea typeface="华文楷体" pitchFamily="2" charset="-122"/>
                </a:rPr>
                <a:t>，则将指数较小的项复制到</a:t>
              </a:r>
              <a:r>
                <a:rPr lang="en-US" altLang="zh-CN" sz="2000" b="1">
                  <a:latin typeface="华文楷体" pitchFamily="2" charset="-122"/>
                  <a:ea typeface="华文楷体" pitchFamily="2" charset="-122"/>
                </a:rPr>
                <a:t>c</a:t>
              </a:r>
              <a:r>
                <a:rPr lang="zh-CN" altLang="en-US" sz="2000" b="1">
                  <a:latin typeface="华文楷体" pitchFamily="2" charset="-122"/>
                  <a:ea typeface="华文楷体" pitchFamily="2" charset="-122"/>
                </a:rPr>
                <a:t>中</a:t>
              </a:r>
              <a:endParaRPr lang="en-US" altLang="zh-CN" sz="2000" b="1">
                <a:latin typeface="华文楷体" pitchFamily="2" charset="-122"/>
                <a:ea typeface="华文楷体" pitchFamily="2" charset="-122"/>
              </a:endParaRPr>
            </a:p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Char char="l"/>
              </a:pPr>
              <a:r>
                <a:rPr lang="zh-CN" altLang="en-US" sz="2000" b="1">
                  <a:latin typeface="华文楷体" pitchFamily="2" charset="-122"/>
                  <a:ea typeface="华文楷体" pitchFamily="2" charset="-122"/>
                </a:rPr>
                <a:t>一个多项式已遍历</a:t>
              </a:r>
              <a:r>
                <a:rPr lang="zh-CN" altLang="en-US" sz="2000" b="1">
                  <a:solidFill>
                    <a:srgbClr val="FF0000"/>
                  </a:solidFill>
                  <a:latin typeface="华文楷体" pitchFamily="2" charset="-122"/>
                  <a:ea typeface="华文楷体" pitchFamily="2" charset="-122"/>
                </a:rPr>
                <a:t>完毕</a:t>
              </a:r>
              <a:r>
                <a:rPr lang="zh-CN" altLang="en-US" sz="2000" b="1">
                  <a:latin typeface="华文楷体" pitchFamily="2" charset="-122"/>
                  <a:ea typeface="华文楷体" pitchFamily="2" charset="-122"/>
                </a:rPr>
                <a:t>时，将另一个剩余项依次复制到</a:t>
              </a:r>
              <a:r>
                <a:rPr lang="en-US" altLang="zh-CN" sz="2000" b="1">
                  <a:latin typeface="华文楷体" pitchFamily="2" charset="-122"/>
                  <a:ea typeface="华文楷体" pitchFamily="2" charset="-122"/>
                </a:rPr>
                <a:t>c</a:t>
              </a:r>
              <a:r>
                <a:rPr lang="zh-CN" altLang="en-US" sz="2000" b="1">
                  <a:latin typeface="华文楷体" pitchFamily="2" charset="-122"/>
                  <a:ea typeface="华文楷体" pitchFamily="2" charset="-122"/>
                </a:rPr>
                <a:t>中即可</a:t>
              </a:r>
            </a:p>
          </p:txBody>
        </p:sp>
        <p:pic>
          <p:nvPicPr>
            <p:cNvPr id="166972" name="Picture 13" descr="http://img1.cache.netease.com/catchpic/A/AE/AE337561062EF9D8F8CC1190277C957F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3599900"/>
              <a:ext cx="988218" cy="9145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7" name="Rectangle 154"/>
          <p:cNvSpPr txBox="1">
            <a:spLocks noChangeArrowheads="1"/>
          </p:cNvSpPr>
          <p:nvPr/>
        </p:nvSpPr>
        <p:spPr>
          <a:xfrm>
            <a:off x="1524000" y="0"/>
            <a:ext cx="4933950" cy="609600"/>
          </a:xfrm>
          <a:prstGeom prst="rect">
            <a:avLst/>
          </a:prstGeom>
          <a:solidFill>
            <a:srgbClr val="92D050"/>
          </a:solidFill>
        </p:spPr>
        <p:txBody>
          <a:bodyPr/>
          <a:lstStyle/>
          <a:p>
            <a:pPr eaLnBrk="0" hangingPunct="0">
              <a:defRPr/>
            </a:pPr>
            <a:r>
              <a:rPr lang="zh-CN" altLang="en-US" b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华文楷体" pitchFamily="2" charset="-122"/>
                <a:ea typeface="华文楷体" pitchFamily="2" charset="-122"/>
                <a:cs typeface="+mj-cs"/>
              </a:rPr>
              <a:t>案例</a:t>
            </a:r>
            <a:r>
              <a:rPr lang="en-US" altLang="zh-CN" b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华文楷体" pitchFamily="2" charset="-122"/>
                <a:ea typeface="华文楷体" pitchFamily="2" charset="-122"/>
                <a:cs typeface="+mj-cs"/>
              </a:rPr>
              <a:t>2.2 </a:t>
            </a:r>
            <a:r>
              <a:rPr lang="zh-CN" altLang="en-US" b="1" kern="0" dirty="0">
                <a:effectLst>
                  <a:outerShdw blurRad="38100" dist="38100" dir="2700000" algn="tl">
                    <a:srgbClr val="000000"/>
                  </a:outerShdw>
                </a:effectLst>
                <a:latin typeface="华文楷体" pitchFamily="2" charset="-122"/>
                <a:ea typeface="华文楷体" pitchFamily="2" charset="-122"/>
                <a:cs typeface="+mj-cs"/>
              </a:rPr>
              <a:t>：稀疏多项式的运算</a:t>
            </a:r>
          </a:p>
        </p:txBody>
      </p:sp>
    </p:spTree>
    <p:extLst>
      <p:ext uri="{BB962C8B-B14F-4D97-AF65-F5344CB8AC3E}">
        <p14:creationId xmlns:p14="http://schemas.microsoft.com/office/powerpoint/2010/main" val="1564835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46" name="Text Box 3"/>
          <p:cNvSpPr txBox="1">
            <a:spLocks noChangeArrowheads="1"/>
          </p:cNvSpPr>
          <p:nvPr/>
        </p:nvSpPr>
        <p:spPr bwMode="auto">
          <a:xfrm>
            <a:off x="1199833" y="2749479"/>
            <a:ext cx="4054475" cy="519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>
                <a:latin typeface="Tahoma" panose="020B0604030504040204" pitchFamily="34" charset="0"/>
              </a:rPr>
              <a:t>A</a:t>
            </a:r>
            <a:r>
              <a:rPr lang="en-US" altLang="zh-CN" baseline="-25000">
                <a:latin typeface="Tahoma" panose="020B0604030504040204" pitchFamily="34" charset="0"/>
              </a:rPr>
              <a:t>17</a:t>
            </a:r>
            <a:r>
              <a:rPr lang="en-US" altLang="zh-CN">
                <a:latin typeface="Tahoma" panose="020B0604030504040204" pitchFamily="34" charset="0"/>
              </a:rPr>
              <a:t>(x)=7+3x+9x</a:t>
            </a:r>
            <a:r>
              <a:rPr lang="en-US" altLang="zh-CN" baseline="30000">
                <a:latin typeface="Tahoma" panose="020B0604030504040204" pitchFamily="34" charset="0"/>
              </a:rPr>
              <a:t>8</a:t>
            </a:r>
            <a:r>
              <a:rPr lang="en-US" altLang="zh-CN">
                <a:latin typeface="Tahoma" panose="020B0604030504040204" pitchFamily="34" charset="0"/>
              </a:rPr>
              <a:t>+5x</a:t>
            </a:r>
            <a:r>
              <a:rPr lang="en-US" altLang="zh-CN" baseline="30000">
                <a:latin typeface="Tahoma" panose="020B0604030504040204" pitchFamily="34" charset="0"/>
              </a:rPr>
              <a:t>17</a:t>
            </a:r>
          </a:p>
        </p:txBody>
      </p:sp>
      <p:sp>
        <p:nvSpPr>
          <p:cNvPr id="167947" name="Text Box 4"/>
          <p:cNvSpPr txBox="1">
            <a:spLocks noChangeArrowheads="1"/>
          </p:cNvSpPr>
          <p:nvPr/>
        </p:nvSpPr>
        <p:spPr bwMode="auto">
          <a:xfrm>
            <a:off x="1393825" y="4111566"/>
            <a:ext cx="4054475" cy="519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dirty="0">
                <a:latin typeface="Tahoma" panose="020B0604030504040204" pitchFamily="34" charset="0"/>
              </a:rPr>
              <a:t>B</a:t>
            </a:r>
            <a:r>
              <a:rPr lang="en-US" altLang="zh-CN" baseline="-25000" dirty="0">
                <a:latin typeface="Tahoma" panose="020B0604030504040204" pitchFamily="34" charset="0"/>
              </a:rPr>
              <a:t>8</a:t>
            </a:r>
            <a:r>
              <a:rPr lang="en-US" altLang="zh-CN" dirty="0">
                <a:latin typeface="Tahoma" panose="020B0604030504040204" pitchFamily="34" charset="0"/>
              </a:rPr>
              <a:t>(x)=8x+22x</a:t>
            </a:r>
            <a:r>
              <a:rPr lang="en-US" altLang="zh-CN" baseline="30000" dirty="0">
                <a:latin typeface="Tahoma" panose="020B0604030504040204" pitchFamily="34" charset="0"/>
              </a:rPr>
              <a:t>7</a:t>
            </a:r>
            <a:r>
              <a:rPr lang="en-US" altLang="zh-CN" dirty="0">
                <a:latin typeface="Tahoma" panose="020B0604030504040204" pitchFamily="34" charset="0"/>
              </a:rPr>
              <a:t>-9x</a:t>
            </a:r>
            <a:r>
              <a:rPr lang="en-US" altLang="zh-CN" baseline="30000" dirty="0">
                <a:latin typeface="Tahoma" panose="020B0604030504040204" pitchFamily="34" charset="0"/>
              </a:rPr>
              <a:t>8</a:t>
            </a:r>
          </a:p>
        </p:txBody>
      </p:sp>
      <p:sp>
        <p:nvSpPr>
          <p:cNvPr id="167949" name="Rectangle 6" descr="深色上对角线"/>
          <p:cNvSpPr>
            <a:spLocks noChangeArrowheads="1"/>
          </p:cNvSpPr>
          <p:nvPr/>
        </p:nvSpPr>
        <p:spPr bwMode="auto">
          <a:xfrm>
            <a:off x="1455420" y="3377934"/>
            <a:ext cx="419100" cy="438194"/>
          </a:xfrm>
          <a:prstGeom prst="rect">
            <a:avLst/>
          </a:prstGeom>
          <a:pattFill prst="dkUpDiag">
            <a:fgClr>
              <a:schemeClr val="bg2"/>
            </a:fgClr>
            <a:bgClr>
              <a:schemeClr val="bg1"/>
            </a:bgClr>
          </a:patt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167950" name="Rectangle 7" descr="深色上对角线"/>
          <p:cNvSpPr>
            <a:spLocks noChangeArrowheads="1"/>
          </p:cNvSpPr>
          <p:nvPr/>
        </p:nvSpPr>
        <p:spPr bwMode="auto">
          <a:xfrm>
            <a:off x="1874520" y="3377934"/>
            <a:ext cx="431800" cy="438194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-1</a:t>
            </a:r>
          </a:p>
        </p:txBody>
      </p:sp>
      <p:sp>
        <p:nvSpPr>
          <p:cNvPr id="167951" name="Rectangle 8" descr="深色上对角线"/>
          <p:cNvSpPr>
            <a:spLocks noChangeArrowheads="1"/>
          </p:cNvSpPr>
          <p:nvPr/>
        </p:nvSpPr>
        <p:spPr bwMode="auto">
          <a:xfrm>
            <a:off x="2306320" y="3377934"/>
            <a:ext cx="431800" cy="438194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endParaRPr lang="zh-CN" altLang="zh-CN" sz="1600">
              <a:latin typeface="Tahoma" panose="020B0604030504040204" pitchFamily="34" charset="0"/>
            </a:endParaRPr>
          </a:p>
        </p:txBody>
      </p:sp>
      <p:sp>
        <p:nvSpPr>
          <p:cNvPr id="167952" name="Rectangle 9" descr="深色上对角线"/>
          <p:cNvSpPr>
            <a:spLocks noChangeArrowheads="1"/>
          </p:cNvSpPr>
          <p:nvPr/>
        </p:nvSpPr>
        <p:spPr bwMode="auto">
          <a:xfrm>
            <a:off x="3106420" y="3377934"/>
            <a:ext cx="419100" cy="438194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7</a:t>
            </a:r>
          </a:p>
        </p:txBody>
      </p:sp>
      <p:sp>
        <p:nvSpPr>
          <p:cNvPr id="167953" name="Rectangle 10" descr="深色上对角线"/>
          <p:cNvSpPr>
            <a:spLocks noChangeArrowheads="1"/>
          </p:cNvSpPr>
          <p:nvPr/>
        </p:nvSpPr>
        <p:spPr bwMode="auto">
          <a:xfrm>
            <a:off x="3525520" y="3377934"/>
            <a:ext cx="431800" cy="438194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167954" name="Rectangle 11" descr="深色上对角线"/>
          <p:cNvSpPr>
            <a:spLocks noChangeArrowheads="1"/>
          </p:cNvSpPr>
          <p:nvPr/>
        </p:nvSpPr>
        <p:spPr bwMode="auto">
          <a:xfrm>
            <a:off x="3957320" y="3377934"/>
            <a:ext cx="431800" cy="438194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endParaRPr lang="zh-CN" altLang="zh-CN" sz="1600">
              <a:latin typeface="Tahoma" panose="020B0604030504040204" pitchFamily="34" charset="0"/>
            </a:endParaRPr>
          </a:p>
        </p:txBody>
      </p:sp>
      <p:sp>
        <p:nvSpPr>
          <p:cNvPr id="167955" name="Rectangle 12" descr="深色上对角线"/>
          <p:cNvSpPr>
            <a:spLocks noChangeArrowheads="1"/>
          </p:cNvSpPr>
          <p:nvPr/>
        </p:nvSpPr>
        <p:spPr bwMode="auto">
          <a:xfrm>
            <a:off x="4757420" y="3377934"/>
            <a:ext cx="419100" cy="438194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3</a:t>
            </a:r>
          </a:p>
        </p:txBody>
      </p:sp>
      <p:sp>
        <p:nvSpPr>
          <p:cNvPr id="167956" name="Rectangle 13" descr="深色上对角线"/>
          <p:cNvSpPr>
            <a:spLocks noChangeArrowheads="1"/>
          </p:cNvSpPr>
          <p:nvPr/>
        </p:nvSpPr>
        <p:spPr bwMode="auto">
          <a:xfrm>
            <a:off x="5176520" y="3377934"/>
            <a:ext cx="431800" cy="438194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167957" name="Rectangle 14" descr="深色上对角线"/>
          <p:cNvSpPr>
            <a:spLocks noChangeArrowheads="1"/>
          </p:cNvSpPr>
          <p:nvPr/>
        </p:nvSpPr>
        <p:spPr bwMode="auto">
          <a:xfrm>
            <a:off x="5608320" y="3377934"/>
            <a:ext cx="431800" cy="438194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endParaRPr lang="zh-CN" altLang="zh-CN" sz="1600">
              <a:latin typeface="Tahoma" panose="020B0604030504040204" pitchFamily="34" charset="0"/>
            </a:endParaRPr>
          </a:p>
        </p:txBody>
      </p:sp>
      <p:sp>
        <p:nvSpPr>
          <p:cNvPr id="167958" name="Rectangle 15" descr="深色上对角线"/>
          <p:cNvSpPr>
            <a:spLocks noChangeArrowheads="1"/>
          </p:cNvSpPr>
          <p:nvPr/>
        </p:nvSpPr>
        <p:spPr bwMode="auto">
          <a:xfrm>
            <a:off x="6383020" y="3377934"/>
            <a:ext cx="419100" cy="438194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9</a:t>
            </a:r>
          </a:p>
        </p:txBody>
      </p:sp>
      <p:sp>
        <p:nvSpPr>
          <p:cNvPr id="167959" name="Rectangle 16" descr="深色上对角线"/>
          <p:cNvSpPr>
            <a:spLocks noChangeArrowheads="1"/>
          </p:cNvSpPr>
          <p:nvPr/>
        </p:nvSpPr>
        <p:spPr bwMode="auto">
          <a:xfrm>
            <a:off x="6802120" y="3377934"/>
            <a:ext cx="431800" cy="438194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8</a:t>
            </a:r>
          </a:p>
        </p:txBody>
      </p:sp>
      <p:sp>
        <p:nvSpPr>
          <p:cNvPr id="167960" name="Rectangle 17" descr="深色上对角线"/>
          <p:cNvSpPr>
            <a:spLocks noChangeArrowheads="1"/>
          </p:cNvSpPr>
          <p:nvPr/>
        </p:nvSpPr>
        <p:spPr bwMode="auto">
          <a:xfrm>
            <a:off x="7233920" y="3377934"/>
            <a:ext cx="431800" cy="438194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endParaRPr lang="zh-CN" altLang="zh-CN" sz="1600">
              <a:latin typeface="Tahoma" panose="020B0604030504040204" pitchFamily="34" charset="0"/>
            </a:endParaRPr>
          </a:p>
        </p:txBody>
      </p:sp>
      <p:sp>
        <p:nvSpPr>
          <p:cNvPr id="167961" name="Rectangle 18" descr="深色上对角线"/>
          <p:cNvSpPr>
            <a:spLocks noChangeArrowheads="1"/>
          </p:cNvSpPr>
          <p:nvPr/>
        </p:nvSpPr>
        <p:spPr bwMode="auto">
          <a:xfrm>
            <a:off x="8046720" y="3377934"/>
            <a:ext cx="419100" cy="438194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5</a:t>
            </a:r>
          </a:p>
        </p:txBody>
      </p:sp>
      <p:sp>
        <p:nvSpPr>
          <p:cNvPr id="167962" name="Rectangle 19" descr="深色上对角线"/>
          <p:cNvSpPr>
            <a:spLocks noChangeArrowheads="1"/>
          </p:cNvSpPr>
          <p:nvPr/>
        </p:nvSpPr>
        <p:spPr bwMode="auto">
          <a:xfrm>
            <a:off x="8465820" y="3377934"/>
            <a:ext cx="431800" cy="438194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17</a:t>
            </a:r>
          </a:p>
        </p:txBody>
      </p:sp>
      <p:sp>
        <p:nvSpPr>
          <p:cNvPr id="167963" name="Rectangle 20" descr="深色上对角线"/>
          <p:cNvSpPr>
            <a:spLocks noChangeArrowheads="1"/>
          </p:cNvSpPr>
          <p:nvPr/>
        </p:nvSpPr>
        <p:spPr bwMode="auto">
          <a:xfrm>
            <a:off x="8897620" y="3377934"/>
            <a:ext cx="431800" cy="438194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endParaRPr lang="zh-CN" altLang="zh-CN" sz="1600">
              <a:latin typeface="Tahoma" panose="020B0604030504040204" pitchFamily="34" charset="0"/>
            </a:endParaRPr>
          </a:p>
        </p:txBody>
      </p:sp>
      <p:sp>
        <p:nvSpPr>
          <p:cNvPr id="167964" name="Line 21"/>
          <p:cNvSpPr>
            <a:spLocks noChangeShapeType="1"/>
          </p:cNvSpPr>
          <p:nvPr/>
        </p:nvSpPr>
        <p:spPr bwMode="auto">
          <a:xfrm flipH="1">
            <a:off x="9037320" y="3511297"/>
            <a:ext cx="76200" cy="152415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7965" name="Line 22"/>
          <p:cNvSpPr>
            <a:spLocks noChangeShapeType="1"/>
          </p:cNvSpPr>
          <p:nvPr/>
        </p:nvSpPr>
        <p:spPr bwMode="auto">
          <a:xfrm>
            <a:off x="9113520" y="3511297"/>
            <a:ext cx="76200" cy="152415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7966" name="Rectangle 23" descr="深色上对角线"/>
          <p:cNvSpPr>
            <a:spLocks noChangeArrowheads="1"/>
          </p:cNvSpPr>
          <p:nvPr/>
        </p:nvSpPr>
        <p:spPr bwMode="auto">
          <a:xfrm>
            <a:off x="1455420" y="4612472"/>
            <a:ext cx="419100" cy="438194"/>
          </a:xfrm>
          <a:prstGeom prst="rect">
            <a:avLst/>
          </a:prstGeom>
          <a:pattFill prst="dkUpDiag">
            <a:fgClr>
              <a:schemeClr val="bg2"/>
            </a:fgClr>
            <a:bgClr>
              <a:schemeClr val="bg1"/>
            </a:bgClr>
          </a:patt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167967" name="Rectangle 24" descr="深色上对角线"/>
          <p:cNvSpPr>
            <a:spLocks noChangeArrowheads="1"/>
          </p:cNvSpPr>
          <p:nvPr/>
        </p:nvSpPr>
        <p:spPr bwMode="auto">
          <a:xfrm>
            <a:off x="1874520" y="4612472"/>
            <a:ext cx="431800" cy="438194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-1</a:t>
            </a:r>
          </a:p>
        </p:txBody>
      </p:sp>
      <p:sp>
        <p:nvSpPr>
          <p:cNvPr id="167968" name="Rectangle 25" descr="深色上对角线"/>
          <p:cNvSpPr>
            <a:spLocks noChangeArrowheads="1"/>
          </p:cNvSpPr>
          <p:nvPr/>
        </p:nvSpPr>
        <p:spPr bwMode="auto">
          <a:xfrm>
            <a:off x="2306320" y="4612472"/>
            <a:ext cx="431800" cy="438194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endParaRPr lang="zh-CN" altLang="zh-CN" sz="1600">
              <a:latin typeface="Tahoma" panose="020B0604030504040204" pitchFamily="34" charset="0"/>
            </a:endParaRPr>
          </a:p>
        </p:txBody>
      </p:sp>
      <p:sp>
        <p:nvSpPr>
          <p:cNvPr id="167969" name="Rectangle 26" descr="深色上对角线"/>
          <p:cNvSpPr>
            <a:spLocks noChangeArrowheads="1"/>
          </p:cNvSpPr>
          <p:nvPr/>
        </p:nvSpPr>
        <p:spPr bwMode="auto">
          <a:xfrm>
            <a:off x="3106420" y="4612472"/>
            <a:ext cx="419100" cy="438194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8</a:t>
            </a:r>
          </a:p>
        </p:txBody>
      </p:sp>
      <p:sp>
        <p:nvSpPr>
          <p:cNvPr id="167970" name="Rectangle 27" descr="深色上对角线"/>
          <p:cNvSpPr>
            <a:spLocks noChangeArrowheads="1"/>
          </p:cNvSpPr>
          <p:nvPr/>
        </p:nvSpPr>
        <p:spPr bwMode="auto">
          <a:xfrm>
            <a:off x="3525520" y="4612472"/>
            <a:ext cx="431800" cy="438194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 dirty="0"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167971" name="Rectangle 28" descr="深色上对角线"/>
          <p:cNvSpPr>
            <a:spLocks noChangeArrowheads="1"/>
          </p:cNvSpPr>
          <p:nvPr/>
        </p:nvSpPr>
        <p:spPr bwMode="auto">
          <a:xfrm>
            <a:off x="3957320" y="4612472"/>
            <a:ext cx="431800" cy="438194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endParaRPr lang="zh-CN" altLang="zh-CN" sz="1600">
              <a:latin typeface="Tahoma" panose="020B0604030504040204" pitchFamily="34" charset="0"/>
            </a:endParaRPr>
          </a:p>
        </p:txBody>
      </p:sp>
      <p:sp>
        <p:nvSpPr>
          <p:cNvPr id="167972" name="Rectangle 29" descr="深色上对角线"/>
          <p:cNvSpPr>
            <a:spLocks noChangeArrowheads="1"/>
          </p:cNvSpPr>
          <p:nvPr/>
        </p:nvSpPr>
        <p:spPr bwMode="auto">
          <a:xfrm>
            <a:off x="4757420" y="4612472"/>
            <a:ext cx="419100" cy="438194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22</a:t>
            </a:r>
          </a:p>
        </p:txBody>
      </p:sp>
      <p:sp>
        <p:nvSpPr>
          <p:cNvPr id="167973" name="Rectangle 30" descr="深色上对角线"/>
          <p:cNvSpPr>
            <a:spLocks noChangeArrowheads="1"/>
          </p:cNvSpPr>
          <p:nvPr/>
        </p:nvSpPr>
        <p:spPr bwMode="auto">
          <a:xfrm>
            <a:off x="5176520" y="4612472"/>
            <a:ext cx="431800" cy="438194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7</a:t>
            </a:r>
          </a:p>
        </p:txBody>
      </p:sp>
      <p:sp>
        <p:nvSpPr>
          <p:cNvPr id="167974" name="Rectangle 31" descr="深色上对角线"/>
          <p:cNvSpPr>
            <a:spLocks noChangeArrowheads="1"/>
          </p:cNvSpPr>
          <p:nvPr/>
        </p:nvSpPr>
        <p:spPr bwMode="auto">
          <a:xfrm>
            <a:off x="5608320" y="4612472"/>
            <a:ext cx="431800" cy="438194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endParaRPr lang="zh-CN" altLang="zh-CN" sz="1600">
              <a:latin typeface="Tahoma" panose="020B0604030504040204" pitchFamily="34" charset="0"/>
            </a:endParaRPr>
          </a:p>
        </p:txBody>
      </p:sp>
      <p:sp>
        <p:nvSpPr>
          <p:cNvPr id="167975" name="Rectangle 32" descr="深色上对角线"/>
          <p:cNvSpPr>
            <a:spLocks noChangeArrowheads="1"/>
          </p:cNvSpPr>
          <p:nvPr/>
        </p:nvSpPr>
        <p:spPr bwMode="auto">
          <a:xfrm>
            <a:off x="6383020" y="4612472"/>
            <a:ext cx="419100" cy="438194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-9</a:t>
            </a:r>
          </a:p>
        </p:txBody>
      </p:sp>
      <p:sp>
        <p:nvSpPr>
          <p:cNvPr id="167976" name="Rectangle 33" descr="深色上对角线"/>
          <p:cNvSpPr>
            <a:spLocks noChangeArrowheads="1"/>
          </p:cNvSpPr>
          <p:nvPr/>
        </p:nvSpPr>
        <p:spPr bwMode="auto">
          <a:xfrm>
            <a:off x="6802120" y="4612472"/>
            <a:ext cx="431800" cy="438194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8</a:t>
            </a:r>
          </a:p>
        </p:txBody>
      </p:sp>
      <p:sp>
        <p:nvSpPr>
          <p:cNvPr id="167977" name="Rectangle 34" descr="深色上对角线"/>
          <p:cNvSpPr>
            <a:spLocks noChangeArrowheads="1"/>
          </p:cNvSpPr>
          <p:nvPr/>
        </p:nvSpPr>
        <p:spPr bwMode="auto">
          <a:xfrm>
            <a:off x="7233920" y="4612472"/>
            <a:ext cx="431800" cy="438194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endParaRPr lang="zh-CN" altLang="zh-CN" sz="1600">
              <a:latin typeface="Tahoma" panose="020B0604030504040204" pitchFamily="34" charset="0"/>
            </a:endParaRPr>
          </a:p>
        </p:txBody>
      </p:sp>
      <p:sp>
        <p:nvSpPr>
          <p:cNvPr id="167978" name="Line 35"/>
          <p:cNvSpPr>
            <a:spLocks noChangeShapeType="1"/>
          </p:cNvSpPr>
          <p:nvPr/>
        </p:nvSpPr>
        <p:spPr bwMode="auto">
          <a:xfrm flipH="1">
            <a:off x="7360920" y="4771238"/>
            <a:ext cx="76200" cy="152415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7979" name="Line 36"/>
          <p:cNvSpPr>
            <a:spLocks noChangeShapeType="1"/>
          </p:cNvSpPr>
          <p:nvPr/>
        </p:nvSpPr>
        <p:spPr bwMode="auto">
          <a:xfrm>
            <a:off x="7437120" y="4771238"/>
            <a:ext cx="76200" cy="152415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7980" name="Line 37"/>
          <p:cNvSpPr>
            <a:spLocks noChangeShapeType="1"/>
          </p:cNvSpPr>
          <p:nvPr/>
        </p:nvSpPr>
        <p:spPr bwMode="auto">
          <a:xfrm>
            <a:off x="960120" y="3587505"/>
            <a:ext cx="48895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7981" name="Line 38"/>
          <p:cNvSpPr>
            <a:spLocks noChangeShapeType="1"/>
          </p:cNvSpPr>
          <p:nvPr/>
        </p:nvSpPr>
        <p:spPr bwMode="auto">
          <a:xfrm>
            <a:off x="960120" y="4834745"/>
            <a:ext cx="48895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7982" name="Line 39"/>
          <p:cNvSpPr>
            <a:spLocks noChangeShapeType="1"/>
          </p:cNvSpPr>
          <p:nvPr/>
        </p:nvSpPr>
        <p:spPr bwMode="auto">
          <a:xfrm>
            <a:off x="2604770" y="3600206"/>
            <a:ext cx="48895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7983" name="Line 40"/>
          <p:cNvSpPr>
            <a:spLocks noChangeShapeType="1"/>
          </p:cNvSpPr>
          <p:nvPr/>
        </p:nvSpPr>
        <p:spPr bwMode="auto">
          <a:xfrm>
            <a:off x="4255770" y="3600206"/>
            <a:ext cx="48895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7984" name="Line 41"/>
          <p:cNvSpPr>
            <a:spLocks noChangeShapeType="1"/>
          </p:cNvSpPr>
          <p:nvPr/>
        </p:nvSpPr>
        <p:spPr bwMode="auto">
          <a:xfrm>
            <a:off x="5894070" y="3606557"/>
            <a:ext cx="48895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7985" name="Line 42"/>
          <p:cNvSpPr>
            <a:spLocks noChangeShapeType="1"/>
          </p:cNvSpPr>
          <p:nvPr/>
        </p:nvSpPr>
        <p:spPr bwMode="auto">
          <a:xfrm>
            <a:off x="7557770" y="3612907"/>
            <a:ext cx="48895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7986" name="Line 43"/>
          <p:cNvSpPr>
            <a:spLocks noChangeShapeType="1"/>
          </p:cNvSpPr>
          <p:nvPr/>
        </p:nvSpPr>
        <p:spPr bwMode="auto">
          <a:xfrm>
            <a:off x="2611120" y="4834745"/>
            <a:ext cx="48895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7987" name="Line 44"/>
          <p:cNvSpPr>
            <a:spLocks noChangeShapeType="1"/>
          </p:cNvSpPr>
          <p:nvPr/>
        </p:nvSpPr>
        <p:spPr bwMode="auto">
          <a:xfrm>
            <a:off x="4262120" y="4834745"/>
            <a:ext cx="48895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7988" name="Line 45"/>
          <p:cNvSpPr>
            <a:spLocks noChangeShapeType="1"/>
          </p:cNvSpPr>
          <p:nvPr/>
        </p:nvSpPr>
        <p:spPr bwMode="auto">
          <a:xfrm>
            <a:off x="5900420" y="4841095"/>
            <a:ext cx="48895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7989" name="Text Box 46"/>
          <p:cNvSpPr txBox="1">
            <a:spLocks noChangeArrowheads="1"/>
          </p:cNvSpPr>
          <p:nvPr/>
        </p:nvSpPr>
        <p:spPr bwMode="auto">
          <a:xfrm>
            <a:off x="893445" y="3274736"/>
            <a:ext cx="306388" cy="336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 dirty="0" smtClean="0">
                <a:latin typeface="Tahoma" panose="020B0604030504040204" pitchFamily="34" charset="0"/>
              </a:rPr>
              <a:t>A</a:t>
            </a:r>
            <a:endParaRPr lang="en-US" altLang="zh-CN" sz="1600" dirty="0">
              <a:latin typeface="Tahoma" panose="020B0604030504040204" pitchFamily="34" charset="0"/>
            </a:endParaRPr>
          </a:p>
        </p:txBody>
      </p:sp>
      <p:sp>
        <p:nvSpPr>
          <p:cNvPr id="167990" name="Text Box 47"/>
          <p:cNvSpPr txBox="1">
            <a:spLocks noChangeArrowheads="1"/>
          </p:cNvSpPr>
          <p:nvPr/>
        </p:nvSpPr>
        <p:spPr bwMode="auto">
          <a:xfrm>
            <a:off x="877570" y="4523564"/>
            <a:ext cx="303213" cy="336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 dirty="0" smtClean="0">
                <a:latin typeface="Tahoma" panose="020B0604030504040204" pitchFamily="34" charset="0"/>
              </a:rPr>
              <a:t>B</a:t>
            </a:r>
            <a:endParaRPr lang="en-US" altLang="zh-CN" sz="1600" dirty="0">
              <a:latin typeface="Tahoma" panose="020B0604030504040204" pitchFamily="34" charset="0"/>
            </a:endParaRPr>
          </a:p>
        </p:txBody>
      </p:sp>
      <p:sp>
        <p:nvSpPr>
          <p:cNvPr id="167940" name="Rectangle 1044"/>
          <p:cNvSpPr>
            <a:spLocks noChangeArrowheads="1"/>
          </p:cNvSpPr>
          <p:nvPr/>
        </p:nvSpPr>
        <p:spPr bwMode="auto">
          <a:xfrm>
            <a:off x="228600" y="1"/>
            <a:ext cx="4445000" cy="132397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zh-CN" altLang="en-US" sz="2000" b="1">
                <a:latin typeface="华文楷体" pitchFamily="2" charset="-122"/>
                <a:ea typeface="华文楷体" pitchFamily="2" charset="-122"/>
              </a:rPr>
              <a:t>顺序存储结构存在问题</a:t>
            </a:r>
            <a:endParaRPr lang="en-US" altLang="en-US" sz="2000" b="1">
              <a:latin typeface="华文楷体" pitchFamily="2" charset="-122"/>
              <a:ea typeface="华文楷体" pitchFamily="2" charset="-122"/>
            </a:endParaRPr>
          </a:p>
          <a:p>
            <a:pPr lvl="1" eaLnBrk="1" hangingPunct="1"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zh-CN" altLang="en-US" sz="2000" b="1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存储空间分配不灵活</a:t>
            </a:r>
            <a:endParaRPr lang="en-US" altLang="zh-CN" sz="2000" b="1">
              <a:latin typeface="华文楷体" pitchFamily="2" charset="-122"/>
              <a:ea typeface="华文楷体" pitchFamily="2" charset="-122"/>
            </a:endParaRPr>
          </a:p>
          <a:p>
            <a:pPr lvl="1" eaLnBrk="1" hangingPunct="1"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zh-CN" altLang="en-US" sz="2000" b="1">
                <a:solidFill>
                  <a:srgbClr val="FF0000"/>
                </a:solidFill>
                <a:latin typeface="华文楷体" pitchFamily="2" charset="-122"/>
                <a:ea typeface="华文楷体" pitchFamily="2" charset="-122"/>
              </a:rPr>
              <a:t>运算的空间复杂度高</a:t>
            </a:r>
            <a:endParaRPr lang="zh-CN" altLang="en-US" sz="2000" b="1">
              <a:latin typeface="华文楷体" pitchFamily="2" charset="-122"/>
              <a:ea typeface="华文楷体" pitchFamily="2" charset="-122"/>
            </a:endParaRPr>
          </a:p>
        </p:txBody>
      </p:sp>
      <p:pic>
        <p:nvPicPr>
          <p:cNvPr id="167941" name="Picture 2" descr="http://p8.qhimg.com/t01fd6029fbad6d07a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4563" y="0"/>
            <a:ext cx="85725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组合 3"/>
          <p:cNvGrpSpPr/>
          <p:nvPr/>
        </p:nvGrpSpPr>
        <p:grpSpPr>
          <a:xfrm>
            <a:off x="4155243" y="665162"/>
            <a:ext cx="2646877" cy="1420476"/>
            <a:chOff x="4155243" y="665162"/>
            <a:chExt cx="2646877" cy="1420476"/>
          </a:xfrm>
        </p:grpSpPr>
        <p:sp>
          <p:nvSpPr>
            <p:cNvPr id="167944" name="Rectangle 8"/>
            <p:cNvSpPr>
              <a:spLocks noChangeArrowheads="1"/>
            </p:cNvSpPr>
            <p:nvPr/>
          </p:nvSpPr>
          <p:spPr bwMode="auto">
            <a:xfrm>
              <a:off x="4155243" y="1363961"/>
              <a:ext cx="2646877" cy="7216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3200" b="1" dirty="0">
                  <a:solidFill>
                    <a:srgbClr val="FF0000"/>
                  </a:solidFill>
                  <a:latin typeface="华文楷体" pitchFamily="2" charset="-122"/>
                  <a:ea typeface="华文楷体" pitchFamily="2" charset="-122"/>
                </a:rPr>
                <a:t>链式存储结构</a:t>
              </a:r>
            </a:p>
          </p:txBody>
        </p:sp>
        <p:sp>
          <p:nvSpPr>
            <p:cNvPr id="167945" name="AutoShape 11"/>
            <p:cNvSpPr>
              <a:spLocks noChangeArrowheads="1"/>
            </p:cNvSpPr>
            <p:nvPr/>
          </p:nvSpPr>
          <p:spPr bwMode="auto">
            <a:xfrm>
              <a:off x="5054284" y="665162"/>
              <a:ext cx="1387475" cy="527011"/>
            </a:xfrm>
            <a:prstGeom prst="notchedRightArrow">
              <a:avLst>
                <a:gd name="adj1" fmla="val 50000"/>
                <a:gd name="adj2" fmla="val 8122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>
                <a:latin typeface="华文楷体" pitchFamily="2" charset="-122"/>
                <a:ea typeface="华文楷体" pitchFamily="2" charset="-122"/>
              </a:endParaRPr>
            </a:p>
          </p:txBody>
        </p:sp>
      </p:grpSp>
      <p:sp>
        <p:nvSpPr>
          <p:cNvPr id="60" name="Text Box 3"/>
          <p:cNvSpPr txBox="1">
            <a:spLocks noChangeArrowheads="1"/>
          </p:cNvSpPr>
          <p:nvPr/>
        </p:nvSpPr>
        <p:spPr bwMode="auto">
          <a:xfrm>
            <a:off x="7137082" y="316455"/>
            <a:ext cx="4029075" cy="2144713"/>
          </a:xfrm>
          <a:prstGeom prst="rect">
            <a:avLst/>
          </a:prstGeom>
          <a:solidFill>
            <a:srgbClr val="FFFFE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000" b="1" dirty="0" err="1"/>
              <a:t>typedef</a:t>
            </a:r>
            <a:r>
              <a:rPr lang="en-US" altLang="zh-CN" sz="2000" b="1" dirty="0"/>
              <a:t> </a:t>
            </a:r>
            <a:r>
              <a:rPr lang="en-US" altLang="zh-CN" sz="2000" b="1" dirty="0" err="1"/>
              <a:t>struct</a:t>
            </a:r>
            <a:r>
              <a:rPr lang="en-US" altLang="zh-CN" sz="2000" b="1" dirty="0"/>
              <a:t> </a:t>
            </a:r>
            <a:r>
              <a:rPr lang="en-US" altLang="zh-CN" sz="2000" b="1" dirty="0" err="1"/>
              <a:t>PNode</a:t>
            </a:r>
            <a:endParaRPr lang="zh-CN" altLang="en-US" sz="2000" b="1" dirty="0"/>
          </a:p>
          <a:p>
            <a:pPr eaLnBrk="1" hangingPunct="1"/>
            <a:r>
              <a:rPr lang="en-US" altLang="zh-CN" sz="2000" b="1" dirty="0"/>
              <a:t>{   </a:t>
            </a:r>
            <a:endParaRPr lang="zh-CN" altLang="en-US" sz="2000" b="1" dirty="0"/>
          </a:p>
          <a:p>
            <a:pPr eaLnBrk="1" hangingPunct="1"/>
            <a:r>
              <a:rPr lang="en-US" altLang="zh-CN" sz="2000" b="1" dirty="0"/>
              <a:t>   float  </a:t>
            </a:r>
            <a:r>
              <a:rPr lang="en-US" altLang="zh-CN" sz="2000" b="1" dirty="0" err="1"/>
              <a:t>coef</a:t>
            </a:r>
            <a:r>
              <a:rPr lang="en-US" altLang="zh-CN" sz="2000" b="1" dirty="0"/>
              <a:t>;//</a:t>
            </a:r>
            <a:r>
              <a:rPr lang="zh-CN" altLang="en-US" sz="2000" b="1" dirty="0"/>
              <a:t>系数 </a:t>
            </a:r>
          </a:p>
          <a:p>
            <a:pPr eaLnBrk="1" hangingPunct="1"/>
            <a:r>
              <a:rPr lang="en-US" altLang="zh-CN" sz="2000" b="1" dirty="0"/>
              <a:t>  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  </a:t>
            </a:r>
            <a:r>
              <a:rPr lang="en-US" altLang="zh-CN" sz="2000" b="1" dirty="0" err="1"/>
              <a:t>expn</a:t>
            </a:r>
            <a:r>
              <a:rPr lang="en-US" altLang="zh-CN" sz="2000" b="1" dirty="0"/>
              <a:t>;	//</a:t>
            </a:r>
            <a:r>
              <a:rPr lang="zh-CN" altLang="en-US" sz="2000" b="1" dirty="0"/>
              <a:t>指数 </a:t>
            </a:r>
          </a:p>
          <a:p>
            <a:pPr eaLnBrk="1" hangingPunct="1"/>
            <a:r>
              <a:rPr lang="en-US" altLang="zh-CN" sz="2000" b="1" dirty="0"/>
              <a:t>   </a:t>
            </a:r>
            <a:r>
              <a:rPr lang="en-US" altLang="zh-CN" sz="2000" b="1" dirty="0" err="1"/>
              <a:t>struct</a:t>
            </a:r>
            <a:r>
              <a:rPr lang="en-US" altLang="zh-CN" sz="2000" b="1" dirty="0"/>
              <a:t> </a:t>
            </a:r>
            <a:r>
              <a:rPr lang="en-US" altLang="zh-CN" sz="2000" b="1" dirty="0" err="1"/>
              <a:t>PNode</a:t>
            </a:r>
            <a:r>
              <a:rPr lang="en-US" altLang="zh-CN" sz="2000" b="1" dirty="0"/>
              <a:t>  *next;	//</a:t>
            </a:r>
            <a:r>
              <a:rPr lang="zh-CN" altLang="en-US" sz="2000" b="1" dirty="0"/>
              <a:t>指针域</a:t>
            </a:r>
          </a:p>
          <a:p>
            <a:pPr eaLnBrk="1" hangingPunct="1"/>
            <a:r>
              <a:rPr lang="en-US" altLang="zh-CN" sz="2000" b="1" dirty="0"/>
              <a:t>}</a:t>
            </a:r>
            <a:r>
              <a:rPr lang="en-US" altLang="zh-CN" sz="2000" b="1" dirty="0" err="1"/>
              <a:t>PNode</a:t>
            </a:r>
            <a:r>
              <a:rPr lang="en-US" altLang="zh-CN" sz="2000" b="1" dirty="0"/>
              <a:t>,*Polynomial;  </a:t>
            </a:r>
            <a:endParaRPr lang="zh-CN" altLang="en-US" sz="2000" b="1" dirty="0"/>
          </a:p>
          <a:p>
            <a:pPr eaLnBrk="1" hangingPunct="1"/>
            <a:endParaRPr lang="en-US" altLang="zh-CN" sz="2000" b="1" baseline="30000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9042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3" name="Text Box 5"/>
          <p:cNvSpPr txBox="1">
            <a:spLocks noChangeArrowheads="1"/>
          </p:cNvSpPr>
          <p:nvPr/>
        </p:nvSpPr>
        <p:spPr bwMode="auto">
          <a:xfrm>
            <a:off x="381001" y="765174"/>
            <a:ext cx="9540240" cy="4832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b="1" dirty="0"/>
              <a:t>void </a:t>
            </a:r>
            <a:r>
              <a:rPr lang="en-US" altLang="zh-CN" b="1" dirty="0" err="1"/>
              <a:t>CreatePolyn</a:t>
            </a:r>
            <a:r>
              <a:rPr lang="en-US" altLang="zh-CN" b="1" dirty="0"/>
              <a:t>(Polynomial &amp;P</a:t>
            </a:r>
            <a:r>
              <a:rPr lang="en-US" altLang="zh-CN" b="1" dirty="0" smtClean="0"/>
              <a:t>, </a:t>
            </a:r>
            <a:r>
              <a:rPr lang="en-US" altLang="zh-CN" b="1" dirty="0" err="1" smtClean="0"/>
              <a:t>int</a:t>
            </a:r>
            <a:r>
              <a:rPr lang="en-US" altLang="zh-CN" b="1" dirty="0" smtClean="0"/>
              <a:t> </a:t>
            </a:r>
            <a:r>
              <a:rPr lang="en-US" altLang="zh-CN" b="1" dirty="0"/>
              <a:t>n</a:t>
            </a:r>
            <a:r>
              <a:rPr lang="en-US" altLang="zh-CN" b="1" dirty="0" smtClean="0"/>
              <a:t>)</a:t>
            </a:r>
            <a:endParaRPr lang="en-US" altLang="zh-CN" dirty="0" smtClean="0"/>
          </a:p>
          <a:p>
            <a:pPr eaLnBrk="1" hangingPunct="1"/>
            <a:r>
              <a:rPr lang="zh-CN" altLang="en-US" dirty="0" smtClean="0"/>
              <a:t>① </a:t>
            </a:r>
            <a:r>
              <a:rPr lang="zh-CN" altLang="en-US" dirty="0"/>
              <a:t>创建一个只有头结点的空链表。</a:t>
            </a:r>
          </a:p>
          <a:p>
            <a:pPr eaLnBrk="1" hangingPunct="1"/>
            <a:r>
              <a:rPr lang="zh-CN" altLang="en-US" dirty="0"/>
              <a:t>②</a:t>
            </a:r>
            <a:r>
              <a:rPr lang="en-US" altLang="zh-CN" dirty="0"/>
              <a:t> </a:t>
            </a:r>
            <a:r>
              <a:rPr lang="zh-CN" altLang="en-US" dirty="0"/>
              <a:t>根据多项式的项的个数</a:t>
            </a:r>
            <a:r>
              <a:rPr lang="en-US" altLang="zh-CN" i="1" dirty="0"/>
              <a:t>n</a:t>
            </a:r>
            <a:r>
              <a:rPr lang="zh-CN" altLang="en-US" dirty="0"/>
              <a:t>，循环</a:t>
            </a:r>
            <a:r>
              <a:rPr lang="en-US" altLang="zh-CN" i="1" dirty="0"/>
              <a:t>n</a:t>
            </a:r>
            <a:r>
              <a:rPr lang="zh-CN" altLang="en-US" dirty="0"/>
              <a:t>次执行以下操作：</a:t>
            </a:r>
          </a:p>
          <a:p>
            <a:pPr eaLnBrk="1" hangingPunct="1">
              <a:buFont typeface="Wingdings" panose="05000000000000000000" pitchFamily="2" charset="2"/>
              <a:buChar char="l"/>
            </a:pPr>
            <a:r>
              <a:rPr lang="zh-CN" altLang="en-US" dirty="0"/>
              <a:t>生成一个新结点</a:t>
            </a:r>
            <a:r>
              <a:rPr lang="en-US" dirty="0"/>
              <a:t>*</a:t>
            </a:r>
            <a:r>
              <a:rPr lang="en-US" altLang="zh-CN" dirty="0"/>
              <a:t>s</a:t>
            </a:r>
            <a:r>
              <a:rPr lang="zh-CN" altLang="en-US" dirty="0"/>
              <a:t>；</a:t>
            </a:r>
          </a:p>
          <a:p>
            <a:pPr eaLnBrk="1" hangingPunct="1">
              <a:buFont typeface="Wingdings" panose="05000000000000000000" pitchFamily="2" charset="2"/>
              <a:buChar char="l"/>
            </a:pPr>
            <a:r>
              <a:rPr lang="zh-CN" altLang="en-US" dirty="0"/>
              <a:t>输入多项式当前项的系数和指数赋给新结点</a:t>
            </a:r>
            <a:r>
              <a:rPr lang="en-US" dirty="0"/>
              <a:t>*</a:t>
            </a:r>
            <a:r>
              <a:rPr lang="en-US" altLang="zh-CN" dirty="0"/>
              <a:t>s</a:t>
            </a:r>
            <a:r>
              <a:rPr lang="zh-CN" altLang="en-US" dirty="0"/>
              <a:t>的数据域；</a:t>
            </a:r>
          </a:p>
          <a:p>
            <a:pPr eaLnBrk="1" hangingPunct="1">
              <a:buFont typeface="Wingdings" panose="05000000000000000000" pitchFamily="2" charset="2"/>
              <a:buChar char="l"/>
            </a:pPr>
            <a:r>
              <a:rPr lang="zh-CN" altLang="en-US" dirty="0"/>
              <a:t>设置一前驱指针</a:t>
            </a:r>
            <a:r>
              <a:rPr lang="en-US" altLang="zh-CN" dirty="0"/>
              <a:t>pre</a:t>
            </a:r>
            <a:r>
              <a:rPr lang="zh-CN" altLang="en-US" dirty="0"/>
              <a:t>，用于指向待找到的第一个大于输入项指数的结点的前驱，</a:t>
            </a:r>
            <a:r>
              <a:rPr lang="en-US" altLang="zh-CN" dirty="0"/>
              <a:t>pre</a:t>
            </a:r>
            <a:r>
              <a:rPr lang="zh-CN" altLang="en-US" dirty="0"/>
              <a:t>初值指向头结点；</a:t>
            </a:r>
          </a:p>
          <a:p>
            <a:pPr eaLnBrk="1" hangingPunct="1">
              <a:buFont typeface="Wingdings" panose="05000000000000000000" pitchFamily="2" charset="2"/>
              <a:buChar char="l"/>
            </a:pPr>
            <a:r>
              <a:rPr lang="zh-CN" altLang="en-US" dirty="0"/>
              <a:t>指针</a:t>
            </a:r>
            <a:r>
              <a:rPr lang="en-US" altLang="zh-CN" dirty="0"/>
              <a:t>q</a:t>
            </a:r>
            <a:r>
              <a:rPr lang="zh-CN" altLang="en-US" dirty="0"/>
              <a:t>初始化，指向首元结点；</a:t>
            </a:r>
          </a:p>
          <a:p>
            <a:pPr eaLnBrk="1" hangingPunct="1">
              <a:buFont typeface="Wingdings" panose="05000000000000000000" pitchFamily="2" charset="2"/>
              <a:buChar char="l"/>
            </a:pPr>
            <a:r>
              <a:rPr lang="zh-CN" altLang="en-US" dirty="0"/>
              <a:t>循链向下逐个比较链表中当前结点与输入项指数，找到第一个大于输入项指数的结点</a:t>
            </a:r>
            <a:r>
              <a:rPr lang="en-US" dirty="0"/>
              <a:t>*</a:t>
            </a:r>
            <a:r>
              <a:rPr lang="en-US" altLang="zh-CN" dirty="0"/>
              <a:t>q</a:t>
            </a:r>
            <a:r>
              <a:rPr lang="zh-CN" altLang="en-US" dirty="0"/>
              <a:t>；</a:t>
            </a:r>
          </a:p>
          <a:p>
            <a:pPr eaLnBrk="1" hangingPunct="1">
              <a:buFont typeface="Wingdings" panose="05000000000000000000" pitchFamily="2" charset="2"/>
              <a:buChar char="l"/>
            </a:pPr>
            <a:r>
              <a:rPr lang="zh-CN" altLang="en-US" dirty="0"/>
              <a:t>将输入项结点</a:t>
            </a:r>
            <a:r>
              <a:rPr lang="en-US" dirty="0"/>
              <a:t>*</a:t>
            </a:r>
            <a:r>
              <a:rPr lang="en-US" altLang="zh-CN" dirty="0"/>
              <a:t>s</a:t>
            </a:r>
            <a:r>
              <a:rPr lang="zh-CN" altLang="en-US" dirty="0"/>
              <a:t>插入到结点</a:t>
            </a:r>
            <a:r>
              <a:rPr lang="en-US" dirty="0"/>
              <a:t>*</a:t>
            </a:r>
            <a:r>
              <a:rPr lang="en-US" altLang="zh-CN" dirty="0"/>
              <a:t>q</a:t>
            </a:r>
            <a:r>
              <a:rPr lang="zh-CN" altLang="en-US" dirty="0"/>
              <a:t>之前。</a:t>
            </a:r>
          </a:p>
        </p:txBody>
      </p:sp>
      <p:sp>
        <p:nvSpPr>
          <p:cNvPr id="168964" name="Rectangle 8"/>
          <p:cNvSpPr>
            <a:spLocks noChangeArrowheads="1"/>
          </p:cNvSpPr>
          <p:nvPr/>
        </p:nvSpPr>
        <p:spPr bwMode="auto">
          <a:xfrm>
            <a:off x="1528764" y="-26988"/>
            <a:ext cx="7210425" cy="606426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r>
              <a:rPr lang="zh-CN" altLang="en-US" sz="4400" b="1">
                <a:latin typeface="华文楷体" pitchFamily="2" charset="-122"/>
                <a:ea typeface="华文楷体" pitchFamily="2" charset="-122"/>
                <a:cs typeface="楷体_GB2312"/>
              </a:rPr>
              <a:t>多项式创建</a:t>
            </a:r>
            <a:r>
              <a:rPr lang="en-US" altLang="zh-CN" sz="4400" b="1">
                <a:latin typeface="华文楷体" pitchFamily="2" charset="-122"/>
                <a:ea typeface="华文楷体" pitchFamily="2" charset="-122"/>
                <a:cs typeface="楷体_GB2312"/>
              </a:rPr>
              <a:t>---【</a:t>
            </a:r>
            <a:r>
              <a:rPr lang="zh-CN" altLang="en-US" sz="4400" b="1">
                <a:latin typeface="华文楷体" pitchFamily="2" charset="-122"/>
                <a:ea typeface="华文楷体" pitchFamily="2" charset="-122"/>
                <a:cs typeface="楷体_GB2312"/>
              </a:rPr>
              <a:t>算法步骤</a:t>
            </a:r>
            <a:r>
              <a:rPr lang="en-US" altLang="zh-CN" sz="4400" b="1">
                <a:latin typeface="华文楷体" pitchFamily="2" charset="-122"/>
                <a:ea typeface="华文楷体" pitchFamily="2" charset="-122"/>
                <a:cs typeface="楷体_GB2312"/>
              </a:rPr>
              <a:t>】</a:t>
            </a:r>
          </a:p>
        </p:txBody>
      </p:sp>
    </p:spTree>
    <p:extLst>
      <p:ext uri="{BB962C8B-B14F-4D97-AF65-F5344CB8AC3E}">
        <p14:creationId xmlns:p14="http://schemas.microsoft.com/office/powerpoint/2010/main" val="3245970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7" name="Text Box 5"/>
          <p:cNvSpPr txBox="1">
            <a:spLocks noChangeArrowheads="1"/>
          </p:cNvSpPr>
          <p:nvPr/>
        </p:nvSpPr>
        <p:spPr bwMode="auto">
          <a:xfrm>
            <a:off x="563881" y="765175"/>
            <a:ext cx="8763000" cy="594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en-US" altLang="zh-CN" sz="2000" b="1" dirty="0"/>
              <a:t>void </a:t>
            </a:r>
            <a:r>
              <a:rPr lang="en-US" altLang="zh-CN" sz="2000" b="1" dirty="0" err="1"/>
              <a:t>CreatePolyn</a:t>
            </a:r>
            <a:r>
              <a:rPr lang="en-US" altLang="zh-CN" sz="2000" b="1" dirty="0"/>
              <a:t>(Polynomial &amp;P</a:t>
            </a:r>
            <a:r>
              <a:rPr lang="en-US" altLang="zh-CN" sz="2000" b="1" dirty="0" smtClean="0"/>
              <a:t>, </a:t>
            </a:r>
            <a:r>
              <a:rPr lang="en-US" altLang="zh-CN" sz="2000" b="1" dirty="0" err="1" smtClean="0"/>
              <a:t>int</a:t>
            </a:r>
            <a:r>
              <a:rPr lang="en-US" altLang="zh-CN" sz="2000" b="1" dirty="0" smtClean="0"/>
              <a:t> </a:t>
            </a:r>
            <a:r>
              <a:rPr lang="en-US" altLang="zh-CN" sz="2000" b="1" dirty="0"/>
              <a:t>n)</a:t>
            </a:r>
            <a:endParaRPr lang="zh-CN" altLang="en-US" sz="2000" b="1" dirty="0"/>
          </a:p>
          <a:p>
            <a:pPr eaLnBrk="1" hangingPunct="1"/>
            <a:r>
              <a:rPr lang="en-US" altLang="zh-CN" sz="2000" b="1" dirty="0"/>
              <a:t>{//</a:t>
            </a:r>
            <a:r>
              <a:rPr lang="zh-CN" altLang="en-US" sz="2000" b="1" dirty="0"/>
              <a:t>输入</a:t>
            </a:r>
            <a:r>
              <a:rPr lang="en-US" altLang="zh-CN" sz="2000" b="1" dirty="0"/>
              <a:t>m</a:t>
            </a:r>
            <a:r>
              <a:rPr lang="zh-CN" altLang="en-US" sz="2000" b="1" dirty="0"/>
              <a:t>项的系数和指数，建立表示多项式的有序链表</a:t>
            </a:r>
            <a:r>
              <a:rPr lang="en-US" altLang="zh-CN" sz="2000" b="1" dirty="0"/>
              <a:t>P</a:t>
            </a:r>
            <a:endParaRPr lang="zh-CN" altLang="en-US" sz="2000" b="1" dirty="0"/>
          </a:p>
          <a:p>
            <a:pPr eaLnBrk="1" hangingPunct="1"/>
            <a:r>
              <a:rPr lang="en-US" altLang="zh-CN" sz="2000" b="1" dirty="0"/>
              <a:t>   P=new </a:t>
            </a:r>
            <a:r>
              <a:rPr lang="en-US" altLang="zh-CN" sz="2000" b="1" dirty="0" err="1"/>
              <a:t>PNode</a:t>
            </a:r>
            <a:r>
              <a:rPr lang="en-US" altLang="zh-CN" sz="2000" b="1" dirty="0"/>
              <a:t>; </a:t>
            </a:r>
            <a:endParaRPr lang="zh-CN" altLang="en-US" sz="2000" b="1" dirty="0"/>
          </a:p>
          <a:p>
            <a:pPr eaLnBrk="1" hangingPunct="1"/>
            <a:r>
              <a:rPr lang="en-US" altLang="zh-CN" sz="2000" b="1" dirty="0"/>
              <a:t>   P-&gt;next=NULL;			//</a:t>
            </a:r>
            <a:r>
              <a:rPr lang="zh-CN" altLang="en-US" sz="2000" b="1" dirty="0"/>
              <a:t>先建立一个带头结点的单链表 </a:t>
            </a:r>
          </a:p>
          <a:p>
            <a:pPr eaLnBrk="1" hangingPunct="1"/>
            <a:r>
              <a:rPr lang="en-US" altLang="zh-CN" sz="2000" b="1" dirty="0"/>
              <a:t>   for(</a:t>
            </a:r>
            <a:r>
              <a:rPr lang="en-US" altLang="zh-CN" sz="2000" b="1" dirty="0" err="1"/>
              <a:t>i</a:t>
            </a:r>
            <a:r>
              <a:rPr lang="en-US" altLang="zh-CN" sz="2000" b="1" dirty="0"/>
              <a:t>=1;i&lt;=n;++</a:t>
            </a:r>
            <a:r>
              <a:rPr lang="en-US" altLang="zh-CN" sz="2000" b="1" dirty="0" err="1"/>
              <a:t>i</a:t>
            </a:r>
            <a:r>
              <a:rPr lang="en-US" altLang="zh-CN" sz="2000" b="1" dirty="0"/>
              <a:t>)		//</a:t>
            </a:r>
            <a:r>
              <a:rPr lang="zh-CN" altLang="en-US" sz="2000" b="1" dirty="0"/>
              <a:t>依次输入</a:t>
            </a:r>
            <a:r>
              <a:rPr lang="en-US" altLang="zh-CN" sz="2000" b="1" dirty="0"/>
              <a:t>n</a:t>
            </a:r>
            <a:r>
              <a:rPr lang="zh-CN" altLang="en-US" sz="2000" b="1" dirty="0"/>
              <a:t>个非零项</a:t>
            </a:r>
          </a:p>
          <a:p>
            <a:pPr eaLnBrk="1" hangingPunct="1"/>
            <a:r>
              <a:rPr lang="en-US" altLang="zh-CN" sz="2000" b="1" dirty="0"/>
              <a:t>   {</a:t>
            </a:r>
            <a:endParaRPr lang="zh-CN" altLang="en-US" sz="2000" b="1" dirty="0"/>
          </a:p>
          <a:p>
            <a:pPr eaLnBrk="1" hangingPunct="1"/>
            <a:r>
              <a:rPr lang="en-US" altLang="zh-CN" sz="2000" b="1" dirty="0"/>
              <a:t>      s=new </a:t>
            </a:r>
            <a:r>
              <a:rPr lang="en-US" altLang="zh-CN" sz="2000" b="1" dirty="0" err="1"/>
              <a:t>PNode</a:t>
            </a:r>
            <a:r>
              <a:rPr lang="en-US" altLang="zh-CN" sz="2000" b="1" dirty="0"/>
              <a:t>;			//</a:t>
            </a:r>
            <a:r>
              <a:rPr lang="zh-CN" altLang="en-US" sz="2000" b="1" dirty="0"/>
              <a:t>生成新结点 </a:t>
            </a:r>
          </a:p>
          <a:p>
            <a:pPr eaLnBrk="1" hangingPunct="1"/>
            <a:r>
              <a:rPr lang="en-US" altLang="zh-CN" sz="2000" b="1" dirty="0"/>
              <a:t>      </a:t>
            </a:r>
            <a:r>
              <a:rPr lang="en-US" altLang="zh-CN" sz="2000" b="1" dirty="0" err="1"/>
              <a:t>cin</a:t>
            </a:r>
            <a:r>
              <a:rPr lang="en-US" altLang="zh-CN" sz="2000" b="1" dirty="0"/>
              <a:t>&gt;&gt;s-&gt;</a:t>
            </a:r>
            <a:r>
              <a:rPr lang="en-US" altLang="zh-CN" sz="2000" b="1" dirty="0" err="1"/>
              <a:t>coef</a:t>
            </a:r>
            <a:r>
              <a:rPr lang="en-US" altLang="zh-CN" sz="2000" b="1" dirty="0"/>
              <a:t>&gt;&gt;s-&gt;</a:t>
            </a:r>
            <a:r>
              <a:rPr lang="en-US" altLang="zh-CN" sz="2000" b="1" dirty="0" err="1"/>
              <a:t>expn</a:t>
            </a:r>
            <a:r>
              <a:rPr lang="en-US" altLang="zh-CN" sz="2000" b="1" dirty="0"/>
              <a:t>;		//</a:t>
            </a:r>
            <a:r>
              <a:rPr lang="zh-CN" altLang="en-US" sz="2000" b="1" dirty="0"/>
              <a:t>输入系数和指数 </a:t>
            </a:r>
          </a:p>
          <a:p>
            <a:pPr eaLnBrk="1" hangingPunct="1"/>
            <a:r>
              <a:rPr lang="en-US" altLang="zh-CN" sz="2000" b="1" dirty="0"/>
              <a:t>      pre=P;			//pre</a:t>
            </a:r>
            <a:r>
              <a:rPr lang="zh-CN" altLang="en-US" sz="2000" b="1" dirty="0"/>
              <a:t>用于保存</a:t>
            </a:r>
            <a:r>
              <a:rPr lang="en-US" altLang="zh-CN" sz="2000" b="1" dirty="0"/>
              <a:t>q</a:t>
            </a:r>
            <a:r>
              <a:rPr lang="zh-CN" altLang="en-US" sz="2000" b="1" dirty="0"/>
              <a:t>的前驱，初值为头结点 </a:t>
            </a:r>
          </a:p>
          <a:p>
            <a:pPr eaLnBrk="1" hangingPunct="1"/>
            <a:r>
              <a:rPr lang="en-US" altLang="zh-CN" sz="2000" b="1" dirty="0"/>
              <a:t>      q=P-&gt;next;			//q</a:t>
            </a:r>
            <a:r>
              <a:rPr lang="zh-CN" altLang="en-US" sz="2000" b="1" dirty="0"/>
              <a:t>初始化，指向首元结点</a:t>
            </a:r>
          </a:p>
          <a:p>
            <a:pPr eaLnBrk="1" hangingPunct="1"/>
            <a:r>
              <a:rPr lang="en-US" altLang="zh-CN" sz="2000" b="1" dirty="0"/>
              <a:t>      while(q&amp;&amp;q-&gt;</a:t>
            </a:r>
            <a:r>
              <a:rPr lang="en-US" altLang="zh-CN" sz="2000" b="1" dirty="0" err="1"/>
              <a:t>expn</a:t>
            </a:r>
            <a:r>
              <a:rPr lang="en-US" altLang="zh-CN" sz="2000" b="1" dirty="0"/>
              <a:t>&lt;s-&gt;</a:t>
            </a:r>
            <a:r>
              <a:rPr lang="en-US" altLang="zh-CN" sz="2000" b="1" dirty="0" err="1"/>
              <a:t>expn</a:t>
            </a:r>
            <a:r>
              <a:rPr lang="en-US" altLang="zh-CN" sz="2000" b="1" dirty="0"/>
              <a:t>)	//</a:t>
            </a:r>
            <a:r>
              <a:rPr lang="zh-CN" altLang="en-US" sz="2000" b="1" dirty="0"/>
              <a:t>找到第一个大于输入项指数的项</a:t>
            </a:r>
            <a:r>
              <a:rPr lang="en-US" sz="2000" b="1" dirty="0"/>
              <a:t>*</a:t>
            </a:r>
            <a:r>
              <a:rPr lang="en-US" altLang="zh-CN" sz="2000" b="1" dirty="0"/>
              <a:t>q</a:t>
            </a:r>
            <a:endParaRPr lang="zh-CN" altLang="en-US" sz="2000" b="1" dirty="0"/>
          </a:p>
          <a:p>
            <a:pPr eaLnBrk="1" hangingPunct="1"/>
            <a:r>
              <a:rPr lang="en-US" altLang="zh-CN" sz="2000" b="1" dirty="0"/>
              <a:t>      {</a:t>
            </a:r>
            <a:endParaRPr lang="zh-CN" altLang="en-US" sz="2000" b="1" dirty="0"/>
          </a:p>
          <a:p>
            <a:pPr eaLnBrk="1" hangingPunct="1"/>
            <a:r>
              <a:rPr lang="en-US" altLang="zh-CN" sz="2000" b="1" dirty="0"/>
              <a:t>         pre=q; </a:t>
            </a:r>
            <a:endParaRPr lang="zh-CN" altLang="en-US" sz="2000" b="1" dirty="0"/>
          </a:p>
          <a:p>
            <a:pPr eaLnBrk="1" hangingPunct="1"/>
            <a:r>
              <a:rPr lang="en-US" altLang="zh-CN" sz="2000" b="1" dirty="0"/>
              <a:t>         q=q-&gt;next; </a:t>
            </a:r>
            <a:endParaRPr lang="zh-CN" altLang="en-US" sz="2000" b="1" dirty="0"/>
          </a:p>
          <a:p>
            <a:pPr eaLnBrk="1" hangingPunct="1"/>
            <a:r>
              <a:rPr lang="en-US" altLang="zh-CN" sz="2000" b="1" dirty="0"/>
              <a:t>     }				//while </a:t>
            </a:r>
            <a:endParaRPr lang="zh-CN" altLang="en-US" sz="2000" b="1" dirty="0"/>
          </a:p>
          <a:p>
            <a:pPr eaLnBrk="1" hangingPunct="1"/>
            <a:r>
              <a:rPr lang="en-US" altLang="zh-CN" sz="2000" b="1" dirty="0"/>
              <a:t>      s-&gt;next=q;			//</a:t>
            </a:r>
            <a:r>
              <a:rPr lang="zh-CN" altLang="en-US" sz="2000" b="1" dirty="0"/>
              <a:t>将输入项</a:t>
            </a:r>
            <a:r>
              <a:rPr lang="en-US" altLang="zh-CN" sz="2000" b="1" dirty="0"/>
              <a:t>s</a:t>
            </a:r>
            <a:r>
              <a:rPr lang="zh-CN" altLang="en-US" sz="2000" b="1" dirty="0"/>
              <a:t>插入到</a:t>
            </a:r>
            <a:r>
              <a:rPr lang="en-US" altLang="zh-CN" sz="2000" b="1" dirty="0"/>
              <a:t>q</a:t>
            </a:r>
            <a:r>
              <a:rPr lang="zh-CN" altLang="en-US" sz="2000" b="1" dirty="0"/>
              <a:t>和其前驱结点</a:t>
            </a:r>
            <a:r>
              <a:rPr lang="en-US" altLang="zh-CN" sz="2000" b="1" dirty="0"/>
              <a:t>pre</a:t>
            </a:r>
            <a:r>
              <a:rPr lang="zh-CN" altLang="en-US" sz="2000" b="1" dirty="0"/>
              <a:t>之间 </a:t>
            </a:r>
          </a:p>
          <a:p>
            <a:pPr eaLnBrk="1" hangingPunct="1"/>
            <a:r>
              <a:rPr lang="en-US" altLang="zh-CN" sz="2000" b="1" dirty="0"/>
              <a:t>      pre-&gt;next=s; </a:t>
            </a:r>
            <a:endParaRPr lang="zh-CN" altLang="en-US" sz="2000" b="1" dirty="0"/>
          </a:p>
          <a:p>
            <a:pPr eaLnBrk="1" hangingPunct="1"/>
            <a:r>
              <a:rPr lang="en-US" altLang="zh-CN" sz="2000" b="1" dirty="0"/>
              <a:t>   }				//for </a:t>
            </a:r>
            <a:endParaRPr lang="zh-CN" altLang="en-US" sz="2000" b="1" dirty="0"/>
          </a:p>
          <a:p>
            <a:pPr eaLnBrk="1" hangingPunct="1"/>
            <a:r>
              <a:rPr lang="en-US" altLang="zh-CN" sz="2000" b="1" dirty="0"/>
              <a:t>} </a:t>
            </a:r>
            <a:endParaRPr lang="zh-CN" altLang="en-US" sz="2000" b="1" dirty="0"/>
          </a:p>
        </p:txBody>
      </p:sp>
      <p:sp>
        <p:nvSpPr>
          <p:cNvPr id="169988" name="Rectangle 8"/>
          <p:cNvSpPr>
            <a:spLocks noChangeArrowheads="1"/>
          </p:cNvSpPr>
          <p:nvPr/>
        </p:nvSpPr>
        <p:spPr bwMode="auto">
          <a:xfrm>
            <a:off x="1528764" y="-26988"/>
            <a:ext cx="7210425" cy="606426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r>
              <a:rPr lang="zh-CN" altLang="en-US" sz="4400" b="1">
                <a:latin typeface="华文楷体" pitchFamily="2" charset="-122"/>
                <a:ea typeface="华文楷体" pitchFamily="2" charset="-122"/>
                <a:cs typeface="楷体_GB2312"/>
              </a:rPr>
              <a:t>多项式创建</a:t>
            </a:r>
            <a:r>
              <a:rPr lang="en-US" altLang="zh-CN" sz="4400" b="1">
                <a:latin typeface="华文楷体" pitchFamily="2" charset="-122"/>
                <a:ea typeface="华文楷体" pitchFamily="2" charset="-122"/>
                <a:cs typeface="楷体_GB2312"/>
              </a:rPr>
              <a:t>---【</a:t>
            </a:r>
            <a:r>
              <a:rPr lang="zh-CN" altLang="en-US" sz="4400" b="1">
                <a:latin typeface="华文楷体" pitchFamily="2" charset="-122"/>
                <a:ea typeface="华文楷体" pitchFamily="2" charset="-122"/>
                <a:cs typeface="楷体_GB2312"/>
              </a:rPr>
              <a:t>算法描述</a:t>
            </a:r>
            <a:r>
              <a:rPr lang="en-US" altLang="zh-CN" sz="4400" b="1">
                <a:latin typeface="华文楷体" pitchFamily="2" charset="-122"/>
                <a:ea typeface="华文楷体" pitchFamily="2" charset="-122"/>
                <a:cs typeface="楷体_GB2312"/>
              </a:rPr>
              <a:t>】</a:t>
            </a:r>
          </a:p>
        </p:txBody>
      </p:sp>
    </p:spTree>
    <p:extLst>
      <p:ext uri="{BB962C8B-B14F-4D97-AF65-F5344CB8AC3E}">
        <p14:creationId xmlns:p14="http://schemas.microsoft.com/office/powerpoint/2010/main" val="866447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62"/>
          <p:cNvGrpSpPr>
            <a:grpSpLocks/>
          </p:cNvGrpSpPr>
          <p:nvPr/>
        </p:nvGrpSpPr>
        <p:grpSpPr bwMode="auto">
          <a:xfrm>
            <a:off x="1670050" y="1524000"/>
            <a:ext cx="8451850" cy="4648200"/>
            <a:chOff x="146050" y="1524000"/>
            <a:chExt cx="8451850" cy="4648200"/>
          </a:xfrm>
        </p:grpSpPr>
        <p:sp>
          <p:nvSpPr>
            <p:cNvPr id="171012" name="Text Box 3"/>
            <p:cNvSpPr txBox="1">
              <a:spLocks noChangeArrowheads="1"/>
            </p:cNvSpPr>
            <p:nvPr/>
          </p:nvSpPr>
          <p:spPr bwMode="auto">
            <a:xfrm>
              <a:off x="593725" y="1524000"/>
              <a:ext cx="4054475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>
                  <a:latin typeface="Tahoma" panose="020B0604030504040204" pitchFamily="34" charset="0"/>
                </a:rPr>
                <a:t>A</a:t>
              </a:r>
              <a:r>
                <a:rPr lang="en-US" altLang="zh-CN" baseline="-25000">
                  <a:latin typeface="Tahoma" panose="020B0604030504040204" pitchFamily="34" charset="0"/>
                </a:rPr>
                <a:t>17</a:t>
              </a:r>
              <a:r>
                <a:rPr lang="en-US" altLang="zh-CN">
                  <a:latin typeface="Tahoma" panose="020B0604030504040204" pitchFamily="34" charset="0"/>
                </a:rPr>
                <a:t>(x)=7+3x+9x</a:t>
              </a:r>
              <a:r>
                <a:rPr lang="en-US" altLang="zh-CN" baseline="30000">
                  <a:latin typeface="Tahoma" panose="020B0604030504040204" pitchFamily="34" charset="0"/>
                </a:rPr>
                <a:t>8</a:t>
              </a:r>
              <a:r>
                <a:rPr lang="en-US" altLang="zh-CN">
                  <a:latin typeface="Tahoma" panose="020B0604030504040204" pitchFamily="34" charset="0"/>
                </a:rPr>
                <a:t>+5x</a:t>
              </a:r>
              <a:r>
                <a:rPr lang="en-US" altLang="zh-CN" baseline="30000">
                  <a:latin typeface="Tahoma" panose="020B0604030504040204" pitchFamily="34" charset="0"/>
                </a:rPr>
                <a:t>17</a:t>
              </a:r>
            </a:p>
          </p:txBody>
        </p:sp>
        <p:sp>
          <p:nvSpPr>
            <p:cNvPr id="171013" name="Text Box 4"/>
            <p:cNvSpPr txBox="1">
              <a:spLocks noChangeArrowheads="1"/>
            </p:cNvSpPr>
            <p:nvPr/>
          </p:nvSpPr>
          <p:spPr bwMode="auto">
            <a:xfrm>
              <a:off x="593725" y="2209800"/>
              <a:ext cx="4054475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>
                  <a:latin typeface="Tahoma" panose="020B0604030504040204" pitchFamily="34" charset="0"/>
                </a:rPr>
                <a:t>B</a:t>
              </a:r>
              <a:r>
                <a:rPr lang="en-US" altLang="zh-CN" baseline="-25000">
                  <a:latin typeface="Tahoma" panose="020B0604030504040204" pitchFamily="34" charset="0"/>
                </a:rPr>
                <a:t>8</a:t>
              </a:r>
              <a:r>
                <a:rPr lang="en-US" altLang="zh-CN">
                  <a:latin typeface="Tahoma" panose="020B0604030504040204" pitchFamily="34" charset="0"/>
                </a:rPr>
                <a:t>(x)=8x+22x</a:t>
              </a:r>
              <a:r>
                <a:rPr lang="en-US" altLang="zh-CN" baseline="30000">
                  <a:latin typeface="Tahoma" panose="020B0604030504040204" pitchFamily="34" charset="0"/>
                </a:rPr>
                <a:t>7</a:t>
              </a:r>
              <a:r>
                <a:rPr lang="en-US" altLang="zh-CN">
                  <a:latin typeface="Tahoma" panose="020B0604030504040204" pitchFamily="34" charset="0"/>
                </a:rPr>
                <a:t>-9x</a:t>
              </a:r>
              <a:r>
                <a:rPr lang="en-US" altLang="zh-CN" baseline="30000">
                  <a:latin typeface="Tahoma" panose="020B0604030504040204" pitchFamily="34" charset="0"/>
                </a:rPr>
                <a:t>8</a:t>
              </a:r>
            </a:p>
          </p:txBody>
        </p:sp>
        <p:grpSp>
          <p:nvGrpSpPr>
            <p:cNvPr id="171014" name="Group 5"/>
            <p:cNvGrpSpPr>
              <a:grpSpLocks/>
            </p:cNvGrpSpPr>
            <p:nvPr/>
          </p:nvGrpSpPr>
          <p:grpSpPr bwMode="auto">
            <a:xfrm>
              <a:off x="146050" y="3733800"/>
              <a:ext cx="8451850" cy="1531938"/>
              <a:chOff x="92" y="2352"/>
              <a:chExt cx="5324" cy="965"/>
            </a:xfrm>
          </p:grpSpPr>
          <p:sp>
            <p:nvSpPr>
              <p:cNvPr id="171021" name="Rectangle 6" descr="深色上对角线"/>
              <p:cNvSpPr>
                <a:spLocks noChangeArrowheads="1"/>
              </p:cNvSpPr>
              <p:nvPr/>
            </p:nvSpPr>
            <p:spPr bwMode="auto">
              <a:xfrm>
                <a:off x="456" y="2417"/>
                <a:ext cx="264" cy="276"/>
              </a:xfrm>
              <a:prstGeom prst="rect">
                <a:avLst/>
              </a:prstGeom>
              <a:pattFill prst="dkUpDiag">
                <a:fgClr>
                  <a:schemeClr val="bg2"/>
                </a:fgClr>
                <a:bgClr>
                  <a:schemeClr val="bg1"/>
                </a:bgClr>
              </a:patt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171022" name="Rectangle 7" descr="深色上对角线"/>
              <p:cNvSpPr>
                <a:spLocks noChangeArrowheads="1"/>
              </p:cNvSpPr>
              <p:nvPr/>
            </p:nvSpPr>
            <p:spPr bwMode="auto">
              <a:xfrm>
                <a:off x="720" y="2417"/>
                <a:ext cx="272" cy="276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r>
                  <a:rPr lang="en-US" altLang="zh-CN" sz="1600">
                    <a:latin typeface="Tahoma" panose="020B0604030504040204" pitchFamily="34" charset="0"/>
                  </a:rPr>
                  <a:t>-1</a:t>
                </a:r>
              </a:p>
            </p:txBody>
          </p:sp>
          <p:sp>
            <p:nvSpPr>
              <p:cNvPr id="171023" name="Rectangle 8" descr="深色上对角线"/>
              <p:cNvSpPr>
                <a:spLocks noChangeArrowheads="1"/>
              </p:cNvSpPr>
              <p:nvPr/>
            </p:nvSpPr>
            <p:spPr bwMode="auto">
              <a:xfrm>
                <a:off x="992" y="2417"/>
                <a:ext cx="272" cy="276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zh-CN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171024" name="Rectangle 9" descr="深色上对角线"/>
              <p:cNvSpPr>
                <a:spLocks noChangeArrowheads="1"/>
              </p:cNvSpPr>
              <p:nvPr/>
            </p:nvSpPr>
            <p:spPr bwMode="auto">
              <a:xfrm>
                <a:off x="1496" y="2417"/>
                <a:ext cx="264" cy="276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r>
                  <a:rPr lang="en-US" altLang="zh-CN" sz="1600">
                    <a:latin typeface="Tahoma" panose="020B0604030504040204" pitchFamily="34" charset="0"/>
                  </a:rPr>
                  <a:t>7</a:t>
                </a:r>
              </a:p>
            </p:txBody>
          </p:sp>
          <p:sp>
            <p:nvSpPr>
              <p:cNvPr id="171025" name="Rectangle 10" descr="深色上对角线"/>
              <p:cNvSpPr>
                <a:spLocks noChangeArrowheads="1"/>
              </p:cNvSpPr>
              <p:nvPr/>
            </p:nvSpPr>
            <p:spPr bwMode="auto">
              <a:xfrm>
                <a:off x="1760" y="2417"/>
                <a:ext cx="272" cy="276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r>
                  <a:rPr lang="en-US" altLang="zh-CN" sz="1600">
                    <a:latin typeface="Tahoma" panose="020B0604030504040204" pitchFamily="34" charset="0"/>
                  </a:rPr>
                  <a:t>0</a:t>
                </a:r>
              </a:p>
            </p:txBody>
          </p:sp>
          <p:sp>
            <p:nvSpPr>
              <p:cNvPr id="171026" name="Rectangle 11" descr="深色上对角线"/>
              <p:cNvSpPr>
                <a:spLocks noChangeArrowheads="1"/>
              </p:cNvSpPr>
              <p:nvPr/>
            </p:nvSpPr>
            <p:spPr bwMode="auto">
              <a:xfrm>
                <a:off x="2032" y="2417"/>
                <a:ext cx="272" cy="276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zh-CN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171027" name="Rectangle 12" descr="深色上对角线"/>
              <p:cNvSpPr>
                <a:spLocks noChangeArrowheads="1"/>
              </p:cNvSpPr>
              <p:nvPr/>
            </p:nvSpPr>
            <p:spPr bwMode="auto">
              <a:xfrm>
                <a:off x="2536" y="2417"/>
                <a:ext cx="264" cy="276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r>
                  <a:rPr lang="en-US" altLang="zh-CN" sz="1600">
                    <a:latin typeface="Tahoma" panose="020B0604030504040204" pitchFamily="34" charset="0"/>
                  </a:rPr>
                  <a:t>3</a:t>
                </a:r>
              </a:p>
            </p:txBody>
          </p:sp>
          <p:sp>
            <p:nvSpPr>
              <p:cNvPr id="171028" name="Rectangle 13" descr="深色上对角线"/>
              <p:cNvSpPr>
                <a:spLocks noChangeArrowheads="1"/>
              </p:cNvSpPr>
              <p:nvPr/>
            </p:nvSpPr>
            <p:spPr bwMode="auto">
              <a:xfrm>
                <a:off x="2800" y="2417"/>
                <a:ext cx="272" cy="276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r>
                  <a:rPr lang="en-US" altLang="zh-CN" sz="1600">
                    <a:latin typeface="Tahoma" panose="020B0604030504040204" pitchFamily="34" charset="0"/>
                  </a:rPr>
                  <a:t>1</a:t>
                </a:r>
              </a:p>
            </p:txBody>
          </p:sp>
          <p:sp>
            <p:nvSpPr>
              <p:cNvPr id="171029" name="Rectangle 14" descr="深色上对角线"/>
              <p:cNvSpPr>
                <a:spLocks noChangeArrowheads="1"/>
              </p:cNvSpPr>
              <p:nvPr/>
            </p:nvSpPr>
            <p:spPr bwMode="auto">
              <a:xfrm>
                <a:off x="3072" y="2417"/>
                <a:ext cx="272" cy="276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zh-CN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171030" name="Rectangle 15" descr="深色上对角线"/>
              <p:cNvSpPr>
                <a:spLocks noChangeArrowheads="1"/>
              </p:cNvSpPr>
              <p:nvPr/>
            </p:nvSpPr>
            <p:spPr bwMode="auto">
              <a:xfrm>
                <a:off x="3560" y="2417"/>
                <a:ext cx="264" cy="276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r>
                  <a:rPr lang="en-US" altLang="zh-CN" sz="1600">
                    <a:latin typeface="Tahoma" panose="020B0604030504040204" pitchFamily="34" charset="0"/>
                  </a:rPr>
                  <a:t>9</a:t>
                </a:r>
              </a:p>
            </p:txBody>
          </p:sp>
          <p:sp>
            <p:nvSpPr>
              <p:cNvPr id="171031" name="Rectangle 16" descr="深色上对角线"/>
              <p:cNvSpPr>
                <a:spLocks noChangeArrowheads="1"/>
              </p:cNvSpPr>
              <p:nvPr/>
            </p:nvSpPr>
            <p:spPr bwMode="auto">
              <a:xfrm>
                <a:off x="3824" y="2417"/>
                <a:ext cx="272" cy="276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r>
                  <a:rPr lang="en-US" altLang="zh-CN" sz="1600">
                    <a:latin typeface="Tahoma" panose="020B0604030504040204" pitchFamily="34" charset="0"/>
                  </a:rPr>
                  <a:t>8</a:t>
                </a:r>
              </a:p>
            </p:txBody>
          </p:sp>
          <p:sp>
            <p:nvSpPr>
              <p:cNvPr id="171032" name="Rectangle 17" descr="深色上对角线"/>
              <p:cNvSpPr>
                <a:spLocks noChangeArrowheads="1"/>
              </p:cNvSpPr>
              <p:nvPr/>
            </p:nvSpPr>
            <p:spPr bwMode="auto">
              <a:xfrm>
                <a:off x="4096" y="2417"/>
                <a:ext cx="272" cy="276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zh-CN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171033" name="Rectangle 18" descr="深色上对角线"/>
              <p:cNvSpPr>
                <a:spLocks noChangeArrowheads="1"/>
              </p:cNvSpPr>
              <p:nvPr/>
            </p:nvSpPr>
            <p:spPr bwMode="auto">
              <a:xfrm>
                <a:off x="4608" y="2417"/>
                <a:ext cx="264" cy="276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r>
                  <a:rPr lang="en-US" altLang="zh-CN" sz="1600">
                    <a:latin typeface="Tahoma" panose="020B0604030504040204" pitchFamily="34" charset="0"/>
                  </a:rPr>
                  <a:t>5</a:t>
                </a:r>
              </a:p>
            </p:txBody>
          </p:sp>
          <p:sp>
            <p:nvSpPr>
              <p:cNvPr id="171034" name="Rectangle 19" descr="深色上对角线"/>
              <p:cNvSpPr>
                <a:spLocks noChangeArrowheads="1"/>
              </p:cNvSpPr>
              <p:nvPr/>
            </p:nvSpPr>
            <p:spPr bwMode="auto">
              <a:xfrm>
                <a:off x="4872" y="2417"/>
                <a:ext cx="272" cy="276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r>
                  <a:rPr lang="en-US" altLang="zh-CN" sz="1600">
                    <a:latin typeface="Tahoma" panose="020B0604030504040204" pitchFamily="34" charset="0"/>
                  </a:rPr>
                  <a:t>17</a:t>
                </a:r>
              </a:p>
            </p:txBody>
          </p:sp>
          <p:sp>
            <p:nvSpPr>
              <p:cNvPr id="171035" name="Rectangle 20" descr="深色上对角线"/>
              <p:cNvSpPr>
                <a:spLocks noChangeArrowheads="1"/>
              </p:cNvSpPr>
              <p:nvPr/>
            </p:nvSpPr>
            <p:spPr bwMode="auto">
              <a:xfrm>
                <a:off x="5144" y="2417"/>
                <a:ext cx="272" cy="276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zh-CN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171036" name="Line 21"/>
              <p:cNvSpPr>
                <a:spLocks noChangeShapeType="1"/>
              </p:cNvSpPr>
              <p:nvPr/>
            </p:nvSpPr>
            <p:spPr bwMode="auto">
              <a:xfrm flipH="1">
                <a:off x="5232" y="2501"/>
                <a:ext cx="48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71037" name="Line 22"/>
              <p:cNvSpPr>
                <a:spLocks noChangeShapeType="1"/>
              </p:cNvSpPr>
              <p:nvPr/>
            </p:nvSpPr>
            <p:spPr bwMode="auto">
              <a:xfrm>
                <a:off x="5280" y="2501"/>
                <a:ext cx="48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71038" name="Rectangle 23" descr="深色上对角线"/>
              <p:cNvSpPr>
                <a:spLocks noChangeArrowheads="1"/>
              </p:cNvSpPr>
              <p:nvPr/>
            </p:nvSpPr>
            <p:spPr bwMode="auto">
              <a:xfrm>
                <a:off x="456" y="3041"/>
                <a:ext cx="264" cy="276"/>
              </a:xfrm>
              <a:prstGeom prst="rect">
                <a:avLst/>
              </a:prstGeom>
              <a:pattFill prst="dkUpDiag">
                <a:fgClr>
                  <a:schemeClr val="bg2"/>
                </a:fgClr>
                <a:bgClr>
                  <a:schemeClr val="bg1"/>
                </a:bgClr>
              </a:patt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171039" name="Rectangle 24" descr="深色上对角线"/>
              <p:cNvSpPr>
                <a:spLocks noChangeArrowheads="1"/>
              </p:cNvSpPr>
              <p:nvPr/>
            </p:nvSpPr>
            <p:spPr bwMode="auto">
              <a:xfrm>
                <a:off x="720" y="3041"/>
                <a:ext cx="272" cy="276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r>
                  <a:rPr lang="en-US" altLang="zh-CN" sz="1600">
                    <a:latin typeface="Tahoma" panose="020B0604030504040204" pitchFamily="34" charset="0"/>
                  </a:rPr>
                  <a:t>-1</a:t>
                </a:r>
              </a:p>
            </p:txBody>
          </p:sp>
          <p:sp>
            <p:nvSpPr>
              <p:cNvPr id="171040" name="Rectangle 25" descr="深色上对角线"/>
              <p:cNvSpPr>
                <a:spLocks noChangeArrowheads="1"/>
              </p:cNvSpPr>
              <p:nvPr/>
            </p:nvSpPr>
            <p:spPr bwMode="auto">
              <a:xfrm>
                <a:off x="992" y="3041"/>
                <a:ext cx="272" cy="276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zh-CN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171041" name="Rectangle 26" descr="深色上对角线"/>
              <p:cNvSpPr>
                <a:spLocks noChangeArrowheads="1"/>
              </p:cNvSpPr>
              <p:nvPr/>
            </p:nvSpPr>
            <p:spPr bwMode="auto">
              <a:xfrm>
                <a:off x="1496" y="3041"/>
                <a:ext cx="264" cy="276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r>
                  <a:rPr lang="en-US" altLang="zh-CN" sz="1600">
                    <a:latin typeface="Tahoma" panose="020B0604030504040204" pitchFamily="34" charset="0"/>
                  </a:rPr>
                  <a:t>8</a:t>
                </a:r>
              </a:p>
            </p:txBody>
          </p:sp>
          <p:sp>
            <p:nvSpPr>
              <p:cNvPr id="171042" name="Rectangle 27" descr="深色上对角线"/>
              <p:cNvSpPr>
                <a:spLocks noChangeArrowheads="1"/>
              </p:cNvSpPr>
              <p:nvPr/>
            </p:nvSpPr>
            <p:spPr bwMode="auto">
              <a:xfrm>
                <a:off x="1760" y="3041"/>
                <a:ext cx="272" cy="276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r>
                  <a:rPr lang="en-US" altLang="zh-CN" sz="1600">
                    <a:latin typeface="Tahoma" panose="020B0604030504040204" pitchFamily="34" charset="0"/>
                  </a:rPr>
                  <a:t>1</a:t>
                </a:r>
              </a:p>
            </p:txBody>
          </p:sp>
          <p:sp>
            <p:nvSpPr>
              <p:cNvPr id="171043" name="Rectangle 28" descr="深色上对角线"/>
              <p:cNvSpPr>
                <a:spLocks noChangeArrowheads="1"/>
              </p:cNvSpPr>
              <p:nvPr/>
            </p:nvSpPr>
            <p:spPr bwMode="auto">
              <a:xfrm>
                <a:off x="2032" y="3041"/>
                <a:ext cx="272" cy="276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zh-CN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171044" name="Rectangle 29" descr="深色上对角线"/>
              <p:cNvSpPr>
                <a:spLocks noChangeArrowheads="1"/>
              </p:cNvSpPr>
              <p:nvPr/>
            </p:nvSpPr>
            <p:spPr bwMode="auto">
              <a:xfrm>
                <a:off x="2536" y="3041"/>
                <a:ext cx="264" cy="276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r>
                  <a:rPr lang="en-US" altLang="zh-CN" sz="1600">
                    <a:latin typeface="Tahoma" panose="020B0604030504040204" pitchFamily="34" charset="0"/>
                  </a:rPr>
                  <a:t>22</a:t>
                </a:r>
              </a:p>
            </p:txBody>
          </p:sp>
          <p:sp>
            <p:nvSpPr>
              <p:cNvPr id="171045" name="Rectangle 30" descr="深色上对角线"/>
              <p:cNvSpPr>
                <a:spLocks noChangeArrowheads="1"/>
              </p:cNvSpPr>
              <p:nvPr/>
            </p:nvSpPr>
            <p:spPr bwMode="auto">
              <a:xfrm>
                <a:off x="2800" y="3041"/>
                <a:ext cx="272" cy="276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r>
                  <a:rPr lang="en-US" altLang="zh-CN" sz="1600">
                    <a:latin typeface="Tahoma" panose="020B0604030504040204" pitchFamily="34" charset="0"/>
                  </a:rPr>
                  <a:t>7</a:t>
                </a:r>
              </a:p>
            </p:txBody>
          </p:sp>
          <p:sp>
            <p:nvSpPr>
              <p:cNvPr id="171046" name="Rectangle 31" descr="深色上对角线"/>
              <p:cNvSpPr>
                <a:spLocks noChangeArrowheads="1"/>
              </p:cNvSpPr>
              <p:nvPr/>
            </p:nvSpPr>
            <p:spPr bwMode="auto">
              <a:xfrm>
                <a:off x="3072" y="3041"/>
                <a:ext cx="272" cy="276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zh-CN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171047" name="Rectangle 32" descr="深色上对角线"/>
              <p:cNvSpPr>
                <a:spLocks noChangeArrowheads="1"/>
              </p:cNvSpPr>
              <p:nvPr/>
            </p:nvSpPr>
            <p:spPr bwMode="auto">
              <a:xfrm>
                <a:off x="3560" y="3041"/>
                <a:ext cx="264" cy="276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r>
                  <a:rPr lang="en-US" altLang="zh-CN" sz="1600">
                    <a:latin typeface="Tahoma" panose="020B0604030504040204" pitchFamily="34" charset="0"/>
                  </a:rPr>
                  <a:t>-9</a:t>
                </a:r>
              </a:p>
            </p:txBody>
          </p:sp>
          <p:sp>
            <p:nvSpPr>
              <p:cNvPr id="171048" name="Rectangle 33" descr="深色上对角线"/>
              <p:cNvSpPr>
                <a:spLocks noChangeArrowheads="1"/>
              </p:cNvSpPr>
              <p:nvPr/>
            </p:nvSpPr>
            <p:spPr bwMode="auto">
              <a:xfrm>
                <a:off x="3824" y="3041"/>
                <a:ext cx="272" cy="276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r>
                  <a:rPr lang="en-US" altLang="zh-CN" sz="1600">
                    <a:latin typeface="Tahoma" panose="020B0604030504040204" pitchFamily="34" charset="0"/>
                  </a:rPr>
                  <a:t>8</a:t>
                </a:r>
              </a:p>
            </p:txBody>
          </p:sp>
          <p:sp>
            <p:nvSpPr>
              <p:cNvPr id="171049" name="Rectangle 34" descr="深色上对角线"/>
              <p:cNvSpPr>
                <a:spLocks noChangeArrowheads="1"/>
              </p:cNvSpPr>
              <p:nvPr/>
            </p:nvSpPr>
            <p:spPr bwMode="auto">
              <a:xfrm>
                <a:off x="4096" y="3041"/>
                <a:ext cx="272" cy="276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endParaRPr lang="zh-CN" altLang="zh-CN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171050" name="Line 35"/>
              <p:cNvSpPr>
                <a:spLocks noChangeShapeType="1"/>
              </p:cNvSpPr>
              <p:nvPr/>
            </p:nvSpPr>
            <p:spPr bwMode="auto">
              <a:xfrm flipH="1">
                <a:off x="4176" y="3141"/>
                <a:ext cx="48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71051" name="Line 36"/>
              <p:cNvSpPr>
                <a:spLocks noChangeShapeType="1"/>
              </p:cNvSpPr>
              <p:nvPr/>
            </p:nvSpPr>
            <p:spPr bwMode="auto">
              <a:xfrm>
                <a:off x="4224" y="3141"/>
                <a:ext cx="48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71052" name="Line 37"/>
              <p:cNvSpPr>
                <a:spLocks noChangeShapeType="1"/>
              </p:cNvSpPr>
              <p:nvPr/>
            </p:nvSpPr>
            <p:spPr bwMode="auto">
              <a:xfrm>
                <a:off x="144" y="2549"/>
                <a:ext cx="30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71053" name="Line 38"/>
              <p:cNvSpPr>
                <a:spLocks noChangeShapeType="1"/>
              </p:cNvSpPr>
              <p:nvPr/>
            </p:nvSpPr>
            <p:spPr bwMode="auto">
              <a:xfrm>
                <a:off x="144" y="3181"/>
                <a:ext cx="30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71054" name="Line 39"/>
              <p:cNvSpPr>
                <a:spLocks noChangeShapeType="1"/>
              </p:cNvSpPr>
              <p:nvPr/>
            </p:nvSpPr>
            <p:spPr bwMode="auto">
              <a:xfrm>
                <a:off x="1180" y="2557"/>
                <a:ext cx="30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71055" name="Line 40"/>
              <p:cNvSpPr>
                <a:spLocks noChangeShapeType="1"/>
              </p:cNvSpPr>
              <p:nvPr/>
            </p:nvSpPr>
            <p:spPr bwMode="auto">
              <a:xfrm>
                <a:off x="2220" y="2557"/>
                <a:ext cx="30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71056" name="Line 41"/>
              <p:cNvSpPr>
                <a:spLocks noChangeShapeType="1"/>
              </p:cNvSpPr>
              <p:nvPr/>
            </p:nvSpPr>
            <p:spPr bwMode="auto">
              <a:xfrm>
                <a:off x="3252" y="2561"/>
                <a:ext cx="30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71057" name="Line 42"/>
              <p:cNvSpPr>
                <a:spLocks noChangeShapeType="1"/>
              </p:cNvSpPr>
              <p:nvPr/>
            </p:nvSpPr>
            <p:spPr bwMode="auto">
              <a:xfrm>
                <a:off x="4300" y="2565"/>
                <a:ext cx="30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71058" name="Line 43"/>
              <p:cNvSpPr>
                <a:spLocks noChangeShapeType="1"/>
              </p:cNvSpPr>
              <p:nvPr/>
            </p:nvSpPr>
            <p:spPr bwMode="auto">
              <a:xfrm>
                <a:off x="1184" y="3181"/>
                <a:ext cx="30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71059" name="Line 44"/>
              <p:cNvSpPr>
                <a:spLocks noChangeShapeType="1"/>
              </p:cNvSpPr>
              <p:nvPr/>
            </p:nvSpPr>
            <p:spPr bwMode="auto">
              <a:xfrm>
                <a:off x="2224" y="3181"/>
                <a:ext cx="30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71060" name="Line 45"/>
              <p:cNvSpPr>
                <a:spLocks noChangeShapeType="1"/>
              </p:cNvSpPr>
              <p:nvPr/>
            </p:nvSpPr>
            <p:spPr bwMode="auto">
              <a:xfrm>
                <a:off x="3256" y="3185"/>
                <a:ext cx="30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71061" name="Text Box 46"/>
              <p:cNvSpPr txBox="1">
                <a:spLocks noChangeArrowheads="1"/>
              </p:cNvSpPr>
              <p:nvPr/>
            </p:nvSpPr>
            <p:spPr bwMode="auto">
              <a:xfrm>
                <a:off x="102" y="2352"/>
                <a:ext cx="193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r>
                  <a:rPr lang="en-US" altLang="zh-CN" sz="1600">
                    <a:latin typeface="Tahoma" panose="020B0604030504040204" pitchFamily="34" charset="0"/>
                  </a:rPr>
                  <a:t>A</a:t>
                </a:r>
              </a:p>
            </p:txBody>
          </p:sp>
          <p:sp>
            <p:nvSpPr>
              <p:cNvPr id="171062" name="Text Box 47"/>
              <p:cNvSpPr txBox="1">
                <a:spLocks noChangeArrowheads="1"/>
              </p:cNvSpPr>
              <p:nvPr/>
            </p:nvSpPr>
            <p:spPr bwMode="auto">
              <a:xfrm>
                <a:off x="92" y="2985"/>
                <a:ext cx="191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r>
                  <a:rPr lang="en-US" altLang="zh-CN" sz="1600">
                    <a:latin typeface="Tahoma" panose="020B0604030504040204" pitchFamily="34" charset="0"/>
                  </a:rPr>
                  <a:t>B</a:t>
                </a:r>
              </a:p>
            </p:txBody>
          </p:sp>
        </p:grpSp>
        <p:grpSp>
          <p:nvGrpSpPr>
            <p:cNvPr id="171015" name="Group 48"/>
            <p:cNvGrpSpPr>
              <a:grpSpLocks/>
            </p:cNvGrpSpPr>
            <p:nvPr/>
          </p:nvGrpSpPr>
          <p:grpSpPr bwMode="auto">
            <a:xfrm>
              <a:off x="2743200" y="2797175"/>
              <a:ext cx="512763" cy="936625"/>
              <a:chOff x="1728" y="1762"/>
              <a:chExt cx="323" cy="590"/>
            </a:xfrm>
          </p:grpSpPr>
          <p:sp>
            <p:nvSpPr>
              <p:cNvPr id="171019" name="Line 49"/>
              <p:cNvSpPr>
                <a:spLocks noChangeShapeType="1"/>
              </p:cNvSpPr>
              <p:nvPr/>
            </p:nvSpPr>
            <p:spPr bwMode="auto">
              <a:xfrm>
                <a:off x="1872" y="2064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71020" name="Text Box 50"/>
              <p:cNvSpPr txBox="1">
                <a:spLocks noChangeArrowheads="1"/>
              </p:cNvSpPr>
              <p:nvPr/>
            </p:nvSpPr>
            <p:spPr bwMode="auto">
              <a:xfrm>
                <a:off x="1728" y="1762"/>
                <a:ext cx="32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r>
                  <a:rPr lang="en-US" altLang="zh-CN" sz="2400" dirty="0">
                    <a:solidFill>
                      <a:srgbClr val="FF0000"/>
                    </a:solidFill>
                    <a:latin typeface="Tahoma" panose="020B0604030504040204" pitchFamily="34" charset="0"/>
                  </a:rPr>
                  <a:t>pa</a:t>
                </a:r>
              </a:p>
            </p:txBody>
          </p:sp>
        </p:grpSp>
        <p:grpSp>
          <p:nvGrpSpPr>
            <p:cNvPr id="171016" name="Group 51"/>
            <p:cNvGrpSpPr>
              <a:grpSpLocks/>
            </p:cNvGrpSpPr>
            <p:nvPr/>
          </p:nvGrpSpPr>
          <p:grpSpPr bwMode="auto">
            <a:xfrm>
              <a:off x="2743200" y="5334000"/>
              <a:ext cx="520700" cy="838200"/>
              <a:chOff x="1728" y="3360"/>
              <a:chExt cx="328" cy="528"/>
            </a:xfrm>
          </p:grpSpPr>
          <p:sp>
            <p:nvSpPr>
              <p:cNvPr id="171017" name="Line 52"/>
              <p:cNvSpPr>
                <a:spLocks noChangeShapeType="1"/>
              </p:cNvSpPr>
              <p:nvPr/>
            </p:nvSpPr>
            <p:spPr bwMode="auto">
              <a:xfrm flipV="1">
                <a:off x="1872" y="3360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71018" name="Text Box 53"/>
              <p:cNvSpPr txBox="1">
                <a:spLocks noChangeArrowheads="1"/>
              </p:cNvSpPr>
              <p:nvPr/>
            </p:nvSpPr>
            <p:spPr bwMode="auto">
              <a:xfrm>
                <a:off x="1728" y="3600"/>
                <a:ext cx="32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1pPr>
                <a:lvl2pPr marL="742950" indent="-28575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2pPr>
                <a:lvl3pPr marL="11430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3pPr>
                <a:lvl4pPr marL="16002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4pPr>
                <a:lvl5pPr marL="2057400" indent="-228600" eaLnBrk="0" hangingPunct="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仿宋_GB2312"/>
                    <a:cs typeface="仿宋_GB231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r>
                  <a:rPr lang="en-US" altLang="zh-CN" sz="2400">
                    <a:solidFill>
                      <a:srgbClr val="FF0000"/>
                    </a:solidFill>
                    <a:latin typeface="Tahoma" panose="020B0604030504040204" pitchFamily="34" charset="0"/>
                  </a:rPr>
                  <a:t>pb</a:t>
                </a:r>
              </a:p>
            </p:txBody>
          </p:sp>
        </p:grpSp>
      </p:grpSp>
      <p:sp>
        <p:nvSpPr>
          <p:cNvPr id="55" name="Rectangle 2"/>
          <p:cNvSpPr txBox="1">
            <a:spLocks noChangeArrowheads="1"/>
          </p:cNvSpPr>
          <p:nvPr/>
        </p:nvSpPr>
        <p:spPr>
          <a:xfrm>
            <a:off x="2101850" y="411957"/>
            <a:ext cx="7315200" cy="114300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zh-CN" altLang="en-US" smtClean="0">
                <a:solidFill>
                  <a:srgbClr val="002060"/>
                </a:solidFill>
                <a:ea typeface="隶书" pitchFamily="49" charset="-122"/>
              </a:rPr>
              <a:t>多项式相加</a:t>
            </a:r>
            <a:endParaRPr lang="zh-CN" altLang="en-US" dirty="0" smtClean="0">
              <a:solidFill>
                <a:srgbClr val="002060"/>
              </a:solidFill>
              <a:ea typeface="隶书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62856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>
          <a:xfrm>
            <a:off x="2743200" y="428625"/>
            <a:ext cx="7315200" cy="1143000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>
                <a:solidFill>
                  <a:srgbClr val="002060"/>
                </a:solidFill>
                <a:ea typeface="隶书" pitchFamily="49" charset="-122"/>
                <a:cs typeface="+mj-cs"/>
              </a:rPr>
              <a:t>多项式相加</a:t>
            </a:r>
          </a:p>
        </p:txBody>
      </p:sp>
      <p:sp>
        <p:nvSpPr>
          <p:cNvPr id="172035" name="Text Box 3"/>
          <p:cNvSpPr txBox="1">
            <a:spLocks noChangeArrowheads="1"/>
          </p:cNvSpPr>
          <p:nvPr/>
        </p:nvSpPr>
        <p:spPr bwMode="auto">
          <a:xfrm>
            <a:off x="2117726" y="1524001"/>
            <a:ext cx="4054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dirty="0">
                <a:latin typeface="Tahoma" panose="020B0604030504040204" pitchFamily="34" charset="0"/>
              </a:rPr>
              <a:t>A</a:t>
            </a:r>
            <a:r>
              <a:rPr lang="en-US" altLang="zh-CN" baseline="-25000" dirty="0">
                <a:latin typeface="Tahoma" panose="020B0604030504040204" pitchFamily="34" charset="0"/>
              </a:rPr>
              <a:t>17</a:t>
            </a:r>
            <a:r>
              <a:rPr lang="en-US" altLang="zh-CN" dirty="0">
                <a:latin typeface="Tahoma" panose="020B0604030504040204" pitchFamily="34" charset="0"/>
              </a:rPr>
              <a:t>(x)=7+3x+9x</a:t>
            </a:r>
            <a:r>
              <a:rPr lang="en-US" altLang="zh-CN" baseline="30000" dirty="0">
                <a:latin typeface="Tahoma" panose="020B0604030504040204" pitchFamily="34" charset="0"/>
              </a:rPr>
              <a:t>8</a:t>
            </a:r>
            <a:r>
              <a:rPr lang="en-US" altLang="zh-CN" dirty="0">
                <a:latin typeface="Tahoma" panose="020B0604030504040204" pitchFamily="34" charset="0"/>
              </a:rPr>
              <a:t>+5x</a:t>
            </a:r>
            <a:r>
              <a:rPr lang="en-US" altLang="zh-CN" baseline="30000" dirty="0">
                <a:latin typeface="Tahoma" panose="020B0604030504040204" pitchFamily="34" charset="0"/>
              </a:rPr>
              <a:t>17</a:t>
            </a:r>
          </a:p>
        </p:txBody>
      </p:sp>
      <p:sp>
        <p:nvSpPr>
          <p:cNvPr id="172036" name="Text Box 4"/>
          <p:cNvSpPr txBox="1">
            <a:spLocks noChangeArrowheads="1"/>
          </p:cNvSpPr>
          <p:nvPr/>
        </p:nvSpPr>
        <p:spPr bwMode="auto">
          <a:xfrm>
            <a:off x="2117726" y="2209801"/>
            <a:ext cx="4054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dirty="0">
                <a:latin typeface="Tahoma" panose="020B0604030504040204" pitchFamily="34" charset="0"/>
              </a:rPr>
              <a:t>B</a:t>
            </a:r>
            <a:r>
              <a:rPr lang="en-US" altLang="zh-CN" baseline="-25000" dirty="0">
                <a:latin typeface="Tahoma" panose="020B0604030504040204" pitchFamily="34" charset="0"/>
              </a:rPr>
              <a:t>8</a:t>
            </a:r>
            <a:r>
              <a:rPr lang="en-US" altLang="zh-CN" dirty="0">
                <a:latin typeface="Tahoma" panose="020B0604030504040204" pitchFamily="34" charset="0"/>
              </a:rPr>
              <a:t>(x)=8x+22x</a:t>
            </a:r>
            <a:r>
              <a:rPr lang="en-US" altLang="zh-CN" baseline="30000" dirty="0">
                <a:latin typeface="Tahoma" panose="020B0604030504040204" pitchFamily="34" charset="0"/>
              </a:rPr>
              <a:t>7</a:t>
            </a:r>
            <a:r>
              <a:rPr lang="en-US" altLang="zh-CN" dirty="0">
                <a:latin typeface="Tahoma" panose="020B0604030504040204" pitchFamily="34" charset="0"/>
              </a:rPr>
              <a:t>-9x</a:t>
            </a:r>
            <a:r>
              <a:rPr lang="en-US" altLang="zh-CN" baseline="30000" dirty="0">
                <a:latin typeface="Tahoma" panose="020B0604030504040204" pitchFamily="34" charset="0"/>
              </a:rPr>
              <a:t>8</a:t>
            </a:r>
          </a:p>
        </p:txBody>
      </p:sp>
      <p:sp>
        <p:nvSpPr>
          <p:cNvPr id="172037" name="Rectangle 5" descr="深色上对角线"/>
          <p:cNvSpPr>
            <a:spLocks noChangeArrowheads="1"/>
          </p:cNvSpPr>
          <p:nvPr/>
        </p:nvSpPr>
        <p:spPr bwMode="auto">
          <a:xfrm>
            <a:off x="2247900" y="3836988"/>
            <a:ext cx="419100" cy="438150"/>
          </a:xfrm>
          <a:prstGeom prst="rect">
            <a:avLst/>
          </a:prstGeom>
          <a:pattFill prst="dkUpDiag">
            <a:fgClr>
              <a:schemeClr val="bg2"/>
            </a:fgClr>
            <a:bgClr>
              <a:schemeClr val="bg1"/>
            </a:bgClr>
          </a:patt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172038" name="Rectangle 6" descr="深色上对角线"/>
          <p:cNvSpPr>
            <a:spLocks noChangeArrowheads="1"/>
          </p:cNvSpPr>
          <p:nvPr/>
        </p:nvSpPr>
        <p:spPr bwMode="auto">
          <a:xfrm>
            <a:off x="2667000" y="3836988"/>
            <a:ext cx="431800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-1</a:t>
            </a:r>
          </a:p>
        </p:txBody>
      </p:sp>
      <p:sp>
        <p:nvSpPr>
          <p:cNvPr id="172039" name="Rectangle 7" descr="深色上对角线"/>
          <p:cNvSpPr>
            <a:spLocks noChangeArrowheads="1"/>
          </p:cNvSpPr>
          <p:nvPr/>
        </p:nvSpPr>
        <p:spPr bwMode="auto">
          <a:xfrm>
            <a:off x="3098800" y="3836988"/>
            <a:ext cx="431800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endParaRPr lang="zh-CN" altLang="zh-CN" sz="1600">
              <a:latin typeface="Tahoma" panose="020B0604030504040204" pitchFamily="34" charset="0"/>
            </a:endParaRPr>
          </a:p>
        </p:txBody>
      </p:sp>
      <p:sp>
        <p:nvSpPr>
          <p:cNvPr id="172040" name="Rectangle 8"/>
          <p:cNvSpPr>
            <a:spLocks noChangeArrowheads="1"/>
          </p:cNvSpPr>
          <p:nvPr/>
        </p:nvSpPr>
        <p:spPr bwMode="auto">
          <a:xfrm>
            <a:off x="3898900" y="3836988"/>
            <a:ext cx="419100" cy="438150"/>
          </a:xfrm>
          <a:prstGeom prst="rect">
            <a:avLst/>
          </a:prstGeom>
          <a:solidFill>
            <a:srgbClr val="66FF33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7</a:t>
            </a:r>
          </a:p>
        </p:txBody>
      </p:sp>
      <p:sp>
        <p:nvSpPr>
          <p:cNvPr id="172041" name="Rectangle 9"/>
          <p:cNvSpPr>
            <a:spLocks noChangeArrowheads="1"/>
          </p:cNvSpPr>
          <p:nvPr/>
        </p:nvSpPr>
        <p:spPr bwMode="auto">
          <a:xfrm>
            <a:off x="4318000" y="3836988"/>
            <a:ext cx="431800" cy="438150"/>
          </a:xfrm>
          <a:prstGeom prst="rect">
            <a:avLst/>
          </a:prstGeom>
          <a:solidFill>
            <a:srgbClr val="66FF33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172042" name="Rectangle 10"/>
          <p:cNvSpPr>
            <a:spLocks noChangeArrowheads="1"/>
          </p:cNvSpPr>
          <p:nvPr/>
        </p:nvSpPr>
        <p:spPr bwMode="auto">
          <a:xfrm>
            <a:off x="4749800" y="3836988"/>
            <a:ext cx="431800" cy="438150"/>
          </a:xfrm>
          <a:prstGeom prst="rect">
            <a:avLst/>
          </a:prstGeom>
          <a:solidFill>
            <a:srgbClr val="66FF33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endParaRPr lang="zh-CN" altLang="zh-CN" sz="1600">
              <a:latin typeface="Tahoma" panose="020B0604030504040204" pitchFamily="34" charset="0"/>
            </a:endParaRPr>
          </a:p>
        </p:txBody>
      </p:sp>
      <p:sp>
        <p:nvSpPr>
          <p:cNvPr id="172043" name="Rectangle 11" descr="深色上对角线"/>
          <p:cNvSpPr>
            <a:spLocks noChangeArrowheads="1"/>
          </p:cNvSpPr>
          <p:nvPr/>
        </p:nvSpPr>
        <p:spPr bwMode="auto">
          <a:xfrm>
            <a:off x="5549900" y="3836988"/>
            <a:ext cx="419100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3</a:t>
            </a:r>
          </a:p>
        </p:txBody>
      </p:sp>
      <p:sp>
        <p:nvSpPr>
          <p:cNvPr id="172044" name="Rectangle 12" descr="深色上对角线"/>
          <p:cNvSpPr>
            <a:spLocks noChangeArrowheads="1"/>
          </p:cNvSpPr>
          <p:nvPr/>
        </p:nvSpPr>
        <p:spPr bwMode="auto">
          <a:xfrm>
            <a:off x="5969000" y="3836988"/>
            <a:ext cx="431800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172045" name="Rectangle 13" descr="深色上对角线"/>
          <p:cNvSpPr>
            <a:spLocks noChangeArrowheads="1"/>
          </p:cNvSpPr>
          <p:nvPr/>
        </p:nvSpPr>
        <p:spPr bwMode="auto">
          <a:xfrm>
            <a:off x="6400800" y="3836988"/>
            <a:ext cx="431800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endParaRPr lang="zh-CN" altLang="zh-CN" sz="1600">
              <a:latin typeface="Tahoma" panose="020B0604030504040204" pitchFamily="34" charset="0"/>
            </a:endParaRPr>
          </a:p>
        </p:txBody>
      </p:sp>
      <p:sp>
        <p:nvSpPr>
          <p:cNvPr id="172046" name="Rectangle 14" descr="深色上对角线"/>
          <p:cNvSpPr>
            <a:spLocks noChangeArrowheads="1"/>
          </p:cNvSpPr>
          <p:nvPr/>
        </p:nvSpPr>
        <p:spPr bwMode="auto">
          <a:xfrm>
            <a:off x="7175500" y="3836988"/>
            <a:ext cx="419100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9</a:t>
            </a:r>
          </a:p>
        </p:txBody>
      </p:sp>
      <p:sp>
        <p:nvSpPr>
          <p:cNvPr id="172047" name="Rectangle 15" descr="深色上对角线"/>
          <p:cNvSpPr>
            <a:spLocks noChangeArrowheads="1"/>
          </p:cNvSpPr>
          <p:nvPr/>
        </p:nvSpPr>
        <p:spPr bwMode="auto">
          <a:xfrm>
            <a:off x="7594600" y="3836988"/>
            <a:ext cx="431800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8</a:t>
            </a:r>
          </a:p>
        </p:txBody>
      </p:sp>
      <p:sp>
        <p:nvSpPr>
          <p:cNvPr id="172048" name="Rectangle 16" descr="深色上对角线"/>
          <p:cNvSpPr>
            <a:spLocks noChangeArrowheads="1"/>
          </p:cNvSpPr>
          <p:nvPr/>
        </p:nvSpPr>
        <p:spPr bwMode="auto">
          <a:xfrm>
            <a:off x="8026400" y="3836988"/>
            <a:ext cx="431800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endParaRPr lang="zh-CN" altLang="zh-CN" sz="1600">
              <a:latin typeface="Tahoma" panose="020B0604030504040204" pitchFamily="34" charset="0"/>
            </a:endParaRPr>
          </a:p>
        </p:txBody>
      </p:sp>
      <p:sp>
        <p:nvSpPr>
          <p:cNvPr id="172049" name="Rectangle 17" descr="深色上对角线"/>
          <p:cNvSpPr>
            <a:spLocks noChangeArrowheads="1"/>
          </p:cNvSpPr>
          <p:nvPr/>
        </p:nvSpPr>
        <p:spPr bwMode="auto">
          <a:xfrm>
            <a:off x="8839200" y="3836988"/>
            <a:ext cx="419100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5</a:t>
            </a:r>
          </a:p>
        </p:txBody>
      </p:sp>
      <p:sp>
        <p:nvSpPr>
          <p:cNvPr id="172050" name="Rectangle 18" descr="深色上对角线"/>
          <p:cNvSpPr>
            <a:spLocks noChangeArrowheads="1"/>
          </p:cNvSpPr>
          <p:nvPr/>
        </p:nvSpPr>
        <p:spPr bwMode="auto">
          <a:xfrm>
            <a:off x="9258300" y="3836988"/>
            <a:ext cx="431800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17</a:t>
            </a:r>
          </a:p>
        </p:txBody>
      </p:sp>
      <p:sp>
        <p:nvSpPr>
          <p:cNvPr id="172051" name="Rectangle 19" descr="深色上对角线"/>
          <p:cNvSpPr>
            <a:spLocks noChangeArrowheads="1"/>
          </p:cNvSpPr>
          <p:nvPr/>
        </p:nvSpPr>
        <p:spPr bwMode="auto">
          <a:xfrm>
            <a:off x="9690100" y="3836988"/>
            <a:ext cx="431800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endParaRPr lang="zh-CN" altLang="zh-CN" sz="1600">
              <a:latin typeface="Tahoma" panose="020B0604030504040204" pitchFamily="34" charset="0"/>
            </a:endParaRPr>
          </a:p>
        </p:txBody>
      </p:sp>
      <p:sp>
        <p:nvSpPr>
          <p:cNvPr id="172052" name="Line 20"/>
          <p:cNvSpPr>
            <a:spLocks noChangeShapeType="1"/>
          </p:cNvSpPr>
          <p:nvPr/>
        </p:nvSpPr>
        <p:spPr bwMode="auto">
          <a:xfrm flipH="1">
            <a:off x="9829800" y="3970338"/>
            <a:ext cx="76200" cy="1524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2053" name="Line 21"/>
          <p:cNvSpPr>
            <a:spLocks noChangeShapeType="1"/>
          </p:cNvSpPr>
          <p:nvPr/>
        </p:nvSpPr>
        <p:spPr bwMode="auto">
          <a:xfrm>
            <a:off x="9906000" y="3970338"/>
            <a:ext cx="76200" cy="1524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2054" name="Rectangle 22" descr="深色上对角线"/>
          <p:cNvSpPr>
            <a:spLocks noChangeArrowheads="1"/>
          </p:cNvSpPr>
          <p:nvPr/>
        </p:nvSpPr>
        <p:spPr bwMode="auto">
          <a:xfrm>
            <a:off x="2247900" y="4827588"/>
            <a:ext cx="419100" cy="438150"/>
          </a:xfrm>
          <a:prstGeom prst="rect">
            <a:avLst/>
          </a:prstGeom>
          <a:pattFill prst="dkUpDiag">
            <a:fgClr>
              <a:schemeClr val="bg2"/>
            </a:fgClr>
            <a:bgClr>
              <a:schemeClr val="bg1"/>
            </a:bgClr>
          </a:patt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172055" name="Rectangle 23" descr="深色上对角线"/>
          <p:cNvSpPr>
            <a:spLocks noChangeArrowheads="1"/>
          </p:cNvSpPr>
          <p:nvPr/>
        </p:nvSpPr>
        <p:spPr bwMode="auto">
          <a:xfrm>
            <a:off x="2667000" y="4827588"/>
            <a:ext cx="431800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-1</a:t>
            </a:r>
          </a:p>
        </p:txBody>
      </p:sp>
      <p:sp>
        <p:nvSpPr>
          <p:cNvPr id="172056" name="Rectangle 24" descr="深色上对角线"/>
          <p:cNvSpPr>
            <a:spLocks noChangeArrowheads="1"/>
          </p:cNvSpPr>
          <p:nvPr/>
        </p:nvSpPr>
        <p:spPr bwMode="auto">
          <a:xfrm>
            <a:off x="3098800" y="4827588"/>
            <a:ext cx="431800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endParaRPr lang="zh-CN" altLang="zh-CN" sz="1600">
              <a:latin typeface="Tahoma" panose="020B0604030504040204" pitchFamily="34" charset="0"/>
            </a:endParaRPr>
          </a:p>
        </p:txBody>
      </p:sp>
      <p:sp>
        <p:nvSpPr>
          <p:cNvPr id="172057" name="Rectangle 25" descr="深色上对角线"/>
          <p:cNvSpPr>
            <a:spLocks noChangeArrowheads="1"/>
          </p:cNvSpPr>
          <p:nvPr/>
        </p:nvSpPr>
        <p:spPr bwMode="auto">
          <a:xfrm>
            <a:off x="3898900" y="4827588"/>
            <a:ext cx="419100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8</a:t>
            </a:r>
          </a:p>
        </p:txBody>
      </p:sp>
      <p:sp>
        <p:nvSpPr>
          <p:cNvPr id="172058" name="Rectangle 26" descr="深色上对角线"/>
          <p:cNvSpPr>
            <a:spLocks noChangeArrowheads="1"/>
          </p:cNvSpPr>
          <p:nvPr/>
        </p:nvSpPr>
        <p:spPr bwMode="auto">
          <a:xfrm>
            <a:off x="4318000" y="4827588"/>
            <a:ext cx="431800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172059" name="Rectangle 27" descr="深色上对角线"/>
          <p:cNvSpPr>
            <a:spLocks noChangeArrowheads="1"/>
          </p:cNvSpPr>
          <p:nvPr/>
        </p:nvSpPr>
        <p:spPr bwMode="auto">
          <a:xfrm>
            <a:off x="4749800" y="4827588"/>
            <a:ext cx="431800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endParaRPr lang="zh-CN" altLang="zh-CN" sz="1600">
              <a:latin typeface="Tahoma" panose="020B0604030504040204" pitchFamily="34" charset="0"/>
            </a:endParaRPr>
          </a:p>
        </p:txBody>
      </p:sp>
      <p:sp>
        <p:nvSpPr>
          <p:cNvPr id="172060" name="Rectangle 28" descr="深色上对角线"/>
          <p:cNvSpPr>
            <a:spLocks noChangeArrowheads="1"/>
          </p:cNvSpPr>
          <p:nvPr/>
        </p:nvSpPr>
        <p:spPr bwMode="auto">
          <a:xfrm>
            <a:off x="5549900" y="4827588"/>
            <a:ext cx="419100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22</a:t>
            </a:r>
          </a:p>
        </p:txBody>
      </p:sp>
      <p:sp>
        <p:nvSpPr>
          <p:cNvPr id="172061" name="Rectangle 29" descr="深色上对角线"/>
          <p:cNvSpPr>
            <a:spLocks noChangeArrowheads="1"/>
          </p:cNvSpPr>
          <p:nvPr/>
        </p:nvSpPr>
        <p:spPr bwMode="auto">
          <a:xfrm>
            <a:off x="5969000" y="4827588"/>
            <a:ext cx="431800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7</a:t>
            </a:r>
          </a:p>
        </p:txBody>
      </p:sp>
      <p:sp>
        <p:nvSpPr>
          <p:cNvPr id="172062" name="Rectangle 30" descr="深色上对角线"/>
          <p:cNvSpPr>
            <a:spLocks noChangeArrowheads="1"/>
          </p:cNvSpPr>
          <p:nvPr/>
        </p:nvSpPr>
        <p:spPr bwMode="auto">
          <a:xfrm>
            <a:off x="6400800" y="4827588"/>
            <a:ext cx="431800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endParaRPr lang="zh-CN" altLang="zh-CN" sz="1600">
              <a:latin typeface="Tahoma" panose="020B0604030504040204" pitchFamily="34" charset="0"/>
            </a:endParaRPr>
          </a:p>
        </p:txBody>
      </p:sp>
      <p:sp>
        <p:nvSpPr>
          <p:cNvPr id="172063" name="Rectangle 31" descr="深色上对角线"/>
          <p:cNvSpPr>
            <a:spLocks noChangeArrowheads="1"/>
          </p:cNvSpPr>
          <p:nvPr/>
        </p:nvSpPr>
        <p:spPr bwMode="auto">
          <a:xfrm>
            <a:off x="7175500" y="4827588"/>
            <a:ext cx="419100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-9</a:t>
            </a:r>
          </a:p>
        </p:txBody>
      </p:sp>
      <p:sp>
        <p:nvSpPr>
          <p:cNvPr id="172064" name="Rectangle 32" descr="深色上对角线"/>
          <p:cNvSpPr>
            <a:spLocks noChangeArrowheads="1"/>
          </p:cNvSpPr>
          <p:nvPr/>
        </p:nvSpPr>
        <p:spPr bwMode="auto">
          <a:xfrm>
            <a:off x="7594600" y="4827588"/>
            <a:ext cx="431800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8</a:t>
            </a:r>
          </a:p>
        </p:txBody>
      </p:sp>
      <p:sp>
        <p:nvSpPr>
          <p:cNvPr id="172065" name="Rectangle 33" descr="深色上对角线"/>
          <p:cNvSpPr>
            <a:spLocks noChangeArrowheads="1"/>
          </p:cNvSpPr>
          <p:nvPr/>
        </p:nvSpPr>
        <p:spPr bwMode="auto">
          <a:xfrm>
            <a:off x="8026400" y="4827588"/>
            <a:ext cx="431800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endParaRPr lang="zh-CN" altLang="zh-CN" sz="1600">
              <a:latin typeface="Tahoma" panose="020B0604030504040204" pitchFamily="34" charset="0"/>
            </a:endParaRPr>
          </a:p>
        </p:txBody>
      </p:sp>
      <p:sp>
        <p:nvSpPr>
          <p:cNvPr id="172066" name="Line 34"/>
          <p:cNvSpPr>
            <a:spLocks noChangeShapeType="1"/>
          </p:cNvSpPr>
          <p:nvPr/>
        </p:nvSpPr>
        <p:spPr bwMode="auto">
          <a:xfrm flipH="1">
            <a:off x="8153400" y="4986338"/>
            <a:ext cx="76200" cy="1524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2067" name="Line 35"/>
          <p:cNvSpPr>
            <a:spLocks noChangeShapeType="1"/>
          </p:cNvSpPr>
          <p:nvPr/>
        </p:nvSpPr>
        <p:spPr bwMode="auto">
          <a:xfrm>
            <a:off x="8229600" y="4986338"/>
            <a:ext cx="76200" cy="1524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2068" name="Line 36"/>
          <p:cNvSpPr>
            <a:spLocks noChangeShapeType="1"/>
          </p:cNvSpPr>
          <p:nvPr/>
        </p:nvSpPr>
        <p:spPr bwMode="auto">
          <a:xfrm>
            <a:off x="1752600" y="4046538"/>
            <a:ext cx="48895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2069" name="Line 37"/>
          <p:cNvSpPr>
            <a:spLocks noChangeShapeType="1"/>
          </p:cNvSpPr>
          <p:nvPr/>
        </p:nvSpPr>
        <p:spPr bwMode="auto">
          <a:xfrm>
            <a:off x="1752600" y="5049838"/>
            <a:ext cx="48895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2070" name="Line 38"/>
          <p:cNvSpPr>
            <a:spLocks noChangeShapeType="1"/>
          </p:cNvSpPr>
          <p:nvPr/>
        </p:nvSpPr>
        <p:spPr bwMode="auto">
          <a:xfrm>
            <a:off x="3397250" y="4059238"/>
            <a:ext cx="48895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2071" name="Line 39"/>
          <p:cNvSpPr>
            <a:spLocks noChangeShapeType="1"/>
          </p:cNvSpPr>
          <p:nvPr/>
        </p:nvSpPr>
        <p:spPr bwMode="auto">
          <a:xfrm>
            <a:off x="5048250" y="4059238"/>
            <a:ext cx="48895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2072" name="Line 40"/>
          <p:cNvSpPr>
            <a:spLocks noChangeShapeType="1"/>
          </p:cNvSpPr>
          <p:nvPr/>
        </p:nvSpPr>
        <p:spPr bwMode="auto">
          <a:xfrm>
            <a:off x="6686550" y="4065588"/>
            <a:ext cx="48895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2073" name="Line 41"/>
          <p:cNvSpPr>
            <a:spLocks noChangeShapeType="1"/>
          </p:cNvSpPr>
          <p:nvPr/>
        </p:nvSpPr>
        <p:spPr bwMode="auto">
          <a:xfrm>
            <a:off x="8350250" y="4071938"/>
            <a:ext cx="48895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2074" name="Line 42"/>
          <p:cNvSpPr>
            <a:spLocks noChangeShapeType="1"/>
          </p:cNvSpPr>
          <p:nvPr/>
        </p:nvSpPr>
        <p:spPr bwMode="auto">
          <a:xfrm>
            <a:off x="3403600" y="5049838"/>
            <a:ext cx="48895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2075" name="Line 43"/>
          <p:cNvSpPr>
            <a:spLocks noChangeShapeType="1"/>
          </p:cNvSpPr>
          <p:nvPr/>
        </p:nvSpPr>
        <p:spPr bwMode="auto">
          <a:xfrm>
            <a:off x="5054600" y="5049838"/>
            <a:ext cx="48895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2076" name="Line 44"/>
          <p:cNvSpPr>
            <a:spLocks noChangeShapeType="1"/>
          </p:cNvSpPr>
          <p:nvPr/>
        </p:nvSpPr>
        <p:spPr bwMode="auto">
          <a:xfrm>
            <a:off x="6692900" y="5056188"/>
            <a:ext cx="48895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2077" name="Text Box 45"/>
          <p:cNvSpPr txBox="1">
            <a:spLocks noChangeArrowheads="1"/>
          </p:cNvSpPr>
          <p:nvPr/>
        </p:nvSpPr>
        <p:spPr bwMode="auto">
          <a:xfrm>
            <a:off x="1685925" y="3733800"/>
            <a:ext cx="3063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A</a:t>
            </a:r>
          </a:p>
        </p:txBody>
      </p:sp>
      <p:sp>
        <p:nvSpPr>
          <p:cNvPr id="172078" name="Text Box 46"/>
          <p:cNvSpPr txBox="1">
            <a:spLocks noChangeArrowheads="1"/>
          </p:cNvSpPr>
          <p:nvPr/>
        </p:nvSpPr>
        <p:spPr bwMode="auto">
          <a:xfrm>
            <a:off x="1670051" y="4738688"/>
            <a:ext cx="3032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B</a:t>
            </a:r>
          </a:p>
        </p:txBody>
      </p:sp>
      <p:sp>
        <p:nvSpPr>
          <p:cNvPr id="172079" name="Line 47"/>
          <p:cNvSpPr>
            <a:spLocks noChangeShapeType="1"/>
          </p:cNvSpPr>
          <p:nvPr/>
        </p:nvSpPr>
        <p:spPr bwMode="auto">
          <a:xfrm>
            <a:off x="6192838" y="327660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2080" name="Text Box 48"/>
          <p:cNvSpPr txBox="1">
            <a:spLocks noChangeArrowheads="1"/>
          </p:cNvSpPr>
          <p:nvPr/>
        </p:nvSpPr>
        <p:spPr bwMode="auto">
          <a:xfrm>
            <a:off x="5964238" y="2797175"/>
            <a:ext cx="5229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400" dirty="0" smtClean="0">
                <a:solidFill>
                  <a:srgbClr val="FF0000"/>
                </a:solidFill>
                <a:latin typeface="Tahoma" panose="020B0604030504040204" pitchFamily="34" charset="0"/>
              </a:rPr>
              <a:t>p1</a:t>
            </a:r>
            <a:endParaRPr lang="en-US" altLang="zh-CN" sz="24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172081" name="Line 49"/>
          <p:cNvSpPr>
            <a:spLocks noChangeShapeType="1"/>
          </p:cNvSpPr>
          <p:nvPr/>
        </p:nvSpPr>
        <p:spPr bwMode="auto">
          <a:xfrm flipV="1">
            <a:off x="4495800" y="533400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2082" name="Text Box 50"/>
          <p:cNvSpPr txBox="1">
            <a:spLocks noChangeArrowheads="1"/>
          </p:cNvSpPr>
          <p:nvPr/>
        </p:nvSpPr>
        <p:spPr bwMode="auto">
          <a:xfrm>
            <a:off x="4267200" y="5715000"/>
            <a:ext cx="520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400" dirty="0" smtClean="0">
                <a:solidFill>
                  <a:srgbClr val="FF0000"/>
                </a:solidFill>
                <a:latin typeface="Tahoma" panose="020B0604030504040204" pitchFamily="34" charset="0"/>
              </a:rPr>
              <a:t>p1</a:t>
            </a:r>
            <a:endParaRPr lang="en-US" altLang="zh-CN" sz="24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685005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2"/>
          <p:cNvSpPr>
            <a:spLocks noGrp="1" noChangeArrowheads="1"/>
          </p:cNvSpPr>
          <p:nvPr>
            <p:ph type="title"/>
          </p:nvPr>
        </p:nvSpPr>
        <p:spPr>
          <a:xfrm>
            <a:off x="2743200" y="500063"/>
            <a:ext cx="7315200" cy="1143000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>
                <a:solidFill>
                  <a:srgbClr val="002060"/>
                </a:solidFill>
                <a:ea typeface="隶书" pitchFamily="49" charset="-122"/>
                <a:cs typeface="+mj-cs"/>
              </a:rPr>
              <a:t>多项式相加</a:t>
            </a:r>
          </a:p>
        </p:txBody>
      </p:sp>
      <p:sp>
        <p:nvSpPr>
          <p:cNvPr id="173059" name="Text Box 3"/>
          <p:cNvSpPr txBox="1">
            <a:spLocks noChangeArrowheads="1"/>
          </p:cNvSpPr>
          <p:nvPr/>
        </p:nvSpPr>
        <p:spPr bwMode="auto">
          <a:xfrm>
            <a:off x="2117726" y="1524001"/>
            <a:ext cx="4054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>
                <a:latin typeface="Tahoma" panose="020B0604030504040204" pitchFamily="34" charset="0"/>
              </a:rPr>
              <a:t>A</a:t>
            </a:r>
            <a:r>
              <a:rPr lang="en-US" altLang="zh-CN" baseline="-25000">
                <a:latin typeface="Tahoma" panose="020B0604030504040204" pitchFamily="34" charset="0"/>
              </a:rPr>
              <a:t>17</a:t>
            </a:r>
            <a:r>
              <a:rPr lang="en-US" altLang="zh-CN">
                <a:latin typeface="Tahoma" panose="020B0604030504040204" pitchFamily="34" charset="0"/>
              </a:rPr>
              <a:t>(x)=7+3x+9x</a:t>
            </a:r>
            <a:r>
              <a:rPr lang="en-US" altLang="zh-CN" baseline="30000">
                <a:latin typeface="Tahoma" panose="020B0604030504040204" pitchFamily="34" charset="0"/>
              </a:rPr>
              <a:t>8</a:t>
            </a:r>
            <a:r>
              <a:rPr lang="en-US" altLang="zh-CN">
                <a:latin typeface="Tahoma" panose="020B0604030504040204" pitchFamily="34" charset="0"/>
              </a:rPr>
              <a:t>+5x</a:t>
            </a:r>
            <a:r>
              <a:rPr lang="en-US" altLang="zh-CN" baseline="30000">
                <a:latin typeface="Tahoma" panose="020B0604030504040204" pitchFamily="34" charset="0"/>
              </a:rPr>
              <a:t>17</a:t>
            </a:r>
          </a:p>
        </p:txBody>
      </p:sp>
      <p:sp>
        <p:nvSpPr>
          <p:cNvPr id="173060" name="Text Box 4"/>
          <p:cNvSpPr txBox="1">
            <a:spLocks noChangeArrowheads="1"/>
          </p:cNvSpPr>
          <p:nvPr/>
        </p:nvSpPr>
        <p:spPr bwMode="auto">
          <a:xfrm>
            <a:off x="2117726" y="2209801"/>
            <a:ext cx="4054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>
                <a:latin typeface="Tahoma" panose="020B0604030504040204" pitchFamily="34" charset="0"/>
              </a:rPr>
              <a:t>B</a:t>
            </a:r>
            <a:r>
              <a:rPr lang="en-US" altLang="zh-CN" baseline="-25000">
                <a:latin typeface="Tahoma" panose="020B0604030504040204" pitchFamily="34" charset="0"/>
              </a:rPr>
              <a:t>8</a:t>
            </a:r>
            <a:r>
              <a:rPr lang="en-US" altLang="zh-CN">
                <a:latin typeface="Tahoma" panose="020B0604030504040204" pitchFamily="34" charset="0"/>
              </a:rPr>
              <a:t>(x)=8x+22x</a:t>
            </a:r>
            <a:r>
              <a:rPr lang="en-US" altLang="zh-CN" baseline="30000">
                <a:latin typeface="Tahoma" panose="020B0604030504040204" pitchFamily="34" charset="0"/>
              </a:rPr>
              <a:t>7</a:t>
            </a:r>
            <a:r>
              <a:rPr lang="en-US" altLang="zh-CN">
                <a:latin typeface="Tahoma" panose="020B0604030504040204" pitchFamily="34" charset="0"/>
              </a:rPr>
              <a:t>-9x</a:t>
            </a:r>
            <a:r>
              <a:rPr lang="en-US" altLang="zh-CN" baseline="30000">
                <a:latin typeface="Tahoma" panose="020B0604030504040204" pitchFamily="34" charset="0"/>
              </a:rPr>
              <a:t>8</a:t>
            </a:r>
          </a:p>
        </p:txBody>
      </p:sp>
      <p:sp>
        <p:nvSpPr>
          <p:cNvPr id="173061" name="Rectangle 5" descr="深色上对角线"/>
          <p:cNvSpPr>
            <a:spLocks noChangeArrowheads="1"/>
          </p:cNvSpPr>
          <p:nvPr/>
        </p:nvSpPr>
        <p:spPr bwMode="auto">
          <a:xfrm>
            <a:off x="2247900" y="3836988"/>
            <a:ext cx="419100" cy="438150"/>
          </a:xfrm>
          <a:prstGeom prst="rect">
            <a:avLst/>
          </a:prstGeom>
          <a:pattFill prst="dkUpDiag">
            <a:fgClr>
              <a:schemeClr val="bg2"/>
            </a:fgClr>
            <a:bgClr>
              <a:schemeClr val="bg1"/>
            </a:bgClr>
          </a:patt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173062" name="Rectangle 6" descr="深色上对角线"/>
          <p:cNvSpPr>
            <a:spLocks noChangeArrowheads="1"/>
          </p:cNvSpPr>
          <p:nvPr/>
        </p:nvSpPr>
        <p:spPr bwMode="auto">
          <a:xfrm>
            <a:off x="2667000" y="3836988"/>
            <a:ext cx="431800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-1</a:t>
            </a:r>
          </a:p>
        </p:txBody>
      </p:sp>
      <p:sp>
        <p:nvSpPr>
          <p:cNvPr id="173063" name="Rectangle 7" descr="深色上对角线"/>
          <p:cNvSpPr>
            <a:spLocks noChangeArrowheads="1"/>
          </p:cNvSpPr>
          <p:nvPr/>
        </p:nvSpPr>
        <p:spPr bwMode="auto">
          <a:xfrm>
            <a:off x="3098800" y="3836988"/>
            <a:ext cx="431800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endParaRPr lang="zh-CN" altLang="zh-CN" sz="1600">
              <a:latin typeface="Tahoma" panose="020B0604030504040204" pitchFamily="34" charset="0"/>
            </a:endParaRPr>
          </a:p>
        </p:txBody>
      </p:sp>
      <p:sp>
        <p:nvSpPr>
          <p:cNvPr id="173064" name="Rectangle 8"/>
          <p:cNvSpPr>
            <a:spLocks noChangeArrowheads="1"/>
          </p:cNvSpPr>
          <p:nvPr/>
        </p:nvSpPr>
        <p:spPr bwMode="auto">
          <a:xfrm>
            <a:off x="3898900" y="3836988"/>
            <a:ext cx="419100" cy="438150"/>
          </a:xfrm>
          <a:prstGeom prst="rect">
            <a:avLst/>
          </a:prstGeom>
          <a:solidFill>
            <a:srgbClr val="66FF33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7</a:t>
            </a:r>
          </a:p>
        </p:txBody>
      </p:sp>
      <p:sp>
        <p:nvSpPr>
          <p:cNvPr id="173065" name="Rectangle 9"/>
          <p:cNvSpPr>
            <a:spLocks noChangeArrowheads="1"/>
          </p:cNvSpPr>
          <p:nvPr/>
        </p:nvSpPr>
        <p:spPr bwMode="auto">
          <a:xfrm>
            <a:off x="4318000" y="3836988"/>
            <a:ext cx="431800" cy="438150"/>
          </a:xfrm>
          <a:prstGeom prst="rect">
            <a:avLst/>
          </a:prstGeom>
          <a:solidFill>
            <a:srgbClr val="66FF33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173066" name="Rectangle 10"/>
          <p:cNvSpPr>
            <a:spLocks noChangeArrowheads="1"/>
          </p:cNvSpPr>
          <p:nvPr/>
        </p:nvSpPr>
        <p:spPr bwMode="auto">
          <a:xfrm>
            <a:off x="4749800" y="3836988"/>
            <a:ext cx="431800" cy="438150"/>
          </a:xfrm>
          <a:prstGeom prst="rect">
            <a:avLst/>
          </a:prstGeom>
          <a:solidFill>
            <a:srgbClr val="66FF33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endParaRPr lang="zh-CN" altLang="zh-CN" sz="1600">
              <a:latin typeface="Tahoma" panose="020B0604030504040204" pitchFamily="34" charset="0"/>
            </a:endParaRPr>
          </a:p>
        </p:txBody>
      </p:sp>
      <p:sp>
        <p:nvSpPr>
          <p:cNvPr id="173067" name="Rectangle 11"/>
          <p:cNvSpPr>
            <a:spLocks noChangeArrowheads="1"/>
          </p:cNvSpPr>
          <p:nvPr/>
        </p:nvSpPr>
        <p:spPr bwMode="auto">
          <a:xfrm>
            <a:off x="5549900" y="3836988"/>
            <a:ext cx="419100" cy="438150"/>
          </a:xfrm>
          <a:prstGeom prst="rect">
            <a:avLst/>
          </a:prstGeom>
          <a:solidFill>
            <a:srgbClr val="66FF33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11</a:t>
            </a:r>
          </a:p>
        </p:txBody>
      </p:sp>
      <p:sp>
        <p:nvSpPr>
          <p:cNvPr id="173068" name="Rectangle 12"/>
          <p:cNvSpPr>
            <a:spLocks noChangeArrowheads="1"/>
          </p:cNvSpPr>
          <p:nvPr/>
        </p:nvSpPr>
        <p:spPr bwMode="auto">
          <a:xfrm>
            <a:off x="5969000" y="3836988"/>
            <a:ext cx="431800" cy="438150"/>
          </a:xfrm>
          <a:prstGeom prst="rect">
            <a:avLst/>
          </a:prstGeom>
          <a:solidFill>
            <a:srgbClr val="66FF33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173069" name="Rectangle 13"/>
          <p:cNvSpPr>
            <a:spLocks noChangeArrowheads="1"/>
          </p:cNvSpPr>
          <p:nvPr/>
        </p:nvSpPr>
        <p:spPr bwMode="auto">
          <a:xfrm>
            <a:off x="6400800" y="3836988"/>
            <a:ext cx="431800" cy="438150"/>
          </a:xfrm>
          <a:prstGeom prst="rect">
            <a:avLst/>
          </a:prstGeom>
          <a:solidFill>
            <a:srgbClr val="66FF33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endParaRPr lang="zh-CN" altLang="zh-CN" sz="1600">
              <a:latin typeface="Tahoma" panose="020B0604030504040204" pitchFamily="34" charset="0"/>
            </a:endParaRPr>
          </a:p>
        </p:txBody>
      </p:sp>
      <p:sp>
        <p:nvSpPr>
          <p:cNvPr id="173070" name="Rectangle 14" descr="深色上对角线"/>
          <p:cNvSpPr>
            <a:spLocks noChangeArrowheads="1"/>
          </p:cNvSpPr>
          <p:nvPr/>
        </p:nvSpPr>
        <p:spPr bwMode="auto">
          <a:xfrm>
            <a:off x="7175500" y="3836988"/>
            <a:ext cx="419100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9</a:t>
            </a:r>
          </a:p>
        </p:txBody>
      </p:sp>
      <p:sp>
        <p:nvSpPr>
          <p:cNvPr id="173071" name="Rectangle 15" descr="深色上对角线"/>
          <p:cNvSpPr>
            <a:spLocks noChangeArrowheads="1"/>
          </p:cNvSpPr>
          <p:nvPr/>
        </p:nvSpPr>
        <p:spPr bwMode="auto">
          <a:xfrm>
            <a:off x="7594600" y="3836988"/>
            <a:ext cx="431800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8</a:t>
            </a:r>
          </a:p>
        </p:txBody>
      </p:sp>
      <p:sp>
        <p:nvSpPr>
          <p:cNvPr id="173072" name="Rectangle 16" descr="深色上对角线"/>
          <p:cNvSpPr>
            <a:spLocks noChangeArrowheads="1"/>
          </p:cNvSpPr>
          <p:nvPr/>
        </p:nvSpPr>
        <p:spPr bwMode="auto">
          <a:xfrm>
            <a:off x="8026400" y="3836988"/>
            <a:ext cx="431800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endParaRPr lang="zh-CN" altLang="zh-CN" sz="1600">
              <a:latin typeface="Tahoma" panose="020B0604030504040204" pitchFamily="34" charset="0"/>
            </a:endParaRPr>
          </a:p>
        </p:txBody>
      </p:sp>
      <p:sp>
        <p:nvSpPr>
          <p:cNvPr id="173073" name="Rectangle 17" descr="深色上对角线"/>
          <p:cNvSpPr>
            <a:spLocks noChangeArrowheads="1"/>
          </p:cNvSpPr>
          <p:nvPr/>
        </p:nvSpPr>
        <p:spPr bwMode="auto">
          <a:xfrm>
            <a:off x="8839200" y="3836988"/>
            <a:ext cx="419100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5</a:t>
            </a:r>
          </a:p>
        </p:txBody>
      </p:sp>
      <p:sp>
        <p:nvSpPr>
          <p:cNvPr id="173074" name="Rectangle 18" descr="深色上对角线"/>
          <p:cNvSpPr>
            <a:spLocks noChangeArrowheads="1"/>
          </p:cNvSpPr>
          <p:nvPr/>
        </p:nvSpPr>
        <p:spPr bwMode="auto">
          <a:xfrm>
            <a:off x="9258300" y="3836988"/>
            <a:ext cx="431800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17</a:t>
            </a:r>
          </a:p>
        </p:txBody>
      </p:sp>
      <p:sp>
        <p:nvSpPr>
          <p:cNvPr id="173075" name="Rectangle 19" descr="深色上对角线"/>
          <p:cNvSpPr>
            <a:spLocks noChangeArrowheads="1"/>
          </p:cNvSpPr>
          <p:nvPr/>
        </p:nvSpPr>
        <p:spPr bwMode="auto">
          <a:xfrm>
            <a:off x="9690100" y="3836988"/>
            <a:ext cx="431800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endParaRPr lang="zh-CN" altLang="zh-CN" sz="1600">
              <a:latin typeface="Tahoma" panose="020B0604030504040204" pitchFamily="34" charset="0"/>
            </a:endParaRPr>
          </a:p>
        </p:txBody>
      </p:sp>
      <p:sp>
        <p:nvSpPr>
          <p:cNvPr id="173076" name="Line 20"/>
          <p:cNvSpPr>
            <a:spLocks noChangeShapeType="1"/>
          </p:cNvSpPr>
          <p:nvPr/>
        </p:nvSpPr>
        <p:spPr bwMode="auto">
          <a:xfrm flipH="1">
            <a:off x="9829800" y="3970338"/>
            <a:ext cx="76200" cy="1524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3077" name="Line 21"/>
          <p:cNvSpPr>
            <a:spLocks noChangeShapeType="1"/>
          </p:cNvSpPr>
          <p:nvPr/>
        </p:nvSpPr>
        <p:spPr bwMode="auto">
          <a:xfrm>
            <a:off x="9906000" y="3970338"/>
            <a:ext cx="76200" cy="1524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3078" name="Rectangle 22" descr="深色上对角线"/>
          <p:cNvSpPr>
            <a:spLocks noChangeArrowheads="1"/>
          </p:cNvSpPr>
          <p:nvPr/>
        </p:nvSpPr>
        <p:spPr bwMode="auto">
          <a:xfrm>
            <a:off x="2247900" y="4827588"/>
            <a:ext cx="419100" cy="438150"/>
          </a:xfrm>
          <a:prstGeom prst="rect">
            <a:avLst/>
          </a:prstGeom>
          <a:pattFill prst="dkUpDiag">
            <a:fgClr>
              <a:schemeClr val="bg2"/>
            </a:fgClr>
            <a:bgClr>
              <a:schemeClr val="bg1"/>
            </a:bgClr>
          </a:patt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173079" name="Rectangle 23" descr="深色上对角线"/>
          <p:cNvSpPr>
            <a:spLocks noChangeArrowheads="1"/>
          </p:cNvSpPr>
          <p:nvPr/>
        </p:nvSpPr>
        <p:spPr bwMode="auto">
          <a:xfrm>
            <a:off x="2667000" y="4827588"/>
            <a:ext cx="431800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-1</a:t>
            </a:r>
          </a:p>
        </p:txBody>
      </p:sp>
      <p:sp>
        <p:nvSpPr>
          <p:cNvPr id="173080" name="Rectangle 24" descr="深色上对角线"/>
          <p:cNvSpPr>
            <a:spLocks noChangeArrowheads="1"/>
          </p:cNvSpPr>
          <p:nvPr/>
        </p:nvSpPr>
        <p:spPr bwMode="auto">
          <a:xfrm>
            <a:off x="3098800" y="4827588"/>
            <a:ext cx="431800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endParaRPr lang="zh-CN" altLang="zh-CN" sz="1600">
              <a:latin typeface="Tahoma" panose="020B0604030504040204" pitchFamily="34" charset="0"/>
            </a:endParaRPr>
          </a:p>
        </p:txBody>
      </p:sp>
      <p:sp>
        <p:nvSpPr>
          <p:cNvPr id="173081" name="Rectangle 25" descr="深色上对角线"/>
          <p:cNvSpPr>
            <a:spLocks noChangeArrowheads="1"/>
          </p:cNvSpPr>
          <p:nvPr/>
        </p:nvSpPr>
        <p:spPr bwMode="auto">
          <a:xfrm>
            <a:off x="3898900" y="4827588"/>
            <a:ext cx="419100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8</a:t>
            </a:r>
          </a:p>
        </p:txBody>
      </p:sp>
      <p:sp>
        <p:nvSpPr>
          <p:cNvPr id="173082" name="Rectangle 26" descr="深色上对角线"/>
          <p:cNvSpPr>
            <a:spLocks noChangeArrowheads="1"/>
          </p:cNvSpPr>
          <p:nvPr/>
        </p:nvSpPr>
        <p:spPr bwMode="auto">
          <a:xfrm>
            <a:off x="4318000" y="4827588"/>
            <a:ext cx="431800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173083" name="Rectangle 27" descr="深色上对角线"/>
          <p:cNvSpPr>
            <a:spLocks noChangeArrowheads="1"/>
          </p:cNvSpPr>
          <p:nvPr/>
        </p:nvSpPr>
        <p:spPr bwMode="auto">
          <a:xfrm>
            <a:off x="4749800" y="4827588"/>
            <a:ext cx="431800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endParaRPr lang="zh-CN" altLang="zh-CN" sz="1600">
              <a:latin typeface="Tahoma" panose="020B0604030504040204" pitchFamily="34" charset="0"/>
            </a:endParaRPr>
          </a:p>
        </p:txBody>
      </p:sp>
      <p:sp>
        <p:nvSpPr>
          <p:cNvPr id="173084" name="Rectangle 28" descr="深色上对角线"/>
          <p:cNvSpPr>
            <a:spLocks noChangeArrowheads="1"/>
          </p:cNvSpPr>
          <p:nvPr/>
        </p:nvSpPr>
        <p:spPr bwMode="auto">
          <a:xfrm>
            <a:off x="5549900" y="4827588"/>
            <a:ext cx="419100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22</a:t>
            </a:r>
          </a:p>
        </p:txBody>
      </p:sp>
      <p:sp>
        <p:nvSpPr>
          <p:cNvPr id="173085" name="Rectangle 29" descr="深色上对角线"/>
          <p:cNvSpPr>
            <a:spLocks noChangeArrowheads="1"/>
          </p:cNvSpPr>
          <p:nvPr/>
        </p:nvSpPr>
        <p:spPr bwMode="auto">
          <a:xfrm>
            <a:off x="5969000" y="4827588"/>
            <a:ext cx="431800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7</a:t>
            </a:r>
          </a:p>
        </p:txBody>
      </p:sp>
      <p:sp>
        <p:nvSpPr>
          <p:cNvPr id="173086" name="Rectangle 30" descr="深色上对角线"/>
          <p:cNvSpPr>
            <a:spLocks noChangeArrowheads="1"/>
          </p:cNvSpPr>
          <p:nvPr/>
        </p:nvSpPr>
        <p:spPr bwMode="auto">
          <a:xfrm>
            <a:off x="6400800" y="4827588"/>
            <a:ext cx="431800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endParaRPr lang="zh-CN" altLang="zh-CN" sz="1600">
              <a:latin typeface="Tahoma" panose="020B0604030504040204" pitchFamily="34" charset="0"/>
            </a:endParaRPr>
          </a:p>
        </p:txBody>
      </p:sp>
      <p:sp>
        <p:nvSpPr>
          <p:cNvPr id="173087" name="Rectangle 31" descr="深色上对角线"/>
          <p:cNvSpPr>
            <a:spLocks noChangeArrowheads="1"/>
          </p:cNvSpPr>
          <p:nvPr/>
        </p:nvSpPr>
        <p:spPr bwMode="auto">
          <a:xfrm>
            <a:off x="7175500" y="4827588"/>
            <a:ext cx="419100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-9</a:t>
            </a:r>
          </a:p>
        </p:txBody>
      </p:sp>
      <p:sp>
        <p:nvSpPr>
          <p:cNvPr id="173088" name="Rectangle 32" descr="深色上对角线"/>
          <p:cNvSpPr>
            <a:spLocks noChangeArrowheads="1"/>
          </p:cNvSpPr>
          <p:nvPr/>
        </p:nvSpPr>
        <p:spPr bwMode="auto">
          <a:xfrm>
            <a:off x="7594600" y="4827588"/>
            <a:ext cx="431800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8</a:t>
            </a:r>
          </a:p>
        </p:txBody>
      </p:sp>
      <p:sp>
        <p:nvSpPr>
          <p:cNvPr id="173089" name="Rectangle 33" descr="深色上对角线"/>
          <p:cNvSpPr>
            <a:spLocks noChangeArrowheads="1"/>
          </p:cNvSpPr>
          <p:nvPr/>
        </p:nvSpPr>
        <p:spPr bwMode="auto">
          <a:xfrm>
            <a:off x="8026400" y="4827588"/>
            <a:ext cx="431800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endParaRPr lang="zh-CN" altLang="zh-CN" sz="1600">
              <a:latin typeface="Tahoma" panose="020B0604030504040204" pitchFamily="34" charset="0"/>
            </a:endParaRPr>
          </a:p>
        </p:txBody>
      </p:sp>
      <p:sp>
        <p:nvSpPr>
          <p:cNvPr id="173090" name="Line 34"/>
          <p:cNvSpPr>
            <a:spLocks noChangeShapeType="1"/>
          </p:cNvSpPr>
          <p:nvPr/>
        </p:nvSpPr>
        <p:spPr bwMode="auto">
          <a:xfrm flipH="1">
            <a:off x="8153400" y="4986338"/>
            <a:ext cx="76200" cy="1524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3091" name="Line 35"/>
          <p:cNvSpPr>
            <a:spLocks noChangeShapeType="1"/>
          </p:cNvSpPr>
          <p:nvPr/>
        </p:nvSpPr>
        <p:spPr bwMode="auto">
          <a:xfrm>
            <a:off x="8229600" y="4986338"/>
            <a:ext cx="76200" cy="1524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3092" name="Line 36"/>
          <p:cNvSpPr>
            <a:spLocks noChangeShapeType="1"/>
          </p:cNvSpPr>
          <p:nvPr/>
        </p:nvSpPr>
        <p:spPr bwMode="auto">
          <a:xfrm>
            <a:off x="1752600" y="4046538"/>
            <a:ext cx="48895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3093" name="Line 37"/>
          <p:cNvSpPr>
            <a:spLocks noChangeShapeType="1"/>
          </p:cNvSpPr>
          <p:nvPr/>
        </p:nvSpPr>
        <p:spPr bwMode="auto">
          <a:xfrm>
            <a:off x="1752600" y="5049838"/>
            <a:ext cx="48895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3094" name="Line 38"/>
          <p:cNvSpPr>
            <a:spLocks noChangeShapeType="1"/>
          </p:cNvSpPr>
          <p:nvPr/>
        </p:nvSpPr>
        <p:spPr bwMode="auto">
          <a:xfrm>
            <a:off x="3397250" y="4059238"/>
            <a:ext cx="48895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3095" name="Line 39"/>
          <p:cNvSpPr>
            <a:spLocks noChangeShapeType="1"/>
          </p:cNvSpPr>
          <p:nvPr/>
        </p:nvSpPr>
        <p:spPr bwMode="auto">
          <a:xfrm>
            <a:off x="5048250" y="4059238"/>
            <a:ext cx="48895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3096" name="Line 40"/>
          <p:cNvSpPr>
            <a:spLocks noChangeShapeType="1"/>
          </p:cNvSpPr>
          <p:nvPr/>
        </p:nvSpPr>
        <p:spPr bwMode="auto">
          <a:xfrm>
            <a:off x="6686550" y="4065588"/>
            <a:ext cx="48895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3097" name="Line 41"/>
          <p:cNvSpPr>
            <a:spLocks noChangeShapeType="1"/>
          </p:cNvSpPr>
          <p:nvPr/>
        </p:nvSpPr>
        <p:spPr bwMode="auto">
          <a:xfrm>
            <a:off x="8350250" y="4071938"/>
            <a:ext cx="48895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3098" name="Line 42"/>
          <p:cNvSpPr>
            <a:spLocks noChangeShapeType="1"/>
          </p:cNvSpPr>
          <p:nvPr/>
        </p:nvSpPr>
        <p:spPr bwMode="auto">
          <a:xfrm>
            <a:off x="3403600" y="5049838"/>
            <a:ext cx="48895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3099" name="Line 43"/>
          <p:cNvSpPr>
            <a:spLocks noChangeShapeType="1"/>
          </p:cNvSpPr>
          <p:nvPr/>
        </p:nvSpPr>
        <p:spPr bwMode="auto">
          <a:xfrm>
            <a:off x="5054600" y="5049838"/>
            <a:ext cx="48895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3100" name="Line 44"/>
          <p:cNvSpPr>
            <a:spLocks noChangeShapeType="1"/>
          </p:cNvSpPr>
          <p:nvPr/>
        </p:nvSpPr>
        <p:spPr bwMode="auto">
          <a:xfrm>
            <a:off x="6692900" y="5056188"/>
            <a:ext cx="48895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3101" name="Text Box 45"/>
          <p:cNvSpPr txBox="1">
            <a:spLocks noChangeArrowheads="1"/>
          </p:cNvSpPr>
          <p:nvPr/>
        </p:nvSpPr>
        <p:spPr bwMode="auto">
          <a:xfrm>
            <a:off x="1685925" y="3733800"/>
            <a:ext cx="3063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A</a:t>
            </a:r>
          </a:p>
        </p:txBody>
      </p:sp>
      <p:sp>
        <p:nvSpPr>
          <p:cNvPr id="173102" name="Text Box 46"/>
          <p:cNvSpPr txBox="1">
            <a:spLocks noChangeArrowheads="1"/>
          </p:cNvSpPr>
          <p:nvPr/>
        </p:nvSpPr>
        <p:spPr bwMode="auto">
          <a:xfrm>
            <a:off x="1670051" y="4738688"/>
            <a:ext cx="3032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B</a:t>
            </a:r>
          </a:p>
        </p:txBody>
      </p:sp>
      <p:sp>
        <p:nvSpPr>
          <p:cNvPr id="173103" name="Line 47"/>
          <p:cNvSpPr>
            <a:spLocks noChangeShapeType="1"/>
          </p:cNvSpPr>
          <p:nvPr/>
        </p:nvSpPr>
        <p:spPr bwMode="auto">
          <a:xfrm>
            <a:off x="7793038" y="327660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3104" name="Text Box 48"/>
          <p:cNvSpPr txBox="1">
            <a:spLocks noChangeArrowheads="1"/>
          </p:cNvSpPr>
          <p:nvPr/>
        </p:nvSpPr>
        <p:spPr bwMode="auto">
          <a:xfrm>
            <a:off x="7564438" y="2797175"/>
            <a:ext cx="5229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400" dirty="0" smtClean="0">
                <a:solidFill>
                  <a:srgbClr val="FF0000"/>
                </a:solidFill>
                <a:latin typeface="Tahoma" panose="020B0604030504040204" pitchFamily="34" charset="0"/>
              </a:rPr>
              <a:t>p1</a:t>
            </a:r>
            <a:endParaRPr lang="en-US" altLang="zh-CN" sz="24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173105" name="Line 49"/>
          <p:cNvSpPr>
            <a:spLocks noChangeShapeType="1"/>
          </p:cNvSpPr>
          <p:nvPr/>
        </p:nvSpPr>
        <p:spPr bwMode="auto">
          <a:xfrm flipV="1">
            <a:off x="6184900" y="533400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3106" name="Text Box 50"/>
          <p:cNvSpPr txBox="1">
            <a:spLocks noChangeArrowheads="1"/>
          </p:cNvSpPr>
          <p:nvPr/>
        </p:nvSpPr>
        <p:spPr bwMode="auto">
          <a:xfrm>
            <a:off x="5956300" y="5715000"/>
            <a:ext cx="520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400" dirty="0" smtClean="0">
                <a:solidFill>
                  <a:schemeClr val="hlink"/>
                </a:solidFill>
                <a:latin typeface="Tahoma" panose="020B0604030504040204" pitchFamily="34" charset="0"/>
              </a:rPr>
              <a:t>p2</a:t>
            </a:r>
            <a:endParaRPr lang="en-US" altLang="zh-CN" sz="2400" dirty="0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342568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Grp="1" noChangeArrowheads="1"/>
          </p:cNvSpPr>
          <p:nvPr>
            <p:ph type="title"/>
          </p:nvPr>
        </p:nvSpPr>
        <p:spPr>
          <a:xfrm>
            <a:off x="2819400" y="500063"/>
            <a:ext cx="7315200" cy="1143000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>
                <a:solidFill>
                  <a:srgbClr val="002060"/>
                </a:solidFill>
                <a:ea typeface="隶书" pitchFamily="49" charset="-122"/>
                <a:cs typeface="+mj-cs"/>
              </a:rPr>
              <a:t>多项式相加</a:t>
            </a:r>
          </a:p>
        </p:txBody>
      </p:sp>
      <p:sp>
        <p:nvSpPr>
          <p:cNvPr id="174083" name="Text Box 3"/>
          <p:cNvSpPr txBox="1">
            <a:spLocks noChangeArrowheads="1"/>
          </p:cNvSpPr>
          <p:nvPr/>
        </p:nvSpPr>
        <p:spPr bwMode="auto">
          <a:xfrm>
            <a:off x="2117726" y="1524001"/>
            <a:ext cx="4054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>
                <a:latin typeface="Tahoma" panose="020B0604030504040204" pitchFamily="34" charset="0"/>
              </a:rPr>
              <a:t>A</a:t>
            </a:r>
            <a:r>
              <a:rPr lang="en-US" altLang="zh-CN" baseline="-25000">
                <a:latin typeface="Tahoma" panose="020B0604030504040204" pitchFamily="34" charset="0"/>
              </a:rPr>
              <a:t>17</a:t>
            </a:r>
            <a:r>
              <a:rPr lang="en-US" altLang="zh-CN">
                <a:latin typeface="Tahoma" panose="020B0604030504040204" pitchFamily="34" charset="0"/>
              </a:rPr>
              <a:t>(x)=7+3x+9x</a:t>
            </a:r>
            <a:r>
              <a:rPr lang="en-US" altLang="zh-CN" baseline="30000">
                <a:latin typeface="Tahoma" panose="020B0604030504040204" pitchFamily="34" charset="0"/>
              </a:rPr>
              <a:t>8</a:t>
            </a:r>
            <a:r>
              <a:rPr lang="en-US" altLang="zh-CN">
                <a:latin typeface="Tahoma" panose="020B0604030504040204" pitchFamily="34" charset="0"/>
              </a:rPr>
              <a:t>+5x</a:t>
            </a:r>
            <a:r>
              <a:rPr lang="en-US" altLang="zh-CN" baseline="30000">
                <a:latin typeface="Tahoma" panose="020B0604030504040204" pitchFamily="34" charset="0"/>
              </a:rPr>
              <a:t>17</a:t>
            </a:r>
          </a:p>
        </p:txBody>
      </p:sp>
      <p:sp>
        <p:nvSpPr>
          <p:cNvPr id="174084" name="Text Box 4"/>
          <p:cNvSpPr txBox="1">
            <a:spLocks noChangeArrowheads="1"/>
          </p:cNvSpPr>
          <p:nvPr/>
        </p:nvSpPr>
        <p:spPr bwMode="auto">
          <a:xfrm>
            <a:off x="2117726" y="2209801"/>
            <a:ext cx="4054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>
                <a:latin typeface="Tahoma" panose="020B0604030504040204" pitchFamily="34" charset="0"/>
              </a:rPr>
              <a:t>B</a:t>
            </a:r>
            <a:r>
              <a:rPr lang="en-US" altLang="zh-CN" baseline="-25000">
                <a:latin typeface="Tahoma" panose="020B0604030504040204" pitchFamily="34" charset="0"/>
              </a:rPr>
              <a:t>8</a:t>
            </a:r>
            <a:r>
              <a:rPr lang="en-US" altLang="zh-CN">
                <a:latin typeface="Tahoma" panose="020B0604030504040204" pitchFamily="34" charset="0"/>
              </a:rPr>
              <a:t>(x)=8x+22x</a:t>
            </a:r>
            <a:r>
              <a:rPr lang="en-US" altLang="zh-CN" baseline="30000">
                <a:latin typeface="Tahoma" panose="020B0604030504040204" pitchFamily="34" charset="0"/>
              </a:rPr>
              <a:t>7</a:t>
            </a:r>
            <a:r>
              <a:rPr lang="en-US" altLang="zh-CN">
                <a:latin typeface="Tahoma" panose="020B0604030504040204" pitchFamily="34" charset="0"/>
              </a:rPr>
              <a:t>-9x</a:t>
            </a:r>
            <a:r>
              <a:rPr lang="en-US" altLang="zh-CN" baseline="30000">
                <a:latin typeface="Tahoma" panose="020B0604030504040204" pitchFamily="34" charset="0"/>
              </a:rPr>
              <a:t>8</a:t>
            </a:r>
          </a:p>
        </p:txBody>
      </p:sp>
      <p:sp>
        <p:nvSpPr>
          <p:cNvPr id="174085" name="Rectangle 5" descr="深色上对角线"/>
          <p:cNvSpPr>
            <a:spLocks noChangeArrowheads="1"/>
          </p:cNvSpPr>
          <p:nvPr/>
        </p:nvSpPr>
        <p:spPr bwMode="auto">
          <a:xfrm>
            <a:off x="2247900" y="3836988"/>
            <a:ext cx="419100" cy="438150"/>
          </a:xfrm>
          <a:prstGeom prst="rect">
            <a:avLst/>
          </a:prstGeom>
          <a:pattFill prst="dkUpDiag">
            <a:fgClr>
              <a:schemeClr val="bg2"/>
            </a:fgClr>
            <a:bgClr>
              <a:schemeClr val="bg1"/>
            </a:bgClr>
          </a:patt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174086" name="Rectangle 6" descr="深色上对角线"/>
          <p:cNvSpPr>
            <a:spLocks noChangeArrowheads="1"/>
          </p:cNvSpPr>
          <p:nvPr/>
        </p:nvSpPr>
        <p:spPr bwMode="auto">
          <a:xfrm>
            <a:off x="2667000" y="3836988"/>
            <a:ext cx="431800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-1</a:t>
            </a:r>
          </a:p>
        </p:txBody>
      </p:sp>
      <p:sp>
        <p:nvSpPr>
          <p:cNvPr id="174087" name="Rectangle 7" descr="深色上对角线"/>
          <p:cNvSpPr>
            <a:spLocks noChangeArrowheads="1"/>
          </p:cNvSpPr>
          <p:nvPr/>
        </p:nvSpPr>
        <p:spPr bwMode="auto">
          <a:xfrm>
            <a:off x="3098800" y="3836988"/>
            <a:ext cx="431800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endParaRPr lang="zh-CN" altLang="zh-CN" sz="1600">
              <a:latin typeface="Tahoma" panose="020B0604030504040204" pitchFamily="34" charset="0"/>
            </a:endParaRPr>
          </a:p>
        </p:txBody>
      </p:sp>
      <p:sp>
        <p:nvSpPr>
          <p:cNvPr id="174088" name="Rectangle 8"/>
          <p:cNvSpPr>
            <a:spLocks noChangeArrowheads="1"/>
          </p:cNvSpPr>
          <p:nvPr/>
        </p:nvSpPr>
        <p:spPr bwMode="auto">
          <a:xfrm>
            <a:off x="3898900" y="3836988"/>
            <a:ext cx="419100" cy="438150"/>
          </a:xfrm>
          <a:prstGeom prst="rect">
            <a:avLst/>
          </a:prstGeom>
          <a:solidFill>
            <a:srgbClr val="66FF33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7</a:t>
            </a:r>
          </a:p>
        </p:txBody>
      </p:sp>
      <p:sp>
        <p:nvSpPr>
          <p:cNvPr id="174089" name="Rectangle 9"/>
          <p:cNvSpPr>
            <a:spLocks noChangeArrowheads="1"/>
          </p:cNvSpPr>
          <p:nvPr/>
        </p:nvSpPr>
        <p:spPr bwMode="auto">
          <a:xfrm>
            <a:off x="4318000" y="3836988"/>
            <a:ext cx="431800" cy="438150"/>
          </a:xfrm>
          <a:prstGeom prst="rect">
            <a:avLst/>
          </a:prstGeom>
          <a:solidFill>
            <a:srgbClr val="66FF33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174090" name="Rectangle 10"/>
          <p:cNvSpPr>
            <a:spLocks noChangeArrowheads="1"/>
          </p:cNvSpPr>
          <p:nvPr/>
        </p:nvSpPr>
        <p:spPr bwMode="auto">
          <a:xfrm>
            <a:off x="4749800" y="3836988"/>
            <a:ext cx="431800" cy="438150"/>
          </a:xfrm>
          <a:prstGeom prst="rect">
            <a:avLst/>
          </a:prstGeom>
          <a:solidFill>
            <a:srgbClr val="66FF33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endParaRPr lang="zh-CN" altLang="zh-CN" sz="1600">
              <a:latin typeface="Tahoma" panose="020B0604030504040204" pitchFamily="34" charset="0"/>
            </a:endParaRPr>
          </a:p>
        </p:txBody>
      </p:sp>
      <p:sp>
        <p:nvSpPr>
          <p:cNvPr id="174091" name="Rectangle 11"/>
          <p:cNvSpPr>
            <a:spLocks noChangeArrowheads="1"/>
          </p:cNvSpPr>
          <p:nvPr/>
        </p:nvSpPr>
        <p:spPr bwMode="auto">
          <a:xfrm>
            <a:off x="5549900" y="3836988"/>
            <a:ext cx="419100" cy="438150"/>
          </a:xfrm>
          <a:prstGeom prst="rect">
            <a:avLst/>
          </a:prstGeom>
          <a:solidFill>
            <a:srgbClr val="66FF33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11</a:t>
            </a:r>
          </a:p>
        </p:txBody>
      </p:sp>
      <p:sp>
        <p:nvSpPr>
          <p:cNvPr id="174092" name="Rectangle 12"/>
          <p:cNvSpPr>
            <a:spLocks noChangeArrowheads="1"/>
          </p:cNvSpPr>
          <p:nvPr/>
        </p:nvSpPr>
        <p:spPr bwMode="auto">
          <a:xfrm>
            <a:off x="5969000" y="3836988"/>
            <a:ext cx="431800" cy="438150"/>
          </a:xfrm>
          <a:prstGeom prst="rect">
            <a:avLst/>
          </a:prstGeom>
          <a:solidFill>
            <a:srgbClr val="66FF33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174093" name="Rectangle 13"/>
          <p:cNvSpPr>
            <a:spLocks noChangeArrowheads="1"/>
          </p:cNvSpPr>
          <p:nvPr/>
        </p:nvSpPr>
        <p:spPr bwMode="auto">
          <a:xfrm>
            <a:off x="6400800" y="3836988"/>
            <a:ext cx="431800" cy="438150"/>
          </a:xfrm>
          <a:prstGeom prst="rect">
            <a:avLst/>
          </a:prstGeom>
          <a:solidFill>
            <a:srgbClr val="66FF33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endParaRPr lang="zh-CN" altLang="zh-CN" sz="1600">
              <a:latin typeface="Tahoma" panose="020B0604030504040204" pitchFamily="34" charset="0"/>
            </a:endParaRPr>
          </a:p>
        </p:txBody>
      </p:sp>
      <p:sp>
        <p:nvSpPr>
          <p:cNvPr id="174094" name="Rectangle 14" descr="深色上对角线"/>
          <p:cNvSpPr>
            <a:spLocks noChangeArrowheads="1"/>
          </p:cNvSpPr>
          <p:nvPr/>
        </p:nvSpPr>
        <p:spPr bwMode="auto">
          <a:xfrm>
            <a:off x="7175500" y="3836988"/>
            <a:ext cx="419100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9</a:t>
            </a:r>
          </a:p>
        </p:txBody>
      </p:sp>
      <p:sp>
        <p:nvSpPr>
          <p:cNvPr id="174095" name="Rectangle 15" descr="深色上对角线"/>
          <p:cNvSpPr>
            <a:spLocks noChangeArrowheads="1"/>
          </p:cNvSpPr>
          <p:nvPr/>
        </p:nvSpPr>
        <p:spPr bwMode="auto">
          <a:xfrm>
            <a:off x="7594600" y="3836988"/>
            <a:ext cx="431800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8</a:t>
            </a:r>
          </a:p>
        </p:txBody>
      </p:sp>
      <p:sp>
        <p:nvSpPr>
          <p:cNvPr id="174096" name="Rectangle 16" descr="深色上对角线"/>
          <p:cNvSpPr>
            <a:spLocks noChangeArrowheads="1"/>
          </p:cNvSpPr>
          <p:nvPr/>
        </p:nvSpPr>
        <p:spPr bwMode="auto">
          <a:xfrm>
            <a:off x="8026400" y="3836988"/>
            <a:ext cx="431800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endParaRPr lang="zh-CN" altLang="zh-CN" sz="1600">
              <a:latin typeface="Tahoma" panose="020B0604030504040204" pitchFamily="34" charset="0"/>
            </a:endParaRPr>
          </a:p>
        </p:txBody>
      </p:sp>
      <p:sp>
        <p:nvSpPr>
          <p:cNvPr id="174097" name="Rectangle 17" descr="深色上对角线"/>
          <p:cNvSpPr>
            <a:spLocks noChangeArrowheads="1"/>
          </p:cNvSpPr>
          <p:nvPr/>
        </p:nvSpPr>
        <p:spPr bwMode="auto">
          <a:xfrm>
            <a:off x="8839200" y="3836988"/>
            <a:ext cx="419100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5</a:t>
            </a:r>
          </a:p>
        </p:txBody>
      </p:sp>
      <p:sp>
        <p:nvSpPr>
          <p:cNvPr id="174098" name="Rectangle 18" descr="深色上对角线"/>
          <p:cNvSpPr>
            <a:spLocks noChangeArrowheads="1"/>
          </p:cNvSpPr>
          <p:nvPr/>
        </p:nvSpPr>
        <p:spPr bwMode="auto">
          <a:xfrm>
            <a:off x="9258300" y="3836988"/>
            <a:ext cx="431800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17</a:t>
            </a:r>
          </a:p>
        </p:txBody>
      </p:sp>
      <p:sp>
        <p:nvSpPr>
          <p:cNvPr id="174099" name="Rectangle 19" descr="深色上对角线"/>
          <p:cNvSpPr>
            <a:spLocks noChangeArrowheads="1"/>
          </p:cNvSpPr>
          <p:nvPr/>
        </p:nvSpPr>
        <p:spPr bwMode="auto">
          <a:xfrm>
            <a:off x="9690100" y="3836988"/>
            <a:ext cx="431800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endParaRPr lang="zh-CN" altLang="zh-CN" sz="1600">
              <a:latin typeface="Tahoma" panose="020B0604030504040204" pitchFamily="34" charset="0"/>
            </a:endParaRPr>
          </a:p>
        </p:txBody>
      </p:sp>
      <p:sp>
        <p:nvSpPr>
          <p:cNvPr id="174100" name="Line 20"/>
          <p:cNvSpPr>
            <a:spLocks noChangeShapeType="1"/>
          </p:cNvSpPr>
          <p:nvPr/>
        </p:nvSpPr>
        <p:spPr bwMode="auto">
          <a:xfrm flipH="1">
            <a:off x="9829800" y="3970338"/>
            <a:ext cx="76200" cy="1524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101" name="Line 21"/>
          <p:cNvSpPr>
            <a:spLocks noChangeShapeType="1"/>
          </p:cNvSpPr>
          <p:nvPr/>
        </p:nvSpPr>
        <p:spPr bwMode="auto">
          <a:xfrm>
            <a:off x="9906000" y="3970338"/>
            <a:ext cx="76200" cy="1524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102" name="Rectangle 22" descr="深色上对角线"/>
          <p:cNvSpPr>
            <a:spLocks noChangeArrowheads="1"/>
          </p:cNvSpPr>
          <p:nvPr/>
        </p:nvSpPr>
        <p:spPr bwMode="auto">
          <a:xfrm>
            <a:off x="2247900" y="4827588"/>
            <a:ext cx="419100" cy="438150"/>
          </a:xfrm>
          <a:prstGeom prst="rect">
            <a:avLst/>
          </a:prstGeom>
          <a:pattFill prst="dkUpDiag">
            <a:fgClr>
              <a:schemeClr val="bg2"/>
            </a:fgClr>
            <a:bgClr>
              <a:schemeClr val="bg1"/>
            </a:bgClr>
          </a:patt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174103" name="Rectangle 23" descr="深色上对角线"/>
          <p:cNvSpPr>
            <a:spLocks noChangeArrowheads="1"/>
          </p:cNvSpPr>
          <p:nvPr/>
        </p:nvSpPr>
        <p:spPr bwMode="auto">
          <a:xfrm>
            <a:off x="2667000" y="4827588"/>
            <a:ext cx="431800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-1</a:t>
            </a:r>
          </a:p>
        </p:txBody>
      </p:sp>
      <p:sp>
        <p:nvSpPr>
          <p:cNvPr id="174104" name="Rectangle 24" descr="深色上对角线"/>
          <p:cNvSpPr>
            <a:spLocks noChangeArrowheads="1"/>
          </p:cNvSpPr>
          <p:nvPr/>
        </p:nvSpPr>
        <p:spPr bwMode="auto">
          <a:xfrm>
            <a:off x="3098800" y="4827588"/>
            <a:ext cx="431800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endParaRPr lang="zh-CN" altLang="zh-CN" sz="1600">
              <a:latin typeface="Tahoma" panose="020B0604030504040204" pitchFamily="34" charset="0"/>
            </a:endParaRPr>
          </a:p>
        </p:txBody>
      </p:sp>
      <p:sp>
        <p:nvSpPr>
          <p:cNvPr id="174105" name="Rectangle 25" descr="深色上对角线"/>
          <p:cNvSpPr>
            <a:spLocks noChangeArrowheads="1"/>
          </p:cNvSpPr>
          <p:nvPr/>
        </p:nvSpPr>
        <p:spPr bwMode="auto">
          <a:xfrm>
            <a:off x="3898900" y="4827588"/>
            <a:ext cx="419100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8</a:t>
            </a:r>
          </a:p>
        </p:txBody>
      </p:sp>
      <p:sp>
        <p:nvSpPr>
          <p:cNvPr id="174106" name="Rectangle 26" descr="深色上对角线"/>
          <p:cNvSpPr>
            <a:spLocks noChangeArrowheads="1"/>
          </p:cNvSpPr>
          <p:nvPr/>
        </p:nvSpPr>
        <p:spPr bwMode="auto">
          <a:xfrm>
            <a:off x="4318000" y="4827588"/>
            <a:ext cx="431800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174107" name="Rectangle 27" descr="深色上对角线"/>
          <p:cNvSpPr>
            <a:spLocks noChangeArrowheads="1"/>
          </p:cNvSpPr>
          <p:nvPr/>
        </p:nvSpPr>
        <p:spPr bwMode="auto">
          <a:xfrm>
            <a:off x="4749800" y="4827588"/>
            <a:ext cx="431800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endParaRPr lang="zh-CN" altLang="zh-CN" sz="1600">
              <a:latin typeface="Tahoma" panose="020B0604030504040204" pitchFamily="34" charset="0"/>
            </a:endParaRPr>
          </a:p>
        </p:txBody>
      </p:sp>
      <p:sp>
        <p:nvSpPr>
          <p:cNvPr id="174108" name="Rectangle 28" descr="深色上对角线"/>
          <p:cNvSpPr>
            <a:spLocks noChangeArrowheads="1"/>
          </p:cNvSpPr>
          <p:nvPr/>
        </p:nvSpPr>
        <p:spPr bwMode="auto">
          <a:xfrm>
            <a:off x="5549900" y="4827588"/>
            <a:ext cx="419100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22</a:t>
            </a:r>
          </a:p>
        </p:txBody>
      </p:sp>
      <p:sp>
        <p:nvSpPr>
          <p:cNvPr id="174109" name="Rectangle 29" descr="深色上对角线"/>
          <p:cNvSpPr>
            <a:spLocks noChangeArrowheads="1"/>
          </p:cNvSpPr>
          <p:nvPr/>
        </p:nvSpPr>
        <p:spPr bwMode="auto">
          <a:xfrm>
            <a:off x="5969000" y="4827588"/>
            <a:ext cx="431800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7</a:t>
            </a:r>
          </a:p>
        </p:txBody>
      </p:sp>
      <p:sp>
        <p:nvSpPr>
          <p:cNvPr id="174110" name="Rectangle 30" descr="深色上对角线"/>
          <p:cNvSpPr>
            <a:spLocks noChangeArrowheads="1"/>
          </p:cNvSpPr>
          <p:nvPr/>
        </p:nvSpPr>
        <p:spPr bwMode="auto">
          <a:xfrm>
            <a:off x="6400800" y="4827588"/>
            <a:ext cx="431800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endParaRPr lang="zh-CN" altLang="zh-CN" sz="1600">
              <a:latin typeface="Tahoma" panose="020B0604030504040204" pitchFamily="34" charset="0"/>
            </a:endParaRPr>
          </a:p>
        </p:txBody>
      </p:sp>
      <p:sp>
        <p:nvSpPr>
          <p:cNvPr id="174111" name="Rectangle 31" descr="深色上对角线"/>
          <p:cNvSpPr>
            <a:spLocks noChangeArrowheads="1"/>
          </p:cNvSpPr>
          <p:nvPr/>
        </p:nvSpPr>
        <p:spPr bwMode="auto">
          <a:xfrm>
            <a:off x="7175500" y="4827588"/>
            <a:ext cx="419100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-9</a:t>
            </a:r>
          </a:p>
        </p:txBody>
      </p:sp>
      <p:sp>
        <p:nvSpPr>
          <p:cNvPr id="174112" name="Rectangle 32" descr="深色上对角线"/>
          <p:cNvSpPr>
            <a:spLocks noChangeArrowheads="1"/>
          </p:cNvSpPr>
          <p:nvPr/>
        </p:nvSpPr>
        <p:spPr bwMode="auto">
          <a:xfrm>
            <a:off x="7594600" y="4827588"/>
            <a:ext cx="431800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8</a:t>
            </a:r>
          </a:p>
        </p:txBody>
      </p:sp>
      <p:sp>
        <p:nvSpPr>
          <p:cNvPr id="174113" name="Rectangle 33" descr="深色上对角线"/>
          <p:cNvSpPr>
            <a:spLocks noChangeArrowheads="1"/>
          </p:cNvSpPr>
          <p:nvPr/>
        </p:nvSpPr>
        <p:spPr bwMode="auto">
          <a:xfrm>
            <a:off x="8026400" y="4827588"/>
            <a:ext cx="431800" cy="4381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endParaRPr lang="zh-CN" altLang="zh-CN" sz="1600">
              <a:latin typeface="Tahoma" panose="020B0604030504040204" pitchFamily="34" charset="0"/>
            </a:endParaRPr>
          </a:p>
        </p:txBody>
      </p:sp>
      <p:sp>
        <p:nvSpPr>
          <p:cNvPr id="174114" name="Line 34"/>
          <p:cNvSpPr>
            <a:spLocks noChangeShapeType="1"/>
          </p:cNvSpPr>
          <p:nvPr/>
        </p:nvSpPr>
        <p:spPr bwMode="auto">
          <a:xfrm flipH="1">
            <a:off x="8153400" y="4986338"/>
            <a:ext cx="76200" cy="1524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115" name="Line 35"/>
          <p:cNvSpPr>
            <a:spLocks noChangeShapeType="1"/>
          </p:cNvSpPr>
          <p:nvPr/>
        </p:nvSpPr>
        <p:spPr bwMode="auto">
          <a:xfrm>
            <a:off x="8229600" y="4986338"/>
            <a:ext cx="76200" cy="1524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116" name="Line 36"/>
          <p:cNvSpPr>
            <a:spLocks noChangeShapeType="1"/>
          </p:cNvSpPr>
          <p:nvPr/>
        </p:nvSpPr>
        <p:spPr bwMode="auto">
          <a:xfrm>
            <a:off x="1752600" y="4046538"/>
            <a:ext cx="48895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117" name="Line 37"/>
          <p:cNvSpPr>
            <a:spLocks noChangeShapeType="1"/>
          </p:cNvSpPr>
          <p:nvPr/>
        </p:nvSpPr>
        <p:spPr bwMode="auto">
          <a:xfrm>
            <a:off x="1752600" y="5049838"/>
            <a:ext cx="48895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118" name="Line 38"/>
          <p:cNvSpPr>
            <a:spLocks noChangeShapeType="1"/>
          </p:cNvSpPr>
          <p:nvPr/>
        </p:nvSpPr>
        <p:spPr bwMode="auto">
          <a:xfrm>
            <a:off x="3397250" y="4059238"/>
            <a:ext cx="48895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119" name="Line 39"/>
          <p:cNvSpPr>
            <a:spLocks noChangeShapeType="1"/>
          </p:cNvSpPr>
          <p:nvPr/>
        </p:nvSpPr>
        <p:spPr bwMode="auto">
          <a:xfrm>
            <a:off x="5048250" y="4059238"/>
            <a:ext cx="48895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120" name="Line 40"/>
          <p:cNvSpPr>
            <a:spLocks noChangeShapeType="1"/>
          </p:cNvSpPr>
          <p:nvPr/>
        </p:nvSpPr>
        <p:spPr bwMode="auto">
          <a:xfrm>
            <a:off x="6673850" y="4065588"/>
            <a:ext cx="6350" cy="66040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121" name="Line 41"/>
          <p:cNvSpPr>
            <a:spLocks noChangeShapeType="1"/>
          </p:cNvSpPr>
          <p:nvPr/>
        </p:nvSpPr>
        <p:spPr bwMode="auto">
          <a:xfrm>
            <a:off x="8350250" y="4071938"/>
            <a:ext cx="48895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122" name="Line 42"/>
          <p:cNvSpPr>
            <a:spLocks noChangeShapeType="1"/>
          </p:cNvSpPr>
          <p:nvPr/>
        </p:nvSpPr>
        <p:spPr bwMode="auto">
          <a:xfrm>
            <a:off x="3403600" y="5049838"/>
            <a:ext cx="48895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123" name="Line 43"/>
          <p:cNvSpPr>
            <a:spLocks noChangeShapeType="1"/>
          </p:cNvSpPr>
          <p:nvPr/>
        </p:nvSpPr>
        <p:spPr bwMode="auto">
          <a:xfrm>
            <a:off x="5054600" y="5049838"/>
            <a:ext cx="48895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124" name="Line 44"/>
          <p:cNvSpPr>
            <a:spLocks noChangeShapeType="1"/>
          </p:cNvSpPr>
          <p:nvPr/>
        </p:nvSpPr>
        <p:spPr bwMode="auto">
          <a:xfrm>
            <a:off x="6692900" y="5056188"/>
            <a:ext cx="488950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125" name="Text Box 45"/>
          <p:cNvSpPr txBox="1">
            <a:spLocks noChangeArrowheads="1"/>
          </p:cNvSpPr>
          <p:nvPr/>
        </p:nvSpPr>
        <p:spPr bwMode="auto">
          <a:xfrm>
            <a:off x="1685925" y="3733800"/>
            <a:ext cx="3063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A</a:t>
            </a:r>
          </a:p>
        </p:txBody>
      </p:sp>
      <p:sp>
        <p:nvSpPr>
          <p:cNvPr id="174126" name="Text Box 46"/>
          <p:cNvSpPr txBox="1">
            <a:spLocks noChangeArrowheads="1"/>
          </p:cNvSpPr>
          <p:nvPr/>
        </p:nvSpPr>
        <p:spPr bwMode="auto">
          <a:xfrm>
            <a:off x="1670051" y="4738688"/>
            <a:ext cx="3032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1600">
                <a:latin typeface="Tahoma" panose="020B0604030504040204" pitchFamily="34" charset="0"/>
              </a:rPr>
              <a:t>B</a:t>
            </a:r>
          </a:p>
        </p:txBody>
      </p:sp>
      <p:sp>
        <p:nvSpPr>
          <p:cNvPr id="174127" name="Line 47"/>
          <p:cNvSpPr>
            <a:spLocks noChangeShapeType="1"/>
          </p:cNvSpPr>
          <p:nvPr/>
        </p:nvSpPr>
        <p:spPr bwMode="auto">
          <a:xfrm>
            <a:off x="7793038" y="327660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128" name="Text Box 48"/>
          <p:cNvSpPr txBox="1">
            <a:spLocks noChangeArrowheads="1"/>
          </p:cNvSpPr>
          <p:nvPr/>
        </p:nvSpPr>
        <p:spPr bwMode="auto">
          <a:xfrm>
            <a:off x="7564438" y="2797175"/>
            <a:ext cx="5229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400" dirty="0" smtClean="0">
                <a:solidFill>
                  <a:srgbClr val="FF0000"/>
                </a:solidFill>
                <a:latin typeface="Tahoma" panose="020B0604030504040204" pitchFamily="34" charset="0"/>
              </a:rPr>
              <a:t>p1</a:t>
            </a:r>
            <a:endParaRPr lang="en-US" altLang="zh-CN" sz="24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174129" name="Line 49"/>
          <p:cNvSpPr>
            <a:spLocks noChangeShapeType="1"/>
          </p:cNvSpPr>
          <p:nvPr/>
        </p:nvSpPr>
        <p:spPr bwMode="auto">
          <a:xfrm flipV="1">
            <a:off x="7785100" y="533400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74130" name="Text Box 50"/>
          <p:cNvSpPr txBox="1">
            <a:spLocks noChangeArrowheads="1"/>
          </p:cNvSpPr>
          <p:nvPr/>
        </p:nvSpPr>
        <p:spPr bwMode="auto">
          <a:xfrm>
            <a:off x="7556500" y="5715000"/>
            <a:ext cx="5229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400" dirty="0" smtClean="0">
                <a:solidFill>
                  <a:srgbClr val="FF0000"/>
                </a:solidFill>
                <a:latin typeface="Tahoma" panose="020B0604030504040204" pitchFamily="34" charset="0"/>
              </a:rPr>
              <a:t>p2</a:t>
            </a:r>
            <a:endParaRPr lang="en-US" altLang="zh-CN" sz="24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981741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7" name="Rectangle 8"/>
          <p:cNvSpPr>
            <a:spLocks noChangeArrowheads="1"/>
          </p:cNvSpPr>
          <p:nvPr/>
        </p:nvSpPr>
        <p:spPr bwMode="auto">
          <a:xfrm>
            <a:off x="2351089" y="781478"/>
            <a:ext cx="5400675" cy="830997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r>
              <a:rPr lang="en-US" altLang="zh-CN" sz="2400" b="1" i="1">
                <a:ea typeface="方正书宋简体" charset="-122"/>
              </a:rPr>
              <a:t>A</a:t>
            </a:r>
            <a:r>
              <a:rPr lang="en-US" altLang="zh-CN" sz="2400" b="1" baseline="-30000">
                <a:ea typeface="方正书宋简体" charset="-122"/>
              </a:rPr>
              <a:t>17</a:t>
            </a:r>
            <a:r>
              <a:rPr lang="en-US" altLang="zh-CN" sz="2400" b="1">
                <a:ea typeface="方正书宋简体" charset="-122"/>
              </a:rPr>
              <a:t>(</a:t>
            </a:r>
            <a:r>
              <a:rPr lang="en-US" altLang="zh-CN" sz="2400" b="1" i="1">
                <a:ea typeface="方正书宋简体" charset="-122"/>
              </a:rPr>
              <a:t>x</a:t>
            </a:r>
            <a:r>
              <a:rPr lang="en-US" altLang="zh-CN" sz="2400" b="1">
                <a:ea typeface="方正书宋简体" charset="-122"/>
              </a:rPr>
              <a:t>) = 7 + 3</a:t>
            </a:r>
            <a:r>
              <a:rPr lang="en-US" altLang="zh-CN" sz="2400" b="1" i="1">
                <a:ea typeface="方正书宋简体" charset="-122"/>
              </a:rPr>
              <a:t>x</a:t>
            </a:r>
            <a:r>
              <a:rPr lang="en-US" altLang="zh-CN" sz="2400" b="1">
                <a:ea typeface="方正书宋简体" charset="-122"/>
              </a:rPr>
              <a:t> + 9</a:t>
            </a:r>
            <a:r>
              <a:rPr lang="en-US" altLang="zh-CN" sz="2400" b="1" i="1">
                <a:ea typeface="方正书宋简体" charset="-122"/>
              </a:rPr>
              <a:t>x</a:t>
            </a:r>
            <a:r>
              <a:rPr lang="en-US" altLang="zh-CN" sz="2400" b="1" baseline="30000">
                <a:ea typeface="方正书宋简体" charset="-122"/>
              </a:rPr>
              <a:t>8</a:t>
            </a:r>
            <a:r>
              <a:rPr lang="en-US" altLang="zh-CN" sz="2400" b="1">
                <a:ea typeface="方正书宋简体" charset="-122"/>
              </a:rPr>
              <a:t> + 5</a:t>
            </a:r>
            <a:r>
              <a:rPr lang="en-US" altLang="zh-CN" sz="2400" b="1" i="1">
                <a:ea typeface="方正书宋简体" charset="-122"/>
              </a:rPr>
              <a:t>x</a:t>
            </a:r>
            <a:r>
              <a:rPr lang="en-US" altLang="zh-CN" sz="2400" b="1" baseline="30000">
                <a:ea typeface="方正书宋简体" charset="-122"/>
              </a:rPr>
              <a:t>17</a:t>
            </a:r>
          </a:p>
          <a:p>
            <a:r>
              <a:rPr lang="en-US" altLang="zh-CN" sz="2400" b="1" i="1">
                <a:ea typeface="方正书宋简体" charset="-122"/>
              </a:rPr>
              <a:t>B</a:t>
            </a:r>
            <a:r>
              <a:rPr lang="en-US" altLang="zh-CN" sz="2400" b="1" baseline="-30000">
                <a:ea typeface="方正书宋简体" charset="-122"/>
              </a:rPr>
              <a:t>8</a:t>
            </a:r>
            <a:r>
              <a:rPr lang="en-US" altLang="zh-CN" sz="2400" b="1">
                <a:ea typeface="方正书宋简体" charset="-122"/>
              </a:rPr>
              <a:t>(</a:t>
            </a:r>
            <a:r>
              <a:rPr lang="en-US" altLang="zh-CN" sz="2400" b="1" i="1">
                <a:ea typeface="方正书宋简体" charset="-122"/>
              </a:rPr>
              <a:t>x</a:t>
            </a:r>
            <a:r>
              <a:rPr lang="en-US" altLang="zh-CN" sz="2400" b="1">
                <a:ea typeface="方正书宋简体" charset="-122"/>
              </a:rPr>
              <a:t>) = 8</a:t>
            </a:r>
            <a:r>
              <a:rPr lang="en-US" altLang="zh-CN" sz="2400" b="1" i="1">
                <a:ea typeface="方正书宋简体" charset="-122"/>
              </a:rPr>
              <a:t>x</a:t>
            </a:r>
            <a:r>
              <a:rPr lang="en-US" altLang="zh-CN" sz="2400" b="1">
                <a:ea typeface="方正书宋简体" charset="-122"/>
              </a:rPr>
              <a:t> + 22</a:t>
            </a:r>
            <a:r>
              <a:rPr lang="en-US" altLang="zh-CN" sz="2400" b="1" i="1">
                <a:ea typeface="方正书宋简体" charset="-122"/>
              </a:rPr>
              <a:t>x</a:t>
            </a:r>
            <a:r>
              <a:rPr lang="en-US" altLang="zh-CN" sz="2400" b="1" baseline="30000">
                <a:ea typeface="方正书宋简体" charset="-122"/>
              </a:rPr>
              <a:t>7</a:t>
            </a:r>
            <a:r>
              <a:rPr lang="en-US" altLang="zh-CN" sz="2400" b="1">
                <a:ea typeface="方正书宋简体" charset="-122"/>
              </a:rPr>
              <a:t> − 9</a:t>
            </a:r>
            <a:r>
              <a:rPr lang="en-US" altLang="zh-CN" sz="2400" b="1" i="1">
                <a:ea typeface="方正书宋简体" charset="-122"/>
              </a:rPr>
              <a:t>x</a:t>
            </a:r>
            <a:r>
              <a:rPr lang="en-US" altLang="zh-CN" sz="2400" b="1" baseline="30000">
                <a:ea typeface="方正书宋简体" charset="-122"/>
              </a:rPr>
              <a:t>8</a:t>
            </a:r>
            <a:endParaRPr lang="en-US" altLang="zh-CN" sz="2400" b="1"/>
          </a:p>
        </p:txBody>
      </p:sp>
      <p:pic>
        <p:nvPicPr>
          <p:cNvPr id="175108" name="Picture 7" descr="021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61" t="-8134" r="-1248" b="-6258"/>
          <a:stretch>
            <a:fillRect/>
          </a:stretch>
        </p:blipFill>
        <p:spPr bwMode="auto">
          <a:xfrm>
            <a:off x="1993900" y="1793875"/>
            <a:ext cx="6910388" cy="127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2279650" y="3063876"/>
            <a:ext cx="6624638" cy="2208213"/>
            <a:chOff x="476" y="2461"/>
            <a:chExt cx="4173" cy="1391"/>
          </a:xfrm>
        </p:grpSpPr>
        <p:pic>
          <p:nvPicPr>
            <p:cNvPr id="175110" name="Picture 10" descr="3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8850" r="-740" b="-7112"/>
            <a:stretch>
              <a:fillRect/>
            </a:stretch>
          </p:blipFill>
          <p:spPr bwMode="auto">
            <a:xfrm>
              <a:off x="476" y="2976"/>
              <a:ext cx="4173" cy="8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5111" name="AutoShape 11"/>
            <p:cNvSpPr>
              <a:spLocks noChangeArrowheads="1"/>
            </p:cNvSpPr>
            <p:nvPr/>
          </p:nvSpPr>
          <p:spPr bwMode="auto">
            <a:xfrm>
              <a:off x="2109" y="2461"/>
              <a:ext cx="317" cy="515"/>
            </a:xfrm>
            <a:prstGeom prst="downArrow">
              <a:avLst>
                <a:gd name="adj1" fmla="val 50000"/>
                <a:gd name="adj2" fmla="val 40615"/>
              </a:avLst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1pPr>
              <a:lvl2pPr marL="742950" indent="-28575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2pPr>
              <a:lvl3pPr marL="11430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3pPr>
              <a:lvl4pPr marL="16002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4pPr>
              <a:lvl5pPr marL="2057400" indent="-228600" eaLnBrk="0" hangingPunct="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/>
                  <a:cs typeface="仿宋_GB2312"/>
                </a:defRPr>
              </a:lvl9pPr>
            </a:lstStyle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54085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1" name="Text Box 5"/>
          <p:cNvSpPr txBox="1">
            <a:spLocks noChangeArrowheads="1"/>
          </p:cNvSpPr>
          <p:nvPr/>
        </p:nvSpPr>
        <p:spPr bwMode="auto">
          <a:xfrm>
            <a:off x="774701" y="749935"/>
            <a:ext cx="8718550" cy="501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pPr eaLnBrk="1" hangingPunct="1"/>
            <a:r>
              <a:rPr lang="zh-CN" altLang="en-US" sz="2400" dirty="0"/>
              <a:t>① 指针</a:t>
            </a:r>
            <a:r>
              <a:rPr lang="en-US" altLang="zh-CN" sz="2400" dirty="0"/>
              <a:t>p1</a:t>
            </a:r>
            <a:r>
              <a:rPr lang="zh-CN" altLang="en-US" sz="2400" dirty="0"/>
              <a:t>和</a:t>
            </a:r>
            <a:r>
              <a:rPr lang="en-US" altLang="zh-CN" sz="2400" dirty="0"/>
              <a:t>p2</a:t>
            </a:r>
            <a:r>
              <a:rPr lang="zh-CN" altLang="en-US" sz="2400" dirty="0"/>
              <a:t>初始化，分别指向</a:t>
            </a:r>
            <a:r>
              <a:rPr lang="en-US" altLang="zh-CN" sz="2400" dirty="0"/>
              <a:t>Pa</a:t>
            </a:r>
            <a:r>
              <a:rPr lang="zh-CN" altLang="en-US" sz="2400" dirty="0"/>
              <a:t>和</a:t>
            </a:r>
            <a:r>
              <a:rPr lang="en-US" altLang="zh-CN" sz="2400" dirty="0" err="1"/>
              <a:t>Pb</a:t>
            </a:r>
            <a:r>
              <a:rPr lang="zh-CN" altLang="en-US" sz="2400" dirty="0"/>
              <a:t>的首元结点。</a:t>
            </a:r>
          </a:p>
          <a:p>
            <a:pPr eaLnBrk="1" hangingPunct="1"/>
            <a:r>
              <a:rPr lang="zh-CN" altLang="en-US" sz="2400" dirty="0"/>
              <a:t>②</a:t>
            </a:r>
            <a:r>
              <a:rPr lang="en-US" altLang="zh-CN" sz="2400" dirty="0"/>
              <a:t> p3</a:t>
            </a:r>
            <a:r>
              <a:rPr lang="zh-CN" altLang="en-US" sz="2400" dirty="0"/>
              <a:t>指向和多项式的当前结点，初值为</a:t>
            </a:r>
            <a:r>
              <a:rPr lang="en-US" altLang="zh-CN" sz="2400" dirty="0"/>
              <a:t>Pa</a:t>
            </a:r>
            <a:r>
              <a:rPr lang="zh-CN" altLang="en-US" sz="2400" dirty="0"/>
              <a:t>的头结点。</a:t>
            </a:r>
          </a:p>
          <a:p>
            <a:pPr eaLnBrk="1" hangingPunct="1"/>
            <a:r>
              <a:rPr lang="zh-CN" altLang="en-US" sz="2400" dirty="0"/>
              <a:t>③</a:t>
            </a:r>
            <a:r>
              <a:rPr lang="en-US" altLang="zh-CN" sz="2400" dirty="0"/>
              <a:t> </a:t>
            </a:r>
            <a:r>
              <a:rPr lang="zh-CN" altLang="en-US" sz="2400" dirty="0"/>
              <a:t>当指针</a:t>
            </a:r>
            <a:r>
              <a:rPr lang="en-US" altLang="zh-CN" sz="2400" dirty="0"/>
              <a:t>p1</a:t>
            </a:r>
            <a:r>
              <a:rPr lang="zh-CN" altLang="en-US" sz="2400" dirty="0"/>
              <a:t>和</a:t>
            </a:r>
            <a:r>
              <a:rPr lang="en-US" altLang="zh-CN" sz="2400" dirty="0"/>
              <a:t>p2</a:t>
            </a:r>
            <a:r>
              <a:rPr lang="zh-CN" altLang="en-US" sz="2400" dirty="0"/>
              <a:t>均未到达相应表尾时，则循环比较</a:t>
            </a:r>
            <a:r>
              <a:rPr lang="en-US" altLang="zh-CN" sz="2400" dirty="0"/>
              <a:t>p1</a:t>
            </a:r>
            <a:r>
              <a:rPr lang="zh-CN" altLang="en-US" sz="2400" dirty="0"/>
              <a:t>和</a:t>
            </a:r>
            <a:r>
              <a:rPr lang="en-US" altLang="zh-CN" sz="2400" dirty="0"/>
              <a:t>p2</a:t>
            </a:r>
            <a:r>
              <a:rPr lang="zh-CN" altLang="en-US" sz="2400" dirty="0"/>
              <a:t>所指结点对应的指数值（</a:t>
            </a:r>
            <a:r>
              <a:rPr lang="en-US" altLang="zh-CN" sz="2400" dirty="0"/>
              <a:t>p1-&gt;</a:t>
            </a:r>
            <a:r>
              <a:rPr lang="en-US" altLang="zh-CN" sz="2400" dirty="0" err="1"/>
              <a:t>expn</a:t>
            </a:r>
            <a:r>
              <a:rPr lang="zh-CN" altLang="en-US" sz="2400" dirty="0"/>
              <a:t>与</a:t>
            </a:r>
            <a:r>
              <a:rPr lang="en-US" altLang="zh-CN" sz="2400" dirty="0"/>
              <a:t>p2-&gt;</a:t>
            </a:r>
            <a:r>
              <a:rPr lang="en-US" altLang="zh-CN" sz="2400" dirty="0" err="1"/>
              <a:t>expn</a:t>
            </a:r>
            <a:r>
              <a:rPr lang="zh-CN" altLang="en-US" sz="2400" dirty="0"/>
              <a:t>），有下列</a:t>
            </a:r>
            <a:r>
              <a:rPr lang="en-US" altLang="zh-CN" sz="2400" dirty="0"/>
              <a:t>3</a:t>
            </a:r>
            <a:r>
              <a:rPr lang="zh-CN" altLang="en-US" sz="2400" dirty="0"/>
              <a:t>种情况：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zh-CN" altLang="en-US" sz="2400" dirty="0"/>
              <a:t>当</a:t>
            </a:r>
            <a:r>
              <a:rPr lang="en-US" altLang="zh-CN" sz="2400" dirty="0"/>
              <a:t>p1-&gt;</a:t>
            </a:r>
            <a:r>
              <a:rPr lang="en-US" altLang="zh-CN" sz="2400" dirty="0" err="1"/>
              <a:t>expn</a:t>
            </a:r>
            <a:r>
              <a:rPr lang="zh-CN" altLang="en-US" sz="2400" dirty="0"/>
              <a:t>等于</a:t>
            </a:r>
            <a:r>
              <a:rPr lang="en-US" altLang="zh-CN" sz="2400" dirty="0"/>
              <a:t>p2-&gt;</a:t>
            </a:r>
            <a:r>
              <a:rPr lang="en-US" altLang="zh-CN" sz="2400" dirty="0" err="1"/>
              <a:t>expn</a:t>
            </a:r>
            <a:r>
              <a:rPr lang="zh-CN" altLang="en-US" sz="2400" dirty="0"/>
              <a:t>时，则将两个结点中的系数相加，</a:t>
            </a:r>
            <a:r>
              <a:rPr lang="zh-CN" altLang="en-US" sz="2400" dirty="0" smtClean="0"/>
              <a:t>若和不</a:t>
            </a:r>
            <a:r>
              <a:rPr lang="zh-CN" altLang="en-US" sz="2400" dirty="0"/>
              <a:t>为零，则修改</a:t>
            </a:r>
            <a:r>
              <a:rPr lang="en-US" altLang="zh-CN" sz="2400" dirty="0"/>
              <a:t>p1</a:t>
            </a:r>
            <a:r>
              <a:rPr lang="zh-CN" altLang="en-US" sz="2400" dirty="0"/>
              <a:t>所指结点的系数值，同时删除</a:t>
            </a:r>
            <a:r>
              <a:rPr lang="en-US" altLang="zh-CN" sz="2400" dirty="0"/>
              <a:t>p2</a:t>
            </a:r>
            <a:r>
              <a:rPr lang="zh-CN" altLang="en-US" sz="2400" dirty="0"/>
              <a:t>所指结点，若和为零，则删除</a:t>
            </a:r>
            <a:r>
              <a:rPr lang="en-US" altLang="zh-CN" sz="2400" dirty="0"/>
              <a:t>p1</a:t>
            </a:r>
            <a:r>
              <a:rPr lang="zh-CN" altLang="en-US" sz="2400" dirty="0"/>
              <a:t>和</a:t>
            </a:r>
            <a:r>
              <a:rPr lang="en-US" altLang="zh-CN" sz="2400" dirty="0"/>
              <a:t>p2</a:t>
            </a:r>
            <a:r>
              <a:rPr lang="zh-CN" altLang="en-US" sz="2400" dirty="0"/>
              <a:t>所指结点；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zh-CN" altLang="en-US" sz="2400" dirty="0"/>
              <a:t>当</a:t>
            </a:r>
            <a:r>
              <a:rPr lang="en-US" altLang="zh-CN" sz="2400" dirty="0"/>
              <a:t>p1-&gt;</a:t>
            </a:r>
            <a:r>
              <a:rPr lang="en-US" altLang="zh-CN" sz="2400" dirty="0" err="1"/>
              <a:t>expn</a:t>
            </a:r>
            <a:r>
              <a:rPr lang="zh-CN" altLang="en-US" sz="2400" dirty="0"/>
              <a:t>小于</a:t>
            </a:r>
            <a:r>
              <a:rPr lang="en-US" altLang="zh-CN" sz="2400" dirty="0"/>
              <a:t>p2-&gt;</a:t>
            </a:r>
            <a:r>
              <a:rPr lang="en-US" altLang="zh-CN" sz="2400" dirty="0" err="1"/>
              <a:t>expn</a:t>
            </a:r>
            <a:r>
              <a:rPr lang="zh-CN" altLang="en-US" sz="2400" dirty="0"/>
              <a:t>时，则应摘取</a:t>
            </a:r>
            <a:r>
              <a:rPr lang="en-US" altLang="zh-CN" sz="2400" dirty="0"/>
              <a:t>p1</a:t>
            </a:r>
            <a:r>
              <a:rPr lang="zh-CN" altLang="en-US" sz="2400" dirty="0"/>
              <a:t>所指结点插入到“和多项式”链表中去；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zh-CN" altLang="en-US" sz="2400" dirty="0"/>
              <a:t>当</a:t>
            </a:r>
            <a:r>
              <a:rPr lang="en-US" altLang="zh-CN" sz="2400" dirty="0"/>
              <a:t>p1-&gt;</a:t>
            </a:r>
            <a:r>
              <a:rPr lang="en-US" altLang="zh-CN" sz="2400" dirty="0" err="1"/>
              <a:t>expn</a:t>
            </a:r>
            <a:r>
              <a:rPr lang="zh-CN" altLang="en-US" sz="2400" dirty="0"/>
              <a:t>大于</a:t>
            </a:r>
            <a:r>
              <a:rPr lang="en-US" altLang="zh-CN" sz="2400" dirty="0"/>
              <a:t>p2-&gt;</a:t>
            </a:r>
            <a:r>
              <a:rPr lang="en-US" altLang="zh-CN" sz="2400" dirty="0" err="1"/>
              <a:t>expn</a:t>
            </a:r>
            <a:r>
              <a:rPr lang="zh-CN" altLang="en-US" sz="2400" dirty="0"/>
              <a:t>时，则应摘取</a:t>
            </a:r>
            <a:r>
              <a:rPr lang="en-US" altLang="zh-CN" sz="2400" dirty="0"/>
              <a:t>p2</a:t>
            </a:r>
            <a:r>
              <a:rPr lang="zh-CN" altLang="en-US" sz="2400" dirty="0"/>
              <a:t>所指结点插入到“和多项式”链表中去。</a:t>
            </a:r>
          </a:p>
          <a:p>
            <a:pPr eaLnBrk="1" hangingPunct="1"/>
            <a:r>
              <a:rPr lang="zh-CN" altLang="en-US" sz="2400" dirty="0"/>
              <a:t>④</a:t>
            </a:r>
            <a:r>
              <a:rPr lang="en-US" altLang="zh-CN" sz="2400" dirty="0"/>
              <a:t> </a:t>
            </a:r>
            <a:r>
              <a:rPr lang="zh-CN" altLang="en-US" sz="2400" dirty="0"/>
              <a:t>将非空多项式的剩余段插入到</a:t>
            </a:r>
            <a:r>
              <a:rPr lang="en-US" altLang="zh-CN" sz="2400" dirty="0"/>
              <a:t>p3</a:t>
            </a:r>
            <a:r>
              <a:rPr lang="zh-CN" altLang="en-US" sz="2400" dirty="0"/>
              <a:t>所指结点之后。</a:t>
            </a:r>
          </a:p>
          <a:p>
            <a:pPr eaLnBrk="1" hangingPunct="1"/>
            <a:r>
              <a:rPr lang="zh-CN" altLang="en-US" sz="2400" dirty="0"/>
              <a:t>⑤</a:t>
            </a:r>
            <a:r>
              <a:rPr lang="en-US" altLang="zh-CN" sz="2400" dirty="0"/>
              <a:t> </a:t>
            </a:r>
            <a:r>
              <a:rPr lang="zh-CN" altLang="en-US" sz="2400" dirty="0"/>
              <a:t>释放</a:t>
            </a:r>
            <a:r>
              <a:rPr lang="en-US" altLang="zh-CN" sz="2400" dirty="0" err="1"/>
              <a:t>Pb</a:t>
            </a:r>
            <a:r>
              <a:rPr lang="zh-CN" altLang="en-US" sz="2400" dirty="0"/>
              <a:t>的头结点。</a:t>
            </a:r>
          </a:p>
        </p:txBody>
      </p:sp>
      <p:sp>
        <p:nvSpPr>
          <p:cNvPr id="176132" name="Rectangle 8"/>
          <p:cNvSpPr>
            <a:spLocks noChangeArrowheads="1"/>
          </p:cNvSpPr>
          <p:nvPr/>
        </p:nvSpPr>
        <p:spPr bwMode="auto">
          <a:xfrm>
            <a:off x="1528764" y="-26988"/>
            <a:ext cx="7210425" cy="606426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1pPr>
            <a:lvl2pPr marL="742950" indent="-28575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2pPr>
            <a:lvl3pPr marL="11430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3pPr>
            <a:lvl4pPr marL="16002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4pPr>
            <a:lvl5pPr marL="2057400" indent="-228600" eaLnBrk="0" hangingPunct="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/>
                <a:cs typeface="仿宋_GB2312"/>
              </a:defRPr>
            </a:lvl9pPr>
          </a:lstStyle>
          <a:p>
            <a:r>
              <a:rPr lang="zh-CN" altLang="en-US" sz="4400" b="1">
                <a:latin typeface="华文楷体" pitchFamily="2" charset="-122"/>
                <a:ea typeface="华文楷体" pitchFamily="2" charset="-122"/>
                <a:cs typeface="楷体_GB2312"/>
              </a:rPr>
              <a:t>多项式相加</a:t>
            </a:r>
            <a:r>
              <a:rPr lang="en-US" altLang="zh-CN" sz="4400" b="1">
                <a:latin typeface="华文楷体" pitchFamily="2" charset="-122"/>
                <a:ea typeface="华文楷体" pitchFamily="2" charset="-122"/>
                <a:cs typeface="楷体_GB2312"/>
              </a:rPr>
              <a:t>---【</a:t>
            </a:r>
            <a:r>
              <a:rPr lang="zh-CN" altLang="en-US" sz="4400" b="1">
                <a:latin typeface="华文楷体" pitchFamily="2" charset="-122"/>
                <a:ea typeface="华文楷体" pitchFamily="2" charset="-122"/>
                <a:cs typeface="楷体_GB2312"/>
              </a:rPr>
              <a:t>算法步骤</a:t>
            </a:r>
            <a:r>
              <a:rPr lang="en-US" altLang="zh-CN" sz="4400" b="1">
                <a:latin typeface="华文楷体" pitchFamily="2" charset="-122"/>
                <a:ea typeface="华文楷体" pitchFamily="2" charset="-122"/>
                <a:cs typeface="楷体_GB2312"/>
              </a:rPr>
              <a:t>】</a:t>
            </a:r>
          </a:p>
        </p:txBody>
      </p:sp>
    </p:spTree>
    <p:extLst>
      <p:ext uri="{BB962C8B-B14F-4D97-AF65-F5344CB8AC3E}">
        <p14:creationId xmlns:p14="http://schemas.microsoft.com/office/powerpoint/2010/main" val="2507125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平面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112</TotalTime>
  <Words>1962</Words>
  <Application>Microsoft Office PowerPoint</Application>
  <PresentationFormat>宽屏</PresentationFormat>
  <Paragraphs>525</Paragraphs>
  <Slides>36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36</vt:i4>
      </vt:variant>
    </vt:vector>
  </HeadingPairs>
  <TitlesOfParts>
    <vt:vector size="57" baseType="lpstr">
      <vt:lpstr>方正书宋简体</vt:lpstr>
      <vt:lpstr>方正细圆简体</vt:lpstr>
      <vt:lpstr>方正姚体</vt:lpstr>
      <vt:lpstr>黑体</vt:lpstr>
      <vt:lpstr>华文楷体</vt:lpstr>
      <vt:lpstr>华文新魏</vt:lpstr>
      <vt:lpstr>隶书</vt:lpstr>
      <vt:lpstr>宋体</vt:lpstr>
      <vt:lpstr>Arial</vt:lpstr>
      <vt:lpstr>Symbol</vt:lpstr>
      <vt:lpstr>Tahoma</vt:lpstr>
      <vt:lpstr>Times New Roman</vt:lpstr>
      <vt:lpstr>Trebuchet MS</vt:lpstr>
      <vt:lpstr>Wingdings</vt:lpstr>
      <vt:lpstr>Wingdings 3</vt:lpstr>
      <vt:lpstr>仿宋_GB2312</vt:lpstr>
      <vt:lpstr>楷体_GB2312</vt:lpstr>
      <vt:lpstr>平面</vt:lpstr>
      <vt:lpstr>Equation</vt:lpstr>
      <vt:lpstr>公式</vt:lpstr>
      <vt:lpstr>MathType 6.0 Equation</vt:lpstr>
      <vt:lpstr>顺序表和单链表的应用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多项式相加</vt:lpstr>
      <vt:lpstr>多项式相加</vt:lpstr>
      <vt:lpstr>多项式相加</vt:lpstr>
      <vt:lpstr>PowerPoint 演示文稿</vt:lpstr>
      <vt:lpstr>PowerPoint 演示文稿</vt:lpstr>
    </vt:vector>
  </TitlesOfParts>
  <Company>DMU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 Rong</dc:creator>
  <cp:lastModifiedBy>Chen Rong</cp:lastModifiedBy>
  <cp:revision>36</cp:revision>
  <dcterms:created xsi:type="dcterms:W3CDTF">2020-09-20T08:36:55Z</dcterms:created>
  <dcterms:modified xsi:type="dcterms:W3CDTF">2020-09-21T01:21:27Z</dcterms:modified>
</cp:coreProperties>
</file>